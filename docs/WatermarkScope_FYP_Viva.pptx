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461"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41D88A-89EF-4DB3-8D64-00B902629D9A}" type="datetimeFigureOut">
              <a:rPr lang="zh-CN" altLang="en-US" smtClean="0"/>
              <a:t>2026/5/13</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5D4ADE-EBF0-40FB-83BD-2C8DAEF4D47A}" type="slidenum">
              <a:rPr lang="zh-CN" altLang="en-US" smtClean="0"/>
              <a:t>‹#›</a:t>
            </a:fld>
            <a:endParaRPr lang="zh-CN" altLang="en-US"/>
          </a:p>
        </p:txBody>
      </p:sp>
    </p:spTree>
    <p:extLst>
      <p:ext uri="{BB962C8B-B14F-4D97-AF65-F5344CB8AC3E}">
        <p14:creationId xmlns:p14="http://schemas.microsoft.com/office/powerpoint/2010/main" val="15664394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Good afternoon. I am Haoyi Zhang. My project is WatermarkScope. The point of the project is simple: a source-code watermark result should be treated as bounded evidence, not as one detector score.</a:t>
            </a:r>
            <a:endParaRPr lang="zh-CN" altLang="en-US"/>
          </a:p>
        </p:txBody>
      </p:sp>
      <p:sp>
        <p:nvSpPr>
          <p:cNvPr id="4" name="灯片编号占位符 3"/>
          <p:cNvSpPr>
            <a:spLocks noGrp="1"/>
          </p:cNvSpPr>
          <p:nvPr>
            <p:ph type="sldNum" sz="quarter" idx="5"/>
          </p:nvPr>
        </p:nvSpPr>
        <p:spPr/>
        <p:txBody>
          <a:bodyPr/>
          <a:lstStyle/>
          <a:p>
            <a:fld id="{365D4ADE-EBF0-40FB-83BD-2C8DAEF4D47A}" type="slidenum">
              <a:rPr lang="zh-CN" altLang="en-US" smtClean="0"/>
              <a:t>1</a:t>
            </a:fld>
            <a:endParaRPr lang="zh-CN" altLang="en-US"/>
          </a:p>
        </p:txBody>
      </p:sp>
    </p:spTree>
    <p:extLst>
      <p:ext uri="{BB962C8B-B14F-4D97-AF65-F5344CB8AC3E}">
        <p14:creationId xmlns:p14="http://schemas.microsoft.com/office/powerpoint/2010/main" val="41160167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presentation is organized as a story. I will not read the thesis. I will explain why the problem matters, how I controlled evidence, what the results show, and how the examiner can inspect the artifacts.</a:t>
            </a:r>
            <a:endParaRPr lang="zh-CN" altLang="en-US"/>
          </a:p>
        </p:txBody>
      </p:sp>
      <p:sp>
        <p:nvSpPr>
          <p:cNvPr id="4" name="灯片编号占位符 3"/>
          <p:cNvSpPr>
            <a:spLocks noGrp="1"/>
          </p:cNvSpPr>
          <p:nvPr>
            <p:ph type="sldNum" sz="quarter" idx="5"/>
          </p:nvPr>
        </p:nvSpPr>
        <p:spPr/>
        <p:txBody>
          <a:bodyPr/>
          <a:lstStyle/>
          <a:p>
            <a:fld id="{365D4ADE-EBF0-40FB-83BD-2C8DAEF4D47A}" type="slidenum">
              <a:rPr lang="zh-CN" altLang="en-US" smtClean="0"/>
              <a:t>2</a:t>
            </a:fld>
            <a:endParaRPr lang="zh-CN" altLang="en-US"/>
          </a:p>
        </p:txBody>
      </p:sp>
    </p:spTree>
    <p:extLst>
      <p:ext uri="{BB962C8B-B14F-4D97-AF65-F5344CB8AC3E}">
        <p14:creationId xmlns:p14="http://schemas.microsoft.com/office/powerpoint/2010/main" val="3857368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practical issue is movement. Generated code can be edited, translated, or reused. So the project asks: after this movement, what evidence is still valid?</a:t>
            </a:r>
            <a:endParaRPr lang="zh-CN" altLang="en-US"/>
          </a:p>
        </p:txBody>
      </p:sp>
      <p:sp>
        <p:nvSpPr>
          <p:cNvPr id="4" name="灯片编号占位符 3"/>
          <p:cNvSpPr>
            <a:spLocks noGrp="1"/>
          </p:cNvSpPr>
          <p:nvPr>
            <p:ph type="sldNum" sz="quarter" idx="5"/>
          </p:nvPr>
        </p:nvSpPr>
        <p:spPr/>
        <p:txBody>
          <a:bodyPr/>
          <a:lstStyle/>
          <a:p>
            <a:fld id="{365D4ADE-EBF0-40FB-83BD-2C8DAEF4D47A}" type="slidenum">
              <a:rPr lang="zh-CN" altLang="en-US" smtClean="0"/>
              <a:t>3</a:t>
            </a:fld>
            <a:endParaRPr lang="zh-CN" altLang="en-US"/>
          </a:p>
        </p:txBody>
      </p:sp>
    </p:spTree>
    <p:extLst>
      <p:ext uri="{BB962C8B-B14F-4D97-AF65-F5344CB8AC3E}">
        <p14:creationId xmlns:p14="http://schemas.microsoft.com/office/powerpoint/2010/main" val="42175183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main research gap. A detector score can be useful, but by itself it does not say what claim is allowed. I therefore build an evidence contract around every result.</a:t>
            </a:r>
            <a:endParaRPr lang="zh-CN" altLang="en-US"/>
          </a:p>
        </p:txBody>
      </p:sp>
      <p:sp>
        <p:nvSpPr>
          <p:cNvPr id="4" name="灯片编号占位符 3"/>
          <p:cNvSpPr>
            <a:spLocks noGrp="1"/>
          </p:cNvSpPr>
          <p:nvPr>
            <p:ph type="sldNum" sz="quarter" idx="5"/>
          </p:nvPr>
        </p:nvSpPr>
        <p:spPr/>
        <p:txBody>
          <a:bodyPr/>
          <a:lstStyle/>
          <a:p>
            <a:fld id="{365D4ADE-EBF0-40FB-83BD-2C8DAEF4D47A}" type="slidenum">
              <a:rPr lang="zh-CN" altLang="en-US" smtClean="0"/>
              <a:t>4</a:t>
            </a:fld>
            <a:endParaRPr lang="zh-CN" altLang="en-US"/>
          </a:p>
        </p:txBody>
      </p:sp>
    </p:spTree>
    <p:extLst>
      <p:ext uri="{BB962C8B-B14F-4D97-AF65-F5344CB8AC3E}">
        <p14:creationId xmlns:p14="http://schemas.microsoft.com/office/powerpoint/2010/main" val="22434766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project structure. The important point is not just the five names. The important point is that every stage has an admitted evidence object and a bounded claim.</a:t>
            </a:r>
            <a:endParaRPr lang="zh-CN" altLang="en-US"/>
          </a:p>
        </p:txBody>
      </p:sp>
      <p:sp>
        <p:nvSpPr>
          <p:cNvPr id="4" name="灯片编号占位符 3"/>
          <p:cNvSpPr>
            <a:spLocks noGrp="1"/>
          </p:cNvSpPr>
          <p:nvPr>
            <p:ph type="sldNum" sz="quarter" idx="5"/>
          </p:nvPr>
        </p:nvSpPr>
        <p:spPr/>
        <p:txBody>
          <a:bodyPr/>
          <a:lstStyle/>
          <a:p>
            <a:fld id="{365D4ADE-EBF0-40FB-83BD-2C8DAEF4D47A}" type="slidenum">
              <a:rPr lang="zh-CN" altLang="en-US" smtClean="0"/>
              <a:t>5</a:t>
            </a:fld>
            <a:endParaRPr lang="zh-CN" altLang="en-US"/>
          </a:p>
        </p:txBody>
      </p:sp>
    </p:spTree>
    <p:extLst>
      <p:ext uri="{BB962C8B-B14F-4D97-AF65-F5344CB8AC3E}">
        <p14:creationId xmlns:p14="http://schemas.microsoft.com/office/powerpoint/2010/main" val="19192940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method is deliberately simple. I first freeze the evidence object: denominator, controls, artifact, hash, and boundary. Only after that do I interpret a result.</a:t>
            </a:r>
            <a:endParaRPr lang="zh-CN" altLang="en-US"/>
          </a:p>
        </p:txBody>
      </p:sp>
      <p:sp>
        <p:nvSpPr>
          <p:cNvPr id="4" name="灯片编号占位符 3"/>
          <p:cNvSpPr>
            <a:spLocks noGrp="1"/>
          </p:cNvSpPr>
          <p:nvPr>
            <p:ph type="sldNum" sz="quarter" idx="5"/>
          </p:nvPr>
        </p:nvSpPr>
        <p:spPr/>
        <p:txBody>
          <a:bodyPr/>
          <a:lstStyle/>
          <a:p>
            <a:fld id="{365D4ADE-EBF0-40FB-83BD-2C8DAEF4D47A}" type="slidenum">
              <a:rPr lang="zh-CN" altLang="en-US" smtClean="0"/>
              <a:t>6</a:t>
            </a:fld>
            <a:endParaRPr lang="zh-CN" altLang="en-US"/>
          </a:p>
        </p:txBody>
      </p:sp>
    </p:spTree>
    <p:extLst>
      <p:ext uri="{BB962C8B-B14F-4D97-AF65-F5344CB8AC3E}">
        <p14:creationId xmlns:p14="http://schemas.microsoft.com/office/powerpoint/2010/main" val="12058592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the submitted dissertation, the defensible snapshot is: 140 out of 140 benchmark runs, 23,342 out of 24,000 SemCodebook recoveries with zero negative-control hits, and 300 out of 300 ProbeTrace scoped decisions with zero false-owner controls.</a:t>
            </a:r>
            <a:endParaRPr lang="zh-CN" altLang="en-US"/>
          </a:p>
        </p:txBody>
      </p:sp>
      <p:sp>
        <p:nvSpPr>
          <p:cNvPr id="4" name="灯片编号占位符 3"/>
          <p:cNvSpPr>
            <a:spLocks noGrp="1"/>
          </p:cNvSpPr>
          <p:nvPr>
            <p:ph type="sldNum" sz="quarter" idx="5"/>
          </p:nvPr>
        </p:nvSpPr>
        <p:spPr/>
        <p:txBody>
          <a:bodyPr/>
          <a:lstStyle/>
          <a:p>
            <a:fld id="{365D4ADE-EBF0-40FB-83BD-2C8DAEF4D47A}" type="slidenum">
              <a:rPr lang="zh-CN" altLang="en-US" smtClean="0"/>
              <a:t>7</a:t>
            </a:fld>
            <a:endParaRPr lang="zh-CN" altLang="en-US"/>
          </a:p>
        </p:txBody>
      </p:sp>
    </p:spTree>
    <p:extLst>
      <p:ext uri="{BB962C8B-B14F-4D97-AF65-F5344CB8AC3E}">
        <p14:creationId xmlns:p14="http://schemas.microsoft.com/office/powerpoint/2010/main" val="3631600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conservative part is important. CodeDye does not become a prevalence claim, and SealAudit does not force every case into a label. Abstention is part of the evidence design.</a:t>
            </a:r>
            <a:endParaRPr lang="zh-CN" altLang="en-US"/>
          </a:p>
        </p:txBody>
      </p:sp>
      <p:sp>
        <p:nvSpPr>
          <p:cNvPr id="4" name="灯片编号占位符 3"/>
          <p:cNvSpPr>
            <a:spLocks noGrp="1"/>
          </p:cNvSpPr>
          <p:nvPr>
            <p:ph type="sldNum" sz="quarter" idx="5"/>
          </p:nvPr>
        </p:nvSpPr>
        <p:spPr/>
        <p:txBody>
          <a:bodyPr/>
          <a:lstStyle/>
          <a:p>
            <a:fld id="{365D4ADE-EBF0-40FB-83BD-2C8DAEF4D47A}" type="slidenum">
              <a:rPr lang="zh-CN" altLang="en-US" smtClean="0"/>
              <a:t>8</a:t>
            </a:fld>
            <a:endParaRPr lang="zh-CN" altLang="en-US"/>
          </a:p>
        </p:txBody>
      </p:sp>
    </p:spTree>
    <p:extLst>
      <p:ext uri="{BB962C8B-B14F-4D97-AF65-F5344CB8AC3E}">
        <p14:creationId xmlns:p14="http://schemas.microsoft.com/office/powerpoint/2010/main" val="3119112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why the benchmark matters. It is not only a final accuracy number. It shows the tradeoff between executable robustness and release scale.</a:t>
            </a:r>
            <a:endParaRPr lang="zh-CN" altLang="en-US"/>
          </a:p>
        </p:txBody>
      </p:sp>
      <p:sp>
        <p:nvSpPr>
          <p:cNvPr id="4" name="灯片编号占位符 3"/>
          <p:cNvSpPr>
            <a:spLocks noGrp="1"/>
          </p:cNvSpPr>
          <p:nvPr>
            <p:ph type="sldNum" sz="quarter" idx="5"/>
          </p:nvPr>
        </p:nvSpPr>
        <p:spPr/>
        <p:txBody>
          <a:bodyPr/>
          <a:lstStyle/>
          <a:p>
            <a:fld id="{365D4ADE-EBF0-40FB-83BD-2C8DAEF4D47A}" type="slidenum">
              <a:rPr lang="zh-CN" altLang="en-US" smtClean="0"/>
              <a:t>9</a:t>
            </a:fld>
            <a:endParaRPr lang="zh-CN" altLang="en-US"/>
          </a:p>
        </p:txBody>
      </p:sp>
    </p:spTree>
    <p:extLst>
      <p:ext uri="{BB962C8B-B14F-4D97-AF65-F5344CB8AC3E}">
        <p14:creationId xmlns:p14="http://schemas.microsoft.com/office/powerpoint/2010/main" val="21892719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Demo one should be around 90 seconds. Start from the project page. Show the main pipeline, then open the repository, then claim boundaries, traceability matrix, and manifest. The point is not to run everything; the point is to show that claims are inspectable.</a:t>
            </a:r>
            <a:endParaRPr lang="zh-CN" altLang="en-US"/>
          </a:p>
        </p:txBody>
      </p:sp>
      <p:sp>
        <p:nvSpPr>
          <p:cNvPr id="4" name="灯片编号占位符 3"/>
          <p:cNvSpPr>
            <a:spLocks noGrp="1"/>
          </p:cNvSpPr>
          <p:nvPr>
            <p:ph type="sldNum" sz="quarter" idx="5"/>
          </p:nvPr>
        </p:nvSpPr>
        <p:spPr/>
        <p:txBody>
          <a:bodyPr/>
          <a:lstStyle/>
          <a:p>
            <a:fld id="{365D4ADE-EBF0-40FB-83BD-2C8DAEF4D47A}" type="slidenum">
              <a:rPr lang="zh-CN" altLang="en-US" smtClean="0"/>
              <a:t>10</a:t>
            </a:fld>
            <a:endParaRPr lang="zh-CN" altLang="en-US"/>
          </a:p>
        </p:txBody>
      </p:sp>
    </p:spTree>
    <p:extLst>
      <p:ext uri="{BB962C8B-B14F-4D97-AF65-F5344CB8AC3E}">
        <p14:creationId xmlns:p14="http://schemas.microsoft.com/office/powerpoint/2010/main" val="3006764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Demo two is about 60 seconds. Run or show the viva check. Be explicit: this check verifies the submitted repository surface and hashes. It does not rerun long experiments.</a:t>
            </a:r>
            <a:endParaRPr lang="zh-CN" altLang="en-US"/>
          </a:p>
        </p:txBody>
      </p:sp>
      <p:sp>
        <p:nvSpPr>
          <p:cNvPr id="4" name="灯片编号占位符 3"/>
          <p:cNvSpPr>
            <a:spLocks noGrp="1"/>
          </p:cNvSpPr>
          <p:nvPr>
            <p:ph type="sldNum" sz="quarter" idx="5"/>
          </p:nvPr>
        </p:nvSpPr>
        <p:spPr/>
        <p:txBody>
          <a:bodyPr/>
          <a:lstStyle/>
          <a:p>
            <a:fld id="{365D4ADE-EBF0-40FB-83BD-2C8DAEF4D47A}" type="slidenum">
              <a:rPr lang="zh-CN" altLang="en-US" smtClean="0"/>
              <a:t>11</a:t>
            </a:fld>
            <a:endParaRPr lang="zh-CN" altLang="en-US"/>
          </a:p>
        </p:txBody>
      </p:sp>
    </p:spTree>
    <p:extLst>
      <p:ext uri="{BB962C8B-B14F-4D97-AF65-F5344CB8AC3E}">
        <p14:creationId xmlns:p14="http://schemas.microsoft.com/office/powerpoint/2010/main" val="17335557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questions, answer first, then attach the answer to a boundary. I can defend the evidence. I should qualify the access model and dataset surface. I should refuse universal or legal claims.</a:t>
            </a:r>
            <a:endParaRPr lang="zh-CN" altLang="en-US"/>
          </a:p>
        </p:txBody>
      </p:sp>
      <p:sp>
        <p:nvSpPr>
          <p:cNvPr id="4" name="灯片编号占位符 3"/>
          <p:cNvSpPr>
            <a:spLocks noGrp="1"/>
          </p:cNvSpPr>
          <p:nvPr>
            <p:ph type="sldNum" sz="quarter" idx="5"/>
          </p:nvPr>
        </p:nvSpPr>
        <p:spPr/>
        <p:txBody>
          <a:bodyPr/>
          <a:lstStyle/>
          <a:p>
            <a:fld id="{365D4ADE-EBF0-40FB-83BD-2C8DAEF4D47A}" type="slidenum">
              <a:rPr lang="zh-CN" altLang="en-US" smtClean="0"/>
              <a:t>12</a:t>
            </a:fld>
            <a:endParaRPr lang="zh-CN" altLang="en-US"/>
          </a:p>
        </p:txBody>
      </p:sp>
    </p:spTree>
    <p:extLst>
      <p:ext uri="{BB962C8B-B14F-4D97-AF65-F5344CB8AC3E}">
        <p14:creationId xmlns:p14="http://schemas.microsoft.com/office/powerpoint/2010/main" val="1197535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future work, the repository is organized so the integrated FYP artifact can become separate paper workstreams. I should be clear that these are planned targets, not acceptance claims.</a:t>
            </a:r>
            <a:endParaRPr lang="zh-CN" altLang="en-US"/>
          </a:p>
        </p:txBody>
      </p:sp>
      <p:sp>
        <p:nvSpPr>
          <p:cNvPr id="4" name="灯片编号占位符 3"/>
          <p:cNvSpPr>
            <a:spLocks noGrp="1"/>
          </p:cNvSpPr>
          <p:nvPr>
            <p:ph type="sldNum" sz="quarter" idx="5"/>
          </p:nvPr>
        </p:nvSpPr>
        <p:spPr/>
        <p:txBody>
          <a:bodyPr/>
          <a:lstStyle/>
          <a:p>
            <a:fld id="{365D4ADE-EBF0-40FB-83BD-2C8DAEF4D47A}" type="slidenum">
              <a:rPr lang="zh-CN" altLang="en-US" smtClean="0"/>
              <a:t>13</a:t>
            </a:fld>
            <a:endParaRPr lang="zh-CN" altLang="en-US"/>
          </a:p>
        </p:txBody>
      </p:sp>
    </p:spTree>
    <p:extLst>
      <p:ext uri="{BB962C8B-B14F-4D97-AF65-F5344CB8AC3E}">
        <p14:creationId xmlns:p14="http://schemas.microsoft.com/office/powerpoint/2010/main" val="25431171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Thank you. I am happy to answer questions.</a:t>
            </a:r>
            <a:endParaRPr lang="zh-CN" altLang="en-US"/>
          </a:p>
        </p:txBody>
      </p:sp>
      <p:sp>
        <p:nvSpPr>
          <p:cNvPr id="4" name="灯片编号占位符 3"/>
          <p:cNvSpPr>
            <a:spLocks noGrp="1"/>
          </p:cNvSpPr>
          <p:nvPr>
            <p:ph type="sldNum" sz="quarter" idx="5"/>
          </p:nvPr>
        </p:nvSpPr>
        <p:spPr/>
        <p:txBody>
          <a:bodyPr/>
          <a:lstStyle/>
          <a:p>
            <a:fld id="{365D4ADE-EBF0-40FB-83BD-2C8DAEF4D47A}" type="slidenum">
              <a:rPr lang="zh-CN" altLang="en-US" smtClean="0"/>
              <a:t>14</a:t>
            </a:fld>
            <a:endParaRPr lang="zh-CN" altLang="en-US"/>
          </a:p>
        </p:txBody>
      </p:sp>
    </p:spTree>
    <p:extLst>
      <p:ext uri="{BB962C8B-B14F-4D97-AF65-F5344CB8AC3E}">
        <p14:creationId xmlns:p14="http://schemas.microsoft.com/office/powerpoint/2010/main" val="1836814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Backup slide. The formula is not meant to look complicated. It simply says that a result is interpreted only after the evidence object has been admitted.</a:t>
            </a:r>
            <a:endParaRPr lang="zh-CN" altLang="en-US"/>
          </a:p>
        </p:txBody>
      </p:sp>
      <p:sp>
        <p:nvSpPr>
          <p:cNvPr id="4" name="灯片编号占位符 3"/>
          <p:cNvSpPr>
            <a:spLocks noGrp="1"/>
          </p:cNvSpPr>
          <p:nvPr>
            <p:ph type="sldNum" sz="quarter" idx="5"/>
          </p:nvPr>
        </p:nvSpPr>
        <p:spPr/>
        <p:txBody>
          <a:bodyPr/>
          <a:lstStyle/>
          <a:p>
            <a:fld id="{365D4ADE-EBF0-40FB-83BD-2C8DAEF4D47A}" type="slidenum">
              <a:rPr lang="zh-CN" altLang="en-US" smtClean="0"/>
              <a:t>15</a:t>
            </a:fld>
            <a:endParaRPr lang="zh-CN" altLang="en-US"/>
          </a:p>
        </p:txBody>
      </p:sp>
    </p:spTree>
    <p:extLst>
      <p:ext uri="{BB962C8B-B14F-4D97-AF65-F5344CB8AC3E}">
        <p14:creationId xmlns:p14="http://schemas.microsoft.com/office/powerpoint/2010/main" val="39980149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Backup slide. Use these as short Q&amp;A answers if needed.</a:t>
            </a:r>
            <a:endParaRPr lang="zh-CN" altLang="en-US"/>
          </a:p>
        </p:txBody>
      </p:sp>
      <p:sp>
        <p:nvSpPr>
          <p:cNvPr id="4" name="灯片编号占位符 3"/>
          <p:cNvSpPr>
            <a:spLocks noGrp="1"/>
          </p:cNvSpPr>
          <p:nvPr>
            <p:ph type="sldNum" sz="quarter" idx="5"/>
          </p:nvPr>
        </p:nvSpPr>
        <p:spPr/>
        <p:txBody>
          <a:bodyPr/>
          <a:lstStyle/>
          <a:p>
            <a:fld id="{365D4ADE-EBF0-40FB-83BD-2C8DAEF4D47A}" type="slidenum">
              <a:rPr lang="zh-CN" altLang="en-US" smtClean="0"/>
              <a:t>16</a:t>
            </a:fld>
            <a:endParaRPr lang="zh-CN" altLang="en-US"/>
          </a:p>
        </p:txBody>
      </p:sp>
    </p:spTree>
    <p:extLst>
      <p:ext uri="{BB962C8B-B14F-4D97-AF65-F5344CB8AC3E}">
        <p14:creationId xmlns:p14="http://schemas.microsoft.com/office/powerpoint/2010/main" val="7639823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CBE7C60-DCA4-AC39-C9C9-1031A06A6D13}"/>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C9BC6DD7-9DEF-DCBF-3F13-EC2A2EB8F9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0AAF399B-9D8C-ABA1-8114-6F2F59434FE0}"/>
              </a:ext>
            </a:extLst>
          </p:cNvPr>
          <p:cNvSpPr>
            <a:spLocks noGrp="1"/>
          </p:cNvSpPr>
          <p:nvPr>
            <p:ph type="dt" sz="half" idx="10"/>
          </p:nvPr>
        </p:nvSpPr>
        <p:spPr/>
        <p:txBody>
          <a:bodyPr/>
          <a:lstStyle/>
          <a:p>
            <a:fld id="{C69E6D5B-6EF5-476F-BC11-33A090B32CB5}" type="datetimeFigureOut">
              <a:rPr lang="zh-CN" altLang="en-US" smtClean="0"/>
              <a:t>2026/5/13</a:t>
            </a:fld>
            <a:endParaRPr lang="zh-CN" altLang="en-US"/>
          </a:p>
        </p:txBody>
      </p:sp>
      <p:sp>
        <p:nvSpPr>
          <p:cNvPr id="5" name="页脚占位符 4">
            <a:extLst>
              <a:ext uri="{FF2B5EF4-FFF2-40B4-BE49-F238E27FC236}">
                <a16:creationId xmlns:a16="http://schemas.microsoft.com/office/drawing/2014/main" id="{613C708A-7FB4-B724-4BC1-CE46111149A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558F884-322B-13BB-03DD-435CE6A7817B}"/>
              </a:ext>
            </a:extLst>
          </p:cNvPr>
          <p:cNvSpPr>
            <a:spLocks noGrp="1"/>
          </p:cNvSpPr>
          <p:nvPr>
            <p:ph type="sldNum" sz="quarter" idx="12"/>
          </p:nvPr>
        </p:nvSpPr>
        <p:spPr/>
        <p:txBody>
          <a:bodyPr/>
          <a:lstStyle/>
          <a:p>
            <a:fld id="{0ED7A2DD-ADE0-4144-A624-BB666DAA3DE9}" type="slidenum">
              <a:rPr lang="zh-CN" altLang="en-US" smtClean="0"/>
              <a:t>‹#›</a:t>
            </a:fld>
            <a:endParaRPr lang="zh-CN" altLang="en-US"/>
          </a:p>
        </p:txBody>
      </p:sp>
    </p:spTree>
    <p:extLst>
      <p:ext uri="{BB962C8B-B14F-4D97-AF65-F5344CB8AC3E}">
        <p14:creationId xmlns:p14="http://schemas.microsoft.com/office/powerpoint/2010/main" val="4269839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2AD0B26-4000-AB5E-EBCB-9319D680A465}"/>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58E391A3-1A26-5EEC-2200-E52653BDC131}"/>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3978F4A4-DA07-D5A0-D78C-B0A03A5A0D5B}"/>
              </a:ext>
            </a:extLst>
          </p:cNvPr>
          <p:cNvSpPr>
            <a:spLocks noGrp="1"/>
          </p:cNvSpPr>
          <p:nvPr>
            <p:ph type="dt" sz="half" idx="10"/>
          </p:nvPr>
        </p:nvSpPr>
        <p:spPr/>
        <p:txBody>
          <a:bodyPr/>
          <a:lstStyle/>
          <a:p>
            <a:fld id="{C69E6D5B-6EF5-476F-BC11-33A090B32CB5}" type="datetimeFigureOut">
              <a:rPr lang="zh-CN" altLang="en-US" smtClean="0"/>
              <a:t>2026/5/13</a:t>
            </a:fld>
            <a:endParaRPr lang="zh-CN" altLang="en-US"/>
          </a:p>
        </p:txBody>
      </p:sp>
      <p:sp>
        <p:nvSpPr>
          <p:cNvPr id="5" name="页脚占位符 4">
            <a:extLst>
              <a:ext uri="{FF2B5EF4-FFF2-40B4-BE49-F238E27FC236}">
                <a16:creationId xmlns:a16="http://schemas.microsoft.com/office/drawing/2014/main" id="{8081AE77-1B5A-E487-13D4-BE0460C749A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EA54572-5C3E-F1AF-629E-93E88F6E04EF}"/>
              </a:ext>
            </a:extLst>
          </p:cNvPr>
          <p:cNvSpPr>
            <a:spLocks noGrp="1"/>
          </p:cNvSpPr>
          <p:nvPr>
            <p:ph type="sldNum" sz="quarter" idx="12"/>
          </p:nvPr>
        </p:nvSpPr>
        <p:spPr/>
        <p:txBody>
          <a:bodyPr/>
          <a:lstStyle/>
          <a:p>
            <a:fld id="{0ED7A2DD-ADE0-4144-A624-BB666DAA3DE9}" type="slidenum">
              <a:rPr lang="zh-CN" altLang="en-US" smtClean="0"/>
              <a:t>‹#›</a:t>
            </a:fld>
            <a:endParaRPr lang="zh-CN" altLang="en-US"/>
          </a:p>
        </p:txBody>
      </p:sp>
    </p:spTree>
    <p:extLst>
      <p:ext uri="{BB962C8B-B14F-4D97-AF65-F5344CB8AC3E}">
        <p14:creationId xmlns:p14="http://schemas.microsoft.com/office/powerpoint/2010/main" val="842836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1AEFE1-11F4-B534-33F3-E4D9D5AEAA31}"/>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792A0D8C-FB07-A4DD-594E-98B3D132B08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EDA72B9D-A50E-8E7A-2A19-5AD46B5F7E8E}"/>
              </a:ext>
            </a:extLst>
          </p:cNvPr>
          <p:cNvSpPr>
            <a:spLocks noGrp="1"/>
          </p:cNvSpPr>
          <p:nvPr>
            <p:ph type="dt" sz="half" idx="10"/>
          </p:nvPr>
        </p:nvSpPr>
        <p:spPr/>
        <p:txBody>
          <a:bodyPr/>
          <a:lstStyle/>
          <a:p>
            <a:fld id="{C69E6D5B-6EF5-476F-BC11-33A090B32CB5}" type="datetimeFigureOut">
              <a:rPr lang="zh-CN" altLang="en-US" smtClean="0"/>
              <a:t>2026/5/13</a:t>
            </a:fld>
            <a:endParaRPr lang="zh-CN" altLang="en-US"/>
          </a:p>
        </p:txBody>
      </p:sp>
      <p:sp>
        <p:nvSpPr>
          <p:cNvPr id="5" name="页脚占位符 4">
            <a:extLst>
              <a:ext uri="{FF2B5EF4-FFF2-40B4-BE49-F238E27FC236}">
                <a16:creationId xmlns:a16="http://schemas.microsoft.com/office/drawing/2014/main" id="{05951CDE-8DCC-FE1D-90A4-B401A225AEC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1A1C55A-E26C-8018-916E-69807C6E9749}"/>
              </a:ext>
            </a:extLst>
          </p:cNvPr>
          <p:cNvSpPr>
            <a:spLocks noGrp="1"/>
          </p:cNvSpPr>
          <p:nvPr>
            <p:ph type="sldNum" sz="quarter" idx="12"/>
          </p:nvPr>
        </p:nvSpPr>
        <p:spPr/>
        <p:txBody>
          <a:bodyPr/>
          <a:lstStyle/>
          <a:p>
            <a:fld id="{0ED7A2DD-ADE0-4144-A624-BB666DAA3DE9}" type="slidenum">
              <a:rPr lang="zh-CN" altLang="en-US" smtClean="0"/>
              <a:t>‹#›</a:t>
            </a:fld>
            <a:endParaRPr lang="zh-CN" altLang="en-US"/>
          </a:p>
        </p:txBody>
      </p:sp>
    </p:spTree>
    <p:extLst>
      <p:ext uri="{BB962C8B-B14F-4D97-AF65-F5344CB8AC3E}">
        <p14:creationId xmlns:p14="http://schemas.microsoft.com/office/powerpoint/2010/main" val="309869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0FE3A8B-1CAE-0147-848B-1B9691C20863}"/>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B91CD5F7-31D5-92F0-798E-15721ADC8FDB}"/>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927B6FE1-FF68-57CA-6376-B22FCB6C93D5}"/>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3849D163-6A0A-9DF0-862C-7E176806E34C}"/>
              </a:ext>
            </a:extLst>
          </p:cNvPr>
          <p:cNvSpPr>
            <a:spLocks noGrp="1"/>
          </p:cNvSpPr>
          <p:nvPr>
            <p:ph type="dt" sz="half" idx="10"/>
          </p:nvPr>
        </p:nvSpPr>
        <p:spPr/>
        <p:txBody>
          <a:bodyPr/>
          <a:lstStyle/>
          <a:p>
            <a:fld id="{C69E6D5B-6EF5-476F-BC11-33A090B32CB5}" type="datetimeFigureOut">
              <a:rPr lang="zh-CN" altLang="en-US" smtClean="0"/>
              <a:t>2026/5/13</a:t>
            </a:fld>
            <a:endParaRPr lang="zh-CN" altLang="en-US"/>
          </a:p>
        </p:txBody>
      </p:sp>
      <p:sp>
        <p:nvSpPr>
          <p:cNvPr id="6" name="页脚占位符 5">
            <a:extLst>
              <a:ext uri="{FF2B5EF4-FFF2-40B4-BE49-F238E27FC236}">
                <a16:creationId xmlns:a16="http://schemas.microsoft.com/office/drawing/2014/main" id="{7FEE7DB5-3281-D6F5-ED8D-11800255CDF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E0DE68D1-213A-2206-7D25-CEA52817A2E7}"/>
              </a:ext>
            </a:extLst>
          </p:cNvPr>
          <p:cNvSpPr>
            <a:spLocks noGrp="1"/>
          </p:cNvSpPr>
          <p:nvPr>
            <p:ph type="sldNum" sz="quarter" idx="12"/>
          </p:nvPr>
        </p:nvSpPr>
        <p:spPr/>
        <p:txBody>
          <a:bodyPr/>
          <a:lstStyle/>
          <a:p>
            <a:fld id="{0ED7A2DD-ADE0-4144-A624-BB666DAA3DE9}" type="slidenum">
              <a:rPr lang="zh-CN" altLang="en-US" smtClean="0"/>
              <a:t>‹#›</a:t>
            </a:fld>
            <a:endParaRPr lang="zh-CN" altLang="en-US"/>
          </a:p>
        </p:txBody>
      </p:sp>
    </p:spTree>
    <p:extLst>
      <p:ext uri="{BB962C8B-B14F-4D97-AF65-F5344CB8AC3E}">
        <p14:creationId xmlns:p14="http://schemas.microsoft.com/office/powerpoint/2010/main" val="10400472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9ACAAA-73DB-CC63-F215-CF91929468B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A5182B8E-D29A-6CEF-7076-A1426269B0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4F16EB50-6BBC-BA41-02BD-C311DDB6CC24}"/>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ECA54C0E-34D4-B065-0974-ACBCBCCAEE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652C2D50-56A9-D898-B04B-01881D3233A9}"/>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21B9EF70-A27A-EEEC-2FA9-190D0AA604CA}"/>
              </a:ext>
            </a:extLst>
          </p:cNvPr>
          <p:cNvSpPr>
            <a:spLocks noGrp="1"/>
          </p:cNvSpPr>
          <p:nvPr>
            <p:ph type="dt" sz="half" idx="10"/>
          </p:nvPr>
        </p:nvSpPr>
        <p:spPr/>
        <p:txBody>
          <a:bodyPr/>
          <a:lstStyle/>
          <a:p>
            <a:fld id="{C69E6D5B-6EF5-476F-BC11-33A090B32CB5}" type="datetimeFigureOut">
              <a:rPr lang="zh-CN" altLang="en-US" smtClean="0"/>
              <a:t>2026/5/13</a:t>
            </a:fld>
            <a:endParaRPr lang="zh-CN" altLang="en-US"/>
          </a:p>
        </p:txBody>
      </p:sp>
      <p:sp>
        <p:nvSpPr>
          <p:cNvPr id="8" name="页脚占位符 7">
            <a:extLst>
              <a:ext uri="{FF2B5EF4-FFF2-40B4-BE49-F238E27FC236}">
                <a16:creationId xmlns:a16="http://schemas.microsoft.com/office/drawing/2014/main" id="{F1640B17-D0B1-B5EB-ED58-A5F06415EE12}"/>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DE2D61A2-DC02-6067-41E3-43A29FD06D9D}"/>
              </a:ext>
            </a:extLst>
          </p:cNvPr>
          <p:cNvSpPr>
            <a:spLocks noGrp="1"/>
          </p:cNvSpPr>
          <p:nvPr>
            <p:ph type="sldNum" sz="quarter" idx="12"/>
          </p:nvPr>
        </p:nvSpPr>
        <p:spPr/>
        <p:txBody>
          <a:bodyPr/>
          <a:lstStyle/>
          <a:p>
            <a:fld id="{0ED7A2DD-ADE0-4144-A624-BB666DAA3DE9}" type="slidenum">
              <a:rPr lang="zh-CN" altLang="en-US" smtClean="0"/>
              <a:t>‹#›</a:t>
            </a:fld>
            <a:endParaRPr lang="zh-CN" altLang="en-US"/>
          </a:p>
        </p:txBody>
      </p:sp>
    </p:spTree>
    <p:extLst>
      <p:ext uri="{BB962C8B-B14F-4D97-AF65-F5344CB8AC3E}">
        <p14:creationId xmlns:p14="http://schemas.microsoft.com/office/powerpoint/2010/main" val="22935312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F90DC-E594-C2EF-3E41-E6CDF5073775}"/>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FBD94A11-0467-9B2F-1350-23A427EECEDC}"/>
              </a:ext>
            </a:extLst>
          </p:cNvPr>
          <p:cNvSpPr>
            <a:spLocks noGrp="1"/>
          </p:cNvSpPr>
          <p:nvPr>
            <p:ph type="dt" sz="half" idx="10"/>
          </p:nvPr>
        </p:nvSpPr>
        <p:spPr/>
        <p:txBody>
          <a:bodyPr/>
          <a:lstStyle/>
          <a:p>
            <a:fld id="{C69E6D5B-6EF5-476F-BC11-33A090B32CB5}" type="datetimeFigureOut">
              <a:rPr lang="zh-CN" altLang="en-US" smtClean="0"/>
              <a:t>2026/5/13</a:t>
            </a:fld>
            <a:endParaRPr lang="zh-CN" altLang="en-US"/>
          </a:p>
        </p:txBody>
      </p:sp>
      <p:sp>
        <p:nvSpPr>
          <p:cNvPr id="4" name="页脚占位符 3">
            <a:extLst>
              <a:ext uri="{FF2B5EF4-FFF2-40B4-BE49-F238E27FC236}">
                <a16:creationId xmlns:a16="http://schemas.microsoft.com/office/drawing/2014/main" id="{3D6B6CFF-7D19-A588-3DA7-C9508BD068B9}"/>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C67BE2F5-AC4E-97C5-3782-A215488400FA}"/>
              </a:ext>
            </a:extLst>
          </p:cNvPr>
          <p:cNvSpPr>
            <a:spLocks noGrp="1"/>
          </p:cNvSpPr>
          <p:nvPr>
            <p:ph type="sldNum" sz="quarter" idx="12"/>
          </p:nvPr>
        </p:nvSpPr>
        <p:spPr/>
        <p:txBody>
          <a:bodyPr/>
          <a:lstStyle/>
          <a:p>
            <a:fld id="{0ED7A2DD-ADE0-4144-A624-BB666DAA3DE9}" type="slidenum">
              <a:rPr lang="zh-CN" altLang="en-US" smtClean="0"/>
              <a:t>‹#›</a:t>
            </a:fld>
            <a:endParaRPr lang="zh-CN" altLang="en-US"/>
          </a:p>
        </p:txBody>
      </p:sp>
    </p:spTree>
    <p:extLst>
      <p:ext uri="{BB962C8B-B14F-4D97-AF65-F5344CB8AC3E}">
        <p14:creationId xmlns:p14="http://schemas.microsoft.com/office/powerpoint/2010/main" val="2703223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1F8F8112-01DE-CB51-0BE7-8783D4D4F774}"/>
              </a:ext>
            </a:extLst>
          </p:cNvPr>
          <p:cNvSpPr>
            <a:spLocks noGrp="1"/>
          </p:cNvSpPr>
          <p:nvPr>
            <p:ph type="dt" sz="half" idx="10"/>
          </p:nvPr>
        </p:nvSpPr>
        <p:spPr/>
        <p:txBody>
          <a:bodyPr/>
          <a:lstStyle/>
          <a:p>
            <a:fld id="{C69E6D5B-6EF5-476F-BC11-33A090B32CB5}" type="datetimeFigureOut">
              <a:rPr lang="zh-CN" altLang="en-US" smtClean="0"/>
              <a:t>2026/5/13</a:t>
            </a:fld>
            <a:endParaRPr lang="zh-CN" altLang="en-US"/>
          </a:p>
        </p:txBody>
      </p:sp>
      <p:sp>
        <p:nvSpPr>
          <p:cNvPr id="3" name="页脚占位符 2">
            <a:extLst>
              <a:ext uri="{FF2B5EF4-FFF2-40B4-BE49-F238E27FC236}">
                <a16:creationId xmlns:a16="http://schemas.microsoft.com/office/drawing/2014/main" id="{9F0C62E3-C76B-CEA8-61D4-124F38DCF83B}"/>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6CD147EC-0DCC-86B6-11E3-39223D59F0C6}"/>
              </a:ext>
            </a:extLst>
          </p:cNvPr>
          <p:cNvSpPr>
            <a:spLocks noGrp="1"/>
          </p:cNvSpPr>
          <p:nvPr>
            <p:ph type="sldNum" sz="quarter" idx="12"/>
          </p:nvPr>
        </p:nvSpPr>
        <p:spPr/>
        <p:txBody>
          <a:bodyPr/>
          <a:lstStyle/>
          <a:p>
            <a:fld id="{0ED7A2DD-ADE0-4144-A624-BB666DAA3DE9}" type="slidenum">
              <a:rPr lang="zh-CN" altLang="en-US" smtClean="0"/>
              <a:t>‹#›</a:t>
            </a:fld>
            <a:endParaRPr lang="zh-CN" altLang="en-US"/>
          </a:p>
        </p:txBody>
      </p:sp>
    </p:spTree>
    <p:extLst>
      <p:ext uri="{BB962C8B-B14F-4D97-AF65-F5344CB8AC3E}">
        <p14:creationId xmlns:p14="http://schemas.microsoft.com/office/powerpoint/2010/main" val="2049861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5459280-EE77-DE10-697D-1E035FB69CD7}"/>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486CAC62-E8F4-3D6D-60DE-AA977090EB6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39A5A5F3-1E7F-C8C3-0A45-842327F17C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BBE9BC38-181F-2B2F-7452-A073E969D137}"/>
              </a:ext>
            </a:extLst>
          </p:cNvPr>
          <p:cNvSpPr>
            <a:spLocks noGrp="1"/>
          </p:cNvSpPr>
          <p:nvPr>
            <p:ph type="dt" sz="half" idx="10"/>
          </p:nvPr>
        </p:nvSpPr>
        <p:spPr/>
        <p:txBody>
          <a:bodyPr/>
          <a:lstStyle/>
          <a:p>
            <a:fld id="{C69E6D5B-6EF5-476F-BC11-33A090B32CB5}" type="datetimeFigureOut">
              <a:rPr lang="zh-CN" altLang="en-US" smtClean="0"/>
              <a:t>2026/5/13</a:t>
            </a:fld>
            <a:endParaRPr lang="zh-CN" altLang="en-US"/>
          </a:p>
        </p:txBody>
      </p:sp>
      <p:sp>
        <p:nvSpPr>
          <p:cNvPr id="6" name="页脚占位符 5">
            <a:extLst>
              <a:ext uri="{FF2B5EF4-FFF2-40B4-BE49-F238E27FC236}">
                <a16:creationId xmlns:a16="http://schemas.microsoft.com/office/drawing/2014/main" id="{D1E10548-E484-17D2-01CC-EC2B4D312FC8}"/>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C6FF8B2-9351-B11F-D383-30A8EF84B7BA}"/>
              </a:ext>
            </a:extLst>
          </p:cNvPr>
          <p:cNvSpPr>
            <a:spLocks noGrp="1"/>
          </p:cNvSpPr>
          <p:nvPr>
            <p:ph type="sldNum" sz="quarter" idx="12"/>
          </p:nvPr>
        </p:nvSpPr>
        <p:spPr/>
        <p:txBody>
          <a:bodyPr/>
          <a:lstStyle/>
          <a:p>
            <a:fld id="{0ED7A2DD-ADE0-4144-A624-BB666DAA3DE9}" type="slidenum">
              <a:rPr lang="zh-CN" altLang="en-US" smtClean="0"/>
              <a:t>‹#›</a:t>
            </a:fld>
            <a:endParaRPr lang="zh-CN" altLang="en-US"/>
          </a:p>
        </p:txBody>
      </p:sp>
    </p:spTree>
    <p:extLst>
      <p:ext uri="{BB962C8B-B14F-4D97-AF65-F5344CB8AC3E}">
        <p14:creationId xmlns:p14="http://schemas.microsoft.com/office/powerpoint/2010/main" val="5020869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B5E363-09C0-5F9C-1263-6CA39EBE943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146F7B93-8659-9505-D670-6C40EB83CF4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4986D465-1F7E-6019-23EB-9CE875F747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5D61A923-4F08-2AB4-23A2-1FAC3748DE42}"/>
              </a:ext>
            </a:extLst>
          </p:cNvPr>
          <p:cNvSpPr>
            <a:spLocks noGrp="1"/>
          </p:cNvSpPr>
          <p:nvPr>
            <p:ph type="dt" sz="half" idx="10"/>
          </p:nvPr>
        </p:nvSpPr>
        <p:spPr/>
        <p:txBody>
          <a:bodyPr/>
          <a:lstStyle/>
          <a:p>
            <a:fld id="{C69E6D5B-6EF5-476F-BC11-33A090B32CB5}" type="datetimeFigureOut">
              <a:rPr lang="zh-CN" altLang="en-US" smtClean="0"/>
              <a:t>2026/5/13</a:t>
            </a:fld>
            <a:endParaRPr lang="zh-CN" altLang="en-US"/>
          </a:p>
        </p:txBody>
      </p:sp>
      <p:sp>
        <p:nvSpPr>
          <p:cNvPr id="6" name="页脚占位符 5">
            <a:extLst>
              <a:ext uri="{FF2B5EF4-FFF2-40B4-BE49-F238E27FC236}">
                <a16:creationId xmlns:a16="http://schemas.microsoft.com/office/drawing/2014/main" id="{F2B3D730-637E-85F8-3EF6-D884417329B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C70CB8C-065A-9713-3858-4FAC211D98CD}"/>
              </a:ext>
            </a:extLst>
          </p:cNvPr>
          <p:cNvSpPr>
            <a:spLocks noGrp="1"/>
          </p:cNvSpPr>
          <p:nvPr>
            <p:ph type="sldNum" sz="quarter" idx="12"/>
          </p:nvPr>
        </p:nvSpPr>
        <p:spPr/>
        <p:txBody>
          <a:bodyPr/>
          <a:lstStyle/>
          <a:p>
            <a:fld id="{0ED7A2DD-ADE0-4144-A624-BB666DAA3DE9}" type="slidenum">
              <a:rPr lang="zh-CN" altLang="en-US" smtClean="0"/>
              <a:t>‹#›</a:t>
            </a:fld>
            <a:endParaRPr lang="zh-CN" altLang="en-US"/>
          </a:p>
        </p:txBody>
      </p:sp>
    </p:spTree>
    <p:extLst>
      <p:ext uri="{BB962C8B-B14F-4D97-AF65-F5344CB8AC3E}">
        <p14:creationId xmlns:p14="http://schemas.microsoft.com/office/powerpoint/2010/main" val="31041304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29CE04-577A-0583-4947-2E139007BA3C}"/>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4E04F76C-18F4-1484-C844-AC9BDB9CF5A8}"/>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BF2E36B-5CFD-37A7-74D5-A30FA6DDC724}"/>
              </a:ext>
            </a:extLst>
          </p:cNvPr>
          <p:cNvSpPr>
            <a:spLocks noGrp="1"/>
          </p:cNvSpPr>
          <p:nvPr>
            <p:ph type="dt" sz="half" idx="10"/>
          </p:nvPr>
        </p:nvSpPr>
        <p:spPr/>
        <p:txBody>
          <a:bodyPr/>
          <a:lstStyle/>
          <a:p>
            <a:fld id="{C69E6D5B-6EF5-476F-BC11-33A090B32CB5}" type="datetimeFigureOut">
              <a:rPr lang="zh-CN" altLang="en-US" smtClean="0"/>
              <a:t>2026/5/13</a:t>
            </a:fld>
            <a:endParaRPr lang="zh-CN" altLang="en-US"/>
          </a:p>
        </p:txBody>
      </p:sp>
      <p:sp>
        <p:nvSpPr>
          <p:cNvPr id="5" name="页脚占位符 4">
            <a:extLst>
              <a:ext uri="{FF2B5EF4-FFF2-40B4-BE49-F238E27FC236}">
                <a16:creationId xmlns:a16="http://schemas.microsoft.com/office/drawing/2014/main" id="{FABEEF7F-D2B5-ED79-3700-4803EF03153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6330FC4-361A-ADDE-73EE-359F5C0864A1}"/>
              </a:ext>
            </a:extLst>
          </p:cNvPr>
          <p:cNvSpPr>
            <a:spLocks noGrp="1"/>
          </p:cNvSpPr>
          <p:nvPr>
            <p:ph type="sldNum" sz="quarter" idx="12"/>
          </p:nvPr>
        </p:nvSpPr>
        <p:spPr/>
        <p:txBody>
          <a:bodyPr/>
          <a:lstStyle/>
          <a:p>
            <a:fld id="{0ED7A2DD-ADE0-4144-A624-BB666DAA3DE9}" type="slidenum">
              <a:rPr lang="zh-CN" altLang="en-US" smtClean="0"/>
              <a:t>‹#›</a:t>
            </a:fld>
            <a:endParaRPr lang="zh-CN" altLang="en-US"/>
          </a:p>
        </p:txBody>
      </p:sp>
    </p:spTree>
    <p:extLst>
      <p:ext uri="{BB962C8B-B14F-4D97-AF65-F5344CB8AC3E}">
        <p14:creationId xmlns:p14="http://schemas.microsoft.com/office/powerpoint/2010/main" val="34308890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084B19D3-FE4B-7090-DC6E-5076E4142017}"/>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95832E38-D907-581D-3B90-4F83102D1208}"/>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CE318B2A-86FD-AA54-AE26-A95F4BD7F887}"/>
              </a:ext>
            </a:extLst>
          </p:cNvPr>
          <p:cNvSpPr>
            <a:spLocks noGrp="1"/>
          </p:cNvSpPr>
          <p:nvPr>
            <p:ph type="dt" sz="half" idx="10"/>
          </p:nvPr>
        </p:nvSpPr>
        <p:spPr/>
        <p:txBody>
          <a:bodyPr/>
          <a:lstStyle/>
          <a:p>
            <a:fld id="{C69E6D5B-6EF5-476F-BC11-33A090B32CB5}" type="datetimeFigureOut">
              <a:rPr lang="zh-CN" altLang="en-US" smtClean="0"/>
              <a:t>2026/5/13</a:t>
            </a:fld>
            <a:endParaRPr lang="zh-CN" altLang="en-US"/>
          </a:p>
        </p:txBody>
      </p:sp>
      <p:sp>
        <p:nvSpPr>
          <p:cNvPr id="5" name="页脚占位符 4">
            <a:extLst>
              <a:ext uri="{FF2B5EF4-FFF2-40B4-BE49-F238E27FC236}">
                <a16:creationId xmlns:a16="http://schemas.microsoft.com/office/drawing/2014/main" id="{97DE3F86-0018-5DD1-8B21-64059134675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20CFD97-AC30-8C78-34D4-8FFC699A2CE1}"/>
              </a:ext>
            </a:extLst>
          </p:cNvPr>
          <p:cNvSpPr>
            <a:spLocks noGrp="1"/>
          </p:cNvSpPr>
          <p:nvPr>
            <p:ph type="sldNum" sz="quarter" idx="12"/>
          </p:nvPr>
        </p:nvSpPr>
        <p:spPr/>
        <p:txBody>
          <a:bodyPr/>
          <a:lstStyle/>
          <a:p>
            <a:fld id="{0ED7A2DD-ADE0-4144-A624-BB666DAA3DE9}" type="slidenum">
              <a:rPr lang="zh-CN" altLang="en-US" smtClean="0"/>
              <a:t>‹#›</a:t>
            </a:fld>
            <a:endParaRPr lang="zh-CN" altLang="en-US"/>
          </a:p>
        </p:txBody>
      </p:sp>
    </p:spTree>
    <p:extLst>
      <p:ext uri="{BB962C8B-B14F-4D97-AF65-F5344CB8AC3E}">
        <p14:creationId xmlns:p14="http://schemas.microsoft.com/office/powerpoint/2010/main" val="1754970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1CBB4728-5B89-EDE6-3B96-AF1B30CEE4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091F3BC0-3157-D292-79D1-BDF5074989E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B6BFA7C9-6716-C715-BFB7-A19CCE8B1EF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9E6D5B-6EF5-476F-BC11-33A090B32CB5}" type="datetimeFigureOut">
              <a:rPr lang="zh-CN" altLang="en-US" smtClean="0"/>
              <a:t>2026/5/13</a:t>
            </a:fld>
            <a:endParaRPr lang="zh-CN" altLang="en-US"/>
          </a:p>
        </p:txBody>
      </p:sp>
      <p:sp>
        <p:nvSpPr>
          <p:cNvPr id="5" name="页脚占位符 4">
            <a:extLst>
              <a:ext uri="{FF2B5EF4-FFF2-40B4-BE49-F238E27FC236}">
                <a16:creationId xmlns:a16="http://schemas.microsoft.com/office/drawing/2014/main" id="{730C0D41-E88A-44A9-9E2D-59F959E7A91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F19DCAF5-AC1F-B620-1B85-9BC071E3E0E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ED7A2DD-ADE0-4144-A624-BB666DAA3DE9}" type="slidenum">
              <a:rPr lang="zh-CN" altLang="en-US" smtClean="0"/>
              <a:t>‹#›</a:t>
            </a:fld>
            <a:endParaRPr lang="zh-CN" altLang="en-US"/>
          </a:p>
        </p:txBody>
      </p:sp>
    </p:spTree>
    <p:extLst>
      <p:ext uri="{BB962C8B-B14F-4D97-AF65-F5344CB8AC3E}">
        <p14:creationId xmlns:p14="http://schemas.microsoft.com/office/powerpoint/2010/main" val="14815273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haoyi-zhang.github.io/WatermarkScope/"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hyperlink" Target="https://github.com/Haoyi-Zhang/WatermarkScope/blob/main/docs/TRACEABILITY_MATRIX.md" TargetMode="External"/><Relationship Id="rId5" Type="http://schemas.openxmlformats.org/officeDocument/2006/relationships/hyperlink" Target="https://github.com/Haoyi-Zhang/WatermarkScope/blob/main/CLAIM_BOUNDARIES.md" TargetMode="Externa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haoyi-zhang.github.io/WatermarkScope/"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hyperlink" Target="https://github.com/Haoyi-Zhang/WatermarkScope/blob/main/RESULT_MANIFEST.jsonl" TargetMode="External"/><Relationship Id="rId4" Type="http://schemas.openxmlformats.org/officeDocument/2006/relationships/hyperlink" Target="https://github.com/Haoyi-Zhang/WatermarkScope/blob/main/scripts/viva_check.py"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hyperlink" Target="https://github.com/Haoyi-Zhang/WatermarkScope/blob/main/CLAIM_BOUNDARIES.md"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haoyi-zhang.github.io/WatermarkScope/" TargetMode="External"/><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hyperlink" Target="https://github.com/Haoyi-Zhang/WatermarkScope" TargetMode="Externa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hyperlink" Target="https://github.com/Haoyi-Zhang/WatermarkScope/blob/main/CLAIM_BOUNDARIES.md" TargetMode="Externa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B1D384E6-EB98-39B0-5DEA-12C4BE0EA021}"/>
              </a:ext>
            </a:extLst>
          </p:cNvPr>
          <p:cNvSpPr/>
          <p:nvPr/>
        </p:nvSpPr>
        <p:spPr>
          <a:xfrm>
            <a:off x="0" y="0"/>
            <a:ext cx="121920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dark-panel">
            <a:extLst>
              <a:ext uri="{FF2B5EF4-FFF2-40B4-BE49-F238E27FC236}">
                <a16:creationId xmlns:a16="http://schemas.microsoft.com/office/drawing/2014/main" id="{6F2BE028-ABA5-9A87-EDFC-4D7717E6B4FD}"/>
              </a:ext>
            </a:extLst>
          </p:cNvPr>
          <p:cNvSpPr/>
          <p:nvPr/>
        </p:nvSpPr>
        <p:spPr>
          <a:xfrm>
            <a:off x="0" y="0"/>
            <a:ext cx="12192000" cy="6858000"/>
          </a:xfrm>
          <a:prstGeom prst="rect">
            <a:avLst/>
          </a:prstGeom>
          <a:solidFill>
            <a:srgbClr val="032048">
              <a:alpha val="9000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grid-v-0">
            <a:extLst>
              <a:ext uri="{FF2B5EF4-FFF2-40B4-BE49-F238E27FC236}">
                <a16:creationId xmlns:a16="http://schemas.microsoft.com/office/drawing/2014/main" id="{DAA1394E-5DEE-3306-E5D0-53D539931B30}"/>
              </a:ext>
            </a:extLst>
          </p:cNvPr>
          <p:cNvCxnSpPr/>
          <p:nvPr/>
        </p:nvCxnSpPr>
        <p:spPr>
          <a:xfrm>
            <a:off x="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5" name="grid-v-64">
            <a:extLst>
              <a:ext uri="{FF2B5EF4-FFF2-40B4-BE49-F238E27FC236}">
                <a16:creationId xmlns:a16="http://schemas.microsoft.com/office/drawing/2014/main" id="{D55B0B58-21C9-4187-9C11-E5856E75B887}"/>
              </a:ext>
            </a:extLst>
          </p:cNvPr>
          <p:cNvCxnSpPr/>
          <p:nvPr/>
        </p:nvCxnSpPr>
        <p:spPr>
          <a:xfrm>
            <a:off x="812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6" name="grid-v-128">
            <a:extLst>
              <a:ext uri="{FF2B5EF4-FFF2-40B4-BE49-F238E27FC236}">
                <a16:creationId xmlns:a16="http://schemas.microsoft.com/office/drawing/2014/main" id="{2CBA1F77-A11C-BF75-8785-14758FCAD5FB}"/>
              </a:ext>
            </a:extLst>
          </p:cNvPr>
          <p:cNvCxnSpPr/>
          <p:nvPr/>
        </p:nvCxnSpPr>
        <p:spPr>
          <a:xfrm>
            <a:off x="1625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7" name="grid-v-192">
            <a:extLst>
              <a:ext uri="{FF2B5EF4-FFF2-40B4-BE49-F238E27FC236}">
                <a16:creationId xmlns:a16="http://schemas.microsoft.com/office/drawing/2014/main" id="{CF50B363-CA62-00E7-CB5F-6E7838F8FE00}"/>
              </a:ext>
            </a:extLst>
          </p:cNvPr>
          <p:cNvCxnSpPr/>
          <p:nvPr/>
        </p:nvCxnSpPr>
        <p:spPr>
          <a:xfrm>
            <a:off x="2438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8" name="grid-v-256">
            <a:extLst>
              <a:ext uri="{FF2B5EF4-FFF2-40B4-BE49-F238E27FC236}">
                <a16:creationId xmlns:a16="http://schemas.microsoft.com/office/drawing/2014/main" id="{7BBD33B5-1397-EE82-06E8-897B0BD9AF88}"/>
              </a:ext>
            </a:extLst>
          </p:cNvPr>
          <p:cNvCxnSpPr/>
          <p:nvPr/>
        </p:nvCxnSpPr>
        <p:spPr>
          <a:xfrm>
            <a:off x="3251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9" name="grid-v-320">
            <a:extLst>
              <a:ext uri="{FF2B5EF4-FFF2-40B4-BE49-F238E27FC236}">
                <a16:creationId xmlns:a16="http://schemas.microsoft.com/office/drawing/2014/main" id="{AA7CFEE8-3D9E-14E4-7BE1-178797F83092}"/>
              </a:ext>
            </a:extLst>
          </p:cNvPr>
          <p:cNvCxnSpPr/>
          <p:nvPr/>
        </p:nvCxnSpPr>
        <p:spPr>
          <a:xfrm>
            <a:off x="4064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0" name="grid-v-384">
            <a:extLst>
              <a:ext uri="{FF2B5EF4-FFF2-40B4-BE49-F238E27FC236}">
                <a16:creationId xmlns:a16="http://schemas.microsoft.com/office/drawing/2014/main" id="{1313A918-2239-B1AF-2056-8CB678973265}"/>
              </a:ext>
            </a:extLst>
          </p:cNvPr>
          <p:cNvCxnSpPr/>
          <p:nvPr/>
        </p:nvCxnSpPr>
        <p:spPr>
          <a:xfrm>
            <a:off x="4876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1" name="grid-v-448">
            <a:extLst>
              <a:ext uri="{FF2B5EF4-FFF2-40B4-BE49-F238E27FC236}">
                <a16:creationId xmlns:a16="http://schemas.microsoft.com/office/drawing/2014/main" id="{314C9CD2-5AB3-1C64-A318-0CA907E34011}"/>
              </a:ext>
            </a:extLst>
          </p:cNvPr>
          <p:cNvCxnSpPr/>
          <p:nvPr/>
        </p:nvCxnSpPr>
        <p:spPr>
          <a:xfrm>
            <a:off x="5689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2" name="grid-v-512">
            <a:extLst>
              <a:ext uri="{FF2B5EF4-FFF2-40B4-BE49-F238E27FC236}">
                <a16:creationId xmlns:a16="http://schemas.microsoft.com/office/drawing/2014/main" id="{3603B494-DD21-7438-4456-0173DB0E7BEF}"/>
              </a:ext>
            </a:extLst>
          </p:cNvPr>
          <p:cNvCxnSpPr/>
          <p:nvPr/>
        </p:nvCxnSpPr>
        <p:spPr>
          <a:xfrm>
            <a:off x="6502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3" name="grid-v-576">
            <a:extLst>
              <a:ext uri="{FF2B5EF4-FFF2-40B4-BE49-F238E27FC236}">
                <a16:creationId xmlns:a16="http://schemas.microsoft.com/office/drawing/2014/main" id="{C153CCB1-3EA9-CE26-951C-240A1AC1218D}"/>
              </a:ext>
            </a:extLst>
          </p:cNvPr>
          <p:cNvCxnSpPr/>
          <p:nvPr/>
        </p:nvCxnSpPr>
        <p:spPr>
          <a:xfrm>
            <a:off x="7315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4" name="grid-v-640">
            <a:extLst>
              <a:ext uri="{FF2B5EF4-FFF2-40B4-BE49-F238E27FC236}">
                <a16:creationId xmlns:a16="http://schemas.microsoft.com/office/drawing/2014/main" id="{74111182-E142-B912-3A03-0D7CD63F068A}"/>
              </a:ext>
            </a:extLst>
          </p:cNvPr>
          <p:cNvCxnSpPr/>
          <p:nvPr/>
        </p:nvCxnSpPr>
        <p:spPr>
          <a:xfrm>
            <a:off x="8128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5" name="grid-v-704">
            <a:extLst>
              <a:ext uri="{FF2B5EF4-FFF2-40B4-BE49-F238E27FC236}">
                <a16:creationId xmlns:a16="http://schemas.microsoft.com/office/drawing/2014/main" id="{B9E3E222-265C-3D05-F2CB-E03EE99E6C26}"/>
              </a:ext>
            </a:extLst>
          </p:cNvPr>
          <p:cNvCxnSpPr/>
          <p:nvPr/>
        </p:nvCxnSpPr>
        <p:spPr>
          <a:xfrm>
            <a:off x="8940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6" name="grid-v-768">
            <a:extLst>
              <a:ext uri="{FF2B5EF4-FFF2-40B4-BE49-F238E27FC236}">
                <a16:creationId xmlns:a16="http://schemas.microsoft.com/office/drawing/2014/main" id="{753A2FF0-33C0-1393-88FE-211AA0107382}"/>
              </a:ext>
            </a:extLst>
          </p:cNvPr>
          <p:cNvCxnSpPr/>
          <p:nvPr/>
        </p:nvCxnSpPr>
        <p:spPr>
          <a:xfrm>
            <a:off x="9753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7" name="grid-v-832">
            <a:extLst>
              <a:ext uri="{FF2B5EF4-FFF2-40B4-BE49-F238E27FC236}">
                <a16:creationId xmlns:a16="http://schemas.microsoft.com/office/drawing/2014/main" id="{4F7D11A6-8182-71AD-0956-194B4E5023B3}"/>
              </a:ext>
            </a:extLst>
          </p:cNvPr>
          <p:cNvCxnSpPr/>
          <p:nvPr/>
        </p:nvCxnSpPr>
        <p:spPr>
          <a:xfrm>
            <a:off x="10566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8" name="grid-v-896">
            <a:extLst>
              <a:ext uri="{FF2B5EF4-FFF2-40B4-BE49-F238E27FC236}">
                <a16:creationId xmlns:a16="http://schemas.microsoft.com/office/drawing/2014/main" id="{5123E869-AF5A-879B-0601-0121667EC3A9}"/>
              </a:ext>
            </a:extLst>
          </p:cNvPr>
          <p:cNvCxnSpPr/>
          <p:nvPr/>
        </p:nvCxnSpPr>
        <p:spPr>
          <a:xfrm>
            <a:off x="11379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9" name="grid-v-960">
            <a:extLst>
              <a:ext uri="{FF2B5EF4-FFF2-40B4-BE49-F238E27FC236}">
                <a16:creationId xmlns:a16="http://schemas.microsoft.com/office/drawing/2014/main" id="{8154301F-251E-58B4-36B4-293AFA4718DD}"/>
              </a:ext>
            </a:extLst>
          </p:cNvPr>
          <p:cNvCxnSpPr/>
          <p:nvPr/>
        </p:nvCxnSpPr>
        <p:spPr>
          <a:xfrm>
            <a:off x="12192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0" name="grid-h-0">
            <a:extLst>
              <a:ext uri="{FF2B5EF4-FFF2-40B4-BE49-F238E27FC236}">
                <a16:creationId xmlns:a16="http://schemas.microsoft.com/office/drawing/2014/main" id="{3C57C650-8B77-BCE9-BBB4-D9F68B9F579F}"/>
              </a:ext>
            </a:extLst>
          </p:cNvPr>
          <p:cNvCxnSpPr/>
          <p:nvPr/>
        </p:nvCxnSpPr>
        <p:spPr>
          <a:xfrm>
            <a:off x="0" y="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1" name="grid-h-64">
            <a:extLst>
              <a:ext uri="{FF2B5EF4-FFF2-40B4-BE49-F238E27FC236}">
                <a16:creationId xmlns:a16="http://schemas.microsoft.com/office/drawing/2014/main" id="{2F813482-9AB8-B0C2-A2F6-C5A4D29447F3}"/>
              </a:ext>
            </a:extLst>
          </p:cNvPr>
          <p:cNvCxnSpPr/>
          <p:nvPr/>
        </p:nvCxnSpPr>
        <p:spPr>
          <a:xfrm>
            <a:off x="0" y="812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2" name="grid-h-128">
            <a:extLst>
              <a:ext uri="{FF2B5EF4-FFF2-40B4-BE49-F238E27FC236}">
                <a16:creationId xmlns:a16="http://schemas.microsoft.com/office/drawing/2014/main" id="{BB296A7E-7422-DD39-0DC4-CD5D4E41817E}"/>
              </a:ext>
            </a:extLst>
          </p:cNvPr>
          <p:cNvCxnSpPr/>
          <p:nvPr/>
        </p:nvCxnSpPr>
        <p:spPr>
          <a:xfrm>
            <a:off x="0" y="1625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3" name="grid-h-192">
            <a:extLst>
              <a:ext uri="{FF2B5EF4-FFF2-40B4-BE49-F238E27FC236}">
                <a16:creationId xmlns:a16="http://schemas.microsoft.com/office/drawing/2014/main" id="{5A57A5D0-3446-963D-BED4-38E69D0067FE}"/>
              </a:ext>
            </a:extLst>
          </p:cNvPr>
          <p:cNvCxnSpPr/>
          <p:nvPr/>
        </p:nvCxnSpPr>
        <p:spPr>
          <a:xfrm>
            <a:off x="0" y="2438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4" name="grid-h-256">
            <a:extLst>
              <a:ext uri="{FF2B5EF4-FFF2-40B4-BE49-F238E27FC236}">
                <a16:creationId xmlns:a16="http://schemas.microsoft.com/office/drawing/2014/main" id="{883745FB-8385-702B-7653-80D47A752BF6}"/>
              </a:ext>
            </a:extLst>
          </p:cNvPr>
          <p:cNvCxnSpPr/>
          <p:nvPr/>
        </p:nvCxnSpPr>
        <p:spPr>
          <a:xfrm>
            <a:off x="0" y="32512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5" name="grid-h-320">
            <a:extLst>
              <a:ext uri="{FF2B5EF4-FFF2-40B4-BE49-F238E27FC236}">
                <a16:creationId xmlns:a16="http://schemas.microsoft.com/office/drawing/2014/main" id="{A2E3C21F-E2FE-2D7D-2F65-F054390E5EBF}"/>
              </a:ext>
            </a:extLst>
          </p:cNvPr>
          <p:cNvCxnSpPr/>
          <p:nvPr/>
        </p:nvCxnSpPr>
        <p:spPr>
          <a:xfrm>
            <a:off x="0" y="40640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6" name="grid-h-384">
            <a:extLst>
              <a:ext uri="{FF2B5EF4-FFF2-40B4-BE49-F238E27FC236}">
                <a16:creationId xmlns:a16="http://schemas.microsoft.com/office/drawing/2014/main" id="{D9022877-6955-DBB7-00FF-52BF80B389EC}"/>
              </a:ext>
            </a:extLst>
          </p:cNvPr>
          <p:cNvCxnSpPr/>
          <p:nvPr/>
        </p:nvCxnSpPr>
        <p:spPr>
          <a:xfrm>
            <a:off x="0" y="4876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7" name="grid-h-448">
            <a:extLst>
              <a:ext uri="{FF2B5EF4-FFF2-40B4-BE49-F238E27FC236}">
                <a16:creationId xmlns:a16="http://schemas.microsoft.com/office/drawing/2014/main" id="{7E0AD9B8-7664-A4D3-BDBA-00C9CF8920A7}"/>
              </a:ext>
            </a:extLst>
          </p:cNvPr>
          <p:cNvCxnSpPr/>
          <p:nvPr/>
        </p:nvCxnSpPr>
        <p:spPr>
          <a:xfrm>
            <a:off x="0" y="5689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8" name="grid-h-512">
            <a:extLst>
              <a:ext uri="{FF2B5EF4-FFF2-40B4-BE49-F238E27FC236}">
                <a16:creationId xmlns:a16="http://schemas.microsoft.com/office/drawing/2014/main" id="{F3F21C49-D15B-0E66-A669-49E819D343BA}"/>
              </a:ext>
            </a:extLst>
          </p:cNvPr>
          <p:cNvCxnSpPr/>
          <p:nvPr/>
        </p:nvCxnSpPr>
        <p:spPr>
          <a:xfrm>
            <a:off x="0" y="6502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sp>
        <p:nvSpPr>
          <p:cNvPr id="29" name="page-num">
            <a:extLst>
              <a:ext uri="{FF2B5EF4-FFF2-40B4-BE49-F238E27FC236}">
                <a16:creationId xmlns:a16="http://schemas.microsoft.com/office/drawing/2014/main" id="{511085A6-B8A6-1F66-AFB6-98E4FA00B035}"/>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B4CDEB"/>
                </a:solidFill>
                <a:latin typeface="Aptos" panose="020B0004020202020204" pitchFamily="34" charset="0"/>
              </a:rPr>
              <a:t>01</a:t>
            </a:r>
            <a:endParaRPr lang="zh-CN" altLang="en-US" sz="650">
              <a:solidFill>
                <a:srgbClr val="B4CDEB"/>
              </a:solidFill>
              <a:latin typeface="Aptos" panose="020B0004020202020204" pitchFamily="34" charset="0"/>
            </a:endParaRPr>
          </a:p>
        </p:txBody>
      </p:sp>
      <p:sp>
        <p:nvSpPr>
          <p:cNvPr id="30" name="section-label">
            <a:extLst>
              <a:ext uri="{FF2B5EF4-FFF2-40B4-BE49-F238E27FC236}">
                <a16:creationId xmlns:a16="http://schemas.microsoft.com/office/drawing/2014/main" id="{2976F845-9FD6-342A-4C12-5FA4124E16A7}"/>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BEDCFF"/>
                </a:solidFill>
                <a:latin typeface="Aptos" panose="020B0004020202020204" pitchFamily="34" charset="0"/>
              </a:rPr>
              <a:t>FINAL YEAR PROJECT VIVA</a:t>
            </a:r>
            <a:endParaRPr lang="zh-CN" altLang="en-US" sz="700" b="1">
              <a:solidFill>
                <a:srgbClr val="BEDCFF"/>
              </a:solidFill>
              <a:latin typeface="Aptos" panose="020B0004020202020204" pitchFamily="34" charset="0"/>
            </a:endParaRPr>
          </a:p>
        </p:txBody>
      </p:sp>
      <p:sp>
        <p:nvSpPr>
          <p:cNvPr id="31" name="title">
            <a:extLst>
              <a:ext uri="{FF2B5EF4-FFF2-40B4-BE49-F238E27FC236}">
                <a16:creationId xmlns:a16="http://schemas.microsoft.com/office/drawing/2014/main" id="{94FB9C68-2028-18E7-715C-DD2E35C3B3C1}"/>
              </a:ext>
            </a:extLst>
          </p:cNvPr>
          <p:cNvSpPr txBox="1"/>
          <p:nvPr/>
        </p:nvSpPr>
        <p:spPr>
          <a:xfrm>
            <a:off x="685800" y="1219200"/>
            <a:ext cx="8636000" cy="276999"/>
          </a:xfrm>
          <a:prstGeom prst="rect">
            <a:avLst/>
          </a:prstGeom>
          <a:noFill/>
        </p:spPr>
        <p:txBody>
          <a:bodyPr vert="horz" wrap="square" lIns="0" tIns="0" rIns="0" bIns="0" rtlCol="0">
            <a:noAutofit/>
          </a:bodyPr>
          <a:lstStyle/>
          <a:p>
            <a:r>
              <a:rPr lang="en-US" altLang="zh-CN" sz="4600" b="1">
                <a:solidFill>
                  <a:srgbClr val="FFFFFF"/>
                </a:solidFill>
                <a:latin typeface="Aptos" panose="020B0004020202020204" pitchFamily="34" charset="0"/>
              </a:rPr>
              <a:t>WatermarkScope</a:t>
            </a:r>
            <a:endParaRPr lang="zh-CN" altLang="en-US" sz="4600" b="1">
              <a:solidFill>
                <a:srgbClr val="FFFFFF"/>
              </a:solidFill>
              <a:latin typeface="Aptos" panose="020B0004020202020204" pitchFamily="34" charset="0"/>
            </a:endParaRPr>
          </a:p>
        </p:txBody>
      </p:sp>
      <p:sp>
        <p:nvSpPr>
          <p:cNvPr id="32" name="subtitle">
            <a:extLst>
              <a:ext uri="{FF2B5EF4-FFF2-40B4-BE49-F238E27FC236}">
                <a16:creationId xmlns:a16="http://schemas.microsoft.com/office/drawing/2014/main" id="{3B1BA0BD-4021-A088-FE81-97FD35CDFD92}"/>
              </a:ext>
            </a:extLst>
          </p:cNvPr>
          <p:cNvSpPr txBox="1"/>
          <p:nvPr/>
        </p:nvSpPr>
        <p:spPr>
          <a:xfrm>
            <a:off x="736600" y="2171700"/>
            <a:ext cx="8763000" cy="276999"/>
          </a:xfrm>
          <a:prstGeom prst="rect">
            <a:avLst/>
          </a:prstGeom>
          <a:noFill/>
        </p:spPr>
        <p:txBody>
          <a:bodyPr vert="horz" wrap="square" lIns="0" tIns="0" rIns="0" bIns="0" rtlCol="0">
            <a:noAutofit/>
          </a:bodyPr>
          <a:lstStyle/>
          <a:p>
            <a:r>
              <a:rPr lang="en-US" altLang="zh-CN" sz="2100" b="1">
                <a:solidFill>
                  <a:srgbClr val="FFFFFF"/>
                </a:solidFill>
                <a:latin typeface="Aptos" panose="020B0004020202020204" pitchFamily="34" charset="0"/>
              </a:rPr>
              <a:t>A benchmark-to-audit framework for source-code watermarking in code generation models.</a:t>
            </a:r>
            <a:endParaRPr lang="zh-CN" altLang="en-US" sz="2100" b="1">
              <a:solidFill>
                <a:srgbClr val="FFFFFF"/>
              </a:solidFill>
              <a:latin typeface="Aptos" panose="020B0004020202020204" pitchFamily="34" charset="0"/>
            </a:endParaRPr>
          </a:p>
        </p:txBody>
      </p:sp>
      <p:cxnSp>
        <p:nvCxnSpPr>
          <p:cNvPr id="33" name="cover-rule">
            <a:extLst>
              <a:ext uri="{FF2B5EF4-FFF2-40B4-BE49-F238E27FC236}">
                <a16:creationId xmlns:a16="http://schemas.microsoft.com/office/drawing/2014/main" id="{83D0EB12-325D-B1C6-9BC9-47B7BD62C0E3}"/>
              </a:ext>
            </a:extLst>
          </p:cNvPr>
          <p:cNvCxnSpPr/>
          <p:nvPr/>
        </p:nvCxnSpPr>
        <p:spPr>
          <a:xfrm>
            <a:off x="736600" y="3200400"/>
            <a:ext cx="8077200" cy="0"/>
          </a:xfrm>
          <a:prstGeom prst="line">
            <a:avLst/>
          </a:prstGeom>
          <a:ln w="15240">
            <a:solidFill>
              <a:srgbClr val="A4CAF5"/>
            </a:solidFill>
          </a:ln>
        </p:spPr>
        <p:style>
          <a:lnRef idx="1">
            <a:schemeClr val="accent1"/>
          </a:lnRef>
          <a:fillRef idx="0">
            <a:schemeClr val="accent1"/>
          </a:fillRef>
          <a:effectRef idx="0">
            <a:schemeClr val="accent1"/>
          </a:effectRef>
          <a:fontRef idx="minor">
            <a:schemeClr val="tx1"/>
          </a:fontRef>
        </p:style>
      </p:cxnSp>
      <p:sp>
        <p:nvSpPr>
          <p:cNvPr id="34" name="thesis-box">
            <a:extLst>
              <a:ext uri="{FF2B5EF4-FFF2-40B4-BE49-F238E27FC236}">
                <a16:creationId xmlns:a16="http://schemas.microsoft.com/office/drawing/2014/main" id="{0C5A0595-F39E-2910-0B87-A333A53A95F7}"/>
              </a:ext>
            </a:extLst>
          </p:cNvPr>
          <p:cNvSpPr/>
          <p:nvPr/>
        </p:nvSpPr>
        <p:spPr>
          <a:xfrm>
            <a:off x="736600" y="3708400"/>
            <a:ext cx="8255000" cy="685800"/>
          </a:xfrm>
          <a:prstGeom prst="rect">
            <a:avLst/>
          </a:prstGeom>
          <a:solidFill>
            <a:srgbClr val="0B5CA0"/>
          </a:solidFill>
          <a:ln w="12700">
            <a:solidFill>
              <a:srgbClr val="76AEE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thesis-k">
            <a:extLst>
              <a:ext uri="{FF2B5EF4-FFF2-40B4-BE49-F238E27FC236}">
                <a16:creationId xmlns:a16="http://schemas.microsoft.com/office/drawing/2014/main" id="{AA4ADED8-5D5D-8341-58D6-40D5D75284F6}"/>
              </a:ext>
            </a:extLst>
          </p:cNvPr>
          <p:cNvSpPr txBox="1"/>
          <p:nvPr/>
        </p:nvSpPr>
        <p:spPr>
          <a:xfrm>
            <a:off x="1066800" y="3898900"/>
            <a:ext cx="1524000" cy="276999"/>
          </a:xfrm>
          <a:prstGeom prst="rect">
            <a:avLst/>
          </a:prstGeom>
          <a:noFill/>
        </p:spPr>
        <p:txBody>
          <a:bodyPr vert="horz" wrap="square" lIns="0" tIns="0" rIns="0" bIns="0" rtlCol="0">
            <a:noAutofit/>
          </a:bodyPr>
          <a:lstStyle/>
          <a:p>
            <a:r>
              <a:rPr lang="en-US" altLang="zh-CN" sz="720" b="1">
                <a:solidFill>
                  <a:srgbClr val="CDE1F8"/>
                </a:solidFill>
                <a:latin typeface="Aptos" panose="020B0004020202020204" pitchFamily="34" charset="0"/>
              </a:rPr>
              <a:t>ONE SENTENCE</a:t>
            </a:r>
            <a:endParaRPr lang="zh-CN" altLang="en-US" sz="720" b="1">
              <a:solidFill>
                <a:srgbClr val="CDE1F8"/>
              </a:solidFill>
              <a:latin typeface="Aptos" panose="020B0004020202020204" pitchFamily="34" charset="0"/>
            </a:endParaRPr>
          </a:p>
        </p:txBody>
      </p:sp>
      <p:sp>
        <p:nvSpPr>
          <p:cNvPr id="36" name="thesis">
            <a:extLst>
              <a:ext uri="{FF2B5EF4-FFF2-40B4-BE49-F238E27FC236}">
                <a16:creationId xmlns:a16="http://schemas.microsoft.com/office/drawing/2014/main" id="{69DC9A10-27A1-0CC9-DFFA-77D2BDE51389}"/>
              </a:ext>
            </a:extLst>
          </p:cNvPr>
          <p:cNvSpPr txBox="1"/>
          <p:nvPr/>
        </p:nvSpPr>
        <p:spPr>
          <a:xfrm>
            <a:off x="1066800" y="4140200"/>
            <a:ext cx="7112000" cy="276999"/>
          </a:xfrm>
          <a:prstGeom prst="rect">
            <a:avLst/>
          </a:prstGeom>
          <a:noFill/>
        </p:spPr>
        <p:txBody>
          <a:bodyPr vert="horz" wrap="square" lIns="0" tIns="0" rIns="0" bIns="0" rtlCol="0">
            <a:noAutofit/>
          </a:bodyPr>
          <a:lstStyle/>
          <a:p>
            <a:r>
              <a:rPr lang="en-US" altLang="zh-CN" sz="1550" b="1">
                <a:solidFill>
                  <a:srgbClr val="FFFFFF"/>
                </a:solidFill>
                <a:latin typeface="Aptos" panose="020B0004020202020204" pitchFamily="34" charset="0"/>
              </a:rPr>
              <a:t>Do not judge source-code watermarking by one detector score.</a:t>
            </a:r>
            <a:endParaRPr lang="zh-CN" altLang="en-US" sz="1550" b="1">
              <a:solidFill>
                <a:srgbClr val="FFFFFF"/>
              </a:solidFill>
              <a:latin typeface="Aptos" panose="020B0004020202020204" pitchFamily="34" charset="0"/>
            </a:endParaRPr>
          </a:p>
        </p:txBody>
      </p:sp>
      <p:pic>
        <p:nvPicPr>
          <p:cNvPr id="38" name="图片 37">
            <a:hlinkClick r:id="rId3"/>
            <a:extLst>
              <a:ext uri="{FF2B5EF4-FFF2-40B4-BE49-F238E27FC236}">
                <a16:creationId xmlns:a16="http://schemas.microsoft.com/office/drawing/2014/main" id="{3D11960E-7521-82A4-1A62-55E852C407E0}"/>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677400" y="1295400"/>
            <a:ext cx="1422400" cy="1422400"/>
          </a:xfrm>
          <a:prstGeom prst="rect">
            <a:avLst/>
          </a:prstGeom>
        </p:spPr>
      </p:pic>
      <p:sp>
        <p:nvSpPr>
          <p:cNvPr id="39" name="qr-caption-bg">
            <a:extLst>
              <a:ext uri="{FF2B5EF4-FFF2-40B4-BE49-F238E27FC236}">
                <a16:creationId xmlns:a16="http://schemas.microsoft.com/office/drawing/2014/main" id="{F07271A2-A806-D85F-E39E-DF36976A9EAC}"/>
              </a:ext>
            </a:extLst>
          </p:cNvPr>
          <p:cNvSpPr/>
          <p:nvPr/>
        </p:nvSpPr>
        <p:spPr>
          <a:xfrm>
            <a:off x="9474200" y="2921000"/>
            <a:ext cx="1828800" cy="762000"/>
          </a:xfrm>
          <a:prstGeom prst="rect">
            <a:avLst/>
          </a:prstGeom>
          <a:solidFill>
            <a:srgbClr val="FFFFFF"/>
          </a:solidFill>
          <a:ln w="1270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qr-cap1">
            <a:extLst>
              <a:ext uri="{FF2B5EF4-FFF2-40B4-BE49-F238E27FC236}">
                <a16:creationId xmlns:a16="http://schemas.microsoft.com/office/drawing/2014/main" id="{053CE74F-6934-7B95-35F7-962E2CE80F18}"/>
              </a:ext>
            </a:extLst>
          </p:cNvPr>
          <p:cNvSpPr txBox="1"/>
          <p:nvPr/>
        </p:nvSpPr>
        <p:spPr>
          <a:xfrm>
            <a:off x="9702800" y="3098800"/>
            <a:ext cx="1371600" cy="276999"/>
          </a:xfrm>
          <a:prstGeom prst="rect">
            <a:avLst/>
          </a:prstGeom>
          <a:noFill/>
        </p:spPr>
        <p:txBody>
          <a:bodyPr vert="horz" wrap="square" lIns="0" tIns="0" rIns="0" bIns="0" rtlCol="0">
            <a:noAutofit/>
          </a:bodyPr>
          <a:lstStyle/>
          <a:p>
            <a:r>
              <a:rPr lang="en-US" altLang="zh-CN" sz="800" b="1">
                <a:solidFill>
                  <a:srgbClr val="004080"/>
                </a:solidFill>
                <a:latin typeface="Aptos" panose="020B0004020202020204" pitchFamily="34" charset="0"/>
              </a:rPr>
              <a:t>Project page</a:t>
            </a:r>
            <a:endParaRPr lang="zh-CN" altLang="en-US" sz="800" b="1">
              <a:solidFill>
                <a:srgbClr val="004080"/>
              </a:solidFill>
              <a:latin typeface="Aptos" panose="020B0004020202020204" pitchFamily="34" charset="0"/>
            </a:endParaRPr>
          </a:p>
        </p:txBody>
      </p:sp>
      <p:sp>
        <p:nvSpPr>
          <p:cNvPr id="41" name="qr-cap2">
            <a:extLst>
              <a:ext uri="{FF2B5EF4-FFF2-40B4-BE49-F238E27FC236}">
                <a16:creationId xmlns:a16="http://schemas.microsoft.com/office/drawing/2014/main" id="{C228AC34-7B9D-87DC-C537-78E4B08F92D7}"/>
              </a:ext>
            </a:extLst>
          </p:cNvPr>
          <p:cNvSpPr txBox="1"/>
          <p:nvPr/>
        </p:nvSpPr>
        <p:spPr>
          <a:xfrm>
            <a:off x="9702800" y="3340100"/>
            <a:ext cx="1397000" cy="276999"/>
          </a:xfrm>
          <a:prstGeom prst="rect">
            <a:avLst/>
          </a:prstGeom>
          <a:noFill/>
        </p:spPr>
        <p:txBody>
          <a:bodyPr vert="horz" wrap="square" lIns="0" tIns="0" rIns="0" bIns="0" rtlCol="0">
            <a:noAutofit/>
          </a:bodyPr>
          <a:lstStyle/>
          <a:p>
            <a:r>
              <a:rPr lang="en-US" altLang="zh-CN" sz="670">
                <a:solidFill>
                  <a:srgbClr val="536580"/>
                </a:solidFill>
                <a:latin typeface="Aptos" panose="020B0004020202020204" pitchFamily="34" charset="0"/>
              </a:rPr>
              <a:t>slides, repo, evidence</a:t>
            </a:r>
            <a:endParaRPr lang="zh-CN" altLang="en-US" sz="670">
              <a:solidFill>
                <a:srgbClr val="536580"/>
              </a:solidFill>
              <a:latin typeface="Aptos" panose="020B0004020202020204" pitchFamily="34" charset="0"/>
            </a:endParaRPr>
          </a:p>
        </p:txBody>
      </p:sp>
      <p:sp>
        <p:nvSpPr>
          <p:cNvPr id="42" name="name">
            <a:extLst>
              <a:ext uri="{FF2B5EF4-FFF2-40B4-BE49-F238E27FC236}">
                <a16:creationId xmlns:a16="http://schemas.microsoft.com/office/drawing/2014/main" id="{A31D3BE5-33D3-B78F-0FAE-A6F96DB53B31}"/>
              </a:ext>
            </a:extLst>
          </p:cNvPr>
          <p:cNvSpPr txBox="1"/>
          <p:nvPr/>
        </p:nvSpPr>
        <p:spPr>
          <a:xfrm>
            <a:off x="736600" y="5003800"/>
            <a:ext cx="4572000" cy="276999"/>
          </a:xfrm>
          <a:prstGeom prst="rect">
            <a:avLst/>
          </a:prstGeom>
          <a:noFill/>
        </p:spPr>
        <p:txBody>
          <a:bodyPr vert="horz" wrap="square" lIns="0" tIns="0" rIns="0" bIns="0" rtlCol="0">
            <a:noAutofit/>
          </a:bodyPr>
          <a:lstStyle/>
          <a:p>
            <a:r>
              <a:rPr lang="en-US" altLang="zh-CN" sz="1050">
                <a:solidFill>
                  <a:srgbClr val="FFFFFF"/>
                </a:solidFill>
                <a:latin typeface="Aptos" panose="020B0004020202020204" pitchFamily="34" charset="0"/>
              </a:rPr>
              <a:t>Haoyi Zhang | 2254912</a:t>
            </a:r>
            <a:endParaRPr lang="zh-CN" altLang="en-US" sz="1050">
              <a:solidFill>
                <a:srgbClr val="FFFFFF"/>
              </a:solidFill>
              <a:latin typeface="Aptos" panose="020B0004020202020204" pitchFamily="34" charset="0"/>
            </a:endParaRPr>
          </a:p>
        </p:txBody>
      </p:sp>
      <p:sp>
        <p:nvSpPr>
          <p:cNvPr id="43" name="sup">
            <a:extLst>
              <a:ext uri="{FF2B5EF4-FFF2-40B4-BE49-F238E27FC236}">
                <a16:creationId xmlns:a16="http://schemas.microsoft.com/office/drawing/2014/main" id="{74AD9B58-8079-4E08-F671-21030D04E939}"/>
              </a:ext>
            </a:extLst>
          </p:cNvPr>
          <p:cNvSpPr txBox="1"/>
          <p:nvPr/>
        </p:nvSpPr>
        <p:spPr>
          <a:xfrm>
            <a:off x="736600" y="5384800"/>
            <a:ext cx="5715000" cy="276999"/>
          </a:xfrm>
          <a:prstGeom prst="rect">
            <a:avLst/>
          </a:prstGeom>
          <a:noFill/>
        </p:spPr>
        <p:txBody>
          <a:bodyPr vert="horz" wrap="square" lIns="0" tIns="0" rIns="0" bIns="0" rtlCol="0">
            <a:noAutofit/>
          </a:bodyPr>
          <a:lstStyle/>
          <a:p>
            <a:r>
              <a:rPr lang="en-US" altLang="zh-CN" sz="1050">
                <a:solidFill>
                  <a:srgbClr val="FFFFFF"/>
                </a:solidFill>
                <a:latin typeface="Aptos" panose="020B0004020202020204" pitchFamily="34" charset="0"/>
              </a:rPr>
              <a:t>Supervisor: Md Maruf Hasan | Viva: 21 May 2026</a:t>
            </a:r>
            <a:endParaRPr lang="zh-CN" altLang="en-US" sz="1050">
              <a:solidFill>
                <a:srgbClr val="FFFFFF"/>
              </a:solidFill>
              <a:latin typeface="Aptos" panose="020B0004020202020204" pitchFamily="34" charset="0"/>
            </a:endParaRPr>
          </a:p>
        </p:txBody>
      </p:sp>
      <p:pic>
        <p:nvPicPr>
          <p:cNvPr id="45" name="图片 44">
            <a:extLst>
              <a:ext uri="{FF2B5EF4-FFF2-40B4-BE49-F238E27FC236}">
                <a16:creationId xmlns:a16="http://schemas.microsoft.com/office/drawing/2014/main" id="{3EFB07DF-DD63-ACD1-D6F2-45EEE4E8FA29}"/>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Tree>
    <p:extLst>
      <p:ext uri="{BB962C8B-B14F-4D97-AF65-F5344CB8AC3E}">
        <p14:creationId xmlns:p14="http://schemas.microsoft.com/office/powerpoint/2010/main" val="183419485"/>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B2DA8DB6-990E-1DBF-907F-456C5D34ADCA}"/>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1C36503D-5947-1BFA-40FE-0B2182D7800D}"/>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1087A86F-93EA-00F6-8998-4FC9B4073DE7}"/>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A22DB209-3D21-21AA-1816-B6E0C0C8DB34}"/>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A6DE7B88-0A89-632B-3661-7673508B1522}"/>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19C36FB4-B90F-D9AB-3782-CC400DE55B49}"/>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02</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4164E334-2D03-076B-0686-284BA08FC8E3}"/>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STORY</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C65FD378-11C0-690F-ADCA-8443938910C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C1966915-2BD1-D04C-387E-142CAB127E98}"/>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The 10-minute story</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3321664D-8ABD-488E-27C2-349437A775F7}"/>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I will explain the problem, the evidence contract, the result surface, and the live demo route.</a:t>
            </a:r>
            <a:endParaRPr lang="zh-CN" altLang="en-US" sz="950">
              <a:solidFill>
                <a:srgbClr val="536580"/>
              </a:solidFill>
              <a:latin typeface="Aptos" panose="020B0004020202020204" pitchFamily="34" charset="0"/>
            </a:endParaRPr>
          </a:p>
        </p:txBody>
      </p:sp>
      <p:sp>
        <p:nvSpPr>
          <p:cNvPr id="13" name="story-card-0">
            <a:extLst>
              <a:ext uri="{FF2B5EF4-FFF2-40B4-BE49-F238E27FC236}">
                <a16:creationId xmlns:a16="http://schemas.microsoft.com/office/drawing/2014/main" id="{E1EE212A-E64F-C5AF-14AF-6F9FBAEBD984}"/>
              </a:ext>
            </a:extLst>
          </p:cNvPr>
          <p:cNvSpPr/>
          <p:nvPr/>
        </p:nvSpPr>
        <p:spPr>
          <a:xfrm>
            <a:off x="889000" y="2235200"/>
            <a:ext cx="2235200" cy="2362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story-top-0">
            <a:extLst>
              <a:ext uri="{FF2B5EF4-FFF2-40B4-BE49-F238E27FC236}">
                <a16:creationId xmlns:a16="http://schemas.microsoft.com/office/drawing/2014/main" id="{EF92260D-2AFA-A410-CADF-3DA33489ECA1}"/>
              </a:ext>
            </a:extLst>
          </p:cNvPr>
          <p:cNvSpPr/>
          <p:nvPr/>
        </p:nvSpPr>
        <p:spPr>
          <a:xfrm>
            <a:off x="889000" y="2235200"/>
            <a:ext cx="2235200" cy="88900"/>
          </a:xfrm>
          <a:prstGeom prst="rect">
            <a:avLst/>
          </a:prstGeom>
          <a:solidFill>
            <a:srgbClr val="2369C8"/>
          </a:solidFill>
          <a:ln w="12700">
            <a:solidFill>
              <a:srgbClr val="2369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story-num-0">
            <a:extLst>
              <a:ext uri="{FF2B5EF4-FFF2-40B4-BE49-F238E27FC236}">
                <a16:creationId xmlns:a16="http://schemas.microsoft.com/office/drawing/2014/main" id="{D21D439A-6CF2-F065-3905-86D7FCE65357}"/>
              </a:ext>
            </a:extLst>
          </p:cNvPr>
          <p:cNvSpPr txBox="1"/>
          <p:nvPr/>
        </p:nvSpPr>
        <p:spPr>
          <a:xfrm>
            <a:off x="1117600" y="2590800"/>
            <a:ext cx="533400" cy="276999"/>
          </a:xfrm>
          <a:prstGeom prst="rect">
            <a:avLst/>
          </a:prstGeom>
          <a:noFill/>
        </p:spPr>
        <p:txBody>
          <a:bodyPr vert="horz" wrap="square" lIns="0" tIns="0" rIns="0" bIns="0" rtlCol="0">
            <a:noAutofit/>
          </a:bodyPr>
          <a:lstStyle/>
          <a:p>
            <a:r>
              <a:rPr lang="en-US" altLang="zh-CN" sz="900" b="1">
                <a:solidFill>
                  <a:srgbClr val="536580"/>
                </a:solidFill>
                <a:latin typeface="Aptos" panose="020B0004020202020204" pitchFamily="34" charset="0"/>
              </a:rPr>
              <a:t>01</a:t>
            </a:r>
            <a:endParaRPr lang="zh-CN" altLang="en-US" sz="900" b="1">
              <a:solidFill>
                <a:srgbClr val="536580"/>
              </a:solidFill>
              <a:latin typeface="Aptos" panose="020B0004020202020204" pitchFamily="34" charset="0"/>
            </a:endParaRPr>
          </a:p>
        </p:txBody>
      </p:sp>
      <p:sp>
        <p:nvSpPr>
          <p:cNvPr id="16" name="story-title-0">
            <a:extLst>
              <a:ext uri="{FF2B5EF4-FFF2-40B4-BE49-F238E27FC236}">
                <a16:creationId xmlns:a16="http://schemas.microsoft.com/office/drawing/2014/main" id="{0AAF3B3D-D123-4382-455B-16DCFBAC5F2E}"/>
              </a:ext>
            </a:extLst>
          </p:cNvPr>
          <p:cNvSpPr txBox="1"/>
          <p:nvPr/>
        </p:nvSpPr>
        <p:spPr>
          <a:xfrm>
            <a:off x="1117600" y="2997200"/>
            <a:ext cx="1676400" cy="276999"/>
          </a:xfrm>
          <a:prstGeom prst="rect">
            <a:avLst/>
          </a:prstGeom>
          <a:noFill/>
        </p:spPr>
        <p:txBody>
          <a:bodyPr vert="horz" wrap="square" lIns="0" tIns="0" rIns="0" bIns="0" rtlCol="0">
            <a:noAutofit/>
          </a:bodyPr>
          <a:lstStyle/>
          <a:p>
            <a:r>
              <a:rPr lang="en-US" altLang="zh-CN" sz="1700" b="1">
                <a:solidFill>
                  <a:srgbClr val="0D182C"/>
                </a:solidFill>
                <a:latin typeface="Aptos" panose="020B0004020202020204" pitchFamily="34" charset="0"/>
              </a:rPr>
              <a:t>Problem</a:t>
            </a:r>
            <a:endParaRPr lang="zh-CN" altLang="en-US" sz="1700" b="1">
              <a:solidFill>
                <a:srgbClr val="0D182C"/>
              </a:solidFill>
              <a:latin typeface="Aptos" panose="020B0004020202020204" pitchFamily="34" charset="0"/>
            </a:endParaRPr>
          </a:p>
        </p:txBody>
      </p:sp>
      <p:sp>
        <p:nvSpPr>
          <p:cNvPr id="17" name="story-sub-0">
            <a:extLst>
              <a:ext uri="{FF2B5EF4-FFF2-40B4-BE49-F238E27FC236}">
                <a16:creationId xmlns:a16="http://schemas.microsoft.com/office/drawing/2014/main" id="{03D4C9C9-75F9-3EBB-1CCD-AAD9942C2D34}"/>
              </a:ext>
            </a:extLst>
          </p:cNvPr>
          <p:cNvSpPr txBox="1"/>
          <p:nvPr/>
        </p:nvSpPr>
        <p:spPr>
          <a:xfrm>
            <a:off x="1117600" y="3632200"/>
            <a:ext cx="1676400" cy="276999"/>
          </a:xfrm>
          <a:prstGeom prst="rect">
            <a:avLst/>
          </a:prstGeom>
          <a:noFill/>
        </p:spPr>
        <p:txBody>
          <a:bodyPr vert="horz" wrap="square" lIns="0" tIns="0" rIns="0" bIns="0" rtlCol="0">
            <a:noAutofit/>
          </a:bodyPr>
          <a:lstStyle/>
          <a:p>
            <a:r>
              <a:rPr lang="en-US" altLang="zh-CN" sz="920">
                <a:solidFill>
                  <a:srgbClr val="536580"/>
                </a:solidFill>
                <a:latin typeface="Aptos" panose="020B0004020202020204" pitchFamily="34" charset="0"/>
              </a:rPr>
              <a:t>Generated code is copied, edited, translated, and reused.</a:t>
            </a:r>
            <a:endParaRPr lang="zh-CN" altLang="en-US" sz="920">
              <a:solidFill>
                <a:srgbClr val="536580"/>
              </a:solidFill>
              <a:latin typeface="Aptos" panose="020B0004020202020204" pitchFamily="34" charset="0"/>
            </a:endParaRPr>
          </a:p>
        </p:txBody>
      </p:sp>
      <p:cxnSp>
        <p:nvCxnSpPr>
          <p:cNvPr id="18" name="story-line-0">
            <a:extLst>
              <a:ext uri="{FF2B5EF4-FFF2-40B4-BE49-F238E27FC236}">
                <a16:creationId xmlns:a16="http://schemas.microsoft.com/office/drawing/2014/main" id="{5EAA67E1-AE60-2976-61B9-A07C813D2890}"/>
              </a:ext>
            </a:extLst>
          </p:cNvPr>
          <p:cNvCxnSpPr/>
          <p:nvPr/>
        </p:nvCxnSpPr>
        <p:spPr>
          <a:xfrm>
            <a:off x="3124200" y="3416300"/>
            <a:ext cx="482600" cy="0"/>
          </a:xfrm>
          <a:prstGeom prst="line">
            <a:avLst/>
          </a:prstGeom>
          <a:ln w="25400">
            <a:solidFill>
              <a:srgbClr val="D2DCEB"/>
            </a:solidFill>
          </a:ln>
        </p:spPr>
        <p:style>
          <a:lnRef idx="1">
            <a:schemeClr val="accent1"/>
          </a:lnRef>
          <a:fillRef idx="0">
            <a:schemeClr val="accent1"/>
          </a:fillRef>
          <a:effectRef idx="0">
            <a:schemeClr val="accent1"/>
          </a:effectRef>
          <a:fontRef idx="minor">
            <a:schemeClr val="tx1"/>
          </a:fontRef>
        </p:style>
      </p:cxnSp>
      <p:sp>
        <p:nvSpPr>
          <p:cNvPr id="19" name="story-card-1">
            <a:extLst>
              <a:ext uri="{FF2B5EF4-FFF2-40B4-BE49-F238E27FC236}">
                <a16:creationId xmlns:a16="http://schemas.microsoft.com/office/drawing/2014/main" id="{D7A39EE1-DCB3-ED42-7485-5A782879E4F7}"/>
              </a:ext>
            </a:extLst>
          </p:cNvPr>
          <p:cNvSpPr/>
          <p:nvPr/>
        </p:nvSpPr>
        <p:spPr>
          <a:xfrm>
            <a:off x="3606800" y="2235200"/>
            <a:ext cx="2235200" cy="2362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story-top-1">
            <a:extLst>
              <a:ext uri="{FF2B5EF4-FFF2-40B4-BE49-F238E27FC236}">
                <a16:creationId xmlns:a16="http://schemas.microsoft.com/office/drawing/2014/main" id="{2A0295A3-2FEA-E7E8-F4B7-D90C9BCD0BA1}"/>
              </a:ext>
            </a:extLst>
          </p:cNvPr>
          <p:cNvSpPr/>
          <p:nvPr/>
        </p:nvSpPr>
        <p:spPr>
          <a:xfrm>
            <a:off x="3606800" y="2235200"/>
            <a:ext cx="2235200" cy="88900"/>
          </a:xfrm>
          <a:prstGeom prst="rect">
            <a:avLst/>
          </a:prstGeom>
          <a:solidFill>
            <a:srgbClr val="00AABE"/>
          </a:solidFill>
          <a:ln w="12700">
            <a:solidFill>
              <a:srgbClr val="00A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story-num-1">
            <a:extLst>
              <a:ext uri="{FF2B5EF4-FFF2-40B4-BE49-F238E27FC236}">
                <a16:creationId xmlns:a16="http://schemas.microsoft.com/office/drawing/2014/main" id="{A5AD3D28-2404-42CC-AC25-C361BC3A38D9}"/>
              </a:ext>
            </a:extLst>
          </p:cNvPr>
          <p:cNvSpPr txBox="1"/>
          <p:nvPr/>
        </p:nvSpPr>
        <p:spPr>
          <a:xfrm>
            <a:off x="3835400" y="2590800"/>
            <a:ext cx="533400" cy="276999"/>
          </a:xfrm>
          <a:prstGeom prst="rect">
            <a:avLst/>
          </a:prstGeom>
          <a:noFill/>
        </p:spPr>
        <p:txBody>
          <a:bodyPr vert="horz" wrap="square" lIns="0" tIns="0" rIns="0" bIns="0" rtlCol="0">
            <a:noAutofit/>
          </a:bodyPr>
          <a:lstStyle/>
          <a:p>
            <a:r>
              <a:rPr lang="en-US" altLang="zh-CN" sz="900" b="1">
                <a:solidFill>
                  <a:srgbClr val="536580"/>
                </a:solidFill>
                <a:latin typeface="Aptos" panose="020B0004020202020204" pitchFamily="34" charset="0"/>
              </a:rPr>
              <a:t>02</a:t>
            </a:r>
            <a:endParaRPr lang="zh-CN" altLang="en-US" sz="900" b="1">
              <a:solidFill>
                <a:srgbClr val="536580"/>
              </a:solidFill>
              <a:latin typeface="Aptos" panose="020B0004020202020204" pitchFamily="34" charset="0"/>
            </a:endParaRPr>
          </a:p>
        </p:txBody>
      </p:sp>
      <p:sp>
        <p:nvSpPr>
          <p:cNvPr id="22" name="story-title-1">
            <a:extLst>
              <a:ext uri="{FF2B5EF4-FFF2-40B4-BE49-F238E27FC236}">
                <a16:creationId xmlns:a16="http://schemas.microsoft.com/office/drawing/2014/main" id="{1988E3EA-C696-9661-47BF-2B87D68C9725}"/>
              </a:ext>
            </a:extLst>
          </p:cNvPr>
          <p:cNvSpPr txBox="1"/>
          <p:nvPr/>
        </p:nvSpPr>
        <p:spPr>
          <a:xfrm>
            <a:off x="3835400" y="2997200"/>
            <a:ext cx="1676400" cy="276999"/>
          </a:xfrm>
          <a:prstGeom prst="rect">
            <a:avLst/>
          </a:prstGeom>
          <a:noFill/>
        </p:spPr>
        <p:txBody>
          <a:bodyPr vert="horz" wrap="square" lIns="0" tIns="0" rIns="0" bIns="0" rtlCol="0">
            <a:noAutofit/>
          </a:bodyPr>
          <a:lstStyle/>
          <a:p>
            <a:r>
              <a:rPr lang="en-US" altLang="zh-CN" sz="1700" b="1">
                <a:solidFill>
                  <a:srgbClr val="0D182C"/>
                </a:solidFill>
                <a:latin typeface="Aptos" panose="020B0004020202020204" pitchFamily="34" charset="0"/>
              </a:rPr>
              <a:t>Method</a:t>
            </a:r>
            <a:endParaRPr lang="zh-CN" altLang="en-US" sz="1700" b="1">
              <a:solidFill>
                <a:srgbClr val="0D182C"/>
              </a:solidFill>
              <a:latin typeface="Aptos" panose="020B0004020202020204" pitchFamily="34" charset="0"/>
            </a:endParaRPr>
          </a:p>
        </p:txBody>
      </p:sp>
      <p:sp>
        <p:nvSpPr>
          <p:cNvPr id="23" name="story-sub-1">
            <a:extLst>
              <a:ext uri="{FF2B5EF4-FFF2-40B4-BE49-F238E27FC236}">
                <a16:creationId xmlns:a16="http://schemas.microsoft.com/office/drawing/2014/main" id="{F93BC5EB-4561-09C4-1777-94D7B4FBFE13}"/>
              </a:ext>
            </a:extLst>
          </p:cNvPr>
          <p:cNvSpPr txBox="1"/>
          <p:nvPr/>
        </p:nvSpPr>
        <p:spPr>
          <a:xfrm>
            <a:off x="3835400" y="3632200"/>
            <a:ext cx="1676400" cy="276999"/>
          </a:xfrm>
          <a:prstGeom prst="rect">
            <a:avLst/>
          </a:prstGeom>
          <a:noFill/>
        </p:spPr>
        <p:txBody>
          <a:bodyPr vert="horz" wrap="square" lIns="0" tIns="0" rIns="0" bIns="0" rtlCol="0">
            <a:noAutofit/>
          </a:bodyPr>
          <a:lstStyle/>
          <a:p>
            <a:r>
              <a:rPr lang="en-US" altLang="zh-CN" sz="920">
                <a:solidFill>
                  <a:srgbClr val="536580"/>
                </a:solidFill>
                <a:latin typeface="Aptos" panose="020B0004020202020204" pitchFamily="34" charset="0"/>
              </a:rPr>
              <a:t>Freeze denominator, controls, artifact, hash, and claim boundary.</a:t>
            </a:r>
            <a:endParaRPr lang="zh-CN" altLang="en-US" sz="920">
              <a:solidFill>
                <a:srgbClr val="536580"/>
              </a:solidFill>
              <a:latin typeface="Aptos" panose="020B0004020202020204" pitchFamily="34" charset="0"/>
            </a:endParaRPr>
          </a:p>
        </p:txBody>
      </p:sp>
      <p:cxnSp>
        <p:nvCxnSpPr>
          <p:cNvPr id="24" name="story-line-1">
            <a:extLst>
              <a:ext uri="{FF2B5EF4-FFF2-40B4-BE49-F238E27FC236}">
                <a16:creationId xmlns:a16="http://schemas.microsoft.com/office/drawing/2014/main" id="{DE15FFBA-4C9F-9B43-0DAF-8CFC86D51C87}"/>
              </a:ext>
            </a:extLst>
          </p:cNvPr>
          <p:cNvCxnSpPr/>
          <p:nvPr/>
        </p:nvCxnSpPr>
        <p:spPr>
          <a:xfrm>
            <a:off x="5842000" y="3416300"/>
            <a:ext cx="482600" cy="0"/>
          </a:xfrm>
          <a:prstGeom prst="line">
            <a:avLst/>
          </a:prstGeom>
          <a:ln w="25400">
            <a:solidFill>
              <a:srgbClr val="D2DCEB"/>
            </a:solidFill>
          </a:ln>
        </p:spPr>
        <p:style>
          <a:lnRef idx="1">
            <a:schemeClr val="accent1"/>
          </a:lnRef>
          <a:fillRef idx="0">
            <a:schemeClr val="accent1"/>
          </a:fillRef>
          <a:effectRef idx="0">
            <a:schemeClr val="accent1"/>
          </a:effectRef>
          <a:fontRef idx="minor">
            <a:schemeClr val="tx1"/>
          </a:fontRef>
        </p:style>
      </p:cxnSp>
      <p:sp>
        <p:nvSpPr>
          <p:cNvPr id="25" name="story-card-2">
            <a:extLst>
              <a:ext uri="{FF2B5EF4-FFF2-40B4-BE49-F238E27FC236}">
                <a16:creationId xmlns:a16="http://schemas.microsoft.com/office/drawing/2014/main" id="{A953EFD1-13CE-8FC6-7729-7A1274693B3E}"/>
              </a:ext>
            </a:extLst>
          </p:cNvPr>
          <p:cNvSpPr/>
          <p:nvPr/>
        </p:nvSpPr>
        <p:spPr>
          <a:xfrm>
            <a:off x="6324600" y="2235200"/>
            <a:ext cx="2235200" cy="2362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story-top-2">
            <a:extLst>
              <a:ext uri="{FF2B5EF4-FFF2-40B4-BE49-F238E27FC236}">
                <a16:creationId xmlns:a16="http://schemas.microsoft.com/office/drawing/2014/main" id="{BD99C3C0-26F4-B7F2-63F7-F260A887AC64}"/>
              </a:ext>
            </a:extLst>
          </p:cNvPr>
          <p:cNvSpPr/>
          <p:nvPr/>
        </p:nvSpPr>
        <p:spPr>
          <a:xfrm>
            <a:off x="6324600" y="2235200"/>
            <a:ext cx="2235200" cy="88900"/>
          </a:xfrm>
          <a:prstGeom prst="rect">
            <a:avLst/>
          </a:prstGeom>
          <a:solidFill>
            <a:srgbClr val="EE9122"/>
          </a:solidFill>
          <a:ln w="12700">
            <a:solidFill>
              <a:srgbClr val="EE91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story-num-2">
            <a:extLst>
              <a:ext uri="{FF2B5EF4-FFF2-40B4-BE49-F238E27FC236}">
                <a16:creationId xmlns:a16="http://schemas.microsoft.com/office/drawing/2014/main" id="{DEFD8D2A-C420-5DDA-7498-7B355C1C1EEB}"/>
              </a:ext>
            </a:extLst>
          </p:cNvPr>
          <p:cNvSpPr txBox="1"/>
          <p:nvPr/>
        </p:nvSpPr>
        <p:spPr>
          <a:xfrm>
            <a:off x="6553200" y="2590800"/>
            <a:ext cx="533400" cy="276999"/>
          </a:xfrm>
          <a:prstGeom prst="rect">
            <a:avLst/>
          </a:prstGeom>
          <a:noFill/>
        </p:spPr>
        <p:txBody>
          <a:bodyPr vert="horz" wrap="square" lIns="0" tIns="0" rIns="0" bIns="0" rtlCol="0">
            <a:noAutofit/>
          </a:bodyPr>
          <a:lstStyle/>
          <a:p>
            <a:r>
              <a:rPr lang="en-US" altLang="zh-CN" sz="900" b="1">
                <a:solidFill>
                  <a:srgbClr val="536580"/>
                </a:solidFill>
                <a:latin typeface="Aptos" panose="020B0004020202020204" pitchFamily="34" charset="0"/>
              </a:rPr>
              <a:t>03</a:t>
            </a:r>
            <a:endParaRPr lang="zh-CN" altLang="en-US" sz="900" b="1">
              <a:solidFill>
                <a:srgbClr val="536580"/>
              </a:solidFill>
              <a:latin typeface="Aptos" panose="020B0004020202020204" pitchFamily="34" charset="0"/>
            </a:endParaRPr>
          </a:p>
        </p:txBody>
      </p:sp>
      <p:sp>
        <p:nvSpPr>
          <p:cNvPr id="28" name="story-title-2">
            <a:extLst>
              <a:ext uri="{FF2B5EF4-FFF2-40B4-BE49-F238E27FC236}">
                <a16:creationId xmlns:a16="http://schemas.microsoft.com/office/drawing/2014/main" id="{2F93CAC9-436E-17F5-8E79-45BC297F2181}"/>
              </a:ext>
            </a:extLst>
          </p:cNvPr>
          <p:cNvSpPr txBox="1"/>
          <p:nvPr/>
        </p:nvSpPr>
        <p:spPr>
          <a:xfrm>
            <a:off x="6553200" y="2997200"/>
            <a:ext cx="1676400" cy="276999"/>
          </a:xfrm>
          <a:prstGeom prst="rect">
            <a:avLst/>
          </a:prstGeom>
          <a:noFill/>
        </p:spPr>
        <p:txBody>
          <a:bodyPr vert="horz" wrap="square" lIns="0" tIns="0" rIns="0" bIns="0" rtlCol="0">
            <a:noAutofit/>
          </a:bodyPr>
          <a:lstStyle/>
          <a:p>
            <a:r>
              <a:rPr lang="en-US" altLang="zh-CN" sz="1700" b="1">
                <a:solidFill>
                  <a:srgbClr val="0D182C"/>
                </a:solidFill>
                <a:latin typeface="Aptos" panose="020B0004020202020204" pitchFamily="34" charset="0"/>
              </a:rPr>
              <a:t>Evidence</a:t>
            </a:r>
            <a:endParaRPr lang="zh-CN" altLang="en-US" sz="1700" b="1">
              <a:solidFill>
                <a:srgbClr val="0D182C"/>
              </a:solidFill>
              <a:latin typeface="Aptos" panose="020B0004020202020204" pitchFamily="34" charset="0"/>
            </a:endParaRPr>
          </a:p>
        </p:txBody>
      </p:sp>
      <p:sp>
        <p:nvSpPr>
          <p:cNvPr id="29" name="story-sub-2">
            <a:extLst>
              <a:ext uri="{FF2B5EF4-FFF2-40B4-BE49-F238E27FC236}">
                <a16:creationId xmlns:a16="http://schemas.microsoft.com/office/drawing/2014/main" id="{57BF8D13-AEE1-D452-C47C-1DA8D1E27E55}"/>
              </a:ext>
            </a:extLst>
          </p:cNvPr>
          <p:cNvSpPr txBox="1"/>
          <p:nvPr/>
        </p:nvSpPr>
        <p:spPr>
          <a:xfrm>
            <a:off x="6553200" y="3632200"/>
            <a:ext cx="1676400" cy="276999"/>
          </a:xfrm>
          <a:prstGeom prst="rect">
            <a:avLst/>
          </a:prstGeom>
          <a:noFill/>
        </p:spPr>
        <p:txBody>
          <a:bodyPr vert="horz" wrap="square" lIns="0" tIns="0" rIns="0" bIns="0" rtlCol="0">
            <a:noAutofit/>
          </a:bodyPr>
          <a:lstStyle/>
          <a:p>
            <a:r>
              <a:rPr lang="en-US" altLang="zh-CN" sz="920">
                <a:solidFill>
                  <a:srgbClr val="536580"/>
                </a:solidFill>
                <a:latin typeface="Aptos" panose="020B0004020202020204" pitchFamily="34" charset="0"/>
              </a:rPr>
              <a:t>Report positive evidence together with abstention and controls.</a:t>
            </a:r>
            <a:endParaRPr lang="zh-CN" altLang="en-US" sz="920">
              <a:solidFill>
                <a:srgbClr val="536580"/>
              </a:solidFill>
              <a:latin typeface="Aptos" panose="020B0004020202020204" pitchFamily="34" charset="0"/>
            </a:endParaRPr>
          </a:p>
        </p:txBody>
      </p:sp>
      <p:cxnSp>
        <p:nvCxnSpPr>
          <p:cNvPr id="30" name="story-line-2">
            <a:extLst>
              <a:ext uri="{FF2B5EF4-FFF2-40B4-BE49-F238E27FC236}">
                <a16:creationId xmlns:a16="http://schemas.microsoft.com/office/drawing/2014/main" id="{D744842E-7562-E3C8-F8C5-73007E3517DF}"/>
              </a:ext>
            </a:extLst>
          </p:cNvPr>
          <p:cNvCxnSpPr/>
          <p:nvPr/>
        </p:nvCxnSpPr>
        <p:spPr>
          <a:xfrm>
            <a:off x="8559800" y="3416300"/>
            <a:ext cx="482600" cy="0"/>
          </a:xfrm>
          <a:prstGeom prst="line">
            <a:avLst/>
          </a:prstGeom>
          <a:ln w="25400">
            <a:solidFill>
              <a:srgbClr val="D2DCEB"/>
            </a:solidFill>
          </a:ln>
        </p:spPr>
        <p:style>
          <a:lnRef idx="1">
            <a:schemeClr val="accent1"/>
          </a:lnRef>
          <a:fillRef idx="0">
            <a:schemeClr val="accent1"/>
          </a:fillRef>
          <a:effectRef idx="0">
            <a:schemeClr val="accent1"/>
          </a:effectRef>
          <a:fontRef idx="minor">
            <a:schemeClr val="tx1"/>
          </a:fontRef>
        </p:style>
      </p:cxnSp>
      <p:sp>
        <p:nvSpPr>
          <p:cNvPr id="31" name="story-card-3">
            <a:extLst>
              <a:ext uri="{FF2B5EF4-FFF2-40B4-BE49-F238E27FC236}">
                <a16:creationId xmlns:a16="http://schemas.microsoft.com/office/drawing/2014/main" id="{CBAA7A68-FEB9-0AE2-B2AB-86AE6F6AF81D}"/>
              </a:ext>
            </a:extLst>
          </p:cNvPr>
          <p:cNvSpPr/>
          <p:nvPr/>
        </p:nvSpPr>
        <p:spPr>
          <a:xfrm>
            <a:off x="9042400" y="2235200"/>
            <a:ext cx="2235200" cy="2362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story-top-3">
            <a:extLst>
              <a:ext uri="{FF2B5EF4-FFF2-40B4-BE49-F238E27FC236}">
                <a16:creationId xmlns:a16="http://schemas.microsoft.com/office/drawing/2014/main" id="{AB2D3624-3413-CE48-EE7B-A357108DC901}"/>
              </a:ext>
            </a:extLst>
          </p:cNvPr>
          <p:cNvSpPr/>
          <p:nvPr/>
        </p:nvSpPr>
        <p:spPr>
          <a:xfrm>
            <a:off x="9042400" y="2235200"/>
            <a:ext cx="2235200" cy="88900"/>
          </a:xfrm>
          <a:prstGeom prst="rect">
            <a:avLst/>
          </a:prstGeom>
          <a:solidFill>
            <a:srgbClr val="008E66"/>
          </a:solidFill>
          <a:ln w="12700">
            <a:solidFill>
              <a:srgbClr val="008E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story-num-3">
            <a:extLst>
              <a:ext uri="{FF2B5EF4-FFF2-40B4-BE49-F238E27FC236}">
                <a16:creationId xmlns:a16="http://schemas.microsoft.com/office/drawing/2014/main" id="{068422A2-2493-A104-5B8A-3EBCFDBC42F9}"/>
              </a:ext>
            </a:extLst>
          </p:cNvPr>
          <p:cNvSpPr txBox="1"/>
          <p:nvPr/>
        </p:nvSpPr>
        <p:spPr>
          <a:xfrm>
            <a:off x="9271000" y="2590800"/>
            <a:ext cx="533400" cy="276999"/>
          </a:xfrm>
          <a:prstGeom prst="rect">
            <a:avLst/>
          </a:prstGeom>
          <a:noFill/>
        </p:spPr>
        <p:txBody>
          <a:bodyPr vert="horz" wrap="square" lIns="0" tIns="0" rIns="0" bIns="0" rtlCol="0">
            <a:noAutofit/>
          </a:bodyPr>
          <a:lstStyle/>
          <a:p>
            <a:r>
              <a:rPr lang="en-US" altLang="zh-CN" sz="900" b="1">
                <a:solidFill>
                  <a:srgbClr val="536580"/>
                </a:solidFill>
                <a:latin typeface="Aptos" panose="020B0004020202020204" pitchFamily="34" charset="0"/>
              </a:rPr>
              <a:t>04</a:t>
            </a:r>
            <a:endParaRPr lang="zh-CN" altLang="en-US" sz="900" b="1">
              <a:solidFill>
                <a:srgbClr val="536580"/>
              </a:solidFill>
              <a:latin typeface="Aptos" panose="020B0004020202020204" pitchFamily="34" charset="0"/>
            </a:endParaRPr>
          </a:p>
        </p:txBody>
      </p:sp>
      <p:sp>
        <p:nvSpPr>
          <p:cNvPr id="34" name="story-title-3">
            <a:extLst>
              <a:ext uri="{FF2B5EF4-FFF2-40B4-BE49-F238E27FC236}">
                <a16:creationId xmlns:a16="http://schemas.microsoft.com/office/drawing/2014/main" id="{7E32CC55-A795-2B49-0B54-8C7EBD8EEDE8}"/>
              </a:ext>
            </a:extLst>
          </p:cNvPr>
          <p:cNvSpPr txBox="1"/>
          <p:nvPr/>
        </p:nvSpPr>
        <p:spPr>
          <a:xfrm>
            <a:off x="9271000" y="2997200"/>
            <a:ext cx="1676400" cy="276999"/>
          </a:xfrm>
          <a:prstGeom prst="rect">
            <a:avLst/>
          </a:prstGeom>
          <a:noFill/>
        </p:spPr>
        <p:txBody>
          <a:bodyPr vert="horz" wrap="square" lIns="0" tIns="0" rIns="0" bIns="0" rtlCol="0">
            <a:noAutofit/>
          </a:bodyPr>
          <a:lstStyle/>
          <a:p>
            <a:r>
              <a:rPr lang="en-US" altLang="zh-CN" sz="1700" b="1">
                <a:solidFill>
                  <a:srgbClr val="0D182C"/>
                </a:solidFill>
                <a:latin typeface="Aptos" panose="020B0004020202020204" pitchFamily="34" charset="0"/>
              </a:rPr>
              <a:t>Demo</a:t>
            </a:r>
            <a:endParaRPr lang="zh-CN" altLang="en-US" sz="1700" b="1">
              <a:solidFill>
                <a:srgbClr val="0D182C"/>
              </a:solidFill>
              <a:latin typeface="Aptos" panose="020B0004020202020204" pitchFamily="34" charset="0"/>
            </a:endParaRPr>
          </a:p>
        </p:txBody>
      </p:sp>
      <p:sp>
        <p:nvSpPr>
          <p:cNvPr id="35" name="story-sub-3">
            <a:extLst>
              <a:ext uri="{FF2B5EF4-FFF2-40B4-BE49-F238E27FC236}">
                <a16:creationId xmlns:a16="http://schemas.microsoft.com/office/drawing/2014/main" id="{65513231-7C4E-BDA1-938F-E30CFB2BE4A8}"/>
              </a:ext>
            </a:extLst>
          </p:cNvPr>
          <p:cNvSpPr txBox="1"/>
          <p:nvPr/>
        </p:nvSpPr>
        <p:spPr>
          <a:xfrm>
            <a:off x="9271000" y="3632200"/>
            <a:ext cx="1676400" cy="276999"/>
          </a:xfrm>
          <a:prstGeom prst="rect">
            <a:avLst/>
          </a:prstGeom>
          <a:noFill/>
        </p:spPr>
        <p:txBody>
          <a:bodyPr vert="horz" wrap="square" lIns="0" tIns="0" rIns="0" bIns="0" rtlCol="0">
            <a:noAutofit/>
          </a:bodyPr>
          <a:lstStyle/>
          <a:p>
            <a:r>
              <a:rPr lang="en-US" altLang="zh-CN" sz="920">
                <a:solidFill>
                  <a:srgbClr val="536580"/>
                </a:solidFill>
                <a:latin typeface="Aptos" panose="020B0004020202020204" pitchFamily="34" charset="0"/>
              </a:rPr>
              <a:t>Show the submitted artifacts through the project page and repository.</a:t>
            </a:r>
            <a:endParaRPr lang="zh-CN" altLang="en-US" sz="920">
              <a:solidFill>
                <a:srgbClr val="536580"/>
              </a:solidFill>
              <a:latin typeface="Aptos" panose="020B0004020202020204" pitchFamily="34" charset="0"/>
            </a:endParaRPr>
          </a:p>
        </p:txBody>
      </p:sp>
      <p:sp>
        <p:nvSpPr>
          <p:cNvPr id="36" name="time-box">
            <a:extLst>
              <a:ext uri="{FF2B5EF4-FFF2-40B4-BE49-F238E27FC236}">
                <a16:creationId xmlns:a16="http://schemas.microsoft.com/office/drawing/2014/main" id="{DF09C7F8-A4D3-D269-DD5A-856FB25280F1}"/>
              </a:ext>
            </a:extLst>
          </p:cNvPr>
          <p:cNvSpPr/>
          <p:nvPr/>
        </p:nvSpPr>
        <p:spPr>
          <a:xfrm>
            <a:off x="1676400" y="5181600"/>
            <a:ext cx="8839200" cy="431800"/>
          </a:xfrm>
          <a:prstGeom prst="rect">
            <a:avLst/>
          </a:prstGeom>
          <a:solidFill>
            <a:srgbClr val="E7F1FF"/>
          </a:solidFill>
          <a:ln w="12700">
            <a:solidFill>
              <a:srgbClr val="AFCDF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time-text">
            <a:extLst>
              <a:ext uri="{FF2B5EF4-FFF2-40B4-BE49-F238E27FC236}">
                <a16:creationId xmlns:a16="http://schemas.microsoft.com/office/drawing/2014/main" id="{A7567D14-67B5-B9D6-B652-668269666163}"/>
              </a:ext>
            </a:extLst>
          </p:cNvPr>
          <p:cNvSpPr txBox="1"/>
          <p:nvPr/>
        </p:nvSpPr>
        <p:spPr>
          <a:xfrm>
            <a:off x="1955800" y="5321300"/>
            <a:ext cx="8255000" cy="276999"/>
          </a:xfrm>
          <a:prstGeom prst="rect">
            <a:avLst/>
          </a:prstGeom>
          <a:noFill/>
        </p:spPr>
        <p:txBody>
          <a:bodyPr vert="horz" wrap="square" lIns="0" tIns="0" rIns="0" bIns="0" rtlCol="0">
            <a:noAutofit/>
          </a:bodyPr>
          <a:lstStyle/>
          <a:p>
            <a:r>
              <a:rPr lang="en-US" altLang="zh-CN" sz="870" b="1">
                <a:solidFill>
                  <a:srgbClr val="004080"/>
                </a:solidFill>
                <a:latin typeface="Aptos" panose="020B0004020202020204" pitchFamily="34" charset="0"/>
              </a:rPr>
              <a:t>Target rhythm: 8 slides for the core story, 2 demo slides, 1 defense slide, then Q&amp;A.</a:t>
            </a:r>
            <a:endParaRPr lang="zh-CN" altLang="en-US" sz="870" b="1">
              <a:solidFill>
                <a:srgbClr val="004080"/>
              </a:solidFill>
              <a:latin typeface="Aptos" panose="020B0004020202020204" pitchFamily="34" charset="0"/>
            </a:endParaRPr>
          </a:p>
        </p:txBody>
      </p:sp>
    </p:spTree>
    <p:extLst>
      <p:ext uri="{BB962C8B-B14F-4D97-AF65-F5344CB8AC3E}">
        <p14:creationId xmlns:p14="http://schemas.microsoft.com/office/powerpoint/2010/main" val="1896739953"/>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56F48FC7-EF66-521B-F657-05D36532F355}"/>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C534969A-AF61-AF49-7BD0-C47F26571CDC}"/>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B3FE7084-EAF0-1877-15AB-FE4D7B2D76B4}"/>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0D53421B-F9D5-F720-4ACE-214FCCDD1B1A}"/>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43E4AB19-FBDF-23F6-CD2E-1A4B4FEE6457}"/>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9C9736F3-33BC-EE8D-D719-BC91556FA289}"/>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03</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4BD906F2-F01A-5A73-97F6-80782C51F110}"/>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PROBLEM</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F7B66F7A-CF06-FC1C-57D6-48973B59D6D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29CDC168-9593-EE26-39F1-4C4315D1128D}"/>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Generated code moves after generation</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8225EBDD-18ED-43B4-E325-60C755930966}"/>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Once code leaves the chat window, the original context is no longer enough.</a:t>
            </a:r>
            <a:endParaRPr lang="zh-CN" altLang="en-US" sz="950">
              <a:solidFill>
                <a:srgbClr val="536580"/>
              </a:solidFill>
              <a:latin typeface="Aptos" panose="020B0004020202020204" pitchFamily="34" charset="0"/>
            </a:endParaRPr>
          </a:p>
        </p:txBody>
      </p:sp>
      <p:sp>
        <p:nvSpPr>
          <p:cNvPr id="13" name="code-panel">
            <a:extLst>
              <a:ext uri="{FF2B5EF4-FFF2-40B4-BE49-F238E27FC236}">
                <a16:creationId xmlns:a16="http://schemas.microsoft.com/office/drawing/2014/main" id="{D960E057-1A8C-BEDC-1A8D-47BB65487CC2}"/>
              </a:ext>
            </a:extLst>
          </p:cNvPr>
          <p:cNvSpPr/>
          <p:nvPr/>
        </p:nvSpPr>
        <p:spPr>
          <a:xfrm>
            <a:off x="889000" y="2006600"/>
            <a:ext cx="3810000" cy="2667000"/>
          </a:xfrm>
          <a:prstGeom prst="rect">
            <a:avLst/>
          </a:prstGeom>
          <a:solidFill>
            <a:srgbClr val="03204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code-title">
            <a:extLst>
              <a:ext uri="{FF2B5EF4-FFF2-40B4-BE49-F238E27FC236}">
                <a16:creationId xmlns:a16="http://schemas.microsoft.com/office/drawing/2014/main" id="{7B7CDE0D-1A52-08F5-0B2B-DB7567E0CC8B}"/>
              </a:ext>
            </a:extLst>
          </p:cNvPr>
          <p:cNvSpPr txBox="1"/>
          <p:nvPr/>
        </p:nvSpPr>
        <p:spPr>
          <a:xfrm>
            <a:off x="1193800" y="2286000"/>
            <a:ext cx="1524000" cy="276999"/>
          </a:xfrm>
          <a:prstGeom prst="rect">
            <a:avLst/>
          </a:prstGeom>
          <a:noFill/>
        </p:spPr>
        <p:txBody>
          <a:bodyPr vert="horz" wrap="square" lIns="0" tIns="0" rIns="0" bIns="0" rtlCol="0">
            <a:noAutofit/>
          </a:bodyPr>
          <a:lstStyle/>
          <a:p>
            <a:r>
              <a:rPr lang="en-US" altLang="zh-CN" sz="800" b="1">
                <a:solidFill>
                  <a:srgbClr val="C3DCF8"/>
                </a:solidFill>
                <a:latin typeface="Aptos" panose="020B0004020202020204" pitchFamily="34" charset="0"/>
              </a:rPr>
              <a:t>Generated snippet</a:t>
            </a:r>
            <a:endParaRPr lang="zh-CN" altLang="en-US" sz="800" b="1">
              <a:solidFill>
                <a:srgbClr val="C3DCF8"/>
              </a:solidFill>
              <a:latin typeface="Aptos" panose="020B0004020202020204" pitchFamily="34" charset="0"/>
            </a:endParaRPr>
          </a:p>
        </p:txBody>
      </p:sp>
      <p:sp>
        <p:nvSpPr>
          <p:cNvPr id="15" name="code">
            <a:extLst>
              <a:ext uri="{FF2B5EF4-FFF2-40B4-BE49-F238E27FC236}">
                <a16:creationId xmlns:a16="http://schemas.microsoft.com/office/drawing/2014/main" id="{57FDCAEE-EF67-F711-FE47-4A4605CFDCE5}"/>
              </a:ext>
            </a:extLst>
          </p:cNvPr>
          <p:cNvSpPr txBox="1"/>
          <p:nvPr/>
        </p:nvSpPr>
        <p:spPr>
          <a:xfrm>
            <a:off x="1193800" y="2705100"/>
            <a:ext cx="3098800" cy="276999"/>
          </a:xfrm>
          <a:prstGeom prst="rect">
            <a:avLst/>
          </a:prstGeom>
          <a:noFill/>
        </p:spPr>
        <p:txBody>
          <a:bodyPr vert="horz" wrap="square" lIns="0" tIns="0" rIns="0" bIns="0" rtlCol="0">
            <a:noAutofit/>
          </a:bodyPr>
          <a:lstStyle/>
          <a:p>
            <a:r>
              <a:rPr lang="en-US" altLang="zh-CN" sz="1200">
                <a:solidFill>
                  <a:srgbClr val="FFFFFF"/>
                </a:solidFill>
                <a:latin typeface="Consolas" panose="020B0609020204030204" pitchFamily="49" charset="0"/>
              </a:rPr>
              <a:t>def normalize_name(s):
    t = s.strip().lower()
    return t.replace('_', '-')
# later: copied, edited, translated</a:t>
            </a:r>
            <a:endParaRPr lang="zh-CN" altLang="en-US" sz="1200">
              <a:solidFill>
                <a:srgbClr val="FFFFFF"/>
              </a:solidFill>
              <a:latin typeface="Consolas" panose="020B0609020204030204" pitchFamily="49" charset="0"/>
            </a:endParaRPr>
          </a:p>
        </p:txBody>
      </p:sp>
      <p:sp>
        <p:nvSpPr>
          <p:cNvPr id="16" name="flow-box-0">
            <a:extLst>
              <a:ext uri="{FF2B5EF4-FFF2-40B4-BE49-F238E27FC236}">
                <a16:creationId xmlns:a16="http://schemas.microsoft.com/office/drawing/2014/main" id="{4722E9F8-CBCD-31FD-337D-81816BF30190}"/>
              </a:ext>
            </a:extLst>
          </p:cNvPr>
          <p:cNvSpPr/>
          <p:nvPr/>
        </p:nvSpPr>
        <p:spPr>
          <a:xfrm>
            <a:off x="5588000" y="2463800"/>
            <a:ext cx="1041400" cy="1041400"/>
          </a:xfrm>
          <a:prstGeom prst="rect">
            <a:avLst/>
          </a:prstGeom>
          <a:solidFill>
            <a:srgbClr val="2369C8"/>
          </a:solidFill>
          <a:ln w="12700">
            <a:solidFill>
              <a:srgbClr val="2369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flow-title-0">
            <a:extLst>
              <a:ext uri="{FF2B5EF4-FFF2-40B4-BE49-F238E27FC236}">
                <a16:creationId xmlns:a16="http://schemas.microsoft.com/office/drawing/2014/main" id="{EE3D1419-E047-504D-6B5D-56903285D288}"/>
              </a:ext>
            </a:extLst>
          </p:cNvPr>
          <p:cNvSpPr txBox="1"/>
          <p:nvPr/>
        </p:nvSpPr>
        <p:spPr>
          <a:xfrm>
            <a:off x="5715000" y="2743200"/>
            <a:ext cx="787400" cy="276999"/>
          </a:xfrm>
          <a:prstGeom prst="rect">
            <a:avLst/>
          </a:prstGeom>
          <a:noFill/>
        </p:spPr>
        <p:txBody>
          <a:bodyPr vert="horz" wrap="square" lIns="0" tIns="0" rIns="0" bIns="0" rtlCol="0">
            <a:noAutofit/>
          </a:bodyPr>
          <a:lstStyle/>
          <a:p>
            <a:r>
              <a:rPr lang="en-US" altLang="zh-CN" sz="950" b="1">
                <a:solidFill>
                  <a:srgbClr val="FFFFFF"/>
                </a:solidFill>
                <a:latin typeface="Aptos" panose="020B0004020202020204" pitchFamily="34" charset="0"/>
              </a:rPr>
              <a:t>Generate</a:t>
            </a:r>
            <a:endParaRPr lang="zh-CN" altLang="en-US" sz="950" b="1">
              <a:solidFill>
                <a:srgbClr val="FFFFFF"/>
              </a:solidFill>
              <a:latin typeface="Aptos" panose="020B0004020202020204" pitchFamily="34" charset="0"/>
            </a:endParaRPr>
          </a:p>
        </p:txBody>
      </p:sp>
      <p:sp>
        <p:nvSpPr>
          <p:cNvPr id="18" name="flow-sub-0">
            <a:extLst>
              <a:ext uri="{FF2B5EF4-FFF2-40B4-BE49-F238E27FC236}">
                <a16:creationId xmlns:a16="http://schemas.microsoft.com/office/drawing/2014/main" id="{9DD73395-F798-5D61-8CC9-3FDEF6F42B0A}"/>
              </a:ext>
            </a:extLst>
          </p:cNvPr>
          <p:cNvSpPr txBox="1"/>
          <p:nvPr/>
        </p:nvSpPr>
        <p:spPr>
          <a:xfrm>
            <a:off x="5715000" y="3086100"/>
            <a:ext cx="787400" cy="276999"/>
          </a:xfrm>
          <a:prstGeom prst="rect">
            <a:avLst/>
          </a:prstGeom>
          <a:noFill/>
        </p:spPr>
        <p:txBody>
          <a:bodyPr vert="horz" wrap="square" lIns="0" tIns="0" rIns="0" bIns="0" rtlCol="0">
            <a:noAutofit/>
          </a:bodyPr>
          <a:lstStyle/>
          <a:p>
            <a:r>
              <a:rPr lang="en-US" altLang="zh-CN" sz="680">
                <a:solidFill>
                  <a:srgbClr val="FFFFFF"/>
                </a:solidFill>
                <a:latin typeface="Aptos" panose="020B0004020202020204" pitchFamily="34" charset="0"/>
              </a:rPr>
              <a:t>model output</a:t>
            </a:r>
            <a:endParaRPr lang="zh-CN" altLang="en-US" sz="680">
              <a:solidFill>
                <a:srgbClr val="FFFFFF"/>
              </a:solidFill>
              <a:latin typeface="Aptos" panose="020B0004020202020204" pitchFamily="34" charset="0"/>
            </a:endParaRPr>
          </a:p>
        </p:txBody>
      </p:sp>
      <p:cxnSp>
        <p:nvCxnSpPr>
          <p:cNvPr id="19" name="flow-arrow-0">
            <a:extLst>
              <a:ext uri="{FF2B5EF4-FFF2-40B4-BE49-F238E27FC236}">
                <a16:creationId xmlns:a16="http://schemas.microsoft.com/office/drawing/2014/main" id="{80CC5169-B192-1835-011A-51EF8D55B4BF}"/>
              </a:ext>
            </a:extLst>
          </p:cNvPr>
          <p:cNvCxnSpPr/>
          <p:nvPr/>
        </p:nvCxnSpPr>
        <p:spPr>
          <a:xfrm>
            <a:off x="6680200" y="2984500"/>
            <a:ext cx="279400" cy="0"/>
          </a:xfrm>
          <a:prstGeom prst="line">
            <a:avLst/>
          </a:prstGeom>
          <a:ln w="25400">
            <a:solidFill>
              <a:srgbClr val="536580"/>
            </a:solidFill>
          </a:ln>
        </p:spPr>
        <p:style>
          <a:lnRef idx="1">
            <a:schemeClr val="accent1"/>
          </a:lnRef>
          <a:fillRef idx="0">
            <a:schemeClr val="accent1"/>
          </a:fillRef>
          <a:effectRef idx="0">
            <a:schemeClr val="accent1"/>
          </a:effectRef>
          <a:fontRef idx="minor">
            <a:schemeClr val="tx1"/>
          </a:fontRef>
        </p:style>
      </p:cxnSp>
      <p:sp>
        <p:nvSpPr>
          <p:cNvPr id="20" name="flow-box-1">
            <a:extLst>
              <a:ext uri="{FF2B5EF4-FFF2-40B4-BE49-F238E27FC236}">
                <a16:creationId xmlns:a16="http://schemas.microsoft.com/office/drawing/2014/main" id="{C48B46EF-00D2-9E59-2F57-8AD7EEAEFF8D}"/>
              </a:ext>
            </a:extLst>
          </p:cNvPr>
          <p:cNvSpPr/>
          <p:nvPr/>
        </p:nvSpPr>
        <p:spPr>
          <a:xfrm>
            <a:off x="7010400" y="2463800"/>
            <a:ext cx="1041400" cy="1041400"/>
          </a:xfrm>
          <a:prstGeom prst="rect">
            <a:avLst/>
          </a:prstGeom>
          <a:solidFill>
            <a:srgbClr val="00AABE"/>
          </a:solidFill>
          <a:ln w="12700">
            <a:solidFill>
              <a:srgbClr val="00A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flow-title-1">
            <a:extLst>
              <a:ext uri="{FF2B5EF4-FFF2-40B4-BE49-F238E27FC236}">
                <a16:creationId xmlns:a16="http://schemas.microsoft.com/office/drawing/2014/main" id="{ABF87AC3-71D4-AA5D-8379-FAE90AA0A2AF}"/>
              </a:ext>
            </a:extLst>
          </p:cNvPr>
          <p:cNvSpPr txBox="1"/>
          <p:nvPr/>
        </p:nvSpPr>
        <p:spPr>
          <a:xfrm>
            <a:off x="7137400" y="2743200"/>
            <a:ext cx="787400" cy="276999"/>
          </a:xfrm>
          <a:prstGeom prst="rect">
            <a:avLst/>
          </a:prstGeom>
          <a:noFill/>
        </p:spPr>
        <p:txBody>
          <a:bodyPr vert="horz" wrap="square" lIns="0" tIns="0" rIns="0" bIns="0" rtlCol="0">
            <a:noAutofit/>
          </a:bodyPr>
          <a:lstStyle/>
          <a:p>
            <a:r>
              <a:rPr lang="en-US" altLang="zh-CN" sz="950" b="1">
                <a:solidFill>
                  <a:srgbClr val="FFFFFF"/>
                </a:solidFill>
                <a:latin typeface="Aptos" panose="020B0004020202020204" pitchFamily="34" charset="0"/>
              </a:rPr>
              <a:t>Edit</a:t>
            </a:r>
            <a:endParaRPr lang="zh-CN" altLang="en-US" sz="950" b="1">
              <a:solidFill>
                <a:srgbClr val="FFFFFF"/>
              </a:solidFill>
              <a:latin typeface="Aptos" panose="020B0004020202020204" pitchFamily="34" charset="0"/>
            </a:endParaRPr>
          </a:p>
        </p:txBody>
      </p:sp>
      <p:sp>
        <p:nvSpPr>
          <p:cNvPr id="22" name="flow-sub-1">
            <a:extLst>
              <a:ext uri="{FF2B5EF4-FFF2-40B4-BE49-F238E27FC236}">
                <a16:creationId xmlns:a16="http://schemas.microsoft.com/office/drawing/2014/main" id="{1FF89B32-71E6-7AB1-60C3-4F5F1E15F3FD}"/>
              </a:ext>
            </a:extLst>
          </p:cNvPr>
          <p:cNvSpPr txBox="1"/>
          <p:nvPr/>
        </p:nvSpPr>
        <p:spPr>
          <a:xfrm>
            <a:off x="7137400" y="3086100"/>
            <a:ext cx="787400" cy="276999"/>
          </a:xfrm>
          <a:prstGeom prst="rect">
            <a:avLst/>
          </a:prstGeom>
          <a:noFill/>
        </p:spPr>
        <p:txBody>
          <a:bodyPr vert="horz" wrap="square" lIns="0" tIns="0" rIns="0" bIns="0" rtlCol="0">
            <a:noAutofit/>
          </a:bodyPr>
          <a:lstStyle/>
          <a:p>
            <a:r>
              <a:rPr lang="en-US" altLang="zh-CN" sz="680">
                <a:solidFill>
                  <a:srgbClr val="FFFFFF"/>
                </a:solidFill>
                <a:latin typeface="Aptos" panose="020B0004020202020204" pitchFamily="34" charset="0"/>
              </a:rPr>
              <a:t>human change</a:t>
            </a:r>
            <a:endParaRPr lang="zh-CN" altLang="en-US" sz="680">
              <a:solidFill>
                <a:srgbClr val="FFFFFF"/>
              </a:solidFill>
              <a:latin typeface="Aptos" panose="020B0004020202020204" pitchFamily="34" charset="0"/>
            </a:endParaRPr>
          </a:p>
        </p:txBody>
      </p:sp>
      <p:cxnSp>
        <p:nvCxnSpPr>
          <p:cNvPr id="23" name="flow-arrow-1">
            <a:extLst>
              <a:ext uri="{FF2B5EF4-FFF2-40B4-BE49-F238E27FC236}">
                <a16:creationId xmlns:a16="http://schemas.microsoft.com/office/drawing/2014/main" id="{68A19176-F121-887C-9F64-DD47507539B2}"/>
              </a:ext>
            </a:extLst>
          </p:cNvPr>
          <p:cNvCxnSpPr/>
          <p:nvPr/>
        </p:nvCxnSpPr>
        <p:spPr>
          <a:xfrm>
            <a:off x="8102600" y="2984500"/>
            <a:ext cx="279400" cy="0"/>
          </a:xfrm>
          <a:prstGeom prst="line">
            <a:avLst/>
          </a:prstGeom>
          <a:ln w="25400">
            <a:solidFill>
              <a:srgbClr val="536580"/>
            </a:solidFill>
          </a:ln>
        </p:spPr>
        <p:style>
          <a:lnRef idx="1">
            <a:schemeClr val="accent1"/>
          </a:lnRef>
          <a:fillRef idx="0">
            <a:schemeClr val="accent1"/>
          </a:fillRef>
          <a:effectRef idx="0">
            <a:schemeClr val="accent1"/>
          </a:effectRef>
          <a:fontRef idx="minor">
            <a:schemeClr val="tx1"/>
          </a:fontRef>
        </p:style>
      </p:cxnSp>
      <p:sp>
        <p:nvSpPr>
          <p:cNvPr id="24" name="flow-box-2">
            <a:extLst>
              <a:ext uri="{FF2B5EF4-FFF2-40B4-BE49-F238E27FC236}">
                <a16:creationId xmlns:a16="http://schemas.microsoft.com/office/drawing/2014/main" id="{ABA383A0-D85B-AABF-FE7A-B2D0E16AEFAC}"/>
              </a:ext>
            </a:extLst>
          </p:cNvPr>
          <p:cNvSpPr/>
          <p:nvPr/>
        </p:nvSpPr>
        <p:spPr>
          <a:xfrm>
            <a:off x="8432800" y="2463800"/>
            <a:ext cx="1041400" cy="1041400"/>
          </a:xfrm>
          <a:prstGeom prst="rect">
            <a:avLst/>
          </a:prstGeom>
          <a:solidFill>
            <a:srgbClr val="784CD2"/>
          </a:solidFill>
          <a:ln w="12700">
            <a:solidFill>
              <a:srgbClr val="784CD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flow-title-2">
            <a:extLst>
              <a:ext uri="{FF2B5EF4-FFF2-40B4-BE49-F238E27FC236}">
                <a16:creationId xmlns:a16="http://schemas.microsoft.com/office/drawing/2014/main" id="{D0E69917-720F-F493-406C-D12751A5B0D4}"/>
              </a:ext>
            </a:extLst>
          </p:cNvPr>
          <p:cNvSpPr txBox="1"/>
          <p:nvPr/>
        </p:nvSpPr>
        <p:spPr>
          <a:xfrm>
            <a:off x="8559800" y="2743200"/>
            <a:ext cx="787400" cy="276999"/>
          </a:xfrm>
          <a:prstGeom prst="rect">
            <a:avLst/>
          </a:prstGeom>
          <a:noFill/>
        </p:spPr>
        <p:txBody>
          <a:bodyPr vert="horz" wrap="square" lIns="0" tIns="0" rIns="0" bIns="0" rtlCol="0">
            <a:noAutofit/>
          </a:bodyPr>
          <a:lstStyle/>
          <a:p>
            <a:r>
              <a:rPr lang="en-US" altLang="zh-CN" sz="950" b="1">
                <a:solidFill>
                  <a:srgbClr val="FFFFFF"/>
                </a:solidFill>
                <a:latin typeface="Aptos" panose="020B0004020202020204" pitchFamily="34" charset="0"/>
              </a:rPr>
              <a:t>Reuse</a:t>
            </a:r>
            <a:endParaRPr lang="zh-CN" altLang="en-US" sz="950" b="1">
              <a:solidFill>
                <a:srgbClr val="FFFFFF"/>
              </a:solidFill>
              <a:latin typeface="Aptos" panose="020B0004020202020204" pitchFamily="34" charset="0"/>
            </a:endParaRPr>
          </a:p>
        </p:txBody>
      </p:sp>
      <p:sp>
        <p:nvSpPr>
          <p:cNvPr id="26" name="flow-sub-2">
            <a:extLst>
              <a:ext uri="{FF2B5EF4-FFF2-40B4-BE49-F238E27FC236}">
                <a16:creationId xmlns:a16="http://schemas.microsoft.com/office/drawing/2014/main" id="{A433F386-9282-670D-537D-C09115F36AB5}"/>
              </a:ext>
            </a:extLst>
          </p:cNvPr>
          <p:cNvSpPr txBox="1"/>
          <p:nvPr/>
        </p:nvSpPr>
        <p:spPr>
          <a:xfrm>
            <a:off x="8559800" y="3086100"/>
            <a:ext cx="787400" cy="276999"/>
          </a:xfrm>
          <a:prstGeom prst="rect">
            <a:avLst/>
          </a:prstGeom>
          <a:noFill/>
        </p:spPr>
        <p:txBody>
          <a:bodyPr vert="horz" wrap="square" lIns="0" tIns="0" rIns="0" bIns="0" rtlCol="0">
            <a:noAutofit/>
          </a:bodyPr>
          <a:lstStyle/>
          <a:p>
            <a:r>
              <a:rPr lang="en-US" altLang="zh-CN" sz="680">
                <a:solidFill>
                  <a:srgbClr val="FFFFFF"/>
                </a:solidFill>
                <a:latin typeface="Aptos" panose="020B0004020202020204" pitchFamily="34" charset="0"/>
              </a:rPr>
              <a:t>new repo</a:t>
            </a:r>
            <a:endParaRPr lang="zh-CN" altLang="en-US" sz="680">
              <a:solidFill>
                <a:srgbClr val="FFFFFF"/>
              </a:solidFill>
              <a:latin typeface="Aptos" panose="020B0004020202020204" pitchFamily="34" charset="0"/>
            </a:endParaRPr>
          </a:p>
        </p:txBody>
      </p:sp>
      <p:cxnSp>
        <p:nvCxnSpPr>
          <p:cNvPr id="27" name="flow-arrow-2">
            <a:extLst>
              <a:ext uri="{FF2B5EF4-FFF2-40B4-BE49-F238E27FC236}">
                <a16:creationId xmlns:a16="http://schemas.microsoft.com/office/drawing/2014/main" id="{35E7C55F-6C69-B64B-516F-7F2FD27106A9}"/>
              </a:ext>
            </a:extLst>
          </p:cNvPr>
          <p:cNvCxnSpPr/>
          <p:nvPr/>
        </p:nvCxnSpPr>
        <p:spPr>
          <a:xfrm>
            <a:off x="9525000" y="2984500"/>
            <a:ext cx="279400" cy="0"/>
          </a:xfrm>
          <a:prstGeom prst="line">
            <a:avLst/>
          </a:prstGeom>
          <a:ln w="25400">
            <a:solidFill>
              <a:srgbClr val="536580"/>
            </a:solidFill>
          </a:ln>
        </p:spPr>
        <p:style>
          <a:lnRef idx="1">
            <a:schemeClr val="accent1"/>
          </a:lnRef>
          <a:fillRef idx="0">
            <a:schemeClr val="accent1"/>
          </a:fillRef>
          <a:effectRef idx="0">
            <a:schemeClr val="accent1"/>
          </a:effectRef>
          <a:fontRef idx="minor">
            <a:schemeClr val="tx1"/>
          </a:fontRef>
        </p:style>
      </p:cxnSp>
      <p:sp>
        <p:nvSpPr>
          <p:cNvPr id="28" name="flow-box-3">
            <a:extLst>
              <a:ext uri="{FF2B5EF4-FFF2-40B4-BE49-F238E27FC236}">
                <a16:creationId xmlns:a16="http://schemas.microsoft.com/office/drawing/2014/main" id="{330CE6D4-276F-CEA3-539C-511F9BA643F5}"/>
              </a:ext>
            </a:extLst>
          </p:cNvPr>
          <p:cNvSpPr/>
          <p:nvPr/>
        </p:nvSpPr>
        <p:spPr>
          <a:xfrm>
            <a:off x="9855200" y="2463800"/>
            <a:ext cx="1041400" cy="1041400"/>
          </a:xfrm>
          <a:prstGeom prst="rect">
            <a:avLst/>
          </a:prstGeom>
          <a:solidFill>
            <a:srgbClr val="EE9122"/>
          </a:solidFill>
          <a:ln w="12700">
            <a:solidFill>
              <a:srgbClr val="EE91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flow-title-3">
            <a:extLst>
              <a:ext uri="{FF2B5EF4-FFF2-40B4-BE49-F238E27FC236}">
                <a16:creationId xmlns:a16="http://schemas.microsoft.com/office/drawing/2014/main" id="{0D9C3161-2B1C-C21F-605F-EC1A7822CF9A}"/>
              </a:ext>
            </a:extLst>
          </p:cNvPr>
          <p:cNvSpPr txBox="1"/>
          <p:nvPr/>
        </p:nvSpPr>
        <p:spPr>
          <a:xfrm>
            <a:off x="9982200" y="2743200"/>
            <a:ext cx="787400" cy="276999"/>
          </a:xfrm>
          <a:prstGeom prst="rect">
            <a:avLst/>
          </a:prstGeom>
          <a:noFill/>
        </p:spPr>
        <p:txBody>
          <a:bodyPr vert="horz" wrap="square" lIns="0" tIns="0" rIns="0" bIns="0" rtlCol="0">
            <a:noAutofit/>
          </a:bodyPr>
          <a:lstStyle/>
          <a:p>
            <a:r>
              <a:rPr lang="en-US" altLang="zh-CN" sz="950" b="1">
                <a:solidFill>
                  <a:srgbClr val="FFFFFF"/>
                </a:solidFill>
                <a:latin typeface="Aptos" panose="020B0004020202020204" pitchFamily="34" charset="0"/>
              </a:rPr>
              <a:t>Audit</a:t>
            </a:r>
            <a:endParaRPr lang="zh-CN" altLang="en-US" sz="950" b="1">
              <a:solidFill>
                <a:srgbClr val="FFFFFF"/>
              </a:solidFill>
              <a:latin typeface="Aptos" panose="020B0004020202020204" pitchFamily="34" charset="0"/>
            </a:endParaRPr>
          </a:p>
        </p:txBody>
      </p:sp>
      <p:sp>
        <p:nvSpPr>
          <p:cNvPr id="30" name="flow-sub-3">
            <a:extLst>
              <a:ext uri="{FF2B5EF4-FFF2-40B4-BE49-F238E27FC236}">
                <a16:creationId xmlns:a16="http://schemas.microsoft.com/office/drawing/2014/main" id="{A24BA043-7D44-58BB-14F9-5374F4879BD8}"/>
              </a:ext>
            </a:extLst>
          </p:cNvPr>
          <p:cNvSpPr txBox="1"/>
          <p:nvPr/>
        </p:nvSpPr>
        <p:spPr>
          <a:xfrm>
            <a:off x="9982200" y="3086100"/>
            <a:ext cx="787400" cy="276999"/>
          </a:xfrm>
          <a:prstGeom prst="rect">
            <a:avLst/>
          </a:prstGeom>
          <a:noFill/>
        </p:spPr>
        <p:txBody>
          <a:bodyPr vert="horz" wrap="square" lIns="0" tIns="0" rIns="0" bIns="0" rtlCol="0">
            <a:noAutofit/>
          </a:bodyPr>
          <a:lstStyle/>
          <a:p>
            <a:r>
              <a:rPr lang="en-US" altLang="zh-CN" sz="680">
                <a:solidFill>
                  <a:srgbClr val="FFFFFF"/>
                </a:solidFill>
                <a:latin typeface="Aptos" panose="020B0004020202020204" pitchFamily="34" charset="0"/>
              </a:rPr>
              <a:t>bounded claim</a:t>
            </a:r>
            <a:endParaRPr lang="zh-CN" altLang="en-US" sz="680">
              <a:solidFill>
                <a:srgbClr val="FFFFFF"/>
              </a:solidFill>
              <a:latin typeface="Aptos" panose="020B0004020202020204" pitchFamily="34" charset="0"/>
            </a:endParaRPr>
          </a:p>
        </p:txBody>
      </p:sp>
      <p:sp>
        <p:nvSpPr>
          <p:cNvPr id="31" name="question">
            <a:extLst>
              <a:ext uri="{FF2B5EF4-FFF2-40B4-BE49-F238E27FC236}">
                <a16:creationId xmlns:a16="http://schemas.microsoft.com/office/drawing/2014/main" id="{C3E1A422-1248-1B63-F2B3-80753D3ADE57}"/>
              </a:ext>
            </a:extLst>
          </p:cNvPr>
          <p:cNvSpPr/>
          <p:nvPr/>
        </p:nvSpPr>
        <p:spPr>
          <a:xfrm>
            <a:off x="2057400" y="5283200"/>
            <a:ext cx="8077200" cy="457200"/>
          </a:xfrm>
          <a:prstGeom prst="rect">
            <a:avLst/>
          </a:prstGeom>
          <a:solidFill>
            <a:srgbClr val="FFF5E0"/>
          </a:solidFill>
          <a:ln w="12700">
            <a:solidFill>
              <a:srgbClr val="F5BE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question-text">
            <a:extLst>
              <a:ext uri="{FF2B5EF4-FFF2-40B4-BE49-F238E27FC236}">
                <a16:creationId xmlns:a16="http://schemas.microsoft.com/office/drawing/2014/main" id="{732C348F-D6FD-2ABE-E2ED-BA7355983758}"/>
              </a:ext>
            </a:extLst>
          </p:cNvPr>
          <p:cNvSpPr txBox="1"/>
          <p:nvPr/>
        </p:nvSpPr>
        <p:spPr>
          <a:xfrm>
            <a:off x="2463800" y="5422900"/>
            <a:ext cx="7289800" cy="276999"/>
          </a:xfrm>
          <a:prstGeom prst="rect">
            <a:avLst/>
          </a:prstGeom>
          <a:noFill/>
        </p:spPr>
        <p:txBody>
          <a:bodyPr vert="horz" wrap="square" lIns="0" tIns="0" rIns="0" bIns="0" rtlCol="0">
            <a:noAutofit/>
          </a:bodyPr>
          <a:lstStyle/>
          <a:p>
            <a:r>
              <a:rPr lang="en-US" altLang="zh-CN" sz="920" b="1">
                <a:solidFill>
                  <a:srgbClr val="5C3A0C"/>
                </a:solidFill>
                <a:latin typeface="Aptos" panose="020B0004020202020204" pitchFamily="34" charset="0"/>
              </a:rPr>
              <a:t>The viva question: what can still be claimed after the code has moved?</a:t>
            </a:r>
            <a:endParaRPr lang="zh-CN" altLang="en-US" sz="920" b="1">
              <a:solidFill>
                <a:srgbClr val="5C3A0C"/>
              </a:solidFill>
              <a:latin typeface="Aptos" panose="020B0004020202020204" pitchFamily="34" charset="0"/>
            </a:endParaRPr>
          </a:p>
        </p:txBody>
      </p:sp>
    </p:spTree>
    <p:extLst>
      <p:ext uri="{BB962C8B-B14F-4D97-AF65-F5344CB8AC3E}">
        <p14:creationId xmlns:p14="http://schemas.microsoft.com/office/powerpoint/2010/main" val="2285146834"/>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36E1D049-A96D-F517-4F4E-3ACB9BDD5722}"/>
              </a:ext>
            </a:extLst>
          </p:cNvPr>
          <p:cNvSpPr/>
          <p:nvPr/>
        </p:nvSpPr>
        <p:spPr>
          <a:xfrm>
            <a:off x="0" y="0"/>
            <a:ext cx="121920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dark-panel">
            <a:extLst>
              <a:ext uri="{FF2B5EF4-FFF2-40B4-BE49-F238E27FC236}">
                <a16:creationId xmlns:a16="http://schemas.microsoft.com/office/drawing/2014/main" id="{CDDDAA4B-9307-5F7B-738A-BE27E292116A}"/>
              </a:ext>
            </a:extLst>
          </p:cNvPr>
          <p:cNvSpPr/>
          <p:nvPr/>
        </p:nvSpPr>
        <p:spPr>
          <a:xfrm>
            <a:off x="0" y="0"/>
            <a:ext cx="12192000" cy="6858000"/>
          </a:xfrm>
          <a:prstGeom prst="rect">
            <a:avLst/>
          </a:prstGeom>
          <a:solidFill>
            <a:srgbClr val="032048">
              <a:alpha val="9000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grid-v-0">
            <a:extLst>
              <a:ext uri="{FF2B5EF4-FFF2-40B4-BE49-F238E27FC236}">
                <a16:creationId xmlns:a16="http://schemas.microsoft.com/office/drawing/2014/main" id="{27B9A84E-2A9C-8DB8-684E-4CEB6EAE8449}"/>
              </a:ext>
            </a:extLst>
          </p:cNvPr>
          <p:cNvCxnSpPr/>
          <p:nvPr/>
        </p:nvCxnSpPr>
        <p:spPr>
          <a:xfrm>
            <a:off x="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5" name="grid-v-64">
            <a:extLst>
              <a:ext uri="{FF2B5EF4-FFF2-40B4-BE49-F238E27FC236}">
                <a16:creationId xmlns:a16="http://schemas.microsoft.com/office/drawing/2014/main" id="{C2767A47-BB3E-61DD-9ED4-E9203749632B}"/>
              </a:ext>
            </a:extLst>
          </p:cNvPr>
          <p:cNvCxnSpPr/>
          <p:nvPr/>
        </p:nvCxnSpPr>
        <p:spPr>
          <a:xfrm>
            <a:off x="812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6" name="grid-v-128">
            <a:extLst>
              <a:ext uri="{FF2B5EF4-FFF2-40B4-BE49-F238E27FC236}">
                <a16:creationId xmlns:a16="http://schemas.microsoft.com/office/drawing/2014/main" id="{99551596-0307-3E49-8CF5-66A5BD00D857}"/>
              </a:ext>
            </a:extLst>
          </p:cNvPr>
          <p:cNvCxnSpPr/>
          <p:nvPr/>
        </p:nvCxnSpPr>
        <p:spPr>
          <a:xfrm>
            <a:off x="1625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7" name="grid-v-192">
            <a:extLst>
              <a:ext uri="{FF2B5EF4-FFF2-40B4-BE49-F238E27FC236}">
                <a16:creationId xmlns:a16="http://schemas.microsoft.com/office/drawing/2014/main" id="{66E33BC0-D1C2-9FBF-640A-80030E5A9355}"/>
              </a:ext>
            </a:extLst>
          </p:cNvPr>
          <p:cNvCxnSpPr/>
          <p:nvPr/>
        </p:nvCxnSpPr>
        <p:spPr>
          <a:xfrm>
            <a:off x="2438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8" name="grid-v-256">
            <a:extLst>
              <a:ext uri="{FF2B5EF4-FFF2-40B4-BE49-F238E27FC236}">
                <a16:creationId xmlns:a16="http://schemas.microsoft.com/office/drawing/2014/main" id="{C6B0B543-48D1-C651-89A0-F91F80A8D514}"/>
              </a:ext>
            </a:extLst>
          </p:cNvPr>
          <p:cNvCxnSpPr/>
          <p:nvPr/>
        </p:nvCxnSpPr>
        <p:spPr>
          <a:xfrm>
            <a:off x="3251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9" name="grid-v-320">
            <a:extLst>
              <a:ext uri="{FF2B5EF4-FFF2-40B4-BE49-F238E27FC236}">
                <a16:creationId xmlns:a16="http://schemas.microsoft.com/office/drawing/2014/main" id="{D0EA55B3-BA13-02BA-B721-38DB9032B010}"/>
              </a:ext>
            </a:extLst>
          </p:cNvPr>
          <p:cNvCxnSpPr/>
          <p:nvPr/>
        </p:nvCxnSpPr>
        <p:spPr>
          <a:xfrm>
            <a:off x="4064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0" name="grid-v-384">
            <a:extLst>
              <a:ext uri="{FF2B5EF4-FFF2-40B4-BE49-F238E27FC236}">
                <a16:creationId xmlns:a16="http://schemas.microsoft.com/office/drawing/2014/main" id="{0FD58B58-7B0B-87D0-4A91-91E6AFDA14A1}"/>
              </a:ext>
            </a:extLst>
          </p:cNvPr>
          <p:cNvCxnSpPr/>
          <p:nvPr/>
        </p:nvCxnSpPr>
        <p:spPr>
          <a:xfrm>
            <a:off x="4876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1" name="grid-v-448">
            <a:extLst>
              <a:ext uri="{FF2B5EF4-FFF2-40B4-BE49-F238E27FC236}">
                <a16:creationId xmlns:a16="http://schemas.microsoft.com/office/drawing/2014/main" id="{D02EDF27-6566-5855-571B-A68CAEDBD58E}"/>
              </a:ext>
            </a:extLst>
          </p:cNvPr>
          <p:cNvCxnSpPr/>
          <p:nvPr/>
        </p:nvCxnSpPr>
        <p:spPr>
          <a:xfrm>
            <a:off x="5689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2" name="grid-v-512">
            <a:extLst>
              <a:ext uri="{FF2B5EF4-FFF2-40B4-BE49-F238E27FC236}">
                <a16:creationId xmlns:a16="http://schemas.microsoft.com/office/drawing/2014/main" id="{39853F30-02AA-9ED0-F371-D440DD0CD847}"/>
              </a:ext>
            </a:extLst>
          </p:cNvPr>
          <p:cNvCxnSpPr/>
          <p:nvPr/>
        </p:nvCxnSpPr>
        <p:spPr>
          <a:xfrm>
            <a:off x="6502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3" name="grid-v-576">
            <a:extLst>
              <a:ext uri="{FF2B5EF4-FFF2-40B4-BE49-F238E27FC236}">
                <a16:creationId xmlns:a16="http://schemas.microsoft.com/office/drawing/2014/main" id="{AACA4B04-EF99-F335-F69E-7A181E426B17}"/>
              </a:ext>
            </a:extLst>
          </p:cNvPr>
          <p:cNvCxnSpPr/>
          <p:nvPr/>
        </p:nvCxnSpPr>
        <p:spPr>
          <a:xfrm>
            <a:off x="7315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4" name="grid-v-640">
            <a:extLst>
              <a:ext uri="{FF2B5EF4-FFF2-40B4-BE49-F238E27FC236}">
                <a16:creationId xmlns:a16="http://schemas.microsoft.com/office/drawing/2014/main" id="{48D63430-631D-02D3-88A5-90B303AA7D10}"/>
              </a:ext>
            </a:extLst>
          </p:cNvPr>
          <p:cNvCxnSpPr/>
          <p:nvPr/>
        </p:nvCxnSpPr>
        <p:spPr>
          <a:xfrm>
            <a:off x="8128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5" name="grid-v-704">
            <a:extLst>
              <a:ext uri="{FF2B5EF4-FFF2-40B4-BE49-F238E27FC236}">
                <a16:creationId xmlns:a16="http://schemas.microsoft.com/office/drawing/2014/main" id="{B13FC1B2-C68D-1801-35E3-68CF047584BF}"/>
              </a:ext>
            </a:extLst>
          </p:cNvPr>
          <p:cNvCxnSpPr/>
          <p:nvPr/>
        </p:nvCxnSpPr>
        <p:spPr>
          <a:xfrm>
            <a:off x="8940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6" name="grid-v-768">
            <a:extLst>
              <a:ext uri="{FF2B5EF4-FFF2-40B4-BE49-F238E27FC236}">
                <a16:creationId xmlns:a16="http://schemas.microsoft.com/office/drawing/2014/main" id="{2C944248-5264-CA2E-E643-F3C0B70303E6}"/>
              </a:ext>
            </a:extLst>
          </p:cNvPr>
          <p:cNvCxnSpPr/>
          <p:nvPr/>
        </p:nvCxnSpPr>
        <p:spPr>
          <a:xfrm>
            <a:off x="9753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7" name="grid-v-832">
            <a:extLst>
              <a:ext uri="{FF2B5EF4-FFF2-40B4-BE49-F238E27FC236}">
                <a16:creationId xmlns:a16="http://schemas.microsoft.com/office/drawing/2014/main" id="{248BFCBC-9BC6-62D3-4A82-7C72B5525680}"/>
              </a:ext>
            </a:extLst>
          </p:cNvPr>
          <p:cNvCxnSpPr/>
          <p:nvPr/>
        </p:nvCxnSpPr>
        <p:spPr>
          <a:xfrm>
            <a:off x="10566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8" name="grid-v-896">
            <a:extLst>
              <a:ext uri="{FF2B5EF4-FFF2-40B4-BE49-F238E27FC236}">
                <a16:creationId xmlns:a16="http://schemas.microsoft.com/office/drawing/2014/main" id="{90DB4A7E-ED78-3677-854D-CF464783160D}"/>
              </a:ext>
            </a:extLst>
          </p:cNvPr>
          <p:cNvCxnSpPr/>
          <p:nvPr/>
        </p:nvCxnSpPr>
        <p:spPr>
          <a:xfrm>
            <a:off x="11379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9" name="grid-v-960">
            <a:extLst>
              <a:ext uri="{FF2B5EF4-FFF2-40B4-BE49-F238E27FC236}">
                <a16:creationId xmlns:a16="http://schemas.microsoft.com/office/drawing/2014/main" id="{8921EEF9-5564-BE60-9762-3068ACBF687B}"/>
              </a:ext>
            </a:extLst>
          </p:cNvPr>
          <p:cNvCxnSpPr/>
          <p:nvPr/>
        </p:nvCxnSpPr>
        <p:spPr>
          <a:xfrm>
            <a:off x="12192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0" name="grid-h-0">
            <a:extLst>
              <a:ext uri="{FF2B5EF4-FFF2-40B4-BE49-F238E27FC236}">
                <a16:creationId xmlns:a16="http://schemas.microsoft.com/office/drawing/2014/main" id="{F5B2B7AC-6BC0-6AAC-8690-687EB855994E}"/>
              </a:ext>
            </a:extLst>
          </p:cNvPr>
          <p:cNvCxnSpPr/>
          <p:nvPr/>
        </p:nvCxnSpPr>
        <p:spPr>
          <a:xfrm>
            <a:off x="0" y="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1" name="grid-h-64">
            <a:extLst>
              <a:ext uri="{FF2B5EF4-FFF2-40B4-BE49-F238E27FC236}">
                <a16:creationId xmlns:a16="http://schemas.microsoft.com/office/drawing/2014/main" id="{92B0DB87-528D-5FB7-90E8-CDD320654CCE}"/>
              </a:ext>
            </a:extLst>
          </p:cNvPr>
          <p:cNvCxnSpPr/>
          <p:nvPr/>
        </p:nvCxnSpPr>
        <p:spPr>
          <a:xfrm>
            <a:off x="0" y="812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2" name="grid-h-128">
            <a:extLst>
              <a:ext uri="{FF2B5EF4-FFF2-40B4-BE49-F238E27FC236}">
                <a16:creationId xmlns:a16="http://schemas.microsoft.com/office/drawing/2014/main" id="{901BAB4F-C535-F460-3CBD-713FA0D2CC65}"/>
              </a:ext>
            </a:extLst>
          </p:cNvPr>
          <p:cNvCxnSpPr/>
          <p:nvPr/>
        </p:nvCxnSpPr>
        <p:spPr>
          <a:xfrm>
            <a:off x="0" y="1625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3" name="grid-h-192">
            <a:extLst>
              <a:ext uri="{FF2B5EF4-FFF2-40B4-BE49-F238E27FC236}">
                <a16:creationId xmlns:a16="http://schemas.microsoft.com/office/drawing/2014/main" id="{BA80C73A-23C7-EB21-A9F2-DED8F3F38F7F}"/>
              </a:ext>
            </a:extLst>
          </p:cNvPr>
          <p:cNvCxnSpPr/>
          <p:nvPr/>
        </p:nvCxnSpPr>
        <p:spPr>
          <a:xfrm>
            <a:off x="0" y="2438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4" name="grid-h-256">
            <a:extLst>
              <a:ext uri="{FF2B5EF4-FFF2-40B4-BE49-F238E27FC236}">
                <a16:creationId xmlns:a16="http://schemas.microsoft.com/office/drawing/2014/main" id="{280E3188-1598-1DB9-EE79-2C9B9854191A}"/>
              </a:ext>
            </a:extLst>
          </p:cNvPr>
          <p:cNvCxnSpPr/>
          <p:nvPr/>
        </p:nvCxnSpPr>
        <p:spPr>
          <a:xfrm>
            <a:off x="0" y="32512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5" name="grid-h-320">
            <a:extLst>
              <a:ext uri="{FF2B5EF4-FFF2-40B4-BE49-F238E27FC236}">
                <a16:creationId xmlns:a16="http://schemas.microsoft.com/office/drawing/2014/main" id="{32028642-0783-FD62-14CC-5D1AC96407F7}"/>
              </a:ext>
            </a:extLst>
          </p:cNvPr>
          <p:cNvCxnSpPr/>
          <p:nvPr/>
        </p:nvCxnSpPr>
        <p:spPr>
          <a:xfrm>
            <a:off x="0" y="40640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6" name="grid-h-384">
            <a:extLst>
              <a:ext uri="{FF2B5EF4-FFF2-40B4-BE49-F238E27FC236}">
                <a16:creationId xmlns:a16="http://schemas.microsoft.com/office/drawing/2014/main" id="{766E75BF-E196-7E6E-987B-64EE60E4B8CE}"/>
              </a:ext>
            </a:extLst>
          </p:cNvPr>
          <p:cNvCxnSpPr/>
          <p:nvPr/>
        </p:nvCxnSpPr>
        <p:spPr>
          <a:xfrm>
            <a:off x="0" y="4876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7" name="grid-h-448">
            <a:extLst>
              <a:ext uri="{FF2B5EF4-FFF2-40B4-BE49-F238E27FC236}">
                <a16:creationId xmlns:a16="http://schemas.microsoft.com/office/drawing/2014/main" id="{1035A653-0750-E3C7-D5D0-73FB5A26165B}"/>
              </a:ext>
            </a:extLst>
          </p:cNvPr>
          <p:cNvCxnSpPr/>
          <p:nvPr/>
        </p:nvCxnSpPr>
        <p:spPr>
          <a:xfrm>
            <a:off x="0" y="5689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8" name="grid-h-512">
            <a:extLst>
              <a:ext uri="{FF2B5EF4-FFF2-40B4-BE49-F238E27FC236}">
                <a16:creationId xmlns:a16="http://schemas.microsoft.com/office/drawing/2014/main" id="{698B745F-F99A-5152-8F54-1003C9090779}"/>
              </a:ext>
            </a:extLst>
          </p:cNvPr>
          <p:cNvCxnSpPr/>
          <p:nvPr/>
        </p:nvCxnSpPr>
        <p:spPr>
          <a:xfrm>
            <a:off x="0" y="6502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sp>
        <p:nvSpPr>
          <p:cNvPr id="29" name="page-num">
            <a:extLst>
              <a:ext uri="{FF2B5EF4-FFF2-40B4-BE49-F238E27FC236}">
                <a16:creationId xmlns:a16="http://schemas.microsoft.com/office/drawing/2014/main" id="{EA2FDF8E-E1D0-7107-A7B6-1BAD5A24389B}"/>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B4CDEB"/>
                </a:solidFill>
                <a:latin typeface="Aptos" panose="020B0004020202020204" pitchFamily="34" charset="0"/>
              </a:rPr>
              <a:t>04</a:t>
            </a:r>
            <a:endParaRPr lang="zh-CN" altLang="en-US" sz="650">
              <a:solidFill>
                <a:srgbClr val="B4CDEB"/>
              </a:solidFill>
              <a:latin typeface="Aptos" panose="020B0004020202020204" pitchFamily="34" charset="0"/>
            </a:endParaRPr>
          </a:p>
        </p:txBody>
      </p:sp>
      <p:sp>
        <p:nvSpPr>
          <p:cNvPr id="30" name="section-label">
            <a:extLst>
              <a:ext uri="{FF2B5EF4-FFF2-40B4-BE49-F238E27FC236}">
                <a16:creationId xmlns:a16="http://schemas.microsoft.com/office/drawing/2014/main" id="{256B0C95-0E12-F6AD-B406-AEBC381A3831}"/>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BEDCFF"/>
                </a:solidFill>
                <a:latin typeface="Aptos" panose="020B0004020202020204" pitchFamily="34" charset="0"/>
              </a:rPr>
              <a:t>RESEARCH GAP</a:t>
            </a:r>
            <a:endParaRPr lang="zh-CN" altLang="en-US" sz="700" b="1">
              <a:solidFill>
                <a:srgbClr val="BEDCFF"/>
              </a:solidFill>
              <a:latin typeface="Aptos" panose="020B0004020202020204" pitchFamily="34" charset="0"/>
            </a:endParaRPr>
          </a:p>
        </p:txBody>
      </p:sp>
      <p:sp>
        <p:nvSpPr>
          <p:cNvPr id="31" name="title">
            <a:extLst>
              <a:ext uri="{FF2B5EF4-FFF2-40B4-BE49-F238E27FC236}">
                <a16:creationId xmlns:a16="http://schemas.microsoft.com/office/drawing/2014/main" id="{93FF80D7-E663-F29D-842D-CD2B60EEB2B3}"/>
              </a:ext>
            </a:extLst>
          </p:cNvPr>
          <p:cNvSpPr txBox="1"/>
          <p:nvPr/>
        </p:nvSpPr>
        <p:spPr>
          <a:xfrm>
            <a:off x="685800" y="711200"/>
            <a:ext cx="9652000" cy="276999"/>
          </a:xfrm>
          <a:prstGeom prst="rect">
            <a:avLst/>
          </a:prstGeom>
          <a:noFill/>
        </p:spPr>
        <p:txBody>
          <a:bodyPr vert="horz" wrap="square" lIns="0" tIns="0" rIns="0" bIns="0" rtlCol="0">
            <a:noAutofit/>
          </a:bodyPr>
          <a:lstStyle/>
          <a:p>
            <a:r>
              <a:rPr lang="en-US" altLang="zh-CN" sz="2700" b="1">
                <a:solidFill>
                  <a:srgbClr val="FFFFFF"/>
                </a:solidFill>
                <a:latin typeface="Aptos" panose="020B0004020202020204" pitchFamily="34" charset="0"/>
              </a:rPr>
              <a:t>A score is not a claim until evidence is admitted</a:t>
            </a:r>
            <a:endParaRPr lang="zh-CN" altLang="en-US" sz="2700" b="1">
              <a:solidFill>
                <a:srgbClr val="FFFFFF"/>
              </a:solidFill>
              <a:latin typeface="Aptos" panose="020B0004020202020204" pitchFamily="34" charset="0"/>
            </a:endParaRPr>
          </a:p>
        </p:txBody>
      </p:sp>
      <p:cxnSp>
        <p:nvCxnSpPr>
          <p:cNvPr id="32" name="gap-rule">
            <a:extLst>
              <a:ext uri="{FF2B5EF4-FFF2-40B4-BE49-F238E27FC236}">
                <a16:creationId xmlns:a16="http://schemas.microsoft.com/office/drawing/2014/main" id="{734B51D7-7F41-C365-EBD4-52920A4DFFAE}"/>
              </a:ext>
            </a:extLst>
          </p:cNvPr>
          <p:cNvCxnSpPr/>
          <p:nvPr/>
        </p:nvCxnSpPr>
        <p:spPr>
          <a:xfrm>
            <a:off x="736600" y="1447800"/>
            <a:ext cx="9931400" cy="0"/>
          </a:xfrm>
          <a:prstGeom prst="line">
            <a:avLst/>
          </a:prstGeom>
          <a:ln w="15240">
            <a:solidFill>
              <a:srgbClr val="96BEEB"/>
            </a:solidFill>
          </a:ln>
        </p:spPr>
        <p:style>
          <a:lnRef idx="1">
            <a:schemeClr val="accent1"/>
          </a:lnRef>
          <a:fillRef idx="0">
            <a:schemeClr val="accent1"/>
          </a:fillRef>
          <a:effectRef idx="0">
            <a:schemeClr val="accent1"/>
          </a:effectRef>
          <a:fontRef idx="minor">
            <a:schemeClr val="tx1"/>
          </a:fontRef>
        </p:style>
      </p:cxnSp>
      <p:sp>
        <p:nvSpPr>
          <p:cNvPr id="33" name="left-card">
            <a:extLst>
              <a:ext uri="{FF2B5EF4-FFF2-40B4-BE49-F238E27FC236}">
                <a16:creationId xmlns:a16="http://schemas.microsoft.com/office/drawing/2014/main" id="{A6A5DDCE-CC44-617E-14C9-03B78CBA2F66}"/>
              </a:ext>
            </a:extLst>
          </p:cNvPr>
          <p:cNvSpPr/>
          <p:nvPr/>
        </p:nvSpPr>
        <p:spPr>
          <a:xfrm>
            <a:off x="1092200" y="2235200"/>
            <a:ext cx="3429000" cy="1625600"/>
          </a:xfrm>
          <a:prstGeom prst="rect">
            <a:avLst/>
          </a:prstGeom>
          <a:solidFill>
            <a:srgbClr val="FFE6E8"/>
          </a:solidFill>
          <a:ln w="12700">
            <a:solidFill>
              <a:srgbClr val="FFAAB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left-k">
            <a:extLst>
              <a:ext uri="{FF2B5EF4-FFF2-40B4-BE49-F238E27FC236}">
                <a16:creationId xmlns:a16="http://schemas.microsoft.com/office/drawing/2014/main" id="{F0D9671E-9B24-104B-E03E-349DC3B1A9E1}"/>
              </a:ext>
            </a:extLst>
          </p:cNvPr>
          <p:cNvSpPr txBox="1"/>
          <p:nvPr/>
        </p:nvSpPr>
        <p:spPr>
          <a:xfrm>
            <a:off x="1422400" y="2514600"/>
            <a:ext cx="1397000" cy="276999"/>
          </a:xfrm>
          <a:prstGeom prst="rect">
            <a:avLst/>
          </a:prstGeom>
          <a:noFill/>
        </p:spPr>
        <p:txBody>
          <a:bodyPr vert="horz" wrap="square" lIns="0" tIns="0" rIns="0" bIns="0" rtlCol="0">
            <a:noAutofit/>
          </a:bodyPr>
          <a:lstStyle/>
          <a:p>
            <a:r>
              <a:rPr lang="en-US" altLang="zh-CN" sz="800" b="1">
                <a:solidFill>
                  <a:srgbClr val="C52B38"/>
                </a:solidFill>
                <a:latin typeface="Aptos" panose="020B0004020202020204" pitchFamily="34" charset="0"/>
              </a:rPr>
              <a:t>Unsafe shortcut</a:t>
            </a:r>
            <a:endParaRPr lang="zh-CN" altLang="en-US" sz="800" b="1">
              <a:solidFill>
                <a:srgbClr val="C52B38"/>
              </a:solidFill>
              <a:latin typeface="Aptos" panose="020B0004020202020204" pitchFamily="34" charset="0"/>
            </a:endParaRPr>
          </a:p>
        </p:txBody>
      </p:sp>
      <p:sp>
        <p:nvSpPr>
          <p:cNvPr id="35" name="left-main">
            <a:extLst>
              <a:ext uri="{FF2B5EF4-FFF2-40B4-BE49-F238E27FC236}">
                <a16:creationId xmlns:a16="http://schemas.microsoft.com/office/drawing/2014/main" id="{128C5D57-7660-16A1-72EC-7B23D999FA8E}"/>
              </a:ext>
            </a:extLst>
          </p:cNvPr>
          <p:cNvSpPr txBox="1"/>
          <p:nvPr/>
        </p:nvSpPr>
        <p:spPr>
          <a:xfrm>
            <a:off x="1422400" y="2959100"/>
            <a:ext cx="2286000" cy="276999"/>
          </a:xfrm>
          <a:prstGeom prst="rect">
            <a:avLst/>
          </a:prstGeom>
          <a:noFill/>
        </p:spPr>
        <p:txBody>
          <a:bodyPr vert="horz" wrap="square" lIns="0" tIns="0" rIns="0" bIns="0" rtlCol="0">
            <a:noAutofit/>
          </a:bodyPr>
          <a:lstStyle/>
          <a:p>
            <a:r>
              <a:rPr lang="en-US" altLang="zh-CN" sz="2400" b="1">
                <a:solidFill>
                  <a:srgbClr val="8A202B"/>
                </a:solidFill>
                <a:latin typeface="Aptos" panose="020B0004020202020204" pitchFamily="34" charset="0"/>
              </a:rPr>
              <a:t>score is high</a:t>
            </a:r>
            <a:endParaRPr lang="zh-CN" altLang="en-US" sz="2400" b="1">
              <a:solidFill>
                <a:srgbClr val="8A202B"/>
              </a:solidFill>
              <a:latin typeface="Aptos" panose="020B0004020202020204" pitchFamily="34" charset="0"/>
            </a:endParaRPr>
          </a:p>
        </p:txBody>
      </p:sp>
      <p:cxnSp>
        <p:nvCxnSpPr>
          <p:cNvPr id="36" name="gap-arrow">
            <a:extLst>
              <a:ext uri="{FF2B5EF4-FFF2-40B4-BE49-F238E27FC236}">
                <a16:creationId xmlns:a16="http://schemas.microsoft.com/office/drawing/2014/main" id="{D81C9AC0-8095-0A1F-9588-77E3D91F49A4}"/>
              </a:ext>
            </a:extLst>
          </p:cNvPr>
          <p:cNvCxnSpPr/>
          <p:nvPr/>
        </p:nvCxnSpPr>
        <p:spPr>
          <a:xfrm>
            <a:off x="5003800" y="3048000"/>
            <a:ext cx="1295400" cy="0"/>
          </a:xfrm>
          <a:prstGeom prst="line">
            <a:avLst/>
          </a:prstGeom>
          <a:ln w="38100">
            <a:solidFill>
              <a:srgbClr val="BEDCFF"/>
            </a:solidFill>
          </a:ln>
        </p:spPr>
        <p:style>
          <a:lnRef idx="1">
            <a:schemeClr val="accent1"/>
          </a:lnRef>
          <a:fillRef idx="0">
            <a:schemeClr val="accent1"/>
          </a:fillRef>
          <a:effectRef idx="0">
            <a:schemeClr val="accent1"/>
          </a:effectRef>
          <a:fontRef idx="minor">
            <a:schemeClr val="tx1"/>
          </a:fontRef>
        </p:style>
      </p:cxnSp>
      <p:sp>
        <p:nvSpPr>
          <p:cNvPr id="37" name="right-card">
            <a:extLst>
              <a:ext uri="{FF2B5EF4-FFF2-40B4-BE49-F238E27FC236}">
                <a16:creationId xmlns:a16="http://schemas.microsoft.com/office/drawing/2014/main" id="{719C2A7A-05B0-DD9B-0079-AA2035460196}"/>
              </a:ext>
            </a:extLst>
          </p:cNvPr>
          <p:cNvSpPr/>
          <p:nvPr/>
        </p:nvSpPr>
        <p:spPr>
          <a:xfrm>
            <a:off x="6781800" y="2108200"/>
            <a:ext cx="4165600" cy="1905000"/>
          </a:xfrm>
          <a:prstGeom prst="rect">
            <a:avLst/>
          </a:prstGeom>
          <a:solidFill>
            <a:srgbClr val="FFFFFF"/>
          </a:solidFill>
          <a:ln w="1270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right-k">
            <a:extLst>
              <a:ext uri="{FF2B5EF4-FFF2-40B4-BE49-F238E27FC236}">
                <a16:creationId xmlns:a16="http://schemas.microsoft.com/office/drawing/2014/main" id="{A49E4CDB-BA03-EB64-2BBC-37BE4BB8681B}"/>
              </a:ext>
            </a:extLst>
          </p:cNvPr>
          <p:cNvSpPr txBox="1"/>
          <p:nvPr/>
        </p:nvSpPr>
        <p:spPr>
          <a:xfrm>
            <a:off x="7137400" y="2413000"/>
            <a:ext cx="1676400" cy="276999"/>
          </a:xfrm>
          <a:prstGeom prst="rect">
            <a:avLst/>
          </a:prstGeom>
          <a:noFill/>
        </p:spPr>
        <p:txBody>
          <a:bodyPr vert="horz" wrap="square" lIns="0" tIns="0" rIns="0" bIns="0" rtlCol="0">
            <a:noAutofit/>
          </a:bodyPr>
          <a:lstStyle/>
          <a:p>
            <a:r>
              <a:rPr lang="en-US" altLang="zh-CN" sz="800" b="1">
                <a:solidFill>
                  <a:srgbClr val="536580"/>
                </a:solidFill>
                <a:latin typeface="Aptos" panose="020B0004020202020204" pitchFamily="34" charset="0"/>
              </a:rPr>
              <a:t>Evidence contract</a:t>
            </a:r>
            <a:endParaRPr lang="zh-CN" altLang="en-US" sz="800" b="1">
              <a:solidFill>
                <a:srgbClr val="536580"/>
              </a:solidFill>
              <a:latin typeface="Aptos" panose="020B0004020202020204" pitchFamily="34" charset="0"/>
            </a:endParaRPr>
          </a:p>
        </p:txBody>
      </p:sp>
      <p:sp>
        <p:nvSpPr>
          <p:cNvPr id="39" name="right-main">
            <a:extLst>
              <a:ext uri="{FF2B5EF4-FFF2-40B4-BE49-F238E27FC236}">
                <a16:creationId xmlns:a16="http://schemas.microsoft.com/office/drawing/2014/main" id="{BA4412F5-E564-D242-C3B1-D63698BD23D0}"/>
              </a:ext>
            </a:extLst>
          </p:cNvPr>
          <p:cNvSpPr txBox="1"/>
          <p:nvPr/>
        </p:nvSpPr>
        <p:spPr>
          <a:xfrm>
            <a:off x="7137400" y="2844800"/>
            <a:ext cx="3175000" cy="276999"/>
          </a:xfrm>
          <a:prstGeom prst="rect">
            <a:avLst/>
          </a:prstGeom>
          <a:noFill/>
        </p:spPr>
        <p:txBody>
          <a:bodyPr vert="horz" wrap="square" lIns="0" tIns="0" rIns="0" bIns="0" rtlCol="0">
            <a:noAutofit/>
          </a:bodyPr>
          <a:lstStyle/>
          <a:p>
            <a:r>
              <a:rPr lang="en-US" altLang="zh-CN" b="1">
                <a:solidFill>
                  <a:srgbClr val="0D182C"/>
                </a:solidFill>
                <a:latin typeface="Aptos" panose="020B0004020202020204" pitchFamily="34" charset="0"/>
              </a:rPr>
              <a:t>claim = f(score, denominator, controls, artifact, boundary)</a:t>
            </a:r>
            <a:endParaRPr lang="zh-CN" altLang="en-US" b="1">
              <a:solidFill>
                <a:srgbClr val="0D182C"/>
              </a:solidFill>
              <a:latin typeface="Aptos" panose="020B0004020202020204" pitchFamily="34" charset="0"/>
            </a:endParaRPr>
          </a:p>
        </p:txBody>
      </p:sp>
      <p:sp>
        <p:nvSpPr>
          <p:cNvPr id="40" name="claim-bar">
            <a:extLst>
              <a:ext uri="{FF2B5EF4-FFF2-40B4-BE49-F238E27FC236}">
                <a16:creationId xmlns:a16="http://schemas.microsoft.com/office/drawing/2014/main" id="{F0207045-7AD1-AD1B-7B39-1921CCC7C6C1}"/>
              </a:ext>
            </a:extLst>
          </p:cNvPr>
          <p:cNvSpPr/>
          <p:nvPr/>
        </p:nvSpPr>
        <p:spPr>
          <a:xfrm>
            <a:off x="1524000" y="4851400"/>
            <a:ext cx="9144000" cy="558800"/>
          </a:xfrm>
          <a:prstGeom prst="rect">
            <a:avLst/>
          </a:prstGeom>
          <a:solidFill>
            <a:srgbClr val="0B5CA0"/>
          </a:solidFill>
          <a:ln w="12700">
            <a:solidFill>
              <a:srgbClr val="76AEE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claim-text">
            <a:extLst>
              <a:ext uri="{FF2B5EF4-FFF2-40B4-BE49-F238E27FC236}">
                <a16:creationId xmlns:a16="http://schemas.microsoft.com/office/drawing/2014/main" id="{832F6002-A22F-39A6-8084-B34FDE37A4E6}"/>
              </a:ext>
            </a:extLst>
          </p:cNvPr>
          <p:cNvSpPr txBox="1"/>
          <p:nvPr/>
        </p:nvSpPr>
        <p:spPr>
          <a:xfrm>
            <a:off x="1905000" y="5041900"/>
            <a:ext cx="8382000" cy="276999"/>
          </a:xfrm>
          <a:prstGeom prst="rect">
            <a:avLst/>
          </a:prstGeom>
          <a:noFill/>
        </p:spPr>
        <p:txBody>
          <a:bodyPr vert="horz" wrap="square" lIns="0" tIns="0" rIns="0" bIns="0" rtlCol="0">
            <a:noAutofit/>
          </a:bodyPr>
          <a:lstStyle/>
          <a:p>
            <a:r>
              <a:rPr lang="en-US" altLang="zh-CN" sz="1080" b="1">
                <a:solidFill>
                  <a:srgbClr val="FFFFFF"/>
                </a:solidFill>
                <a:latin typeface="Aptos" panose="020B0004020202020204" pitchFamily="34" charset="0"/>
              </a:rPr>
              <a:t>Contribution: turn watermark evaluation into auditable evidence admission.</a:t>
            </a:r>
            <a:endParaRPr lang="zh-CN" altLang="en-US" sz="1080" b="1">
              <a:solidFill>
                <a:srgbClr val="FFFFFF"/>
              </a:solidFill>
              <a:latin typeface="Aptos" panose="020B0004020202020204" pitchFamily="34" charset="0"/>
            </a:endParaRPr>
          </a:p>
        </p:txBody>
      </p:sp>
      <p:pic>
        <p:nvPicPr>
          <p:cNvPr id="43" name="图片 42">
            <a:extLst>
              <a:ext uri="{FF2B5EF4-FFF2-40B4-BE49-F238E27FC236}">
                <a16:creationId xmlns:a16="http://schemas.microsoft.com/office/drawing/2014/main" id="{0334D4F4-DA40-8D35-F7C3-C18C6EAF24E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Tree>
    <p:extLst>
      <p:ext uri="{BB962C8B-B14F-4D97-AF65-F5344CB8AC3E}">
        <p14:creationId xmlns:p14="http://schemas.microsoft.com/office/powerpoint/2010/main" val="1807008116"/>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D36250EE-6E44-28A9-2057-3978A12DC3A8}"/>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D740C603-3D82-2C74-8C57-7AC5CAFBAD5C}"/>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5933B481-1306-035B-311C-72CC0CCE30B0}"/>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A606D33C-8865-A689-C9F5-088A4E85E3E4}"/>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D8AEC1BD-745B-61BE-FDFB-67D5DC479D27}"/>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30A4E4AD-FB9E-1930-447D-AC46967B22E9}"/>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05</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5C050858-6116-43F0-F7A1-E42CBFD5ABFC}"/>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FRAMEWORK</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8EADEA61-131E-DA1C-1039-D784DECC3C8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18A4A683-696B-492E-1681-BB767B2BD376}"/>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WatermarkScope: five questions, one contract</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2E5A08B5-E73A-5F35-C709-2A20A8F143E3}"/>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The framework separates benchmark, provenance, black-box audit, owner attribution, and security triage.</a:t>
            </a:r>
            <a:endParaRPr lang="zh-CN" altLang="en-US" sz="950">
              <a:solidFill>
                <a:srgbClr val="536580"/>
              </a:solidFill>
              <a:latin typeface="Aptos" panose="020B0004020202020204" pitchFamily="34" charset="0"/>
            </a:endParaRPr>
          </a:p>
        </p:txBody>
      </p:sp>
      <p:sp>
        <p:nvSpPr>
          <p:cNvPr id="13" name="fig-frame">
            <a:extLst>
              <a:ext uri="{FF2B5EF4-FFF2-40B4-BE49-F238E27FC236}">
                <a16:creationId xmlns:a16="http://schemas.microsoft.com/office/drawing/2014/main" id="{3C6339FE-A8BA-FC3D-B43C-B009F14348DD}"/>
              </a:ext>
            </a:extLst>
          </p:cNvPr>
          <p:cNvSpPr/>
          <p:nvPr/>
        </p:nvSpPr>
        <p:spPr>
          <a:xfrm>
            <a:off x="685800" y="1676400"/>
            <a:ext cx="10820400" cy="3124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framework-figure">
            <a:extLst>
              <a:ext uri="{FF2B5EF4-FFF2-40B4-BE49-F238E27FC236}">
                <a16:creationId xmlns:a16="http://schemas.microsoft.com/office/drawing/2014/main" id="{3247787D-A45E-309E-2078-EAFD8386626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944305" y="1930400"/>
            <a:ext cx="6303390" cy="2590800"/>
          </a:xfrm>
          <a:prstGeom prst="rect">
            <a:avLst/>
          </a:prstGeom>
        </p:spPr>
      </p:pic>
      <p:sp>
        <p:nvSpPr>
          <p:cNvPr id="16" name="takeaway">
            <a:extLst>
              <a:ext uri="{FF2B5EF4-FFF2-40B4-BE49-F238E27FC236}">
                <a16:creationId xmlns:a16="http://schemas.microsoft.com/office/drawing/2014/main" id="{7D9C5F51-839D-9E22-AFC5-BA91CDB79C56}"/>
              </a:ext>
            </a:extLst>
          </p:cNvPr>
          <p:cNvSpPr/>
          <p:nvPr/>
        </p:nvSpPr>
        <p:spPr>
          <a:xfrm>
            <a:off x="1193800" y="5257800"/>
            <a:ext cx="9804400" cy="4572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takeaway-text">
            <a:extLst>
              <a:ext uri="{FF2B5EF4-FFF2-40B4-BE49-F238E27FC236}">
                <a16:creationId xmlns:a16="http://schemas.microsoft.com/office/drawing/2014/main" id="{CF355169-F70D-D03F-49CC-33D624B746CA}"/>
              </a:ext>
            </a:extLst>
          </p:cNvPr>
          <p:cNvSpPr txBox="1"/>
          <p:nvPr/>
        </p:nvSpPr>
        <p:spPr>
          <a:xfrm>
            <a:off x="1574800" y="5410200"/>
            <a:ext cx="9017000" cy="276999"/>
          </a:xfrm>
          <a:prstGeom prst="rect">
            <a:avLst/>
          </a:prstGeom>
          <a:noFill/>
        </p:spPr>
        <p:txBody>
          <a:bodyPr vert="horz" wrap="square" lIns="0" tIns="0" rIns="0" bIns="0" rtlCol="0">
            <a:noAutofit/>
          </a:bodyPr>
          <a:lstStyle/>
          <a:p>
            <a:r>
              <a:rPr lang="en-US" altLang="zh-CN" sz="880" b="1">
                <a:solidFill>
                  <a:srgbClr val="FFFFFF"/>
                </a:solidFill>
                <a:latin typeface="Aptos" panose="020B0004020202020204" pitchFamily="34" charset="0"/>
              </a:rPr>
              <a:t>A broader claim needs a new admitted evidence object; it cannot borrow another stage's denominator.</a:t>
            </a:r>
            <a:endParaRPr lang="zh-CN" altLang="en-US" sz="880" b="1">
              <a:solidFill>
                <a:srgbClr val="FFFFFF"/>
              </a:solidFill>
              <a:latin typeface="Aptos" panose="020B0004020202020204" pitchFamily="34" charset="0"/>
            </a:endParaRPr>
          </a:p>
        </p:txBody>
      </p:sp>
      <p:sp>
        <p:nvSpPr>
          <p:cNvPr id="18" name="claim-link">
            <a:hlinkClick r:id="rId5"/>
            <a:extLst>
              <a:ext uri="{FF2B5EF4-FFF2-40B4-BE49-F238E27FC236}">
                <a16:creationId xmlns:a16="http://schemas.microsoft.com/office/drawing/2014/main" id="{ADB7A564-6371-41F7-D252-89F934FF5016}"/>
              </a:ext>
            </a:extLst>
          </p:cNvPr>
          <p:cNvSpPr/>
          <p:nvPr/>
        </p:nvSpPr>
        <p:spPr>
          <a:xfrm>
            <a:off x="9271000" y="1219200"/>
            <a:ext cx="10922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Boundaries</a:t>
            </a:r>
            <a:endParaRPr lang="zh-CN" altLang="en-US" sz="850" b="1">
              <a:solidFill>
                <a:srgbClr val="FFFFFF"/>
              </a:solidFill>
              <a:latin typeface="Aptos" panose="020B0004020202020204" pitchFamily="34" charset="0"/>
            </a:endParaRPr>
          </a:p>
        </p:txBody>
      </p:sp>
      <p:sp>
        <p:nvSpPr>
          <p:cNvPr id="19" name="trace-link">
            <a:hlinkClick r:id="rId6"/>
            <a:extLst>
              <a:ext uri="{FF2B5EF4-FFF2-40B4-BE49-F238E27FC236}">
                <a16:creationId xmlns:a16="http://schemas.microsoft.com/office/drawing/2014/main" id="{D5136D54-9298-7CE2-2E0F-9D3F6B0BD0B5}"/>
              </a:ext>
            </a:extLst>
          </p:cNvPr>
          <p:cNvSpPr/>
          <p:nvPr/>
        </p:nvSpPr>
        <p:spPr>
          <a:xfrm>
            <a:off x="10464800" y="1219200"/>
            <a:ext cx="9906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Trace</a:t>
            </a:r>
            <a:endParaRPr lang="zh-CN" altLang="en-US" sz="850" b="1">
              <a:solidFill>
                <a:srgbClr val="FFFFFF"/>
              </a:solidFill>
              <a:latin typeface="Aptos" panose="020B0004020202020204" pitchFamily="34" charset="0"/>
            </a:endParaRPr>
          </a:p>
        </p:txBody>
      </p:sp>
    </p:spTree>
    <p:extLst>
      <p:ext uri="{BB962C8B-B14F-4D97-AF65-F5344CB8AC3E}">
        <p14:creationId xmlns:p14="http://schemas.microsoft.com/office/powerpoint/2010/main" val="1886506256"/>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44E147FD-A6EB-C85F-84EB-08869886F272}"/>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5A523454-579D-12C7-7454-CB359947DB0F}"/>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ED0D0A99-D630-E49A-C21F-C8B568DD72A1}"/>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69743E4A-4D71-C7A4-9D55-C7D944F73919}"/>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92BD5084-7CA4-88C2-F45B-4C96AFE4C2A0}"/>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9E89BF76-AF91-49E7-9517-397764D619A0}"/>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06</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A864A8F5-DE70-BF89-88D6-671E93D3B8B2}"/>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METHOD</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18722B0C-5C37-C9AF-37C1-411B45F8AF8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01AF2DC6-2208-5BCB-63E1-4BF9AC5575D2}"/>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Evidence is frozen first; interpretation comes second</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DAADE8D0-9F11-08C5-70B5-7F9DF80D791D}"/>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The admission rule is intentionally conservative.</a:t>
            </a:r>
            <a:endParaRPr lang="zh-CN" altLang="en-US" sz="950">
              <a:solidFill>
                <a:srgbClr val="536580"/>
              </a:solidFill>
              <a:latin typeface="Aptos" panose="020B0004020202020204" pitchFamily="34" charset="0"/>
            </a:endParaRPr>
          </a:p>
        </p:txBody>
      </p:sp>
      <p:sp>
        <p:nvSpPr>
          <p:cNvPr id="13" name="formula">
            <a:extLst>
              <a:ext uri="{FF2B5EF4-FFF2-40B4-BE49-F238E27FC236}">
                <a16:creationId xmlns:a16="http://schemas.microsoft.com/office/drawing/2014/main" id="{989E1B56-F5FA-0FE3-E83B-9C61F5F5D06C}"/>
              </a:ext>
            </a:extLst>
          </p:cNvPr>
          <p:cNvSpPr/>
          <p:nvPr/>
        </p:nvSpPr>
        <p:spPr>
          <a:xfrm>
            <a:off x="812800" y="1841500"/>
            <a:ext cx="3556000" cy="1778000"/>
          </a:xfrm>
          <a:prstGeom prst="rect">
            <a:avLst/>
          </a:prstGeom>
          <a:solidFill>
            <a:srgbClr val="03204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ormula-main">
            <a:extLst>
              <a:ext uri="{FF2B5EF4-FFF2-40B4-BE49-F238E27FC236}">
                <a16:creationId xmlns:a16="http://schemas.microsoft.com/office/drawing/2014/main" id="{AE46A465-57F1-4ADE-5C0B-295C44D1FA93}"/>
              </a:ext>
            </a:extLst>
          </p:cNvPr>
          <p:cNvSpPr txBox="1"/>
          <p:nvPr/>
        </p:nvSpPr>
        <p:spPr>
          <a:xfrm>
            <a:off x="1168400" y="2260600"/>
            <a:ext cx="2819400" cy="276999"/>
          </a:xfrm>
          <a:prstGeom prst="rect">
            <a:avLst/>
          </a:prstGeom>
          <a:noFill/>
        </p:spPr>
        <p:txBody>
          <a:bodyPr vert="horz" wrap="square" lIns="0" tIns="0" rIns="0" bIns="0" rtlCol="0">
            <a:noAutofit/>
          </a:bodyPr>
          <a:lstStyle/>
          <a:p>
            <a:r>
              <a:rPr lang="pt-BR" altLang="zh-CN" sz="2200" b="1">
                <a:solidFill>
                  <a:srgbClr val="FFFFFF"/>
                </a:solidFill>
                <a:latin typeface="Consolas" panose="020B0609020204030204" pitchFamily="49" charset="0"/>
              </a:rPr>
              <a:t>E = &lt;D, C, A, H, B&gt;</a:t>
            </a:r>
            <a:endParaRPr lang="zh-CN" altLang="en-US" sz="2200" b="1">
              <a:solidFill>
                <a:srgbClr val="FFFFFF"/>
              </a:solidFill>
              <a:latin typeface="Consolas" panose="020B0609020204030204" pitchFamily="49" charset="0"/>
            </a:endParaRPr>
          </a:p>
        </p:txBody>
      </p:sp>
      <p:sp>
        <p:nvSpPr>
          <p:cNvPr id="15" name="formula-sub">
            <a:extLst>
              <a:ext uri="{FF2B5EF4-FFF2-40B4-BE49-F238E27FC236}">
                <a16:creationId xmlns:a16="http://schemas.microsoft.com/office/drawing/2014/main" id="{7A58B4FE-6349-7431-D2E7-34FB1E173556}"/>
              </a:ext>
            </a:extLst>
          </p:cNvPr>
          <p:cNvSpPr txBox="1"/>
          <p:nvPr/>
        </p:nvSpPr>
        <p:spPr>
          <a:xfrm>
            <a:off x="1168400" y="2946400"/>
            <a:ext cx="2692400" cy="276999"/>
          </a:xfrm>
          <a:prstGeom prst="rect">
            <a:avLst/>
          </a:prstGeom>
          <a:noFill/>
        </p:spPr>
        <p:txBody>
          <a:bodyPr vert="horz" wrap="square" lIns="0" tIns="0" rIns="0" bIns="0" rtlCol="0">
            <a:noAutofit/>
          </a:bodyPr>
          <a:lstStyle/>
          <a:p>
            <a:r>
              <a:rPr lang="en-US" altLang="zh-CN" sz="800">
                <a:solidFill>
                  <a:srgbClr val="CEE2F8"/>
                </a:solidFill>
                <a:latin typeface="Aptos" panose="020B0004020202020204" pitchFamily="34" charset="0"/>
              </a:rPr>
              <a:t>denominator, controls, artifact, hash, boundary</a:t>
            </a:r>
            <a:endParaRPr lang="zh-CN" altLang="en-US" sz="800">
              <a:solidFill>
                <a:srgbClr val="CEE2F8"/>
              </a:solidFill>
              <a:latin typeface="Aptos" panose="020B0004020202020204" pitchFamily="34" charset="0"/>
            </a:endParaRPr>
          </a:p>
        </p:txBody>
      </p:sp>
      <p:sp>
        <p:nvSpPr>
          <p:cNvPr id="16" name="fig-frame">
            <a:extLst>
              <a:ext uri="{FF2B5EF4-FFF2-40B4-BE49-F238E27FC236}">
                <a16:creationId xmlns:a16="http://schemas.microsoft.com/office/drawing/2014/main" id="{227B81AE-1069-17B8-5056-1DAE17B5C54C}"/>
              </a:ext>
            </a:extLst>
          </p:cNvPr>
          <p:cNvSpPr/>
          <p:nvPr/>
        </p:nvSpPr>
        <p:spPr>
          <a:xfrm>
            <a:off x="4953000" y="1676400"/>
            <a:ext cx="6045200" cy="24130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8" name="contract-stack">
            <a:extLst>
              <a:ext uri="{FF2B5EF4-FFF2-40B4-BE49-F238E27FC236}">
                <a16:creationId xmlns:a16="http://schemas.microsoft.com/office/drawing/2014/main" id="{8B95FB33-4771-9D43-E49C-F279CD530B7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5703083" y="1930400"/>
            <a:ext cx="4545034" cy="1905000"/>
          </a:xfrm>
          <a:prstGeom prst="rect">
            <a:avLst/>
          </a:prstGeom>
        </p:spPr>
      </p:pic>
      <p:sp>
        <p:nvSpPr>
          <p:cNvPr id="19" name="gate-0">
            <a:extLst>
              <a:ext uri="{FF2B5EF4-FFF2-40B4-BE49-F238E27FC236}">
                <a16:creationId xmlns:a16="http://schemas.microsoft.com/office/drawing/2014/main" id="{F1AB4A48-9D77-859C-D21C-E29FC0C9DB7F}"/>
              </a:ext>
            </a:extLst>
          </p:cNvPr>
          <p:cNvSpPr/>
          <p:nvPr/>
        </p:nvSpPr>
        <p:spPr>
          <a:xfrm>
            <a:off x="914400" y="4749800"/>
            <a:ext cx="2235200" cy="660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gate-band-0">
            <a:extLst>
              <a:ext uri="{FF2B5EF4-FFF2-40B4-BE49-F238E27FC236}">
                <a16:creationId xmlns:a16="http://schemas.microsoft.com/office/drawing/2014/main" id="{818675E3-AD02-9422-18A7-D8D731085E0E}"/>
              </a:ext>
            </a:extLst>
          </p:cNvPr>
          <p:cNvSpPr/>
          <p:nvPr/>
        </p:nvSpPr>
        <p:spPr>
          <a:xfrm>
            <a:off x="914400" y="4749800"/>
            <a:ext cx="76200" cy="660400"/>
          </a:xfrm>
          <a:prstGeom prst="rect">
            <a:avLst/>
          </a:prstGeom>
          <a:solidFill>
            <a:srgbClr val="2369C8"/>
          </a:solidFill>
          <a:ln w="12700">
            <a:solidFill>
              <a:srgbClr val="2369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gate-title-0">
            <a:extLst>
              <a:ext uri="{FF2B5EF4-FFF2-40B4-BE49-F238E27FC236}">
                <a16:creationId xmlns:a16="http://schemas.microsoft.com/office/drawing/2014/main" id="{50779436-18F6-3FFD-DA06-A4CDD99BBAFA}"/>
              </a:ext>
            </a:extLst>
          </p:cNvPr>
          <p:cNvSpPr txBox="1"/>
          <p:nvPr/>
        </p:nvSpPr>
        <p:spPr>
          <a:xfrm>
            <a:off x="1168400" y="4902200"/>
            <a:ext cx="1625600" cy="276999"/>
          </a:xfrm>
          <a:prstGeom prst="rect">
            <a:avLst/>
          </a:prstGeom>
          <a:noFill/>
        </p:spPr>
        <p:txBody>
          <a:bodyPr vert="horz" wrap="square" lIns="0" tIns="0" rIns="0" bIns="0" rtlCol="0">
            <a:noAutofit/>
          </a:bodyPr>
          <a:lstStyle/>
          <a:p>
            <a:r>
              <a:rPr lang="en-US" altLang="zh-CN" sz="900" b="1">
                <a:solidFill>
                  <a:srgbClr val="0D182C"/>
                </a:solidFill>
                <a:latin typeface="Aptos" panose="020B0004020202020204" pitchFamily="34" charset="0"/>
              </a:rPr>
              <a:t>Freeze D</a:t>
            </a:r>
            <a:endParaRPr lang="zh-CN" altLang="en-US" sz="900" b="1">
              <a:solidFill>
                <a:srgbClr val="0D182C"/>
              </a:solidFill>
              <a:latin typeface="Aptos" panose="020B0004020202020204" pitchFamily="34" charset="0"/>
            </a:endParaRPr>
          </a:p>
        </p:txBody>
      </p:sp>
      <p:sp>
        <p:nvSpPr>
          <p:cNvPr id="22" name="gate-sub-0">
            <a:extLst>
              <a:ext uri="{FF2B5EF4-FFF2-40B4-BE49-F238E27FC236}">
                <a16:creationId xmlns:a16="http://schemas.microsoft.com/office/drawing/2014/main" id="{3AF51C56-B0C8-45A2-37D9-2E4ECC6C53AD}"/>
              </a:ext>
            </a:extLst>
          </p:cNvPr>
          <p:cNvSpPr txBox="1"/>
          <p:nvPr/>
        </p:nvSpPr>
        <p:spPr>
          <a:xfrm>
            <a:off x="1168400" y="5168900"/>
            <a:ext cx="16764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no denominator drift</a:t>
            </a:r>
            <a:endParaRPr lang="zh-CN" altLang="en-US" sz="720">
              <a:solidFill>
                <a:srgbClr val="536580"/>
              </a:solidFill>
              <a:latin typeface="Aptos" panose="020B0004020202020204" pitchFamily="34" charset="0"/>
            </a:endParaRPr>
          </a:p>
        </p:txBody>
      </p:sp>
      <p:sp>
        <p:nvSpPr>
          <p:cNvPr id="23" name="gate-1">
            <a:extLst>
              <a:ext uri="{FF2B5EF4-FFF2-40B4-BE49-F238E27FC236}">
                <a16:creationId xmlns:a16="http://schemas.microsoft.com/office/drawing/2014/main" id="{AD0F08E0-6E1A-2884-0819-E2EF829AC3E0}"/>
              </a:ext>
            </a:extLst>
          </p:cNvPr>
          <p:cNvSpPr/>
          <p:nvPr/>
        </p:nvSpPr>
        <p:spPr>
          <a:xfrm>
            <a:off x="3632200" y="4749800"/>
            <a:ext cx="2235200" cy="660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gate-band-1">
            <a:extLst>
              <a:ext uri="{FF2B5EF4-FFF2-40B4-BE49-F238E27FC236}">
                <a16:creationId xmlns:a16="http://schemas.microsoft.com/office/drawing/2014/main" id="{ADF4DB65-1E8C-DEE8-7F37-53B16805A752}"/>
              </a:ext>
            </a:extLst>
          </p:cNvPr>
          <p:cNvSpPr/>
          <p:nvPr/>
        </p:nvSpPr>
        <p:spPr>
          <a:xfrm>
            <a:off x="3632200" y="4749800"/>
            <a:ext cx="76200" cy="660400"/>
          </a:xfrm>
          <a:prstGeom prst="rect">
            <a:avLst/>
          </a:prstGeom>
          <a:solidFill>
            <a:srgbClr val="00AABE"/>
          </a:solidFill>
          <a:ln w="12700">
            <a:solidFill>
              <a:srgbClr val="00A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gate-title-1">
            <a:extLst>
              <a:ext uri="{FF2B5EF4-FFF2-40B4-BE49-F238E27FC236}">
                <a16:creationId xmlns:a16="http://schemas.microsoft.com/office/drawing/2014/main" id="{205BCEDA-15A6-F718-4900-B419F90AC854}"/>
              </a:ext>
            </a:extLst>
          </p:cNvPr>
          <p:cNvSpPr txBox="1"/>
          <p:nvPr/>
        </p:nvSpPr>
        <p:spPr>
          <a:xfrm>
            <a:off x="3886200" y="4902200"/>
            <a:ext cx="1625600" cy="276999"/>
          </a:xfrm>
          <a:prstGeom prst="rect">
            <a:avLst/>
          </a:prstGeom>
          <a:noFill/>
        </p:spPr>
        <p:txBody>
          <a:bodyPr vert="horz" wrap="square" lIns="0" tIns="0" rIns="0" bIns="0" rtlCol="0">
            <a:noAutofit/>
          </a:bodyPr>
          <a:lstStyle/>
          <a:p>
            <a:r>
              <a:rPr lang="en-US" altLang="zh-CN" sz="900" b="1">
                <a:solidFill>
                  <a:srgbClr val="0D182C"/>
                </a:solidFill>
                <a:latin typeface="Aptos" panose="020B0004020202020204" pitchFamily="34" charset="0"/>
              </a:rPr>
              <a:t>Verify C</a:t>
            </a:r>
            <a:endParaRPr lang="zh-CN" altLang="en-US" sz="900" b="1">
              <a:solidFill>
                <a:srgbClr val="0D182C"/>
              </a:solidFill>
              <a:latin typeface="Aptos" panose="020B0004020202020204" pitchFamily="34" charset="0"/>
            </a:endParaRPr>
          </a:p>
        </p:txBody>
      </p:sp>
      <p:sp>
        <p:nvSpPr>
          <p:cNvPr id="26" name="gate-sub-1">
            <a:extLst>
              <a:ext uri="{FF2B5EF4-FFF2-40B4-BE49-F238E27FC236}">
                <a16:creationId xmlns:a16="http://schemas.microsoft.com/office/drawing/2014/main" id="{25D83337-2C28-6044-D815-0492F1FE0771}"/>
              </a:ext>
            </a:extLst>
          </p:cNvPr>
          <p:cNvSpPr txBox="1"/>
          <p:nvPr/>
        </p:nvSpPr>
        <p:spPr>
          <a:xfrm>
            <a:off x="3886200" y="5168900"/>
            <a:ext cx="16764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controls before outcome</a:t>
            </a:r>
            <a:endParaRPr lang="zh-CN" altLang="en-US" sz="720">
              <a:solidFill>
                <a:srgbClr val="536580"/>
              </a:solidFill>
              <a:latin typeface="Aptos" panose="020B0004020202020204" pitchFamily="34" charset="0"/>
            </a:endParaRPr>
          </a:p>
        </p:txBody>
      </p:sp>
      <p:sp>
        <p:nvSpPr>
          <p:cNvPr id="27" name="gate-2">
            <a:extLst>
              <a:ext uri="{FF2B5EF4-FFF2-40B4-BE49-F238E27FC236}">
                <a16:creationId xmlns:a16="http://schemas.microsoft.com/office/drawing/2014/main" id="{BB04100D-2CD3-F45E-839B-B62CA328862F}"/>
              </a:ext>
            </a:extLst>
          </p:cNvPr>
          <p:cNvSpPr/>
          <p:nvPr/>
        </p:nvSpPr>
        <p:spPr>
          <a:xfrm>
            <a:off x="6350000" y="4749800"/>
            <a:ext cx="2235200" cy="660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gate-band-2">
            <a:extLst>
              <a:ext uri="{FF2B5EF4-FFF2-40B4-BE49-F238E27FC236}">
                <a16:creationId xmlns:a16="http://schemas.microsoft.com/office/drawing/2014/main" id="{44853A01-81A2-2CC2-8339-063E3FD3A241}"/>
              </a:ext>
            </a:extLst>
          </p:cNvPr>
          <p:cNvSpPr/>
          <p:nvPr/>
        </p:nvSpPr>
        <p:spPr>
          <a:xfrm>
            <a:off x="6350000" y="4749800"/>
            <a:ext cx="76200" cy="660400"/>
          </a:xfrm>
          <a:prstGeom prst="rect">
            <a:avLst/>
          </a:prstGeom>
          <a:solidFill>
            <a:srgbClr val="EE9122"/>
          </a:solidFill>
          <a:ln w="12700">
            <a:solidFill>
              <a:srgbClr val="EE91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gate-title-2">
            <a:extLst>
              <a:ext uri="{FF2B5EF4-FFF2-40B4-BE49-F238E27FC236}">
                <a16:creationId xmlns:a16="http://schemas.microsoft.com/office/drawing/2014/main" id="{A90F935E-A45F-A832-3B84-117CF968BB37}"/>
              </a:ext>
            </a:extLst>
          </p:cNvPr>
          <p:cNvSpPr txBox="1"/>
          <p:nvPr/>
        </p:nvSpPr>
        <p:spPr>
          <a:xfrm>
            <a:off x="6604000" y="4902200"/>
            <a:ext cx="1625600" cy="276999"/>
          </a:xfrm>
          <a:prstGeom prst="rect">
            <a:avLst/>
          </a:prstGeom>
          <a:noFill/>
        </p:spPr>
        <p:txBody>
          <a:bodyPr vert="horz" wrap="square" lIns="0" tIns="0" rIns="0" bIns="0" rtlCol="0">
            <a:noAutofit/>
          </a:bodyPr>
          <a:lstStyle/>
          <a:p>
            <a:r>
              <a:rPr lang="en-US" altLang="zh-CN" sz="900" b="1">
                <a:solidFill>
                  <a:srgbClr val="0D182C"/>
                </a:solidFill>
                <a:latin typeface="Aptos" panose="020B0004020202020204" pitchFamily="34" charset="0"/>
              </a:rPr>
              <a:t>Bind A/H</a:t>
            </a:r>
            <a:endParaRPr lang="zh-CN" altLang="en-US" sz="900" b="1">
              <a:solidFill>
                <a:srgbClr val="0D182C"/>
              </a:solidFill>
              <a:latin typeface="Aptos" panose="020B0004020202020204" pitchFamily="34" charset="0"/>
            </a:endParaRPr>
          </a:p>
        </p:txBody>
      </p:sp>
      <p:sp>
        <p:nvSpPr>
          <p:cNvPr id="30" name="gate-sub-2">
            <a:extLst>
              <a:ext uri="{FF2B5EF4-FFF2-40B4-BE49-F238E27FC236}">
                <a16:creationId xmlns:a16="http://schemas.microsoft.com/office/drawing/2014/main" id="{1C0AE611-FE83-D619-E879-3C5066182820}"/>
              </a:ext>
            </a:extLst>
          </p:cNvPr>
          <p:cNvSpPr txBox="1"/>
          <p:nvPr/>
        </p:nvSpPr>
        <p:spPr>
          <a:xfrm>
            <a:off x="6604000" y="5168900"/>
            <a:ext cx="16764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artifact plus hash</a:t>
            </a:r>
            <a:endParaRPr lang="zh-CN" altLang="en-US" sz="720">
              <a:solidFill>
                <a:srgbClr val="536580"/>
              </a:solidFill>
              <a:latin typeface="Aptos" panose="020B0004020202020204" pitchFamily="34" charset="0"/>
            </a:endParaRPr>
          </a:p>
        </p:txBody>
      </p:sp>
      <p:sp>
        <p:nvSpPr>
          <p:cNvPr id="31" name="gate-3">
            <a:extLst>
              <a:ext uri="{FF2B5EF4-FFF2-40B4-BE49-F238E27FC236}">
                <a16:creationId xmlns:a16="http://schemas.microsoft.com/office/drawing/2014/main" id="{F8D9A4EB-81CB-5606-85E2-4C9D0E51393B}"/>
              </a:ext>
            </a:extLst>
          </p:cNvPr>
          <p:cNvSpPr/>
          <p:nvPr/>
        </p:nvSpPr>
        <p:spPr>
          <a:xfrm>
            <a:off x="9067800" y="4749800"/>
            <a:ext cx="2235200" cy="660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gate-band-3">
            <a:extLst>
              <a:ext uri="{FF2B5EF4-FFF2-40B4-BE49-F238E27FC236}">
                <a16:creationId xmlns:a16="http://schemas.microsoft.com/office/drawing/2014/main" id="{E94DBC2D-BE45-6727-FCD2-FEF98EBADBB7}"/>
              </a:ext>
            </a:extLst>
          </p:cNvPr>
          <p:cNvSpPr/>
          <p:nvPr/>
        </p:nvSpPr>
        <p:spPr>
          <a:xfrm>
            <a:off x="9067800" y="4749800"/>
            <a:ext cx="76200" cy="660400"/>
          </a:xfrm>
          <a:prstGeom prst="rect">
            <a:avLst/>
          </a:prstGeom>
          <a:solidFill>
            <a:srgbClr val="008E66"/>
          </a:solidFill>
          <a:ln w="12700">
            <a:solidFill>
              <a:srgbClr val="008E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gate-title-3">
            <a:extLst>
              <a:ext uri="{FF2B5EF4-FFF2-40B4-BE49-F238E27FC236}">
                <a16:creationId xmlns:a16="http://schemas.microsoft.com/office/drawing/2014/main" id="{3582F7BD-719E-8344-51BB-E4ABE0382913}"/>
              </a:ext>
            </a:extLst>
          </p:cNvPr>
          <p:cNvSpPr txBox="1"/>
          <p:nvPr/>
        </p:nvSpPr>
        <p:spPr>
          <a:xfrm>
            <a:off x="9321800" y="4902200"/>
            <a:ext cx="1625600" cy="276999"/>
          </a:xfrm>
          <a:prstGeom prst="rect">
            <a:avLst/>
          </a:prstGeom>
          <a:noFill/>
        </p:spPr>
        <p:txBody>
          <a:bodyPr vert="horz" wrap="square" lIns="0" tIns="0" rIns="0" bIns="0" rtlCol="0">
            <a:noAutofit/>
          </a:bodyPr>
          <a:lstStyle/>
          <a:p>
            <a:r>
              <a:rPr lang="en-US" altLang="zh-CN" sz="900" b="1">
                <a:solidFill>
                  <a:srgbClr val="0D182C"/>
                </a:solidFill>
                <a:latin typeface="Aptos" panose="020B0004020202020204" pitchFamily="34" charset="0"/>
              </a:rPr>
              <a:t>State B</a:t>
            </a:r>
            <a:endParaRPr lang="zh-CN" altLang="en-US" sz="900" b="1">
              <a:solidFill>
                <a:srgbClr val="0D182C"/>
              </a:solidFill>
              <a:latin typeface="Aptos" panose="020B0004020202020204" pitchFamily="34" charset="0"/>
            </a:endParaRPr>
          </a:p>
        </p:txBody>
      </p:sp>
      <p:sp>
        <p:nvSpPr>
          <p:cNvPr id="34" name="gate-sub-3">
            <a:extLst>
              <a:ext uri="{FF2B5EF4-FFF2-40B4-BE49-F238E27FC236}">
                <a16:creationId xmlns:a16="http://schemas.microsoft.com/office/drawing/2014/main" id="{B1BA4038-9C3F-7037-9188-77C9A9272357}"/>
              </a:ext>
            </a:extLst>
          </p:cNvPr>
          <p:cNvSpPr txBox="1"/>
          <p:nvPr/>
        </p:nvSpPr>
        <p:spPr>
          <a:xfrm>
            <a:off x="9321800" y="5168900"/>
            <a:ext cx="16764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explicit boundary</a:t>
            </a:r>
            <a:endParaRPr lang="zh-CN" altLang="en-US" sz="720">
              <a:solidFill>
                <a:srgbClr val="536580"/>
              </a:solidFill>
              <a:latin typeface="Aptos" panose="020B0004020202020204" pitchFamily="34" charset="0"/>
            </a:endParaRPr>
          </a:p>
        </p:txBody>
      </p:sp>
    </p:spTree>
    <p:extLst>
      <p:ext uri="{BB962C8B-B14F-4D97-AF65-F5344CB8AC3E}">
        <p14:creationId xmlns:p14="http://schemas.microsoft.com/office/powerpoint/2010/main" val="3838017087"/>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952DE887-EE8D-EBFF-CB81-8F9F17D7406D}"/>
              </a:ext>
            </a:extLst>
          </p:cNvPr>
          <p:cNvSpPr/>
          <p:nvPr/>
        </p:nvSpPr>
        <p:spPr>
          <a:xfrm>
            <a:off x="0" y="0"/>
            <a:ext cx="121920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dark-panel">
            <a:extLst>
              <a:ext uri="{FF2B5EF4-FFF2-40B4-BE49-F238E27FC236}">
                <a16:creationId xmlns:a16="http://schemas.microsoft.com/office/drawing/2014/main" id="{13FD7FD7-B7A9-78E1-AB17-18C43FDD52FB}"/>
              </a:ext>
            </a:extLst>
          </p:cNvPr>
          <p:cNvSpPr/>
          <p:nvPr/>
        </p:nvSpPr>
        <p:spPr>
          <a:xfrm>
            <a:off x="0" y="0"/>
            <a:ext cx="12192000" cy="6858000"/>
          </a:xfrm>
          <a:prstGeom prst="rect">
            <a:avLst/>
          </a:prstGeom>
          <a:solidFill>
            <a:srgbClr val="032048">
              <a:alpha val="9000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grid-v-0">
            <a:extLst>
              <a:ext uri="{FF2B5EF4-FFF2-40B4-BE49-F238E27FC236}">
                <a16:creationId xmlns:a16="http://schemas.microsoft.com/office/drawing/2014/main" id="{2449DD3B-346E-2E5C-88AE-0EB23ACB3EC0}"/>
              </a:ext>
            </a:extLst>
          </p:cNvPr>
          <p:cNvCxnSpPr/>
          <p:nvPr/>
        </p:nvCxnSpPr>
        <p:spPr>
          <a:xfrm>
            <a:off x="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5" name="grid-v-64">
            <a:extLst>
              <a:ext uri="{FF2B5EF4-FFF2-40B4-BE49-F238E27FC236}">
                <a16:creationId xmlns:a16="http://schemas.microsoft.com/office/drawing/2014/main" id="{6D477D3D-FC12-4FDF-1259-96B1E3D22E5B}"/>
              </a:ext>
            </a:extLst>
          </p:cNvPr>
          <p:cNvCxnSpPr/>
          <p:nvPr/>
        </p:nvCxnSpPr>
        <p:spPr>
          <a:xfrm>
            <a:off x="812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6" name="grid-v-128">
            <a:extLst>
              <a:ext uri="{FF2B5EF4-FFF2-40B4-BE49-F238E27FC236}">
                <a16:creationId xmlns:a16="http://schemas.microsoft.com/office/drawing/2014/main" id="{766916F4-20B6-36CD-5C5D-15842E17FC47}"/>
              </a:ext>
            </a:extLst>
          </p:cNvPr>
          <p:cNvCxnSpPr/>
          <p:nvPr/>
        </p:nvCxnSpPr>
        <p:spPr>
          <a:xfrm>
            <a:off x="1625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7" name="grid-v-192">
            <a:extLst>
              <a:ext uri="{FF2B5EF4-FFF2-40B4-BE49-F238E27FC236}">
                <a16:creationId xmlns:a16="http://schemas.microsoft.com/office/drawing/2014/main" id="{E0A37E93-179B-42E4-41B6-0C18838C81EE}"/>
              </a:ext>
            </a:extLst>
          </p:cNvPr>
          <p:cNvCxnSpPr/>
          <p:nvPr/>
        </p:nvCxnSpPr>
        <p:spPr>
          <a:xfrm>
            <a:off x="2438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8" name="grid-v-256">
            <a:extLst>
              <a:ext uri="{FF2B5EF4-FFF2-40B4-BE49-F238E27FC236}">
                <a16:creationId xmlns:a16="http://schemas.microsoft.com/office/drawing/2014/main" id="{703169EB-22F6-4F72-EEDB-E30212CFDE2E}"/>
              </a:ext>
            </a:extLst>
          </p:cNvPr>
          <p:cNvCxnSpPr/>
          <p:nvPr/>
        </p:nvCxnSpPr>
        <p:spPr>
          <a:xfrm>
            <a:off x="3251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9" name="grid-v-320">
            <a:extLst>
              <a:ext uri="{FF2B5EF4-FFF2-40B4-BE49-F238E27FC236}">
                <a16:creationId xmlns:a16="http://schemas.microsoft.com/office/drawing/2014/main" id="{CE52C614-49B7-C9F8-21D4-9D38AFBD9017}"/>
              </a:ext>
            </a:extLst>
          </p:cNvPr>
          <p:cNvCxnSpPr/>
          <p:nvPr/>
        </p:nvCxnSpPr>
        <p:spPr>
          <a:xfrm>
            <a:off x="4064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0" name="grid-v-384">
            <a:extLst>
              <a:ext uri="{FF2B5EF4-FFF2-40B4-BE49-F238E27FC236}">
                <a16:creationId xmlns:a16="http://schemas.microsoft.com/office/drawing/2014/main" id="{BA24BA99-37D0-D792-C0DC-215B76B24BDB}"/>
              </a:ext>
            </a:extLst>
          </p:cNvPr>
          <p:cNvCxnSpPr/>
          <p:nvPr/>
        </p:nvCxnSpPr>
        <p:spPr>
          <a:xfrm>
            <a:off x="4876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1" name="grid-v-448">
            <a:extLst>
              <a:ext uri="{FF2B5EF4-FFF2-40B4-BE49-F238E27FC236}">
                <a16:creationId xmlns:a16="http://schemas.microsoft.com/office/drawing/2014/main" id="{A1F88A93-FCB0-1B90-B526-6E838CEE61EE}"/>
              </a:ext>
            </a:extLst>
          </p:cNvPr>
          <p:cNvCxnSpPr/>
          <p:nvPr/>
        </p:nvCxnSpPr>
        <p:spPr>
          <a:xfrm>
            <a:off x="5689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2" name="grid-v-512">
            <a:extLst>
              <a:ext uri="{FF2B5EF4-FFF2-40B4-BE49-F238E27FC236}">
                <a16:creationId xmlns:a16="http://schemas.microsoft.com/office/drawing/2014/main" id="{B366569F-B3C4-C3DC-34C4-81EE339AC35F}"/>
              </a:ext>
            </a:extLst>
          </p:cNvPr>
          <p:cNvCxnSpPr/>
          <p:nvPr/>
        </p:nvCxnSpPr>
        <p:spPr>
          <a:xfrm>
            <a:off x="6502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3" name="grid-v-576">
            <a:extLst>
              <a:ext uri="{FF2B5EF4-FFF2-40B4-BE49-F238E27FC236}">
                <a16:creationId xmlns:a16="http://schemas.microsoft.com/office/drawing/2014/main" id="{453A961A-9945-8295-B427-EAED5F2D780C}"/>
              </a:ext>
            </a:extLst>
          </p:cNvPr>
          <p:cNvCxnSpPr/>
          <p:nvPr/>
        </p:nvCxnSpPr>
        <p:spPr>
          <a:xfrm>
            <a:off x="7315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4" name="grid-v-640">
            <a:extLst>
              <a:ext uri="{FF2B5EF4-FFF2-40B4-BE49-F238E27FC236}">
                <a16:creationId xmlns:a16="http://schemas.microsoft.com/office/drawing/2014/main" id="{1E3E5725-B15C-EA42-F3CA-0903D439703C}"/>
              </a:ext>
            </a:extLst>
          </p:cNvPr>
          <p:cNvCxnSpPr/>
          <p:nvPr/>
        </p:nvCxnSpPr>
        <p:spPr>
          <a:xfrm>
            <a:off x="8128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5" name="grid-v-704">
            <a:extLst>
              <a:ext uri="{FF2B5EF4-FFF2-40B4-BE49-F238E27FC236}">
                <a16:creationId xmlns:a16="http://schemas.microsoft.com/office/drawing/2014/main" id="{66BDEDF2-FAF1-9FEE-CD69-D31574F979D9}"/>
              </a:ext>
            </a:extLst>
          </p:cNvPr>
          <p:cNvCxnSpPr/>
          <p:nvPr/>
        </p:nvCxnSpPr>
        <p:spPr>
          <a:xfrm>
            <a:off x="8940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6" name="grid-v-768">
            <a:extLst>
              <a:ext uri="{FF2B5EF4-FFF2-40B4-BE49-F238E27FC236}">
                <a16:creationId xmlns:a16="http://schemas.microsoft.com/office/drawing/2014/main" id="{DABC8017-5359-DD89-D22C-2E36A4B5A4D3}"/>
              </a:ext>
            </a:extLst>
          </p:cNvPr>
          <p:cNvCxnSpPr/>
          <p:nvPr/>
        </p:nvCxnSpPr>
        <p:spPr>
          <a:xfrm>
            <a:off x="9753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7" name="grid-v-832">
            <a:extLst>
              <a:ext uri="{FF2B5EF4-FFF2-40B4-BE49-F238E27FC236}">
                <a16:creationId xmlns:a16="http://schemas.microsoft.com/office/drawing/2014/main" id="{05A186D4-2978-CC26-188A-9DCB25A08C74}"/>
              </a:ext>
            </a:extLst>
          </p:cNvPr>
          <p:cNvCxnSpPr/>
          <p:nvPr/>
        </p:nvCxnSpPr>
        <p:spPr>
          <a:xfrm>
            <a:off x="10566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8" name="grid-v-896">
            <a:extLst>
              <a:ext uri="{FF2B5EF4-FFF2-40B4-BE49-F238E27FC236}">
                <a16:creationId xmlns:a16="http://schemas.microsoft.com/office/drawing/2014/main" id="{BA2F846C-8D3F-02F7-6358-F377F1712868}"/>
              </a:ext>
            </a:extLst>
          </p:cNvPr>
          <p:cNvCxnSpPr/>
          <p:nvPr/>
        </p:nvCxnSpPr>
        <p:spPr>
          <a:xfrm>
            <a:off x="11379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9" name="grid-v-960">
            <a:extLst>
              <a:ext uri="{FF2B5EF4-FFF2-40B4-BE49-F238E27FC236}">
                <a16:creationId xmlns:a16="http://schemas.microsoft.com/office/drawing/2014/main" id="{CA96F860-6DAD-83BE-EEAB-7D0AD9A953DA}"/>
              </a:ext>
            </a:extLst>
          </p:cNvPr>
          <p:cNvCxnSpPr/>
          <p:nvPr/>
        </p:nvCxnSpPr>
        <p:spPr>
          <a:xfrm>
            <a:off x="12192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0" name="grid-h-0">
            <a:extLst>
              <a:ext uri="{FF2B5EF4-FFF2-40B4-BE49-F238E27FC236}">
                <a16:creationId xmlns:a16="http://schemas.microsoft.com/office/drawing/2014/main" id="{FC39E454-9227-B26D-15BB-B2D705153DA7}"/>
              </a:ext>
            </a:extLst>
          </p:cNvPr>
          <p:cNvCxnSpPr/>
          <p:nvPr/>
        </p:nvCxnSpPr>
        <p:spPr>
          <a:xfrm>
            <a:off x="0" y="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1" name="grid-h-64">
            <a:extLst>
              <a:ext uri="{FF2B5EF4-FFF2-40B4-BE49-F238E27FC236}">
                <a16:creationId xmlns:a16="http://schemas.microsoft.com/office/drawing/2014/main" id="{72E29214-A60E-5753-5742-B97C511DA80A}"/>
              </a:ext>
            </a:extLst>
          </p:cNvPr>
          <p:cNvCxnSpPr/>
          <p:nvPr/>
        </p:nvCxnSpPr>
        <p:spPr>
          <a:xfrm>
            <a:off x="0" y="812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2" name="grid-h-128">
            <a:extLst>
              <a:ext uri="{FF2B5EF4-FFF2-40B4-BE49-F238E27FC236}">
                <a16:creationId xmlns:a16="http://schemas.microsoft.com/office/drawing/2014/main" id="{7B3D5430-7252-EEBE-6199-7969DC391636}"/>
              </a:ext>
            </a:extLst>
          </p:cNvPr>
          <p:cNvCxnSpPr/>
          <p:nvPr/>
        </p:nvCxnSpPr>
        <p:spPr>
          <a:xfrm>
            <a:off x="0" y="1625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3" name="grid-h-192">
            <a:extLst>
              <a:ext uri="{FF2B5EF4-FFF2-40B4-BE49-F238E27FC236}">
                <a16:creationId xmlns:a16="http://schemas.microsoft.com/office/drawing/2014/main" id="{D22FB796-1E6D-6B74-1251-C82E27D76F03}"/>
              </a:ext>
            </a:extLst>
          </p:cNvPr>
          <p:cNvCxnSpPr/>
          <p:nvPr/>
        </p:nvCxnSpPr>
        <p:spPr>
          <a:xfrm>
            <a:off x="0" y="2438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4" name="grid-h-256">
            <a:extLst>
              <a:ext uri="{FF2B5EF4-FFF2-40B4-BE49-F238E27FC236}">
                <a16:creationId xmlns:a16="http://schemas.microsoft.com/office/drawing/2014/main" id="{FDF7E188-B94C-1480-1121-528D62D56000}"/>
              </a:ext>
            </a:extLst>
          </p:cNvPr>
          <p:cNvCxnSpPr/>
          <p:nvPr/>
        </p:nvCxnSpPr>
        <p:spPr>
          <a:xfrm>
            <a:off x="0" y="32512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5" name="grid-h-320">
            <a:extLst>
              <a:ext uri="{FF2B5EF4-FFF2-40B4-BE49-F238E27FC236}">
                <a16:creationId xmlns:a16="http://schemas.microsoft.com/office/drawing/2014/main" id="{B242B28E-37C3-EDC1-5C7B-9FE4AEDBD1AB}"/>
              </a:ext>
            </a:extLst>
          </p:cNvPr>
          <p:cNvCxnSpPr/>
          <p:nvPr/>
        </p:nvCxnSpPr>
        <p:spPr>
          <a:xfrm>
            <a:off x="0" y="40640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6" name="grid-h-384">
            <a:extLst>
              <a:ext uri="{FF2B5EF4-FFF2-40B4-BE49-F238E27FC236}">
                <a16:creationId xmlns:a16="http://schemas.microsoft.com/office/drawing/2014/main" id="{4A8665D0-D072-38C5-BD00-74719C2DED7B}"/>
              </a:ext>
            </a:extLst>
          </p:cNvPr>
          <p:cNvCxnSpPr/>
          <p:nvPr/>
        </p:nvCxnSpPr>
        <p:spPr>
          <a:xfrm>
            <a:off x="0" y="4876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7" name="grid-h-448">
            <a:extLst>
              <a:ext uri="{FF2B5EF4-FFF2-40B4-BE49-F238E27FC236}">
                <a16:creationId xmlns:a16="http://schemas.microsoft.com/office/drawing/2014/main" id="{9660BC49-012D-90E9-3C01-DC46D120028A}"/>
              </a:ext>
            </a:extLst>
          </p:cNvPr>
          <p:cNvCxnSpPr/>
          <p:nvPr/>
        </p:nvCxnSpPr>
        <p:spPr>
          <a:xfrm>
            <a:off x="0" y="5689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8" name="grid-h-512">
            <a:extLst>
              <a:ext uri="{FF2B5EF4-FFF2-40B4-BE49-F238E27FC236}">
                <a16:creationId xmlns:a16="http://schemas.microsoft.com/office/drawing/2014/main" id="{EC526CC3-1CF3-53BB-BFF2-842AF2B29A28}"/>
              </a:ext>
            </a:extLst>
          </p:cNvPr>
          <p:cNvCxnSpPr/>
          <p:nvPr/>
        </p:nvCxnSpPr>
        <p:spPr>
          <a:xfrm>
            <a:off x="0" y="6502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sp>
        <p:nvSpPr>
          <p:cNvPr id="29" name="page-num">
            <a:extLst>
              <a:ext uri="{FF2B5EF4-FFF2-40B4-BE49-F238E27FC236}">
                <a16:creationId xmlns:a16="http://schemas.microsoft.com/office/drawing/2014/main" id="{996C8803-9E49-D1A1-E19E-95F63F11721C}"/>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B4CDEB"/>
                </a:solidFill>
                <a:latin typeface="Aptos" panose="020B0004020202020204" pitchFamily="34" charset="0"/>
              </a:rPr>
              <a:t>07</a:t>
            </a:r>
            <a:endParaRPr lang="zh-CN" altLang="en-US" sz="650">
              <a:solidFill>
                <a:srgbClr val="B4CDEB"/>
              </a:solidFill>
              <a:latin typeface="Aptos" panose="020B0004020202020204" pitchFamily="34" charset="0"/>
            </a:endParaRPr>
          </a:p>
        </p:txBody>
      </p:sp>
      <p:sp>
        <p:nvSpPr>
          <p:cNvPr id="30" name="section-label">
            <a:extLst>
              <a:ext uri="{FF2B5EF4-FFF2-40B4-BE49-F238E27FC236}">
                <a16:creationId xmlns:a16="http://schemas.microsoft.com/office/drawing/2014/main" id="{5AECC493-B644-1BAA-33F0-C64E883FE4FB}"/>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BEDCFF"/>
                </a:solidFill>
                <a:latin typeface="Aptos" panose="020B0004020202020204" pitchFamily="34" charset="0"/>
              </a:rPr>
              <a:t>RESULTS</a:t>
            </a:r>
            <a:endParaRPr lang="zh-CN" altLang="en-US" sz="700" b="1">
              <a:solidFill>
                <a:srgbClr val="BEDCFF"/>
              </a:solidFill>
              <a:latin typeface="Aptos" panose="020B0004020202020204" pitchFamily="34" charset="0"/>
            </a:endParaRPr>
          </a:p>
        </p:txBody>
      </p:sp>
      <p:sp>
        <p:nvSpPr>
          <p:cNvPr id="31" name="title">
            <a:extLst>
              <a:ext uri="{FF2B5EF4-FFF2-40B4-BE49-F238E27FC236}">
                <a16:creationId xmlns:a16="http://schemas.microsoft.com/office/drawing/2014/main" id="{23072ADF-635D-E29B-2838-E79B4CC6D267}"/>
              </a:ext>
            </a:extLst>
          </p:cNvPr>
          <p:cNvSpPr txBox="1"/>
          <p:nvPr/>
        </p:nvSpPr>
        <p:spPr>
          <a:xfrm>
            <a:off x="685800" y="685800"/>
            <a:ext cx="9906000" cy="276999"/>
          </a:xfrm>
          <a:prstGeom prst="rect">
            <a:avLst/>
          </a:prstGeom>
          <a:noFill/>
        </p:spPr>
        <p:txBody>
          <a:bodyPr vert="horz" wrap="square" lIns="0" tIns="0" rIns="0" bIns="0" rtlCol="0">
            <a:noAutofit/>
          </a:bodyPr>
          <a:lstStyle/>
          <a:p>
            <a:r>
              <a:rPr lang="en-US" altLang="zh-CN" sz="2700" b="1">
                <a:solidFill>
                  <a:srgbClr val="FFFFFF"/>
                </a:solidFill>
                <a:latin typeface="Aptos" panose="020B0004020202020204" pitchFamily="34" charset="0"/>
              </a:rPr>
              <a:t>Submitted FYP evidence surface</a:t>
            </a:r>
            <a:endParaRPr lang="zh-CN" altLang="en-US" sz="2700" b="1">
              <a:solidFill>
                <a:srgbClr val="FFFFFF"/>
              </a:solidFill>
              <a:latin typeface="Aptos" panose="020B0004020202020204" pitchFamily="34" charset="0"/>
            </a:endParaRPr>
          </a:p>
        </p:txBody>
      </p:sp>
      <p:sp>
        <p:nvSpPr>
          <p:cNvPr id="32" name="subtitle">
            <a:extLst>
              <a:ext uri="{FF2B5EF4-FFF2-40B4-BE49-F238E27FC236}">
                <a16:creationId xmlns:a16="http://schemas.microsoft.com/office/drawing/2014/main" id="{A91C0B1D-336E-27F0-FBB2-4356171E567C}"/>
              </a:ext>
            </a:extLst>
          </p:cNvPr>
          <p:cNvSpPr txBox="1"/>
          <p:nvPr/>
        </p:nvSpPr>
        <p:spPr>
          <a:xfrm>
            <a:off x="736600" y="1295400"/>
            <a:ext cx="9652000" cy="276999"/>
          </a:xfrm>
          <a:prstGeom prst="rect">
            <a:avLst/>
          </a:prstGeom>
          <a:noFill/>
        </p:spPr>
        <p:txBody>
          <a:bodyPr vert="horz" wrap="square" lIns="0" tIns="0" rIns="0" bIns="0" rtlCol="0">
            <a:noAutofit/>
          </a:bodyPr>
          <a:lstStyle/>
          <a:p>
            <a:r>
              <a:rPr lang="en-US" altLang="zh-CN" sz="980">
                <a:solidFill>
                  <a:srgbClr val="CDE1F8"/>
                </a:solidFill>
                <a:latin typeface="Aptos" panose="020B0004020202020204" pitchFamily="34" charset="0"/>
              </a:rPr>
              <a:t>These are the headline numbers in the submitted dissertation snapshot.</a:t>
            </a:r>
            <a:endParaRPr lang="zh-CN" altLang="en-US" sz="980">
              <a:solidFill>
                <a:srgbClr val="CDE1F8"/>
              </a:solidFill>
              <a:latin typeface="Aptos" panose="020B0004020202020204" pitchFamily="34" charset="0"/>
            </a:endParaRPr>
          </a:p>
        </p:txBody>
      </p:sp>
      <p:sp>
        <p:nvSpPr>
          <p:cNvPr id="33" name="metric-0">
            <a:extLst>
              <a:ext uri="{FF2B5EF4-FFF2-40B4-BE49-F238E27FC236}">
                <a16:creationId xmlns:a16="http://schemas.microsoft.com/office/drawing/2014/main" id="{8859817E-2BDA-C8CE-2442-3780092BCF13}"/>
              </a:ext>
            </a:extLst>
          </p:cNvPr>
          <p:cNvSpPr/>
          <p:nvPr/>
        </p:nvSpPr>
        <p:spPr>
          <a:xfrm>
            <a:off x="812800" y="2006600"/>
            <a:ext cx="3149600" cy="1625600"/>
          </a:xfrm>
          <a:prstGeom prst="rect">
            <a:avLst/>
          </a:prstGeom>
          <a:solidFill>
            <a:srgbClr val="0D2A57"/>
          </a:solidFill>
          <a:ln w="12700">
            <a:solidFill>
              <a:srgbClr val="478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metric-band-0">
            <a:extLst>
              <a:ext uri="{FF2B5EF4-FFF2-40B4-BE49-F238E27FC236}">
                <a16:creationId xmlns:a16="http://schemas.microsoft.com/office/drawing/2014/main" id="{DD01D5FD-716D-23D1-49CA-C2D797401634}"/>
              </a:ext>
            </a:extLst>
          </p:cNvPr>
          <p:cNvSpPr/>
          <p:nvPr/>
        </p:nvSpPr>
        <p:spPr>
          <a:xfrm>
            <a:off x="812800" y="2006600"/>
            <a:ext cx="76200" cy="1625600"/>
          </a:xfrm>
          <a:prstGeom prst="rect">
            <a:avLst/>
          </a:prstGeom>
          <a:solidFill>
            <a:srgbClr val="2369C8"/>
          </a:solidFill>
          <a:ln w="12700">
            <a:solidFill>
              <a:srgbClr val="2369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metric-label-0">
            <a:extLst>
              <a:ext uri="{FF2B5EF4-FFF2-40B4-BE49-F238E27FC236}">
                <a16:creationId xmlns:a16="http://schemas.microsoft.com/office/drawing/2014/main" id="{380E3DF7-F9ED-647D-46B4-D27F553279E4}"/>
              </a:ext>
            </a:extLst>
          </p:cNvPr>
          <p:cNvSpPr txBox="1"/>
          <p:nvPr/>
        </p:nvSpPr>
        <p:spPr>
          <a:xfrm>
            <a:off x="1117600" y="2311400"/>
            <a:ext cx="2286000" cy="276999"/>
          </a:xfrm>
          <a:prstGeom prst="rect">
            <a:avLst/>
          </a:prstGeom>
          <a:noFill/>
        </p:spPr>
        <p:txBody>
          <a:bodyPr vert="horz" wrap="square" lIns="0" tIns="0" rIns="0" bIns="0" rtlCol="0">
            <a:noAutofit/>
          </a:bodyPr>
          <a:lstStyle/>
          <a:p>
            <a:r>
              <a:rPr lang="en-US" altLang="zh-CN" sz="800" b="1">
                <a:solidFill>
                  <a:srgbClr val="BCD6F4"/>
                </a:solidFill>
                <a:latin typeface="Aptos" panose="020B0004020202020204" pitchFamily="34" charset="0"/>
              </a:rPr>
              <a:t>CodeMarkBench</a:t>
            </a:r>
            <a:endParaRPr lang="zh-CN" altLang="en-US" sz="800" b="1">
              <a:solidFill>
                <a:srgbClr val="BCD6F4"/>
              </a:solidFill>
              <a:latin typeface="Aptos" panose="020B0004020202020204" pitchFamily="34" charset="0"/>
            </a:endParaRPr>
          </a:p>
        </p:txBody>
      </p:sp>
      <p:sp>
        <p:nvSpPr>
          <p:cNvPr id="36" name="metric-value-0">
            <a:extLst>
              <a:ext uri="{FF2B5EF4-FFF2-40B4-BE49-F238E27FC236}">
                <a16:creationId xmlns:a16="http://schemas.microsoft.com/office/drawing/2014/main" id="{73346F1D-47F5-CDE8-23D5-39DBFCBD43F7}"/>
              </a:ext>
            </a:extLst>
          </p:cNvPr>
          <p:cNvSpPr txBox="1"/>
          <p:nvPr/>
        </p:nvSpPr>
        <p:spPr>
          <a:xfrm>
            <a:off x="1117600" y="2794000"/>
            <a:ext cx="2413000" cy="276999"/>
          </a:xfrm>
          <a:prstGeom prst="rect">
            <a:avLst/>
          </a:prstGeom>
          <a:noFill/>
        </p:spPr>
        <p:txBody>
          <a:bodyPr vert="horz" wrap="square" lIns="0" tIns="0" rIns="0" bIns="0" rtlCol="0">
            <a:noAutofit/>
          </a:bodyPr>
          <a:lstStyle/>
          <a:p>
            <a:r>
              <a:rPr lang="en-US" altLang="zh-CN" sz="2200" b="1">
                <a:solidFill>
                  <a:srgbClr val="FFFFFF"/>
                </a:solidFill>
                <a:latin typeface="Aptos" panose="020B0004020202020204" pitchFamily="34" charset="0"/>
              </a:rPr>
              <a:t>140 / 140</a:t>
            </a:r>
            <a:endParaRPr lang="zh-CN" altLang="en-US" sz="2200" b="1">
              <a:solidFill>
                <a:srgbClr val="FFFFFF"/>
              </a:solidFill>
              <a:latin typeface="Aptos" panose="020B0004020202020204" pitchFamily="34" charset="0"/>
            </a:endParaRPr>
          </a:p>
        </p:txBody>
      </p:sp>
      <p:sp>
        <p:nvSpPr>
          <p:cNvPr id="37" name="metric-note-0">
            <a:extLst>
              <a:ext uri="{FF2B5EF4-FFF2-40B4-BE49-F238E27FC236}">
                <a16:creationId xmlns:a16="http://schemas.microsoft.com/office/drawing/2014/main" id="{6298D8AF-C60A-EF88-5D6B-7FCE2C96DD22}"/>
              </a:ext>
            </a:extLst>
          </p:cNvPr>
          <p:cNvSpPr txBox="1"/>
          <p:nvPr/>
        </p:nvSpPr>
        <p:spPr>
          <a:xfrm>
            <a:off x="1117600" y="3276600"/>
            <a:ext cx="2413000" cy="276999"/>
          </a:xfrm>
          <a:prstGeom prst="rect">
            <a:avLst/>
          </a:prstGeom>
          <a:noFill/>
        </p:spPr>
        <p:txBody>
          <a:bodyPr vert="horz" wrap="square" lIns="0" tIns="0" rIns="0" bIns="0" rtlCol="0">
            <a:noAutofit/>
          </a:bodyPr>
          <a:lstStyle/>
          <a:p>
            <a:r>
              <a:rPr lang="en-US" altLang="zh-CN" sz="720">
                <a:solidFill>
                  <a:srgbClr val="C4DAF6"/>
                </a:solidFill>
                <a:latin typeface="Aptos" panose="020B0004020202020204" pitchFamily="34" charset="0"/>
              </a:rPr>
              <a:t>canonical benchmark runs</a:t>
            </a:r>
            <a:endParaRPr lang="zh-CN" altLang="en-US" sz="720">
              <a:solidFill>
                <a:srgbClr val="C4DAF6"/>
              </a:solidFill>
              <a:latin typeface="Aptos" panose="020B0004020202020204" pitchFamily="34" charset="0"/>
            </a:endParaRPr>
          </a:p>
        </p:txBody>
      </p:sp>
      <p:sp>
        <p:nvSpPr>
          <p:cNvPr id="38" name="metric-1">
            <a:extLst>
              <a:ext uri="{FF2B5EF4-FFF2-40B4-BE49-F238E27FC236}">
                <a16:creationId xmlns:a16="http://schemas.microsoft.com/office/drawing/2014/main" id="{1C620DF7-D98C-DCF7-4159-DD7D03F152B3}"/>
              </a:ext>
            </a:extLst>
          </p:cNvPr>
          <p:cNvSpPr/>
          <p:nvPr/>
        </p:nvSpPr>
        <p:spPr>
          <a:xfrm>
            <a:off x="4521200" y="2006600"/>
            <a:ext cx="3149600" cy="1625600"/>
          </a:xfrm>
          <a:prstGeom prst="rect">
            <a:avLst/>
          </a:prstGeom>
          <a:solidFill>
            <a:srgbClr val="0D2A57"/>
          </a:solidFill>
          <a:ln w="12700">
            <a:solidFill>
              <a:srgbClr val="478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metric-band-1">
            <a:extLst>
              <a:ext uri="{FF2B5EF4-FFF2-40B4-BE49-F238E27FC236}">
                <a16:creationId xmlns:a16="http://schemas.microsoft.com/office/drawing/2014/main" id="{77EAB615-F9D5-2F13-0873-44D829E436E5}"/>
              </a:ext>
            </a:extLst>
          </p:cNvPr>
          <p:cNvSpPr/>
          <p:nvPr/>
        </p:nvSpPr>
        <p:spPr>
          <a:xfrm>
            <a:off x="4521200" y="2006600"/>
            <a:ext cx="76200" cy="1625600"/>
          </a:xfrm>
          <a:prstGeom prst="rect">
            <a:avLst/>
          </a:prstGeom>
          <a:solidFill>
            <a:srgbClr val="00AABE"/>
          </a:solidFill>
          <a:ln w="12700">
            <a:solidFill>
              <a:srgbClr val="00A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metric-label-1">
            <a:extLst>
              <a:ext uri="{FF2B5EF4-FFF2-40B4-BE49-F238E27FC236}">
                <a16:creationId xmlns:a16="http://schemas.microsoft.com/office/drawing/2014/main" id="{76B88436-5249-EEDA-BC3E-B16087B62A46}"/>
              </a:ext>
            </a:extLst>
          </p:cNvPr>
          <p:cNvSpPr txBox="1"/>
          <p:nvPr/>
        </p:nvSpPr>
        <p:spPr>
          <a:xfrm>
            <a:off x="4826000" y="2311400"/>
            <a:ext cx="2286000" cy="276999"/>
          </a:xfrm>
          <a:prstGeom prst="rect">
            <a:avLst/>
          </a:prstGeom>
          <a:noFill/>
        </p:spPr>
        <p:txBody>
          <a:bodyPr vert="horz" wrap="square" lIns="0" tIns="0" rIns="0" bIns="0" rtlCol="0">
            <a:noAutofit/>
          </a:bodyPr>
          <a:lstStyle/>
          <a:p>
            <a:r>
              <a:rPr lang="en-US" altLang="zh-CN" sz="800" b="1">
                <a:solidFill>
                  <a:srgbClr val="BCD6F4"/>
                </a:solidFill>
                <a:latin typeface="Aptos" panose="020B0004020202020204" pitchFamily="34" charset="0"/>
              </a:rPr>
              <a:t>SemCodebook</a:t>
            </a:r>
            <a:endParaRPr lang="zh-CN" altLang="en-US" sz="800" b="1">
              <a:solidFill>
                <a:srgbClr val="BCD6F4"/>
              </a:solidFill>
              <a:latin typeface="Aptos" panose="020B0004020202020204" pitchFamily="34" charset="0"/>
            </a:endParaRPr>
          </a:p>
        </p:txBody>
      </p:sp>
      <p:sp>
        <p:nvSpPr>
          <p:cNvPr id="41" name="metric-value-1">
            <a:extLst>
              <a:ext uri="{FF2B5EF4-FFF2-40B4-BE49-F238E27FC236}">
                <a16:creationId xmlns:a16="http://schemas.microsoft.com/office/drawing/2014/main" id="{E30497F3-874C-05A4-841F-3A7ECB5A5FA8}"/>
              </a:ext>
            </a:extLst>
          </p:cNvPr>
          <p:cNvSpPr txBox="1"/>
          <p:nvPr/>
        </p:nvSpPr>
        <p:spPr>
          <a:xfrm>
            <a:off x="4826000" y="2794000"/>
            <a:ext cx="2413000" cy="276999"/>
          </a:xfrm>
          <a:prstGeom prst="rect">
            <a:avLst/>
          </a:prstGeom>
          <a:noFill/>
        </p:spPr>
        <p:txBody>
          <a:bodyPr vert="horz" wrap="square" lIns="0" tIns="0" rIns="0" bIns="0" rtlCol="0">
            <a:noAutofit/>
          </a:bodyPr>
          <a:lstStyle/>
          <a:p>
            <a:r>
              <a:rPr lang="en-US" altLang="zh-CN" sz="2200" b="1">
                <a:solidFill>
                  <a:srgbClr val="FFFFFF"/>
                </a:solidFill>
                <a:latin typeface="Aptos" panose="020B0004020202020204" pitchFamily="34" charset="0"/>
              </a:rPr>
              <a:t>23,342 / 24,000</a:t>
            </a:r>
            <a:endParaRPr lang="zh-CN" altLang="en-US" sz="2200" b="1">
              <a:solidFill>
                <a:srgbClr val="FFFFFF"/>
              </a:solidFill>
              <a:latin typeface="Aptos" panose="020B0004020202020204" pitchFamily="34" charset="0"/>
            </a:endParaRPr>
          </a:p>
        </p:txBody>
      </p:sp>
      <p:sp>
        <p:nvSpPr>
          <p:cNvPr id="42" name="metric-note-1">
            <a:extLst>
              <a:ext uri="{FF2B5EF4-FFF2-40B4-BE49-F238E27FC236}">
                <a16:creationId xmlns:a16="http://schemas.microsoft.com/office/drawing/2014/main" id="{A290387C-6A74-2A73-94C2-F61012FA3E86}"/>
              </a:ext>
            </a:extLst>
          </p:cNvPr>
          <p:cNvSpPr txBox="1"/>
          <p:nvPr/>
        </p:nvSpPr>
        <p:spPr>
          <a:xfrm>
            <a:off x="4826000" y="3276600"/>
            <a:ext cx="2413000" cy="276999"/>
          </a:xfrm>
          <a:prstGeom prst="rect">
            <a:avLst/>
          </a:prstGeom>
          <a:noFill/>
        </p:spPr>
        <p:txBody>
          <a:bodyPr vert="horz" wrap="square" lIns="0" tIns="0" rIns="0" bIns="0" rtlCol="0">
            <a:noAutofit/>
          </a:bodyPr>
          <a:lstStyle/>
          <a:p>
            <a:r>
              <a:rPr lang="en-US" altLang="zh-CN" sz="720">
                <a:solidFill>
                  <a:srgbClr val="C4DAF6"/>
                </a:solidFill>
                <a:latin typeface="Aptos" panose="020B0004020202020204" pitchFamily="34" charset="0"/>
              </a:rPr>
              <a:t>recoveries; 0/48,000 controls</a:t>
            </a:r>
            <a:endParaRPr lang="zh-CN" altLang="en-US" sz="720">
              <a:solidFill>
                <a:srgbClr val="C4DAF6"/>
              </a:solidFill>
              <a:latin typeface="Aptos" panose="020B0004020202020204" pitchFamily="34" charset="0"/>
            </a:endParaRPr>
          </a:p>
        </p:txBody>
      </p:sp>
      <p:sp>
        <p:nvSpPr>
          <p:cNvPr id="43" name="metric-2">
            <a:extLst>
              <a:ext uri="{FF2B5EF4-FFF2-40B4-BE49-F238E27FC236}">
                <a16:creationId xmlns:a16="http://schemas.microsoft.com/office/drawing/2014/main" id="{90D137A2-3FF7-549E-C16E-8200E88FEE99}"/>
              </a:ext>
            </a:extLst>
          </p:cNvPr>
          <p:cNvSpPr/>
          <p:nvPr/>
        </p:nvSpPr>
        <p:spPr>
          <a:xfrm>
            <a:off x="8229600" y="2006600"/>
            <a:ext cx="3149600" cy="1625600"/>
          </a:xfrm>
          <a:prstGeom prst="rect">
            <a:avLst/>
          </a:prstGeom>
          <a:solidFill>
            <a:srgbClr val="0D2A57"/>
          </a:solidFill>
          <a:ln w="12700">
            <a:solidFill>
              <a:srgbClr val="478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metric-band-2">
            <a:extLst>
              <a:ext uri="{FF2B5EF4-FFF2-40B4-BE49-F238E27FC236}">
                <a16:creationId xmlns:a16="http://schemas.microsoft.com/office/drawing/2014/main" id="{6ACF1B15-084E-CA47-F27E-174457750CDB}"/>
              </a:ext>
            </a:extLst>
          </p:cNvPr>
          <p:cNvSpPr/>
          <p:nvPr/>
        </p:nvSpPr>
        <p:spPr>
          <a:xfrm>
            <a:off x="8229600" y="2006600"/>
            <a:ext cx="76200" cy="1625600"/>
          </a:xfrm>
          <a:prstGeom prst="rect">
            <a:avLst/>
          </a:prstGeom>
          <a:solidFill>
            <a:srgbClr val="EE9122"/>
          </a:solidFill>
          <a:ln w="12700">
            <a:solidFill>
              <a:srgbClr val="EE91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metric-label-2">
            <a:extLst>
              <a:ext uri="{FF2B5EF4-FFF2-40B4-BE49-F238E27FC236}">
                <a16:creationId xmlns:a16="http://schemas.microsoft.com/office/drawing/2014/main" id="{29AD8B72-5AF5-A230-DD25-C435EAEDBA55}"/>
              </a:ext>
            </a:extLst>
          </p:cNvPr>
          <p:cNvSpPr txBox="1"/>
          <p:nvPr/>
        </p:nvSpPr>
        <p:spPr>
          <a:xfrm>
            <a:off x="8534400" y="2311400"/>
            <a:ext cx="2286000" cy="276999"/>
          </a:xfrm>
          <a:prstGeom prst="rect">
            <a:avLst/>
          </a:prstGeom>
          <a:noFill/>
        </p:spPr>
        <p:txBody>
          <a:bodyPr vert="horz" wrap="square" lIns="0" tIns="0" rIns="0" bIns="0" rtlCol="0">
            <a:noAutofit/>
          </a:bodyPr>
          <a:lstStyle/>
          <a:p>
            <a:r>
              <a:rPr lang="en-US" altLang="zh-CN" sz="800" b="1">
                <a:solidFill>
                  <a:srgbClr val="BCD6F4"/>
                </a:solidFill>
                <a:latin typeface="Aptos" panose="020B0004020202020204" pitchFamily="34" charset="0"/>
              </a:rPr>
              <a:t>ProbeTrace</a:t>
            </a:r>
            <a:endParaRPr lang="zh-CN" altLang="en-US" sz="800" b="1">
              <a:solidFill>
                <a:srgbClr val="BCD6F4"/>
              </a:solidFill>
              <a:latin typeface="Aptos" panose="020B0004020202020204" pitchFamily="34" charset="0"/>
            </a:endParaRPr>
          </a:p>
        </p:txBody>
      </p:sp>
      <p:sp>
        <p:nvSpPr>
          <p:cNvPr id="46" name="metric-value-2">
            <a:extLst>
              <a:ext uri="{FF2B5EF4-FFF2-40B4-BE49-F238E27FC236}">
                <a16:creationId xmlns:a16="http://schemas.microsoft.com/office/drawing/2014/main" id="{F1D20E46-27A2-0B83-25D4-63D54558CC9F}"/>
              </a:ext>
            </a:extLst>
          </p:cNvPr>
          <p:cNvSpPr txBox="1"/>
          <p:nvPr/>
        </p:nvSpPr>
        <p:spPr>
          <a:xfrm>
            <a:off x="8534400" y="2794000"/>
            <a:ext cx="2413000" cy="276999"/>
          </a:xfrm>
          <a:prstGeom prst="rect">
            <a:avLst/>
          </a:prstGeom>
          <a:noFill/>
        </p:spPr>
        <p:txBody>
          <a:bodyPr vert="horz" wrap="square" lIns="0" tIns="0" rIns="0" bIns="0" rtlCol="0">
            <a:noAutofit/>
          </a:bodyPr>
          <a:lstStyle/>
          <a:p>
            <a:r>
              <a:rPr lang="en-US" altLang="zh-CN" sz="2200" b="1">
                <a:solidFill>
                  <a:srgbClr val="FFFFFF"/>
                </a:solidFill>
                <a:latin typeface="Aptos" panose="020B0004020202020204" pitchFamily="34" charset="0"/>
              </a:rPr>
              <a:t>300 / 300</a:t>
            </a:r>
            <a:endParaRPr lang="zh-CN" altLang="en-US" sz="2200" b="1">
              <a:solidFill>
                <a:srgbClr val="FFFFFF"/>
              </a:solidFill>
              <a:latin typeface="Aptos" panose="020B0004020202020204" pitchFamily="34" charset="0"/>
            </a:endParaRPr>
          </a:p>
        </p:txBody>
      </p:sp>
      <p:sp>
        <p:nvSpPr>
          <p:cNvPr id="47" name="metric-note-2">
            <a:extLst>
              <a:ext uri="{FF2B5EF4-FFF2-40B4-BE49-F238E27FC236}">
                <a16:creationId xmlns:a16="http://schemas.microsoft.com/office/drawing/2014/main" id="{991A5E86-E099-2935-3483-F4FE408721E3}"/>
              </a:ext>
            </a:extLst>
          </p:cNvPr>
          <p:cNvSpPr txBox="1"/>
          <p:nvPr/>
        </p:nvSpPr>
        <p:spPr>
          <a:xfrm>
            <a:off x="8534400" y="3276600"/>
            <a:ext cx="2413000" cy="276999"/>
          </a:xfrm>
          <a:prstGeom prst="rect">
            <a:avLst/>
          </a:prstGeom>
          <a:noFill/>
        </p:spPr>
        <p:txBody>
          <a:bodyPr vert="horz" wrap="square" lIns="0" tIns="0" rIns="0" bIns="0" rtlCol="0">
            <a:noAutofit/>
          </a:bodyPr>
          <a:lstStyle/>
          <a:p>
            <a:r>
              <a:rPr lang="en-US" altLang="zh-CN" sz="720">
                <a:solidFill>
                  <a:srgbClr val="C4DAF6"/>
                </a:solidFill>
                <a:latin typeface="Aptos" panose="020B0004020202020204" pitchFamily="34" charset="0"/>
              </a:rPr>
              <a:t>scoped decisions; 0/1,200 controls</a:t>
            </a:r>
            <a:endParaRPr lang="zh-CN" altLang="en-US" sz="720">
              <a:solidFill>
                <a:srgbClr val="C4DAF6"/>
              </a:solidFill>
              <a:latin typeface="Aptos" panose="020B0004020202020204" pitchFamily="34" charset="0"/>
            </a:endParaRPr>
          </a:p>
        </p:txBody>
      </p:sp>
      <p:sp>
        <p:nvSpPr>
          <p:cNvPr id="48" name="fig-frame">
            <a:extLst>
              <a:ext uri="{FF2B5EF4-FFF2-40B4-BE49-F238E27FC236}">
                <a16:creationId xmlns:a16="http://schemas.microsoft.com/office/drawing/2014/main" id="{8CA33AAF-946C-1B8C-06AD-D1AE32209537}"/>
              </a:ext>
            </a:extLst>
          </p:cNvPr>
          <p:cNvSpPr/>
          <p:nvPr/>
        </p:nvSpPr>
        <p:spPr>
          <a:xfrm>
            <a:off x="939800" y="4216400"/>
            <a:ext cx="10312400" cy="1041400"/>
          </a:xfrm>
          <a:prstGeom prst="rect">
            <a:avLst/>
          </a:prstGeom>
          <a:solidFill>
            <a:srgbClr val="FFFFFF"/>
          </a:solidFill>
          <a:ln w="1270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0" name="sem-compact">
            <a:extLst>
              <a:ext uri="{FF2B5EF4-FFF2-40B4-BE49-F238E27FC236}">
                <a16:creationId xmlns:a16="http://schemas.microsoft.com/office/drawing/2014/main" id="{0C4E8C86-E6FF-8FFC-F2B5-6C3FEDD453F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811018" y="4241800"/>
            <a:ext cx="2569963" cy="1041400"/>
          </a:xfrm>
          <a:prstGeom prst="rect">
            <a:avLst/>
          </a:prstGeom>
        </p:spPr>
      </p:pic>
      <p:sp>
        <p:nvSpPr>
          <p:cNvPr id="51" name="caveat">
            <a:extLst>
              <a:ext uri="{FF2B5EF4-FFF2-40B4-BE49-F238E27FC236}">
                <a16:creationId xmlns:a16="http://schemas.microsoft.com/office/drawing/2014/main" id="{A2160760-31DC-52B2-D005-650D5B8178D1}"/>
              </a:ext>
            </a:extLst>
          </p:cNvPr>
          <p:cNvSpPr txBox="1"/>
          <p:nvPr/>
        </p:nvSpPr>
        <p:spPr>
          <a:xfrm>
            <a:off x="1270000" y="5740400"/>
            <a:ext cx="9652000" cy="276999"/>
          </a:xfrm>
          <a:prstGeom prst="rect">
            <a:avLst/>
          </a:prstGeom>
          <a:noFill/>
        </p:spPr>
        <p:txBody>
          <a:bodyPr vert="horz" wrap="square" lIns="0" tIns="0" rIns="0" bIns="0" rtlCol="0">
            <a:noAutofit/>
          </a:bodyPr>
          <a:lstStyle/>
          <a:p>
            <a:r>
              <a:rPr lang="en-US" altLang="zh-CN" sz="850" b="1">
                <a:solidFill>
                  <a:srgbClr val="FFFFFF"/>
                </a:solidFill>
                <a:latin typeface="Aptos" panose="020B0004020202020204" pitchFamily="34" charset="0"/>
              </a:rPr>
              <a:t>Important qualifier: these are access-specific results, not a universal watermarking guarantee.</a:t>
            </a:r>
            <a:endParaRPr lang="zh-CN" altLang="en-US" sz="850" b="1">
              <a:solidFill>
                <a:srgbClr val="FFFFFF"/>
              </a:solidFill>
              <a:latin typeface="Aptos" panose="020B0004020202020204" pitchFamily="34" charset="0"/>
            </a:endParaRPr>
          </a:p>
        </p:txBody>
      </p:sp>
      <p:pic>
        <p:nvPicPr>
          <p:cNvPr id="53" name="图片 52">
            <a:extLst>
              <a:ext uri="{FF2B5EF4-FFF2-40B4-BE49-F238E27FC236}">
                <a16:creationId xmlns:a16="http://schemas.microsoft.com/office/drawing/2014/main" id="{F8510071-4D83-C590-BBF7-6548AC21A1F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Tree>
    <p:extLst>
      <p:ext uri="{BB962C8B-B14F-4D97-AF65-F5344CB8AC3E}">
        <p14:creationId xmlns:p14="http://schemas.microsoft.com/office/powerpoint/2010/main" val="2884546206"/>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86DBF5F0-55FF-6B08-25E7-0A44BE3168B4}"/>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670BEF7E-B36F-BD82-FF45-0930172CE0AE}"/>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0A7C7AF9-BBF9-DEF9-801E-445EA2D1988B}"/>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4BE15C12-EEFD-6397-9A11-9AEF45E412AE}"/>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C7FCB9D8-A41B-3A19-9F54-DC386058CE06}"/>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B7EF31BF-C5E5-278D-1748-F390B192FF67}"/>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08</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AD1CD8B0-4D40-CBD9-6134-D5A9A6CC9134}"/>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RESULTS</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4F2C7C76-16E0-7069-4C30-F2B77C22B75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7BC23FFC-12CC-E845-9DC9-1B82257D12A1}"/>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Conservative evidence prevents overclaiming</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6247FFF3-EFA5-98EE-6259-B7B563BB4E79}"/>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The black-box and triage stages are valuable because they keep null results and abstention visible.</a:t>
            </a:r>
            <a:endParaRPr lang="zh-CN" altLang="en-US" sz="950">
              <a:solidFill>
                <a:srgbClr val="536580"/>
              </a:solidFill>
              <a:latin typeface="Aptos" panose="020B0004020202020204" pitchFamily="34" charset="0"/>
            </a:endParaRPr>
          </a:p>
        </p:txBody>
      </p:sp>
      <p:sp>
        <p:nvSpPr>
          <p:cNvPr id="13" name="fig-frame">
            <a:extLst>
              <a:ext uri="{FF2B5EF4-FFF2-40B4-BE49-F238E27FC236}">
                <a16:creationId xmlns:a16="http://schemas.microsoft.com/office/drawing/2014/main" id="{548C2C9C-1E16-6AD9-5EB0-EA11C953DE47}"/>
              </a:ext>
            </a:extLst>
          </p:cNvPr>
          <p:cNvSpPr/>
          <p:nvPr/>
        </p:nvSpPr>
        <p:spPr>
          <a:xfrm>
            <a:off x="889000" y="1651000"/>
            <a:ext cx="10414000" cy="2997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blackbox-table">
            <a:extLst>
              <a:ext uri="{FF2B5EF4-FFF2-40B4-BE49-F238E27FC236}">
                <a16:creationId xmlns:a16="http://schemas.microsoft.com/office/drawing/2014/main" id="{C91CBF31-D22C-9E4D-6345-97201B580F62}"/>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211586" y="1930400"/>
            <a:ext cx="5768828" cy="2413000"/>
          </a:xfrm>
          <a:prstGeom prst="rect">
            <a:avLst/>
          </a:prstGeom>
        </p:spPr>
      </p:pic>
      <p:sp>
        <p:nvSpPr>
          <p:cNvPr id="16" name="left">
            <a:extLst>
              <a:ext uri="{FF2B5EF4-FFF2-40B4-BE49-F238E27FC236}">
                <a16:creationId xmlns:a16="http://schemas.microsoft.com/office/drawing/2014/main" id="{A7BE5099-774C-6FD5-630F-0F51CD7902BE}"/>
              </a:ext>
            </a:extLst>
          </p:cNvPr>
          <p:cNvSpPr/>
          <p:nvPr/>
        </p:nvSpPr>
        <p:spPr>
          <a:xfrm>
            <a:off x="1193800" y="5029200"/>
            <a:ext cx="4495800" cy="685800"/>
          </a:xfrm>
          <a:prstGeom prst="rect">
            <a:avLst/>
          </a:prstGeom>
          <a:solidFill>
            <a:srgbClr val="E7F1FF"/>
          </a:solidFill>
          <a:ln w="12700">
            <a:solidFill>
              <a:srgbClr val="AFCDF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left-main">
            <a:extLst>
              <a:ext uri="{FF2B5EF4-FFF2-40B4-BE49-F238E27FC236}">
                <a16:creationId xmlns:a16="http://schemas.microsoft.com/office/drawing/2014/main" id="{7C23190F-1EF9-AE5F-C351-F923AF803039}"/>
              </a:ext>
            </a:extLst>
          </p:cNvPr>
          <p:cNvSpPr txBox="1"/>
          <p:nvPr/>
        </p:nvSpPr>
        <p:spPr>
          <a:xfrm>
            <a:off x="1524000" y="5232400"/>
            <a:ext cx="3810000" cy="276999"/>
          </a:xfrm>
          <a:prstGeom prst="rect">
            <a:avLst/>
          </a:prstGeom>
          <a:noFill/>
        </p:spPr>
        <p:txBody>
          <a:bodyPr vert="horz" wrap="square" lIns="0" tIns="0" rIns="0" bIns="0" rtlCol="0">
            <a:noAutofit/>
          </a:bodyPr>
          <a:lstStyle/>
          <a:p>
            <a:r>
              <a:rPr lang="en-US" altLang="zh-CN" sz="850" b="1">
                <a:solidFill>
                  <a:srgbClr val="004080"/>
                </a:solidFill>
                <a:latin typeface="Aptos" panose="020B0004020202020204" pitchFamily="34" charset="0"/>
              </a:rPr>
              <a:t>CodeDye: 6/300 sparse live signals, with controls reported separately.</a:t>
            </a:r>
            <a:endParaRPr lang="zh-CN" altLang="en-US" sz="850" b="1">
              <a:solidFill>
                <a:srgbClr val="004080"/>
              </a:solidFill>
              <a:latin typeface="Aptos" panose="020B0004020202020204" pitchFamily="34" charset="0"/>
            </a:endParaRPr>
          </a:p>
        </p:txBody>
      </p:sp>
      <p:sp>
        <p:nvSpPr>
          <p:cNvPr id="18" name="right">
            <a:extLst>
              <a:ext uri="{FF2B5EF4-FFF2-40B4-BE49-F238E27FC236}">
                <a16:creationId xmlns:a16="http://schemas.microsoft.com/office/drawing/2014/main" id="{FFA6E64B-2DB7-D0D9-92A8-4FC047EB3289}"/>
              </a:ext>
            </a:extLst>
          </p:cNvPr>
          <p:cNvSpPr/>
          <p:nvPr/>
        </p:nvSpPr>
        <p:spPr>
          <a:xfrm>
            <a:off x="6502400" y="5029200"/>
            <a:ext cx="4495800" cy="685800"/>
          </a:xfrm>
          <a:prstGeom prst="rect">
            <a:avLst/>
          </a:prstGeom>
          <a:solidFill>
            <a:srgbClr val="FFF5E0"/>
          </a:solidFill>
          <a:ln w="12700">
            <a:solidFill>
              <a:srgbClr val="F5BE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right-main">
            <a:extLst>
              <a:ext uri="{FF2B5EF4-FFF2-40B4-BE49-F238E27FC236}">
                <a16:creationId xmlns:a16="http://schemas.microsoft.com/office/drawing/2014/main" id="{FC16714E-0549-BA2B-AA22-720FA914B90E}"/>
              </a:ext>
            </a:extLst>
          </p:cNvPr>
          <p:cNvSpPr txBox="1"/>
          <p:nvPr/>
        </p:nvSpPr>
        <p:spPr>
          <a:xfrm>
            <a:off x="6832600" y="5232400"/>
            <a:ext cx="3810000" cy="276999"/>
          </a:xfrm>
          <a:prstGeom prst="rect">
            <a:avLst/>
          </a:prstGeom>
          <a:noFill/>
        </p:spPr>
        <p:txBody>
          <a:bodyPr vert="horz" wrap="square" lIns="0" tIns="0" rIns="0" bIns="0" rtlCol="0">
            <a:noAutofit/>
          </a:bodyPr>
          <a:lstStyle/>
          <a:p>
            <a:r>
              <a:rPr lang="en-US" altLang="zh-CN" sz="850" b="1">
                <a:solidFill>
                  <a:srgbClr val="5C3A0C"/>
                </a:solidFill>
                <a:latin typeface="Aptos" panose="020B0004020202020204" pitchFamily="34" charset="0"/>
              </a:rPr>
              <a:t>SealAudit: 81/960 decisive triage outcomes; nondecisive rows are not relabeled.</a:t>
            </a:r>
            <a:endParaRPr lang="zh-CN" altLang="en-US" sz="850" b="1">
              <a:solidFill>
                <a:srgbClr val="5C3A0C"/>
              </a:solidFill>
              <a:latin typeface="Aptos" panose="020B0004020202020204" pitchFamily="34" charset="0"/>
            </a:endParaRPr>
          </a:p>
        </p:txBody>
      </p:sp>
    </p:spTree>
    <p:extLst>
      <p:ext uri="{BB962C8B-B14F-4D97-AF65-F5344CB8AC3E}">
        <p14:creationId xmlns:p14="http://schemas.microsoft.com/office/powerpoint/2010/main" val="1414268189"/>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F6E13EAF-31D6-3EB8-12B9-FAC1FEB97428}"/>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731D24AF-6775-2ABA-683D-D5CA9EE08003}"/>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E7C636A5-4C98-FA71-107B-9A9D1A04C3A6}"/>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8CDFC1CB-5D78-4FE8-0A09-1AAD4CF104AB}"/>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AADF7929-31B0-020D-128C-5CFDFE212535}"/>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2F901F27-F6BB-16FE-56BB-2EE7C5616D71}"/>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09</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5F3E3D06-84E3-6D8C-9D97-42FD80E94C43}"/>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EVALUATION</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96035878-DE00-D2C6-035A-00E6156B7E2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FB85C1F7-A2B5-A4BF-5341-CF96C71F0191}"/>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The evaluation reports tradeoffs, not only wins</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12E403AA-80FE-2DBD-E50B-410FBC0F6629}"/>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A strong viva answer should show where the method is robust and where the boundary is.</a:t>
            </a:r>
            <a:endParaRPr lang="zh-CN" altLang="en-US" sz="950">
              <a:solidFill>
                <a:srgbClr val="536580"/>
              </a:solidFill>
              <a:latin typeface="Aptos" panose="020B0004020202020204" pitchFamily="34" charset="0"/>
            </a:endParaRPr>
          </a:p>
        </p:txBody>
      </p:sp>
      <p:sp>
        <p:nvSpPr>
          <p:cNvPr id="13" name="fig-frame">
            <a:extLst>
              <a:ext uri="{FF2B5EF4-FFF2-40B4-BE49-F238E27FC236}">
                <a16:creationId xmlns:a16="http://schemas.microsoft.com/office/drawing/2014/main" id="{4C556746-6B97-1FB0-A25E-61BF58389371}"/>
              </a:ext>
            </a:extLst>
          </p:cNvPr>
          <p:cNvSpPr/>
          <p:nvPr/>
        </p:nvSpPr>
        <p:spPr>
          <a:xfrm>
            <a:off x="889000" y="1701800"/>
            <a:ext cx="10414000" cy="31750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tradeoff">
            <a:extLst>
              <a:ext uri="{FF2B5EF4-FFF2-40B4-BE49-F238E27FC236}">
                <a16:creationId xmlns:a16="http://schemas.microsoft.com/office/drawing/2014/main" id="{4CE3BE27-EE8A-B67A-B9B6-3B5827EFE90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967841" y="1930400"/>
            <a:ext cx="6256319" cy="2667000"/>
          </a:xfrm>
          <a:prstGeom prst="rect">
            <a:avLst/>
          </a:prstGeom>
        </p:spPr>
      </p:pic>
      <p:sp>
        <p:nvSpPr>
          <p:cNvPr id="16" name="message">
            <a:extLst>
              <a:ext uri="{FF2B5EF4-FFF2-40B4-BE49-F238E27FC236}">
                <a16:creationId xmlns:a16="http://schemas.microsoft.com/office/drawing/2014/main" id="{1D858FC6-DCF9-3EF8-940E-C1F6FCA38942}"/>
              </a:ext>
            </a:extLst>
          </p:cNvPr>
          <p:cNvSpPr/>
          <p:nvPr/>
        </p:nvSpPr>
        <p:spPr>
          <a:xfrm>
            <a:off x="2209800" y="5257800"/>
            <a:ext cx="7772400" cy="4572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message-text">
            <a:extLst>
              <a:ext uri="{FF2B5EF4-FFF2-40B4-BE49-F238E27FC236}">
                <a16:creationId xmlns:a16="http://schemas.microsoft.com/office/drawing/2014/main" id="{3BDE1F55-8504-BF7A-68E9-412A82524BD7}"/>
              </a:ext>
            </a:extLst>
          </p:cNvPr>
          <p:cNvSpPr txBox="1"/>
          <p:nvPr/>
        </p:nvSpPr>
        <p:spPr>
          <a:xfrm>
            <a:off x="2616200" y="5410200"/>
            <a:ext cx="6985000" cy="276999"/>
          </a:xfrm>
          <a:prstGeom prst="rect">
            <a:avLst/>
          </a:prstGeom>
          <a:noFill/>
        </p:spPr>
        <p:txBody>
          <a:bodyPr vert="horz" wrap="square" lIns="0" tIns="0" rIns="0" bIns="0" rtlCol="0">
            <a:noAutofit/>
          </a:bodyPr>
          <a:lstStyle/>
          <a:p>
            <a:r>
              <a:rPr lang="en-US" altLang="zh-CN" sz="880" b="1">
                <a:solidFill>
                  <a:srgbClr val="FFFFFF"/>
                </a:solidFill>
                <a:latin typeface="Aptos" panose="020B0004020202020204" pitchFamily="34" charset="0"/>
              </a:rPr>
              <a:t>The framework makes release scale and robustness visible before any claim is made.</a:t>
            </a:r>
            <a:endParaRPr lang="zh-CN" altLang="en-US" sz="880" b="1">
              <a:solidFill>
                <a:srgbClr val="FFFFFF"/>
              </a:solidFill>
              <a:latin typeface="Aptos" panose="020B0004020202020204" pitchFamily="34" charset="0"/>
            </a:endParaRPr>
          </a:p>
        </p:txBody>
      </p:sp>
    </p:spTree>
    <p:extLst>
      <p:ext uri="{BB962C8B-B14F-4D97-AF65-F5344CB8AC3E}">
        <p14:creationId xmlns:p14="http://schemas.microsoft.com/office/powerpoint/2010/main" val="651090309"/>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7B94B9D1-D051-212E-5DB0-8D4FD5AB8E79}"/>
              </a:ext>
            </a:extLst>
          </p:cNvPr>
          <p:cNvSpPr/>
          <p:nvPr/>
        </p:nvSpPr>
        <p:spPr>
          <a:xfrm>
            <a:off x="0" y="0"/>
            <a:ext cx="121920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dark-panel">
            <a:extLst>
              <a:ext uri="{FF2B5EF4-FFF2-40B4-BE49-F238E27FC236}">
                <a16:creationId xmlns:a16="http://schemas.microsoft.com/office/drawing/2014/main" id="{AFA9303C-E8F6-5127-7591-F351D11013A0}"/>
              </a:ext>
            </a:extLst>
          </p:cNvPr>
          <p:cNvSpPr/>
          <p:nvPr/>
        </p:nvSpPr>
        <p:spPr>
          <a:xfrm>
            <a:off x="0" y="0"/>
            <a:ext cx="12192000" cy="6858000"/>
          </a:xfrm>
          <a:prstGeom prst="rect">
            <a:avLst/>
          </a:prstGeom>
          <a:solidFill>
            <a:srgbClr val="032048">
              <a:alpha val="9000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grid-v-0">
            <a:extLst>
              <a:ext uri="{FF2B5EF4-FFF2-40B4-BE49-F238E27FC236}">
                <a16:creationId xmlns:a16="http://schemas.microsoft.com/office/drawing/2014/main" id="{D7D32D47-FE31-5025-49EE-39A3E696DC18}"/>
              </a:ext>
            </a:extLst>
          </p:cNvPr>
          <p:cNvCxnSpPr/>
          <p:nvPr/>
        </p:nvCxnSpPr>
        <p:spPr>
          <a:xfrm>
            <a:off x="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5" name="grid-v-64">
            <a:extLst>
              <a:ext uri="{FF2B5EF4-FFF2-40B4-BE49-F238E27FC236}">
                <a16:creationId xmlns:a16="http://schemas.microsoft.com/office/drawing/2014/main" id="{136D5AAC-D4E2-9481-27F8-C9C6AD7D296C}"/>
              </a:ext>
            </a:extLst>
          </p:cNvPr>
          <p:cNvCxnSpPr/>
          <p:nvPr/>
        </p:nvCxnSpPr>
        <p:spPr>
          <a:xfrm>
            <a:off x="812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6" name="grid-v-128">
            <a:extLst>
              <a:ext uri="{FF2B5EF4-FFF2-40B4-BE49-F238E27FC236}">
                <a16:creationId xmlns:a16="http://schemas.microsoft.com/office/drawing/2014/main" id="{B16883B1-E84F-3C61-5C06-8C99BA81DCE1}"/>
              </a:ext>
            </a:extLst>
          </p:cNvPr>
          <p:cNvCxnSpPr/>
          <p:nvPr/>
        </p:nvCxnSpPr>
        <p:spPr>
          <a:xfrm>
            <a:off x="1625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7" name="grid-v-192">
            <a:extLst>
              <a:ext uri="{FF2B5EF4-FFF2-40B4-BE49-F238E27FC236}">
                <a16:creationId xmlns:a16="http://schemas.microsoft.com/office/drawing/2014/main" id="{8AA8F484-28C4-3D61-8CEB-DA42D2A0F533}"/>
              </a:ext>
            </a:extLst>
          </p:cNvPr>
          <p:cNvCxnSpPr/>
          <p:nvPr/>
        </p:nvCxnSpPr>
        <p:spPr>
          <a:xfrm>
            <a:off x="2438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8" name="grid-v-256">
            <a:extLst>
              <a:ext uri="{FF2B5EF4-FFF2-40B4-BE49-F238E27FC236}">
                <a16:creationId xmlns:a16="http://schemas.microsoft.com/office/drawing/2014/main" id="{35999B90-E4FE-48F9-0F2A-7AB4F0CCCFB8}"/>
              </a:ext>
            </a:extLst>
          </p:cNvPr>
          <p:cNvCxnSpPr/>
          <p:nvPr/>
        </p:nvCxnSpPr>
        <p:spPr>
          <a:xfrm>
            <a:off x="3251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9" name="grid-v-320">
            <a:extLst>
              <a:ext uri="{FF2B5EF4-FFF2-40B4-BE49-F238E27FC236}">
                <a16:creationId xmlns:a16="http://schemas.microsoft.com/office/drawing/2014/main" id="{40BD0EDF-BE56-E2F1-494E-60391583D60A}"/>
              </a:ext>
            </a:extLst>
          </p:cNvPr>
          <p:cNvCxnSpPr/>
          <p:nvPr/>
        </p:nvCxnSpPr>
        <p:spPr>
          <a:xfrm>
            <a:off x="4064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0" name="grid-v-384">
            <a:extLst>
              <a:ext uri="{FF2B5EF4-FFF2-40B4-BE49-F238E27FC236}">
                <a16:creationId xmlns:a16="http://schemas.microsoft.com/office/drawing/2014/main" id="{31E8F77C-4900-2293-117F-4F46CB3CC5EC}"/>
              </a:ext>
            </a:extLst>
          </p:cNvPr>
          <p:cNvCxnSpPr/>
          <p:nvPr/>
        </p:nvCxnSpPr>
        <p:spPr>
          <a:xfrm>
            <a:off x="4876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1" name="grid-v-448">
            <a:extLst>
              <a:ext uri="{FF2B5EF4-FFF2-40B4-BE49-F238E27FC236}">
                <a16:creationId xmlns:a16="http://schemas.microsoft.com/office/drawing/2014/main" id="{0839A33A-840F-9390-EB2B-A80B0CE17BC6}"/>
              </a:ext>
            </a:extLst>
          </p:cNvPr>
          <p:cNvCxnSpPr/>
          <p:nvPr/>
        </p:nvCxnSpPr>
        <p:spPr>
          <a:xfrm>
            <a:off x="5689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2" name="grid-v-512">
            <a:extLst>
              <a:ext uri="{FF2B5EF4-FFF2-40B4-BE49-F238E27FC236}">
                <a16:creationId xmlns:a16="http://schemas.microsoft.com/office/drawing/2014/main" id="{3459EF24-9B26-C393-5CC3-B89BA8FA4074}"/>
              </a:ext>
            </a:extLst>
          </p:cNvPr>
          <p:cNvCxnSpPr/>
          <p:nvPr/>
        </p:nvCxnSpPr>
        <p:spPr>
          <a:xfrm>
            <a:off x="6502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3" name="grid-v-576">
            <a:extLst>
              <a:ext uri="{FF2B5EF4-FFF2-40B4-BE49-F238E27FC236}">
                <a16:creationId xmlns:a16="http://schemas.microsoft.com/office/drawing/2014/main" id="{E098F5B8-1245-529A-170F-6545F13E15B4}"/>
              </a:ext>
            </a:extLst>
          </p:cNvPr>
          <p:cNvCxnSpPr/>
          <p:nvPr/>
        </p:nvCxnSpPr>
        <p:spPr>
          <a:xfrm>
            <a:off x="7315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4" name="grid-v-640">
            <a:extLst>
              <a:ext uri="{FF2B5EF4-FFF2-40B4-BE49-F238E27FC236}">
                <a16:creationId xmlns:a16="http://schemas.microsoft.com/office/drawing/2014/main" id="{FE80CABC-E895-BD17-3E2D-4D5210905193}"/>
              </a:ext>
            </a:extLst>
          </p:cNvPr>
          <p:cNvCxnSpPr/>
          <p:nvPr/>
        </p:nvCxnSpPr>
        <p:spPr>
          <a:xfrm>
            <a:off x="8128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5" name="grid-v-704">
            <a:extLst>
              <a:ext uri="{FF2B5EF4-FFF2-40B4-BE49-F238E27FC236}">
                <a16:creationId xmlns:a16="http://schemas.microsoft.com/office/drawing/2014/main" id="{84CDABF7-839A-E657-ECBD-8BEEF811F31E}"/>
              </a:ext>
            </a:extLst>
          </p:cNvPr>
          <p:cNvCxnSpPr/>
          <p:nvPr/>
        </p:nvCxnSpPr>
        <p:spPr>
          <a:xfrm>
            <a:off x="8940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6" name="grid-v-768">
            <a:extLst>
              <a:ext uri="{FF2B5EF4-FFF2-40B4-BE49-F238E27FC236}">
                <a16:creationId xmlns:a16="http://schemas.microsoft.com/office/drawing/2014/main" id="{72A140B4-6332-AB24-D849-769DB59F39BD}"/>
              </a:ext>
            </a:extLst>
          </p:cNvPr>
          <p:cNvCxnSpPr/>
          <p:nvPr/>
        </p:nvCxnSpPr>
        <p:spPr>
          <a:xfrm>
            <a:off x="9753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7" name="grid-v-832">
            <a:extLst>
              <a:ext uri="{FF2B5EF4-FFF2-40B4-BE49-F238E27FC236}">
                <a16:creationId xmlns:a16="http://schemas.microsoft.com/office/drawing/2014/main" id="{D59B3C0D-ABD2-7884-5FDE-A2165BBA345E}"/>
              </a:ext>
            </a:extLst>
          </p:cNvPr>
          <p:cNvCxnSpPr/>
          <p:nvPr/>
        </p:nvCxnSpPr>
        <p:spPr>
          <a:xfrm>
            <a:off x="10566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8" name="grid-v-896">
            <a:extLst>
              <a:ext uri="{FF2B5EF4-FFF2-40B4-BE49-F238E27FC236}">
                <a16:creationId xmlns:a16="http://schemas.microsoft.com/office/drawing/2014/main" id="{25F55B05-6641-8ED0-F2EC-040E2238D669}"/>
              </a:ext>
            </a:extLst>
          </p:cNvPr>
          <p:cNvCxnSpPr/>
          <p:nvPr/>
        </p:nvCxnSpPr>
        <p:spPr>
          <a:xfrm>
            <a:off x="11379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9" name="grid-v-960">
            <a:extLst>
              <a:ext uri="{FF2B5EF4-FFF2-40B4-BE49-F238E27FC236}">
                <a16:creationId xmlns:a16="http://schemas.microsoft.com/office/drawing/2014/main" id="{005ADD99-6C40-B937-D5F0-7CFC6914D38A}"/>
              </a:ext>
            </a:extLst>
          </p:cNvPr>
          <p:cNvCxnSpPr/>
          <p:nvPr/>
        </p:nvCxnSpPr>
        <p:spPr>
          <a:xfrm>
            <a:off x="12192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0" name="grid-h-0">
            <a:extLst>
              <a:ext uri="{FF2B5EF4-FFF2-40B4-BE49-F238E27FC236}">
                <a16:creationId xmlns:a16="http://schemas.microsoft.com/office/drawing/2014/main" id="{1A1A4006-94C0-E9FB-D5A5-502F3691EA92}"/>
              </a:ext>
            </a:extLst>
          </p:cNvPr>
          <p:cNvCxnSpPr/>
          <p:nvPr/>
        </p:nvCxnSpPr>
        <p:spPr>
          <a:xfrm>
            <a:off x="0" y="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1" name="grid-h-64">
            <a:extLst>
              <a:ext uri="{FF2B5EF4-FFF2-40B4-BE49-F238E27FC236}">
                <a16:creationId xmlns:a16="http://schemas.microsoft.com/office/drawing/2014/main" id="{A335B8DE-989E-BAFC-B7DF-70C9313F59B6}"/>
              </a:ext>
            </a:extLst>
          </p:cNvPr>
          <p:cNvCxnSpPr/>
          <p:nvPr/>
        </p:nvCxnSpPr>
        <p:spPr>
          <a:xfrm>
            <a:off x="0" y="812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2" name="grid-h-128">
            <a:extLst>
              <a:ext uri="{FF2B5EF4-FFF2-40B4-BE49-F238E27FC236}">
                <a16:creationId xmlns:a16="http://schemas.microsoft.com/office/drawing/2014/main" id="{9BD46EE7-1DB9-8D0B-C053-FFF633F7D33E}"/>
              </a:ext>
            </a:extLst>
          </p:cNvPr>
          <p:cNvCxnSpPr/>
          <p:nvPr/>
        </p:nvCxnSpPr>
        <p:spPr>
          <a:xfrm>
            <a:off x="0" y="1625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3" name="grid-h-192">
            <a:extLst>
              <a:ext uri="{FF2B5EF4-FFF2-40B4-BE49-F238E27FC236}">
                <a16:creationId xmlns:a16="http://schemas.microsoft.com/office/drawing/2014/main" id="{E705AB2A-184D-8B04-7E59-748E0E385DBC}"/>
              </a:ext>
            </a:extLst>
          </p:cNvPr>
          <p:cNvCxnSpPr/>
          <p:nvPr/>
        </p:nvCxnSpPr>
        <p:spPr>
          <a:xfrm>
            <a:off x="0" y="2438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4" name="grid-h-256">
            <a:extLst>
              <a:ext uri="{FF2B5EF4-FFF2-40B4-BE49-F238E27FC236}">
                <a16:creationId xmlns:a16="http://schemas.microsoft.com/office/drawing/2014/main" id="{5D072CCE-F209-5126-D74A-821B7E218768}"/>
              </a:ext>
            </a:extLst>
          </p:cNvPr>
          <p:cNvCxnSpPr/>
          <p:nvPr/>
        </p:nvCxnSpPr>
        <p:spPr>
          <a:xfrm>
            <a:off x="0" y="32512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5" name="grid-h-320">
            <a:extLst>
              <a:ext uri="{FF2B5EF4-FFF2-40B4-BE49-F238E27FC236}">
                <a16:creationId xmlns:a16="http://schemas.microsoft.com/office/drawing/2014/main" id="{F7E5CA1D-A665-0645-55B1-1F32795FDC8D}"/>
              </a:ext>
            </a:extLst>
          </p:cNvPr>
          <p:cNvCxnSpPr/>
          <p:nvPr/>
        </p:nvCxnSpPr>
        <p:spPr>
          <a:xfrm>
            <a:off x="0" y="40640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6" name="grid-h-384">
            <a:extLst>
              <a:ext uri="{FF2B5EF4-FFF2-40B4-BE49-F238E27FC236}">
                <a16:creationId xmlns:a16="http://schemas.microsoft.com/office/drawing/2014/main" id="{7373089F-8CDA-490F-1310-2CD3D0AC39D3}"/>
              </a:ext>
            </a:extLst>
          </p:cNvPr>
          <p:cNvCxnSpPr/>
          <p:nvPr/>
        </p:nvCxnSpPr>
        <p:spPr>
          <a:xfrm>
            <a:off x="0" y="4876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7" name="grid-h-448">
            <a:extLst>
              <a:ext uri="{FF2B5EF4-FFF2-40B4-BE49-F238E27FC236}">
                <a16:creationId xmlns:a16="http://schemas.microsoft.com/office/drawing/2014/main" id="{2955199D-4303-33BC-30A5-9919F9960A22}"/>
              </a:ext>
            </a:extLst>
          </p:cNvPr>
          <p:cNvCxnSpPr/>
          <p:nvPr/>
        </p:nvCxnSpPr>
        <p:spPr>
          <a:xfrm>
            <a:off x="0" y="5689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8" name="grid-h-512">
            <a:extLst>
              <a:ext uri="{FF2B5EF4-FFF2-40B4-BE49-F238E27FC236}">
                <a16:creationId xmlns:a16="http://schemas.microsoft.com/office/drawing/2014/main" id="{853C27D9-F5E3-3848-55BB-54BF294D900E}"/>
              </a:ext>
            </a:extLst>
          </p:cNvPr>
          <p:cNvCxnSpPr/>
          <p:nvPr/>
        </p:nvCxnSpPr>
        <p:spPr>
          <a:xfrm>
            <a:off x="0" y="6502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sp>
        <p:nvSpPr>
          <p:cNvPr id="29" name="page-num">
            <a:extLst>
              <a:ext uri="{FF2B5EF4-FFF2-40B4-BE49-F238E27FC236}">
                <a16:creationId xmlns:a16="http://schemas.microsoft.com/office/drawing/2014/main" id="{F50D5A4B-D8FC-5F95-97F0-698F7D818A3C}"/>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B4CDEB"/>
                </a:solidFill>
                <a:latin typeface="Aptos" panose="020B0004020202020204" pitchFamily="34" charset="0"/>
              </a:rPr>
              <a:t>10</a:t>
            </a:r>
            <a:endParaRPr lang="zh-CN" altLang="en-US" sz="650">
              <a:solidFill>
                <a:srgbClr val="B4CDEB"/>
              </a:solidFill>
              <a:latin typeface="Aptos" panose="020B0004020202020204" pitchFamily="34" charset="0"/>
            </a:endParaRPr>
          </a:p>
        </p:txBody>
      </p:sp>
      <p:sp>
        <p:nvSpPr>
          <p:cNvPr id="30" name="section-label">
            <a:extLst>
              <a:ext uri="{FF2B5EF4-FFF2-40B4-BE49-F238E27FC236}">
                <a16:creationId xmlns:a16="http://schemas.microsoft.com/office/drawing/2014/main" id="{49004B7A-65CF-08BB-8C57-6A6C17EFF4EC}"/>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BEDCFF"/>
                </a:solidFill>
                <a:latin typeface="Aptos" panose="020B0004020202020204" pitchFamily="34" charset="0"/>
              </a:rPr>
              <a:t>DEMO 1</a:t>
            </a:r>
            <a:endParaRPr lang="zh-CN" altLang="en-US" sz="700" b="1">
              <a:solidFill>
                <a:srgbClr val="BEDCFF"/>
              </a:solidFill>
              <a:latin typeface="Aptos" panose="020B0004020202020204" pitchFamily="34" charset="0"/>
            </a:endParaRPr>
          </a:p>
        </p:txBody>
      </p:sp>
      <p:sp>
        <p:nvSpPr>
          <p:cNvPr id="31" name="title">
            <a:extLst>
              <a:ext uri="{FF2B5EF4-FFF2-40B4-BE49-F238E27FC236}">
                <a16:creationId xmlns:a16="http://schemas.microsoft.com/office/drawing/2014/main" id="{47F79EE4-1291-00FF-8550-2BF80A69B9F3}"/>
              </a:ext>
            </a:extLst>
          </p:cNvPr>
          <p:cNvSpPr txBox="1"/>
          <p:nvPr/>
        </p:nvSpPr>
        <p:spPr>
          <a:xfrm>
            <a:off x="685800" y="685800"/>
            <a:ext cx="9144000" cy="276999"/>
          </a:xfrm>
          <a:prstGeom prst="rect">
            <a:avLst/>
          </a:prstGeom>
          <a:noFill/>
        </p:spPr>
        <p:txBody>
          <a:bodyPr vert="horz" wrap="square" lIns="0" tIns="0" rIns="0" bIns="0" rtlCol="0">
            <a:noAutofit/>
          </a:bodyPr>
          <a:lstStyle/>
          <a:p>
            <a:r>
              <a:rPr lang="en-US" altLang="zh-CN" sz="2700" b="1">
                <a:solidFill>
                  <a:srgbClr val="FFFFFF"/>
                </a:solidFill>
                <a:latin typeface="Aptos" panose="020B0004020202020204" pitchFamily="34" charset="0"/>
              </a:rPr>
              <a:t>Project page walkthrough: 90 seconds</a:t>
            </a:r>
            <a:endParaRPr lang="zh-CN" altLang="en-US" sz="2700" b="1">
              <a:solidFill>
                <a:srgbClr val="FFFFFF"/>
              </a:solidFill>
              <a:latin typeface="Aptos" panose="020B0004020202020204" pitchFamily="34" charset="0"/>
            </a:endParaRPr>
          </a:p>
        </p:txBody>
      </p:sp>
      <p:sp>
        <p:nvSpPr>
          <p:cNvPr id="32" name="subtitle">
            <a:extLst>
              <a:ext uri="{FF2B5EF4-FFF2-40B4-BE49-F238E27FC236}">
                <a16:creationId xmlns:a16="http://schemas.microsoft.com/office/drawing/2014/main" id="{12D3A77D-0413-4E43-C72F-C8E759D9AD8C}"/>
              </a:ext>
            </a:extLst>
          </p:cNvPr>
          <p:cNvSpPr txBox="1"/>
          <p:nvPr/>
        </p:nvSpPr>
        <p:spPr>
          <a:xfrm>
            <a:off x="736600" y="1295400"/>
            <a:ext cx="9144000" cy="276999"/>
          </a:xfrm>
          <a:prstGeom prst="rect">
            <a:avLst/>
          </a:prstGeom>
          <a:noFill/>
        </p:spPr>
        <p:txBody>
          <a:bodyPr vert="horz" wrap="square" lIns="0" tIns="0" rIns="0" bIns="0" rtlCol="0">
            <a:noAutofit/>
          </a:bodyPr>
          <a:lstStyle/>
          <a:p>
            <a:r>
              <a:rPr lang="en-US" altLang="zh-CN" sz="980">
                <a:solidFill>
                  <a:srgbClr val="CDE1F8"/>
                </a:solidFill>
                <a:latin typeface="Aptos" panose="020B0004020202020204" pitchFamily="34" charset="0"/>
              </a:rPr>
              <a:t>Purpose: show the examiner where the submitted claim can be inspected.</a:t>
            </a:r>
            <a:endParaRPr lang="zh-CN" altLang="en-US" sz="980">
              <a:solidFill>
                <a:srgbClr val="CDE1F8"/>
              </a:solidFill>
              <a:latin typeface="Aptos" panose="020B0004020202020204" pitchFamily="34" charset="0"/>
            </a:endParaRPr>
          </a:p>
        </p:txBody>
      </p:sp>
      <p:sp>
        <p:nvSpPr>
          <p:cNvPr id="33" name="shot-frame">
            <a:extLst>
              <a:ext uri="{FF2B5EF4-FFF2-40B4-BE49-F238E27FC236}">
                <a16:creationId xmlns:a16="http://schemas.microsoft.com/office/drawing/2014/main" id="{F7A63C05-51A6-19C7-B30A-C12D25D6CFAC}"/>
              </a:ext>
            </a:extLst>
          </p:cNvPr>
          <p:cNvSpPr/>
          <p:nvPr/>
        </p:nvSpPr>
        <p:spPr>
          <a:xfrm>
            <a:off x="711200" y="1803400"/>
            <a:ext cx="7696200" cy="3505200"/>
          </a:xfrm>
          <a:prstGeom prst="rect">
            <a:avLst/>
          </a:prstGeom>
          <a:solidFill>
            <a:srgbClr val="FFFFFF"/>
          </a:solidFill>
          <a:ln w="1270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5" name="homepage-shot">
            <a:extLst>
              <a:ext uri="{FF2B5EF4-FFF2-40B4-BE49-F238E27FC236}">
                <a16:creationId xmlns:a16="http://schemas.microsoft.com/office/drawing/2014/main" id="{03B70C54-297E-A481-B842-BF857822FA4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828154" y="2006600"/>
            <a:ext cx="5462291" cy="3098800"/>
          </a:xfrm>
          <a:prstGeom prst="rect">
            <a:avLst/>
          </a:prstGeom>
        </p:spPr>
      </p:pic>
      <p:sp>
        <p:nvSpPr>
          <p:cNvPr id="36" name="route">
            <a:extLst>
              <a:ext uri="{FF2B5EF4-FFF2-40B4-BE49-F238E27FC236}">
                <a16:creationId xmlns:a16="http://schemas.microsoft.com/office/drawing/2014/main" id="{11509AC9-38FC-9B17-7B6F-B65B79477674}"/>
              </a:ext>
            </a:extLst>
          </p:cNvPr>
          <p:cNvSpPr/>
          <p:nvPr/>
        </p:nvSpPr>
        <p:spPr>
          <a:xfrm>
            <a:off x="8737600" y="1854200"/>
            <a:ext cx="2616200" cy="2565400"/>
          </a:xfrm>
          <a:prstGeom prst="rect">
            <a:avLst/>
          </a:prstGeom>
          <a:solidFill>
            <a:srgbClr val="0A244E"/>
          </a:solidFill>
          <a:ln w="12700">
            <a:solidFill>
              <a:srgbClr val="5087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route-title">
            <a:extLst>
              <a:ext uri="{FF2B5EF4-FFF2-40B4-BE49-F238E27FC236}">
                <a16:creationId xmlns:a16="http://schemas.microsoft.com/office/drawing/2014/main" id="{C77F3F89-920E-F763-95ED-AAC3B17265E0}"/>
              </a:ext>
            </a:extLst>
          </p:cNvPr>
          <p:cNvSpPr txBox="1"/>
          <p:nvPr/>
        </p:nvSpPr>
        <p:spPr>
          <a:xfrm>
            <a:off x="9067800" y="2133600"/>
            <a:ext cx="1854200" cy="276999"/>
          </a:xfrm>
          <a:prstGeom prst="rect">
            <a:avLst/>
          </a:prstGeom>
          <a:noFill/>
        </p:spPr>
        <p:txBody>
          <a:bodyPr vert="horz" wrap="square" lIns="0" tIns="0" rIns="0" bIns="0" rtlCol="0">
            <a:noAutofit/>
          </a:bodyPr>
          <a:lstStyle/>
          <a:p>
            <a:r>
              <a:rPr lang="en-US" altLang="zh-CN" sz="1000" b="1">
                <a:solidFill>
                  <a:srgbClr val="FFFFFF"/>
                </a:solidFill>
                <a:latin typeface="Aptos" panose="020B0004020202020204" pitchFamily="34" charset="0"/>
              </a:rPr>
              <a:t>Demo route</a:t>
            </a:r>
            <a:endParaRPr lang="zh-CN" altLang="en-US" sz="1000" b="1">
              <a:solidFill>
                <a:srgbClr val="FFFFFF"/>
              </a:solidFill>
              <a:latin typeface="Aptos" panose="020B0004020202020204" pitchFamily="34" charset="0"/>
            </a:endParaRPr>
          </a:p>
        </p:txBody>
      </p:sp>
      <p:sp>
        <p:nvSpPr>
          <p:cNvPr id="38" name="route-item-0">
            <a:extLst>
              <a:ext uri="{FF2B5EF4-FFF2-40B4-BE49-F238E27FC236}">
                <a16:creationId xmlns:a16="http://schemas.microsoft.com/office/drawing/2014/main" id="{47438F2B-35ED-7553-5AE5-CB93B9CCF83A}"/>
              </a:ext>
            </a:extLst>
          </p:cNvPr>
          <p:cNvSpPr txBox="1"/>
          <p:nvPr/>
        </p:nvSpPr>
        <p:spPr>
          <a:xfrm>
            <a:off x="9067800" y="2565400"/>
            <a:ext cx="1905000" cy="276999"/>
          </a:xfrm>
          <a:prstGeom prst="rect">
            <a:avLst/>
          </a:prstGeom>
          <a:noFill/>
        </p:spPr>
        <p:txBody>
          <a:bodyPr vert="horz" wrap="square" lIns="0" tIns="0" rIns="0" bIns="0" rtlCol="0">
            <a:noAutofit/>
          </a:bodyPr>
          <a:lstStyle/>
          <a:p>
            <a:r>
              <a:rPr lang="en-US" altLang="zh-CN" sz="820" b="1">
                <a:solidFill>
                  <a:srgbClr val="D6E8FA"/>
                </a:solidFill>
                <a:latin typeface="Aptos" panose="020B0004020202020204" pitchFamily="34" charset="0"/>
              </a:rPr>
              <a:t>1. Project page</a:t>
            </a:r>
            <a:endParaRPr lang="zh-CN" altLang="en-US" sz="820" b="1">
              <a:solidFill>
                <a:srgbClr val="D6E8FA"/>
              </a:solidFill>
              <a:latin typeface="Aptos" panose="020B0004020202020204" pitchFamily="34" charset="0"/>
            </a:endParaRPr>
          </a:p>
        </p:txBody>
      </p:sp>
      <p:sp>
        <p:nvSpPr>
          <p:cNvPr id="39" name="route-item-1">
            <a:extLst>
              <a:ext uri="{FF2B5EF4-FFF2-40B4-BE49-F238E27FC236}">
                <a16:creationId xmlns:a16="http://schemas.microsoft.com/office/drawing/2014/main" id="{3A981AC7-717E-1A1C-3809-2F8D5C851A03}"/>
              </a:ext>
            </a:extLst>
          </p:cNvPr>
          <p:cNvSpPr txBox="1"/>
          <p:nvPr/>
        </p:nvSpPr>
        <p:spPr>
          <a:xfrm>
            <a:off x="9067800" y="2882900"/>
            <a:ext cx="1905000" cy="276999"/>
          </a:xfrm>
          <a:prstGeom prst="rect">
            <a:avLst/>
          </a:prstGeom>
          <a:noFill/>
        </p:spPr>
        <p:txBody>
          <a:bodyPr vert="horz" wrap="square" lIns="0" tIns="0" rIns="0" bIns="0" rtlCol="0">
            <a:noAutofit/>
          </a:bodyPr>
          <a:lstStyle/>
          <a:p>
            <a:r>
              <a:rPr lang="en-US" altLang="zh-CN" sz="820" b="1">
                <a:solidFill>
                  <a:srgbClr val="D6E8FA"/>
                </a:solidFill>
                <a:latin typeface="Aptos" panose="020B0004020202020204" pitchFamily="34" charset="0"/>
              </a:rPr>
              <a:t>2. Repository</a:t>
            </a:r>
            <a:endParaRPr lang="zh-CN" altLang="en-US" sz="820" b="1">
              <a:solidFill>
                <a:srgbClr val="D6E8FA"/>
              </a:solidFill>
              <a:latin typeface="Aptos" panose="020B0004020202020204" pitchFamily="34" charset="0"/>
            </a:endParaRPr>
          </a:p>
        </p:txBody>
      </p:sp>
      <p:sp>
        <p:nvSpPr>
          <p:cNvPr id="40" name="route-item-2">
            <a:extLst>
              <a:ext uri="{FF2B5EF4-FFF2-40B4-BE49-F238E27FC236}">
                <a16:creationId xmlns:a16="http://schemas.microsoft.com/office/drawing/2014/main" id="{CDFA18A3-8841-AA70-7510-0B84A3121A45}"/>
              </a:ext>
            </a:extLst>
          </p:cNvPr>
          <p:cNvSpPr txBox="1"/>
          <p:nvPr/>
        </p:nvSpPr>
        <p:spPr>
          <a:xfrm>
            <a:off x="9067800" y="3200400"/>
            <a:ext cx="1905000" cy="276999"/>
          </a:xfrm>
          <a:prstGeom prst="rect">
            <a:avLst/>
          </a:prstGeom>
          <a:noFill/>
        </p:spPr>
        <p:txBody>
          <a:bodyPr vert="horz" wrap="square" lIns="0" tIns="0" rIns="0" bIns="0" rtlCol="0">
            <a:noAutofit/>
          </a:bodyPr>
          <a:lstStyle/>
          <a:p>
            <a:r>
              <a:rPr lang="en-US" altLang="zh-CN" sz="820" b="1">
                <a:solidFill>
                  <a:srgbClr val="D6E8FA"/>
                </a:solidFill>
                <a:latin typeface="Aptos" panose="020B0004020202020204" pitchFamily="34" charset="0"/>
              </a:rPr>
              <a:t>3. Claim boundaries</a:t>
            </a:r>
            <a:endParaRPr lang="zh-CN" altLang="en-US" sz="820" b="1">
              <a:solidFill>
                <a:srgbClr val="D6E8FA"/>
              </a:solidFill>
              <a:latin typeface="Aptos" panose="020B0004020202020204" pitchFamily="34" charset="0"/>
            </a:endParaRPr>
          </a:p>
        </p:txBody>
      </p:sp>
      <p:sp>
        <p:nvSpPr>
          <p:cNvPr id="41" name="route-item-3">
            <a:extLst>
              <a:ext uri="{FF2B5EF4-FFF2-40B4-BE49-F238E27FC236}">
                <a16:creationId xmlns:a16="http://schemas.microsoft.com/office/drawing/2014/main" id="{B511F842-7A07-7A78-1B9A-9AED9C437F22}"/>
              </a:ext>
            </a:extLst>
          </p:cNvPr>
          <p:cNvSpPr txBox="1"/>
          <p:nvPr/>
        </p:nvSpPr>
        <p:spPr>
          <a:xfrm>
            <a:off x="9067800" y="3517900"/>
            <a:ext cx="1905000" cy="276999"/>
          </a:xfrm>
          <a:prstGeom prst="rect">
            <a:avLst/>
          </a:prstGeom>
          <a:noFill/>
        </p:spPr>
        <p:txBody>
          <a:bodyPr vert="horz" wrap="square" lIns="0" tIns="0" rIns="0" bIns="0" rtlCol="0">
            <a:noAutofit/>
          </a:bodyPr>
          <a:lstStyle/>
          <a:p>
            <a:r>
              <a:rPr lang="en-US" altLang="zh-CN" sz="820" b="1">
                <a:solidFill>
                  <a:srgbClr val="D6E8FA"/>
                </a:solidFill>
                <a:latin typeface="Aptos" panose="020B0004020202020204" pitchFamily="34" charset="0"/>
              </a:rPr>
              <a:t>4. Traceability</a:t>
            </a:r>
            <a:endParaRPr lang="zh-CN" altLang="en-US" sz="820" b="1">
              <a:solidFill>
                <a:srgbClr val="D6E8FA"/>
              </a:solidFill>
              <a:latin typeface="Aptos" panose="020B0004020202020204" pitchFamily="34" charset="0"/>
            </a:endParaRPr>
          </a:p>
        </p:txBody>
      </p:sp>
      <p:sp>
        <p:nvSpPr>
          <p:cNvPr id="42" name="route-item-4">
            <a:extLst>
              <a:ext uri="{FF2B5EF4-FFF2-40B4-BE49-F238E27FC236}">
                <a16:creationId xmlns:a16="http://schemas.microsoft.com/office/drawing/2014/main" id="{42F1B28A-7734-BF27-5919-7907E65EBAC2}"/>
              </a:ext>
            </a:extLst>
          </p:cNvPr>
          <p:cNvSpPr txBox="1"/>
          <p:nvPr/>
        </p:nvSpPr>
        <p:spPr>
          <a:xfrm>
            <a:off x="9067800" y="3835400"/>
            <a:ext cx="1905000" cy="276999"/>
          </a:xfrm>
          <a:prstGeom prst="rect">
            <a:avLst/>
          </a:prstGeom>
          <a:noFill/>
        </p:spPr>
        <p:txBody>
          <a:bodyPr vert="horz" wrap="square" lIns="0" tIns="0" rIns="0" bIns="0" rtlCol="0">
            <a:noAutofit/>
          </a:bodyPr>
          <a:lstStyle/>
          <a:p>
            <a:r>
              <a:rPr lang="en-US" altLang="zh-CN" sz="820" b="1">
                <a:solidFill>
                  <a:srgbClr val="D6E8FA"/>
                </a:solidFill>
                <a:latin typeface="Aptos" panose="020B0004020202020204" pitchFamily="34" charset="0"/>
              </a:rPr>
              <a:t>5. Manifest</a:t>
            </a:r>
            <a:endParaRPr lang="zh-CN" altLang="en-US" sz="820" b="1">
              <a:solidFill>
                <a:srgbClr val="D6E8FA"/>
              </a:solidFill>
              <a:latin typeface="Aptos" panose="020B0004020202020204" pitchFamily="34" charset="0"/>
            </a:endParaRPr>
          </a:p>
        </p:txBody>
      </p:sp>
      <p:pic>
        <p:nvPicPr>
          <p:cNvPr id="44" name="图片 43">
            <a:hlinkClick r:id="rId4"/>
            <a:extLst>
              <a:ext uri="{FF2B5EF4-FFF2-40B4-BE49-F238E27FC236}">
                <a16:creationId xmlns:a16="http://schemas.microsoft.com/office/drawing/2014/main" id="{6D043238-F663-F0E5-85D9-8F23D33E2A30}"/>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245600" y="4749800"/>
            <a:ext cx="1117600" cy="1117600"/>
          </a:xfrm>
          <a:prstGeom prst="rect">
            <a:avLst/>
          </a:prstGeom>
        </p:spPr>
      </p:pic>
      <p:sp>
        <p:nvSpPr>
          <p:cNvPr id="45" name="open-page">
            <a:hlinkClick r:id="rId4"/>
            <a:extLst>
              <a:ext uri="{FF2B5EF4-FFF2-40B4-BE49-F238E27FC236}">
                <a16:creationId xmlns:a16="http://schemas.microsoft.com/office/drawing/2014/main" id="{A90355BE-AEC6-A58F-024E-324145AAAA3F}"/>
              </a:ext>
            </a:extLst>
          </p:cNvPr>
          <p:cNvSpPr/>
          <p:nvPr/>
        </p:nvSpPr>
        <p:spPr>
          <a:xfrm>
            <a:off x="10439400" y="4953000"/>
            <a:ext cx="889000" cy="279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004080"/>
                </a:solidFill>
                <a:latin typeface="Aptos" panose="020B0004020202020204" pitchFamily="34" charset="0"/>
              </a:rPr>
              <a:t>Open page</a:t>
            </a:r>
            <a:endParaRPr lang="zh-CN" altLang="en-US" sz="850" b="1">
              <a:solidFill>
                <a:srgbClr val="004080"/>
              </a:solidFill>
              <a:latin typeface="Aptos" panose="020B0004020202020204" pitchFamily="34" charset="0"/>
            </a:endParaRPr>
          </a:p>
        </p:txBody>
      </p:sp>
      <p:pic>
        <p:nvPicPr>
          <p:cNvPr id="47" name="图片 46">
            <a:extLst>
              <a:ext uri="{FF2B5EF4-FFF2-40B4-BE49-F238E27FC236}">
                <a16:creationId xmlns:a16="http://schemas.microsoft.com/office/drawing/2014/main" id="{9861E80D-9976-49D1-1B40-C80B4643E8A2}"/>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Tree>
    <p:extLst>
      <p:ext uri="{BB962C8B-B14F-4D97-AF65-F5344CB8AC3E}">
        <p14:creationId xmlns:p14="http://schemas.microsoft.com/office/powerpoint/2010/main" val="1769023735"/>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11B15CCC-323E-5230-2C3A-7F71F071F6E3}"/>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54D0089B-1188-F793-DB27-C9F0A2217F28}"/>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21994D0E-71C7-BF96-9DF3-2FC68120C40A}"/>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9887996E-070B-50FA-DB7D-D01CBF117EEF}"/>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2FBA54BC-B88B-DE07-A913-7DE047E15EC6}"/>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462093CF-B6E1-2BA9-23A9-2C5C71387A0D}"/>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11</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1261EA0A-CBAC-17B7-645E-DB9EF757E0F7}"/>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DEMO 2</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CE59FBC6-D837-76A3-9B64-EF030CCEC6C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84A5B45B-0A8D-3B2F-C6CF-928B27F533A3}"/>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Repository check: 60 seconds</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ECEB3E7B-C312-7C02-EA21-005F728B8510}"/>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This is a lightweight integrity check, not a full GPU or API rerun.</a:t>
            </a:r>
            <a:endParaRPr lang="zh-CN" altLang="en-US" sz="950">
              <a:solidFill>
                <a:srgbClr val="536580"/>
              </a:solidFill>
              <a:latin typeface="Aptos" panose="020B0004020202020204" pitchFamily="34" charset="0"/>
            </a:endParaRPr>
          </a:p>
        </p:txBody>
      </p:sp>
      <p:sp>
        <p:nvSpPr>
          <p:cNvPr id="13" name="terminal">
            <a:extLst>
              <a:ext uri="{FF2B5EF4-FFF2-40B4-BE49-F238E27FC236}">
                <a16:creationId xmlns:a16="http://schemas.microsoft.com/office/drawing/2014/main" id="{C987EEDA-5237-2614-FFDC-A64DC89075BE}"/>
              </a:ext>
            </a:extLst>
          </p:cNvPr>
          <p:cNvSpPr/>
          <p:nvPr/>
        </p:nvSpPr>
        <p:spPr>
          <a:xfrm>
            <a:off x="889000" y="1905000"/>
            <a:ext cx="6604000" cy="2921000"/>
          </a:xfrm>
          <a:prstGeom prst="rect">
            <a:avLst/>
          </a:prstGeom>
          <a:solidFill>
            <a:srgbClr val="03204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rm-title">
            <a:extLst>
              <a:ext uri="{FF2B5EF4-FFF2-40B4-BE49-F238E27FC236}">
                <a16:creationId xmlns:a16="http://schemas.microsoft.com/office/drawing/2014/main" id="{979C31E9-3239-DBB7-480C-598E8DBCE6A3}"/>
              </a:ext>
            </a:extLst>
          </p:cNvPr>
          <p:cNvSpPr txBox="1"/>
          <p:nvPr/>
        </p:nvSpPr>
        <p:spPr>
          <a:xfrm>
            <a:off x="1193800" y="2209800"/>
            <a:ext cx="2286000" cy="276999"/>
          </a:xfrm>
          <a:prstGeom prst="rect">
            <a:avLst/>
          </a:prstGeom>
          <a:noFill/>
        </p:spPr>
        <p:txBody>
          <a:bodyPr vert="horz" wrap="square" lIns="0" tIns="0" rIns="0" bIns="0" rtlCol="0">
            <a:noAutofit/>
          </a:bodyPr>
          <a:lstStyle/>
          <a:p>
            <a:r>
              <a:rPr lang="en-US" altLang="zh-CN" sz="800" b="1">
                <a:solidFill>
                  <a:srgbClr val="BEDCFF"/>
                </a:solidFill>
                <a:latin typeface="Aptos" panose="020B0004020202020204" pitchFamily="34" charset="0"/>
              </a:rPr>
              <a:t>PowerShell / repository root</a:t>
            </a:r>
            <a:endParaRPr lang="zh-CN" altLang="en-US" sz="800" b="1">
              <a:solidFill>
                <a:srgbClr val="BEDCFF"/>
              </a:solidFill>
              <a:latin typeface="Aptos" panose="020B0004020202020204" pitchFamily="34" charset="0"/>
            </a:endParaRPr>
          </a:p>
        </p:txBody>
      </p:sp>
      <p:cxnSp>
        <p:nvCxnSpPr>
          <p:cNvPr id="15" name="term-rule">
            <a:extLst>
              <a:ext uri="{FF2B5EF4-FFF2-40B4-BE49-F238E27FC236}">
                <a16:creationId xmlns:a16="http://schemas.microsoft.com/office/drawing/2014/main" id="{6883874E-F7AE-3B36-60F2-04C53AFCB92A}"/>
              </a:ext>
            </a:extLst>
          </p:cNvPr>
          <p:cNvCxnSpPr/>
          <p:nvPr/>
        </p:nvCxnSpPr>
        <p:spPr>
          <a:xfrm>
            <a:off x="1193800" y="2514600"/>
            <a:ext cx="5918200" cy="0"/>
          </a:xfrm>
          <a:prstGeom prst="line">
            <a:avLst/>
          </a:prstGeom>
          <a:ln w="12700">
            <a:solidFill>
              <a:srgbClr val="4673AF"/>
            </a:solidFill>
          </a:ln>
        </p:spPr>
        <p:style>
          <a:lnRef idx="1">
            <a:schemeClr val="accent1"/>
          </a:lnRef>
          <a:fillRef idx="0">
            <a:schemeClr val="accent1"/>
          </a:fillRef>
          <a:effectRef idx="0">
            <a:schemeClr val="accent1"/>
          </a:effectRef>
          <a:fontRef idx="minor">
            <a:schemeClr val="tx1"/>
          </a:fontRef>
        </p:style>
      </p:cxnSp>
      <p:sp>
        <p:nvSpPr>
          <p:cNvPr id="16" name="terminal-text">
            <a:extLst>
              <a:ext uri="{FF2B5EF4-FFF2-40B4-BE49-F238E27FC236}">
                <a16:creationId xmlns:a16="http://schemas.microsoft.com/office/drawing/2014/main" id="{CE22532E-F825-235D-257E-61B2EDB324D0}"/>
              </a:ext>
            </a:extLst>
          </p:cNvPr>
          <p:cNvSpPr txBox="1"/>
          <p:nvPr/>
        </p:nvSpPr>
        <p:spPr>
          <a:xfrm>
            <a:off x="1193800" y="2768600"/>
            <a:ext cx="5715000" cy="276999"/>
          </a:xfrm>
          <a:prstGeom prst="rect">
            <a:avLst/>
          </a:prstGeom>
          <a:noFill/>
        </p:spPr>
        <p:txBody>
          <a:bodyPr vert="horz" wrap="square" lIns="0" tIns="0" rIns="0" bIns="0" rtlCol="0">
            <a:noAutofit/>
          </a:bodyPr>
          <a:lstStyle/>
          <a:p>
            <a:r>
              <a:rPr lang="en-US" altLang="zh-CN" sz="1100">
                <a:solidFill>
                  <a:srgbClr val="FFFFFF"/>
                </a:solidFill>
                <a:latin typeface="Consolas" panose="020B0609020204030204" pitchFamily="49" charset="0"/>
              </a:rPr>
              <a:t>python scripts\\viva_check.py
[OK] Viva-facing documents present
[OK] Result manifest covers modules
[OK] Manifest artifact hashes verified
[OK] Claim boundaries are present
[OK] Viva check passed</a:t>
            </a:r>
            <a:endParaRPr lang="zh-CN" altLang="en-US" sz="1100">
              <a:solidFill>
                <a:srgbClr val="FFFFFF"/>
              </a:solidFill>
              <a:latin typeface="Consolas" panose="020B0609020204030204" pitchFamily="49" charset="0"/>
            </a:endParaRPr>
          </a:p>
        </p:txBody>
      </p:sp>
      <p:sp>
        <p:nvSpPr>
          <p:cNvPr id="17" name="check-0">
            <a:extLst>
              <a:ext uri="{FF2B5EF4-FFF2-40B4-BE49-F238E27FC236}">
                <a16:creationId xmlns:a16="http://schemas.microsoft.com/office/drawing/2014/main" id="{F7BC8EAA-3D49-DE4F-9437-F0CFB6B255AD}"/>
              </a:ext>
            </a:extLst>
          </p:cNvPr>
          <p:cNvSpPr/>
          <p:nvPr/>
        </p:nvSpPr>
        <p:spPr>
          <a:xfrm>
            <a:off x="8204200" y="2082800"/>
            <a:ext cx="2540000" cy="609600"/>
          </a:xfrm>
          <a:prstGeom prst="rect">
            <a:avLst/>
          </a:prstGeom>
          <a:solidFill>
            <a:srgbClr val="E7F1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check-title-0">
            <a:extLst>
              <a:ext uri="{FF2B5EF4-FFF2-40B4-BE49-F238E27FC236}">
                <a16:creationId xmlns:a16="http://schemas.microsoft.com/office/drawing/2014/main" id="{D55779F6-690D-9CF7-FD7D-762F9CF7D156}"/>
              </a:ext>
            </a:extLst>
          </p:cNvPr>
          <p:cNvSpPr txBox="1"/>
          <p:nvPr/>
        </p:nvSpPr>
        <p:spPr>
          <a:xfrm>
            <a:off x="8509000" y="2209800"/>
            <a:ext cx="1524000" cy="276999"/>
          </a:xfrm>
          <a:prstGeom prst="rect">
            <a:avLst/>
          </a:prstGeom>
          <a:noFill/>
        </p:spPr>
        <p:txBody>
          <a:bodyPr vert="horz" wrap="square" lIns="0" tIns="0" rIns="0" bIns="0" rtlCol="0">
            <a:noAutofit/>
          </a:bodyPr>
          <a:lstStyle/>
          <a:p>
            <a:r>
              <a:rPr lang="en-US" altLang="zh-CN" sz="800" b="1">
                <a:solidFill>
                  <a:srgbClr val="004080"/>
                </a:solidFill>
                <a:latin typeface="Aptos" panose="020B0004020202020204" pitchFamily="34" charset="0"/>
              </a:rPr>
              <a:t>Proves</a:t>
            </a:r>
            <a:endParaRPr lang="zh-CN" altLang="en-US" sz="800" b="1">
              <a:solidFill>
                <a:srgbClr val="004080"/>
              </a:solidFill>
              <a:latin typeface="Aptos" panose="020B0004020202020204" pitchFamily="34" charset="0"/>
            </a:endParaRPr>
          </a:p>
        </p:txBody>
      </p:sp>
      <p:sp>
        <p:nvSpPr>
          <p:cNvPr id="19" name="check-sub-0">
            <a:extLst>
              <a:ext uri="{FF2B5EF4-FFF2-40B4-BE49-F238E27FC236}">
                <a16:creationId xmlns:a16="http://schemas.microsoft.com/office/drawing/2014/main" id="{41FA5A7B-8D88-94E8-F136-A0A296ABE110}"/>
              </a:ext>
            </a:extLst>
          </p:cNvPr>
          <p:cNvSpPr txBox="1"/>
          <p:nvPr/>
        </p:nvSpPr>
        <p:spPr>
          <a:xfrm>
            <a:off x="8509000" y="2438400"/>
            <a:ext cx="17780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files, hashes, links</a:t>
            </a:r>
            <a:endParaRPr lang="zh-CN" altLang="en-US" sz="720">
              <a:solidFill>
                <a:srgbClr val="536580"/>
              </a:solidFill>
              <a:latin typeface="Aptos" panose="020B0004020202020204" pitchFamily="34" charset="0"/>
            </a:endParaRPr>
          </a:p>
        </p:txBody>
      </p:sp>
      <p:sp>
        <p:nvSpPr>
          <p:cNvPr id="20" name="check-1">
            <a:extLst>
              <a:ext uri="{FF2B5EF4-FFF2-40B4-BE49-F238E27FC236}">
                <a16:creationId xmlns:a16="http://schemas.microsoft.com/office/drawing/2014/main" id="{B7101BAB-9CB4-D9B0-1846-75E149F84974}"/>
              </a:ext>
            </a:extLst>
          </p:cNvPr>
          <p:cNvSpPr/>
          <p:nvPr/>
        </p:nvSpPr>
        <p:spPr>
          <a:xfrm>
            <a:off x="8204200" y="3048000"/>
            <a:ext cx="2540000" cy="609600"/>
          </a:xfrm>
          <a:prstGeom prst="rect">
            <a:avLst/>
          </a:prstGeom>
          <a:solidFill>
            <a:srgbClr val="FFF5E0"/>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check-title-1">
            <a:extLst>
              <a:ext uri="{FF2B5EF4-FFF2-40B4-BE49-F238E27FC236}">
                <a16:creationId xmlns:a16="http://schemas.microsoft.com/office/drawing/2014/main" id="{E786A479-6A5F-4139-4C16-0508A0EBB417}"/>
              </a:ext>
            </a:extLst>
          </p:cNvPr>
          <p:cNvSpPr txBox="1"/>
          <p:nvPr/>
        </p:nvSpPr>
        <p:spPr>
          <a:xfrm>
            <a:off x="8509000" y="3175000"/>
            <a:ext cx="1524000" cy="276999"/>
          </a:xfrm>
          <a:prstGeom prst="rect">
            <a:avLst/>
          </a:prstGeom>
          <a:noFill/>
        </p:spPr>
        <p:txBody>
          <a:bodyPr vert="horz" wrap="square" lIns="0" tIns="0" rIns="0" bIns="0" rtlCol="0">
            <a:noAutofit/>
          </a:bodyPr>
          <a:lstStyle/>
          <a:p>
            <a:r>
              <a:rPr lang="en-US" altLang="zh-CN" sz="800" b="1">
                <a:solidFill>
                  <a:srgbClr val="5C3A0C"/>
                </a:solidFill>
                <a:latin typeface="Aptos" panose="020B0004020202020204" pitchFamily="34" charset="0"/>
              </a:rPr>
              <a:t>Does not prove</a:t>
            </a:r>
            <a:endParaRPr lang="zh-CN" altLang="en-US" sz="800" b="1">
              <a:solidFill>
                <a:srgbClr val="5C3A0C"/>
              </a:solidFill>
              <a:latin typeface="Aptos" panose="020B0004020202020204" pitchFamily="34" charset="0"/>
            </a:endParaRPr>
          </a:p>
        </p:txBody>
      </p:sp>
      <p:sp>
        <p:nvSpPr>
          <p:cNvPr id="22" name="check-sub-1">
            <a:extLst>
              <a:ext uri="{FF2B5EF4-FFF2-40B4-BE49-F238E27FC236}">
                <a16:creationId xmlns:a16="http://schemas.microsoft.com/office/drawing/2014/main" id="{68561619-0E00-8A9C-3B2C-0CE87C422A40}"/>
              </a:ext>
            </a:extLst>
          </p:cNvPr>
          <p:cNvSpPr txBox="1"/>
          <p:nvPr/>
        </p:nvSpPr>
        <p:spPr>
          <a:xfrm>
            <a:off x="8509000" y="3403600"/>
            <a:ext cx="17780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full GPU/API rerun</a:t>
            </a:r>
            <a:endParaRPr lang="zh-CN" altLang="en-US" sz="720">
              <a:solidFill>
                <a:srgbClr val="536580"/>
              </a:solidFill>
              <a:latin typeface="Aptos" panose="020B0004020202020204" pitchFamily="34" charset="0"/>
            </a:endParaRPr>
          </a:p>
        </p:txBody>
      </p:sp>
      <p:sp>
        <p:nvSpPr>
          <p:cNvPr id="23" name="check-2">
            <a:extLst>
              <a:ext uri="{FF2B5EF4-FFF2-40B4-BE49-F238E27FC236}">
                <a16:creationId xmlns:a16="http://schemas.microsoft.com/office/drawing/2014/main" id="{80D203F5-3318-7ECA-9921-BF9EB0AE35B4}"/>
              </a:ext>
            </a:extLst>
          </p:cNvPr>
          <p:cNvSpPr/>
          <p:nvPr/>
        </p:nvSpPr>
        <p:spPr>
          <a:xfrm>
            <a:off x="8204200" y="4013200"/>
            <a:ext cx="2540000" cy="609600"/>
          </a:xfrm>
          <a:prstGeom prst="rect">
            <a:avLst/>
          </a:prstGeom>
          <a:solidFill>
            <a:srgbClr val="FFEBED"/>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heck-title-2">
            <a:extLst>
              <a:ext uri="{FF2B5EF4-FFF2-40B4-BE49-F238E27FC236}">
                <a16:creationId xmlns:a16="http://schemas.microsoft.com/office/drawing/2014/main" id="{0EA6A93F-514C-9BC4-F173-25D19B11DAEF}"/>
              </a:ext>
            </a:extLst>
          </p:cNvPr>
          <p:cNvSpPr txBox="1"/>
          <p:nvPr/>
        </p:nvSpPr>
        <p:spPr>
          <a:xfrm>
            <a:off x="8509000" y="4140200"/>
            <a:ext cx="1524000" cy="276999"/>
          </a:xfrm>
          <a:prstGeom prst="rect">
            <a:avLst/>
          </a:prstGeom>
          <a:noFill/>
        </p:spPr>
        <p:txBody>
          <a:bodyPr vert="horz" wrap="square" lIns="0" tIns="0" rIns="0" bIns="0" rtlCol="0">
            <a:noAutofit/>
          </a:bodyPr>
          <a:lstStyle/>
          <a:p>
            <a:r>
              <a:rPr lang="en-US" altLang="zh-CN" sz="800" b="1">
                <a:solidFill>
                  <a:srgbClr val="C52B38"/>
                </a:solidFill>
                <a:latin typeface="Aptos" panose="020B0004020202020204" pitchFamily="34" charset="0"/>
              </a:rPr>
              <a:t>Fallback</a:t>
            </a:r>
            <a:endParaRPr lang="zh-CN" altLang="en-US" sz="800" b="1">
              <a:solidFill>
                <a:srgbClr val="C52B38"/>
              </a:solidFill>
              <a:latin typeface="Aptos" panose="020B0004020202020204" pitchFamily="34" charset="0"/>
            </a:endParaRPr>
          </a:p>
        </p:txBody>
      </p:sp>
      <p:sp>
        <p:nvSpPr>
          <p:cNvPr id="25" name="check-sub-2">
            <a:extLst>
              <a:ext uri="{FF2B5EF4-FFF2-40B4-BE49-F238E27FC236}">
                <a16:creationId xmlns:a16="http://schemas.microsoft.com/office/drawing/2014/main" id="{88A86931-D1C1-75BA-626E-D004BE05EEFC}"/>
              </a:ext>
            </a:extLst>
          </p:cNvPr>
          <p:cNvSpPr txBox="1"/>
          <p:nvPr/>
        </p:nvSpPr>
        <p:spPr>
          <a:xfrm>
            <a:off x="8509000" y="4368800"/>
            <a:ext cx="17780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play recorded demo</a:t>
            </a:r>
            <a:endParaRPr lang="zh-CN" altLang="en-US" sz="720">
              <a:solidFill>
                <a:srgbClr val="536580"/>
              </a:solidFill>
              <a:latin typeface="Aptos" panose="020B0004020202020204" pitchFamily="34" charset="0"/>
            </a:endParaRPr>
          </a:p>
        </p:txBody>
      </p:sp>
      <p:sp>
        <p:nvSpPr>
          <p:cNvPr id="26" name="script-link">
            <a:hlinkClick r:id="rId4"/>
            <a:extLst>
              <a:ext uri="{FF2B5EF4-FFF2-40B4-BE49-F238E27FC236}">
                <a16:creationId xmlns:a16="http://schemas.microsoft.com/office/drawing/2014/main" id="{05C3427F-A812-B139-ABBB-02240C5823BB}"/>
              </a:ext>
            </a:extLst>
          </p:cNvPr>
          <p:cNvSpPr/>
          <p:nvPr/>
        </p:nvSpPr>
        <p:spPr>
          <a:xfrm>
            <a:off x="8204200" y="5232400"/>
            <a:ext cx="10922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viva_check.py</a:t>
            </a:r>
            <a:endParaRPr lang="zh-CN" altLang="en-US" sz="850" b="1">
              <a:solidFill>
                <a:srgbClr val="FFFFFF"/>
              </a:solidFill>
              <a:latin typeface="Aptos" panose="020B0004020202020204" pitchFamily="34" charset="0"/>
            </a:endParaRPr>
          </a:p>
        </p:txBody>
      </p:sp>
      <p:sp>
        <p:nvSpPr>
          <p:cNvPr id="27" name="manifest-link">
            <a:hlinkClick r:id="rId5"/>
            <a:extLst>
              <a:ext uri="{FF2B5EF4-FFF2-40B4-BE49-F238E27FC236}">
                <a16:creationId xmlns:a16="http://schemas.microsoft.com/office/drawing/2014/main" id="{0C7663B7-D8C3-6BBA-741D-D764E36B14C3}"/>
              </a:ext>
            </a:extLst>
          </p:cNvPr>
          <p:cNvSpPr/>
          <p:nvPr/>
        </p:nvSpPr>
        <p:spPr>
          <a:xfrm>
            <a:off x="9423400" y="5232400"/>
            <a:ext cx="10922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Manifest</a:t>
            </a:r>
            <a:endParaRPr lang="zh-CN" altLang="en-US" sz="850" b="1">
              <a:solidFill>
                <a:srgbClr val="FFFFFF"/>
              </a:solidFill>
              <a:latin typeface="Aptos" panose="020B0004020202020204" pitchFamily="34" charset="0"/>
            </a:endParaRPr>
          </a:p>
        </p:txBody>
      </p:sp>
    </p:spTree>
    <p:extLst>
      <p:ext uri="{BB962C8B-B14F-4D97-AF65-F5344CB8AC3E}">
        <p14:creationId xmlns:p14="http://schemas.microsoft.com/office/powerpoint/2010/main" val="4219798619"/>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ECF8189C-74FA-CD18-E5F4-312D10281F19}"/>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E34B3285-4A6C-7E1D-B42A-04B5D4CC04B8}"/>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413FA659-A380-2501-818F-BE0E4624642E}"/>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9343DB84-76C1-B682-32D0-40A02C404C8F}"/>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873823CD-64DE-F850-197B-6BBB492535B3}"/>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E43C9772-AED3-35C9-9FB1-7C5BEB87D384}"/>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12</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C92E47F5-1815-8FEC-FEE9-97B341E41A44}"/>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DEFENSE</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FD7E4671-C7B6-B702-D564-DFC729C93DD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CC4C3792-B6D1-2E48-F40A-3D5CA8F8BDA1}"/>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In Q&amp;A, defend the evidence and refuse unsupported claims</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70C5F3AD-2148-520F-98BB-FCDF4A9B53CE}"/>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The safest answer is direct, bounded, and tied to an artifact.</a:t>
            </a:r>
            <a:endParaRPr lang="zh-CN" altLang="en-US" sz="950">
              <a:solidFill>
                <a:srgbClr val="536580"/>
              </a:solidFill>
              <a:latin typeface="Aptos" panose="020B0004020202020204" pitchFamily="34" charset="0"/>
            </a:endParaRPr>
          </a:p>
        </p:txBody>
      </p:sp>
      <p:sp>
        <p:nvSpPr>
          <p:cNvPr id="13" name="def-row-0">
            <a:extLst>
              <a:ext uri="{FF2B5EF4-FFF2-40B4-BE49-F238E27FC236}">
                <a16:creationId xmlns:a16="http://schemas.microsoft.com/office/drawing/2014/main" id="{CC0C9EBD-7650-DF30-E02A-04F0E5EE50EC}"/>
              </a:ext>
            </a:extLst>
          </p:cNvPr>
          <p:cNvSpPr/>
          <p:nvPr/>
        </p:nvSpPr>
        <p:spPr>
          <a:xfrm>
            <a:off x="914400" y="1905000"/>
            <a:ext cx="10363200" cy="736600"/>
          </a:xfrm>
          <a:prstGeom prst="rect">
            <a:avLst/>
          </a:prstGeom>
          <a:solidFill>
            <a:srgbClr val="004080"/>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def-label-0">
            <a:extLst>
              <a:ext uri="{FF2B5EF4-FFF2-40B4-BE49-F238E27FC236}">
                <a16:creationId xmlns:a16="http://schemas.microsoft.com/office/drawing/2014/main" id="{4AF61A1C-5D64-91D9-A1B4-F4232BEB2C7A}"/>
              </a:ext>
            </a:extLst>
          </p:cNvPr>
          <p:cNvSpPr txBox="1"/>
          <p:nvPr/>
        </p:nvSpPr>
        <p:spPr>
          <a:xfrm>
            <a:off x="1320800" y="2146300"/>
            <a:ext cx="1651000" cy="276999"/>
          </a:xfrm>
          <a:prstGeom prst="rect">
            <a:avLst/>
          </a:prstGeom>
          <a:noFill/>
        </p:spPr>
        <p:txBody>
          <a:bodyPr vert="horz" wrap="square" lIns="0" tIns="0" rIns="0" bIns="0" rtlCol="0">
            <a:noAutofit/>
          </a:bodyPr>
          <a:lstStyle/>
          <a:p>
            <a:r>
              <a:rPr lang="en-US" altLang="zh-CN" sz="1000" b="1">
                <a:solidFill>
                  <a:srgbClr val="FFFFFF"/>
                </a:solidFill>
                <a:latin typeface="Aptos" panose="020B0004020202020204" pitchFamily="34" charset="0"/>
              </a:rPr>
              <a:t>Defend</a:t>
            </a:r>
            <a:endParaRPr lang="zh-CN" altLang="en-US" sz="1000" b="1">
              <a:solidFill>
                <a:srgbClr val="FFFFFF"/>
              </a:solidFill>
              <a:latin typeface="Aptos" panose="020B0004020202020204" pitchFamily="34" charset="0"/>
            </a:endParaRPr>
          </a:p>
        </p:txBody>
      </p:sp>
      <p:sp>
        <p:nvSpPr>
          <p:cNvPr id="15" name="def-text-0">
            <a:extLst>
              <a:ext uri="{FF2B5EF4-FFF2-40B4-BE49-F238E27FC236}">
                <a16:creationId xmlns:a16="http://schemas.microsoft.com/office/drawing/2014/main" id="{DBED5480-A1A4-F824-FFE2-3A9E9AF64303}"/>
              </a:ext>
            </a:extLst>
          </p:cNvPr>
          <p:cNvSpPr txBox="1"/>
          <p:nvPr/>
        </p:nvSpPr>
        <p:spPr>
          <a:xfrm>
            <a:off x="3225800" y="2146300"/>
            <a:ext cx="7366000" cy="276999"/>
          </a:xfrm>
          <a:prstGeom prst="rect">
            <a:avLst/>
          </a:prstGeom>
          <a:noFill/>
        </p:spPr>
        <p:txBody>
          <a:bodyPr vert="horz" wrap="square" lIns="0" tIns="0" rIns="0" bIns="0" rtlCol="0">
            <a:noAutofit/>
          </a:bodyPr>
          <a:lstStyle/>
          <a:p>
            <a:r>
              <a:rPr lang="en-US" altLang="zh-CN" sz="900" b="1">
                <a:solidFill>
                  <a:srgbClr val="FFFFFF"/>
                </a:solidFill>
                <a:latin typeface="Aptos" panose="020B0004020202020204" pitchFamily="34" charset="0"/>
              </a:rPr>
              <a:t>fixed denominators | executable controls | artifact hashes | repository traceability</a:t>
            </a:r>
            <a:endParaRPr lang="zh-CN" altLang="en-US" sz="900" b="1">
              <a:solidFill>
                <a:srgbClr val="FFFFFF"/>
              </a:solidFill>
              <a:latin typeface="Aptos" panose="020B0004020202020204" pitchFamily="34" charset="0"/>
            </a:endParaRPr>
          </a:p>
        </p:txBody>
      </p:sp>
      <p:sp>
        <p:nvSpPr>
          <p:cNvPr id="16" name="def-row-1">
            <a:extLst>
              <a:ext uri="{FF2B5EF4-FFF2-40B4-BE49-F238E27FC236}">
                <a16:creationId xmlns:a16="http://schemas.microsoft.com/office/drawing/2014/main" id="{49576240-29F7-BDAB-716A-A9D6D2CED640}"/>
              </a:ext>
            </a:extLst>
          </p:cNvPr>
          <p:cNvSpPr/>
          <p:nvPr/>
        </p:nvSpPr>
        <p:spPr>
          <a:xfrm>
            <a:off x="914400" y="3022600"/>
            <a:ext cx="10363200" cy="736600"/>
          </a:xfrm>
          <a:prstGeom prst="rect">
            <a:avLst/>
          </a:prstGeom>
          <a:solidFill>
            <a:srgbClr val="FFF5E0"/>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def-label-1">
            <a:extLst>
              <a:ext uri="{FF2B5EF4-FFF2-40B4-BE49-F238E27FC236}">
                <a16:creationId xmlns:a16="http://schemas.microsoft.com/office/drawing/2014/main" id="{214D8B30-9C8B-5324-E588-A8FD85982813}"/>
              </a:ext>
            </a:extLst>
          </p:cNvPr>
          <p:cNvSpPr txBox="1"/>
          <p:nvPr/>
        </p:nvSpPr>
        <p:spPr>
          <a:xfrm>
            <a:off x="1320800" y="3263900"/>
            <a:ext cx="1651000" cy="276999"/>
          </a:xfrm>
          <a:prstGeom prst="rect">
            <a:avLst/>
          </a:prstGeom>
          <a:noFill/>
        </p:spPr>
        <p:txBody>
          <a:bodyPr vert="horz" wrap="square" lIns="0" tIns="0" rIns="0" bIns="0" rtlCol="0">
            <a:noAutofit/>
          </a:bodyPr>
          <a:lstStyle/>
          <a:p>
            <a:r>
              <a:rPr lang="en-US" altLang="zh-CN" sz="1000" b="1">
                <a:solidFill>
                  <a:srgbClr val="5C3A0C"/>
                </a:solidFill>
                <a:latin typeface="Aptos" panose="020B0004020202020204" pitchFamily="34" charset="0"/>
              </a:rPr>
              <a:t>Qualify</a:t>
            </a:r>
            <a:endParaRPr lang="zh-CN" altLang="en-US" sz="1000" b="1">
              <a:solidFill>
                <a:srgbClr val="5C3A0C"/>
              </a:solidFill>
              <a:latin typeface="Aptos" panose="020B0004020202020204" pitchFamily="34" charset="0"/>
            </a:endParaRPr>
          </a:p>
        </p:txBody>
      </p:sp>
      <p:sp>
        <p:nvSpPr>
          <p:cNvPr id="18" name="def-text-1">
            <a:extLst>
              <a:ext uri="{FF2B5EF4-FFF2-40B4-BE49-F238E27FC236}">
                <a16:creationId xmlns:a16="http://schemas.microsoft.com/office/drawing/2014/main" id="{66CCFE4F-E0CC-14DF-93F6-2F0DD5B730BF}"/>
              </a:ext>
            </a:extLst>
          </p:cNvPr>
          <p:cNvSpPr txBox="1"/>
          <p:nvPr/>
        </p:nvSpPr>
        <p:spPr>
          <a:xfrm>
            <a:off x="3225800" y="3263900"/>
            <a:ext cx="7366000" cy="276999"/>
          </a:xfrm>
          <a:prstGeom prst="rect">
            <a:avLst/>
          </a:prstGeom>
          <a:noFill/>
        </p:spPr>
        <p:txBody>
          <a:bodyPr vert="horz" wrap="square" lIns="0" tIns="0" rIns="0" bIns="0" rtlCol="0">
            <a:noAutofit/>
          </a:bodyPr>
          <a:lstStyle/>
          <a:p>
            <a:r>
              <a:rPr lang="en-US" altLang="zh-CN" sz="900" b="1">
                <a:solidFill>
                  <a:srgbClr val="5C3A0C"/>
                </a:solidFill>
                <a:latin typeface="Aptos" panose="020B0004020202020204" pitchFamily="34" charset="0"/>
              </a:rPr>
              <a:t>access model | dataset surface | admitted denominator | demo is not a full rerun</a:t>
            </a:r>
            <a:endParaRPr lang="zh-CN" altLang="en-US" sz="900" b="1">
              <a:solidFill>
                <a:srgbClr val="5C3A0C"/>
              </a:solidFill>
              <a:latin typeface="Aptos" panose="020B0004020202020204" pitchFamily="34" charset="0"/>
            </a:endParaRPr>
          </a:p>
        </p:txBody>
      </p:sp>
      <p:sp>
        <p:nvSpPr>
          <p:cNvPr id="19" name="def-row-2">
            <a:extLst>
              <a:ext uri="{FF2B5EF4-FFF2-40B4-BE49-F238E27FC236}">
                <a16:creationId xmlns:a16="http://schemas.microsoft.com/office/drawing/2014/main" id="{9F5E1CC9-5544-041C-5947-7072FB316CC3}"/>
              </a:ext>
            </a:extLst>
          </p:cNvPr>
          <p:cNvSpPr/>
          <p:nvPr/>
        </p:nvSpPr>
        <p:spPr>
          <a:xfrm>
            <a:off x="914400" y="4140200"/>
            <a:ext cx="10363200" cy="736600"/>
          </a:xfrm>
          <a:prstGeom prst="rect">
            <a:avLst/>
          </a:prstGeom>
          <a:solidFill>
            <a:srgbClr val="FFEBED"/>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def-label-2">
            <a:extLst>
              <a:ext uri="{FF2B5EF4-FFF2-40B4-BE49-F238E27FC236}">
                <a16:creationId xmlns:a16="http://schemas.microsoft.com/office/drawing/2014/main" id="{C5B6A4D5-673E-315C-7DD1-0611AEB16F2D}"/>
              </a:ext>
            </a:extLst>
          </p:cNvPr>
          <p:cNvSpPr txBox="1"/>
          <p:nvPr/>
        </p:nvSpPr>
        <p:spPr>
          <a:xfrm>
            <a:off x="1320800" y="4381500"/>
            <a:ext cx="1651000" cy="276999"/>
          </a:xfrm>
          <a:prstGeom prst="rect">
            <a:avLst/>
          </a:prstGeom>
          <a:noFill/>
        </p:spPr>
        <p:txBody>
          <a:bodyPr vert="horz" wrap="square" lIns="0" tIns="0" rIns="0" bIns="0" rtlCol="0">
            <a:noAutofit/>
          </a:bodyPr>
          <a:lstStyle/>
          <a:p>
            <a:r>
              <a:rPr lang="en-US" altLang="zh-CN" sz="1000" b="1">
                <a:solidFill>
                  <a:srgbClr val="C52B38"/>
                </a:solidFill>
                <a:latin typeface="Aptos" panose="020B0004020202020204" pitchFamily="34" charset="0"/>
              </a:rPr>
              <a:t>Refuse</a:t>
            </a:r>
            <a:endParaRPr lang="zh-CN" altLang="en-US" sz="1000" b="1">
              <a:solidFill>
                <a:srgbClr val="C52B38"/>
              </a:solidFill>
              <a:latin typeface="Aptos" panose="020B0004020202020204" pitchFamily="34" charset="0"/>
            </a:endParaRPr>
          </a:p>
        </p:txBody>
      </p:sp>
      <p:sp>
        <p:nvSpPr>
          <p:cNvPr id="21" name="def-text-2">
            <a:extLst>
              <a:ext uri="{FF2B5EF4-FFF2-40B4-BE49-F238E27FC236}">
                <a16:creationId xmlns:a16="http://schemas.microsoft.com/office/drawing/2014/main" id="{B1B0652B-E261-C1C4-9462-FCA350D10782}"/>
              </a:ext>
            </a:extLst>
          </p:cNvPr>
          <p:cNvSpPr txBox="1"/>
          <p:nvPr/>
        </p:nvSpPr>
        <p:spPr>
          <a:xfrm>
            <a:off x="3225800" y="4381500"/>
            <a:ext cx="7366000" cy="276999"/>
          </a:xfrm>
          <a:prstGeom prst="rect">
            <a:avLst/>
          </a:prstGeom>
          <a:noFill/>
        </p:spPr>
        <p:txBody>
          <a:bodyPr vert="horz" wrap="square" lIns="0" tIns="0" rIns="0" bIns="0" rtlCol="0">
            <a:noAutofit/>
          </a:bodyPr>
          <a:lstStyle/>
          <a:p>
            <a:r>
              <a:rPr lang="en-US" altLang="zh-CN" sz="900" b="1">
                <a:solidFill>
                  <a:srgbClr val="C52B38"/>
                </a:solidFill>
                <a:latin typeface="Aptos" panose="020B0004020202020204" pitchFamily="34" charset="0"/>
              </a:rPr>
              <a:t>universal detection | legal authorship | provider-general guarantee | safety certificate</a:t>
            </a:r>
            <a:endParaRPr lang="zh-CN" altLang="en-US" sz="900" b="1">
              <a:solidFill>
                <a:srgbClr val="C52B38"/>
              </a:solidFill>
              <a:latin typeface="Aptos" panose="020B0004020202020204" pitchFamily="34" charset="0"/>
            </a:endParaRPr>
          </a:p>
        </p:txBody>
      </p:sp>
      <p:sp>
        <p:nvSpPr>
          <p:cNvPr id="22" name="boundaries-link">
            <a:hlinkClick r:id="rId4"/>
            <a:extLst>
              <a:ext uri="{FF2B5EF4-FFF2-40B4-BE49-F238E27FC236}">
                <a16:creationId xmlns:a16="http://schemas.microsoft.com/office/drawing/2014/main" id="{3444E0D2-D640-DBD2-65DB-1A691B719D91}"/>
              </a:ext>
            </a:extLst>
          </p:cNvPr>
          <p:cNvSpPr/>
          <p:nvPr/>
        </p:nvSpPr>
        <p:spPr>
          <a:xfrm>
            <a:off x="9169400" y="5232400"/>
            <a:ext cx="13716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Claim boundaries</a:t>
            </a:r>
            <a:endParaRPr lang="zh-CN" altLang="en-US" sz="850" b="1">
              <a:solidFill>
                <a:srgbClr val="FFFFFF"/>
              </a:solidFill>
              <a:latin typeface="Aptos" panose="020B0004020202020204" pitchFamily="34" charset="0"/>
            </a:endParaRPr>
          </a:p>
        </p:txBody>
      </p:sp>
    </p:spTree>
    <p:extLst>
      <p:ext uri="{BB962C8B-B14F-4D97-AF65-F5344CB8AC3E}">
        <p14:creationId xmlns:p14="http://schemas.microsoft.com/office/powerpoint/2010/main" val="972359636"/>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83D039F4-4ADA-C041-8D1A-739B7283FDE1}"/>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43330657-BD72-449B-6899-DC650B4893F6}"/>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63C8D4B1-F7C1-DC22-7011-86AF9F68F8EF}"/>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EA99BD44-515E-461F-2B4B-EC0BAD30BD63}"/>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EEB350D3-24ED-76DE-D126-6DD0AA04ECC3}"/>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B5AC82DD-1CF0-F056-5C90-5AAA50532888}"/>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13</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D20CC7A6-8525-076F-E77D-C31F641CEC58}"/>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NEXT STEPS</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02DE87CD-3535-C5FF-A5DA-926246EB41C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A288A2B0-6DBC-6D25-5307-68A2D485ED29}"/>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From FYP artifact to paper workstreams</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413D918E-BC43-A4EE-69DA-544E5A920848}"/>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The dissertation is one integrated artifact; the future papers remain planned targets, not accepted work.</a:t>
            </a:r>
            <a:endParaRPr lang="zh-CN" altLang="en-US" sz="950">
              <a:solidFill>
                <a:srgbClr val="536580"/>
              </a:solidFill>
              <a:latin typeface="Aptos" panose="020B0004020202020204" pitchFamily="34" charset="0"/>
            </a:endParaRPr>
          </a:p>
        </p:txBody>
      </p:sp>
      <p:sp>
        <p:nvSpPr>
          <p:cNvPr id="13" name="lane-0">
            <a:extLst>
              <a:ext uri="{FF2B5EF4-FFF2-40B4-BE49-F238E27FC236}">
                <a16:creationId xmlns:a16="http://schemas.microsoft.com/office/drawing/2014/main" id="{CD98A8A0-489C-7F92-E945-BD4077285442}"/>
              </a:ext>
            </a:extLst>
          </p:cNvPr>
          <p:cNvSpPr/>
          <p:nvPr/>
        </p:nvSpPr>
        <p:spPr>
          <a:xfrm>
            <a:off x="787400" y="2032000"/>
            <a:ext cx="1879600" cy="21590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ane-band-0">
            <a:extLst>
              <a:ext uri="{FF2B5EF4-FFF2-40B4-BE49-F238E27FC236}">
                <a16:creationId xmlns:a16="http://schemas.microsoft.com/office/drawing/2014/main" id="{1A3670E4-15D4-2B14-90C3-F007EABC1F51}"/>
              </a:ext>
            </a:extLst>
          </p:cNvPr>
          <p:cNvSpPr/>
          <p:nvPr/>
        </p:nvSpPr>
        <p:spPr>
          <a:xfrm>
            <a:off x="787400" y="2032000"/>
            <a:ext cx="1879600" cy="76200"/>
          </a:xfrm>
          <a:prstGeom prst="rect">
            <a:avLst/>
          </a:prstGeom>
          <a:solidFill>
            <a:srgbClr val="2369C8"/>
          </a:solidFill>
          <a:ln w="12700">
            <a:solidFill>
              <a:srgbClr val="2369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lane-title-0">
            <a:extLst>
              <a:ext uri="{FF2B5EF4-FFF2-40B4-BE49-F238E27FC236}">
                <a16:creationId xmlns:a16="http://schemas.microsoft.com/office/drawing/2014/main" id="{F6B3CC57-D7F5-2F24-58D6-6A0460650FFA}"/>
              </a:ext>
            </a:extLst>
          </p:cNvPr>
          <p:cNvSpPr txBox="1"/>
          <p:nvPr/>
        </p:nvSpPr>
        <p:spPr>
          <a:xfrm>
            <a:off x="965200" y="2387600"/>
            <a:ext cx="1498600" cy="276999"/>
          </a:xfrm>
          <a:prstGeom prst="rect">
            <a:avLst/>
          </a:prstGeom>
          <a:noFill/>
        </p:spPr>
        <p:txBody>
          <a:bodyPr vert="horz" wrap="square" lIns="0" tIns="0" rIns="0" bIns="0" rtlCol="0">
            <a:noAutofit/>
          </a:bodyPr>
          <a:lstStyle/>
          <a:p>
            <a:r>
              <a:rPr lang="en-US" altLang="zh-CN" sz="1050" b="1">
                <a:solidFill>
                  <a:srgbClr val="0D182C"/>
                </a:solidFill>
                <a:latin typeface="Aptos" panose="020B0004020202020204" pitchFamily="34" charset="0"/>
              </a:rPr>
              <a:t>CodeMarkBench</a:t>
            </a:r>
            <a:endParaRPr lang="zh-CN" altLang="en-US" sz="1050" b="1">
              <a:solidFill>
                <a:srgbClr val="0D182C"/>
              </a:solidFill>
              <a:latin typeface="Aptos" panose="020B0004020202020204" pitchFamily="34" charset="0"/>
            </a:endParaRPr>
          </a:p>
        </p:txBody>
      </p:sp>
      <p:sp>
        <p:nvSpPr>
          <p:cNvPr id="16" name="lane-target-0">
            <a:extLst>
              <a:ext uri="{FF2B5EF4-FFF2-40B4-BE49-F238E27FC236}">
                <a16:creationId xmlns:a16="http://schemas.microsoft.com/office/drawing/2014/main" id="{4490F5E1-7467-247D-50FB-A9E7F12BE6E5}"/>
              </a:ext>
            </a:extLst>
          </p:cNvPr>
          <p:cNvSpPr txBox="1"/>
          <p:nvPr/>
        </p:nvSpPr>
        <p:spPr>
          <a:xfrm>
            <a:off x="965200" y="2997200"/>
            <a:ext cx="1498600" cy="276999"/>
          </a:xfrm>
          <a:prstGeom prst="rect">
            <a:avLst/>
          </a:prstGeom>
          <a:noFill/>
        </p:spPr>
        <p:txBody>
          <a:bodyPr vert="horz" wrap="square" lIns="0" tIns="0" rIns="0" bIns="0" rtlCol="0">
            <a:noAutofit/>
          </a:bodyPr>
          <a:lstStyle/>
          <a:p>
            <a:r>
              <a:rPr lang="en-US" altLang="zh-CN" sz="800" b="1">
                <a:solidFill>
                  <a:srgbClr val="004080"/>
                </a:solidFill>
                <a:latin typeface="Aptos" panose="020B0004020202020204" pitchFamily="34" charset="0"/>
              </a:rPr>
              <a:t>TOSEM target</a:t>
            </a:r>
            <a:endParaRPr lang="zh-CN" altLang="en-US" sz="800" b="1">
              <a:solidFill>
                <a:srgbClr val="004080"/>
              </a:solidFill>
              <a:latin typeface="Aptos" panose="020B0004020202020204" pitchFamily="34" charset="0"/>
            </a:endParaRPr>
          </a:p>
        </p:txBody>
      </p:sp>
      <p:sp>
        <p:nvSpPr>
          <p:cNvPr id="17" name="lane-sub-0">
            <a:extLst>
              <a:ext uri="{FF2B5EF4-FFF2-40B4-BE49-F238E27FC236}">
                <a16:creationId xmlns:a16="http://schemas.microsoft.com/office/drawing/2014/main" id="{0E1DEB36-DBA1-B27A-2BC5-C1DB0C41051E}"/>
              </a:ext>
            </a:extLst>
          </p:cNvPr>
          <p:cNvSpPr txBox="1"/>
          <p:nvPr/>
        </p:nvSpPr>
        <p:spPr>
          <a:xfrm>
            <a:off x="965200" y="3479800"/>
            <a:ext cx="1498600" cy="276999"/>
          </a:xfrm>
          <a:prstGeom prst="rect">
            <a:avLst/>
          </a:prstGeom>
          <a:noFill/>
        </p:spPr>
        <p:txBody>
          <a:bodyPr vert="horz" wrap="square" lIns="0" tIns="0" rIns="0" bIns="0" rtlCol="0">
            <a:noAutofit/>
          </a:bodyPr>
          <a:lstStyle/>
          <a:p>
            <a:r>
              <a:rPr lang="en-US" altLang="zh-CN" sz="740">
                <a:solidFill>
                  <a:srgbClr val="536580"/>
                </a:solidFill>
                <a:latin typeface="Aptos" panose="020B0004020202020204" pitchFamily="34" charset="0"/>
              </a:rPr>
              <a:t>benchmark denominator</a:t>
            </a:r>
            <a:endParaRPr lang="zh-CN" altLang="en-US" sz="740">
              <a:solidFill>
                <a:srgbClr val="536580"/>
              </a:solidFill>
              <a:latin typeface="Aptos" panose="020B0004020202020204" pitchFamily="34" charset="0"/>
            </a:endParaRPr>
          </a:p>
        </p:txBody>
      </p:sp>
      <p:sp>
        <p:nvSpPr>
          <p:cNvPr id="18" name="lane-1">
            <a:extLst>
              <a:ext uri="{FF2B5EF4-FFF2-40B4-BE49-F238E27FC236}">
                <a16:creationId xmlns:a16="http://schemas.microsoft.com/office/drawing/2014/main" id="{CB38E7E7-31BE-E074-0B44-32D24EB4832A}"/>
              </a:ext>
            </a:extLst>
          </p:cNvPr>
          <p:cNvSpPr/>
          <p:nvPr/>
        </p:nvSpPr>
        <p:spPr>
          <a:xfrm>
            <a:off x="2971800" y="2032000"/>
            <a:ext cx="1879600" cy="21590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lane-band-1">
            <a:extLst>
              <a:ext uri="{FF2B5EF4-FFF2-40B4-BE49-F238E27FC236}">
                <a16:creationId xmlns:a16="http://schemas.microsoft.com/office/drawing/2014/main" id="{02D571CF-1D40-7CBA-1150-9979408B07FA}"/>
              </a:ext>
            </a:extLst>
          </p:cNvPr>
          <p:cNvSpPr/>
          <p:nvPr/>
        </p:nvSpPr>
        <p:spPr>
          <a:xfrm>
            <a:off x="2971800" y="2032000"/>
            <a:ext cx="1879600" cy="76200"/>
          </a:xfrm>
          <a:prstGeom prst="rect">
            <a:avLst/>
          </a:prstGeom>
          <a:solidFill>
            <a:srgbClr val="00AABE"/>
          </a:solidFill>
          <a:ln w="12700">
            <a:solidFill>
              <a:srgbClr val="00A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lane-title-1">
            <a:extLst>
              <a:ext uri="{FF2B5EF4-FFF2-40B4-BE49-F238E27FC236}">
                <a16:creationId xmlns:a16="http://schemas.microsoft.com/office/drawing/2014/main" id="{6A7B2170-D7DE-46EA-3210-4226C6FE853C}"/>
              </a:ext>
            </a:extLst>
          </p:cNvPr>
          <p:cNvSpPr txBox="1"/>
          <p:nvPr/>
        </p:nvSpPr>
        <p:spPr>
          <a:xfrm>
            <a:off x="3149600" y="2387600"/>
            <a:ext cx="1498600" cy="276999"/>
          </a:xfrm>
          <a:prstGeom prst="rect">
            <a:avLst/>
          </a:prstGeom>
          <a:noFill/>
        </p:spPr>
        <p:txBody>
          <a:bodyPr vert="horz" wrap="square" lIns="0" tIns="0" rIns="0" bIns="0" rtlCol="0">
            <a:noAutofit/>
          </a:bodyPr>
          <a:lstStyle/>
          <a:p>
            <a:r>
              <a:rPr lang="en-US" altLang="zh-CN" sz="1050" b="1">
                <a:solidFill>
                  <a:srgbClr val="0D182C"/>
                </a:solidFill>
                <a:latin typeface="Aptos" panose="020B0004020202020204" pitchFamily="34" charset="0"/>
              </a:rPr>
              <a:t>SemCodebook</a:t>
            </a:r>
            <a:endParaRPr lang="zh-CN" altLang="en-US" sz="1050" b="1">
              <a:solidFill>
                <a:srgbClr val="0D182C"/>
              </a:solidFill>
              <a:latin typeface="Aptos" panose="020B0004020202020204" pitchFamily="34" charset="0"/>
            </a:endParaRPr>
          </a:p>
        </p:txBody>
      </p:sp>
      <p:sp>
        <p:nvSpPr>
          <p:cNvPr id="21" name="lane-target-1">
            <a:extLst>
              <a:ext uri="{FF2B5EF4-FFF2-40B4-BE49-F238E27FC236}">
                <a16:creationId xmlns:a16="http://schemas.microsoft.com/office/drawing/2014/main" id="{8C20E57B-AB7F-2C7A-66DE-25D8F417281E}"/>
              </a:ext>
            </a:extLst>
          </p:cNvPr>
          <p:cNvSpPr txBox="1"/>
          <p:nvPr/>
        </p:nvSpPr>
        <p:spPr>
          <a:xfrm>
            <a:off x="3149600" y="2997200"/>
            <a:ext cx="1498600" cy="276999"/>
          </a:xfrm>
          <a:prstGeom prst="rect">
            <a:avLst/>
          </a:prstGeom>
          <a:noFill/>
        </p:spPr>
        <p:txBody>
          <a:bodyPr vert="horz" wrap="square" lIns="0" tIns="0" rIns="0" bIns="0" rtlCol="0">
            <a:noAutofit/>
          </a:bodyPr>
          <a:lstStyle/>
          <a:p>
            <a:r>
              <a:rPr lang="en-US" altLang="zh-CN" sz="800" b="1">
                <a:solidFill>
                  <a:srgbClr val="004080"/>
                </a:solidFill>
                <a:latin typeface="Aptos" panose="020B0004020202020204" pitchFamily="34" charset="0"/>
              </a:rPr>
              <a:t>EMNLP target</a:t>
            </a:r>
            <a:endParaRPr lang="zh-CN" altLang="en-US" sz="800" b="1">
              <a:solidFill>
                <a:srgbClr val="004080"/>
              </a:solidFill>
              <a:latin typeface="Aptos" panose="020B0004020202020204" pitchFamily="34" charset="0"/>
            </a:endParaRPr>
          </a:p>
        </p:txBody>
      </p:sp>
      <p:sp>
        <p:nvSpPr>
          <p:cNvPr id="22" name="lane-sub-1">
            <a:extLst>
              <a:ext uri="{FF2B5EF4-FFF2-40B4-BE49-F238E27FC236}">
                <a16:creationId xmlns:a16="http://schemas.microsoft.com/office/drawing/2014/main" id="{C4E1A89C-D154-DA24-8B74-8734A05900C4}"/>
              </a:ext>
            </a:extLst>
          </p:cNvPr>
          <p:cNvSpPr txBox="1"/>
          <p:nvPr/>
        </p:nvSpPr>
        <p:spPr>
          <a:xfrm>
            <a:off x="3149600" y="3479800"/>
            <a:ext cx="1498600" cy="276999"/>
          </a:xfrm>
          <a:prstGeom prst="rect">
            <a:avLst/>
          </a:prstGeom>
          <a:noFill/>
        </p:spPr>
        <p:txBody>
          <a:bodyPr vert="horz" wrap="square" lIns="0" tIns="0" rIns="0" bIns="0" rtlCol="0">
            <a:noAutofit/>
          </a:bodyPr>
          <a:lstStyle/>
          <a:p>
            <a:r>
              <a:rPr lang="en-US" altLang="zh-CN" sz="740">
                <a:solidFill>
                  <a:srgbClr val="536580"/>
                </a:solidFill>
                <a:latin typeface="Aptos" panose="020B0004020202020204" pitchFamily="34" charset="0"/>
              </a:rPr>
              <a:t>white-box recovery</a:t>
            </a:r>
            <a:endParaRPr lang="zh-CN" altLang="en-US" sz="740">
              <a:solidFill>
                <a:srgbClr val="536580"/>
              </a:solidFill>
              <a:latin typeface="Aptos" panose="020B0004020202020204" pitchFamily="34" charset="0"/>
            </a:endParaRPr>
          </a:p>
        </p:txBody>
      </p:sp>
      <p:sp>
        <p:nvSpPr>
          <p:cNvPr id="23" name="lane-2">
            <a:extLst>
              <a:ext uri="{FF2B5EF4-FFF2-40B4-BE49-F238E27FC236}">
                <a16:creationId xmlns:a16="http://schemas.microsoft.com/office/drawing/2014/main" id="{BAC03E2D-F2FE-6538-65DB-9FDB6F97B999}"/>
              </a:ext>
            </a:extLst>
          </p:cNvPr>
          <p:cNvSpPr/>
          <p:nvPr/>
        </p:nvSpPr>
        <p:spPr>
          <a:xfrm>
            <a:off x="5156200" y="2032000"/>
            <a:ext cx="1879600" cy="21590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lane-band-2">
            <a:extLst>
              <a:ext uri="{FF2B5EF4-FFF2-40B4-BE49-F238E27FC236}">
                <a16:creationId xmlns:a16="http://schemas.microsoft.com/office/drawing/2014/main" id="{36E67D60-AE3F-124B-BF1F-1B877BCB2A29}"/>
              </a:ext>
            </a:extLst>
          </p:cNvPr>
          <p:cNvSpPr/>
          <p:nvPr/>
        </p:nvSpPr>
        <p:spPr>
          <a:xfrm>
            <a:off x="5156200" y="2032000"/>
            <a:ext cx="1879600" cy="76200"/>
          </a:xfrm>
          <a:prstGeom prst="rect">
            <a:avLst/>
          </a:prstGeom>
          <a:solidFill>
            <a:srgbClr val="784CD2"/>
          </a:solidFill>
          <a:ln w="12700">
            <a:solidFill>
              <a:srgbClr val="784CD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lane-title-2">
            <a:extLst>
              <a:ext uri="{FF2B5EF4-FFF2-40B4-BE49-F238E27FC236}">
                <a16:creationId xmlns:a16="http://schemas.microsoft.com/office/drawing/2014/main" id="{63769315-CD29-B340-E773-19DA3EA078E8}"/>
              </a:ext>
            </a:extLst>
          </p:cNvPr>
          <p:cNvSpPr txBox="1"/>
          <p:nvPr/>
        </p:nvSpPr>
        <p:spPr>
          <a:xfrm>
            <a:off x="5334000" y="2387600"/>
            <a:ext cx="1498600" cy="276999"/>
          </a:xfrm>
          <a:prstGeom prst="rect">
            <a:avLst/>
          </a:prstGeom>
          <a:noFill/>
        </p:spPr>
        <p:txBody>
          <a:bodyPr vert="horz" wrap="square" lIns="0" tIns="0" rIns="0" bIns="0" rtlCol="0">
            <a:noAutofit/>
          </a:bodyPr>
          <a:lstStyle/>
          <a:p>
            <a:r>
              <a:rPr lang="en-US" altLang="zh-CN" sz="1050" b="1">
                <a:solidFill>
                  <a:srgbClr val="0D182C"/>
                </a:solidFill>
                <a:latin typeface="Aptos" panose="020B0004020202020204" pitchFamily="34" charset="0"/>
              </a:rPr>
              <a:t>CodeDye</a:t>
            </a:r>
            <a:endParaRPr lang="zh-CN" altLang="en-US" sz="1050" b="1">
              <a:solidFill>
                <a:srgbClr val="0D182C"/>
              </a:solidFill>
              <a:latin typeface="Aptos" panose="020B0004020202020204" pitchFamily="34" charset="0"/>
            </a:endParaRPr>
          </a:p>
        </p:txBody>
      </p:sp>
      <p:sp>
        <p:nvSpPr>
          <p:cNvPr id="26" name="lane-target-2">
            <a:extLst>
              <a:ext uri="{FF2B5EF4-FFF2-40B4-BE49-F238E27FC236}">
                <a16:creationId xmlns:a16="http://schemas.microsoft.com/office/drawing/2014/main" id="{8551EEB9-223D-BEB7-CA8D-2AA447C995DE}"/>
              </a:ext>
            </a:extLst>
          </p:cNvPr>
          <p:cNvSpPr txBox="1"/>
          <p:nvPr/>
        </p:nvSpPr>
        <p:spPr>
          <a:xfrm>
            <a:off x="5334000" y="2997200"/>
            <a:ext cx="1498600" cy="276999"/>
          </a:xfrm>
          <a:prstGeom prst="rect">
            <a:avLst/>
          </a:prstGeom>
          <a:noFill/>
        </p:spPr>
        <p:txBody>
          <a:bodyPr vert="horz" wrap="square" lIns="0" tIns="0" rIns="0" bIns="0" rtlCol="0">
            <a:noAutofit/>
          </a:bodyPr>
          <a:lstStyle/>
          <a:p>
            <a:r>
              <a:rPr lang="en-US" altLang="zh-CN" sz="800" b="1">
                <a:solidFill>
                  <a:srgbClr val="004080"/>
                </a:solidFill>
                <a:latin typeface="Aptos" panose="020B0004020202020204" pitchFamily="34" charset="0"/>
              </a:rPr>
              <a:t>EMNLP target</a:t>
            </a:r>
            <a:endParaRPr lang="zh-CN" altLang="en-US" sz="800" b="1">
              <a:solidFill>
                <a:srgbClr val="004080"/>
              </a:solidFill>
              <a:latin typeface="Aptos" panose="020B0004020202020204" pitchFamily="34" charset="0"/>
            </a:endParaRPr>
          </a:p>
        </p:txBody>
      </p:sp>
      <p:sp>
        <p:nvSpPr>
          <p:cNvPr id="27" name="lane-sub-2">
            <a:extLst>
              <a:ext uri="{FF2B5EF4-FFF2-40B4-BE49-F238E27FC236}">
                <a16:creationId xmlns:a16="http://schemas.microsoft.com/office/drawing/2014/main" id="{95C9C389-F55D-E2A9-9F67-B187D7658126}"/>
              </a:ext>
            </a:extLst>
          </p:cNvPr>
          <p:cNvSpPr txBox="1"/>
          <p:nvPr/>
        </p:nvSpPr>
        <p:spPr>
          <a:xfrm>
            <a:off x="5334000" y="3479800"/>
            <a:ext cx="1498600" cy="276999"/>
          </a:xfrm>
          <a:prstGeom prst="rect">
            <a:avLst/>
          </a:prstGeom>
          <a:noFill/>
        </p:spPr>
        <p:txBody>
          <a:bodyPr vert="horz" wrap="square" lIns="0" tIns="0" rIns="0" bIns="0" rtlCol="0">
            <a:noAutofit/>
          </a:bodyPr>
          <a:lstStyle/>
          <a:p>
            <a:r>
              <a:rPr lang="en-US" altLang="zh-CN" sz="740">
                <a:solidFill>
                  <a:srgbClr val="536580"/>
                </a:solidFill>
                <a:latin typeface="Aptos" panose="020B0004020202020204" pitchFamily="34" charset="0"/>
              </a:rPr>
              <a:t>black-box null audit</a:t>
            </a:r>
            <a:endParaRPr lang="zh-CN" altLang="en-US" sz="740">
              <a:solidFill>
                <a:srgbClr val="536580"/>
              </a:solidFill>
              <a:latin typeface="Aptos" panose="020B0004020202020204" pitchFamily="34" charset="0"/>
            </a:endParaRPr>
          </a:p>
        </p:txBody>
      </p:sp>
      <p:sp>
        <p:nvSpPr>
          <p:cNvPr id="28" name="lane-3">
            <a:extLst>
              <a:ext uri="{FF2B5EF4-FFF2-40B4-BE49-F238E27FC236}">
                <a16:creationId xmlns:a16="http://schemas.microsoft.com/office/drawing/2014/main" id="{FBE26815-A2E0-E166-07C5-123F4656D75D}"/>
              </a:ext>
            </a:extLst>
          </p:cNvPr>
          <p:cNvSpPr/>
          <p:nvPr/>
        </p:nvSpPr>
        <p:spPr>
          <a:xfrm>
            <a:off x="7340600" y="2032000"/>
            <a:ext cx="1879600" cy="21590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lane-band-3">
            <a:extLst>
              <a:ext uri="{FF2B5EF4-FFF2-40B4-BE49-F238E27FC236}">
                <a16:creationId xmlns:a16="http://schemas.microsoft.com/office/drawing/2014/main" id="{E5F333EE-FDD7-DDA0-734D-4C0492FD6591}"/>
              </a:ext>
            </a:extLst>
          </p:cNvPr>
          <p:cNvSpPr/>
          <p:nvPr/>
        </p:nvSpPr>
        <p:spPr>
          <a:xfrm>
            <a:off x="7340600" y="2032000"/>
            <a:ext cx="1879600" cy="76200"/>
          </a:xfrm>
          <a:prstGeom prst="rect">
            <a:avLst/>
          </a:prstGeom>
          <a:solidFill>
            <a:srgbClr val="EE9122"/>
          </a:solidFill>
          <a:ln w="12700">
            <a:solidFill>
              <a:srgbClr val="EE91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lane-title-3">
            <a:extLst>
              <a:ext uri="{FF2B5EF4-FFF2-40B4-BE49-F238E27FC236}">
                <a16:creationId xmlns:a16="http://schemas.microsoft.com/office/drawing/2014/main" id="{17CFDDF4-E57E-B6FE-8B18-B35F0A19B94C}"/>
              </a:ext>
            </a:extLst>
          </p:cNvPr>
          <p:cNvSpPr txBox="1"/>
          <p:nvPr/>
        </p:nvSpPr>
        <p:spPr>
          <a:xfrm>
            <a:off x="7518400" y="2387600"/>
            <a:ext cx="1498600" cy="276999"/>
          </a:xfrm>
          <a:prstGeom prst="rect">
            <a:avLst/>
          </a:prstGeom>
          <a:noFill/>
        </p:spPr>
        <p:txBody>
          <a:bodyPr vert="horz" wrap="square" lIns="0" tIns="0" rIns="0" bIns="0" rtlCol="0">
            <a:noAutofit/>
          </a:bodyPr>
          <a:lstStyle/>
          <a:p>
            <a:r>
              <a:rPr lang="en-US" altLang="zh-CN" sz="1050" b="1">
                <a:solidFill>
                  <a:srgbClr val="0D182C"/>
                </a:solidFill>
                <a:latin typeface="Aptos" panose="020B0004020202020204" pitchFamily="34" charset="0"/>
              </a:rPr>
              <a:t>ProbeTrace</a:t>
            </a:r>
            <a:endParaRPr lang="zh-CN" altLang="en-US" sz="1050" b="1">
              <a:solidFill>
                <a:srgbClr val="0D182C"/>
              </a:solidFill>
              <a:latin typeface="Aptos" panose="020B0004020202020204" pitchFamily="34" charset="0"/>
            </a:endParaRPr>
          </a:p>
        </p:txBody>
      </p:sp>
      <p:sp>
        <p:nvSpPr>
          <p:cNvPr id="31" name="lane-target-3">
            <a:extLst>
              <a:ext uri="{FF2B5EF4-FFF2-40B4-BE49-F238E27FC236}">
                <a16:creationId xmlns:a16="http://schemas.microsoft.com/office/drawing/2014/main" id="{84D3F1D4-1D36-B8BF-7196-35F08FD80A84}"/>
              </a:ext>
            </a:extLst>
          </p:cNvPr>
          <p:cNvSpPr txBox="1"/>
          <p:nvPr/>
        </p:nvSpPr>
        <p:spPr>
          <a:xfrm>
            <a:off x="7518400" y="2997200"/>
            <a:ext cx="1498600" cy="276999"/>
          </a:xfrm>
          <a:prstGeom prst="rect">
            <a:avLst/>
          </a:prstGeom>
          <a:noFill/>
        </p:spPr>
        <p:txBody>
          <a:bodyPr vert="horz" wrap="square" lIns="0" tIns="0" rIns="0" bIns="0" rtlCol="0">
            <a:noAutofit/>
          </a:bodyPr>
          <a:lstStyle/>
          <a:p>
            <a:r>
              <a:rPr lang="en-US" altLang="zh-CN" sz="800" b="1">
                <a:solidFill>
                  <a:srgbClr val="004080"/>
                </a:solidFill>
                <a:latin typeface="Aptos" panose="020B0004020202020204" pitchFamily="34" charset="0"/>
              </a:rPr>
              <a:t>EMNLP target</a:t>
            </a:r>
            <a:endParaRPr lang="zh-CN" altLang="en-US" sz="800" b="1">
              <a:solidFill>
                <a:srgbClr val="004080"/>
              </a:solidFill>
              <a:latin typeface="Aptos" panose="020B0004020202020204" pitchFamily="34" charset="0"/>
            </a:endParaRPr>
          </a:p>
        </p:txBody>
      </p:sp>
      <p:sp>
        <p:nvSpPr>
          <p:cNvPr id="32" name="lane-sub-3">
            <a:extLst>
              <a:ext uri="{FF2B5EF4-FFF2-40B4-BE49-F238E27FC236}">
                <a16:creationId xmlns:a16="http://schemas.microsoft.com/office/drawing/2014/main" id="{95485645-7B25-65EB-A78D-67547D130F87}"/>
              </a:ext>
            </a:extLst>
          </p:cNvPr>
          <p:cNvSpPr txBox="1"/>
          <p:nvPr/>
        </p:nvSpPr>
        <p:spPr>
          <a:xfrm>
            <a:off x="7518400" y="3479800"/>
            <a:ext cx="1498600" cy="276999"/>
          </a:xfrm>
          <a:prstGeom prst="rect">
            <a:avLst/>
          </a:prstGeom>
          <a:noFill/>
        </p:spPr>
        <p:txBody>
          <a:bodyPr vert="horz" wrap="square" lIns="0" tIns="0" rIns="0" bIns="0" rtlCol="0">
            <a:noAutofit/>
          </a:bodyPr>
          <a:lstStyle/>
          <a:p>
            <a:r>
              <a:rPr lang="en-US" altLang="zh-CN" sz="740">
                <a:solidFill>
                  <a:srgbClr val="536580"/>
                </a:solidFill>
                <a:latin typeface="Aptos" panose="020B0004020202020204" pitchFamily="34" charset="0"/>
              </a:rPr>
              <a:t>owner attribution</a:t>
            </a:r>
            <a:endParaRPr lang="zh-CN" altLang="en-US" sz="740">
              <a:solidFill>
                <a:srgbClr val="536580"/>
              </a:solidFill>
              <a:latin typeface="Aptos" panose="020B0004020202020204" pitchFamily="34" charset="0"/>
            </a:endParaRPr>
          </a:p>
        </p:txBody>
      </p:sp>
      <p:sp>
        <p:nvSpPr>
          <p:cNvPr id="33" name="lane-4">
            <a:extLst>
              <a:ext uri="{FF2B5EF4-FFF2-40B4-BE49-F238E27FC236}">
                <a16:creationId xmlns:a16="http://schemas.microsoft.com/office/drawing/2014/main" id="{30144747-F283-D75D-48AA-D663A1F764CF}"/>
              </a:ext>
            </a:extLst>
          </p:cNvPr>
          <p:cNvSpPr/>
          <p:nvPr/>
        </p:nvSpPr>
        <p:spPr>
          <a:xfrm>
            <a:off x="9525000" y="2032000"/>
            <a:ext cx="1879600" cy="21590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lane-band-4">
            <a:extLst>
              <a:ext uri="{FF2B5EF4-FFF2-40B4-BE49-F238E27FC236}">
                <a16:creationId xmlns:a16="http://schemas.microsoft.com/office/drawing/2014/main" id="{978277F7-9ABC-22E0-C679-2888D3B2128B}"/>
              </a:ext>
            </a:extLst>
          </p:cNvPr>
          <p:cNvSpPr/>
          <p:nvPr/>
        </p:nvSpPr>
        <p:spPr>
          <a:xfrm>
            <a:off x="9525000" y="2032000"/>
            <a:ext cx="1879600" cy="76200"/>
          </a:xfrm>
          <a:prstGeom prst="rect">
            <a:avLst/>
          </a:prstGeom>
          <a:solidFill>
            <a:srgbClr val="008E66"/>
          </a:solidFill>
          <a:ln w="12700">
            <a:solidFill>
              <a:srgbClr val="008E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lane-title-4">
            <a:extLst>
              <a:ext uri="{FF2B5EF4-FFF2-40B4-BE49-F238E27FC236}">
                <a16:creationId xmlns:a16="http://schemas.microsoft.com/office/drawing/2014/main" id="{33A17C16-CF0D-21D6-59DF-9E3F38706D65}"/>
              </a:ext>
            </a:extLst>
          </p:cNvPr>
          <p:cNvSpPr txBox="1"/>
          <p:nvPr/>
        </p:nvSpPr>
        <p:spPr>
          <a:xfrm>
            <a:off x="9702800" y="2387600"/>
            <a:ext cx="1498600" cy="276999"/>
          </a:xfrm>
          <a:prstGeom prst="rect">
            <a:avLst/>
          </a:prstGeom>
          <a:noFill/>
        </p:spPr>
        <p:txBody>
          <a:bodyPr vert="horz" wrap="square" lIns="0" tIns="0" rIns="0" bIns="0" rtlCol="0">
            <a:noAutofit/>
          </a:bodyPr>
          <a:lstStyle/>
          <a:p>
            <a:r>
              <a:rPr lang="en-US" altLang="zh-CN" sz="1050" b="1">
                <a:solidFill>
                  <a:srgbClr val="0D182C"/>
                </a:solidFill>
                <a:latin typeface="Aptos" panose="020B0004020202020204" pitchFamily="34" charset="0"/>
              </a:rPr>
              <a:t>SealAudit</a:t>
            </a:r>
            <a:endParaRPr lang="zh-CN" altLang="en-US" sz="1050" b="1">
              <a:solidFill>
                <a:srgbClr val="0D182C"/>
              </a:solidFill>
              <a:latin typeface="Aptos" panose="020B0004020202020204" pitchFamily="34" charset="0"/>
            </a:endParaRPr>
          </a:p>
        </p:txBody>
      </p:sp>
      <p:sp>
        <p:nvSpPr>
          <p:cNvPr id="36" name="lane-target-4">
            <a:extLst>
              <a:ext uri="{FF2B5EF4-FFF2-40B4-BE49-F238E27FC236}">
                <a16:creationId xmlns:a16="http://schemas.microsoft.com/office/drawing/2014/main" id="{6260D8C4-A310-B698-1DE9-B5C4283EFC36}"/>
              </a:ext>
            </a:extLst>
          </p:cNvPr>
          <p:cNvSpPr txBox="1"/>
          <p:nvPr/>
        </p:nvSpPr>
        <p:spPr>
          <a:xfrm>
            <a:off x="9702800" y="2997200"/>
            <a:ext cx="1498600" cy="276999"/>
          </a:xfrm>
          <a:prstGeom prst="rect">
            <a:avLst/>
          </a:prstGeom>
          <a:noFill/>
        </p:spPr>
        <p:txBody>
          <a:bodyPr vert="horz" wrap="square" lIns="0" tIns="0" rIns="0" bIns="0" rtlCol="0">
            <a:noAutofit/>
          </a:bodyPr>
          <a:lstStyle/>
          <a:p>
            <a:r>
              <a:rPr lang="en-US" altLang="zh-CN" sz="800" b="1">
                <a:solidFill>
                  <a:srgbClr val="004080"/>
                </a:solidFill>
                <a:latin typeface="Aptos" panose="020B0004020202020204" pitchFamily="34" charset="0"/>
              </a:rPr>
              <a:t>EMNLP target</a:t>
            </a:r>
            <a:endParaRPr lang="zh-CN" altLang="en-US" sz="800" b="1">
              <a:solidFill>
                <a:srgbClr val="004080"/>
              </a:solidFill>
              <a:latin typeface="Aptos" panose="020B0004020202020204" pitchFamily="34" charset="0"/>
            </a:endParaRPr>
          </a:p>
        </p:txBody>
      </p:sp>
      <p:sp>
        <p:nvSpPr>
          <p:cNvPr id="37" name="lane-sub-4">
            <a:extLst>
              <a:ext uri="{FF2B5EF4-FFF2-40B4-BE49-F238E27FC236}">
                <a16:creationId xmlns:a16="http://schemas.microsoft.com/office/drawing/2014/main" id="{B55A209B-E429-1B7C-B6C4-EDAD6466DEE8}"/>
              </a:ext>
            </a:extLst>
          </p:cNvPr>
          <p:cNvSpPr txBox="1"/>
          <p:nvPr/>
        </p:nvSpPr>
        <p:spPr>
          <a:xfrm>
            <a:off x="9702800" y="3479800"/>
            <a:ext cx="1498600" cy="276999"/>
          </a:xfrm>
          <a:prstGeom prst="rect">
            <a:avLst/>
          </a:prstGeom>
          <a:noFill/>
        </p:spPr>
        <p:txBody>
          <a:bodyPr vert="horz" wrap="square" lIns="0" tIns="0" rIns="0" bIns="0" rtlCol="0">
            <a:noAutofit/>
          </a:bodyPr>
          <a:lstStyle/>
          <a:p>
            <a:r>
              <a:rPr lang="en-US" altLang="zh-CN" sz="740">
                <a:solidFill>
                  <a:srgbClr val="536580"/>
                </a:solidFill>
                <a:latin typeface="Aptos" panose="020B0004020202020204" pitchFamily="34" charset="0"/>
              </a:rPr>
              <a:t>security triage</a:t>
            </a:r>
            <a:endParaRPr lang="zh-CN" altLang="en-US" sz="740">
              <a:solidFill>
                <a:srgbClr val="536580"/>
              </a:solidFill>
              <a:latin typeface="Aptos" panose="020B0004020202020204" pitchFamily="34" charset="0"/>
            </a:endParaRPr>
          </a:p>
        </p:txBody>
      </p:sp>
      <p:sp>
        <p:nvSpPr>
          <p:cNvPr id="38" name="ownership">
            <a:extLst>
              <a:ext uri="{FF2B5EF4-FFF2-40B4-BE49-F238E27FC236}">
                <a16:creationId xmlns:a16="http://schemas.microsoft.com/office/drawing/2014/main" id="{2D48BD94-618D-34B8-74BE-6D04071C1E4B}"/>
              </a:ext>
            </a:extLst>
          </p:cNvPr>
          <p:cNvSpPr/>
          <p:nvPr/>
        </p:nvSpPr>
        <p:spPr>
          <a:xfrm>
            <a:off x="1193800" y="4978400"/>
            <a:ext cx="9804400" cy="482600"/>
          </a:xfrm>
          <a:prstGeom prst="rect">
            <a:avLst/>
          </a:prstGeom>
          <a:solidFill>
            <a:srgbClr val="E7F1FF"/>
          </a:solidFill>
          <a:ln w="12700">
            <a:solidFill>
              <a:srgbClr val="AFCDF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ownership-text">
            <a:extLst>
              <a:ext uri="{FF2B5EF4-FFF2-40B4-BE49-F238E27FC236}">
                <a16:creationId xmlns:a16="http://schemas.microsoft.com/office/drawing/2014/main" id="{08D9BD76-7DF2-755F-FB55-49BB3AC5E2D6}"/>
              </a:ext>
            </a:extLst>
          </p:cNvPr>
          <p:cNvSpPr txBox="1"/>
          <p:nvPr/>
        </p:nvSpPr>
        <p:spPr>
          <a:xfrm>
            <a:off x="1524000" y="5143500"/>
            <a:ext cx="9144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For the FYP submission, the implementation and submitted dissertation artifact are my own work; later paper writing may involve collaborators.</a:t>
            </a:r>
            <a:endParaRPr lang="zh-CN" altLang="en-US" sz="830" b="1">
              <a:solidFill>
                <a:srgbClr val="004080"/>
              </a:solidFill>
              <a:latin typeface="Aptos" panose="020B0004020202020204" pitchFamily="34" charset="0"/>
            </a:endParaRPr>
          </a:p>
        </p:txBody>
      </p:sp>
    </p:spTree>
    <p:extLst>
      <p:ext uri="{BB962C8B-B14F-4D97-AF65-F5344CB8AC3E}">
        <p14:creationId xmlns:p14="http://schemas.microsoft.com/office/powerpoint/2010/main" val="378223650"/>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637FD941-1DE9-4673-E78E-62DF83078119}"/>
              </a:ext>
            </a:extLst>
          </p:cNvPr>
          <p:cNvSpPr/>
          <p:nvPr/>
        </p:nvSpPr>
        <p:spPr>
          <a:xfrm>
            <a:off x="0" y="0"/>
            <a:ext cx="121920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dark-panel">
            <a:extLst>
              <a:ext uri="{FF2B5EF4-FFF2-40B4-BE49-F238E27FC236}">
                <a16:creationId xmlns:a16="http://schemas.microsoft.com/office/drawing/2014/main" id="{0C33213E-EACA-A899-5E89-89B38AC8E995}"/>
              </a:ext>
            </a:extLst>
          </p:cNvPr>
          <p:cNvSpPr/>
          <p:nvPr/>
        </p:nvSpPr>
        <p:spPr>
          <a:xfrm>
            <a:off x="0" y="0"/>
            <a:ext cx="12192000" cy="6858000"/>
          </a:xfrm>
          <a:prstGeom prst="rect">
            <a:avLst/>
          </a:prstGeom>
          <a:solidFill>
            <a:srgbClr val="032048">
              <a:alpha val="9000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grid-v-0">
            <a:extLst>
              <a:ext uri="{FF2B5EF4-FFF2-40B4-BE49-F238E27FC236}">
                <a16:creationId xmlns:a16="http://schemas.microsoft.com/office/drawing/2014/main" id="{B0AC7CB5-C340-471C-94E5-E380418CF480}"/>
              </a:ext>
            </a:extLst>
          </p:cNvPr>
          <p:cNvCxnSpPr/>
          <p:nvPr/>
        </p:nvCxnSpPr>
        <p:spPr>
          <a:xfrm>
            <a:off x="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5" name="grid-v-64">
            <a:extLst>
              <a:ext uri="{FF2B5EF4-FFF2-40B4-BE49-F238E27FC236}">
                <a16:creationId xmlns:a16="http://schemas.microsoft.com/office/drawing/2014/main" id="{12B99D87-7556-F329-593A-58A250617FAA}"/>
              </a:ext>
            </a:extLst>
          </p:cNvPr>
          <p:cNvCxnSpPr/>
          <p:nvPr/>
        </p:nvCxnSpPr>
        <p:spPr>
          <a:xfrm>
            <a:off x="812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6" name="grid-v-128">
            <a:extLst>
              <a:ext uri="{FF2B5EF4-FFF2-40B4-BE49-F238E27FC236}">
                <a16:creationId xmlns:a16="http://schemas.microsoft.com/office/drawing/2014/main" id="{81B6C15B-100B-DEA9-A77D-02C07616A068}"/>
              </a:ext>
            </a:extLst>
          </p:cNvPr>
          <p:cNvCxnSpPr/>
          <p:nvPr/>
        </p:nvCxnSpPr>
        <p:spPr>
          <a:xfrm>
            <a:off x="1625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7" name="grid-v-192">
            <a:extLst>
              <a:ext uri="{FF2B5EF4-FFF2-40B4-BE49-F238E27FC236}">
                <a16:creationId xmlns:a16="http://schemas.microsoft.com/office/drawing/2014/main" id="{9B21F2BA-8B51-5437-4B45-4C41A69CC19D}"/>
              </a:ext>
            </a:extLst>
          </p:cNvPr>
          <p:cNvCxnSpPr/>
          <p:nvPr/>
        </p:nvCxnSpPr>
        <p:spPr>
          <a:xfrm>
            <a:off x="2438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8" name="grid-v-256">
            <a:extLst>
              <a:ext uri="{FF2B5EF4-FFF2-40B4-BE49-F238E27FC236}">
                <a16:creationId xmlns:a16="http://schemas.microsoft.com/office/drawing/2014/main" id="{D9F4A425-3C46-E7D0-3B70-1283DACAF703}"/>
              </a:ext>
            </a:extLst>
          </p:cNvPr>
          <p:cNvCxnSpPr/>
          <p:nvPr/>
        </p:nvCxnSpPr>
        <p:spPr>
          <a:xfrm>
            <a:off x="3251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9" name="grid-v-320">
            <a:extLst>
              <a:ext uri="{FF2B5EF4-FFF2-40B4-BE49-F238E27FC236}">
                <a16:creationId xmlns:a16="http://schemas.microsoft.com/office/drawing/2014/main" id="{FAD3E5D6-BEDD-36F8-5B51-8BA6F1E20C21}"/>
              </a:ext>
            </a:extLst>
          </p:cNvPr>
          <p:cNvCxnSpPr/>
          <p:nvPr/>
        </p:nvCxnSpPr>
        <p:spPr>
          <a:xfrm>
            <a:off x="4064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0" name="grid-v-384">
            <a:extLst>
              <a:ext uri="{FF2B5EF4-FFF2-40B4-BE49-F238E27FC236}">
                <a16:creationId xmlns:a16="http://schemas.microsoft.com/office/drawing/2014/main" id="{973E2657-9E7E-5D23-A0C5-3809DB101DD4}"/>
              </a:ext>
            </a:extLst>
          </p:cNvPr>
          <p:cNvCxnSpPr/>
          <p:nvPr/>
        </p:nvCxnSpPr>
        <p:spPr>
          <a:xfrm>
            <a:off x="4876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1" name="grid-v-448">
            <a:extLst>
              <a:ext uri="{FF2B5EF4-FFF2-40B4-BE49-F238E27FC236}">
                <a16:creationId xmlns:a16="http://schemas.microsoft.com/office/drawing/2014/main" id="{62594945-97FA-D528-24B5-BA8C3690C890}"/>
              </a:ext>
            </a:extLst>
          </p:cNvPr>
          <p:cNvCxnSpPr/>
          <p:nvPr/>
        </p:nvCxnSpPr>
        <p:spPr>
          <a:xfrm>
            <a:off x="5689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2" name="grid-v-512">
            <a:extLst>
              <a:ext uri="{FF2B5EF4-FFF2-40B4-BE49-F238E27FC236}">
                <a16:creationId xmlns:a16="http://schemas.microsoft.com/office/drawing/2014/main" id="{03C3DD63-6B75-90ED-A4AC-D5914FDEDFEC}"/>
              </a:ext>
            </a:extLst>
          </p:cNvPr>
          <p:cNvCxnSpPr/>
          <p:nvPr/>
        </p:nvCxnSpPr>
        <p:spPr>
          <a:xfrm>
            <a:off x="6502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3" name="grid-v-576">
            <a:extLst>
              <a:ext uri="{FF2B5EF4-FFF2-40B4-BE49-F238E27FC236}">
                <a16:creationId xmlns:a16="http://schemas.microsoft.com/office/drawing/2014/main" id="{1CA4DA1E-3C8F-DA62-E53D-957A74616E15}"/>
              </a:ext>
            </a:extLst>
          </p:cNvPr>
          <p:cNvCxnSpPr/>
          <p:nvPr/>
        </p:nvCxnSpPr>
        <p:spPr>
          <a:xfrm>
            <a:off x="7315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4" name="grid-v-640">
            <a:extLst>
              <a:ext uri="{FF2B5EF4-FFF2-40B4-BE49-F238E27FC236}">
                <a16:creationId xmlns:a16="http://schemas.microsoft.com/office/drawing/2014/main" id="{34615A58-1AE3-8D8D-069A-F55DD6981C56}"/>
              </a:ext>
            </a:extLst>
          </p:cNvPr>
          <p:cNvCxnSpPr/>
          <p:nvPr/>
        </p:nvCxnSpPr>
        <p:spPr>
          <a:xfrm>
            <a:off x="8128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5" name="grid-v-704">
            <a:extLst>
              <a:ext uri="{FF2B5EF4-FFF2-40B4-BE49-F238E27FC236}">
                <a16:creationId xmlns:a16="http://schemas.microsoft.com/office/drawing/2014/main" id="{E3D7D61F-95C9-BAAB-A486-6590784A756D}"/>
              </a:ext>
            </a:extLst>
          </p:cNvPr>
          <p:cNvCxnSpPr/>
          <p:nvPr/>
        </p:nvCxnSpPr>
        <p:spPr>
          <a:xfrm>
            <a:off x="8940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6" name="grid-v-768">
            <a:extLst>
              <a:ext uri="{FF2B5EF4-FFF2-40B4-BE49-F238E27FC236}">
                <a16:creationId xmlns:a16="http://schemas.microsoft.com/office/drawing/2014/main" id="{210C7844-1E2B-18D6-6FB4-6772900E4CCD}"/>
              </a:ext>
            </a:extLst>
          </p:cNvPr>
          <p:cNvCxnSpPr/>
          <p:nvPr/>
        </p:nvCxnSpPr>
        <p:spPr>
          <a:xfrm>
            <a:off x="9753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7" name="grid-v-832">
            <a:extLst>
              <a:ext uri="{FF2B5EF4-FFF2-40B4-BE49-F238E27FC236}">
                <a16:creationId xmlns:a16="http://schemas.microsoft.com/office/drawing/2014/main" id="{D56BC640-9CEB-74C7-F1D4-3BF06D0BF9AE}"/>
              </a:ext>
            </a:extLst>
          </p:cNvPr>
          <p:cNvCxnSpPr/>
          <p:nvPr/>
        </p:nvCxnSpPr>
        <p:spPr>
          <a:xfrm>
            <a:off x="10566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8" name="grid-v-896">
            <a:extLst>
              <a:ext uri="{FF2B5EF4-FFF2-40B4-BE49-F238E27FC236}">
                <a16:creationId xmlns:a16="http://schemas.microsoft.com/office/drawing/2014/main" id="{C1DE9E35-A8AE-25B4-DDA2-7800B3200615}"/>
              </a:ext>
            </a:extLst>
          </p:cNvPr>
          <p:cNvCxnSpPr/>
          <p:nvPr/>
        </p:nvCxnSpPr>
        <p:spPr>
          <a:xfrm>
            <a:off x="11379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9" name="grid-v-960">
            <a:extLst>
              <a:ext uri="{FF2B5EF4-FFF2-40B4-BE49-F238E27FC236}">
                <a16:creationId xmlns:a16="http://schemas.microsoft.com/office/drawing/2014/main" id="{D6A70803-9FC8-0084-DA64-4A8435862B0B}"/>
              </a:ext>
            </a:extLst>
          </p:cNvPr>
          <p:cNvCxnSpPr/>
          <p:nvPr/>
        </p:nvCxnSpPr>
        <p:spPr>
          <a:xfrm>
            <a:off x="12192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0" name="grid-h-0">
            <a:extLst>
              <a:ext uri="{FF2B5EF4-FFF2-40B4-BE49-F238E27FC236}">
                <a16:creationId xmlns:a16="http://schemas.microsoft.com/office/drawing/2014/main" id="{C41365DF-DB75-ECA8-8038-6E3B848A8D37}"/>
              </a:ext>
            </a:extLst>
          </p:cNvPr>
          <p:cNvCxnSpPr/>
          <p:nvPr/>
        </p:nvCxnSpPr>
        <p:spPr>
          <a:xfrm>
            <a:off x="0" y="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1" name="grid-h-64">
            <a:extLst>
              <a:ext uri="{FF2B5EF4-FFF2-40B4-BE49-F238E27FC236}">
                <a16:creationId xmlns:a16="http://schemas.microsoft.com/office/drawing/2014/main" id="{FFDF3DF7-BC05-8517-7903-C6377AB5631D}"/>
              </a:ext>
            </a:extLst>
          </p:cNvPr>
          <p:cNvCxnSpPr/>
          <p:nvPr/>
        </p:nvCxnSpPr>
        <p:spPr>
          <a:xfrm>
            <a:off x="0" y="812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2" name="grid-h-128">
            <a:extLst>
              <a:ext uri="{FF2B5EF4-FFF2-40B4-BE49-F238E27FC236}">
                <a16:creationId xmlns:a16="http://schemas.microsoft.com/office/drawing/2014/main" id="{12265B65-906D-7F2C-85A5-230D035B20E2}"/>
              </a:ext>
            </a:extLst>
          </p:cNvPr>
          <p:cNvCxnSpPr/>
          <p:nvPr/>
        </p:nvCxnSpPr>
        <p:spPr>
          <a:xfrm>
            <a:off x="0" y="1625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3" name="grid-h-192">
            <a:extLst>
              <a:ext uri="{FF2B5EF4-FFF2-40B4-BE49-F238E27FC236}">
                <a16:creationId xmlns:a16="http://schemas.microsoft.com/office/drawing/2014/main" id="{4938E34D-70C0-C80B-27C3-6C235807E22C}"/>
              </a:ext>
            </a:extLst>
          </p:cNvPr>
          <p:cNvCxnSpPr/>
          <p:nvPr/>
        </p:nvCxnSpPr>
        <p:spPr>
          <a:xfrm>
            <a:off x="0" y="2438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4" name="grid-h-256">
            <a:extLst>
              <a:ext uri="{FF2B5EF4-FFF2-40B4-BE49-F238E27FC236}">
                <a16:creationId xmlns:a16="http://schemas.microsoft.com/office/drawing/2014/main" id="{C187C816-CFDC-A9BF-2AF1-79DD981FFCBB}"/>
              </a:ext>
            </a:extLst>
          </p:cNvPr>
          <p:cNvCxnSpPr/>
          <p:nvPr/>
        </p:nvCxnSpPr>
        <p:spPr>
          <a:xfrm>
            <a:off x="0" y="32512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5" name="grid-h-320">
            <a:extLst>
              <a:ext uri="{FF2B5EF4-FFF2-40B4-BE49-F238E27FC236}">
                <a16:creationId xmlns:a16="http://schemas.microsoft.com/office/drawing/2014/main" id="{2028827D-4A6F-237B-AE94-CED07959E9BA}"/>
              </a:ext>
            </a:extLst>
          </p:cNvPr>
          <p:cNvCxnSpPr/>
          <p:nvPr/>
        </p:nvCxnSpPr>
        <p:spPr>
          <a:xfrm>
            <a:off x="0" y="40640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6" name="grid-h-384">
            <a:extLst>
              <a:ext uri="{FF2B5EF4-FFF2-40B4-BE49-F238E27FC236}">
                <a16:creationId xmlns:a16="http://schemas.microsoft.com/office/drawing/2014/main" id="{5A1C4E17-AD39-E0F4-FB8C-890FEAEF072C}"/>
              </a:ext>
            </a:extLst>
          </p:cNvPr>
          <p:cNvCxnSpPr/>
          <p:nvPr/>
        </p:nvCxnSpPr>
        <p:spPr>
          <a:xfrm>
            <a:off x="0" y="4876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7" name="grid-h-448">
            <a:extLst>
              <a:ext uri="{FF2B5EF4-FFF2-40B4-BE49-F238E27FC236}">
                <a16:creationId xmlns:a16="http://schemas.microsoft.com/office/drawing/2014/main" id="{4276B78E-6CF5-CE13-09E9-F57B92ED2675}"/>
              </a:ext>
            </a:extLst>
          </p:cNvPr>
          <p:cNvCxnSpPr/>
          <p:nvPr/>
        </p:nvCxnSpPr>
        <p:spPr>
          <a:xfrm>
            <a:off x="0" y="5689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8" name="grid-h-512">
            <a:extLst>
              <a:ext uri="{FF2B5EF4-FFF2-40B4-BE49-F238E27FC236}">
                <a16:creationId xmlns:a16="http://schemas.microsoft.com/office/drawing/2014/main" id="{3C25A976-BE88-727F-C2A2-0287B2AB0FD0}"/>
              </a:ext>
            </a:extLst>
          </p:cNvPr>
          <p:cNvCxnSpPr/>
          <p:nvPr/>
        </p:nvCxnSpPr>
        <p:spPr>
          <a:xfrm>
            <a:off x="0" y="6502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sp>
        <p:nvSpPr>
          <p:cNvPr id="29" name="page-num">
            <a:extLst>
              <a:ext uri="{FF2B5EF4-FFF2-40B4-BE49-F238E27FC236}">
                <a16:creationId xmlns:a16="http://schemas.microsoft.com/office/drawing/2014/main" id="{D00C26F2-6CD9-EC44-5948-9D0C844C142A}"/>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B4CDEB"/>
                </a:solidFill>
                <a:latin typeface="Aptos" panose="020B0004020202020204" pitchFamily="34" charset="0"/>
              </a:rPr>
              <a:t>14</a:t>
            </a:r>
            <a:endParaRPr lang="zh-CN" altLang="en-US" sz="650">
              <a:solidFill>
                <a:srgbClr val="B4CDEB"/>
              </a:solidFill>
              <a:latin typeface="Aptos" panose="020B0004020202020204" pitchFamily="34" charset="0"/>
            </a:endParaRPr>
          </a:p>
        </p:txBody>
      </p:sp>
      <p:sp>
        <p:nvSpPr>
          <p:cNvPr id="30" name="section-label">
            <a:extLst>
              <a:ext uri="{FF2B5EF4-FFF2-40B4-BE49-F238E27FC236}">
                <a16:creationId xmlns:a16="http://schemas.microsoft.com/office/drawing/2014/main" id="{AC649D94-0D85-E4BE-481F-4FEE29C05E86}"/>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BEDCFF"/>
                </a:solidFill>
                <a:latin typeface="Aptos" panose="020B0004020202020204" pitchFamily="34" charset="0"/>
              </a:rPr>
              <a:t>CLOSING</a:t>
            </a:r>
            <a:endParaRPr lang="zh-CN" altLang="en-US" sz="700" b="1">
              <a:solidFill>
                <a:srgbClr val="BEDCFF"/>
              </a:solidFill>
              <a:latin typeface="Aptos" panose="020B0004020202020204" pitchFamily="34" charset="0"/>
            </a:endParaRPr>
          </a:p>
        </p:txBody>
      </p:sp>
      <p:sp>
        <p:nvSpPr>
          <p:cNvPr id="31" name="thanks">
            <a:extLst>
              <a:ext uri="{FF2B5EF4-FFF2-40B4-BE49-F238E27FC236}">
                <a16:creationId xmlns:a16="http://schemas.microsoft.com/office/drawing/2014/main" id="{0F0B5D08-7D2B-44B9-7613-576B4E81A695}"/>
              </a:ext>
            </a:extLst>
          </p:cNvPr>
          <p:cNvSpPr txBox="1"/>
          <p:nvPr/>
        </p:nvSpPr>
        <p:spPr>
          <a:xfrm>
            <a:off x="685800" y="1219200"/>
            <a:ext cx="6604000" cy="276999"/>
          </a:xfrm>
          <a:prstGeom prst="rect">
            <a:avLst/>
          </a:prstGeom>
          <a:noFill/>
        </p:spPr>
        <p:txBody>
          <a:bodyPr vert="horz" wrap="square" lIns="0" tIns="0" rIns="0" bIns="0" rtlCol="0">
            <a:noAutofit/>
          </a:bodyPr>
          <a:lstStyle/>
          <a:p>
            <a:r>
              <a:rPr lang="en-US" altLang="zh-CN" sz="4400" b="1">
                <a:solidFill>
                  <a:srgbClr val="FFFFFF"/>
                </a:solidFill>
                <a:latin typeface="Aptos" panose="020B0004020202020204" pitchFamily="34" charset="0"/>
              </a:rPr>
              <a:t>Thank you</a:t>
            </a:r>
            <a:endParaRPr lang="zh-CN" altLang="en-US" sz="4400" b="1">
              <a:solidFill>
                <a:srgbClr val="FFFFFF"/>
              </a:solidFill>
              <a:latin typeface="Aptos" panose="020B0004020202020204" pitchFamily="34" charset="0"/>
            </a:endParaRPr>
          </a:p>
        </p:txBody>
      </p:sp>
      <p:sp>
        <p:nvSpPr>
          <p:cNvPr id="32" name="questions">
            <a:extLst>
              <a:ext uri="{FF2B5EF4-FFF2-40B4-BE49-F238E27FC236}">
                <a16:creationId xmlns:a16="http://schemas.microsoft.com/office/drawing/2014/main" id="{DD72FDE8-0B74-D521-3732-F4857C608B0C}"/>
              </a:ext>
            </a:extLst>
          </p:cNvPr>
          <p:cNvSpPr txBox="1"/>
          <p:nvPr/>
        </p:nvSpPr>
        <p:spPr>
          <a:xfrm>
            <a:off x="736600" y="2209800"/>
            <a:ext cx="4826000" cy="276999"/>
          </a:xfrm>
          <a:prstGeom prst="rect">
            <a:avLst/>
          </a:prstGeom>
          <a:noFill/>
        </p:spPr>
        <p:txBody>
          <a:bodyPr vert="horz" wrap="square" lIns="0" tIns="0" rIns="0" bIns="0" rtlCol="0">
            <a:noAutofit/>
          </a:bodyPr>
          <a:lstStyle/>
          <a:p>
            <a:r>
              <a:rPr lang="en-US" altLang="zh-CN" sz="2400" b="1">
                <a:solidFill>
                  <a:srgbClr val="FFFFFF"/>
                </a:solidFill>
                <a:latin typeface="Aptos" panose="020B0004020202020204" pitchFamily="34" charset="0"/>
              </a:rPr>
              <a:t>Questions?</a:t>
            </a:r>
            <a:endParaRPr lang="zh-CN" altLang="en-US" sz="2400" b="1">
              <a:solidFill>
                <a:srgbClr val="FFFFFF"/>
              </a:solidFill>
              <a:latin typeface="Aptos" panose="020B0004020202020204" pitchFamily="34" charset="0"/>
            </a:endParaRPr>
          </a:p>
        </p:txBody>
      </p:sp>
      <p:cxnSp>
        <p:nvCxnSpPr>
          <p:cNvPr id="33" name="closing-line">
            <a:extLst>
              <a:ext uri="{FF2B5EF4-FFF2-40B4-BE49-F238E27FC236}">
                <a16:creationId xmlns:a16="http://schemas.microsoft.com/office/drawing/2014/main" id="{A5B9F848-39EE-13C7-C582-AEA15A933043}"/>
              </a:ext>
            </a:extLst>
          </p:cNvPr>
          <p:cNvCxnSpPr/>
          <p:nvPr/>
        </p:nvCxnSpPr>
        <p:spPr>
          <a:xfrm>
            <a:off x="736600" y="2895600"/>
            <a:ext cx="7899400" cy="0"/>
          </a:xfrm>
          <a:prstGeom prst="line">
            <a:avLst/>
          </a:prstGeom>
          <a:ln w="15240">
            <a:solidFill>
              <a:srgbClr val="96BEEB"/>
            </a:solidFill>
          </a:ln>
        </p:spPr>
        <p:style>
          <a:lnRef idx="1">
            <a:schemeClr val="accent1"/>
          </a:lnRef>
          <a:fillRef idx="0">
            <a:schemeClr val="accent1"/>
          </a:fillRef>
          <a:effectRef idx="0">
            <a:schemeClr val="accent1"/>
          </a:effectRef>
          <a:fontRef idx="minor">
            <a:schemeClr val="tx1"/>
          </a:fontRef>
        </p:style>
      </p:cxnSp>
      <p:sp>
        <p:nvSpPr>
          <p:cNvPr id="34" name="takeaway">
            <a:extLst>
              <a:ext uri="{FF2B5EF4-FFF2-40B4-BE49-F238E27FC236}">
                <a16:creationId xmlns:a16="http://schemas.microsoft.com/office/drawing/2014/main" id="{2FCA7717-B794-B728-F3B6-4DB14E748BB0}"/>
              </a:ext>
            </a:extLst>
          </p:cNvPr>
          <p:cNvSpPr/>
          <p:nvPr/>
        </p:nvSpPr>
        <p:spPr>
          <a:xfrm>
            <a:off x="965200" y="3429000"/>
            <a:ext cx="7696200" cy="711200"/>
          </a:xfrm>
          <a:prstGeom prst="rect">
            <a:avLst/>
          </a:prstGeom>
          <a:solidFill>
            <a:srgbClr val="0B5CA0"/>
          </a:solidFill>
          <a:ln w="12700">
            <a:solidFill>
              <a:srgbClr val="76AEE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takeaway-t">
            <a:extLst>
              <a:ext uri="{FF2B5EF4-FFF2-40B4-BE49-F238E27FC236}">
                <a16:creationId xmlns:a16="http://schemas.microsoft.com/office/drawing/2014/main" id="{8CBB32E5-3E11-2A24-9F56-4D00DB993355}"/>
              </a:ext>
            </a:extLst>
          </p:cNvPr>
          <p:cNvSpPr txBox="1"/>
          <p:nvPr/>
        </p:nvSpPr>
        <p:spPr>
          <a:xfrm>
            <a:off x="1320800" y="3657600"/>
            <a:ext cx="69596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WatermarkScope evaluates source-code watermarking as bounded evidence, not as one detector score.</a:t>
            </a:r>
            <a:endParaRPr lang="zh-CN" altLang="en-US" sz="1050" b="1">
              <a:solidFill>
                <a:srgbClr val="FFFFFF"/>
              </a:solidFill>
              <a:latin typeface="Aptos" panose="020B0004020202020204" pitchFamily="34" charset="0"/>
            </a:endParaRPr>
          </a:p>
        </p:txBody>
      </p:sp>
      <p:sp>
        <p:nvSpPr>
          <p:cNvPr id="36" name="qa">
            <a:extLst>
              <a:ext uri="{FF2B5EF4-FFF2-40B4-BE49-F238E27FC236}">
                <a16:creationId xmlns:a16="http://schemas.microsoft.com/office/drawing/2014/main" id="{799A8E06-EF07-2655-5A73-9250DC27DBDA}"/>
              </a:ext>
            </a:extLst>
          </p:cNvPr>
          <p:cNvSpPr/>
          <p:nvPr/>
        </p:nvSpPr>
        <p:spPr>
          <a:xfrm>
            <a:off x="965200" y="4419600"/>
            <a:ext cx="7696200" cy="533400"/>
          </a:xfrm>
          <a:prstGeom prst="rect">
            <a:avLst/>
          </a:prstGeom>
          <a:solidFill>
            <a:srgbClr val="071C3E"/>
          </a:solidFill>
          <a:ln w="12700">
            <a:solidFill>
              <a:srgbClr val="4E82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qa-t">
            <a:extLst>
              <a:ext uri="{FF2B5EF4-FFF2-40B4-BE49-F238E27FC236}">
                <a16:creationId xmlns:a16="http://schemas.microsoft.com/office/drawing/2014/main" id="{6357DCC9-F664-9B0C-C90B-9DDC6DEB1C59}"/>
              </a:ext>
            </a:extLst>
          </p:cNvPr>
          <p:cNvSpPr txBox="1"/>
          <p:nvPr/>
        </p:nvSpPr>
        <p:spPr>
          <a:xfrm>
            <a:off x="1320800" y="4610100"/>
            <a:ext cx="69596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Q&amp;A anchors: contribution | why not one score | demo validity | claim boundaries</a:t>
            </a:r>
            <a:endParaRPr lang="zh-CN" altLang="en-US" sz="820" b="1">
              <a:solidFill>
                <a:srgbClr val="FFFFFF"/>
              </a:solidFill>
              <a:latin typeface="Aptos" panose="020B0004020202020204" pitchFamily="34" charset="0"/>
            </a:endParaRPr>
          </a:p>
        </p:txBody>
      </p:sp>
      <p:pic>
        <p:nvPicPr>
          <p:cNvPr id="39" name="图片 38">
            <a:hlinkClick r:id="rId3"/>
            <a:extLst>
              <a:ext uri="{FF2B5EF4-FFF2-40B4-BE49-F238E27FC236}">
                <a16:creationId xmlns:a16="http://schemas.microsoft.com/office/drawing/2014/main" id="{EB947117-5962-82CB-9BE6-0C2C12C0719F}"/>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474200" y="2616200"/>
            <a:ext cx="1498600" cy="1498600"/>
          </a:xfrm>
          <a:prstGeom prst="rect">
            <a:avLst/>
          </a:prstGeom>
        </p:spPr>
      </p:pic>
      <p:sp>
        <p:nvSpPr>
          <p:cNvPr id="40" name="page-button">
            <a:hlinkClick r:id="rId3"/>
            <a:extLst>
              <a:ext uri="{FF2B5EF4-FFF2-40B4-BE49-F238E27FC236}">
                <a16:creationId xmlns:a16="http://schemas.microsoft.com/office/drawing/2014/main" id="{85A9DED1-D37D-B74A-9310-B32D0A79AC6D}"/>
              </a:ext>
            </a:extLst>
          </p:cNvPr>
          <p:cNvSpPr/>
          <p:nvPr/>
        </p:nvSpPr>
        <p:spPr>
          <a:xfrm>
            <a:off x="9296400" y="4368800"/>
            <a:ext cx="812800" cy="279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004080"/>
                </a:solidFill>
                <a:latin typeface="Aptos" panose="020B0004020202020204" pitchFamily="34" charset="0"/>
              </a:rPr>
              <a:t>Page</a:t>
            </a:r>
            <a:endParaRPr lang="zh-CN" altLang="en-US" sz="850" b="1">
              <a:solidFill>
                <a:srgbClr val="004080"/>
              </a:solidFill>
              <a:latin typeface="Aptos" panose="020B0004020202020204" pitchFamily="34" charset="0"/>
            </a:endParaRPr>
          </a:p>
        </p:txBody>
      </p:sp>
      <p:sp>
        <p:nvSpPr>
          <p:cNvPr id="41" name="repo-button">
            <a:hlinkClick r:id="rId5"/>
            <a:extLst>
              <a:ext uri="{FF2B5EF4-FFF2-40B4-BE49-F238E27FC236}">
                <a16:creationId xmlns:a16="http://schemas.microsoft.com/office/drawing/2014/main" id="{554213AE-C8C2-AD60-2711-3DF7CC2D7287}"/>
              </a:ext>
            </a:extLst>
          </p:cNvPr>
          <p:cNvSpPr/>
          <p:nvPr/>
        </p:nvSpPr>
        <p:spPr>
          <a:xfrm>
            <a:off x="10261600" y="4368800"/>
            <a:ext cx="812800" cy="279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004080"/>
                </a:solidFill>
                <a:latin typeface="Aptos" panose="020B0004020202020204" pitchFamily="34" charset="0"/>
              </a:rPr>
              <a:t>Repo</a:t>
            </a:r>
            <a:endParaRPr lang="zh-CN" altLang="en-US" sz="850" b="1">
              <a:solidFill>
                <a:srgbClr val="004080"/>
              </a:solidFill>
              <a:latin typeface="Aptos" panose="020B0004020202020204" pitchFamily="34" charset="0"/>
            </a:endParaRPr>
          </a:p>
        </p:txBody>
      </p:sp>
      <p:pic>
        <p:nvPicPr>
          <p:cNvPr id="43" name="图片 42">
            <a:extLst>
              <a:ext uri="{FF2B5EF4-FFF2-40B4-BE49-F238E27FC236}">
                <a16:creationId xmlns:a16="http://schemas.microsoft.com/office/drawing/2014/main" id="{122FE66F-617C-6038-4304-931FAA423AAB}"/>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Tree>
    <p:extLst>
      <p:ext uri="{BB962C8B-B14F-4D97-AF65-F5344CB8AC3E}">
        <p14:creationId xmlns:p14="http://schemas.microsoft.com/office/powerpoint/2010/main" val="2836912469"/>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ECB82770-F394-AB8B-5D85-7C7A13D9B1E0}"/>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25FF11C9-60D3-608A-7AAE-D725EA2B97BB}"/>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5B302BA4-9C7C-A6DB-0778-B5CCC6940A10}"/>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DBCB5030-5FD4-A1CD-A329-95D1D361591B}"/>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BC766F9D-F17B-9E30-FFDC-5398F4B8C320}"/>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E0F2356F-1B8F-95CA-C45A-F40C13F2D37B}"/>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15</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942FD811-F44F-78F9-F8F2-9DA7BD24BCAC}"/>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BACKUP</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28D760EE-C843-B0DE-84BF-4DC170A74FE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5BE685A8-4305-92C6-D170-762B870BDCBF}"/>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Formula and boundary reference</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53F75C36-6730-F349-F733-F0A9250B89BD}"/>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Use this if asked about the formal evidence object.</a:t>
            </a:r>
            <a:endParaRPr lang="zh-CN" altLang="en-US" sz="950">
              <a:solidFill>
                <a:srgbClr val="536580"/>
              </a:solidFill>
              <a:latin typeface="Aptos" panose="020B0004020202020204" pitchFamily="34" charset="0"/>
            </a:endParaRPr>
          </a:p>
        </p:txBody>
      </p:sp>
      <p:sp>
        <p:nvSpPr>
          <p:cNvPr id="13" name="formula-big">
            <a:extLst>
              <a:ext uri="{FF2B5EF4-FFF2-40B4-BE49-F238E27FC236}">
                <a16:creationId xmlns:a16="http://schemas.microsoft.com/office/drawing/2014/main" id="{ED13A21B-88B0-C399-2CE0-67866BF1E915}"/>
              </a:ext>
            </a:extLst>
          </p:cNvPr>
          <p:cNvSpPr/>
          <p:nvPr/>
        </p:nvSpPr>
        <p:spPr>
          <a:xfrm>
            <a:off x="1117600" y="1879600"/>
            <a:ext cx="9956800" cy="9652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ormula-text">
            <a:extLst>
              <a:ext uri="{FF2B5EF4-FFF2-40B4-BE49-F238E27FC236}">
                <a16:creationId xmlns:a16="http://schemas.microsoft.com/office/drawing/2014/main" id="{9BFED1EB-A3DA-E5CC-522B-57326A8BE70E}"/>
              </a:ext>
            </a:extLst>
          </p:cNvPr>
          <p:cNvSpPr txBox="1"/>
          <p:nvPr/>
        </p:nvSpPr>
        <p:spPr>
          <a:xfrm>
            <a:off x="1574800" y="2197100"/>
            <a:ext cx="9144000" cy="276999"/>
          </a:xfrm>
          <a:prstGeom prst="rect">
            <a:avLst/>
          </a:prstGeom>
          <a:noFill/>
        </p:spPr>
        <p:txBody>
          <a:bodyPr vert="horz" wrap="square" lIns="0" tIns="0" rIns="0" bIns="0" rtlCol="0">
            <a:noAutofit/>
          </a:bodyPr>
          <a:lstStyle/>
          <a:p>
            <a:r>
              <a:rPr lang="en-US" altLang="zh-CN" sz="1350" b="1">
                <a:solidFill>
                  <a:srgbClr val="FFFFFF"/>
                </a:solidFill>
                <a:latin typeface="Consolas" panose="020B0609020204030204" pitchFamily="49" charset="0"/>
              </a:rPr>
              <a:t>E = &lt;D, C, A, H, B&gt;; admit(E)=1 only if D, C, A/H, and B are fixed before interpretation.</a:t>
            </a:r>
            <a:endParaRPr lang="zh-CN" altLang="en-US" sz="1350" b="1">
              <a:solidFill>
                <a:srgbClr val="FFFFFF"/>
              </a:solidFill>
              <a:latin typeface="Consolas" panose="020B0609020204030204" pitchFamily="49" charset="0"/>
            </a:endParaRPr>
          </a:p>
        </p:txBody>
      </p:sp>
      <p:pic>
        <p:nvPicPr>
          <p:cNvPr id="16" name="claim-matrix">
            <a:extLst>
              <a:ext uri="{FF2B5EF4-FFF2-40B4-BE49-F238E27FC236}">
                <a16:creationId xmlns:a16="http://schemas.microsoft.com/office/drawing/2014/main" id="{607A08C9-770A-A805-3194-21638207960A}"/>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769634" y="3175000"/>
            <a:ext cx="6652733" cy="2159000"/>
          </a:xfrm>
          <a:prstGeom prst="rect">
            <a:avLst/>
          </a:prstGeom>
        </p:spPr>
      </p:pic>
      <p:sp>
        <p:nvSpPr>
          <p:cNvPr id="17" name="claim-bak">
            <a:hlinkClick r:id="rId5"/>
            <a:extLst>
              <a:ext uri="{FF2B5EF4-FFF2-40B4-BE49-F238E27FC236}">
                <a16:creationId xmlns:a16="http://schemas.microsoft.com/office/drawing/2014/main" id="{33FEABAB-19B9-E02D-D20A-47E91907C68E}"/>
              </a:ext>
            </a:extLst>
          </p:cNvPr>
          <p:cNvSpPr/>
          <p:nvPr/>
        </p:nvSpPr>
        <p:spPr>
          <a:xfrm>
            <a:off x="9169400" y="5410200"/>
            <a:ext cx="13716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Claim boundaries</a:t>
            </a:r>
            <a:endParaRPr lang="zh-CN" altLang="en-US" sz="850" b="1">
              <a:solidFill>
                <a:srgbClr val="FFFFFF"/>
              </a:solidFill>
              <a:latin typeface="Aptos" panose="020B0004020202020204" pitchFamily="34" charset="0"/>
            </a:endParaRPr>
          </a:p>
        </p:txBody>
      </p:sp>
    </p:spTree>
    <p:extLst>
      <p:ext uri="{BB962C8B-B14F-4D97-AF65-F5344CB8AC3E}">
        <p14:creationId xmlns:p14="http://schemas.microsoft.com/office/powerpoint/2010/main" val="3546336315"/>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7E4ADB3B-9E5A-7A57-F6B7-D8A803A6F960}"/>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20CA5C99-D036-42F0-E976-2C6060A1E5E3}"/>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9855FCB4-200B-48AD-5EF0-D422FFE6908B}"/>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987393AE-33F9-801D-7A27-5EE2485A6326}"/>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42BA7E5F-83F6-6992-80DC-1F658718FB0E}"/>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CF9C4412-9BAE-B1D0-13CD-6AEBADAE747D}"/>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16</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FE9F9D50-8BDA-B30F-26CA-1FDBF36620E7}"/>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BACKUP</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CABC51D8-C2AD-382B-210F-CCC70500A03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22DDBEA6-0B94-C8E7-8E32-9D186CF4548C}"/>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Likely viva questions: short answers</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0A908784-0FB1-2439-B534-20A309936EEF}"/>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Keep answers short; then point to the artifact.</a:t>
            </a:r>
            <a:endParaRPr lang="zh-CN" altLang="en-US" sz="950">
              <a:solidFill>
                <a:srgbClr val="536580"/>
              </a:solidFill>
              <a:latin typeface="Aptos" panose="020B0004020202020204" pitchFamily="34" charset="0"/>
            </a:endParaRPr>
          </a:p>
        </p:txBody>
      </p:sp>
      <p:sp>
        <p:nvSpPr>
          <p:cNvPr id="13" name="qa-row-0">
            <a:extLst>
              <a:ext uri="{FF2B5EF4-FFF2-40B4-BE49-F238E27FC236}">
                <a16:creationId xmlns:a16="http://schemas.microsoft.com/office/drawing/2014/main" id="{6681EAF7-C547-AFD4-016A-6D450539959E}"/>
              </a:ext>
            </a:extLst>
          </p:cNvPr>
          <p:cNvSpPr/>
          <p:nvPr/>
        </p:nvSpPr>
        <p:spPr>
          <a:xfrm>
            <a:off x="914400" y="1701800"/>
            <a:ext cx="10363200" cy="533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q-0">
            <a:extLst>
              <a:ext uri="{FF2B5EF4-FFF2-40B4-BE49-F238E27FC236}">
                <a16:creationId xmlns:a16="http://schemas.microsoft.com/office/drawing/2014/main" id="{63EE116A-4352-5695-8841-A096610752A2}"/>
              </a:ext>
            </a:extLst>
          </p:cNvPr>
          <p:cNvSpPr txBox="1"/>
          <p:nvPr/>
        </p:nvSpPr>
        <p:spPr>
          <a:xfrm>
            <a:off x="1219200" y="1828800"/>
            <a:ext cx="3175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Why not one detector score?</a:t>
            </a:r>
            <a:endParaRPr lang="zh-CN" altLang="en-US" sz="830" b="1">
              <a:solidFill>
                <a:srgbClr val="004080"/>
              </a:solidFill>
              <a:latin typeface="Aptos" panose="020B0004020202020204" pitchFamily="34" charset="0"/>
            </a:endParaRPr>
          </a:p>
        </p:txBody>
      </p:sp>
      <p:sp>
        <p:nvSpPr>
          <p:cNvPr id="15" name="a-0">
            <a:extLst>
              <a:ext uri="{FF2B5EF4-FFF2-40B4-BE49-F238E27FC236}">
                <a16:creationId xmlns:a16="http://schemas.microsoft.com/office/drawing/2014/main" id="{473FE789-DC2D-DEF5-11E4-3306E2F7C736}"/>
              </a:ext>
            </a:extLst>
          </p:cNvPr>
          <p:cNvSpPr txBox="1"/>
          <p:nvPr/>
        </p:nvSpPr>
        <p:spPr>
          <a:xfrm>
            <a:off x="4800600" y="1828800"/>
            <a:ext cx="5969000" cy="276999"/>
          </a:xfrm>
          <a:prstGeom prst="rect">
            <a:avLst/>
          </a:prstGeom>
          <a:noFill/>
        </p:spPr>
        <p:txBody>
          <a:bodyPr vert="horz" wrap="square" lIns="0" tIns="0" rIns="0" bIns="0" rtlCol="0">
            <a:noAutofit/>
          </a:bodyPr>
          <a:lstStyle/>
          <a:p>
            <a:r>
              <a:rPr lang="en-US" altLang="zh-CN" sz="810" b="1">
                <a:solidFill>
                  <a:srgbClr val="0D182C"/>
                </a:solidFill>
                <a:latin typeface="Aptos" panose="020B0004020202020204" pitchFamily="34" charset="0"/>
              </a:rPr>
              <a:t>Because different access models support different claims.</a:t>
            </a:r>
            <a:endParaRPr lang="zh-CN" altLang="en-US" sz="810" b="1">
              <a:solidFill>
                <a:srgbClr val="0D182C"/>
              </a:solidFill>
              <a:latin typeface="Aptos" panose="020B0004020202020204" pitchFamily="34" charset="0"/>
            </a:endParaRPr>
          </a:p>
        </p:txBody>
      </p:sp>
      <p:sp>
        <p:nvSpPr>
          <p:cNvPr id="16" name="qa-row-1">
            <a:extLst>
              <a:ext uri="{FF2B5EF4-FFF2-40B4-BE49-F238E27FC236}">
                <a16:creationId xmlns:a16="http://schemas.microsoft.com/office/drawing/2014/main" id="{1449CE53-BDC9-ECF1-47F4-515DDFD55F73}"/>
              </a:ext>
            </a:extLst>
          </p:cNvPr>
          <p:cNvSpPr/>
          <p:nvPr/>
        </p:nvSpPr>
        <p:spPr>
          <a:xfrm>
            <a:off x="914400" y="2540000"/>
            <a:ext cx="10363200" cy="533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q-1">
            <a:extLst>
              <a:ext uri="{FF2B5EF4-FFF2-40B4-BE49-F238E27FC236}">
                <a16:creationId xmlns:a16="http://schemas.microsoft.com/office/drawing/2014/main" id="{11644D56-3C05-B0CC-F98B-18A527A136F8}"/>
              </a:ext>
            </a:extLst>
          </p:cNvPr>
          <p:cNvSpPr txBox="1"/>
          <p:nvPr/>
        </p:nvSpPr>
        <p:spPr>
          <a:xfrm>
            <a:off x="1219200" y="2667000"/>
            <a:ext cx="3175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Can this prove authorship?</a:t>
            </a:r>
            <a:endParaRPr lang="zh-CN" altLang="en-US" sz="830" b="1">
              <a:solidFill>
                <a:srgbClr val="004080"/>
              </a:solidFill>
              <a:latin typeface="Aptos" panose="020B0004020202020204" pitchFamily="34" charset="0"/>
            </a:endParaRPr>
          </a:p>
        </p:txBody>
      </p:sp>
      <p:sp>
        <p:nvSpPr>
          <p:cNvPr id="18" name="a-1">
            <a:extLst>
              <a:ext uri="{FF2B5EF4-FFF2-40B4-BE49-F238E27FC236}">
                <a16:creationId xmlns:a16="http://schemas.microsoft.com/office/drawing/2014/main" id="{DC445A7C-F6E1-A5E4-580F-C3DA8468477E}"/>
              </a:ext>
            </a:extLst>
          </p:cNvPr>
          <p:cNvSpPr txBox="1"/>
          <p:nvPr/>
        </p:nvSpPr>
        <p:spPr>
          <a:xfrm>
            <a:off x="4800600" y="2667000"/>
            <a:ext cx="5969000" cy="276999"/>
          </a:xfrm>
          <a:prstGeom prst="rect">
            <a:avLst/>
          </a:prstGeom>
          <a:noFill/>
        </p:spPr>
        <p:txBody>
          <a:bodyPr vert="horz" wrap="square" lIns="0" tIns="0" rIns="0" bIns="0" rtlCol="0">
            <a:noAutofit/>
          </a:bodyPr>
          <a:lstStyle/>
          <a:p>
            <a:r>
              <a:rPr lang="en-US" altLang="zh-CN" sz="810" b="1">
                <a:solidFill>
                  <a:srgbClr val="0D182C"/>
                </a:solidFill>
                <a:latin typeface="Aptos" panose="020B0004020202020204" pitchFamily="34" charset="0"/>
              </a:rPr>
              <a:t>No. ProbeTrace is source-bound owner verification, not legal authorship.</a:t>
            </a:r>
            <a:endParaRPr lang="zh-CN" altLang="en-US" sz="810" b="1">
              <a:solidFill>
                <a:srgbClr val="0D182C"/>
              </a:solidFill>
              <a:latin typeface="Aptos" panose="020B0004020202020204" pitchFamily="34" charset="0"/>
            </a:endParaRPr>
          </a:p>
        </p:txBody>
      </p:sp>
      <p:sp>
        <p:nvSpPr>
          <p:cNvPr id="19" name="qa-row-2">
            <a:extLst>
              <a:ext uri="{FF2B5EF4-FFF2-40B4-BE49-F238E27FC236}">
                <a16:creationId xmlns:a16="http://schemas.microsoft.com/office/drawing/2014/main" id="{C05AD3E0-1A5E-6FE6-3DAF-A1AB3C503572}"/>
              </a:ext>
            </a:extLst>
          </p:cNvPr>
          <p:cNvSpPr/>
          <p:nvPr/>
        </p:nvSpPr>
        <p:spPr>
          <a:xfrm>
            <a:off x="914400" y="3378200"/>
            <a:ext cx="10363200" cy="533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q-2">
            <a:extLst>
              <a:ext uri="{FF2B5EF4-FFF2-40B4-BE49-F238E27FC236}">
                <a16:creationId xmlns:a16="http://schemas.microsoft.com/office/drawing/2014/main" id="{EAC816E1-32B3-A65F-5E92-2CC2F2809555}"/>
              </a:ext>
            </a:extLst>
          </p:cNvPr>
          <p:cNvSpPr txBox="1"/>
          <p:nvPr/>
        </p:nvSpPr>
        <p:spPr>
          <a:xfrm>
            <a:off x="1219200" y="3505200"/>
            <a:ext cx="3175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Can CodeDye accuse a provider?</a:t>
            </a:r>
            <a:endParaRPr lang="zh-CN" altLang="en-US" sz="830" b="1">
              <a:solidFill>
                <a:srgbClr val="004080"/>
              </a:solidFill>
              <a:latin typeface="Aptos" panose="020B0004020202020204" pitchFamily="34" charset="0"/>
            </a:endParaRPr>
          </a:p>
        </p:txBody>
      </p:sp>
      <p:sp>
        <p:nvSpPr>
          <p:cNvPr id="21" name="a-2">
            <a:extLst>
              <a:ext uri="{FF2B5EF4-FFF2-40B4-BE49-F238E27FC236}">
                <a16:creationId xmlns:a16="http://schemas.microsoft.com/office/drawing/2014/main" id="{024FF407-D6A9-091E-3364-49F5A9BCC3EA}"/>
              </a:ext>
            </a:extLst>
          </p:cNvPr>
          <p:cNvSpPr txBox="1"/>
          <p:nvPr/>
        </p:nvSpPr>
        <p:spPr>
          <a:xfrm>
            <a:off x="4800600" y="3505200"/>
            <a:ext cx="5969000" cy="276999"/>
          </a:xfrm>
          <a:prstGeom prst="rect">
            <a:avLst/>
          </a:prstGeom>
          <a:noFill/>
        </p:spPr>
        <p:txBody>
          <a:bodyPr vert="horz" wrap="square" lIns="0" tIns="0" rIns="0" bIns="0" rtlCol="0">
            <a:noAutofit/>
          </a:bodyPr>
          <a:lstStyle/>
          <a:p>
            <a:r>
              <a:rPr lang="en-US" altLang="zh-CN" sz="810" b="1">
                <a:solidFill>
                  <a:srgbClr val="0D182C"/>
                </a:solidFill>
                <a:latin typeface="Aptos" panose="020B0004020202020204" pitchFamily="34" charset="0"/>
              </a:rPr>
              <a:t>No. It is a conservative null-audit/calibration surface.</a:t>
            </a:r>
            <a:endParaRPr lang="zh-CN" altLang="en-US" sz="810" b="1">
              <a:solidFill>
                <a:srgbClr val="0D182C"/>
              </a:solidFill>
              <a:latin typeface="Aptos" panose="020B0004020202020204" pitchFamily="34" charset="0"/>
            </a:endParaRPr>
          </a:p>
        </p:txBody>
      </p:sp>
      <p:sp>
        <p:nvSpPr>
          <p:cNvPr id="22" name="qa-row-3">
            <a:extLst>
              <a:ext uri="{FF2B5EF4-FFF2-40B4-BE49-F238E27FC236}">
                <a16:creationId xmlns:a16="http://schemas.microsoft.com/office/drawing/2014/main" id="{3D732FCD-0B36-8B7B-930B-D19ABEB1594D}"/>
              </a:ext>
            </a:extLst>
          </p:cNvPr>
          <p:cNvSpPr/>
          <p:nvPr/>
        </p:nvSpPr>
        <p:spPr>
          <a:xfrm>
            <a:off x="914400" y="4216400"/>
            <a:ext cx="10363200" cy="533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q-3">
            <a:extLst>
              <a:ext uri="{FF2B5EF4-FFF2-40B4-BE49-F238E27FC236}">
                <a16:creationId xmlns:a16="http://schemas.microsoft.com/office/drawing/2014/main" id="{DA09ADB2-F1A7-EFDC-4B2C-DE70FC7C16B3}"/>
              </a:ext>
            </a:extLst>
          </p:cNvPr>
          <p:cNvSpPr txBox="1"/>
          <p:nvPr/>
        </p:nvSpPr>
        <p:spPr>
          <a:xfrm>
            <a:off x="1219200" y="4343400"/>
            <a:ext cx="3175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Is the demo a full rerun?</a:t>
            </a:r>
            <a:endParaRPr lang="zh-CN" altLang="en-US" sz="830" b="1">
              <a:solidFill>
                <a:srgbClr val="004080"/>
              </a:solidFill>
              <a:latin typeface="Aptos" panose="020B0004020202020204" pitchFamily="34" charset="0"/>
            </a:endParaRPr>
          </a:p>
        </p:txBody>
      </p:sp>
      <p:sp>
        <p:nvSpPr>
          <p:cNvPr id="24" name="a-3">
            <a:extLst>
              <a:ext uri="{FF2B5EF4-FFF2-40B4-BE49-F238E27FC236}">
                <a16:creationId xmlns:a16="http://schemas.microsoft.com/office/drawing/2014/main" id="{53105568-03D0-A6FF-27BD-3DAC9D941650}"/>
              </a:ext>
            </a:extLst>
          </p:cNvPr>
          <p:cNvSpPr txBox="1"/>
          <p:nvPr/>
        </p:nvSpPr>
        <p:spPr>
          <a:xfrm>
            <a:off x="4800600" y="4343400"/>
            <a:ext cx="5969000" cy="276999"/>
          </a:xfrm>
          <a:prstGeom prst="rect">
            <a:avLst/>
          </a:prstGeom>
          <a:noFill/>
        </p:spPr>
        <p:txBody>
          <a:bodyPr vert="horz" wrap="square" lIns="0" tIns="0" rIns="0" bIns="0" rtlCol="0">
            <a:noAutofit/>
          </a:bodyPr>
          <a:lstStyle/>
          <a:p>
            <a:r>
              <a:rPr lang="en-US" altLang="zh-CN" sz="810" b="1">
                <a:solidFill>
                  <a:srgbClr val="0D182C"/>
                </a:solidFill>
                <a:latin typeface="Aptos" panose="020B0004020202020204" pitchFamily="34" charset="0"/>
              </a:rPr>
              <a:t>No. It checks repository integrity and traceability.</a:t>
            </a:r>
            <a:endParaRPr lang="zh-CN" altLang="en-US" sz="810" b="1">
              <a:solidFill>
                <a:srgbClr val="0D182C"/>
              </a:solidFill>
              <a:latin typeface="Aptos" panose="020B0004020202020204" pitchFamily="34" charset="0"/>
            </a:endParaRPr>
          </a:p>
        </p:txBody>
      </p:sp>
      <p:sp>
        <p:nvSpPr>
          <p:cNvPr id="25" name="qa-row-4">
            <a:extLst>
              <a:ext uri="{FF2B5EF4-FFF2-40B4-BE49-F238E27FC236}">
                <a16:creationId xmlns:a16="http://schemas.microsoft.com/office/drawing/2014/main" id="{4D69B614-2CCF-918B-A5A0-5DC74B21F54A}"/>
              </a:ext>
            </a:extLst>
          </p:cNvPr>
          <p:cNvSpPr/>
          <p:nvPr/>
        </p:nvSpPr>
        <p:spPr>
          <a:xfrm>
            <a:off x="914400" y="5054600"/>
            <a:ext cx="10363200" cy="533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q-4">
            <a:extLst>
              <a:ext uri="{FF2B5EF4-FFF2-40B4-BE49-F238E27FC236}">
                <a16:creationId xmlns:a16="http://schemas.microsoft.com/office/drawing/2014/main" id="{013698EF-F76A-52ED-1759-9028E6210C3E}"/>
              </a:ext>
            </a:extLst>
          </p:cNvPr>
          <p:cNvSpPr txBox="1"/>
          <p:nvPr/>
        </p:nvSpPr>
        <p:spPr>
          <a:xfrm>
            <a:off x="1219200" y="5181600"/>
            <a:ext cx="3175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What is the main contribution?</a:t>
            </a:r>
            <a:endParaRPr lang="zh-CN" altLang="en-US" sz="830" b="1">
              <a:solidFill>
                <a:srgbClr val="004080"/>
              </a:solidFill>
              <a:latin typeface="Aptos" panose="020B0004020202020204" pitchFamily="34" charset="0"/>
            </a:endParaRPr>
          </a:p>
        </p:txBody>
      </p:sp>
      <p:sp>
        <p:nvSpPr>
          <p:cNvPr id="27" name="a-4">
            <a:extLst>
              <a:ext uri="{FF2B5EF4-FFF2-40B4-BE49-F238E27FC236}">
                <a16:creationId xmlns:a16="http://schemas.microsoft.com/office/drawing/2014/main" id="{0AD09E11-4E9D-4584-F4CE-CB3F5AE2C6E9}"/>
              </a:ext>
            </a:extLst>
          </p:cNvPr>
          <p:cNvSpPr txBox="1"/>
          <p:nvPr/>
        </p:nvSpPr>
        <p:spPr>
          <a:xfrm>
            <a:off x="4800600" y="5181600"/>
            <a:ext cx="5969000" cy="276999"/>
          </a:xfrm>
          <a:prstGeom prst="rect">
            <a:avLst/>
          </a:prstGeom>
          <a:noFill/>
        </p:spPr>
        <p:txBody>
          <a:bodyPr vert="horz" wrap="square" lIns="0" tIns="0" rIns="0" bIns="0" rtlCol="0">
            <a:noAutofit/>
          </a:bodyPr>
          <a:lstStyle/>
          <a:p>
            <a:r>
              <a:rPr lang="en-US" altLang="zh-CN" sz="810" b="1">
                <a:solidFill>
                  <a:srgbClr val="0D182C"/>
                </a:solidFill>
                <a:latin typeface="Aptos" panose="020B0004020202020204" pitchFamily="34" charset="0"/>
              </a:rPr>
              <a:t>A benchmark-to-audit framework with fixed denominators, controls, and abstention.</a:t>
            </a:r>
            <a:endParaRPr lang="zh-CN" altLang="en-US" sz="810" b="1">
              <a:solidFill>
                <a:srgbClr val="0D182C"/>
              </a:solidFill>
              <a:latin typeface="Aptos" panose="020B0004020202020204" pitchFamily="34" charset="0"/>
            </a:endParaRPr>
          </a:p>
        </p:txBody>
      </p:sp>
    </p:spTree>
    <p:extLst>
      <p:ext uri="{BB962C8B-B14F-4D97-AF65-F5344CB8AC3E}">
        <p14:creationId xmlns:p14="http://schemas.microsoft.com/office/powerpoint/2010/main" val="848955929"/>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1627</Words>
  <Application>Microsoft Office PowerPoint</Application>
  <PresentationFormat>自定义</PresentationFormat>
  <Paragraphs>234</Paragraphs>
  <Slides>16</Slides>
  <Notes>16</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16</vt:i4>
      </vt:variant>
    </vt:vector>
  </HeadingPairs>
  <TitlesOfParts>
    <vt:vector size="22" baseType="lpstr">
      <vt:lpstr>等线</vt:lpstr>
      <vt:lpstr>等线 Light</vt:lpstr>
      <vt:lpstr>Aptos</vt:lpstr>
      <vt:lpstr>Arial</vt:lpstr>
      <vt:lpstr>Consolas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周率 圆</dc:creator>
  <cp:lastModifiedBy>周率 圆</cp:lastModifiedBy>
  <cp:revision>1</cp:revision>
  <dcterms:created xsi:type="dcterms:W3CDTF">2026-05-13T12:30:18Z</dcterms:created>
  <dcterms:modified xsi:type="dcterms:W3CDTF">2026-05-13T12:30:18Z</dcterms:modified>
</cp:coreProperties>
</file>