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461"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854242-6237-4057-896B-FDDB1656DBFA}" type="datetimeFigureOut">
              <a:rPr lang="zh-CN" altLang="en-US" smtClean="0"/>
              <a:t>2026/5/15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66C476-85F4-4B82-83DE-11E8823AB827}" type="slidenum">
              <a:rPr lang="zh-CN" altLang="en-US" smtClean="0"/>
              <a:t>‹#›</a:t>
            </a:fld>
            <a:endParaRPr lang="zh-CN" altLang="en-US"/>
          </a:p>
        </p:txBody>
      </p:sp>
    </p:spTree>
    <p:extLst>
      <p:ext uri="{BB962C8B-B14F-4D97-AF65-F5344CB8AC3E}">
        <p14:creationId xmlns:p14="http://schemas.microsoft.com/office/powerpoint/2010/main" val="21780522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Good afternoon. I am Haoyi Zhang. My project is WatermarkScope, a benchmark-to-audit framework for source-code watermarking in code generation models. I will present the submitted FYP snapshot first, then show how the five related repositories now continue toward publication-level work.</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a:t>
            </a:fld>
            <a:endParaRPr lang="zh-CN" altLang="en-US"/>
          </a:p>
        </p:txBody>
      </p:sp>
    </p:spTree>
    <p:extLst>
      <p:ext uri="{BB962C8B-B14F-4D97-AF65-F5344CB8AC3E}">
        <p14:creationId xmlns:p14="http://schemas.microsoft.com/office/powerpoint/2010/main" val="4114265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slide prevents confusion. The dissertation submitted to LMO is the formal FYP artifact. The current repositories show continuation progress after submission. I will be clear when a number is from the submitted FYP snapshot and when it is a continuation result.</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2</a:t>
            </a:fld>
            <a:endParaRPr lang="zh-CN" altLang="en-US"/>
          </a:p>
        </p:txBody>
      </p:sp>
    </p:spTree>
    <p:extLst>
      <p:ext uri="{BB962C8B-B14F-4D97-AF65-F5344CB8AC3E}">
        <p14:creationId xmlns:p14="http://schemas.microsoft.com/office/powerpoint/2010/main" val="18336707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problem is movement. Generated code rarely stays in the original chat. After edit or reuse, I need to know exactly what evidence supports a watermark claim.</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3</a:t>
            </a:fld>
            <a:endParaRPr lang="zh-CN" altLang="en-US"/>
          </a:p>
        </p:txBody>
      </p:sp>
    </p:spTree>
    <p:extLst>
      <p:ext uri="{BB962C8B-B14F-4D97-AF65-F5344CB8AC3E}">
        <p14:creationId xmlns:p14="http://schemas.microsoft.com/office/powerpoint/2010/main" val="20324968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The central method is an evidence contract. I freeze the denominator and controls, preserve the artifact and hash, state the access model, then report only the claim boundary that follows.</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4</a:t>
            </a:fld>
            <a:endParaRPr lang="zh-CN" altLang="en-US"/>
          </a:p>
        </p:txBody>
      </p:sp>
    </p:spTree>
    <p:extLst>
      <p:ext uri="{BB962C8B-B14F-4D97-AF65-F5344CB8AC3E}">
        <p14:creationId xmlns:p14="http://schemas.microsoft.com/office/powerpoint/2010/main" val="12942264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current project portfolio. CodeMarkBench is the benchmark track. The other four are continuation repositories with the commit snapshots shown on the slide. For the viva, I explain them as progress beyond the submitted FYP snapshot, not as modifications to the submitted PDF.</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5</a:t>
            </a:fld>
            <a:endParaRPr lang="zh-CN" altLang="en-US"/>
          </a:p>
        </p:txBody>
      </p:sp>
    </p:spTree>
    <p:extLst>
      <p:ext uri="{BB962C8B-B14F-4D97-AF65-F5344CB8AC3E}">
        <p14:creationId xmlns:p14="http://schemas.microsoft.com/office/powerpoint/2010/main" val="1461689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CodeMarkBench matters because it prevents denominator drift. The run inventory is complete for the submitted snapshot, and the result artifacts are preserved in the repository.</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6</a:t>
            </a:fld>
            <a:endParaRPr lang="zh-CN" altLang="en-US"/>
          </a:p>
        </p:txBody>
      </p:sp>
    </p:spTree>
    <p:extLst>
      <p:ext uri="{BB962C8B-B14F-4D97-AF65-F5344CB8AC3E}">
        <p14:creationId xmlns:p14="http://schemas.microsoft.com/office/powerpoint/2010/main" val="19756285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SemCodebook is the strongest provenance-recovery track. The important evidence is not just high recovery. It is high recovery plus zero hits in fixed controls and blind replay. I should still keep the claim inside admitted white-box cells.</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7</a:t>
            </a:fld>
            <a:endParaRPr lang="zh-CN" altLang="en-US"/>
          </a:p>
        </p:txBody>
      </p:sp>
    </p:spTree>
    <p:extLst>
      <p:ext uri="{BB962C8B-B14F-4D97-AF65-F5344CB8AC3E}">
        <p14:creationId xmlns:p14="http://schemas.microsoft.com/office/powerpoint/2010/main" val="22699865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CodeDye is conservative. The fresh live signal is zero in the current continuation surface, while positive memory calibration still fires. This supports a null-audit interpretation, not a claim that contamination is absent.</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8</a:t>
            </a:fld>
            <a:endParaRPr lang="zh-CN" altLang="en-US"/>
          </a:p>
        </p:txBody>
      </p:sp>
    </p:spTree>
    <p:extLst>
      <p:ext uri="{BB962C8B-B14F-4D97-AF65-F5344CB8AC3E}">
        <p14:creationId xmlns:p14="http://schemas.microsoft.com/office/powerpoint/2010/main" val="988378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ProbeTrace is strong but scoped. I should say it verifies active-owner attribution within the registered source and owner boundary. I should not say it proves general authorship.</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9</a:t>
            </a:fld>
            <a:endParaRPr lang="zh-CN" altLang="en-US"/>
          </a:p>
        </p:txBody>
      </p:sp>
    </p:spTree>
    <p:extLst>
      <p:ext uri="{BB962C8B-B14F-4D97-AF65-F5344CB8AC3E}">
        <p14:creationId xmlns:p14="http://schemas.microsoft.com/office/powerpoint/2010/main" val="8174910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SealAudit should be presented as selective triage. It reports decisive cases and abstention cases together. Zero unsafe pass is not a safety certificate; it is a finite observed outcome inside this surface.</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10</a:t>
            </a:fld>
            <a:endParaRPr lang="zh-CN" altLang="en-US"/>
          </a:p>
        </p:txBody>
      </p:sp>
    </p:spTree>
    <p:extLst>
      <p:ext uri="{BB962C8B-B14F-4D97-AF65-F5344CB8AC3E}">
        <p14:creationId xmlns:p14="http://schemas.microsoft.com/office/powerpoint/2010/main" val="35500924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safest way to explain the update. The left lane is the submitted FYP snapshot. The right lane shows current continuation progress. I should not mix the two denominators in one claim.</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11</a:t>
            </a:fld>
            <a:endParaRPr lang="zh-CN" altLang="en-US"/>
          </a:p>
        </p:txBody>
      </p:sp>
    </p:spTree>
    <p:extLst>
      <p:ext uri="{BB962C8B-B14F-4D97-AF65-F5344CB8AC3E}">
        <p14:creationId xmlns:p14="http://schemas.microsoft.com/office/powerpoint/2010/main" val="12282682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Demo 1, I will insert a 90-second video. The storyboard is: project page, repository README, project folders, CLAIM_BOUNDARIES.md, TRACEABILITY_MATRIX.md, and RESULT_MANIFEST.jsonl. The spoken point is inspectability, not a full experiment rerun.</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12</a:t>
            </a:fld>
            <a:endParaRPr lang="zh-CN" altLang="en-US"/>
          </a:p>
        </p:txBody>
      </p:sp>
    </p:spTree>
    <p:extLst>
      <p:ext uri="{BB962C8B-B14F-4D97-AF65-F5344CB8AC3E}">
        <p14:creationId xmlns:p14="http://schemas.microsoft.com/office/powerpoint/2010/main" val="9537046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For Demo 2, I can either run this live or show a 60-second video. The key sentence is: this verifies repository consistency and inspectability, not full GPU or API reproduction.</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13</a:t>
            </a:fld>
            <a:endParaRPr lang="zh-CN" altLang="en-US"/>
          </a:p>
        </p:txBody>
      </p:sp>
    </p:spTree>
    <p:extLst>
      <p:ext uri="{BB962C8B-B14F-4D97-AF65-F5344CB8AC3E}">
        <p14:creationId xmlns:p14="http://schemas.microsoft.com/office/powerpoint/2010/main" val="41709151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slide is mainly for my speaking discipline. In Q&amp;A, answer first, state the boundary second, and point to evidence third. This avoids overclaiming.</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14</a:t>
            </a:fld>
            <a:endParaRPr lang="zh-CN" altLang="en-US"/>
          </a:p>
        </p:txBody>
      </p:sp>
    </p:spTree>
    <p:extLst>
      <p:ext uri="{BB962C8B-B14F-4D97-AF65-F5344CB8AC3E}">
        <p14:creationId xmlns:p14="http://schemas.microsoft.com/office/powerpoint/2010/main" val="28503993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This is the forward plan. The code and current FYP evidence were built by me. Later papers may involve collaborators for writing and polishing, but the FYP artifact should be evaluated as my individual implementation and evidence organization work.</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15</a:t>
            </a:fld>
            <a:endParaRPr lang="zh-CN" altLang="en-US"/>
          </a:p>
        </p:txBody>
      </p:sp>
    </p:spTree>
    <p:extLst>
      <p:ext uri="{BB962C8B-B14F-4D97-AF65-F5344CB8AC3E}">
        <p14:creationId xmlns:p14="http://schemas.microsoft.com/office/powerpoint/2010/main" val="1237278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Thank you. I am ready for questions.
Likely Q&amp;A and short answers:
1. Why not one detector score?
Answer: Different access models need different evidence objects. One score would mix incompatible denominators.
2. Did the submitted dissertation change after registration?
Answer: No. The submitted FYP snapshot is fixed. The current repositories show continuation progress for viva discussion and future papers.
3. Does CodeDye prove contamination or absence of contamination?
Answer: No. It reports conservative black-box null-audit evidence with calibration and controls. It is not a provider accusation and not proof of absence.
4. Is ProbeTrace a legal authorship proof?
Answer: No. It is scoped active-owner verification under the registered source, owner split, and false-owner controls.
5. Why does SealAudit abstain so much?
Answer: Because forced decisions would overclaim. Abstention is part of the safety boundary when evidence is insufficient.
6. What is the main contribution?
Answer: WatermarkScope adds an evidence-contract layer: fixed denominators, executable controls, preserved artifacts, access models, and claim boundaries.
7. What can the examiner check quickly?
Answer: Open the project page, repository, CLAIM_BOUNDARIES.md, TRACEABILITY_MATRIX.md, RESULT_MANIFEST.jsonl, and run python scripts/viva_check.py.
8. What is the biggest limitation?
Answer: Finite denominators. Broader or provider-general claims need new admitted evidence surfaces.
9. Why are there five projects?
Answer: They cover different evidence questions: benchmark denominator, white-box recovery, black-box audit, owner attribution, and security triage.
Answer pattern: answer first, bound second, point to evidence third.</a:t>
            </a:r>
            <a:endParaRPr lang="zh-CN" altLang="en-US"/>
          </a:p>
        </p:txBody>
      </p:sp>
      <p:sp>
        <p:nvSpPr>
          <p:cNvPr id="4" name="灯片编号占位符 3"/>
          <p:cNvSpPr>
            <a:spLocks noGrp="1"/>
          </p:cNvSpPr>
          <p:nvPr>
            <p:ph type="sldNum" sz="quarter" idx="5"/>
          </p:nvPr>
        </p:nvSpPr>
        <p:spPr/>
        <p:txBody>
          <a:bodyPr/>
          <a:lstStyle/>
          <a:p>
            <a:fld id="{9866C476-85F4-4B82-83DE-11E8823AB827}" type="slidenum">
              <a:rPr lang="zh-CN" altLang="en-US" smtClean="0"/>
              <a:t>16</a:t>
            </a:fld>
            <a:endParaRPr lang="zh-CN" altLang="en-US"/>
          </a:p>
        </p:txBody>
      </p:sp>
    </p:spTree>
    <p:extLst>
      <p:ext uri="{BB962C8B-B14F-4D97-AF65-F5344CB8AC3E}">
        <p14:creationId xmlns:p14="http://schemas.microsoft.com/office/powerpoint/2010/main" val="1629361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04CBAC-2753-C21B-B8E9-E308E0290FDC}"/>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1D303C23-A753-51D1-7906-22CDBE18F4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DD6E41B9-295E-46BA-49BA-DAEFB09043D8}"/>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B5B40886-91A6-BAF1-F5F1-28E941A40F0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E1F7F-A314-F9D6-C95A-C3302D6A9AD9}"/>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3453540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EFACE4-7990-5EB1-27C9-59ABD9BA9FB5}"/>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6AF0F2E-CA14-E5E2-5B4B-6DB2CC8CA93A}"/>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B2622F4C-9C03-15A4-0DC3-B716C2CD40D7}"/>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AE1FB278-7953-5DFA-B5C3-81777E01F71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9EEAA850-CC14-2F1B-71A3-3C69623C4664}"/>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651896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1BD375-95B0-7EA2-5258-1EC8C1D79C5A}"/>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FAEFBDE-EDA6-D917-15C7-5C525467B7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8F15DB4-297F-9EB1-288A-F9726A454562}"/>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40D0F993-4A6F-7A14-59CC-38F8C2E4351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427E52-398E-6252-1111-FC7288647EC2}"/>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1931917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1528A-77AE-C0C1-A101-E37DC4B8E63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2FB38D2-16E1-4CDB-E946-2BD43634B6BB}"/>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B183726-2CD3-8229-4086-E4C34D022F05}"/>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554F73C5-77FD-368A-B857-A88E13DC7606}"/>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B1481EED-18E8-AC4D-41C3-D9D339332BA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C0FF6D5-C2CF-E5A4-DF45-DD980F51570E}"/>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842481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1DB2DCA-0322-2DB9-967D-0AFFF7340A72}"/>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E784D3CE-27C1-EB13-69C8-F7A5CD4CC6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6FAF94C0-4C22-4010-BF57-BBCC4C0C35E9}"/>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CF0C84AF-1375-3D66-5CFD-A6B8EC8951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9313D753-766D-FC67-AE6D-F72FCC03E5A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EE55F1DB-D2A7-8319-986D-10B4797D40CD}"/>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8" name="页脚占位符 7">
            <a:extLst>
              <a:ext uri="{FF2B5EF4-FFF2-40B4-BE49-F238E27FC236}">
                <a16:creationId xmlns:a16="http://schemas.microsoft.com/office/drawing/2014/main" id="{A9292F9F-1606-8179-BA91-D0553C7E10A3}"/>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A266EB67-4D37-54C8-271C-5F3293FC1BF0}"/>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2682619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065D95-9463-FDD3-301F-B307862E873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A74C8FEC-7927-2929-63A3-2F597DBCC20A}"/>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4" name="页脚占位符 3">
            <a:extLst>
              <a:ext uri="{FF2B5EF4-FFF2-40B4-BE49-F238E27FC236}">
                <a16:creationId xmlns:a16="http://schemas.microsoft.com/office/drawing/2014/main" id="{6AF4C92D-C73B-37E4-412A-6621C72E208B}"/>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DF44C520-4DA9-6DAA-7BC5-5A0141F8B3F0}"/>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411129398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9C320F-8D41-F299-FB8D-0476A92426D9}"/>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3" name="页脚占位符 2">
            <a:extLst>
              <a:ext uri="{FF2B5EF4-FFF2-40B4-BE49-F238E27FC236}">
                <a16:creationId xmlns:a16="http://schemas.microsoft.com/office/drawing/2014/main" id="{687CA670-339C-FF1B-F576-609B4CB0E627}"/>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1FCC0D39-BB6D-28AB-0971-51324EB14C88}"/>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7788342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1BA1FA-ED1C-E6FB-91CB-985ED57DA882}"/>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63A13ED5-681A-D9EA-B4D4-1EDBAF4F66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2DA4E128-248F-CF98-63B8-869AC2F2D2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F721432B-C61F-EF5B-1850-5A6AA4F5DAAD}"/>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DB585EDE-87EC-560F-0D95-82AE03FE989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816610F-64CD-BA78-87FC-03944A8FC707}"/>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402284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7F5A8D6-DD70-0E26-BDE1-D5F365E02395}"/>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02370EE6-B078-B1AE-D380-F22C9C36B7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681E5577-1F5F-3F30-3B1E-0F2F43886A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989C8447-F053-EED9-F4F0-99D140B050E7}"/>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6" name="页脚占位符 5">
            <a:extLst>
              <a:ext uri="{FF2B5EF4-FFF2-40B4-BE49-F238E27FC236}">
                <a16:creationId xmlns:a16="http://schemas.microsoft.com/office/drawing/2014/main" id="{2D472250-037F-93F5-CCDC-B8A853C8763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C2EF114-B765-C9CF-0509-F1031A7A56FC}"/>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3896354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78E4EC-ADC1-9466-D229-6359426DBA9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05848AD9-258B-3C19-1961-10DEDC4252D4}"/>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FF37551-E445-1730-CB7B-BD572CBEB0FB}"/>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400180A0-F470-5CB2-8082-1AA842281E8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01BB56E-99A7-929F-EEC0-C5F7F3733A53}"/>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13017469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48E58E1-F7D2-D72F-57E7-24436BE76FC4}"/>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5718077E-8FA8-07AB-1F09-8EA25CB6CF48}"/>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E17C033-2A91-F86E-6198-8831C7A7B723}"/>
              </a:ext>
            </a:extLst>
          </p:cNvPr>
          <p:cNvSpPr>
            <a:spLocks noGrp="1"/>
          </p:cNvSpPr>
          <p:nvPr>
            <p:ph type="dt" sz="half" idx="10"/>
          </p:nvPr>
        </p:nvSpPr>
        <p:spPr/>
        <p:txBody>
          <a:body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E0EBFE27-19BF-C8D7-1042-98A20C206BE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F654B21D-F4F4-7CC0-7826-CE4B4D8A94CB}"/>
              </a:ext>
            </a:extLst>
          </p:cNvPr>
          <p:cNvSpPr>
            <a:spLocks noGrp="1"/>
          </p:cNvSpPr>
          <p:nvPr>
            <p:ph type="sldNum" sz="quarter" idx="12"/>
          </p:nvPr>
        </p:nvSpPr>
        <p:spPr/>
        <p:txBody>
          <a:body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2238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09448B99-D0C3-F98C-FB22-B32982891D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97E97A3-E9A2-62DA-60EB-7A6AA7FEA86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014F5C8-0CC7-B484-1438-227D366486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B04545-B6D2-495B-A35F-D5F4DADFCF17}" type="datetimeFigureOut">
              <a:rPr lang="zh-CN" altLang="en-US" smtClean="0"/>
              <a:t>2026/5/15</a:t>
            </a:fld>
            <a:endParaRPr lang="zh-CN" altLang="en-US"/>
          </a:p>
        </p:txBody>
      </p:sp>
      <p:sp>
        <p:nvSpPr>
          <p:cNvPr id="5" name="页脚占位符 4">
            <a:extLst>
              <a:ext uri="{FF2B5EF4-FFF2-40B4-BE49-F238E27FC236}">
                <a16:creationId xmlns:a16="http://schemas.microsoft.com/office/drawing/2014/main" id="{013E6F01-D85D-E74B-C0CA-827A34BB5ED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9B8187B2-670C-9F01-1506-8B03DB8F531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8F7D9B8-368D-4CB1-96FA-02087B769007}" type="slidenum">
              <a:rPr lang="zh-CN" altLang="en-US" smtClean="0"/>
              <a:t>‹#›</a:t>
            </a:fld>
            <a:endParaRPr lang="zh-CN" altLang="en-US"/>
          </a:p>
        </p:txBody>
      </p:sp>
    </p:spTree>
    <p:extLst>
      <p:ext uri="{BB962C8B-B14F-4D97-AF65-F5344CB8AC3E}">
        <p14:creationId xmlns:p14="http://schemas.microsoft.com/office/powerpoint/2010/main" val="7941429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github.com/Haoyi-Zhang/SealAudit" TargetMode="External"/><Relationship Id="rId3" Type="http://schemas.openxmlformats.org/officeDocument/2006/relationships/image" Target="../media/image2.jpeg"/><Relationship Id="rId7" Type="http://schemas.openxmlformats.org/officeDocument/2006/relationships/hyperlink" Target="https://github.com/Haoyi-Zhang/ProbeTrace"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hyperlink" Target="https://github.com/Haoyi-Zhang/CodeDye" TargetMode="External"/><Relationship Id="rId5" Type="http://schemas.openxmlformats.org/officeDocument/2006/relationships/hyperlink" Target="https://github.com/Haoyi-Zhang/SemCodebook" TargetMode="External"/><Relationship Id="rId4" Type="http://schemas.openxmlformats.org/officeDocument/2006/relationships/hyperlink" Target="https://github.com/Haoyi-Zhang/CodeMarkBench" TargetMode="External"/><Relationship Id="rId9" Type="http://schemas.openxmlformats.org/officeDocument/2006/relationships/hyperlink" Target="https://haoyi-zhang.github.io/WatermarkScope/"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github.com/Haoyi-Zhang/WatermarkScope/blob/main/RESULT_MANIFEST.jsonl" TargetMode="External"/><Relationship Id="rId3" Type="http://schemas.openxmlformats.org/officeDocument/2006/relationships/image" Target="../media/image2.jpeg"/><Relationship Id="rId7" Type="http://schemas.openxmlformats.org/officeDocument/2006/relationships/hyperlink" Target="https://github.com/Haoyi-Zhang/WatermarkScope/blob/main/docs/TRACEABILITY_MATRIX.md" TargetMode="External"/><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hyperlink" Target="https://github.com/Haoyi-Zhang/WatermarkScope/blob/main/CLAIM_BOUNDARIES.md" TargetMode="External"/><Relationship Id="rId5" Type="http://schemas.openxmlformats.org/officeDocument/2006/relationships/hyperlink" Target="https://github.com/Haoyi-Zhang/WatermarkScope" TargetMode="External"/><Relationship Id="rId4" Type="http://schemas.openxmlformats.org/officeDocument/2006/relationships/hyperlink" Target="https://haoyi-zhang.github.io/WatermarkScope/"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hyperlink" Target="https://haoyi-zhang.github.io/WatermarkScope/" TargetMode="External"/><Relationship Id="rId4" Type="http://schemas.openxmlformats.org/officeDocument/2006/relationships/hyperlink" Target="https://github.com/Haoyi-Zhang/WatermarkScope/blob/main/scripts/viva_check.py"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hyperlink" Target="https://haoyi-zhang.github.io/WatermarkScope/"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haoyi-zhang.github.io/WatermarkScope/" TargetMode="External"/><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hyperlink" Target="https://github.com/Haoyi-Zhang/WatermarkScope" TargetMode="Externa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53B9627-06BF-CD2C-043B-165D3C4A29A2}"/>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cover-panel">
            <a:extLst>
              <a:ext uri="{FF2B5EF4-FFF2-40B4-BE49-F238E27FC236}">
                <a16:creationId xmlns:a16="http://schemas.microsoft.com/office/drawing/2014/main" id="{6EE09C4D-0B0A-EBC1-3C20-2D0EAB6364FC}"/>
              </a:ext>
            </a:extLst>
          </p:cNvPr>
          <p:cNvSpPr/>
          <p:nvPr/>
        </p:nvSpPr>
        <p:spPr>
          <a:xfrm>
            <a:off x="762000" y="762000"/>
            <a:ext cx="7950200" cy="4673600"/>
          </a:xfrm>
          <a:prstGeom prst="roundRect">
            <a:avLst>
              <a:gd name="adj" fmla="val 14000"/>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kicker">
            <a:extLst>
              <a:ext uri="{FF2B5EF4-FFF2-40B4-BE49-F238E27FC236}">
                <a16:creationId xmlns:a16="http://schemas.microsoft.com/office/drawing/2014/main" id="{926E23EC-D9DD-D016-A102-BD858F46EFCD}"/>
              </a:ext>
            </a:extLst>
          </p:cNvPr>
          <p:cNvSpPr txBox="1"/>
          <p:nvPr/>
        </p:nvSpPr>
        <p:spPr>
          <a:xfrm>
            <a:off x="1193800" y="1219200"/>
            <a:ext cx="5334000" cy="276999"/>
          </a:xfrm>
          <a:prstGeom prst="rect">
            <a:avLst/>
          </a:prstGeom>
          <a:noFill/>
        </p:spPr>
        <p:txBody>
          <a:bodyPr vert="horz" wrap="square" lIns="0" tIns="0" rIns="0" bIns="0" rtlCol="0">
            <a:noAutofit/>
          </a:bodyPr>
          <a:lstStyle/>
          <a:p>
            <a:r>
              <a:rPr lang="en-US" altLang="zh-CN" sz="1420" b="1">
                <a:solidFill>
                  <a:srgbClr val="CDE2FA"/>
                </a:solidFill>
                <a:latin typeface="Aptos" panose="020B0004020202020204" pitchFamily="34" charset="0"/>
              </a:rPr>
              <a:t>FINAL YEAR PROJECT VIVA</a:t>
            </a:r>
            <a:endParaRPr lang="zh-CN" altLang="en-US" sz="1420" b="1">
              <a:solidFill>
                <a:srgbClr val="CDE2FA"/>
              </a:solidFill>
              <a:latin typeface="Aptos" panose="020B0004020202020204" pitchFamily="34" charset="0"/>
            </a:endParaRPr>
          </a:p>
        </p:txBody>
      </p:sp>
      <p:sp>
        <p:nvSpPr>
          <p:cNvPr id="5" name="brand">
            <a:extLst>
              <a:ext uri="{FF2B5EF4-FFF2-40B4-BE49-F238E27FC236}">
                <a16:creationId xmlns:a16="http://schemas.microsoft.com/office/drawing/2014/main" id="{E272C22E-DDE9-B657-ABD8-87ECCDA32D5B}"/>
              </a:ext>
            </a:extLst>
          </p:cNvPr>
          <p:cNvSpPr txBox="1"/>
          <p:nvPr/>
        </p:nvSpPr>
        <p:spPr>
          <a:xfrm>
            <a:off x="1168400" y="1803400"/>
            <a:ext cx="6604000" cy="276999"/>
          </a:xfrm>
          <a:prstGeom prst="rect">
            <a:avLst/>
          </a:prstGeom>
          <a:noFill/>
        </p:spPr>
        <p:txBody>
          <a:bodyPr vert="horz" wrap="square" lIns="0" tIns="0" rIns="0" bIns="0" rtlCol="0">
            <a:noAutofit/>
          </a:bodyPr>
          <a:lstStyle/>
          <a:p>
            <a:r>
              <a:rPr lang="en-US" altLang="zh-CN" sz="5000" b="1">
                <a:solidFill>
                  <a:srgbClr val="FFFFFF"/>
                </a:solidFill>
                <a:latin typeface="Aptos" panose="020B0004020202020204" pitchFamily="34" charset="0"/>
              </a:rPr>
              <a:t>WatermarkScope</a:t>
            </a:r>
            <a:endParaRPr lang="zh-CN" altLang="en-US" sz="5000" b="1">
              <a:solidFill>
                <a:srgbClr val="FFFFFF"/>
              </a:solidFill>
              <a:latin typeface="Aptos" panose="020B0004020202020204" pitchFamily="34" charset="0"/>
            </a:endParaRPr>
          </a:p>
        </p:txBody>
      </p:sp>
      <p:sp>
        <p:nvSpPr>
          <p:cNvPr id="6" name="title">
            <a:extLst>
              <a:ext uri="{FF2B5EF4-FFF2-40B4-BE49-F238E27FC236}">
                <a16:creationId xmlns:a16="http://schemas.microsoft.com/office/drawing/2014/main" id="{468C4916-9D3E-F038-F349-082135674BA5}"/>
              </a:ext>
            </a:extLst>
          </p:cNvPr>
          <p:cNvSpPr txBox="1"/>
          <p:nvPr/>
        </p:nvSpPr>
        <p:spPr>
          <a:xfrm>
            <a:off x="1219200" y="2844800"/>
            <a:ext cx="6604000" cy="276999"/>
          </a:xfrm>
          <a:prstGeom prst="rect">
            <a:avLst/>
          </a:prstGeom>
          <a:noFill/>
        </p:spPr>
        <p:txBody>
          <a:bodyPr vert="horz" wrap="square" lIns="0" tIns="0" rIns="0" bIns="0" rtlCol="0">
            <a:noAutofit/>
          </a:bodyPr>
          <a:lstStyle/>
          <a:p>
            <a:r>
              <a:rPr lang="en-US" altLang="zh-CN" sz="2700" b="1">
                <a:solidFill>
                  <a:srgbClr val="FFFFFF"/>
                </a:solidFill>
                <a:latin typeface="Aptos" panose="020B0004020202020204" pitchFamily="34" charset="0"/>
              </a:rPr>
              <a:t>A Benchmark-to-Audit Framework for Source-Code Watermarking in Code Generation Models</a:t>
            </a:r>
            <a:endParaRPr lang="zh-CN" altLang="en-US" sz="2700" b="1">
              <a:solidFill>
                <a:srgbClr val="FFFFFF"/>
              </a:solidFill>
              <a:latin typeface="Aptos" panose="020B0004020202020204" pitchFamily="34" charset="0"/>
            </a:endParaRPr>
          </a:p>
        </p:txBody>
      </p:sp>
      <p:cxnSp>
        <p:nvCxnSpPr>
          <p:cNvPr id="7" name="rule">
            <a:extLst>
              <a:ext uri="{FF2B5EF4-FFF2-40B4-BE49-F238E27FC236}">
                <a16:creationId xmlns:a16="http://schemas.microsoft.com/office/drawing/2014/main" id="{3097BA5D-9CDA-AA01-39F4-B6BC7B04181C}"/>
              </a:ext>
            </a:extLst>
          </p:cNvPr>
          <p:cNvCxnSpPr/>
          <p:nvPr/>
        </p:nvCxnSpPr>
        <p:spPr>
          <a:xfrm>
            <a:off x="1219200" y="4470400"/>
            <a:ext cx="6273800" cy="0"/>
          </a:xfrm>
          <a:prstGeom prst="line">
            <a:avLst/>
          </a:prstGeom>
          <a:ln w="17780">
            <a:solidFill>
              <a:srgbClr val="B5D3F5"/>
            </a:solidFill>
          </a:ln>
        </p:spPr>
        <p:style>
          <a:lnRef idx="1">
            <a:schemeClr val="accent1"/>
          </a:lnRef>
          <a:fillRef idx="0">
            <a:schemeClr val="accent1"/>
          </a:fillRef>
          <a:effectRef idx="0">
            <a:schemeClr val="accent1"/>
          </a:effectRef>
          <a:fontRef idx="minor">
            <a:schemeClr val="tx1"/>
          </a:fontRef>
        </p:style>
      </p:cxnSp>
      <p:sp>
        <p:nvSpPr>
          <p:cNvPr id="8" name="meta">
            <a:extLst>
              <a:ext uri="{FF2B5EF4-FFF2-40B4-BE49-F238E27FC236}">
                <a16:creationId xmlns:a16="http://schemas.microsoft.com/office/drawing/2014/main" id="{369EA4A4-AF3B-DAF2-F8DE-B2C6B51380C3}"/>
              </a:ext>
            </a:extLst>
          </p:cNvPr>
          <p:cNvSpPr txBox="1"/>
          <p:nvPr/>
        </p:nvSpPr>
        <p:spPr>
          <a:xfrm>
            <a:off x="1244600" y="4775200"/>
            <a:ext cx="6604000" cy="276999"/>
          </a:xfrm>
          <a:prstGeom prst="rect">
            <a:avLst/>
          </a:prstGeom>
          <a:noFill/>
        </p:spPr>
        <p:txBody>
          <a:bodyPr vert="horz" wrap="square" lIns="0" tIns="0" rIns="0" bIns="0" rtlCol="0">
            <a:noAutofit/>
          </a:bodyPr>
          <a:lstStyle/>
          <a:p>
            <a:r>
              <a:rPr lang="en-US" altLang="zh-CN" sz="1720" b="1">
                <a:solidFill>
                  <a:srgbClr val="DDEBFC"/>
                </a:solidFill>
                <a:latin typeface="Aptos" panose="020B0004020202020204" pitchFamily="34" charset="0"/>
              </a:rPr>
              <a:t>Haoyi Zhang | 2254912
Supervisor: Md Maruf Hasan
Final Year Project Report | May 2026</a:t>
            </a:r>
            <a:endParaRPr lang="zh-CN" altLang="en-US" sz="1720" b="1">
              <a:solidFill>
                <a:srgbClr val="DDEBFC"/>
              </a:solidFill>
              <a:latin typeface="Aptos" panose="020B0004020202020204" pitchFamily="34" charset="0"/>
            </a:endParaRPr>
          </a:p>
        </p:txBody>
      </p:sp>
      <p:pic>
        <p:nvPicPr>
          <p:cNvPr id="10" name="图片 9">
            <a:extLst>
              <a:ext uri="{FF2B5EF4-FFF2-40B4-BE49-F238E27FC236}">
                <a16:creationId xmlns:a16="http://schemas.microsoft.com/office/drawing/2014/main" id="{DFDC237D-01CF-A3FA-30EB-463617A01C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220200" y="5918200"/>
            <a:ext cx="2082800" cy="571500"/>
          </a:xfrm>
          <a:prstGeom prst="rect">
            <a:avLst/>
          </a:prstGeom>
        </p:spPr>
      </p:pic>
      <p:sp>
        <p:nvSpPr>
          <p:cNvPr id="11" name="footer-hit-1">
            <a:hlinkClick r:id="rId4"/>
            <a:extLst>
              <a:ext uri="{FF2B5EF4-FFF2-40B4-BE49-F238E27FC236}">
                <a16:creationId xmlns:a16="http://schemas.microsoft.com/office/drawing/2014/main" id="{F80211A6-28B8-4666-5D46-006D4DA74ED9}"/>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6387771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848B2D0-B919-D4B7-8245-2A9987AED28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5A4C797-C01B-EB3D-3E11-99D35A9BE86E}"/>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9FA293A9-5E33-CF20-6479-98BD5D727F53}"/>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VIVA POSITIONING</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805B8B7B-22E4-68C0-3481-5AA1B6FB84B9}"/>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02</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B966A0B6-45C1-AD6B-3BB9-9D1FD9DAA9B3}"/>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BE073A2A-0DD6-617E-B806-C049B001DA09}"/>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CEB9C141-EEC8-10B5-E49C-72C8041299E4}"/>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66F2BF9E-261B-2C92-A5B7-CD8E25E0134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DB3243C3-7569-12B4-FAED-59264BEE4E0B}"/>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dissertation is fixed; the repositories show continuation progress.</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59E203BC-9D5E-CACA-1F89-3F5534A6F9C9}"/>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I keep the submitted FYP evidence separate from the updated paper-oriented workstreams.</a:t>
            </a:r>
            <a:endParaRPr lang="zh-CN" altLang="en-US" sz="1700">
              <a:solidFill>
                <a:srgbClr val="52617A"/>
              </a:solidFill>
              <a:latin typeface="Aptos" panose="020B0004020202020204" pitchFamily="34" charset="0"/>
            </a:endParaRPr>
          </a:p>
        </p:txBody>
      </p:sp>
      <p:sp>
        <p:nvSpPr>
          <p:cNvPr id="13" name="left">
            <a:extLst>
              <a:ext uri="{FF2B5EF4-FFF2-40B4-BE49-F238E27FC236}">
                <a16:creationId xmlns:a16="http://schemas.microsoft.com/office/drawing/2014/main" id="{EEF392CF-3917-1D51-0C61-ACD19E9037D1}"/>
              </a:ext>
            </a:extLst>
          </p:cNvPr>
          <p:cNvSpPr/>
          <p:nvPr/>
        </p:nvSpPr>
        <p:spPr>
          <a:xfrm>
            <a:off x="1016000" y="2260600"/>
            <a:ext cx="4648200" cy="28702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left-k">
            <a:extLst>
              <a:ext uri="{FF2B5EF4-FFF2-40B4-BE49-F238E27FC236}">
                <a16:creationId xmlns:a16="http://schemas.microsoft.com/office/drawing/2014/main" id="{49577087-5A70-F395-103B-79604A5A66CC}"/>
              </a:ext>
            </a:extLst>
          </p:cNvPr>
          <p:cNvSpPr txBox="1"/>
          <p:nvPr/>
        </p:nvSpPr>
        <p:spPr>
          <a:xfrm>
            <a:off x="1473200" y="2692400"/>
            <a:ext cx="2794000" cy="276999"/>
          </a:xfrm>
          <a:prstGeom prst="rect">
            <a:avLst/>
          </a:prstGeom>
          <a:noFill/>
        </p:spPr>
        <p:txBody>
          <a:bodyPr vert="horz" wrap="square" lIns="0" tIns="0" rIns="0" bIns="0" rtlCol="0">
            <a:noAutofit/>
          </a:bodyPr>
          <a:lstStyle/>
          <a:p>
            <a:r>
              <a:rPr lang="en-US" altLang="zh-CN" sz="1300" b="1">
                <a:solidFill>
                  <a:srgbClr val="CDE2FA"/>
                </a:solidFill>
                <a:latin typeface="Aptos" panose="020B0004020202020204" pitchFamily="34" charset="0"/>
              </a:rPr>
              <a:t>submitted FYP snapshot</a:t>
            </a:r>
            <a:endParaRPr lang="zh-CN" altLang="en-US" sz="1300" b="1">
              <a:solidFill>
                <a:srgbClr val="CDE2FA"/>
              </a:solidFill>
              <a:latin typeface="Aptos" panose="020B0004020202020204" pitchFamily="34" charset="0"/>
            </a:endParaRPr>
          </a:p>
        </p:txBody>
      </p:sp>
      <p:sp>
        <p:nvSpPr>
          <p:cNvPr id="15" name="left-v">
            <a:extLst>
              <a:ext uri="{FF2B5EF4-FFF2-40B4-BE49-F238E27FC236}">
                <a16:creationId xmlns:a16="http://schemas.microsoft.com/office/drawing/2014/main" id="{D9D3E002-C3AC-54E6-CF3A-89A410BD5254}"/>
              </a:ext>
            </a:extLst>
          </p:cNvPr>
          <p:cNvSpPr txBox="1"/>
          <p:nvPr/>
        </p:nvSpPr>
        <p:spPr>
          <a:xfrm>
            <a:off x="1473200" y="3238500"/>
            <a:ext cx="3175000" cy="276999"/>
          </a:xfrm>
          <a:prstGeom prst="rect">
            <a:avLst/>
          </a:prstGeom>
          <a:noFill/>
        </p:spPr>
        <p:txBody>
          <a:bodyPr vert="horz" wrap="square" lIns="0" tIns="0" rIns="0" bIns="0" rtlCol="0">
            <a:noAutofit/>
          </a:bodyPr>
          <a:lstStyle/>
          <a:p>
            <a:r>
              <a:rPr lang="en-US" altLang="zh-CN" sz="2800" b="1">
                <a:solidFill>
                  <a:srgbClr val="FFFFFF"/>
                </a:solidFill>
                <a:latin typeface="Aptos" panose="020B0004020202020204" pitchFamily="34" charset="0"/>
              </a:rPr>
              <a:t>Official report
submitted to LMO</a:t>
            </a:r>
            <a:endParaRPr lang="zh-CN" altLang="en-US" sz="2800" b="1">
              <a:solidFill>
                <a:srgbClr val="FFFFFF"/>
              </a:solidFill>
              <a:latin typeface="Aptos" panose="020B0004020202020204" pitchFamily="34" charset="0"/>
            </a:endParaRPr>
          </a:p>
        </p:txBody>
      </p:sp>
      <p:sp>
        <p:nvSpPr>
          <p:cNvPr id="16" name="left-s">
            <a:extLst>
              <a:ext uri="{FF2B5EF4-FFF2-40B4-BE49-F238E27FC236}">
                <a16:creationId xmlns:a16="http://schemas.microsoft.com/office/drawing/2014/main" id="{2AF63C3D-C827-7FC0-7B2C-79CC77EFB54D}"/>
              </a:ext>
            </a:extLst>
          </p:cNvPr>
          <p:cNvSpPr txBox="1"/>
          <p:nvPr/>
        </p:nvSpPr>
        <p:spPr>
          <a:xfrm>
            <a:off x="1473200" y="4368800"/>
            <a:ext cx="3378200" cy="276999"/>
          </a:xfrm>
          <a:prstGeom prst="rect">
            <a:avLst/>
          </a:prstGeom>
          <a:noFill/>
        </p:spPr>
        <p:txBody>
          <a:bodyPr vert="horz" wrap="square" lIns="0" tIns="0" rIns="0" bIns="0" rtlCol="0">
            <a:noAutofit/>
          </a:bodyPr>
          <a:lstStyle/>
          <a:p>
            <a:r>
              <a:rPr lang="en-US" altLang="zh-CN" sz="1350" b="1">
                <a:solidFill>
                  <a:srgbClr val="DDEBFC"/>
                </a:solidFill>
                <a:latin typeface="Aptos" panose="020B0004020202020204" pitchFamily="34" charset="0"/>
              </a:rPr>
              <a:t>Assessed artifact: PDF, repository route, submitted denominators.</a:t>
            </a:r>
            <a:endParaRPr lang="zh-CN" altLang="en-US" sz="1350" b="1">
              <a:solidFill>
                <a:srgbClr val="DDEBFC"/>
              </a:solidFill>
              <a:latin typeface="Aptos" panose="020B0004020202020204" pitchFamily="34" charset="0"/>
            </a:endParaRPr>
          </a:p>
        </p:txBody>
      </p:sp>
      <p:cxnSp>
        <p:nvCxnSpPr>
          <p:cNvPr id="17" name="bridge">
            <a:extLst>
              <a:ext uri="{FF2B5EF4-FFF2-40B4-BE49-F238E27FC236}">
                <a16:creationId xmlns:a16="http://schemas.microsoft.com/office/drawing/2014/main" id="{A5E24DFB-34A1-0F42-C6C6-C801515073D7}"/>
              </a:ext>
            </a:extLst>
          </p:cNvPr>
          <p:cNvCxnSpPr/>
          <p:nvPr/>
        </p:nvCxnSpPr>
        <p:spPr>
          <a:xfrm>
            <a:off x="6019800" y="3708400"/>
            <a:ext cx="711200" cy="0"/>
          </a:xfrm>
          <a:prstGeom prst="line">
            <a:avLst/>
          </a:prstGeom>
          <a:ln w="27940">
            <a:solidFill>
              <a:srgbClr val="52617A"/>
            </a:solidFill>
            <a:tailEnd type="arrow"/>
          </a:ln>
        </p:spPr>
        <p:style>
          <a:lnRef idx="1">
            <a:schemeClr val="accent1"/>
          </a:lnRef>
          <a:fillRef idx="0">
            <a:schemeClr val="accent1"/>
          </a:fillRef>
          <a:effectRef idx="0">
            <a:schemeClr val="accent1"/>
          </a:effectRef>
          <a:fontRef idx="minor">
            <a:schemeClr val="tx1"/>
          </a:fontRef>
        </p:style>
      </p:cxnSp>
      <p:sp>
        <p:nvSpPr>
          <p:cNvPr id="18" name="right">
            <a:extLst>
              <a:ext uri="{FF2B5EF4-FFF2-40B4-BE49-F238E27FC236}">
                <a16:creationId xmlns:a16="http://schemas.microsoft.com/office/drawing/2014/main" id="{39A37AB9-C2CF-2723-87DB-AB887FCD8553}"/>
              </a:ext>
            </a:extLst>
          </p:cNvPr>
          <p:cNvSpPr/>
          <p:nvPr/>
        </p:nvSpPr>
        <p:spPr>
          <a:xfrm>
            <a:off x="7086600" y="2260600"/>
            <a:ext cx="4140200" cy="2870200"/>
          </a:xfrm>
          <a:prstGeom prst="roundRect">
            <a:avLst>
              <a:gd name="adj" fmla="val 14000"/>
            </a:avLst>
          </a:prstGeom>
          <a:solidFill>
            <a:srgbClr val="F8FB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ight-k">
            <a:extLst>
              <a:ext uri="{FF2B5EF4-FFF2-40B4-BE49-F238E27FC236}">
                <a16:creationId xmlns:a16="http://schemas.microsoft.com/office/drawing/2014/main" id="{70676475-6A8F-162E-97E4-5685C7F3B700}"/>
              </a:ext>
            </a:extLst>
          </p:cNvPr>
          <p:cNvSpPr txBox="1"/>
          <p:nvPr/>
        </p:nvSpPr>
        <p:spPr>
          <a:xfrm>
            <a:off x="7543800" y="2692400"/>
            <a:ext cx="2667000" cy="276999"/>
          </a:xfrm>
          <a:prstGeom prst="rect">
            <a:avLst/>
          </a:prstGeom>
          <a:noFill/>
        </p:spPr>
        <p:txBody>
          <a:bodyPr vert="horz" wrap="square" lIns="0" tIns="0" rIns="0" bIns="0" rtlCol="0">
            <a:noAutofit/>
          </a:bodyPr>
          <a:lstStyle/>
          <a:p>
            <a:r>
              <a:rPr lang="en-US" altLang="zh-CN" sz="1300" b="1">
                <a:solidFill>
                  <a:srgbClr val="003B7A"/>
                </a:solidFill>
                <a:latin typeface="Aptos" panose="020B0004020202020204" pitchFamily="34" charset="0"/>
              </a:rPr>
              <a:t>viva continuation view</a:t>
            </a:r>
            <a:endParaRPr lang="zh-CN" altLang="en-US" sz="1300" b="1">
              <a:solidFill>
                <a:srgbClr val="003B7A"/>
              </a:solidFill>
              <a:latin typeface="Aptos" panose="020B0004020202020204" pitchFamily="34" charset="0"/>
            </a:endParaRPr>
          </a:p>
        </p:txBody>
      </p:sp>
      <p:sp>
        <p:nvSpPr>
          <p:cNvPr id="20" name="right-v">
            <a:extLst>
              <a:ext uri="{FF2B5EF4-FFF2-40B4-BE49-F238E27FC236}">
                <a16:creationId xmlns:a16="http://schemas.microsoft.com/office/drawing/2014/main" id="{AF55786B-079D-338A-0201-939474B0CC03}"/>
              </a:ext>
            </a:extLst>
          </p:cNvPr>
          <p:cNvSpPr txBox="1"/>
          <p:nvPr/>
        </p:nvSpPr>
        <p:spPr>
          <a:xfrm>
            <a:off x="7543800" y="3238500"/>
            <a:ext cx="2921000" cy="276999"/>
          </a:xfrm>
          <a:prstGeom prst="rect">
            <a:avLst/>
          </a:prstGeom>
          <a:noFill/>
        </p:spPr>
        <p:txBody>
          <a:bodyPr vert="horz" wrap="square" lIns="0" tIns="0" rIns="0" bIns="0" rtlCol="0">
            <a:noAutofit/>
          </a:bodyPr>
          <a:lstStyle/>
          <a:p>
            <a:r>
              <a:rPr lang="en-US" altLang="zh-CN" sz="2700" b="1">
                <a:solidFill>
                  <a:srgbClr val="071837"/>
                </a:solidFill>
                <a:latin typeface="Aptos" panose="020B0004020202020204" pitchFamily="34" charset="0"/>
              </a:rPr>
              <a:t>Five tracks now
near paper shape</a:t>
            </a:r>
            <a:endParaRPr lang="zh-CN" altLang="en-US" sz="2700" b="1">
              <a:solidFill>
                <a:srgbClr val="071837"/>
              </a:solidFill>
              <a:latin typeface="Aptos" panose="020B0004020202020204" pitchFamily="34" charset="0"/>
            </a:endParaRPr>
          </a:p>
        </p:txBody>
      </p:sp>
      <p:sp>
        <p:nvSpPr>
          <p:cNvPr id="21" name="right-s">
            <a:extLst>
              <a:ext uri="{FF2B5EF4-FFF2-40B4-BE49-F238E27FC236}">
                <a16:creationId xmlns:a16="http://schemas.microsoft.com/office/drawing/2014/main" id="{277FB48F-CAA0-28F2-C9CA-1DBE551B6690}"/>
              </a:ext>
            </a:extLst>
          </p:cNvPr>
          <p:cNvSpPr txBox="1"/>
          <p:nvPr/>
        </p:nvSpPr>
        <p:spPr>
          <a:xfrm>
            <a:off x="7543800" y="4368800"/>
            <a:ext cx="2971800" cy="276999"/>
          </a:xfrm>
          <a:prstGeom prst="rect">
            <a:avLst/>
          </a:prstGeom>
          <a:noFill/>
        </p:spPr>
        <p:txBody>
          <a:bodyPr vert="horz" wrap="square" lIns="0" tIns="0" rIns="0" bIns="0" rtlCol="0">
            <a:noAutofit/>
          </a:bodyPr>
          <a:lstStyle/>
          <a:p>
            <a:r>
              <a:rPr lang="en-US" altLang="zh-CN" sz="1350" b="1">
                <a:solidFill>
                  <a:srgbClr val="52617A"/>
                </a:solidFill>
                <a:latin typeface="Aptos" panose="020B0004020202020204" pitchFamily="34" charset="0"/>
              </a:rPr>
              <a:t>Used to explain effort, scope, and future submission plan.</a:t>
            </a:r>
            <a:endParaRPr lang="zh-CN" altLang="en-US" sz="1350" b="1">
              <a:solidFill>
                <a:srgbClr val="52617A"/>
              </a:solidFill>
              <a:latin typeface="Aptos" panose="020B0004020202020204" pitchFamily="34" charset="0"/>
            </a:endParaRPr>
          </a:p>
        </p:txBody>
      </p:sp>
      <p:sp>
        <p:nvSpPr>
          <p:cNvPr id="22" name="note">
            <a:extLst>
              <a:ext uri="{FF2B5EF4-FFF2-40B4-BE49-F238E27FC236}">
                <a16:creationId xmlns:a16="http://schemas.microsoft.com/office/drawing/2014/main" id="{32BC036A-F512-C953-2096-B99B99FB608C}"/>
              </a:ext>
            </a:extLst>
          </p:cNvPr>
          <p:cNvSpPr/>
          <p:nvPr/>
        </p:nvSpPr>
        <p:spPr>
          <a:xfrm>
            <a:off x="2235200" y="5486400"/>
            <a:ext cx="7721600" cy="4572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note-t">
            <a:extLst>
              <a:ext uri="{FF2B5EF4-FFF2-40B4-BE49-F238E27FC236}">
                <a16:creationId xmlns:a16="http://schemas.microsoft.com/office/drawing/2014/main" id="{DC3137D8-82B1-AA31-3096-28D894BE8C7D}"/>
              </a:ext>
            </a:extLst>
          </p:cNvPr>
          <p:cNvSpPr txBox="1"/>
          <p:nvPr/>
        </p:nvSpPr>
        <p:spPr>
          <a:xfrm>
            <a:off x="2667000" y="5626100"/>
            <a:ext cx="6959600" cy="276999"/>
          </a:xfrm>
          <a:prstGeom prst="rect">
            <a:avLst/>
          </a:prstGeom>
          <a:noFill/>
        </p:spPr>
        <p:txBody>
          <a:bodyPr vert="horz" wrap="square" lIns="0" tIns="0" rIns="0" bIns="0" rtlCol="0">
            <a:noAutofit/>
          </a:bodyPr>
          <a:lstStyle/>
          <a:p>
            <a:r>
              <a:rPr lang="en-US" altLang="zh-CN" sz="1150" b="1">
                <a:solidFill>
                  <a:srgbClr val="071837"/>
                </a:solidFill>
                <a:latin typeface="Aptos" panose="020B0004020202020204" pitchFamily="34" charset="0"/>
              </a:rPr>
              <a:t>Boundary: updated results do not rewrite the submitted dissertation.</a:t>
            </a:r>
            <a:endParaRPr lang="zh-CN" altLang="en-US" sz="1150" b="1">
              <a:solidFill>
                <a:srgbClr val="071837"/>
              </a:solidFill>
              <a:latin typeface="Aptos" panose="020B0004020202020204" pitchFamily="34" charset="0"/>
            </a:endParaRPr>
          </a:p>
        </p:txBody>
      </p:sp>
      <p:sp>
        <p:nvSpPr>
          <p:cNvPr id="24" name="footer-hit-2">
            <a:hlinkClick r:id="rId4"/>
            <a:extLst>
              <a:ext uri="{FF2B5EF4-FFF2-40B4-BE49-F238E27FC236}">
                <a16:creationId xmlns:a16="http://schemas.microsoft.com/office/drawing/2014/main" id="{843738A6-6A9F-B84B-5643-69FE5D564D4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46951615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8" grpId="0" animBg="1"/>
      <p:bldP spid="19" grpId="0"/>
      <p:bldP spid="20" grpId="0"/>
      <p:bldP spid="21" grpId="0"/>
      <p:bldP spid="22" grpId="0" animBg="1"/>
      <p:bldP spid="2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28B91FE-69B3-26E6-E8F4-8184F94A2C26}"/>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83940F9-53C9-26F2-057E-8FFE3A69ED31}"/>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3FB2B93A-54C9-AFD6-7956-DDF518ED4498}"/>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PROBLEM</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7BE094CD-2B62-7328-6D4B-05487BBE536E}"/>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03</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1576096A-0398-5D15-A08E-A23943FB1EB6}"/>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5ED4ED3C-3571-159A-AE70-647ABBB10357}"/>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A85824DC-E210-5547-CFC3-CC6BB94B179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AB4AC145-38C5-A1FD-8776-A08F01DAD4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A51848E4-567B-3FED-F58B-9EE7635EFD47}"/>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Generated code moves before anyone asks who produced it.</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46AA01DD-48F0-315F-823E-5FEE95B5D77A}"/>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Copying, editing, translation, and reuse make a raw detector score too weak by itself.</a:t>
            </a:r>
            <a:endParaRPr lang="zh-CN" altLang="en-US" sz="1700">
              <a:solidFill>
                <a:srgbClr val="52617A"/>
              </a:solidFill>
              <a:latin typeface="Aptos" panose="020B0004020202020204" pitchFamily="34" charset="0"/>
            </a:endParaRPr>
          </a:p>
        </p:txBody>
      </p:sp>
      <p:sp>
        <p:nvSpPr>
          <p:cNvPr id="13" name="dot0">
            <a:extLst>
              <a:ext uri="{FF2B5EF4-FFF2-40B4-BE49-F238E27FC236}">
                <a16:creationId xmlns:a16="http://schemas.microsoft.com/office/drawing/2014/main" id="{F952068B-14F7-BBAE-5B39-34DE1B9F1A8D}"/>
              </a:ext>
            </a:extLst>
          </p:cNvPr>
          <p:cNvSpPr/>
          <p:nvPr/>
        </p:nvSpPr>
        <p:spPr>
          <a:xfrm>
            <a:off x="1574800" y="2844800"/>
            <a:ext cx="787400" cy="787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ot-t0">
            <a:extLst>
              <a:ext uri="{FF2B5EF4-FFF2-40B4-BE49-F238E27FC236}">
                <a16:creationId xmlns:a16="http://schemas.microsoft.com/office/drawing/2014/main" id="{C637F055-A7F2-B374-27C6-D1899617DCCA}"/>
              </a:ext>
            </a:extLst>
          </p:cNvPr>
          <p:cNvSpPr txBox="1"/>
          <p:nvPr/>
        </p:nvSpPr>
        <p:spPr>
          <a:xfrm>
            <a:off x="1257300" y="3886200"/>
            <a:ext cx="1422400" cy="276999"/>
          </a:xfrm>
          <a:prstGeom prst="rect">
            <a:avLst/>
          </a:prstGeom>
          <a:noFill/>
        </p:spPr>
        <p:txBody>
          <a:bodyPr vert="horz" wrap="square" lIns="0" tIns="0" rIns="0" bIns="0" rtlCol="0">
            <a:noAutofit/>
          </a:bodyPr>
          <a:lstStyle/>
          <a:p>
            <a:pPr algn="ctr"/>
            <a:r>
              <a:rPr lang="en-US" altLang="zh-CN" b="1">
                <a:solidFill>
                  <a:srgbClr val="071837"/>
                </a:solidFill>
                <a:latin typeface="Aptos" panose="020B0004020202020204" pitchFamily="34" charset="0"/>
              </a:rPr>
              <a:t>generate</a:t>
            </a:r>
            <a:endParaRPr lang="zh-CN" altLang="en-US" b="1">
              <a:solidFill>
                <a:srgbClr val="071837"/>
              </a:solidFill>
              <a:latin typeface="Aptos" panose="020B0004020202020204" pitchFamily="34" charset="0"/>
            </a:endParaRPr>
          </a:p>
        </p:txBody>
      </p:sp>
      <p:sp>
        <p:nvSpPr>
          <p:cNvPr id="15" name="dot-s0">
            <a:extLst>
              <a:ext uri="{FF2B5EF4-FFF2-40B4-BE49-F238E27FC236}">
                <a16:creationId xmlns:a16="http://schemas.microsoft.com/office/drawing/2014/main" id="{D06639D7-39BE-A923-CCD8-4CE137077B4A}"/>
              </a:ext>
            </a:extLst>
          </p:cNvPr>
          <p:cNvSpPr txBox="1"/>
          <p:nvPr/>
        </p:nvSpPr>
        <p:spPr>
          <a:xfrm>
            <a:off x="1117600" y="4292600"/>
            <a:ext cx="1676400" cy="276999"/>
          </a:xfrm>
          <a:prstGeom prst="rect">
            <a:avLst/>
          </a:prstGeom>
          <a:noFill/>
        </p:spPr>
        <p:txBody>
          <a:bodyPr vert="horz" wrap="square" lIns="0" tIns="0" rIns="0" bIns="0" rtlCol="0">
            <a:noAutofit/>
          </a:bodyPr>
          <a:lstStyle/>
          <a:p>
            <a:pPr algn="ctr"/>
            <a:r>
              <a:rPr lang="en-US" altLang="zh-CN" sz="1250" b="1">
                <a:solidFill>
                  <a:srgbClr val="52617A"/>
                </a:solidFill>
                <a:latin typeface="Aptos" panose="020B0004020202020204" pitchFamily="34" charset="0"/>
              </a:rPr>
              <a:t>model output</a:t>
            </a:r>
            <a:endParaRPr lang="zh-CN" altLang="en-US" sz="1250" b="1">
              <a:solidFill>
                <a:srgbClr val="52617A"/>
              </a:solidFill>
              <a:latin typeface="Aptos" panose="020B0004020202020204" pitchFamily="34" charset="0"/>
            </a:endParaRPr>
          </a:p>
        </p:txBody>
      </p:sp>
      <p:cxnSp>
        <p:nvCxnSpPr>
          <p:cNvPr id="16" name="arr0">
            <a:extLst>
              <a:ext uri="{FF2B5EF4-FFF2-40B4-BE49-F238E27FC236}">
                <a16:creationId xmlns:a16="http://schemas.microsoft.com/office/drawing/2014/main" id="{B46B8B93-79A7-F0FE-0DE4-EB5CF8DD711B}"/>
              </a:ext>
            </a:extLst>
          </p:cNvPr>
          <p:cNvCxnSpPr/>
          <p:nvPr/>
        </p:nvCxnSpPr>
        <p:spPr>
          <a:xfrm>
            <a:off x="24638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17" name="dot1">
            <a:extLst>
              <a:ext uri="{FF2B5EF4-FFF2-40B4-BE49-F238E27FC236}">
                <a16:creationId xmlns:a16="http://schemas.microsoft.com/office/drawing/2014/main" id="{1AC4B92A-1CD4-662D-F4FC-B1C7A7AA7ADF}"/>
              </a:ext>
            </a:extLst>
          </p:cNvPr>
          <p:cNvSpPr/>
          <p:nvPr/>
        </p:nvSpPr>
        <p:spPr>
          <a:xfrm>
            <a:off x="4318000" y="2844800"/>
            <a:ext cx="787400" cy="787400"/>
          </a:xfrm>
          <a:prstGeom prst="ellipse">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ot-t1">
            <a:extLst>
              <a:ext uri="{FF2B5EF4-FFF2-40B4-BE49-F238E27FC236}">
                <a16:creationId xmlns:a16="http://schemas.microsoft.com/office/drawing/2014/main" id="{397519C6-5CE7-5FD7-464E-3062E0B6E39A}"/>
              </a:ext>
            </a:extLst>
          </p:cNvPr>
          <p:cNvSpPr txBox="1"/>
          <p:nvPr/>
        </p:nvSpPr>
        <p:spPr>
          <a:xfrm>
            <a:off x="4000500" y="3886200"/>
            <a:ext cx="1422400" cy="276999"/>
          </a:xfrm>
          <a:prstGeom prst="rect">
            <a:avLst/>
          </a:prstGeom>
          <a:noFill/>
        </p:spPr>
        <p:txBody>
          <a:bodyPr vert="horz" wrap="square" lIns="0" tIns="0" rIns="0" bIns="0" rtlCol="0">
            <a:noAutofit/>
          </a:bodyPr>
          <a:lstStyle/>
          <a:p>
            <a:pPr algn="ctr"/>
            <a:r>
              <a:rPr lang="en-US" altLang="zh-CN" b="1">
                <a:solidFill>
                  <a:srgbClr val="071837"/>
                </a:solidFill>
                <a:latin typeface="Aptos" panose="020B0004020202020204" pitchFamily="34" charset="0"/>
              </a:rPr>
              <a:t>edit</a:t>
            </a:r>
            <a:endParaRPr lang="zh-CN" altLang="en-US" b="1">
              <a:solidFill>
                <a:srgbClr val="071837"/>
              </a:solidFill>
              <a:latin typeface="Aptos" panose="020B0004020202020204" pitchFamily="34" charset="0"/>
            </a:endParaRPr>
          </a:p>
        </p:txBody>
      </p:sp>
      <p:sp>
        <p:nvSpPr>
          <p:cNvPr id="19" name="dot-s1">
            <a:extLst>
              <a:ext uri="{FF2B5EF4-FFF2-40B4-BE49-F238E27FC236}">
                <a16:creationId xmlns:a16="http://schemas.microsoft.com/office/drawing/2014/main" id="{3DA1C035-DD2D-CC84-D15D-5AD9690A6070}"/>
              </a:ext>
            </a:extLst>
          </p:cNvPr>
          <p:cNvSpPr txBox="1"/>
          <p:nvPr/>
        </p:nvSpPr>
        <p:spPr>
          <a:xfrm>
            <a:off x="3860800" y="4292600"/>
            <a:ext cx="1676400" cy="276999"/>
          </a:xfrm>
          <a:prstGeom prst="rect">
            <a:avLst/>
          </a:prstGeom>
          <a:noFill/>
        </p:spPr>
        <p:txBody>
          <a:bodyPr vert="horz" wrap="square" lIns="0" tIns="0" rIns="0" bIns="0" rtlCol="0">
            <a:noAutofit/>
          </a:bodyPr>
          <a:lstStyle/>
          <a:p>
            <a:pPr algn="ctr"/>
            <a:r>
              <a:rPr lang="en-US" altLang="zh-CN" sz="1250" b="1">
                <a:solidFill>
                  <a:srgbClr val="52617A"/>
                </a:solidFill>
                <a:latin typeface="Aptos" panose="020B0004020202020204" pitchFamily="34" charset="0"/>
              </a:rPr>
              <a:t>copy / rewrite</a:t>
            </a:r>
            <a:endParaRPr lang="zh-CN" altLang="en-US" sz="1250" b="1">
              <a:solidFill>
                <a:srgbClr val="52617A"/>
              </a:solidFill>
              <a:latin typeface="Aptos" panose="020B0004020202020204" pitchFamily="34" charset="0"/>
            </a:endParaRPr>
          </a:p>
        </p:txBody>
      </p:sp>
      <p:cxnSp>
        <p:nvCxnSpPr>
          <p:cNvPr id="20" name="arr1">
            <a:extLst>
              <a:ext uri="{FF2B5EF4-FFF2-40B4-BE49-F238E27FC236}">
                <a16:creationId xmlns:a16="http://schemas.microsoft.com/office/drawing/2014/main" id="{5830666D-C714-E145-AB34-85E011FB0CA8}"/>
              </a:ext>
            </a:extLst>
          </p:cNvPr>
          <p:cNvCxnSpPr/>
          <p:nvPr/>
        </p:nvCxnSpPr>
        <p:spPr>
          <a:xfrm>
            <a:off x="52070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21" name="dot2">
            <a:extLst>
              <a:ext uri="{FF2B5EF4-FFF2-40B4-BE49-F238E27FC236}">
                <a16:creationId xmlns:a16="http://schemas.microsoft.com/office/drawing/2014/main" id="{EFA9ED7D-9DA7-8041-93BE-A4A4D9E3899A}"/>
              </a:ext>
            </a:extLst>
          </p:cNvPr>
          <p:cNvSpPr/>
          <p:nvPr/>
        </p:nvSpPr>
        <p:spPr>
          <a:xfrm>
            <a:off x="7061200" y="2844800"/>
            <a:ext cx="787400" cy="787400"/>
          </a:xfrm>
          <a:prstGeom prst="ellipse">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ot-t2">
            <a:extLst>
              <a:ext uri="{FF2B5EF4-FFF2-40B4-BE49-F238E27FC236}">
                <a16:creationId xmlns:a16="http://schemas.microsoft.com/office/drawing/2014/main" id="{975EB65D-1CF1-9A33-E09E-FFE584A39D37}"/>
              </a:ext>
            </a:extLst>
          </p:cNvPr>
          <p:cNvSpPr txBox="1"/>
          <p:nvPr/>
        </p:nvSpPr>
        <p:spPr>
          <a:xfrm>
            <a:off x="6743700" y="3886200"/>
            <a:ext cx="1422400" cy="276999"/>
          </a:xfrm>
          <a:prstGeom prst="rect">
            <a:avLst/>
          </a:prstGeom>
          <a:noFill/>
        </p:spPr>
        <p:txBody>
          <a:bodyPr vert="horz" wrap="square" lIns="0" tIns="0" rIns="0" bIns="0" rtlCol="0">
            <a:noAutofit/>
          </a:bodyPr>
          <a:lstStyle/>
          <a:p>
            <a:pPr algn="ctr"/>
            <a:r>
              <a:rPr lang="en-US" altLang="zh-CN" b="1">
                <a:solidFill>
                  <a:srgbClr val="071837"/>
                </a:solidFill>
                <a:latin typeface="Aptos" panose="020B0004020202020204" pitchFamily="34" charset="0"/>
              </a:rPr>
              <a:t>translate</a:t>
            </a:r>
            <a:endParaRPr lang="zh-CN" altLang="en-US" b="1">
              <a:solidFill>
                <a:srgbClr val="071837"/>
              </a:solidFill>
              <a:latin typeface="Aptos" panose="020B0004020202020204" pitchFamily="34" charset="0"/>
            </a:endParaRPr>
          </a:p>
        </p:txBody>
      </p:sp>
      <p:sp>
        <p:nvSpPr>
          <p:cNvPr id="23" name="dot-s2">
            <a:extLst>
              <a:ext uri="{FF2B5EF4-FFF2-40B4-BE49-F238E27FC236}">
                <a16:creationId xmlns:a16="http://schemas.microsoft.com/office/drawing/2014/main" id="{C5F98ADB-BBD5-9671-1100-C3EA5E5CE781}"/>
              </a:ext>
            </a:extLst>
          </p:cNvPr>
          <p:cNvSpPr txBox="1"/>
          <p:nvPr/>
        </p:nvSpPr>
        <p:spPr>
          <a:xfrm>
            <a:off x="6604000" y="4292600"/>
            <a:ext cx="1676400" cy="276999"/>
          </a:xfrm>
          <a:prstGeom prst="rect">
            <a:avLst/>
          </a:prstGeom>
          <a:noFill/>
        </p:spPr>
        <p:txBody>
          <a:bodyPr vert="horz" wrap="square" lIns="0" tIns="0" rIns="0" bIns="0" rtlCol="0">
            <a:noAutofit/>
          </a:bodyPr>
          <a:lstStyle/>
          <a:p>
            <a:pPr algn="ctr"/>
            <a:r>
              <a:rPr lang="en-US" altLang="zh-CN" sz="1250" b="1">
                <a:solidFill>
                  <a:srgbClr val="52617A"/>
                </a:solidFill>
                <a:latin typeface="Aptos" panose="020B0004020202020204" pitchFamily="34" charset="0"/>
              </a:rPr>
              <a:t>language shift</a:t>
            </a:r>
            <a:endParaRPr lang="zh-CN" altLang="en-US" sz="1250" b="1">
              <a:solidFill>
                <a:srgbClr val="52617A"/>
              </a:solidFill>
              <a:latin typeface="Aptos" panose="020B0004020202020204" pitchFamily="34" charset="0"/>
            </a:endParaRPr>
          </a:p>
        </p:txBody>
      </p:sp>
      <p:cxnSp>
        <p:nvCxnSpPr>
          <p:cNvPr id="24" name="arr2">
            <a:extLst>
              <a:ext uri="{FF2B5EF4-FFF2-40B4-BE49-F238E27FC236}">
                <a16:creationId xmlns:a16="http://schemas.microsoft.com/office/drawing/2014/main" id="{3188D7AC-8CAE-BB27-E7BF-B3B4FA18414B}"/>
              </a:ext>
            </a:extLst>
          </p:cNvPr>
          <p:cNvCxnSpPr/>
          <p:nvPr/>
        </p:nvCxnSpPr>
        <p:spPr>
          <a:xfrm>
            <a:off x="7950200" y="3238500"/>
            <a:ext cx="939800" cy="0"/>
          </a:xfrm>
          <a:prstGeom prst="line">
            <a:avLst/>
          </a:prstGeom>
          <a:ln w="27940">
            <a:solidFill>
              <a:srgbClr val="D7E2F0"/>
            </a:solidFill>
            <a:tailEnd type="arrow"/>
          </a:ln>
        </p:spPr>
        <p:style>
          <a:lnRef idx="1">
            <a:schemeClr val="accent1"/>
          </a:lnRef>
          <a:fillRef idx="0">
            <a:schemeClr val="accent1"/>
          </a:fillRef>
          <a:effectRef idx="0">
            <a:schemeClr val="accent1"/>
          </a:effectRef>
          <a:fontRef idx="minor">
            <a:schemeClr val="tx1"/>
          </a:fontRef>
        </p:style>
      </p:cxnSp>
      <p:sp>
        <p:nvSpPr>
          <p:cNvPr id="25" name="dot3">
            <a:extLst>
              <a:ext uri="{FF2B5EF4-FFF2-40B4-BE49-F238E27FC236}">
                <a16:creationId xmlns:a16="http://schemas.microsoft.com/office/drawing/2014/main" id="{24D6B7DF-E68D-9064-6B53-E1F1BE74444F}"/>
              </a:ext>
            </a:extLst>
          </p:cNvPr>
          <p:cNvSpPr/>
          <p:nvPr/>
        </p:nvSpPr>
        <p:spPr>
          <a:xfrm>
            <a:off x="9804400" y="2844800"/>
            <a:ext cx="787400" cy="787400"/>
          </a:xfrm>
          <a:prstGeom prst="ellipse">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dot-t3">
            <a:extLst>
              <a:ext uri="{FF2B5EF4-FFF2-40B4-BE49-F238E27FC236}">
                <a16:creationId xmlns:a16="http://schemas.microsoft.com/office/drawing/2014/main" id="{52FC99C4-3E70-5807-EAA5-0933DC52E5E5}"/>
              </a:ext>
            </a:extLst>
          </p:cNvPr>
          <p:cNvSpPr txBox="1"/>
          <p:nvPr/>
        </p:nvSpPr>
        <p:spPr>
          <a:xfrm>
            <a:off x="9486900" y="3886200"/>
            <a:ext cx="1422400" cy="276999"/>
          </a:xfrm>
          <a:prstGeom prst="rect">
            <a:avLst/>
          </a:prstGeom>
          <a:noFill/>
        </p:spPr>
        <p:txBody>
          <a:bodyPr vert="horz" wrap="square" lIns="0" tIns="0" rIns="0" bIns="0" rtlCol="0">
            <a:noAutofit/>
          </a:bodyPr>
          <a:lstStyle/>
          <a:p>
            <a:pPr algn="ctr"/>
            <a:r>
              <a:rPr lang="en-US" altLang="zh-CN" b="1">
                <a:solidFill>
                  <a:srgbClr val="071837"/>
                </a:solidFill>
                <a:latin typeface="Aptos" panose="020B0004020202020204" pitchFamily="34" charset="0"/>
              </a:rPr>
              <a:t>reuse</a:t>
            </a:r>
            <a:endParaRPr lang="zh-CN" altLang="en-US" b="1">
              <a:solidFill>
                <a:srgbClr val="071837"/>
              </a:solidFill>
              <a:latin typeface="Aptos" panose="020B0004020202020204" pitchFamily="34" charset="0"/>
            </a:endParaRPr>
          </a:p>
        </p:txBody>
      </p:sp>
      <p:sp>
        <p:nvSpPr>
          <p:cNvPr id="27" name="dot-s3">
            <a:extLst>
              <a:ext uri="{FF2B5EF4-FFF2-40B4-BE49-F238E27FC236}">
                <a16:creationId xmlns:a16="http://schemas.microsoft.com/office/drawing/2014/main" id="{3168BB83-EEB6-FBB3-609D-E41E7C3B8B4F}"/>
              </a:ext>
            </a:extLst>
          </p:cNvPr>
          <p:cNvSpPr txBox="1"/>
          <p:nvPr/>
        </p:nvSpPr>
        <p:spPr>
          <a:xfrm>
            <a:off x="9347200" y="4292600"/>
            <a:ext cx="1676400" cy="276999"/>
          </a:xfrm>
          <a:prstGeom prst="rect">
            <a:avLst/>
          </a:prstGeom>
          <a:noFill/>
        </p:spPr>
        <p:txBody>
          <a:bodyPr vert="horz" wrap="square" lIns="0" tIns="0" rIns="0" bIns="0" rtlCol="0">
            <a:noAutofit/>
          </a:bodyPr>
          <a:lstStyle/>
          <a:p>
            <a:pPr algn="ctr"/>
            <a:r>
              <a:rPr lang="en-US" altLang="zh-CN" sz="1250" b="1">
                <a:solidFill>
                  <a:srgbClr val="52617A"/>
                </a:solidFill>
                <a:latin typeface="Aptos" panose="020B0004020202020204" pitchFamily="34" charset="0"/>
              </a:rPr>
              <a:t>new project</a:t>
            </a:r>
            <a:endParaRPr lang="zh-CN" altLang="en-US" sz="1250" b="1">
              <a:solidFill>
                <a:srgbClr val="52617A"/>
              </a:solidFill>
              <a:latin typeface="Aptos" panose="020B0004020202020204" pitchFamily="34" charset="0"/>
            </a:endParaRPr>
          </a:p>
        </p:txBody>
      </p:sp>
      <p:sp>
        <p:nvSpPr>
          <p:cNvPr id="28" name="take">
            <a:extLst>
              <a:ext uri="{FF2B5EF4-FFF2-40B4-BE49-F238E27FC236}">
                <a16:creationId xmlns:a16="http://schemas.microsoft.com/office/drawing/2014/main" id="{D6B4E987-AE74-387D-6A8A-2DBC7BBD7F85}"/>
              </a:ext>
            </a:extLst>
          </p:cNvPr>
          <p:cNvSpPr/>
          <p:nvPr/>
        </p:nvSpPr>
        <p:spPr>
          <a:xfrm>
            <a:off x="1803400" y="5207000"/>
            <a:ext cx="8585200" cy="5334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take-t">
            <a:extLst>
              <a:ext uri="{FF2B5EF4-FFF2-40B4-BE49-F238E27FC236}">
                <a16:creationId xmlns:a16="http://schemas.microsoft.com/office/drawing/2014/main" id="{C3B29DBE-0808-FEDC-2DA6-6FB576257498}"/>
              </a:ext>
            </a:extLst>
          </p:cNvPr>
          <p:cNvSpPr txBox="1"/>
          <p:nvPr/>
        </p:nvSpPr>
        <p:spPr>
          <a:xfrm>
            <a:off x="2209800" y="5372100"/>
            <a:ext cx="7772400" cy="276999"/>
          </a:xfrm>
          <a:prstGeom prst="rect">
            <a:avLst/>
          </a:prstGeom>
          <a:noFill/>
        </p:spPr>
        <p:txBody>
          <a:bodyPr vert="horz" wrap="square" lIns="0" tIns="0" rIns="0" bIns="0" rtlCol="0">
            <a:noAutofit/>
          </a:bodyPr>
          <a:lstStyle/>
          <a:p>
            <a:r>
              <a:rPr lang="en-US" altLang="zh-CN" sz="1340" b="1">
                <a:solidFill>
                  <a:srgbClr val="071837"/>
                </a:solidFill>
                <a:latin typeface="Aptos" panose="020B0004020202020204" pitchFamily="34" charset="0"/>
              </a:rPr>
              <a:t>The evaluation question is not just detection; it is whether a bounded claim is defensible.</a:t>
            </a:r>
            <a:endParaRPr lang="zh-CN" altLang="en-US" sz="1340" b="1">
              <a:solidFill>
                <a:srgbClr val="071837"/>
              </a:solidFill>
              <a:latin typeface="Aptos" panose="020B0004020202020204" pitchFamily="34" charset="0"/>
            </a:endParaRPr>
          </a:p>
        </p:txBody>
      </p:sp>
      <p:sp>
        <p:nvSpPr>
          <p:cNvPr id="30" name="footer-hit-3">
            <a:hlinkClick r:id="rId4"/>
            <a:extLst>
              <a:ext uri="{FF2B5EF4-FFF2-40B4-BE49-F238E27FC236}">
                <a16:creationId xmlns:a16="http://schemas.microsoft.com/office/drawing/2014/main" id="{1B86BBCB-08B5-353B-2BD3-58AEF66C679C}"/>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560853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7" grpId="0" animBg="1"/>
      <p:bldP spid="18" grpId="0"/>
      <p:bldP spid="19" grpId="0"/>
      <p:bldP spid="21" grpId="0" animBg="1"/>
      <p:bldP spid="22" grpId="0"/>
      <p:bldP spid="23" grpId="0"/>
      <p:bldP spid="25" grpId="0" animBg="1"/>
      <p:bldP spid="26" grpId="0"/>
      <p:bldP spid="27" grpId="0"/>
      <p:bldP spid="28" grpId="0" animBg="1"/>
      <p:bldP spid="2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7076532-2E38-1F78-E032-1BA5D2B7DCB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C1DE931-913E-A6FA-9237-C2F789B91BF7}"/>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2E580AB7-DACE-4886-A4EF-0CD5886C5B97}"/>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METHOD CORE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49007EF2-65B2-D5DC-BAF2-C2525CE86A67}"/>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04</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894DAC74-853C-F5F8-0166-EA39F4C51D84}"/>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739696CA-C0EB-9A08-E97D-9611809BE671}"/>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D57806E1-5210-6408-3AC8-12A0F4C1C06C}"/>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6F8883F0-4A6D-2586-1F0C-605ADF83EE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66511505-15EA-3579-BD23-B0E9CF18E6FC}"/>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A claim is admitted only through an evidence object.</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3C498A11-E259-3437-3447-485F21FE51A2}"/>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framework makes denominator, controls, artifact, hash, and boundary explicit.</a:t>
            </a:r>
            <a:endParaRPr lang="zh-CN" altLang="en-US" sz="1700">
              <a:solidFill>
                <a:srgbClr val="52617A"/>
              </a:solidFill>
              <a:latin typeface="Aptos" panose="020B0004020202020204" pitchFamily="34" charset="0"/>
            </a:endParaRPr>
          </a:p>
        </p:txBody>
      </p:sp>
      <p:sp>
        <p:nvSpPr>
          <p:cNvPr id="13" name="formula">
            <a:extLst>
              <a:ext uri="{FF2B5EF4-FFF2-40B4-BE49-F238E27FC236}">
                <a16:creationId xmlns:a16="http://schemas.microsoft.com/office/drawing/2014/main" id="{FA8C3084-55F9-5C24-A11D-67F5F9E32692}"/>
              </a:ext>
            </a:extLst>
          </p:cNvPr>
          <p:cNvSpPr/>
          <p:nvPr/>
        </p:nvSpPr>
        <p:spPr>
          <a:xfrm>
            <a:off x="939800" y="2260600"/>
            <a:ext cx="4597400" cy="28194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ormula-k">
            <a:extLst>
              <a:ext uri="{FF2B5EF4-FFF2-40B4-BE49-F238E27FC236}">
                <a16:creationId xmlns:a16="http://schemas.microsoft.com/office/drawing/2014/main" id="{64DC915C-7B4D-A943-5AB9-4669501B4686}"/>
              </a:ext>
            </a:extLst>
          </p:cNvPr>
          <p:cNvSpPr txBox="1"/>
          <p:nvPr/>
        </p:nvSpPr>
        <p:spPr>
          <a:xfrm>
            <a:off x="1422400" y="2743200"/>
            <a:ext cx="2286000" cy="276999"/>
          </a:xfrm>
          <a:prstGeom prst="rect">
            <a:avLst/>
          </a:prstGeom>
          <a:noFill/>
        </p:spPr>
        <p:txBody>
          <a:bodyPr vert="horz" wrap="square" lIns="0" tIns="0" rIns="0" bIns="0" rtlCol="0">
            <a:noAutofit/>
          </a:bodyPr>
          <a:lstStyle/>
          <a:p>
            <a:r>
              <a:rPr lang="en-US" altLang="zh-CN" sz="1400" b="1">
                <a:solidFill>
                  <a:srgbClr val="CDE2FA"/>
                </a:solidFill>
                <a:latin typeface="Aptos" panose="020B0004020202020204" pitchFamily="34" charset="0"/>
              </a:rPr>
              <a:t>evidence contract</a:t>
            </a:r>
            <a:endParaRPr lang="zh-CN" altLang="en-US" sz="1400" b="1">
              <a:solidFill>
                <a:srgbClr val="CDE2FA"/>
              </a:solidFill>
              <a:latin typeface="Aptos" panose="020B0004020202020204" pitchFamily="34" charset="0"/>
            </a:endParaRPr>
          </a:p>
        </p:txBody>
      </p:sp>
      <p:sp>
        <p:nvSpPr>
          <p:cNvPr id="15" name="formula-main">
            <a:extLst>
              <a:ext uri="{FF2B5EF4-FFF2-40B4-BE49-F238E27FC236}">
                <a16:creationId xmlns:a16="http://schemas.microsoft.com/office/drawing/2014/main" id="{636575CB-C680-D694-E224-4330CFE180E5}"/>
              </a:ext>
            </a:extLst>
          </p:cNvPr>
          <p:cNvSpPr txBox="1"/>
          <p:nvPr/>
        </p:nvSpPr>
        <p:spPr>
          <a:xfrm>
            <a:off x="1397000" y="3352800"/>
            <a:ext cx="3708400" cy="276999"/>
          </a:xfrm>
          <a:prstGeom prst="rect">
            <a:avLst/>
          </a:prstGeom>
          <a:noFill/>
        </p:spPr>
        <p:txBody>
          <a:bodyPr vert="horz" wrap="square" lIns="0" tIns="0" rIns="0" bIns="0" rtlCol="0">
            <a:noAutofit/>
          </a:bodyPr>
          <a:lstStyle/>
          <a:p>
            <a:r>
              <a:rPr lang="pt-BR" altLang="zh-CN" sz="3000" b="1">
                <a:solidFill>
                  <a:srgbClr val="FFFFFF"/>
                </a:solidFill>
                <a:latin typeface="Consolas" panose="020B0609020204030204" pitchFamily="49" charset="0"/>
              </a:rPr>
              <a:t>claim := f(E, A, B)</a:t>
            </a:r>
            <a:endParaRPr lang="zh-CN" altLang="en-US" sz="3000" b="1">
              <a:solidFill>
                <a:srgbClr val="FFFFFF"/>
              </a:solidFill>
              <a:latin typeface="Consolas" panose="020B0609020204030204" pitchFamily="49" charset="0"/>
            </a:endParaRPr>
          </a:p>
        </p:txBody>
      </p:sp>
      <p:sp>
        <p:nvSpPr>
          <p:cNvPr id="16" name="formula-sub">
            <a:extLst>
              <a:ext uri="{FF2B5EF4-FFF2-40B4-BE49-F238E27FC236}">
                <a16:creationId xmlns:a16="http://schemas.microsoft.com/office/drawing/2014/main" id="{362FD01D-EF46-2A01-CC81-9AC5CD38C859}"/>
              </a:ext>
            </a:extLst>
          </p:cNvPr>
          <p:cNvSpPr txBox="1"/>
          <p:nvPr/>
        </p:nvSpPr>
        <p:spPr>
          <a:xfrm>
            <a:off x="1422400" y="4267200"/>
            <a:ext cx="3352800" cy="276999"/>
          </a:xfrm>
          <a:prstGeom prst="rect">
            <a:avLst/>
          </a:prstGeom>
          <a:noFill/>
        </p:spPr>
        <p:txBody>
          <a:bodyPr vert="horz" wrap="square" lIns="0" tIns="0" rIns="0" bIns="0" rtlCol="0">
            <a:noAutofit/>
          </a:bodyPr>
          <a:lstStyle/>
          <a:p>
            <a:r>
              <a:rPr lang="en-US" altLang="zh-CN" sz="1450" b="1">
                <a:solidFill>
                  <a:srgbClr val="DDEBFC"/>
                </a:solidFill>
                <a:latin typeface="Aptos" panose="020B0004020202020204" pitchFamily="34" charset="0"/>
              </a:rPr>
              <a:t>E = denominator + controls
A = access model, B = boundary</a:t>
            </a:r>
            <a:endParaRPr lang="zh-CN" altLang="en-US" sz="1450" b="1">
              <a:solidFill>
                <a:srgbClr val="DDEBFC"/>
              </a:solidFill>
              <a:latin typeface="Aptos" panose="020B0004020202020204" pitchFamily="34" charset="0"/>
            </a:endParaRPr>
          </a:p>
        </p:txBody>
      </p:sp>
      <p:sp>
        <p:nvSpPr>
          <p:cNvPr id="17" name="c0">
            <a:extLst>
              <a:ext uri="{FF2B5EF4-FFF2-40B4-BE49-F238E27FC236}">
                <a16:creationId xmlns:a16="http://schemas.microsoft.com/office/drawing/2014/main" id="{92718299-1246-884E-C382-DB4C0B7BC4A1}"/>
              </a:ext>
            </a:extLst>
          </p:cNvPr>
          <p:cNvSpPr/>
          <p:nvPr/>
        </p:nvSpPr>
        <p:spPr>
          <a:xfrm>
            <a:off x="6248400" y="22606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c-dot0">
            <a:extLst>
              <a:ext uri="{FF2B5EF4-FFF2-40B4-BE49-F238E27FC236}">
                <a16:creationId xmlns:a16="http://schemas.microsoft.com/office/drawing/2014/main" id="{C9B515F4-B019-1879-CFB2-1C4127A2A262}"/>
              </a:ext>
            </a:extLst>
          </p:cNvPr>
          <p:cNvSpPr/>
          <p:nvPr/>
        </p:nvSpPr>
        <p:spPr>
          <a:xfrm>
            <a:off x="6527800" y="2387600"/>
            <a:ext cx="279400" cy="279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key0">
            <a:extLst>
              <a:ext uri="{FF2B5EF4-FFF2-40B4-BE49-F238E27FC236}">
                <a16:creationId xmlns:a16="http://schemas.microsoft.com/office/drawing/2014/main" id="{20F3C18E-1A2A-0F2B-4CF9-58CA4D810358}"/>
              </a:ext>
            </a:extLst>
          </p:cNvPr>
          <p:cNvSpPr txBox="1"/>
          <p:nvPr/>
        </p:nvSpPr>
        <p:spPr>
          <a:xfrm>
            <a:off x="7010400" y="2387600"/>
            <a:ext cx="457200" cy="276999"/>
          </a:xfrm>
          <a:prstGeom prst="rect">
            <a:avLst/>
          </a:prstGeom>
          <a:noFill/>
        </p:spPr>
        <p:txBody>
          <a:bodyPr vert="horz" wrap="square" lIns="0" tIns="0" rIns="0" bIns="0" rtlCol="0">
            <a:noAutofit/>
          </a:bodyPr>
          <a:lstStyle/>
          <a:p>
            <a:r>
              <a:rPr lang="en-US" altLang="zh-CN" sz="1250" b="1">
                <a:solidFill>
                  <a:srgbClr val="003B7A"/>
                </a:solidFill>
                <a:latin typeface="Aptos" panose="020B0004020202020204" pitchFamily="34" charset="0"/>
              </a:rPr>
              <a:t>D</a:t>
            </a:r>
            <a:endParaRPr lang="zh-CN" altLang="en-US" sz="1250" b="1">
              <a:solidFill>
                <a:srgbClr val="003B7A"/>
              </a:solidFill>
              <a:latin typeface="Aptos" panose="020B0004020202020204" pitchFamily="34" charset="0"/>
            </a:endParaRPr>
          </a:p>
        </p:txBody>
      </p:sp>
      <p:sp>
        <p:nvSpPr>
          <p:cNvPr id="20" name="c-lab0">
            <a:extLst>
              <a:ext uri="{FF2B5EF4-FFF2-40B4-BE49-F238E27FC236}">
                <a16:creationId xmlns:a16="http://schemas.microsoft.com/office/drawing/2014/main" id="{1F97224D-95F2-D97C-1049-824094CB124A}"/>
              </a:ext>
            </a:extLst>
          </p:cNvPr>
          <p:cNvSpPr txBox="1"/>
          <p:nvPr/>
        </p:nvSpPr>
        <p:spPr>
          <a:xfrm>
            <a:off x="7645400" y="2387600"/>
            <a:ext cx="2667000" cy="276999"/>
          </a:xfrm>
          <a:prstGeom prst="rect">
            <a:avLst/>
          </a:prstGeom>
          <a:noFill/>
        </p:spPr>
        <p:txBody>
          <a:bodyPr vert="horz" wrap="square" lIns="0" tIns="0" rIns="0" bIns="0" rtlCol="0">
            <a:noAutofit/>
          </a:bodyPr>
          <a:lstStyle/>
          <a:p>
            <a:r>
              <a:rPr lang="en-US" altLang="zh-CN" sz="1350" b="1">
                <a:solidFill>
                  <a:srgbClr val="071837"/>
                </a:solidFill>
                <a:latin typeface="Aptos" panose="020B0004020202020204" pitchFamily="34" charset="0"/>
              </a:rPr>
              <a:t>fixed denominator</a:t>
            </a:r>
            <a:endParaRPr lang="zh-CN" altLang="en-US" sz="1350" b="1">
              <a:solidFill>
                <a:srgbClr val="071837"/>
              </a:solidFill>
              <a:latin typeface="Aptos" panose="020B0004020202020204" pitchFamily="34" charset="0"/>
            </a:endParaRPr>
          </a:p>
        </p:txBody>
      </p:sp>
      <p:sp>
        <p:nvSpPr>
          <p:cNvPr id="21" name="c1">
            <a:extLst>
              <a:ext uri="{FF2B5EF4-FFF2-40B4-BE49-F238E27FC236}">
                <a16:creationId xmlns:a16="http://schemas.microsoft.com/office/drawing/2014/main" id="{F7EBEF2F-C13E-A1E2-8826-82D281C8817C}"/>
              </a:ext>
            </a:extLst>
          </p:cNvPr>
          <p:cNvSpPr/>
          <p:nvPr/>
        </p:nvSpPr>
        <p:spPr>
          <a:xfrm>
            <a:off x="6248400" y="29464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c-dot1">
            <a:extLst>
              <a:ext uri="{FF2B5EF4-FFF2-40B4-BE49-F238E27FC236}">
                <a16:creationId xmlns:a16="http://schemas.microsoft.com/office/drawing/2014/main" id="{3A1E4BE2-FA43-0A7C-E5F5-BBE3E1AC7104}"/>
              </a:ext>
            </a:extLst>
          </p:cNvPr>
          <p:cNvSpPr/>
          <p:nvPr/>
        </p:nvSpPr>
        <p:spPr>
          <a:xfrm>
            <a:off x="6527800" y="3073400"/>
            <a:ext cx="279400" cy="279400"/>
          </a:xfrm>
          <a:prstGeom prst="ellipse">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c-key1">
            <a:extLst>
              <a:ext uri="{FF2B5EF4-FFF2-40B4-BE49-F238E27FC236}">
                <a16:creationId xmlns:a16="http://schemas.microsoft.com/office/drawing/2014/main" id="{8DAF9758-686A-6D6B-7B12-321FC79F6D68}"/>
              </a:ext>
            </a:extLst>
          </p:cNvPr>
          <p:cNvSpPr txBox="1"/>
          <p:nvPr/>
        </p:nvSpPr>
        <p:spPr>
          <a:xfrm>
            <a:off x="7010400" y="3073400"/>
            <a:ext cx="457200" cy="276999"/>
          </a:xfrm>
          <a:prstGeom prst="rect">
            <a:avLst/>
          </a:prstGeom>
          <a:noFill/>
        </p:spPr>
        <p:txBody>
          <a:bodyPr vert="horz" wrap="square" lIns="0" tIns="0" rIns="0" bIns="0" rtlCol="0">
            <a:noAutofit/>
          </a:bodyPr>
          <a:lstStyle/>
          <a:p>
            <a:r>
              <a:rPr lang="en-US" altLang="zh-CN" sz="1250" b="1">
                <a:solidFill>
                  <a:srgbClr val="168E8B"/>
                </a:solidFill>
                <a:latin typeface="Aptos" panose="020B0004020202020204" pitchFamily="34" charset="0"/>
              </a:rPr>
              <a:t>C</a:t>
            </a:r>
            <a:endParaRPr lang="zh-CN" altLang="en-US" sz="1250" b="1">
              <a:solidFill>
                <a:srgbClr val="168E8B"/>
              </a:solidFill>
              <a:latin typeface="Aptos" panose="020B0004020202020204" pitchFamily="34" charset="0"/>
            </a:endParaRPr>
          </a:p>
        </p:txBody>
      </p:sp>
      <p:sp>
        <p:nvSpPr>
          <p:cNvPr id="24" name="c-lab1">
            <a:extLst>
              <a:ext uri="{FF2B5EF4-FFF2-40B4-BE49-F238E27FC236}">
                <a16:creationId xmlns:a16="http://schemas.microsoft.com/office/drawing/2014/main" id="{F7E7E718-8D40-D927-57C9-D07955BEACCC}"/>
              </a:ext>
            </a:extLst>
          </p:cNvPr>
          <p:cNvSpPr txBox="1"/>
          <p:nvPr/>
        </p:nvSpPr>
        <p:spPr>
          <a:xfrm>
            <a:off x="7645400" y="3073400"/>
            <a:ext cx="2667000" cy="276999"/>
          </a:xfrm>
          <a:prstGeom prst="rect">
            <a:avLst/>
          </a:prstGeom>
          <a:noFill/>
        </p:spPr>
        <p:txBody>
          <a:bodyPr vert="horz" wrap="square" lIns="0" tIns="0" rIns="0" bIns="0" rtlCol="0">
            <a:noAutofit/>
          </a:bodyPr>
          <a:lstStyle/>
          <a:p>
            <a:r>
              <a:rPr lang="en-US" altLang="zh-CN" sz="1350" b="1">
                <a:solidFill>
                  <a:srgbClr val="071837"/>
                </a:solidFill>
                <a:latin typeface="Aptos" panose="020B0004020202020204" pitchFamily="34" charset="0"/>
              </a:rPr>
              <a:t>positive / negative controls</a:t>
            </a:r>
            <a:endParaRPr lang="zh-CN" altLang="en-US" sz="1350" b="1">
              <a:solidFill>
                <a:srgbClr val="071837"/>
              </a:solidFill>
              <a:latin typeface="Aptos" panose="020B0004020202020204" pitchFamily="34" charset="0"/>
            </a:endParaRPr>
          </a:p>
        </p:txBody>
      </p:sp>
      <p:sp>
        <p:nvSpPr>
          <p:cNvPr id="25" name="c2">
            <a:extLst>
              <a:ext uri="{FF2B5EF4-FFF2-40B4-BE49-F238E27FC236}">
                <a16:creationId xmlns:a16="http://schemas.microsoft.com/office/drawing/2014/main" id="{BD7F1CCC-73F5-EC6E-9F96-D34471AA82B0}"/>
              </a:ext>
            </a:extLst>
          </p:cNvPr>
          <p:cNvSpPr/>
          <p:nvPr/>
        </p:nvSpPr>
        <p:spPr>
          <a:xfrm>
            <a:off x="6248400" y="36322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c-dot2">
            <a:extLst>
              <a:ext uri="{FF2B5EF4-FFF2-40B4-BE49-F238E27FC236}">
                <a16:creationId xmlns:a16="http://schemas.microsoft.com/office/drawing/2014/main" id="{3AE99C85-928B-FE00-12B2-EC2C61ECF29D}"/>
              </a:ext>
            </a:extLst>
          </p:cNvPr>
          <p:cNvSpPr/>
          <p:nvPr/>
        </p:nvSpPr>
        <p:spPr>
          <a:xfrm>
            <a:off x="6527800" y="3759200"/>
            <a:ext cx="279400" cy="279400"/>
          </a:xfrm>
          <a:prstGeom prst="ellipse">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c-key2">
            <a:extLst>
              <a:ext uri="{FF2B5EF4-FFF2-40B4-BE49-F238E27FC236}">
                <a16:creationId xmlns:a16="http://schemas.microsoft.com/office/drawing/2014/main" id="{78C34BF7-A960-54A1-76BB-FE65498156AB}"/>
              </a:ext>
            </a:extLst>
          </p:cNvPr>
          <p:cNvSpPr txBox="1"/>
          <p:nvPr/>
        </p:nvSpPr>
        <p:spPr>
          <a:xfrm>
            <a:off x="7010400" y="3759200"/>
            <a:ext cx="457200" cy="276999"/>
          </a:xfrm>
          <a:prstGeom prst="rect">
            <a:avLst/>
          </a:prstGeom>
          <a:noFill/>
        </p:spPr>
        <p:txBody>
          <a:bodyPr vert="horz" wrap="square" lIns="0" tIns="0" rIns="0" bIns="0" rtlCol="0">
            <a:noAutofit/>
          </a:bodyPr>
          <a:lstStyle/>
          <a:p>
            <a:r>
              <a:rPr lang="en-US" altLang="zh-CN" sz="1250" b="1">
                <a:solidFill>
                  <a:srgbClr val="5B45C8"/>
                </a:solidFill>
                <a:latin typeface="Aptos" panose="020B0004020202020204" pitchFamily="34" charset="0"/>
              </a:rPr>
              <a:t>H</a:t>
            </a:r>
            <a:endParaRPr lang="zh-CN" altLang="en-US" sz="1250" b="1">
              <a:solidFill>
                <a:srgbClr val="5B45C8"/>
              </a:solidFill>
              <a:latin typeface="Aptos" panose="020B0004020202020204" pitchFamily="34" charset="0"/>
            </a:endParaRPr>
          </a:p>
        </p:txBody>
      </p:sp>
      <p:sp>
        <p:nvSpPr>
          <p:cNvPr id="28" name="c-lab2">
            <a:extLst>
              <a:ext uri="{FF2B5EF4-FFF2-40B4-BE49-F238E27FC236}">
                <a16:creationId xmlns:a16="http://schemas.microsoft.com/office/drawing/2014/main" id="{DAB57609-B07F-9760-2E44-B95B6299E3F2}"/>
              </a:ext>
            </a:extLst>
          </p:cNvPr>
          <p:cNvSpPr txBox="1"/>
          <p:nvPr/>
        </p:nvSpPr>
        <p:spPr>
          <a:xfrm>
            <a:off x="7645400" y="3759200"/>
            <a:ext cx="2667000" cy="276999"/>
          </a:xfrm>
          <a:prstGeom prst="rect">
            <a:avLst/>
          </a:prstGeom>
          <a:noFill/>
        </p:spPr>
        <p:txBody>
          <a:bodyPr vert="horz" wrap="square" lIns="0" tIns="0" rIns="0" bIns="0" rtlCol="0">
            <a:noAutofit/>
          </a:bodyPr>
          <a:lstStyle/>
          <a:p>
            <a:r>
              <a:rPr lang="en-US" altLang="zh-CN" sz="1350" b="1">
                <a:solidFill>
                  <a:srgbClr val="071837"/>
                </a:solidFill>
                <a:latin typeface="Aptos" panose="020B0004020202020204" pitchFamily="34" charset="0"/>
              </a:rPr>
              <a:t>artifact hash</a:t>
            </a:r>
            <a:endParaRPr lang="zh-CN" altLang="en-US" sz="1350" b="1">
              <a:solidFill>
                <a:srgbClr val="071837"/>
              </a:solidFill>
              <a:latin typeface="Aptos" panose="020B0004020202020204" pitchFamily="34" charset="0"/>
            </a:endParaRPr>
          </a:p>
        </p:txBody>
      </p:sp>
      <p:sp>
        <p:nvSpPr>
          <p:cNvPr id="29" name="c3">
            <a:extLst>
              <a:ext uri="{FF2B5EF4-FFF2-40B4-BE49-F238E27FC236}">
                <a16:creationId xmlns:a16="http://schemas.microsoft.com/office/drawing/2014/main" id="{5E9B2817-B30C-8BDF-C9EB-DAA113C07031}"/>
              </a:ext>
            </a:extLst>
          </p:cNvPr>
          <p:cNvSpPr/>
          <p:nvPr/>
        </p:nvSpPr>
        <p:spPr>
          <a:xfrm>
            <a:off x="6248400" y="4318000"/>
            <a:ext cx="44958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c-dot3">
            <a:extLst>
              <a:ext uri="{FF2B5EF4-FFF2-40B4-BE49-F238E27FC236}">
                <a16:creationId xmlns:a16="http://schemas.microsoft.com/office/drawing/2014/main" id="{853C1B35-D361-DD97-E296-0A7ED0E09962}"/>
              </a:ext>
            </a:extLst>
          </p:cNvPr>
          <p:cNvSpPr/>
          <p:nvPr/>
        </p:nvSpPr>
        <p:spPr>
          <a:xfrm>
            <a:off x="6527800" y="4445000"/>
            <a:ext cx="279400" cy="279400"/>
          </a:xfrm>
          <a:prstGeom prst="ellipse">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key3">
            <a:extLst>
              <a:ext uri="{FF2B5EF4-FFF2-40B4-BE49-F238E27FC236}">
                <a16:creationId xmlns:a16="http://schemas.microsoft.com/office/drawing/2014/main" id="{3666F97F-1D7E-3DD0-19A4-E8C7872BC1D8}"/>
              </a:ext>
            </a:extLst>
          </p:cNvPr>
          <p:cNvSpPr txBox="1"/>
          <p:nvPr/>
        </p:nvSpPr>
        <p:spPr>
          <a:xfrm>
            <a:off x="7010400" y="4445000"/>
            <a:ext cx="457200" cy="276999"/>
          </a:xfrm>
          <a:prstGeom prst="rect">
            <a:avLst/>
          </a:prstGeom>
          <a:noFill/>
        </p:spPr>
        <p:txBody>
          <a:bodyPr vert="horz" wrap="square" lIns="0" tIns="0" rIns="0" bIns="0" rtlCol="0">
            <a:noAutofit/>
          </a:bodyPr>
          <a:lstStyle/>
          <a:p>
            <a:r>
              <a:rPr lang="en-US" altLang="zh-CN" sz="1250" b="1">
                <a:solidFill>
                  <a:srgbClr val="1F7A4D"/>
                </a:solidFill>
                <a:latin typeface="Aptos" panose="020B0004020202020204" pitchFamily="34" charset="0"/>
              </a:rPr>
              <a:t>B</a:t>
            </a:r>
            <a:endParaRPr lang="zh-CN" altLang="en-US" sz="1250" b="1">
              <a:solidFill>
                <a:srgbClr val="1F7A4D"/>
              </a:solidFill>
              <a:latin typeface="Aptos" panose="020B0004020202020204" pitchFamily="34" charset="0"/>
            </a:endParaRPr>
          </a:p>
        </p:txBody>
      </p:sp>
      <p:sp>
        <p:nvSpPr>
          <p:cNvPr id="32" name="c-lab3">
            <a:extLst>
              <a:ext uri="{FF2B5EF4-FFF2-40B4-BE49-F238E27FC236}">
                <a16:creationId xmlns:a16="http://schemas.microsoft.com/office/drawing/2014/main" id="{C6347D25-A4C0-95E8-8EB2-2D2E1054FF28}"/>
              </a:ext>
            </a:extLst>
          </p:cNvPr>
          <p:cNvSpPr txBox="1"/>
          <p:nvPr/>
        </p:nvSpPr>
        <p:spPr>
          <a:xfrm>
            <a:off x="7645400" y="4445000"/>
            <a:ext cx="2667000" cy="276999"/>
          </a:xfrm>
          <a:prstGeom prst="rect">
            <a:avLst/>
          </a:prstGeom>
          <a:noFill/>
        </p:spPr>
        <p:txBody>
          <a:bodyPr vert="horz" wrap="square" lIns="0" tIns="0" rIns="0" bIns="0" rtlCol="0">
            <a:noAutofit/>
          </a:bodyPr>
          <a:lstStyle/>
          <a:p>
            <a:r>
              <a:rPr lang="en-US" altLang="zh-CN" sz="1350" b="1">
                <a:solidFill>
                  <a:srgbClr val="071837"/>
                </a:solidFill>
                <a:latin typeface="Aptos" panose="020B0004020202020204" pitchFamily="34" charset="0"/>
              </a:rPr>
              <a:t>claim boundary</a:t>
            </a:r>
            <a:endParaRPr lang="zh-CN" altLang="en-US" sz="1350" b="1">
              <a:solidFill>
                <a:srgbClr val="071837"/>
              </a:solidFill>
              <a:latin typeface="Aptos" panose="020B0004020202020204" pitchFamily="34" charset="0"/>
            </a:endParaRPr>
          </a:p>
        </p:txBody>
      </p:sp>
      <p:sp>
        <p:nvSpPr>
          <p:cNvPr id="33" name="policy">
            <a:extLst>
              <a:ext uri="{FF2B5EF4-FFF2-40B4-BE49-F238E27FC236}">
                <a16:creationId xmlns:a16="http://schemas.microsoft.com/office/drawing/2014/main" id="{A8D134D5-E34F-DCC7-2BAC-B517241E39C9}"/>
              </a:ext>
            </a:extLst>
          </p:cNvPr>
          <p:cNvSpPr/>
          <p:nvPr/>
        </p:nvSpPr>
        <p:spPr>
          <a:xfrm>
            <a:off x="6248400" y="5283200"/>
            <a:ext cx="4495800" cy="4826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policy-t">
            <a:extLst>
              <a:ext uri="{FF2B5EF4-FFF2-40B4-BE49-F238E27FC236}">
                <a16:creationId xmlns:a16="http://schemas.microsoft.com/office/drawing/2014/main" id="{51B9DAA2-6650-C348-D1EB-25BA97B7F26C}"/>
              </a:ext>
            </a:extLst>
          </p:cNvPr>
          <p:cNvSpPr txBox="1"/>
          <p:nvPr/>
        </p:nvSpPr>
        <p:spPr>
          <a:xfrm>
            <a:off x="6578600" y="5435600"/>
            <a:ext cx="3886200" cy="276999"/>
          </a:xfrm>
          <a:prstGeom prst="rect">
            <a:avLst/>
          </a:prstGeom>
          <a:noFill/>
        </p:spPr>
        <p:txBody>
          <a:bodyPr vert="horz" wrap="square" lIns="0" tIns="0" rIns="0" bIns="0" rtlCol="0">
            <a:noAutofit/>
          </a:bodyPr>
          <a:lstStyle/>
          <a:p>
            <a:r>
              <a:rPr lang="en-US" altLang="zh-CN" sz="1150" b="1">
                <a:solidFill>
                  <a:srgbClr val="071837"/>
                </a:solidFill>
                <a:latin typeface="Aptos" panose="020B0004020202020204" pitchFamily="34" charset="0"/>
              </a:rPr>
              <a:t>No broader claim without a new admitted surface.</a:t>
            </a:r>
            <a:endParaRPr lang="zh-CN" altLang="en-US" sz="1150" b="1">
              <a:solidFill>
                <a:srgbClr val="071837"/>
              </a:solidFill>
              <a:latin typeface="Aptos" panose="020B0004020202020204" pitchFamily="34" charset="0"/>
            </a:endParaRPr>
          </a:p>
        </p:txBody>
      </p:sp>
      <p:sp>
        <p:nvSpPr>
          <p:cNvPr id="35" name="footer-hit-4">
            <a:hlinkClick r:id="rId4"/>
            <a:extLst>
              <a:ext uri="{FF2B5EF4-FFF2-40B4-BE49-F238E27FC236}">
                <a16:creationId xmlns:a16="http://schemas.microsoft.com/office/drawing/2014/main" id="{F747CD8C-4A9E-DCD7-26F2-C0E5742C1D03}"/>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43967031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E35EF6FF-71DF-7E33-67AD-BA672575528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F6B38F21-D713-1D4A-8BFD-6173ED5A7198}"/>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37AE63A5-0E9F-6691-9224-BE24B0862952}"/>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PORTFOLIO</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B129AD72-F555-54AE-1E02-538AC688F8C3}"/>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05</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C89AD32F-9FC7-7DFB-6181-15A018F2E90C}"/>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F1AD484D-1FB0-B11F-B863-30D44E268D37}"/>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38EB9D1-6B93-7AC3-B362-5BD537F8E39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9EC543BD-F5BF-2D05-8BC5-1BDFA0A8CBD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CE85E1A2-678B-2A29-4ADB-AE424674B202}"/>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five tracks are linked by one contract, not one shared score.</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DF68ABCE-7293-7984-390E-1327D2EF4977}"/>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Each repository answers a different evidence question and keeps its own denominator.</a:t>
            </a:r>
            <a:endParaRPr lang="zh-CN" altLang="en-US" sz="1700">
              <a:solidFill>
                <a:srgbClr val="52617A"/>
              </a:solidFill>
              <a:latin typeface="Aptos" panose="020B0004020202020204" pitchFamily="34" charset="0"/>
            </a:endParaRPr>
          </a:p>
        </p:txBody>
      </p:sp>
      <p:sp>
        <p:nvSpPr>
          <p:cNvPr id="13" name="p0-box">
            <a:extLst>
              <a:ext uri="{FF2B5EF4-FFF2-40B4-BE49-F238E27FC236}">
                <a16:creationId xmlns:a16="http://schemas.microsoft.com/office/drawing/2014/main" id="{4A59CAC7-7054-55F6-2163-C678CD353E33}"/>
              </a:ext>
            </a:extLst>
          </p:cNvPr>
          <p:cNvSpPr/>
          <p:nvPr/>
        </p:nvSpPr>
        <p:spPr>
          <a:xfrm>
            <a:off x="762000" y="2235200"/>
            <a:ext cx="20828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0-stripe">
            <a:extLst>
              <a:ext uri="{FF2B5EF4-FFF2-40B4-BE49-F238E27FC236}">
                <a16:creationId xmlns:a16="http://schemas.microsoft.com/office/drawing/2014/main" id="{7F0D4414-914B-C313-4D2B-201B9A59D549}"/>
              </a:ext>
            </a:extLst>
          </p:cNvPr>
          <p:cNvSpPr/>
          <p:nvPr/>
        </p:nvSpPr>
        <p:spPr>
          <a:xfrm>
            <a:off x="762000" y="2235200"/>
            <a:ext cx="2082800" cy="101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p0-venue">
            <a:extLst>
              <a:ext uri="{FF2B5EF4-FFF2-40B4-BE49-F238E27FC236}">
                <a16:creationId xmlns:a16="http://schemas.microsoft.com/office/drawing/2014/main" id="{1446570D-73D4-76CB-8E63-23E89C1483FF}"/>
              </a:ext>
            </a:extLst>
          </p:cNvPr>
          <p:cNvSpPr txBox="1"/>
          <p:nvPr/>
        </p:nvSpPr>
        <p:spPr>
          <a:xfrm>
            <a:off x="990600" y="2501900"/>
            <a:ext cx="889000" cy="276999"/>
          </a:xfrm>
          <a:prstGeom prst="rect">
            <a:avLst/>
          </a:prstGeom>
          <a:noFill/>
        </p:spPr>
        <p:txBody>
          <a:bodyPr vert="horz" wrap="square" lIns="0" tIns="0" rIns="0" bIns="0" rtlCol="0">
            <a:noAutofit/>
          </a:bodyPr>
          <a:lstStyle/>
          <a:p>
            <a:r>
              <a:rPr lang="en-US" altLang="zh-CN" sz="1000" b="1">
                <a:solidFill>
                  <a:srgbClr val="003B7A"/>
                </a:solidFill>
                <a:latin typeface="Aptos" panose="020B0004020202020204" pitchFamily="34" charset="0"/>
              </a:rPr>
              <a:t>TOSEM</a:t>
            </a:r>
            <a:endParaRPr lang="zh-CN" altLang="en-US" sz="1000" b="1">
              <a:solidFill>
                <a:srgbClr val="003B7A"/>
              </a:solidFill>
              <a:latin typeface="Aptos" panose="020B0004020202020204" pitchFamily="34" charset="0"/>
            </a:endParaRPr>
          </a:p>
        </p:txBody>
      </p:sp>
      <p:sp>
        <p:nvSpPr>
          <p:cNvPr id="16" name="p0-title">
            <a:extLst>
              <a:ext uri="{FF2B5EF4-FFF2-40B4-BE49-F238E27FC236}">
                <a16:creationId xmlns:a16="http://schemas.microsoft.com/office/drawing/2014/main" id="{C7CC13A0-58C6-60B1-9027-2BE5AD044768}"/>
              </a:ext>
            </a:extLst>
          </p:cNvPr>
          <p:cNvSpPr txBox="1"/>
          <p:nvPr/>
        </p:nvSpPr>
        <p:spPr>
          <a:xfrm>
            <a:off x="990600" y="2781300"/>
            <a:ext cx="1625600" cy="276999"/>
          </a:xfrm>
          <a:prstGeom prst="rect">
            <a:avLst/>
          </a:prstGeom>
          <a:noFill/>
        </p:spPr>
        <p:txBody>
          <a:bodyPr vert="horz" wrap="square" lIns="0" tIns="0" rIns="0" bIns="0" rtlCol="0">
            <a:noAutofit/>
          </a:bodyPr>
          <a:lstStyle/>
          <a:p>
            <a:r>
              <a:rPr lang="en-US" altLang="zh-CN" sz="1700" b="1">
                <a:solidFill>
                  <a:srgbClr val="071837"/>
                </a:solidFill>
                <a:latin typeface="Aptos" panose="020B0004020202020204" pitchFamily="34" charset="0"/>
              </a:rPr>
              <a:t>CodeMarkBench</a:t>
            </a:r>
            <a:endParaRPr lang="zh-CN" altLang="en-US" sz="1700" b="1">
              <a:solidFill>
                <a:srgbClr val="071837"/>
              </a:solidFill>
              <a:latin typeface="Aptos" panose="020B0004020202020204" pitchFamily="34" charset="0"/>
            </a:endParaRPr>
          </a:p>
        </p:txBody>
      </p:sp>
      <p:sp>
        <p:nvSpPr>
          <p:cNvPr id="17" name="p0-metric">
            <a:extLst>
              <a:ext uri="{FF2B5EF4-FFF2-40B4-BE49-F238E27FC236}">
                <a16:creationId xmlns:a16="http://schemas.microsoft.com/office/drawing/2014/main" id="{5E2A19E4-84B6-500A-2D70-88883FEB1AA8}"/>
              </a:ext>
            </a:extLst>
          </p:cNvPr>
          <p:cNvSpPr txBox="1"/>
          <p:nvPr/>
        </p:nvSpPr>
        <p:spPr>
          <a:xfrm>
            <a:off x="990600" y="3213100"/>
            <a:ext cx="16256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140/140 canonical runs</a:t>
            </a:r>
            <a:endParaRPr lang="zh-CN" altLang="en-US" sz="1220" b="1">
              <a:solidFill>
                <a:srgbClr val="52617A"/>
              </a:solidFill>
              <a:latin typeface="Aptos" panose="020B0004020202020204" pitchFamily="34" charset="0"/>
            </a:endParaRPr>
          </a:p>
        </p:txBody>
      </p:sp>
      <p:sp>
        <p:nvSpPr>
          <p:cNvPr id="18" name="p0-commit">
            <a:extLst>
              <a:ext uri="{FF2B5EF4-FFF2-40B4-BE49-F238E27FC236}">
                <a16:creationId xmlns:a16="http://schemas.microsoft.com/office/drawing/2014/main" id="{CD9954F9-D877-F3E0-0BB6-A0627D896DFB}"/>
              </a:ext>
            </a:extLst>
          </p:cNvPr>
          <p:cNvSpPr txBox="1"/>
          <p:nvPr/>
        </p:nvSpPr>
        <p:spPr>
          <a:xfrm>
            <a:off x="990600" y="3670300"/>
            <a:ext cx="1625600" cy="276999"/>
          </a:xfrm>
          <a:prstGeom prst="rect">
            <a:avLst/>
          </a:prstGeom>
          <a:noFill/>
        </p:spPr>
        <p:txBody>
          <a:bodyPr vert="horz" wrap="square" lIns="0" tIns="0" rIns="0" bIns="0" rtlCol="0">
            <a:noAutofit/>
          </a:bodyPr>
          <a:lstStyle/>
          <a:p>
            <a:r>
              <a:rPr lang="en-US" altLang="zh-CN" sz="870" b="1">
                <a:solidFill>
                  <a:srgbClr val="52617A"/>
                </a:solidFill>
                <a:latin typeface="Consolas" panose="020B0609020204030204" pitchFamily="49" charset="0"/>
              </a:rPr>
              <a:t>commit FYP snapshot</a:t>
            </a:r>
            <a:endParaRPr lang="zh-CN" altLang="en-US" sz="870" b="1">
              <a:solidFill>
                <a:srgbClr val="52617A"/>
              </a:solidFill>
              <a:latin typeface="Consolas" panose="020B0609020204030204" pitchFamily="49" charset="0"/>
            </a:endParaRPr>
          </a:p>
        </p:txBody>
      </p:sp>
      <p:sp>
        <p:nvSpPr>
          <p:cNvPr id="19" name="p0-hit">
            <a:hlinkClick r:id="rId4"/>
            <a:extLst>
              <a:ext uri="{FF2B5EF4-FFF2-40B4-BE49-F238E27FC236}">
                <a16:creationId xmlns:a16="http://schemas.microsoft.com/office/drawing/2014/main" id="{BA029462-F216-8E2D-9F85-FD8137286BB9}"/>
              </a:ext>
            </a:extLst>
          </p:cNvPr>
          <p:cNvSpPr/>
          <p:nvPr/>
        </p:nvSpPr>
        <p:spPr>
          <a:xfrm>
            <a:off x="762000" y="2235200"/>
            <a:ext cx="20828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p1-box">
            <a:extLst>
              <a:ext uri="{FF2B5EF4-FFF2-40B4-BE49-F238E27FC236}">
                <a16:creationId xmlns:a16="http://schemas.microsoft.com/office/drawing/2014/main" id="{50F6FD18-10B9-48A8-3351-BADA54F718A7}"/>
              </a:ext>
            </a:extLst>
          </p:cNvPr>
          <p:cNvSpPr/>
          <p:nvPr/>
        </p:nvSpPr>
        <p:spPr>
          <a:xfrm>
            <a:off x="3022600" y="2235200"/>
            <a:ext cx="20828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p1-stripe">
            <a:extLst>
              <a:ext uri="{FF2B5EF4-FFF2-40B4-BE49-F238E27FC236}">
                <a16:creationId xmlns:a16="http://schemas.microsoft.com/office/drawing/2014/main" id="{2C4F28C7-9CF8-D81D-5BBA-70816AA64AF1}"/>
              </a:ext>
            </a:extLst>
          </p:cNvPr>
          <p:cNvSpPr/>
          <p:nvPr/>
        </p:nvSpPr>
        <p:spPr>
          <a:xfrm>
            <a:off x="3022600" y="2235200"/>
            <a:ext cx="2082800" cy="1016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p1-venue">
            <a:extLst>
              <a:ext uri="{FF2B5EF4-FFF2-40B4-BE49-F238E27FC236}">
                <a16:creationId xmlns:a16="http://schemas.microsoft.com/office/drawing/2014/main" id="{3B93CA91-AA24-8091-32FD-A209D355795F}"/>
              </a:ext>
            </a:extLst>
          </p:cNvPr>
          <p:cNvSpPr txBox="1"/>
          <p:nvPr/>
        </p:nvSpPr>
        <p:spPr>
          <a:xfrm>
            <a:off x="3251200" y="2501900"/>
            <a:ext cx="889000" cy="276999"/>
          </a:xfrm>
          <a:prstGeom prst="rect">
            <a:avLst/>
          </a:prstGeom>
          <a:noFill/>
        </p:spPr>
        <p:txBody>
          <a:bodyPr vert="horz" wrap="square" lIns="0" tIns="0" rIns="0" bIns="0" rtlCol="0">
            <a:noAutofit/>
          </a:bodyPr>
          <a:lstStyle/>
          <a:p>
            <a:r>
              <a:rPr lang="en-US" altLang="zh-CN" sz="1000" b="1">
                <a:solidFill>
                  <a:srgbClr val="168E8B"/>
                </a:solidFill>
                <a:latin typeface="Aptos" panose="020B0004020202020204" pitchFamily="34" charset="0"/>
              </a:rPr>
              <a:t>EMNLP</a:t>
            </a:r>
            <a:endParaRPr lang="zh-CN" altLang="en-US" sz="1000" b="1">
              <a:solidFill>
                <a:srgbClr val="168E8B"/>
              </a:solidFill>
              <a:latin typeface="Aptos" panose="020B0004020202020204" pitchFamily="34" charset="0"/>
            </a:endParaRPr>
          </a:p>
        </p:txBody>
      </p:sp>
      <p:sp>
        <p:nvSpPr>
          <p:cNvPr id="23" name="p1-title">
            <a:extLst>
              <a:ext uri="{FF2B5EF4-FFF2-40B4-BE49-F238E27FC236}">
                <a16:creationId xmlns:a16="http://schemas.microsoft.com/office/drawing/2014/main" id="{5E6C7EB2-27BA-DEB2-D78C-AE957BF04BD2}"/>
              </a:ext>
            </a:extLst>
          </p:cNvPr>
          <p:cNvSpPr txBox="1"/>
          <p:nvPr/>
        </p:nvSpPr>
        <p:spPr>
          <a:xfrm>
            <a:off x="3251200" y="2781300"/>
            <a:ext cx="1625600" cy="276999"/>
          </a:xfrm>
          <a:prstGeom prst="rect">
            <a:avLst/>
          </a:prstGeom>
          <a:noFill/>
        </p:spPr>
        <p:txBody>
          <a:bodyPr vert="horz" wrap="square" lIns="0" tIns="0" rIns="0" bIns="0" rtlCol="0">
            <a:noAutofit/>
          </a:bodyPr>
          <a:lstStyle/>
          <a:p>
            <a:r>
              <a:rPr lang="en-US" altLang="zh-CN" sz="1700" b="1">
                <a:solidFill>
                  <a:srgbClr val="071837"/>
                </a:solidFill>
                <a:latin typeface="Aptos" panose="020B0004020202020204" pitchFamily="34" charset="0"/>
              </a:rPr>
              <a:t>SemCodebook</a:t>
            </a:r>
            <a:endParaRPr lang="zh-CN" altLang="en-US" sz="1700" b="1">
              <a:solidFill>
                <a:srgbClr val="071837"/>
              </a:solidFill>
              <a:latin typeface="Aptos" panose="020B0004020202020204" pitchFamily="34" charset="0"/>
            </a:endParaRPr>
          </a:p>
        </p:txBody>
      </p:sp>
      <p:sp>
        <p:nvSpPr>
          <p:cNvPr id="24" name="p1-metric">
            <a:extLst>
              <a:ext uri="{FF2B5EF4-FFF2-40B4-BE49-F238E27FC236}">
                <a16:creationId xmlns:a16="http://schemas.microsoft.com/office/drawing/2014/main" id="{7ECC4112-0AE4-0006-564C-B558160B598F}"/>
              </a:ext>
            </a:extLst>
          </p:cNvPr>
          <p:cNvSpPr txBox="1"/>
          <p:nvPr/>
        </p:nvSpPr>
        <p:spPr>
          <a:xfrm>
            <a:off x="3251200" y="3213100"/>
            <a:ext cx="16256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30,330/31,200 recovery</a:t>
            </a:r>
            <a:endParaRPr lang="zh-CN" altLang="en-US" sz="1220" b="1">
              <a:solidFill>
                <a:srgbClr val="52617A"/>
              </a:solidFill>
              <a:latin typeface="Aptos" panose="020B0004020202020204" pitchFamily="34" charset="0"/>
            </a:endParaRPr>
          </a:p>
        </p:txBody>
      </p:sp>
      <p:sp>
        <p:nvSpPr>
          <p:cNvPr id="25" name="p1-commit">
            <a:extLst>
              <a:ext uri="{FF2B5EF4-FFF2-40B4-BE49-F238E27FC236}">
                <a16:creationId xmlns:a16="http://schemas.microsoft.com/office/drawing/2014/main" id="{7A82B557-AC75-83BC-EC38-0D091D63F3DB}"/>
              </a:ext>
            </a:extLst>
          </p:cNvPr>
          <p:cNvSpPr txBox="1"/>
          <p:nvPr/>
        </p:nvSpPr>
        <p:spPr>
          <a:xfrm>
            <a:off x="3251200" y="3670300"/>
            <a:ext cx="1625600" cy="276999"/>
          </a:xfrm>
          <a:prstGeom prst="rect">
            <a:avLst/>
          </a:prstGeom>
          <a:noFill/>
        </p:spPr>
        <p:txBody>
          <a:bodyPr vert="horz" wrap="square" lIns="0" tIns="0" rIns="0" bIns="0" rtlCol="0">
            <a:noAutofit/>
          </a:bodyPr>
          <a:lstStyle/>
          <a:p>
            <a:r>
              <a:rPr lang="en-US" altLang="zh-CN" sz="870" b="1">
                <a:solidFill>
                  <a:srgbClr val="52617A"/>
                </a:solidFill>
                <a:latin typeface="Consolas" panose="020B0609020204030204" pitchFamily="49" charset="0"/>
              </a:rPr>
              <a:t>commit 69efebc</a:t>
            </a:r>
            <a:endParaRPr lang="zh-CN" altLang="en-US" sz="870" b="1">
              <a:solidFill>
                <a:srgbClr val="52617A"/>
              </a:solidFill>
              <a:latin typeface="Consolas" panose="020B0609020204030204" pitchFamily="49" charset="0"/>
            </a:endParaRPr>
          </a:p>
        </p:txBody>
      </p:sp>
      <p:sp>
        <p:nvSpPr>
          <p:cNvPr id="26" name="p1-hit">
            <a:hlinkClick r:id="rId5"/>
            <a:extLst>
              <a:ext uri="{FF2B5EF4-FFF2-40B4-BE49-F238E27FC236}">
                <a16:creationId xmlns:a16="http://schemas.microsoft.com/office/drawing/2014/main" id="{61A53F08-81DC-325B-789A-246F63640CED}"/>
              </a:ext>
            </a:extLst>
          </p:cNvPr>
          <p:cNvSpPr/>
          <p:nvPr/>
        </p:nvSpPr>
        <p:spPr>
          <a:xfrm>
            <a:off x="3022600" y="2235200"/>
            <a:ext cx="20828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p2-box">
            <a:extLst>
              <a:ext uri="{FF2B5EF4-FFF2-40B4-BE49-F238E27FC236}">
                <a16:creationId xmlns:a16="http://schemas.microsoft.com/office/drawing/2014/main" id="{41F7E768-4B6D-FF8A-7CFF-95C304904D81}"/>
              </a:ext>
            </a:extLst>
          </p:cNvPr>
          <p:cNvSpPr/>
          <p:nvPr/>
        </p:nvSpPr>
        <p:spPr>
          <a:xfrm>
            <a:off x="5283200" y="2235200"/>
            <a:ext cx="20828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2-stripe">
            <a:extLst>
              <a:ext uri="{FF2B5EF4-FFF2-40B4-BE49-F238E27FC236}">
                <a16:creationId xmlns:a16="http://schemas.microsoft.com/office/drawing/2014/main" id="{5D32838E-2A47-8B92-6A71-64D4977C5A89}"/>
              </a:ext>
            </a:extLst>
          </p:cNvPr>
          <p:cNvSpPr/>
          <p:nvPr/>
        </p:nvSpPr>
        <p:spPr>
          <a:xfrm>
            <a:off x="5283200" y="2235200"/>
            <a:ext cx="2082800" cy="1016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2-venue">
            <a:extLst>
              <a:ext uri="{FF2B5EF4-FFF2-40B4-BE49-F238E27FC236}">
                <a16:creationId xmlns:a16="http://schemas.microsoft.com/office/drawing/2014/main" id="{69CCC71E-FD2F-4D0C-8870-5E2D2BC3415D}"/>
              </a:ext>
            </a:extLst>
          </p:cNvPr>
          <p:cNvSpPr txBox="1"/>
          <p:nvPr/>
        </p:nvSpPr>
        <p:spPr>
          <a:xfrm>
            <a:off x="5511800" y="2501900"/>
            <a:ext cx="889000" cy="276999"/>
          </a:xfrm>
          <a:prstGeom prst="rect">
            <a:avLst/>
          </a:prstGeom>
          <a:noFill/>
        </p:spPr>
        <p:txBody>
          <a:bodyPr vert="horz" wrap="square" lIns="0" tIns="0" rIns="0" bIns="0" rtlCol="0">
            <a:noAutofit/>
          </a:bodyPr>
          <a:lstStyle/>
          <a:p>
            <a:r>
              <a:rPr lang="en-US" altLang="zh-CN" sz="1000" b="1">
                <a:solidFill>
                  <a:srgbClr val="5B45C8"/>
                </a:solidFill>
                <a:latin typeface="Aptos" panose="020B0004020202020204" pitchFamily="34" charset="0"/>
              </a:rPr>
              <a:t>EMNLP</a:t>
            </a:r>
            <a:endParaRPr lang="zh-CN" altLang="en-US" sz="1000" b="1">
              <a:solidFill>
                <a:srgbClr val="5B45C8"/>
              </a:solidFill>
              <a:latin typeface="Aptos" panose="020B0004020202020204" pitchFamily="34" charset="0"/>
            </a:endParaRPr>
          </a:p>
        </p:txBody>
      </p:sp>
      <p:sp>
        <p:nvSpPr>
          <p:cNvPr id="30" name="p2-title">
            <a:extLst>
              <a:ext uri="{FF2B5EF4-FFF2-40B4-BE49-F238E27FC236}">
                <a16:creationId xmlns:a16="http://schemas.microsoft.com/office/drawing/2014/main" id="{9203A386-B1A3-994C-F216-D5FA74F5B35D}"/>
              </a:ext>
            </a:extLst>
          </p:cNvPr>
          <p:cNvSpPr txBox="1"/>
          <p:nvPr/>
        </p:nvSpPr>
        <p:spPr>
          <a:xfrm>
            <a:off x="5511800" y="2781300"/>
            <a:ext cx="1625600" cy="276999"/>
          </a:xfrm>
          <a:prstGeom prst="rect">
            <a:avLst/>
          </a:prstGeom>
          <a:noFill/>
        </p:spPr>
        <p:txBody>
          <a:bodyPr vert="horz" wrap="square" lIns="0" tIns="0" rIns="0" bIns="0" rtlCol="0">
            <a:noAutofit/>
          </a:bodyPr>
          <a:lstStyle/>
          <a:p>
            <a:r>
              <a:rPr lang="en-US" altLang="zh-CN" sz="1700" b="1">
                <a:solidFill>
                  <a:srgbClr val="071837"/>
                </a:solidFill>
                <a:latin typeface="Aptos" panose="020B0004020202020204" pitchFamily="34" charset="0"/>
              </a:rPr>
              <a:t>CodeDye</a:t>
            </a:r>
            <a:endParaRPr lang="zh-CN" altLang="en-US" sz="1700" b="1">
              <a:solidFill>
                <a:srgbClr val="071837"/>
              </a:solidFill>
              <a:latin typeface="Aptos" panose="020B0004020202020204" pitchFamily="34" charset="0"/>
            </a:endParaRPr>
          </a:p>
        </p:txBody>
      </p:sp>
      <p:sp>
        <p:nvSpPr>
          <p:cNvPr id="31" name="p2-metric">
            <a:extLst>
              <a:ext uri="{FF2B5EF4-FFF2-40B4-BE49-F238E27FC236}">
                <a16:creationId xmlns:a16="http://schemas.microsoft.com/office/drawing/2014/main" id="{BD3BD445-1F4D-C629-2AAC-DB73FBBFF7B3}"/>
              </a:ext>
            </a:extLst>
          </p:cNvPr>
          <p:cNvSpPr txBox="1"/>
          <p:nvPr/>
        </p:nvSpPr>
        <p:spPr>
          <a:xfrm>
            <a:off x="5511800" y="3213100"/>
            <a:ext cx="16256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0/300 fresh signals</a:t>
            </a:r>
            <a:endParaRPr lang="zh-CN" altLang="en-US" sz="1220" b="1">
              <a:solidFill>
                <a:srgbClr val="52617A"/>
              </a:solidFill>
              <a:latin typeface="Aptos" panose="020B0004020202020204" pitchFamily="34" charset="0"/>
            </a:endParaRPr>
          </a:p>
        </p:txBody>
      </p:sp>
      <p:sp>
        <p:nvSpPr>
          <p:cNvPr id="32" name="p2-commit">
            <a:extLst>
              <a:ext uri="{FF2B5EF4-FFF2-40B4-BE49-F238E27FC236}">
                <a16:creationId xmlns:a16="http://schemas.microsoft.com/office/drawing/2014/main" id="{E2FB000B-6F5D-00D1-B369-481CA2C3921C}"/>
              </a:ext>
            </a:extLst>
          </p:cNvPr>
          <p:cNvSpPr txBox="1"/>
          <p:nvPr/>
        </p:nvSpPr>
        <p:spPr>
          <a:xfrm>
            <a:off x="5511800" y="3670300"/>
            <a:ext cx="1625600" cy="276999"/>
          </a:xfrm>
          <a:prstGeom prst="rect">
            <a:avLst/>
          </a:prstGeom>
          <a:noFill/>
        </p:spPr>
        <p:txBody>
          <a:bodyPr vert="horz" wrap="square" lIns="0" tIns="0" rIns="0" bIns="0" rtlCol="0">
            <a:noAutofit/>
          </a:bodyPr>
          <a:lstStyle/>
          <a:p>
            <a:r>
              <a:rPr lang="en-US" altLang="zh-CN" sz="870" b="1">
                <a:solidFill>
                  <a:srgbClr val="52617A"/>
                </a:solidFill>
                <a:latin typeface="Consolas" panose="020B0609020204030204" pitchFamily="49" charset="0"/>
              </a:rPr>
              <a:t>commit e8f9df3</a:t>
            </a:r>
            <a:endParaRPr lang="zh-CN" altLang="en-US" sz="870" b="1">
              <a:solidFill>
                <a:srgbClr val="52617A"/>
              </a:solidFill>
              <a:latin typeface="Consolas" panose="020B0609020204030204" pitchFamily="49" charset="0"/>
            </a:endParaRPr>
          </a:p>
        </p:txBody>
      </p:sp>
      <p:sp>
        <p:nvSpPr>
          <p:cNvPr id="33" name="p2-hit">
            <a:hlinkClick r:id="rId6"/>
            <a:extLst>
              <a:ext uri="{FF2B5EF4-FFF2-40B4-BE49-F238E27FC236}">
                <a16:creationId xmlns:a16="http://schemas.microsoft.com/office/drawing/2014/main" id="{CFEE2F6C-F772-4F3C-DF44-8646D9A74FF1}"/>
              </a:ext>
            </a:extLst>
          </p:cNvPr>
          <p:cNvSpPr/>
          <p:nvPr/>
        </p:nvSpPr>
        <p:spPr>
          <a:xfrm>
            <a:off x="5283200" y="2235200"/>
            <a:ext cx="20828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p3-box">
            <a:extLst>
              <a:ext uri="{FF2B5EF4-FFF2-40B4-BE49-F238E27FC236}">
                <a16:creationId xmlns:a16="http://schemas.microsoft.com/office/drawing/2014/main" id="{F406AFDC-9A2C-77E8-E70A-974A3F17E2DD}"/>
              </a:ext>
            </a:extLst>
          </p:cNvPr>
          <p:cNvSpPr/>
          <p:nvPr/>
        </p:nvSpPr>
        <p:spPr>
          <a:xfrm>
            <a:off x="7543800" y="2235200"/>
            <a:ext cx="20828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p3-stripe">
            <a:extLst>
              <a:ext uri="{FF2B5EF4-FFF2-40B4-BE49-F238E27FC236}">
                <a16:creationId xmlns:a16="http://schemas.microsoft.com/office/drawing/2014/main" id="{8608A2F9-AE79-1422-D9B9-D2AF977D87C2}"/>
              </a:ext>
            </a:extLst>
          </p:cNvPr>
          <p:cNvSpPr/>
          <p:nvPr/>
        </p:nvSpPr>
        <p:spPr>
          <a:xfrm>
            <a:off x="7543800" y="2235200"/>
            <a:ext cx="2082800" cy="1016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p3-venue">
            <a:extLst>
              <a:ext uri="{FF2B5EF4-FFF2-40B4-BE49-F238E27FC236}">
                <a16:creationId xmlns:a16="http://schemas.microsoft.com/office/drawing/2014/main" id="{6CBFA405-3D7D-7CC4-9ED3-52C12275D305}"/>
              </a:ext>
            </a:extLst>
          </p:cNvPr>
          <p:cNvSpPr txBox="1"/>
          <p:nvPr/>
        </p:nvSpPr>
        <p:spPr>
          <a:xfrm>
            <a:off x="7772400" y="2501900"/>
            <a:ext cx="889000" cy="276999"/>
          </a:xfrm>
          <a:prstGeom prst="rect">
            <a:avLst/>
          </a:prstGeom>
          <a:noFill/>
        </p:spPr>
        <p:txBody>
          <a:bodyPr vert="horz" wrap="square" lIns="0" tIns="0" rIns="0" bIns="0" rtlCol="0">
            <a:noAutofit/>
          </a:bodyPr>
          <a:lstStyle/>
          <a:p>
            <a:r>
              <a:rPr lang="en-US" altLang="zh-CN" sz="1000" b="1">
                <a:solidFill>
                  <a:srgbClr val="B85C00"/>
                </a:solidFill>
                <a:latin typeface="Aptos" panose="020B0004020202020204" pitchFamily="34" charset="0"/>
              </a:rPr>
              <a:t>EMNLP</a:t>
            </a:r>
            <a:endParaRPr lang="zh-CN" altLang="en-US" sz="1000" b="1">
              <a:solidFill>
                <a:srgbClr val="B85C00"/>
              </a:solidFill>
              <a:latin typeface="Aptos" panose="020B0004020202020204" pitchFamily="34" charset="0"/>
            </a:endParaRPr>
          </a:p>
        </p:txBody>
      </p:sp>
      <p:sp>
        <p:nvSpPr>
          <p:cNvPr id="37" name="p3-title">
            <a:extLst>
              <a:ext uri="{FF2B5EF4-FFF2-40B4-BE49-F238E27FC236}">
                <a16:creationId xmlns:a16="http://schemas.microsoft.com/office/drawing/2014/main" id="{3D02A543-0719-3E7A-DD2A-80F32CED04FC}"/>
              </a:ext>
            </a:extLst>
          </p:cNvPr>
          <p:cNvSpPr txBox="1"/>
          <p:nvPr/>
        </p:nvSpPr>
        <p:spPr>
          <a:xfrm>
            <a:off x="7772400" y="2781300"/>
            <a:ext cx="1625600" cy="276999"/>
          </a:xfrm>
          <a:prstGeom prst="rect">
            <a:avLst/>
          </a:prstGeom>
          <a:noFill/>
        </p:spPr>
        <p:txBody>
          <a:bodyPr vert="horz" wrap="square" lIns="0" tIns="0" rIns="0" bIns="0" rtlCol="0">
            <a:noAutofit/>
          </a:bodyPr>
          <a:lstStyle/>
          <a:p>
            <a:r>
              <a:rPr lang="en-US" altLang="zh-CN" sz="1700" b="1">
                <a:solidFill>
                  <a:srgbClr val="071837"/>
                </a:solidFill>
                <a:latin typeface="Aptos" panose="020B0004020202020204" pitchFamily="34" charset="0"/>
              </a:rPr>
              <a:t>ProbeTrace</a:t>
            </a:r>
            <a:endParaRPr lang="zh-CN" altLang="en-US" sz="1700" b="1">
              <a:solidFill>
                <a:srgbClr val="071837"/>
              </a:solidFill>
              <a:latin typeface="Aptos" panose="020B0004020202020204" pitchFamily="34" charset="0"/>
            </a:endParaRPr>
          </a:p>
        </p:txBody>
      </p:sp>
      <p:sp>
        <p:nvSpPr>
          <p:cNvPr id="38" name="p3-metric">
            <a:extLst>
              <a:ext uri="{FF2B5EF4-FFF2-40B4-BE49-F238E27FC236}">
                <a16:creationId xmlns:a16="http://schemas.microsoft.com/office/drawing/2014/main" id="{6BADD55E-6496-675E-0EC5-D5DEA7ADE6CF}"/>
              </a:ext>
            </a:extLst>
          </p:cNvPr>
          <p:cNvSpPr txBox="1"/>
          <p:nvPr/>
        </p:nvSpPr>
        <p:spPr>
          <a:xfrm>
            <a:off x="7772400" y="3213100"/>
            <a:ext cx="16256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750/750 true owner</a:t>
            </a:r>
            <a:endParaRPr lang="zh-CN" altLang="en-US" sz="1220" b="1">
              <a:solidFill>
                <a:srgbClr val="52617A"/>
              </a:solidFill>
              <a:latin typeface="Aptos" panose="020B0004020202020204" pitchFamily="34" charset="0"/>
            </a:endParaRPr>
          </a:p>
        </p:txBody>
      </p:sp>
      <p:sp>
        <p:nvSpPr>
          <p:cNvPr id="39" name="p3-commit">
            <a:extLst>
              <a:ext uri="{FF2B5EF4-FFF2-40B4-BE49-F238E27FC236}">
                <a16:creationId xmlns:a16="http://schemas.microsoft.com/office/drawing/2014/main" id="{1586E29F-1625-B7E7-ED18-883CBE89C7F2}"/>
              </a:ext>
            </a:extLst>
          </p:cNvPr>
          <p:cNvSpPr txBox="1"/>
          <p:nvPr/>
        </p:nvSpPr>
        <p:spPr>
          <a:xfrm>
            <a:off x="7772400" y="3670300"/>
            <a:ext cx="1625600" cy="276999"/>
          </a:xfrm>
          <a:prstGeom prst="rect">
            <a:avLst/>
          </a:prstGeom>
          <a:noFill/>
        </p:spPr>
        <p:txBody>
          <a:bodyPr vert="horz" wrap="square" lIns="0" tIns="0" rIns="0" bIns="0" rtlCol="0">
            <a:noAutofit/>
          </a:bodyPr>
          <a:lstStyle/>
          <a:p>
            <a:r>
              <a:rPr lang="en-US" altLang="zh-CN" sz="870" b="1">
                <a:solidFill>
                  <a:srgbClr val="52617A"/>
                </a:solidFill>
                <a:latin typeface="Consolas" panose="020B0609020204030204" pitchFamily="49" charset="0"/>
              </a:rPr>
              <a:t>commit 9e459d4</a:t>
            </a:r>
            <a:endParaRPr lang="zh-CN" altLang="en-US" sz="870" b="1">
              <a:solidFill>
                <a:srgbClr val="52617A"/>
              </a:solidFill>
              <a:latin typeface="Consolas" panose="020B0609020204030204" pitchFamily="49" charset="0"/>
            </a:endParaRPr>
          </a:p>
        </p:txBody>
      </p:sp>
      <p:sp>
        <p:nvSpPr>
          <p:cNvPr id="40" name="p3-hit">
            <a:hlinkClick r:id="rId7"/>
            <a:extLst>
              <a:ext uri="{FF2B5EF4-FFF2-40B4-BE49-F238E27FC236}">
                <a16:creationId xmlns:a16="http://schemas.microsoft.com/office/drawing/2014/main" id="{A16CB97C-1939-1E57-F000-8D28877D2492}"/>
              </a:ext>
            </a:extLst>
          </p:cNvPr>
          <p:cNvSpPr/>
          <p:nvPr/>
        </p:nvSpPr>
        <p:spPr>
          <a:xfrm>
            <a:off x="7543800" y="2235200"/>
            <a:ext cx="20828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p4-box">
            <a:extLst>
              <a:ext uri="{FF2B5EF4-FFF2-40B4-BE49-F238E27FC236}">
                <a16:creationId xmlns:a16="http://schemas.microsoft.com/office/drawing/2014/main" id="{DDFC1B99-048D-01BA-F66D-24686E3518F0}"/>
              </a:ext>
            </a:extLst>
          </p:cNvPr>
          <p:cNvSpPr/>
          <p:nvPr/>
        </p:nvSpPr>
        <p:spPr>
          <a:xfrm>
            <a:off x="9804400" y="2235200"/>
            <a:ext cx="1600200" cy="18288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p4-stripe">
            <a:extLst>
              <a:ext uri="{FF2B5EF4-FFF2-40B4-BE49-F238E27FC236}">
                <a16:creationId xmlns:a16="http://schemas.microsoft.com/office/drawing/2014/main" id="{69D281B9-6998-8027-DC14-0885211B8D9B}"/>
              </a:ext>
            </a:extLst>
          </p:cNvPr>
          <p:cNvSpPr/>
          <p:nvPr/>
        </p:nvSpPr>
        <p:spPr>
          <a:xfrm>
            <a:off x="9804400" y="2235200"/>
            <a:ext cx="1600200" cy="1016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p4-venue">
            <a:extLst>
              <a:ext uri="{FF2B5EF4-FFF2-40B4-BE49-F238E27FC236}">
                <a16:creationId xmlns:a16="http://schemas.microsoft.com/office/drawing/2014/main" id="{F98EDA18-4D0A-71AB-4B96-07FED9FFFB6D}"/>
              </a:ext>
            </a:extLst>
          </p:cNvPr>
          <p:cNvSpPr txBox="1"/>
          <p:nvPr/>
        </p:nvSpPr>
        <p:spPr>
          <a:xfrm>
            <a:off x="10033000" y="2501900"/>
            <a:ext cx="889000" cy="276999"/>
          </a:xfrm>
          <a:prstGeom prst="rect">
            <a:avLst/>
          </a:prstGeom>
          <a:noFill/>
        </p:spPr>
        <p:txBody>
          <a:bodyPr vert="horz" wrap="square" lIns="0" tIns="0" rIns="0" bIns="0" rtlCol="0">
            <a:noAutofit/>
          </a:bodyPr>
          <a:lstStyle/>
          <a:p>
            <a:r>
              <a:rPr lang="en-US" altLang="zh-CN" sz="1000" b="1">
                <a:solidFill>
                  <a:srgbClr val="1F7A4D"/>
                </a:solidFill>
                <a:latin typeface="Aptos" panose="020B0004020202020204" pitchFamily="34" charset="0"/>
              </a:rPr>
              <a:t>EMNLP</a:t>
            </a:r>
            <a:endParaRPr lang="zh-CN" altLang="en-US" sz="1000" b="1">
              <a:solidFill>
                <a:srgbClr val="1F7A4D"/>
              </a:solidFill>
              <a:latin typeface="Aptos" panose="020B0004020202020204" pitchFamily="34" charset="0"/>
            </a:endParaRPr>
          </a:p>
        </p:txBody>
      </p:sp>
      <p:sp>
        <p:nvSpPr>
          <p:cNvPr id="44" name="p4-title">
            <a:extLst>
              <a:ext uri="{FF2B5EF4-FFF2-40B4-BE49-F238E27FC236}">
                <a16:creationId xmlns:a16="http://schemas.microsoft.com/office/drawing/2014/main" id="{990E66A2-0EB8-9735-1609-FC8A6D8497BE}"/>
              </a:ext>
            </a:extLst>
          </p:cNvPr>
          <p:cNvSpPr txBox="1"/>
          <p:nvPr/>
        </p:nvSpPr>
        <p:spPr>
          <a:xfrm>
            <a:off x="10033000" y="2781300"/>
            <a:ext cx="1143000" cy="276999"/>
          </a:xfrm>
          <a:prstGeom prst="rect">
            <a:avLst/>
          </a:prstGeom>
          <a:noFill/>
        </p:spPr>
        <p:txBody>
          <a:bodyPr vert="horz" wrap="square" lIns="0" tIns="0" rIns="0" bIns="0" rtlCol="0">
            <a:noAutofit/>
          </a:bodyPr>
          <a:lstStyle/>
          <a:p>
            <a:r>
              <a:rPr lang="en-US" altLang="zh-CN" sz="1700" b="1">
                <a:solidFill>
                  <a:srgbClr val="071837"/>
                </a:solidFill>
                <a:latin typeface="Aptos" panose="020B0004020202020204" pitchFamily="34" charset="0"/>
              </a:rPr>
              <a:t>SealAudit</a:t>
            </a:r>
            <a:endParaRPr lang="zh-CN" altLang="en-US" sz="1700" b="1">
              <a:solidFill>
                <a:srgbClr val="071837"/>
              </a:solidFill>
              <a:latin typeface="Aptos" panose="020B0004020202020204" pitchFamily="34" charset="0"/>
            </a:endParaRPr>
          </a:p>
        </p:txBody>
      </p:sp>
      <p:sp>
        <p:nvSpPr>
          <p:cNvPr id="45" name="p4-metric">
            <a:extLst>
              <a:ext uri="{FF2B5EF4-FFF2-40B4-BE49-F238E27FC236}">
                <a16:creationId xmlns:a16="http://schemas.microsoft.com/office/drawing/2014/main" id="{86834901-7814-26AD-0395-6A153E6B3485}"/>
              </a:ext>
            </a:extLst>
          </p:cNvPr>
          <p:cNvSpPr txBox="1"/>
          <p:nvPr/>
        </p:nvSpPr>
        <p:spPr>
          <a:xfrm>
            <a:off x="10033000" y="3213100"/>
            <a:ext cx="1143000" cy="276999"/>
          </a:xfrm>
          <a:prstGeom prst="rect">
            <a:avLst/>
          </a:prstGeom>
          <a:noFill/>
        </p:spPr>
        <p:txBody>
          <a:bodyPr vert="horz" wrap="square" lIns="0" tIns="0" rIns="0" bIns="0" rtlCol="0">
            <a:noAutofit/>
          </a:bodyPr>
          <a:lstStyle/>
          <a:p>
            <a:r>
              <a:rPr lang="en-US" altLang="zh-CN" sz="1220" b="1">
                <a:solidFill>
                  <a:srgbClr val="52617A"/>
                </a:solidFill>
                <a:latin typeface="Aptos" panose="020B0004020202020204" pitchFamily="34" charset="0"/>
              </a:rPr>
              <a:t>320/960 decisive</a:t>
            </a:r>
            <a:endParaRPr lang="zh-CN" altLang="en-US" sz="1220" b="1">
              <a:solidFill>
                <a:srgbClr val="52617A"/>
              </a:solidFill>
              <a:latin typeface="Aptos" panose="020B0004020202020204" pitchFamily="34" charset="0"/>
            </a:endParaRPr>
          </a:p>
        </p:txBody>
      </p:sp>
      <p:sp>
        <p:nvSpPr>
          <p:cNvPr id="46" name="p4-commit">
            <a:extLst>
              <a:ext uri="{FF2B5EF4-FFF2-40B4-BE49-F238E27FC236}">
                <a16:creationId xmlns:a16="http://schemas.microsoft.com/office/drawing/2014/main" id="{A17AA7D5-A9D1-7084-4005-9DBA7F14E765}"/>
              </a:ext>
            </a:extLst>
          </p:cNvPr>
          <p:cNvSpPr txBox="1"/>
          <p:nvPr/>
        </p:nvSpPr>
        <p:spPr>
          <a:xfrm>
            <a:off x="10033000" y="3670300"/>
            <a:ext cx="1143000" cy="276999"/>
          </a:xfrm>
          <a:prstGeom prst="rect">
            <a:avLst/>
          </a:prstGeom>
          <a:noFill/>
        </p:spPr>
        <p:txBody>
          <a:bodyPr vert="horz" wrap="square" lIns="0" tIns="0" rIns="0" bIns="0" rtlCol="0">
            <a:noAutofit/>
          </a:bodyPr>
          <a:lstStyle/>
          <a:p>
            <a:r>
              <a:rPr lang="en-US" altLang="zh-CN" sz="870" b="1">
                <a:solidFill>
                  <a:srgbClr val="52617A"/>
                </a:solidFill>
                <a:latin typeface="Consolas" panose="020B0609020204030204" pitchFamily="49" charset="0"/>
              </a:rPr>
              <a:t>commit 039275d</a:t>
            </a:r>
            <a:endParaRPr lang="zh-CN" altLang="en-US" sz="870" b="1">
              <a:solidFill>
                <a:srgbClr val="52617A"/>
              </a:solidFill>
              <a:latin typeface="Consolas" panose="020B0609020204030204" pitchFamily="49" charset="0"/>
            </a:endParaRPr>
          </a:p>
        </p:txBody>
      </p:sp>
      <p:sp>
        <p:nvSpPr>
          <p:cNvPr id="47" name="p4-hit">
            <a:hlinkClick r:id="rId8"/>
            <a:extLst>
              <a:ext uri="{FF2B5EF4-FFF2-40B4-BE49-F238E27FC236}">
                <a16:creationId xmlns:a16="http://schemas.microsoft.com/office/drawing/2014/main" id="{F33A5D4A-D204-3CD4-075D-E44E4FB12C61}"/>
              </a:ext>
            </a:extLst>
          </p:cNvPr>
          <p:cNvSpPr/>
          <p:nvPr/>
        </p:nvSpPr>
        <p:spPr>
          <a:xfrm>
            <a:off x="9804400" y="2235200"/>
            <a:ext cx="1600200" cy="18288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contract-band">
            <a:extLst>
              <a:ext uri="{FF2B5EF4-FFF2-40B4-BE49-F238E27FC236}">
                <a16:creationId xmlns:a16="http://schemas.microsoft.com/office/drawing/2014/main" id="{6BE716C5-707D-B09A-8B4C-77DAC66AE408}"/>
              </a:ext>
            </a:extLst>
          </p:cNvPr>
          <p:cNvSpPr/>
          <p:nvPr/>
        </p:nvSpPr>
        <p:spPr>
          <a:xfrm>
            <a:off x="1143000" y="4826000"/>
            <a:ext cx="9906000" cy="5334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contract-text">
            <a:extLst>
              <a:ext uri="{FF2B5EF4-FFF2-40B4-BE49-F238E27FC236}">
                <a16:creationId xmlns:a16="http://schemas.microsoft.com/office/drawing/2014/main" id="{A59EA726-69D1-8801-BF39-180FFD760F05}"/>
              </a:ext>
            </a:extLst>
          </p:cNvPr>
          <p:cNvSpPr txBox="1"/>
          <p:nvPr/>
        </p:nvSpPr>
        <p:spPr>
          <a:xfrm>
            <a:off x="1803400" y="4991100"/>
            <a:ext cx="8585200" cy="276999"/>
          </a:xfrm>
          <a:prstGeom prst="rect">
            <a:avLst/>
          </a:prstGeom>
          <a:noFill/>
        </p:spPr>
        <p:txBody>
          <a:bodyPr vert="horz" wrap="square" lIns="0" tIns="0" rIns="0" bIns="0" rtlCol="0">
            <a:noAutofit/>
          </a:bodyPr>
          <a:lstStyle/>
          <a:p>
            <a:pPr algn="ctr"/>
            <a:r>
              <a:rPr lang="en-US" altLang="zh-CN" sz="1350" b="1">
                <a:solidFill>
                  <a:srgbClr val="FFFFFF"/>
                </a:solidFill>
                <a:latin typeface="Aptos" panose="020B0004020202020204" pitchFamily="34" charset="0"/>
              </a:rPr>
              <a:t>shared rule: admit evidence first; publish only the bounded claim</a:t>
            </a:r>
            <a:endParaRPr lang="zh-CN" altLang="en-US" sz="1350" b="1">
              <a:solidFill>
                <a:srgbClr val="FFFFFF"/>
              </a:solidFill>
              <a:latin typeface="Aptos" panose="020B0004020202020204" pitchFamily="34" charset="0"/>
            </a:endParaRPr>
          </a:p>
        </p:txBody>
      </p:sp>
      <p:sp>
        <p:nvSpPr>
          <p:cNvPr id="50" name="footer-hit-5">
            <a:hlinkClick r:id="rId9"/>
            <a:extLst>
              <a:ext uri="{FF2B5EF4-FFF2-40B4-BE49-F238E27FC236}">
                <a16:creationId xmlns:a16="http://schemas.microsoft.com/office/drawing/2014/main" id="{2CE5D64C-40E0-B328-C5DA-5816BBA31DDD}"/>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16365258"/>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60"/>
                                        <p:tgtEl>
                                          <p:spTgt spid="10"/>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160"/>
                                        <p:tgtEl>
                                          <p:spTgt spid="13"/>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160"/>
                                        <p:tgtEl>
                                          <p:spTgt spid="14"/>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160"/>
                                        <p:tgtEl>
                                          <p:spTgt spid="15"/>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160"/>
                                        <p:tgtEl>
                                          <p:spTgt spid="16"/>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160"/>
                                        <p:tgtEl>
                                          <p:spTgt spid="17"/>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160"/>
                                        <p:tgtEl>
                                          <p:spTgt spid="18"/>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160"/>
                                        <p:tgtEl>
                                          <p:spTgt spid="19"/>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160"/>
                                        <p:tgtEl>
                                          <p:spTgt spid="20"/>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160"/>
                                        <p:tgtEl>
                                          <p:spTgt spid="21"/>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160"/>
                                        <p:tgtEl>
                                          <p:spTgt spid="22"/>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160"/>
                                        <p:tgtEl>
                                          <p:spTgt spid="23"/>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160"/>
                                        <p:tgtEl>
                                          <p:spTgt spid="24"/>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160"/>
                                        <p:tgtEl>
                                          <p:spTgt spid="25"/>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160"/>
                                        <p:tgtEl>
                                          <p:spTgt spid="26"/>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160"/>
                                        <p:tgtEl>
                                          <p:spTgt spid="27"/>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fade">
                                      <p:cBhvr>
                                        <p:cTn id="71" dur="160"/>
                                        <p:tgtEl>
                                          <p:spTgt spid="28"/>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160"/>
                                        <p:tgtEl>
                                          <p:spTgt spid="29"/>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160"/>
                                        <p:tgtEl>
                                          <p:spTgt spid="30"/>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160"/>
                                        <p:tgtEl>
                                          <p:spTgt spid="31"/>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160"/>
                                        <p:tgtEl>
                                          <p:spTgt spid="32"/>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160"/>
                                        <p:tgtEl>
                                          <p:spTgt spid="33"/>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160"/>
                                        <p:tgtEl>
                                          <p:spTgt spid="34"/>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5"/>
                                        </p:tgtEl>
                                        <p:attrNameLst>
                                          <p:attrName>style.visibility</p:attrName>
                                        </p:attrNameLst>
                                      </p:cBhvr>
                                      <p:to>
                                        <p:strVal val="visible"/>
                                      </p:to>
                                    </p:set>
                                    <p:animEffect transition="in" filter="fade">
                                      <p:cBhvr>
                                        <p:cTn id="99" dur="160"/>
                                        <p:tgtEl>
                                          <p:spTgt spid="35"/>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160"/>
                                        <p:tgtEl>
                                          <p:spTgt spid="36"/>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160"/>
                                        <p:tgtEl>
                                          <p:spTgt spid="37"/>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160"/>
                                        <p:tgtEl>
                                          <p:spTgt spid="38"/>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160"/>
                                        <p:tgtEl>
                                          <p:spTgt spid="39"/>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160"/>
                                        <p:tgtEl>
                                          <p:spTgt spid="40"/>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160"/>
                                        <p:tgtEl>
                                          <p:spTgt spid="41"/>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2"/>
                                        </p:tgtEl>
                                        <p:attrNameLst>
                                          <p:attrName>style.visibility</p:attrName>
                                        </p:attrNameLst>
                                      </p:cBhvr>
                                      <p:to>
                                        <p:strVal val="visible"/>
                                      </p:to>
                                    </p:set>
                                    <p:animEffect transition="in" filter="fade">
                                      <p:cBhvr>
                                        <p:cTn id="127" dur="160"/>
                                        <p:tgtEl>
                                          <p:spTgt spid="42"/>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3"/>
                                        </p:tgtEl>
                                        <p:attrNameLst>
                                          <p:attrName>style.visibility</p:attrName>
                                        </p:attrNameLst>
                                      </p:cBhvr>
                                      <p:to>
                                        <p:strVal val="visible"/>
                                      </p:to>
                                    </p:set>
                                    <p:animEffect transition="in" filter="fade">
                                      <p:cBhvr>
                                        <p:cTn id="131" dur="160"/>
                                        <p:tgtEl>
                                          <p:spTgt spid="43"/>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160"/>
                                        <p:tgtEl>
                                          <p:spTgt spid="44"/>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5"/>
                                        </p:tgtEl>
                                        <p:attrNameLst>
                                          <p:attrName>style.visibility</p:attrName>
                                        </p:attrNameLst>
                                      </p:cBhvr>
                                      <p:to>
                                        <p:strVal val="visible"/>
                                      </p:to>
                                    </p:set>
                                    <p:animEffect transition="in" filter="fade">
                                      <p:cBhvr>
                                        <p:cTn id="139" dur="160"/>
                                        <p:tgtEl>
                                          <p:spTgt spid="45"/>
                                        </p:tgtEl>
                                      </p:cBhvr>
                                    </p:animEffect>
                                  </p:childTnLst>
                                </p:cTn>
                              </p:par>
                            </p:childTnLst>
                          </p:cTn>
                        </p:par>
                        <p:par>
                          <p:cTn id="140" fill="hold">
                            <p:stCondLst>
                              <p:cond delay="5440"/>
                            </p:stCondLst>
                            <p:childTnLst>
                              <p:par>
                                <p:cTn id="141" presetID="10" presetClass="entr" presetSubtype="0"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fade">
                                      <p:cBhvr>
                                        <p:cTn id="143" dur="160"/>
                                        <p:tgtEl>
                                          <p:spTgt spid="46"/>
                                        </p:tgtEl>
                                      </p:cBhvr>
                                    </p:animEffect>
                                  </p:childTnLst>
                                </p:cTn>
                              </p:par>
                            </p:childTnLst>
                          </p:cTn>
                        </p:par>
                        <p:par>
                          <p:cTn id="144" fill="hold">
                            <p:stCondLst>
                              <p:cond delay="5600"/>
                            </p:stCondLst>
                            <p:childTnLst>
                              <p:par>
                                <p:cTn id="145" presetID="10" presetClass="entr" presetSubtype="0" fill="hold" grpId="0" nodeType="afterEffect">
                                  <p:stCondLst>
                                    <p:cond delay="0"/>
                                  </p:stCondLst>
                                  <p:childTnLst>
                                    <p:set>
                                      <p:cBhvr>
                                        <p:cTn id="146" dur="1" fill="hold">
                                          <p:stCondLst>
                                            <p:cond delay="0"/>
                                          </p:stCondLst>
                                        </p:cTn>
                                        <p:tgtEl>
                                          <p:spTgt spid="47"/>
                                        </p:tgtEl>
                                        <p:attrNameLst>
                                          <p:attrName>style.visibility</p:attrName>
                                        </p:attrNameLst>
                                      </p:cBhvr>
                                      <p:to>
                                        <p:strVal val="visible"/>
                                      </p:to>
                                    </p:set>
                                    <p:animEffect transition="in" filter="fade">
                                      <p:cBhvr>
                                        <p:cTn id="147" dur="160"/>
                                        <p:tgtEl>
                                          <p:spTgt spid="47"/>
                                        </p:tgtEl>
                                      </p:cBhvr>
                                    </p:animEffect>
                                  </p:childTnLst>
                                </p:cTn>
                              </p:par>
                            </p:childTnLst>
                          </p:cTn>
                        </p:par>
                        <p:par>
                          <p:cTn id="148" fill="hold">
                            <p:stCondLst>
                              <p:cond delay="5760"/>
                            </p:stCondLst>
                            <p:childTnLst>
                              <p:par>
                                <p:cTn id="149" presetID="10" presetClass="entr" presetSubtype="0" fill="hold" grpId="0" nodeType="afterEffect">
                                  <p:stCondLst>
                                    <p:cond delay="0"/>
                                  </p:stCondLst>
                                  <p:childTnLst>
                                    <p:set>
                                      <p:cBhvr>
                                        <p:cTn id="150" dur="1" fill="hold">
                                          <p:stCondLst>
                                            <p:cond delay="0"/>
                                          </p:stCondLst>
                                        </p:cTn>
                                        <p:tgtEl>
                                          <p:spTgt spid="48"/>
                                        </p:tgtEl>
                                        <p:attrNameLst>
                                          <p:attrName>style.visibility</p:attrName>
                                        </p:attrNameLst>
                                      </p:cBhvr>
                                      <p:to>
                                        <p:strVal val="visible"/>
                                      </p:to>
                                    </p:set>
                                    <p:animEffect transition="in" filter="fade">
                                      <p:cBhvr>
                                        <p:cTn id="151" dur="160"/>
                                        <p:tgtEl>
                                          <p:spTgt spid="48"/>
                                        </p:tgtEl>
                                      </p:cBhvr>
                                    </p:animEffect>
                                  </p:childTnLst>
                                </p:cTn>
                              </p:par>
                            </p:childTnLst>
                          </p:cTn>
                        </p:par>
                        <p:par>
                          <p:cTn id="152" fill="hold">
                            <p:stCondLst>
                              <p:cond delay="5920"/>
                            </p:stCondLst>
                            <p:childTnLst>
                              <p:par>
                                <p:cTn id="153" presetID="10" presetClass="entr" presetSubtype="0" fill="hold" grpId="0" nodeType="afterEffect">
                                  <p:stCondLst>
                                    <p:cond delay="0"/>
                                  </p:stCondLst>
                                  <p:childTnLst>
                                    <p:set>
                                      <p:cBhvr>
                                        <p:cTn id="154" dur="1" fill="hold">
                                          <p:stCondLst>
                                            <p:cond delay="0"/>
                                          </p:stCondLst>
                                        </p:cTn>
                                        <p:tgtEl>
                                          <p:spTgt spid="49"/>
                                        </p:tgtEl>
                                        <p:attrNameLst>
                                          <p:attrName>style.visibility</p:attrName>
                                        </p:attrNameLst>
                                      </p:cBhvr>
                                      <p:to>
                                        <p:strVal val="visible"/>
                                      </p:to>
                                    </p:set>
                                    <p:animEffect transition="in" filter="fade">
                                      <p:cBhvr>
                                        <p:cTn id="155" dur="16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8" grpId="0"/>
      <p:bldP spid="19" grpId="0" animBg="1"/>
      <p:bldP spid="20" grpId="0" animBg="1"/>
      <p:bldP spid="21" grpId="0" animBg="1"/>
      <p:bldP spid="22" grpId="0"/>
      <p:bldP spid="23" grpId="0"/>
      <p:bldP spid="24" grpId="0"/>
      <p:bldP spid="25" grpId="0"/>
      <p:bldP spid="26" grpId="0" animBg="1"/>
      <p:bldP spid="27" grpId="0" animBg="1"/>
      <p:bldP spid="28" grpId="0" animBg="1"/>
      <p:bldP spid="29" grpId="0"/>
      <p:bldP spid="30" grpId="0"/>
      <p:bldP spid="31" grpId="0"/>
      <p:bldP spid="32" grpId="0"/>
      <p:bldP spid="33" grpId="0" animBg="1"/>
      <p:bldP spid="34" grpId="0" animBg="1"/>
      <p:bldP spid="35" grpId="0" animBg="1"/>
      <p:bldP spid="36" grpId="0"/>
      <p:bldP spid="37" grpId="0"/>
      <p:bldP spid="38" grpId="0"/>
      <p:bldP spid="39" grpId="0"/>
      <p:bldP spid="40" grpId="0" animBg="1"/>
      <p:bldP spid="41" grpId="0" animBg="1"/>
      <p:bldP spid="42" grpId="0" animBg="1"/>
      <p:bldP spid="43" grpId="0"/>
      <p:bldP spid="44" grpId="0"/>
      <p:bldP spid="45" grpId="0"/>
      <p:bldP spid="46" grpId="0"/>
      <p:bldP spid="47" grpId="0" animBg="1"/>
      <p:bldP spid="48" grpId="0" animBg="1"/>
      <p:bldP spid="4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05C9B03-E184-45BA-0EC1-DEB297F9A88B}"/>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83F4338-7880-A780-8C5A-0383931FECDE}"/>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108B2979-1586-CDBE-612A-A41CCB3ECFF7}"/>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CODEMARKBENCH</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4D1DF24C-84A2-78D3-59CC-F9ECA848156E}"/>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06</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F2D71C0C-3BD4-DA01-2433-4CF0459B7C4C}"/>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05594481-D0ED-48A8-C28A-4AD28F9DDC8B}"/>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2E27FB0E-5355-16B8-9790-196DB9BE6B36}"/>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B2535B4F-76C2-0B49-6EDF-3BEA1BDFE8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3CDB93CD-3E7A-DF29-C92B-146C333A85E3}"/>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benchmark makes the denominator visible before results.</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512A6713-41B6-5D19-B80D-BFC93E4E8DCB}"/>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release matrix defines models, methods, sources, languages, and attacks before interpretation.</a:t>
            </a:r>
            <a:endParaRPr lang="zh-CN" altLang="en-US" sz="1700">
              <a:solidFill>
                <a:srgbClr val="52617A"/>
              </a:solidFill>
              <a:latin typeface="Aptos" panose="020B0004020202020204" pitchFamily="34" charset="0"/>
            </a:endParaRPr>
          </a:p>
        </p:txBody>
      </p:sp>
      <p:sp>
        <p:nvSpPr>
          <p:cNvPr id="13" name="metric">
            <a:extLst>
              <a:ext uri="{FF2B5EF4-FFF2-40B4-BE49-F238E27FC236}">
                <a16:creationId xmlns:a16="http://schemas.microsoft.com/office/drawing/2014/main" id="{749BA189-A749-A66D-995D-7EC52574B2A6}"/>
              </a:ext>
            </a:extLst>
          </p:cNvPr>
          <p:cNvSpPr/>
          <p:nvPr/>
        </p:nvSpPr>
        <p:spPr>
          <a:xfrm>
            <a:off x="812800" y="2209800"/>
            <a:ext cx="3098800" cy="28702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metric-k">
            <a:extLst>
              <a:ext uri="{FF2B5EF4-FFF2-40B4-BE49-F238E27FC236}">
                <a16:creationId xmlns:a16="http://schemas.microsoft.com/office/drawing/2014/main" id="{158A5148-9A0F-2F94-C120-1F5D204AF015}"/>
              </a:ext>
            </a:extLst>
          </p:cNvPr>
          <p:cNvSpPr txBox="1"/>
          <p:nvPr/>
        </p:nvSpPr>
        <p:spPr>
          <a:xfrm>
            <a:off x="1244600" y="2667000"/>
            <a:ext cx="1930400" cy="276999"/>
          </a:xfrm>
          <a:prstGeom prst="rect">
            <a:avLst/>
          </a:prstGeom>
          <a:noFill/>
        </p:spPr>
        <p:txBody>
          <a:bodyPr vert="horz" wrap="square" lIns="0" tIns="0" rIns="0" bIns="0" rtlCol="0">
            <a:noAutofit/>
          </a:bodyPr>
          <a:lstStyle/>
          <a:p>
            <a:r>
              <a:rPr lang="en-US" altLang="zh-CN" sz="1250" b="1">
                <a:solidFill>
                  <a:srgbClr val="CDE2FA"/>
                </a:solidFill>
                <a:latin typeface="Aptos" panose="020B0004020202020204" pitchFamily="34" charset="0"/>
              </a:rPr>
              <a:t>canonical run inventory</a:t>
            </a:r>
            <a:endParaRPr lang="zh-CN" altLang="en-US" sz="1250" b="1">
              <a:solidFill>
                <a:srgbClr val="CDE2FA"/>
              </a:solidFill>
              <a:latin typeface="Aptos" panose="020B0004020202020204" pitchFamily="34" charset="0"/>
            </a:endParaRPr>
          </a:p>
        </p:txBody>
      </p:sp>
      <p:sp>
        <p:nvSpPr>
          <p:cNvPr id="15" name="metric-v">
            <a:extLst>
              <a:ext uri="{FF2B5EF4-FFF2-40B4-BE49-F238E27FC236}">
                <a16:creationId xmlns:a16="http://schemas.microsoft.com/office/drawing/2014/main" id="{AC72AEA9-5176-3919-D4DA-51378781E5F1}"/>
              </a:ext>
            </a:extLst>
          </p:cNvPr>
          <p:cNvSpPr txBox="1"/>
          <p:nvPr/>
        </p:nvSpPr>
        <p:spPr>
          <a:xfrm>
            <a:off x="1219200" y="3175000"/>
            <a:ext cx="2006600" cy="276999"/>
          </a:xfrm>
          <a:prstGeom prst="rect">
            <a:avLst/>
          </a:prstGeom>
          <a:noFill/>
        </p:spPr>
        <p:txBody>
          <a:bodyPr vert="horz" wrap="square" lIns="0" tIns="0" rIns="0" bIns="0" rtlCol="0">
            <a:noAutofit/>
          </a:bodyPr>
          <a:lstStyle/>
          <a:p>
            <a:r>
              <a:rPr lang="en-US" altLang="zh-CN" sz="4500" b="1">
                <a:solidFill>
                  <a:srgbClr val="FFFFFF"/>
                </a:solidFill>
                <a:latin typeface="Aptos" panose="020B0004020202020204" pitchFamily="34" charset="0"/>
              </a:rPr>
              <a:t>140/140</a:t>
            </a:r>
            <a:endParaRPr lang="zh-CN" altLang="en-US" sz="4500" b="1">
              <a:solidFill>
                <a:srgbClr val="FFFFFF"/>
              </a:solidFill>
              <a:latin typeface="Aptos" panose="020B0004020202020204" pitchFamily="34" charset="0"/>
            </a:endParaRPr>
          </a:p>
        </p:txBody>
      </p:sp>
      <p:sp>
        <p:nvSpPr>
          <p:cNvPr id="16" name="metric-s">
            <a:extLst>
              <a:ext uri="{FF2B5EF4-FFF2-40B4-BE49-F238E27FC236}">
                <a16:creationId xmlns:a16="http://schemas.microsoft.com/office/drawing/2014/main" id="{5229BF42-EF27-029A-7054-551CC6B91924}"/>
              </a:ext>
            </a:extLst>
          </p:cNvPr>
          <p:cNvSpPr txBox="1"/>
          <p:nvPr/>
        </p:nvSpPr>
        <p:spPr>
          <a:xfrm>
            <a:off x="1244600" y="4165600"/>
            <a:ext cx="2006600" cy="276999"/>
          </a:xfrm>
          <a:prstGeom prst="rect">
            <a:avLst/>
          </a:prstGeom>
          <a:noFill/>
        </p:spPr>
        <p:txBody>
          <a:bodyPr vert="horz" wrap="square" lIns="0" tIns="0" rIns="0" bIns="0" rtlCol="0">
            <a:noAutofit/>
          </a:bodyPr>
          <a:lstStyle/>
          <a:p>
            <a:r>
              <a:rPr lang="en-US" altLang="zh-CN" sz="1350" b="1">
                <a:solidFill>
                  <a:srgbClr val="DDEBFC"/>
                </a:solidFill>
                <a:latin typeface="Aptos" panose="020B0004020202020204" pitchFamily="34" charset="0"/>
              </a:rPr>
              <a:t>completed before any claim promotion</a:t>
            </a:r>
            <a:endParaRPr lang="zh-CN" altLang="en-US" sz="1350" b="1">
              <a:solidFill>
                <a:srgbClr val="DDEBFC"/>
              </a:solidFill>
              <a:latin typeface="Aptos" panose="020B0004020202020204" pitchFamily="34" charset="0"/>
            </a:endParaRPr>
          </a:p>
        </p:txBody>
      </p:sp>
      <p:sp>
        <p:nvSpPr>
          <p:cNvPr id="17" name="figframe">
            <a:extLst>
              <a:ext uri="{FF2B5EF4-FFF2-40B4-BE49-F238E27FC236}">
                <a16:creationId xmlns:a16="http://schemas.microsoft.com/office/drawing/2014/main" id="{51B85336-E14D-D6E1-BCAB-54754C326BB3}"/>
              </a:ext>
            </a:extLst>
          </p:cNvPr>
          <p:cNvSpPr/>
          <p:nvPr/>
        </p:nvSpPr>
        <p:spPr>
          <a:xfrm>
            <a:off x="4343400" y="2209800"/>
            <a:ext cx="6807200" cy="28702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9" name="benchmark-figure">
            <a:extLst>
              <a:ext uri="{FF2B5EF4-FFF2-40B4-BE49-F238E27FC236}">
                <a16:creationId xmlns:a16="http://schemas.microsoft.com/office/drawing/2014/main" id="{F7346572-EB7B-5859-FC4C-B60FAB46B7A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228167" y="2413000"/>
            <a:ext cx="5037667" cy="2159000"/>
          </a:xfrm>
          <a:prstGeom prst="rect">
            <a:avLst/>
          </a:prstGeom>
        </p:spPr>
      </p:pic>
      <p:sp>
        <p:nvSpPr>
          <p:cNvPr id="20" name="figcap">
            <a:extLst>
              <a:ext uri="{FF2B5EF4-FFF2-40B4-BE49-F238E27FC236}">
                <a16:creationId xmlns:a16="http://schemas.microsoft.com/office/drawing/2014/main" id="{C787A898-2956-C2D7-A61C-9734855F175E}"/>
              </a:ext>
            </a:extLst>
          </p:cNvPr>
          <p:cNvSpPr txBox="1"/>
          <p:nvPr/>
        </p:nvSpPr>
        <p:spPr>
          <a:xfrm>
            <a:off x="4521200" y="4699000"/>
            <a:ext cx="62484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Artifact preview: score decomposition figure preserved in CodeMarkBench results.</a:t>
            </a:r>
            <a:endParaRPr lang="zh-CN" altLang="en-US" sz="1050" b="1">
              <a:solidFill>
                <a:srgbClr val="52617A"/>
              </a:solidFill>
              <a:latin typeface="Aptos" panose="020B0004020202020204" pitchFamily="34" charset="0"/>
            </a:endParaRPr>
          </a:p>
        </p:txBody>
      </p:sp>
      <p:sp>
        <p:nvSpPr>
          <p:cNvPr id="21" name="dim0-box">
            <a:extLst>
              <a:ext uri="{FF2B5EF4-FFF2-40B4-BE49-F238E27FC236}">
                <a16:creationId xmlns:a16="http://schemas.microsoft.com/office/drawing/2014/main" id="{1F6EB98B-81A7-210D-04FA-002CEA1FBB2B}"/>
              </a:ext>
            </a:extLst>
          </p:cNvPr>
          <p:cNvSpPr/>
          <p:nvPr/>
        </p:nvSpPr>
        <p:spPr>
          <a:xfrm>
            <a:off x="1066800" y="5461000"/>
            <a:ext cx="16002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im0-stripe">
            <a:extLst>
              <a:ext uri="{FF2B5EF4-FFF2-40B4-BE49-F238E27FC236}">
                <a16:creationId xmlns:a16="http://schemas.microsoft.com/office/drawing/2014/main" id="{DD8EDCBD-E0B4-B6B7-77F2-319EF1ECEECD}"/>
              </a:ext>
            </a:extLst>
          </p:cNvPr>
          <p:cNvSpPr/>
          <p:nvPr/>
        </p:nvSpPr>
        <p:spPr>
          <a:xfrm>
            <a:off x="10668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dim0-k">
            <a:extLst>
              <a:ext uri="{FF2B5EF4-FFF2-40B4-BE49-F238E27FC236}">
                <a16:creationId xmlns:a16="http://schemas.microsoft.com/office/drawing/2014/main" id="{D5114B7A-0A29-8881-82A7-C7EAF51D8D4B}"/>
              </a:ext>
            </a:extLst>
          </p:cNvPr>
          <p:cNvSpPr txBox="1"/>
          <p:nvPr/>
        </p:nvSpPr>
        <p:spPr>
          <a:xfrm>
            <a:off x="1371600" y="5689600"/>
            <a:ext cx="1143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models</a:t>
            </a:r>
            <a:endParaRPr lang="zh-CN" altLang="en-US" sz="1050" b="1">
              <a:solidFill>
                <a:srgbClr val="52617A"/>
              </a:solidFill>
              <a:latin typeface="Aptos" panose="020B0004020202020204" pitchFamily="34" charset="0"/>
            </a:endParaRPr>
          </a:p>
        </p:txBody>
      </p:sp>
      <p:sp>
        <p:nvSpPr>
          <p:cNvPr id="24" name="dim0-v">
            <a:extLst>
              <a:ext uri="{FF2B5EF4-FFF2-40B4-BE49-F238E27FC236}">
                <a16:creationId xmlns:a16="http://schemas.microsoft.com/office/drawing/2014/main" id="{A7031DEF-AE8E-444C-9DAD-2FB02135BD1D}"/>
              </a:ext>
            </a:extLst>
          </p:cNvPr>
          <p:cNvSpPr txBox="1"/>
          <p:nvPr/>
        </p:nvSpPr>
        <p:spPr>
          <a:xfrm>
            <a:off x="1371600" y="6019800"/>
            <a:ext cx="1117600" cy="276999"/>
          </a:xfrm>
          <a:prstGeom prst="rect">
            <a:avLst/>
          </a:prstGeom>
          <a:noFill/>
        </p:spPr>
        <p:txBody>
          <a:bodyPr vert="horz" wrap="square" lIns="0" tIns="0" rIns="0" bIns="0" rtlCol="0">
            <a:noAutofit/>
          </a:bodyPr>
          <a:lstStyle/>
          <a:p>
            <a:r>
              <a:rPr lang="en-US" altLang="zh-CN" sz="2400" b="1">
                <a:solidFill>
                  <a:srgbClr val="003B7A"/>
                </a:solidFill>
                <a:latin typeface="Aptos" panose="020B0004020202020204" pitchFamily="34" charset="0"/>
              </a:rPr>
              <a:t>5</a:t>
            </a:r>
            <a:endParaRPr lang="zh-CN" altLang="en-US" sz="2400" b="1">
              <a:solidFill>
                <a:srgbClr val="003B7A"/>
              </a:solidFill>
              <a:latin typeface="Aptos" panose="020B0004020202020204" pitchFamily="34" charset="0"/>
            </a:endParaRPr>
          </a:p>
        </p:txBody>
      </p:sp>
      <p:sp>
        <p:nvSpPr>
          <p:cNvPr id="25" name="dim0-l">
            <a:extLst>
              <a:ext uri="{FF2B5EF4-FFF2-40B4-BE49-F238E27FC236}">
                <a16:creationId xmlns:a16="http://schemas.microsoft.com/office/drawing/2014/main" id="{5DD3147F-746A-5B1F-BE15-877FA69AA17A}"/>
              </a:ext>
            </a:extLst>
          </p:cNvPr>
          <p:cNvSpPr txBox="1"/>
          <p:nvPr/>
        </p:nvSpPr>
        <p:spPr>
          <a:xfrm>
            <a:off x="1371600" y="6527800"/>
            <a:ext cx="1117600" cy="276999"/>
          </a:xfrm>
          <a:prstGeom prst="rect">
            <a:avLst/>
          </a:prstGeom>
          <a:noFill/>
        </p:spPr>
        <p:txBody>
          <a:bodyPr vert="horz" wrap="square" lIns="0" tIns="0" rIns="0" bIns="0" rtlCol="0">
            <a:noAutofit/>
          </a:bodyPr>
          <a:lstStyle/>
          <a:p>
            <a:r>
              <a:rPr lang="en-US" altLang="zh-CN" sz="1120" b="1">
                <a:solidFill>
                  <a:srgbClr val="071837"/>
                </a:solidFill>
                <a:latin typeface="Aptos" panose="020B0004020202020204" pitchFamily="34" charset="0"/>
              </a:rPr>
              <a:t>evaluation axis</a:t>
            </a:r>
            <a:endParaRPr lang="zh-CN" altLang="en-US" sz="1120" b="1">
              <a:solidFill>
                <a:srgbClr val="071837"/>
              </a:solidFill>
              <a:latin typeface="Aptos" panose="020B0004020202020204" pitchFamily="34" charset="0"/>
            </a:endParaRPr>
          </a:p>
        </p:txBody>
      </p:sp>
      <p:sp>
        <p:nvSpPr>
          <p:cNvPr id="26" name="dim1-box">
            <a:extLst>
              <a:ext uri="{FF2B5EF4-FFF2-40B4-BE49-F238E27FC236}">
                <a16:creationId xmlns:a16="http://schemas.microsoft.com/office/drawing/2014/main" id="{CF0CE2E2-FF81-F395-58B9-DA36EABAC619}"/>
              </a:ext>
            </a:extLst>
          </p:cNvPr>
          <p:cNvSpPr/>
          <p:nvPr/>
        </p:nvSpPr>
        <p:spPr>
          <a:xfrm>
            <a:off x="3124200" y="5461000"/>
            <a:ext cx="16002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dim1-stripe">
            <a:extLst>
              <a:ext uri="{FF2B5EF4-FFF2-40B4-BE49-F238E27FC236}">
                <a16:creationId xmlns:a16="http://schemas.microsoft.com/office/drawing/2014/main" id="{CDB76CA1-1DE6-0B1B-28FD-8D9327295DF5}"/>
              </a:ext>
            </a:extLst>
          </p:cNvPr>
          <p:cNvSpPr/>
          <p:nvPr/>
        </p:nvSpPr>
        <p:spPr>
          <a:xfrm>
            <a:off x="31242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dim1-k">
            <a:extLst>
              <a:ext uri="{FF2B5EF4-FFF2-40B4-BE49-F238E27FC236}">
                <a16:creationId xmlns:a16="http://schemas.microsoft.com/office/drawing/2014/main" id="{C3813214-3A95-3FF9-975F-E4F0DBA3ABB2}"/>
              </a:ext>
            </a:extLst>
          </p:cNvPr>
          <p:cNvSpPr txBox="1"/>
          <p:nvPr/>
        </p:nvSpPr>
        <p:spPr>
          <a:xfrm>
            <a:off x="3429000" y="5689600"/>
            <a:ext cx="1143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methods</a:t>
            </a:r>
            <a:endParaRPr lang="zh-CN" altLang="en-US" sz="1050" b="1">
              <a:solidFill>
                <a:srgbClr val="52617A"/>
              </a:solidFill>
              <a:latin typeface="Aptos" panose="020B0004020202020204" pitchFamily="34" charset="0"/>
            </a:endParaRPr>
          </a:p>
        </p:txBody>
      </p:sp>
      <p:sp>
        <p:nvSpPr>
          <p:cNvPr id="29" name="dim1-v">
            <a:extLst>
              <a:ext uri="{FF2B5EF4-FFF2-40B4-BE49-F238E27FC236}">
                <a16:creationId xmlns:a16="http://schemas.microsoft.com/office/drawing/2014/main" id="{B7583CFC-9E5D-CBE3-83E9-EE3915991BD5}"/>
              </a:ext>
            </a:extLst>
          </p:cNvPr>
          <p:cNvSpPr txBox="1"/>
          <p:nvPr/>
        </p:nvSpPr>
        <p:spPr>
          <a:xfrm>
            <a:off x="3429000" y="6019800"/>
            <a:ext cx="1117600" cy="276999"/>
          </a:xfrm>
          <a:prstGeom prst="rect">
            <a:avLst/>
          </a:prstGeom>
          <a:noFill/>
        </p:spPr>
        <p:txBody>
          <a:bodyPr vert="horz" wrap="square" lIns="0" tIns="0" rIns="0" bIns="0" rtlCol="0">
            <a:noAutofit/>
          </a:bodyPr>
          <a:lstStyle/>
          <a:p>
            <a:r>
              <a:rPr lang="en-US" altLang="zh-CN" sz="2400" b="1">
                <a:solidFill>
                  <a:srgbClr val="003B7A"/>
                </a:solidFill>
                <a:latin typeface="Aptos" panose="020B0004020202020204" pitchFamily="34" charset="0"/>
              </a:rPr>
              <a:t>4</a:t>
            </a:r>
            <a:endParaRPr lang="zh-CN" altLang="en-US" sz="2400" b="1">
              <a:solidFill>
                <a:srgbClr val="003B7A"/>
              </a:solidFill>
              <a:latin typeface="Aptos" panose="020B0004020202020204" pitchFamily="34" charset="0"/>
            </a:endParaRPr>
          </a:p>
        </p:txBody>
      </p:sp>
      <p:sp>
        <p:nvSpPr>
          <p:cNvPr id="30" name="dim1-l">
            <a:extLst>
              <a:ext uri="{FF2B5EF4-FFF2-40B4-BE49-F238E27FC236}">
                <a16:creationId xmlns:a16="http://schemas.microsoft.com/office/drawing/2014/main" id="{2266DE4C-D7D4-3014-4DCE-1C6A5DF53F7C}"/>
              </a:ext>
            </a:extLst>
          </p:cNvPr>
          <p:cNvSpPr txBox="1"/>
          <p:nvPr/>
        </p:nvSpPr>
        <p:spPr>
          <a:xfrm>
            <a:off x="3429000" y="6527800"/>
            <a:ext cx="1117600" cy="276999"/>
          </a:xfrm>
          <a:prstGeom prst="rect">
            <a:avLst/>
          </a:prstGeom>
          <a:noFill/>
        </p:spPr>
        <p:txBody>
          <a:bodyPr vert="horz" wrap="square" lIns="0" tIns="0" rIns="0" bIns="0" rtlCol="0">
            <a:noAutofit/>
          </a:bodyPr>
          <a:lstStyle/>
          <a:p>
            <a:r>
              <a:rPr lang="en-US" altLang="zh-CN" sz="1120" b="1">
                <a:solidFill>
                  <a:srgbClr val="071837"/>
                </a:solidFill>
                <a:latin typeface="Aptos" panose="020B0004020202020204" pitchFamily="34" charset="0"/>
              </a:rPr>
              <a:t>evaluation axis</a:t>
            </a:r>
            <a:endParaRPr lang="zh-CN" altLang="en-US" sz="1120" b="1">
              <a:solidFill>
                <a:srgbClr val="071837"/>
              </a:solidFill>
              <a:latin typeface="Aptos" panose="020B0004020202020204" pitchFamily="34" charset="0"/>
            </a:endParaRPr>
          </a:p>
        </p:txBody>
      </p:sp>
      <p:sp>
        <p:nvSpPr>
          <p:cNvPr id="31" name="dim2-box">
            <a:extLst>
              <a:ext uri="{FF2B5EF4-FFF2-40B4-BE49-F238E27FC236}">
                <a16:creationId xmlns:a16="http://schemas.microsoft.com/office/drawing/2014/main" id="{A416BCFE-8565-8938-144D-7D30C4917603}"/>
              </a:ext>
            </a:extLst>
          </p:cNvPr>
          <p:cNvSpPr/>
          <p:nvPr/>
        </p:nvSpPr>
        <p:spPr>
          <a:xfrm>
            <a:off x="5181600" y="5461000"/>
            <a:ext cx="16002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dim2-stripe">
            <a:extLst>
              <a:ext uri="{FF2B5EF4-FFF2-40B4-BE49-F238E27FC236}">
                <a16:creationId xmlns:a16="http://schemas.microsoft.com/office/drawing/2014/main" id="{10C97062-D97A-0E85-C827-310F3637995D}"/>
              </a:ext>
            </a:extLst>
          </p:cNvPr>
          <p:cNvSpPr/>
          <p:nvPr/>
        </p:nvSpPr>
        <p:spPr>
          <a:xfrm>
            <a:off x="51816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dim2-k">
            <a:extLst>
              <a:ext uri="{FF2B5EF4-FFF2-40B4-BE49-F238E27FC236}">
                <a16:creationId xmlns:a16="http://schemas.microsoft.com/office/drawing/2014/main" id="{B7319248-1E72-3D8F-B488-27E45AF4D7DF}"/>
              </a:ext>
            </a:extLst>
          </p:cNvPr>
          <p:cNvSpPr txBox="1"/>
          <p:nvPr/>
        </p:nvSpPr>
        <p:spPr>
          <a:xfrm>
            <a:off x="5486400" y="5689600"/>
            <a:ext cx="1143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sources</a:t>
            </a:r>
            <a:endParaRPr lang="zh-CN" altLang="en-US" sz="1050" b="1">
              <a:solidFill>
                <a:srgbClr val="52617A"/>
              </a:solidFill>
              <a:latin typeface="Aptos" panose="020B0004020202020204" pitchFamily="34" charset="0"/>
            </a:endParaRPr>
          </a:p>
        </p:txBody>
      </p:sp>
      <p:sp>
        <p:nvSpPr>
          <p:cNvPr id="34" name="dim2-v">
            <a:extLst>
              <a:ext uri="{FF2B5EF4-FFF2-40B4-BE49-F238E27FC236}">
                <a16:creationId xmlns:a16="http://schemas.microsoft.com/office/drawing/2014/main" id="{163C6849-7B4E-9DB6-540E-E3593CC78D85}"/>
              </a:ext>
            </a:extLst>
          </p:cNvPr>
          <p:cNvSpPr txBox="1"/>
          <p:nvPr/>
        </p:nvSpPr>
        <p:spPr>
          <a:xfrm>
            <a:off x="5486400" y="6019800"/>
            <a:ext cx="1117600" cy="276999"/>
          </a:xfrm>
          <a:prstGeom prst="rect">
            <a:avLst/>
          </a:prstGeom>
          <a:noFill/>
        </p:spPr>
        <p:txBody>
          <a:bodyPr vert="horz" wrap="square" lIns="0" tIns="0" rIns="0" bIns="0" rtlCol="0">
            <a:noAutofit/>
          </a:bodyPr>
          <a:lstStyle/>
          <a:p>
            <a:r>
              <a:rPr lang="en-US" altLang="zh-CN" sz="2400" b="1">
                <a:solidFill>
                  <a:srgbClr val="003B7A"/>
                </a:solidFill>
                <a:latin typeface="Aptos" panose="020B0004020202020204" pitchFamily="34" charset="0"/>
              </a:rPr>
              <a:t>7</a:t>
            </a:r>
            <a:endParaRPr lang="zh-CN" altLang="en-US" sz="2400" b="1">
              <a:solidFill>
                <a:srgbClr val="003B7A"/>
              </a:solidFill>
              <a:latin typeface="Aptos" panose="020B0004020202020204" pitchFamily="34" charset="0"/>
            </a:endParaRPr>
          </a:p>
        </p:txBody>
      </p:sp>
      <p:sp>
        <p:nvSpPr>
          <p:cNvPr id="35" name="dim2-l">
            <a:extLst>
              <a:ext uri="{FF2B5EF4-FFF2-40B4-BE49-F238E27FC236}">
                <a16:creationId xmlns:a16="http://schemas.microsoft.com/office/drawing/2014/main" id="{A5E71CF2-2EA7-7A7B-21F9-8FCE5ADA3D54}"/>
              </a:ext>
            </a:extLst>
          </p:cNvPr>
          <p:cNvSpPr txBox="1"/>
          <p:nvPr/>
        </p:nvSpPr>
        <p:spPr>
          <a:xfrm>
            <a:off x="5486400" y="6527800"/>
            <a:ext cx="1117600" cy="276999"/>
          </a:xfrm>
          <a:prstGeom prst="rect">
            <a:avLst/>
          </a:prstGeom>
          <a:noFill/>
        </p:spPr>
        <p:txBody>
          <a:bodyPr vert="horz" wrap="square" lIns="0" tIns="0" rIns="0" bIns="0" rtlCol="0">
            <a:noAutofit/>
          </a:bodyPr>
          <a:lstStyle/>
          <a:p>
            <a:r>
              <a:rPr lang="en-US" altLang="zh-CN" sz="1120" b="1">
                <a:solidFill>
                  <a:srgbClr val="071837"/>
                </a:solidFill>
                <a:latin typeface="Aptos" panose="020B0004020202020204" pitchFamily="34" charset="0"/>
              </a:rPr>
              <a:t>evaluation axis</a:t>
            </a:r>
            <a:endParaRPr lang="zh-CN" altLang="en-US" sz="1120" b="1">
              <a:solidFill>
                <a:srgbClr val="071837"/>
              </a:solidFill>
              <a:latin typeface="Aptos" panose="020B0004020202020204" pitchFamily="34" charset="0"/>
            </a:endParaRPr>
          </a:p>
        </p:txBody>
      </p:sp>
      <p:sp>
        <p:nvSpPr>
          <p:cNvPr id="36" name="dim3-box">
            <a:extLst>
              <a:ext uri="{FF2B5EF4-FFF2-40B4-BE49-F238E27FC236}">
                <a16:creationId xmlns:a16="http://schemas.microsoft.com/office/drawing/2014/main" id="{C872B115-3807-C80F-1C74-EC12C36CB83B}"/>
              </a:ext>
            </a:extLst>
          </p:cNvPr>
          <p:cNvSpPr/>
          <p:nvPr/>
        </p:nvSpPr>
        <p:spPr>
          <a:xfrm>
            <a:off x="7239000" y="5461000"/>
            <a:ext cx="16002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dim3-stripe">
            <a:extLst>
              <a:ext uri="{FF2B5EF4-FFF2-40B4-BE49-F238E27FC236}">
                <a16:creationId xmlns:a16="http://schemas.microsoft.com/office/drawing/2014/main" id="{497B3797-C435-B416-0545-456A2ACFA715}"/>
              </a:ext>
            </a:extLst>
          </p:cNvPr>
          <p:cNvSpPr/>
          <p:nvPr/>
        </p:nvSpPr>
        <p:spPr>
          <a:xfrm>
            <a:off x="72390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dim3-k">
            <a:extLst>
              <a:ext uri="{FF2B5EF4-FFF2-40B4-BE49-F238E27FC236}">
                <a16:creationId xmlns:a16="http://schemas.microsoft.com/office/drawing/2014/main" id="{8A5936A1-C5E4-B6C6-7422-1FBFC68DD2AD}"/>
              </a:ext>
            </a:extLst>
          </p:cNvPr>
          <p:cNvSpPr txBox="1"/>
          <p:nvPr/>
        </p:nvSpPr>
        <p:spPr>
          <a:xfrm>
            <a:off x="7543800" y="5689600"/>
            <a:ext cx="1143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languages</a:t>
            </a:r>
            <a:endParaRPr lang="zh-CN" altLang="en-US" sz="1050" b="1">
              <a:solidFill>
                <a:srgbClr val="52617A"/>
              </a:solidFill>
              <a:latin typeface="Aptos" panose="020B0004020202020204" pitchFamily="34" charset="0"/>
            </a:endParaRPr>
          </a:p>
        </p:txBody>
      </p:sp>
      <p:sp>
        <p:nvSpPr>
          <p:cNvPr id="39" name="dim3-v">
            <a:extLst>
              <a:ext uri="{FF2B5EF4-FFF2-40B4-BE49-F238E27FC236}">
                <a16:creationId xmlns:a16="http://schemas.microsoft.com/office/drawing/2014/main" id="{D689C181-8ADF-CC14-DC3B-21F5E892B10C}"/>
              </a:ext>
            </a:extLst>
          </p:cNvPr>
          <p:cNvSpPr txBox="1"/>
          <p:nvPr/>
        </p:nvSpPr>
        <p:spPr>
          <a:xfrm>
            <a:off x="7543800" y="6019800"/>
            <a:ext cx="1117600" cy="276999"/>
          </a:xfrm>
          <a:prstGeom prst="rect">
            <a:avLst/>
          </a:prstGeom>
          <a:noFill/>
        </p:spPr>
        <p:txBody>
          <a:bodyPr vert="horz" wrap="square" lIns="0" tIns="0" rIns="0" bIns="0" rtlCol="0">
            <a:noAutofit/>
          </a:bodyPr>
          <a:lstStyle/>
          <a:p>
            <a:r>
              <a:rPr lang="en-US" altLang="zh-CN" sz="2400" b="1">
                <a:solidFill>
                  <a:srgbClr val="003B7A"/>
                </a:solidFill>
                <a:latin typeface="Aptos" panose="020B0004020202020204" pitchFamily="34" charset="0"/>
              </a:rPr>
              <a:t>5</a:t>
            </a:r>
            <a:endParaRPr lang="zh-CN" altLang="en-US" sz="2400" b="1">
              <a:solidFill>
                <a:srgbClr val="003B7A"/>
              </a:solidFill>
              <a:latin typeface="Aptos" panose="020B0004020202020204" pitchFamily="34" charset="0"/>
            </a:endParaRPr>
          </a:p>
        </p:txBody>
      </p:sp>
      <p:sp>
        <p:nvSpPr>
          <p:cNvPr id="40" name="dim3-l">
            <a:extLst>
              <a:ext uri="{FF2B5EF4-FFF2-40B4-BE49-F238E27FC236}">
                <a16:creationId xmlns:a16="http://schemas.microsoft.com/office/drawing/2014/main" id="{0E833B73-74CE-6E5E-32D8-801050BEA682}"/>
              </a:ext>
            </a:extLst>
          </p:cNvPr>
          <p:cNvSpPr txBox="1"/>
          <p:nvPr/>
        </p:nvSpPr>
        <p:spPr>
          <a:xfrm>
            <a:off x="7543800" y="6527800"/>
            <a:ext cx="1117600" cy="276999"/>
          </a:xfrm>
          <a:prstGeom prst="rect">
            <a:avLst/>
          </a:prstGeom>
          <a:noFill/>
        </p:spPr>
        <p:txBody>
          <a:bodyPr vert="horz" wrap="square" lIns="0" tIns="0" rIns="0" bIns="0" rtlCol="0">
            <a:noAutofit/>
          </a:bodyPr>
          <a:lstStyle/>
          <a:p>
            <a:r>
              <a:rPr lang="en-US" altLang="zh-CN" sz="1120" b="1">
                <a:solidFill>
                  <a:srgbClr val="071837"/>
                </a:solidFill>
                <a:latin typeface="Aptos" panose="020B0004020202020204" pitchFamily="34" charset="0"/>
              </a:rPr>
              <a:t>evaluation axis</a:t>
            </a:r>
            <a:endParaRPr lang="zh-CN" altLang="en-US" sz="1120" b="1">
              <a:solidFill>
                <a:srgbClr val="071837"/>
              </a:solidFill>
              <a:latin typeface="Aptos" panose="020B0004020202020204" pitchFamily="34" charset="0"/>
            </a:endParaRPr>
          </a:p>
        </p:txBody>
      </p:sp>
      <p:sp>
        <p:nvSpPr>
          <p:cNvPr id="41" name="dim4-box">
            <a:extLst>
              <a:ext uri="{FF2B5EF4-FFF2-40B4-BE49-F238E27FC236}">
                <a16:creationId xmlns:a16="http://schemas.microsoft.com/office/drawing/2014/main" id="{41333386-F928-AA37-6198-6258D2C1D5C8}"/>
              </a:ext>
            </a:extLst>
          </p:cNvPr>
          <p:cNvSpPr/>
          <p:nvPr/>
        </p:nvSpPr>
        <p:spPr>
          <a:xfrm>
            <a:off x="9296400" y="5461000"/>
            <a:ext cx="1600200" cy="60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dim4-stripe">
            <a:extLst>
              <a:ext uri="{FF2B5EF4-FFF2-40B4-BE49-F238E27FC236}">
                <a16:creationId xmlns:a16="http://schemas.microsoft.com/office/drawing/2014/main" id="{CC70A7C6-FA68-7774-9D9F-7D1A92A65906}"/>
              </a:ext>
            </a:extLst>
          </p:cNvPr>
          <p:cNvSpPr/>
          <p:nvPr/>
        </p:nvSpPr>
        <p:spPr>
          <a:xfrm>
            <a:off x="9296400" y="5461000"/>
            <a:ext cx="101600" cy="6096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dim4-k">
            <a:extLst>
              <a:ext uri="{FF2B5EF4-FFF2-40B4-BE49-F238E27FC236}">
                <a16:creationId xmlns:a16="http://schemas.microsoft.com/office/drawing/2014/main" id="{A7319C9C-8660-61AA-92DE-71FAF3A9957A}"/>
              </a:ext>
            </a:extLst>
          </p:cNvPr>
          <p:cNvSpPr txBox="1"/>
          <p:nvPr/>
        </p:nvSpPr>
        <p:spPr>
          <a:xfrm>
            <a:off x="9601200" y="5689600"/>
            <a:ext cx="1143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attacks</a:t>
            </a:r>
            <a:endParaRPr lang="zh-CN" altLang="en-US" sz="1050" b="1">
              <a:solidFill>
                <a:srgbClr val="52617A"/>
              </a:solidFill>
              <a:latin typeface="Aptos" panose="020B0004020202020204" pitchFamily="34" charset="0"/>
            </a:endParaRPr>
          </a:p>
        </p:txBody>
      </p:sp>
      <p:sp>
        <p:nvSpPr>
          <p:cNvPr id="44" name="dim4-v">
            <a:extLst>
              <a:ext uri="{FF2B5EF4-FFF2-40B4-BE49-F238E27FC236}">
                <a16:creationId xmlns:a16="http://schemas.microsoft.com/office/drawing/2014/main" id="{2B25E417-3937-B1F4-C7B7-22A6FEFFE907}"/>
              </a:ext>
            </a:extLst>
          </p:cNvPr>
          <p:cNvSpPr txBox="1"/>
          <p:nvPr/>
        </p:nvSpPr>
        <p:spPr>
          <a:xfrm>
            <a:off x="9601200" y="6019800"/>
            <a:ext cx="1117600" cy="276999"/>
          </a:xfrm>
          <a:prstGeom prst="rect">
            <a:avLst/>
          </a:prstGeom>
          <a:noFill/>
        </p:spPr>
        <p:txBody>
          <a:bodyPr vert="horz" wrap="square" lIns="0" tIns="0" rIns="0" bIns="0" rtlCol="0">
            <a:noAutofit/>
          </a:bodyPr>
          <a:lstStyle/>
          <a:p>
            <a:r>
              <a:rPr lang="en-US" altLang="zh-CN" sz="2400" b="1">
                <a:solidFill>
                  <a:srgbClr val="003B7A"/>
                </a:solidFill>
                <a:latin typeface="Aptos" panose="020B0004020202020204" pitchFamily="34" charset="0"/>
              </a:rPr>
              <a:t>7</a:t>
            </a:r>
            <a:endParaRPr lang="zh-CN" altLang="en-US" sz="2400" b="1">
              <a:solidFill>
                <a:srgbClr val="003B7A"/>
              </a:solidFill>
              <a:latin typeface="Aptos" panose="020B0004020202020204" pitchFamily="34" charset="0"/>
            </a:endParaRPr>
          </a:p>
        </p:txBody>
      </p:sp>
      <p:sp>
        <p:nvSpPr>
          <p:cNvPr id="45" name="dim4-l">
            <a:extLst>
              <a:ext uri="{FF2B5EF4-FFF2-40B4-BE49-F238E27FC236}">
                <a16:creationId xmlns:a16="http://schemas.microsoft.com/office/drawing/2014/main" id="{7C2385F1-C271-5F36-5A1B-084D891ED8D9}"/>
              </a:ext>
            </a:extLst>
          </p:cNvPr>
          <p:cNvSpPr txBox="1"/>
          <p:nvPr/>
        </p:nvSpPr>
        <p:spPr>
          <a:xfrm>
            <a:off x="9601200" y="6527800"/>
            <a:ext cx="1117600" cy="276999"/>
          </a:xfrm>
          <a:prstGeom prst="rect">
            <a:avLst/>
          </a:prstGeom>
          <a:noFill/>
        </p:spPr>
        <p:txBody>
          <a:bodyPr vert="horz" wrap="square" lIns="0" tIns="0" rIns="0" bIns="0" rtlCol="0">
            <a:noAutofit/>
          </a:bodyPr>
          <a:lstStyle/>
          <a:p>
            <a:r>
              <a:rPr lang="en-US" altLang="zh-CN" sz="1120" b="1">
                <a:solidFill>
                  <a:srgbClr val="071837"/>
                </a:solidFill>
                <a:latin typeface="Aptos" panose="020B0004020202020204" pitchFamily="34" charset="0"/>
              </a:rPr>
              <a:t>evaluation axis</a:t>
            </a:r>
            <a:endParaRPr lang="zh-CN" altLang="en-US" sz="1120" b="1">
              <a:solidFill>
                <a:srgbClr val="071837"/>
              </a:solidFill>
              <a:latin typeface="Aptos" panose="020B0004020202020204" pitchFamily="34" charset="0"/>
            </a:endParaRPr>
          </a:p>
        </p:txBody>
      </p:sp>
      <p:sp>
        <p:nvSpPr>
          <p:cNvPr id="46" name="footer-hit-6">
            <a:hlinkClick r:id="rId5"/>
            <a:extLst>
              <a:ext uri="{FF2B5EF4-FFF2-40B4-BE49-F238E27FC236}">
                <a16:creationId xmlns:a16="http://schemas.microsoft.com/office/drawing/2014/main" id="{6F68D474-814C-2D2F-80FF-D20AE0F6345E}"/>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19782873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160"/>
                                        <p:tgtEl>
                                          <p:spTgt spid="20"/>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160"/>
                                        <p:tgtEl>
                                          <p:spTgt spid="21"/>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160"/>
                                        <p:tgtEl>
                                          <p:spTgt spid="22"/>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3"/>
                                        </p:tgtEl>
                                        <p:attrNameLst>
                                          <p:attrName>style.visibility</p:attrName>
                                        </p:attrNameLst>
                                      </p:cBhvr>
                                      <p:to>
                                        <p:strVal val="visible"/>
                                      </p:to>
                                    </p:set>
                                    <p:animEffect transition="in" filter="fade">
                                      <p:cBhvr>
                                        <p:cTn id="39" dur="160"/>
                                        <p:tgtEl>
                                          <p:spTgt spid="23"/>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160"/>
                                        <p:tgtEl>
                                          <p:spTgt spid="24"/>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160"/>
                                        <p:tgtEl>
                                          <p:spTgt spid="25"/>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160"/>
                                        <p:tgtEl>
                                          <p:spTgt spid="26"/>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160"/>
                                        <p:tgtEl>
                                          <p:spTgt spid="27"/>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160"/>
                                        <p:tgtEl>
                                          <p:spTgt spid="28"/>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160"/>
                                        <p:tgtEl>
                                          <p:spTgt spid="29"/>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160"/>
                                        <p:tgtEl>
                                          <p:spTgt spid="30"/>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160"/>
                                        <p:tgtEl>
                                          <p:spTgt spid="31"/>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160"/>
                                        <p:tgtEl>
                                          <p:spTgt spid="32"/>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160"/>
                                        <p:tgtEl>
                                          <p:spTgt spid="33"/>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160"/>
                                        <p:tgtEl>
                                          <p:spTgt spid="34"/>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160"/>
                                        <p:tgtEl>
                                          <p:spTgt spid="35"/>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160"/>
                                        <p:tgtEl>
                                          <p:spTgt spid="36"/>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160"/>
                                        <p:tgtEl>
                                          <p:spTgt spid="37"/>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8"/>
                                        </p:tgtEl>
                                        <p:attrNameLst>
                                          <p:attrName>style.visibility</p:attrName>
                                        </p:attrNameLst>
                                      </p:cBhvr>
                                      <p:to>
                                        <p:strVal val="visible"/>
                                      </p:to>
                                    </p:set>
                                    <p:animEffect transition="in" filter="fade">
                                      <p:cBhvr>
                                        <p:cTn id="99" dur="160"/>
                                        <p:tgtEl>
                                          <p:spTgt spid="38"/>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9"/>
                                        </p:tgtEl>
                                        <p:attrNameLst>
                                          <p:attrName>style.visibility</p:attrName>
                                        </p:attrNameLst>
                                      </p:cBhvr>
                                      <p:to>
                                        <p:strVal val="visible"/>
                                      </p:to>
                                    </p:set>
                                    <p:animEffect transition="in" filter="fade">
                                      <p:cBhvr>
                                        <p:cTn id="103" dur="160"/>
                                        <p:tgtEl>
                                          <p:spTgt spid="39"/>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160"/>
                                        <p:tgtEl>
                                          <p:spTgt spid="40"/>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41"/>
                                        </p:tgtEl>
                                        <p:attrNameLst>
                                          <p:attrName>style.visibility</p:attrName>
                                        </p:attrNameLst>
                                      </p:cBhvr>
                                      <p:to>
                                        <p:strVal val="visible"/>
                                      </p:to>
                                    </p:set>
                                    <p:animEffect transition="in" filter="fade">
                                      <p:cBhvr>
                                        <p:cTn id="111" dur="160"/>
                                        <p:tgtEl>
                                          <p:spTgt spid="41"/>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160"/>
                                        <p:tgtEl>
                                          <p:spTgt spid="42"/>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160"/>
                                        <p:tgtEl>
                                          <p:spTgt spid="43"/>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160"/>
                                        <p:tgtEl>
                                          <p:spTgt spid="44"/>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5"/>
                                        </p:tgtEl>
                                        <p:attrNameLst>
                                          <p:attrName>style.visibility</p:attrName>
                                        </p:attrNameLst>
                                      </p:cBhvr>
                                      <p:to>
                                        <p:strVal val="visible"/>
                                      </p:to>
                                    </p:set>
                                    <p:animEffect transition="in" filter="fade">
                                      <p:cBhvr>
                                        <p:cTn id="127" dur="16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20" grpId="0"/>
      <p:bldP spid="21" grpId="0" animBg="1"/>
      <p:bldP spid="22" grpId="0" animBg="1"/>
      <p:bldP spid="23" grpId="0"/>
      <p:bldP spid="24" grpId="0"/>
      <p:bldP spid="25" grpId="0"/>
      <p:bldP spid="26" grpId="0" animBg="1"/>
      <p:bldP spid="27" grpId="0" animBg="1"/>
      <p:bldP spid="28" grpId="0"/>
      <p:bldP spid="29" grpId="0"/>
      <p:bldP spid="30" grpId="0"/>
      <p:bldP spid="31" grpId="0" animBg="1"/>
      <p:bldP spid="32" grpId="0" animBg="1"/>
      <p:bldP spid="33" grpId="0"/>
      <p:bldP spid="34" grpId="0"/>
      <p:bldP spid="35" grpId="0"/>
      <p:bldP spid="36" grpId="0" animBg="1"/>
      <p:bldP spid="37" grpId="0" animBg="1"/>
      <p:bldP spid="38" grpId="0"/>
      <p:bldP spid="39" grpId="0"/>
      <p:bldP spid="40" grpId="0"/>
      <p:bldP spid="41" grpId="0" animBg="1"/>
      <p:bldP spid="42" grpId="0" animBg="1"/>
      <p:bldP spid="43" grpId="0"/>
      <p:bldP spid="44" grpId="0"/>
      <p:bldP spid="4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AC24D220-C639-045B-EAB6-D531F2CA0E05}"/>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6E991266-FE16-CD9C-A427-C6296A668F90}"/>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ED757FED-DE7C-C4F4-1816-20C3B966A854}"/>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SEMCODEBOOK</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8BD5A8C1-2878-543D-6249-A2772E44D9CE}"/>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07</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73089607-1E0E-0BFB-7E8A-4CA63B2C8090}"/>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CCA59EF0-2F36-7A1E-8064-DF7CFA36DE75}"/>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DE7CF297-052E-6A1A-9EBD-88C9545976FD}"/>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3BBB1B20-B1FD-D112-2B56-6D636B6B22B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D62A28F0-0C3D-CA2E-6BB6-75BC54F15A58}"/>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White-box provenance is strong only after controls stay at zero.</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E6C03C65-E835-0B61-4E0E-68304C44DC99}"/>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continuation result improves recovery while keeping fixed and blind negative controls clean.</a:t>
            </a:r>
            <a:endParaRPr lang="zh-CN" altLang="en-US" sz="1700">
              <a:solidFill>
                <a:srgbClr val="52617A"/>
              </a:solidFill>
              <a:latin typeface="Aptos" panose="020B0004020202020204" pitchFamily="34" charset="0"/>
            </a:endParaRPr>
          </a:p>
        </p:txBody>
      </p:sp>
      <p:sp>
        <p:nvSpPr>
          <p:cNvPr id="13" name="sem-pos-label">
            <a:extLst>
              <a:ext uri="{FF2B5EF4-FFF2-40B4-BE49-F238E27FC236}">
                <a16:creationId xmlns:a16="http://schemas.microsoft.com/office/drawing/2014/main" id="{7637B10F-778F-F65C-7A34-58D05DFE1EDB}"/>
              </a:ext>
            </a:extLst>
          </p:cNvPr>
          <p:cNvSpPr txBox="1"/>
          <p:nvPr/>
        </p:nvSpPr>
        <p:spPr>
          <a:xfrm>
            <a:off x="1117600" y="23495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positive recovery</a:t>
            </a:r>
            <a:endParaRPr lang="zh-CN" altLang="en-US" sz="1320" b="1">
              <a:solidFill>
                <a:srgbClr val="071837"/>
              </a:solidFill>
              <a:latin typeface="Aptos" panose="020B0004020202020204" pitchFamily="34" charset="0"/>
            </a:endParaRPr>
          </a:p>
        </p:txBody>
      </p:sp>
      <p:sp>
        <p:nvSpPr>
          <p:cNvPr id="14" name="sem-pos-track">
            <a:extLst>
              <a:ext uri="{FF2B5EF4-FFF2-40B4-BE49-F238E27FC236}">
                <a16:creationId xmlns:a16="http://schemas.microsoft.com/office/drawing/2014/main" id="{4D00730F-0923-23DC-B755-8E07DC73BBF0}"/>
              </a:ext>
            </a:extLst>
          </p:cNvPr>
          <p:cNvSpPr/>
          <p:nvPr/>
        </p:nvSpPr>
        <p:spPr>
          <a:xfrm>
            <a:off x="3632200" y="23876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sem-pos-bar">
            <a:extLst>
              <a:ext uri="{FF2B5EF4-FFF2-40B4-BE49-F238E27FC236}">
                <a16:creationId xmlns:a16="http://schemas.microsoft.com/office/drawing/2014/main" id="{A24F4298-6D53-187A-DB3D-0CC7C1F0D3C8}"/>
              </a:ext>
            </a:extLst>
          </p:cNvPr>
          <p:cNvSpPr/>
          <p:nvPr/>
        </p:nvSpPr>
        <p:spPr>
          <a:xfrm>
            <a:off x="3632200" y="2387600"/>
            <a:ext cx="5461000" cy="1778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sem-pos-value">
            <a:extLst>
              <a:ext uri="{FF2B5EF4-FFF2-40B4-BE49-F238E27FC236}">
                <a16:creationId xmlns:a16="http://schemas.microsoft.com/office/drawing/2014/main" id="{07256425-9937-7C36-71C1-356113EFEEF9}"/>
              </a:ext>
            </a:extLst>
          </p:cNvPr>
          <p:cNvSpPr txBox="1"/>
          <p:nvPr/>
        </p:nvSpPr>
        <p:spPr>
          <a:xfrm>
            <a:off x="9245600" y="2336800"/>
            <a:ext cx="1524000" cy="276999"/>
          </a:xfrm>
          <a:prstGeom prst="rect">
            <a:avLst/>
          </a:prstGeom>
          <a:noFill/>
        </p:spPr>
        <p:txBody>
          <a:bodyPr vert="horz" wrap="square" lIns="0" tIns="0" rIns="0" bIns="0" rtlCol="0">
            <a:noAutofit/>
          </a:bodyPr>
          <a:lstStyle/>
          <a:p>
            <a:r>
              <a:rPr lang="en-US" altLang="zh-CN" sz="1300" b="1">
                <a:solidFill>
                  <a:srgbClr val="168E8B"/>
                </a:solidFill>
                <a:latin typeface="Aptos" panose="020B0004020202020204" pitchFamily="34" charset="0"/>
              </a:rPr>
              <a:t>30,330 / 31,200</a:t>
            </a:r>
            <a:endParaRPr lang="zh-CN" altLang="en-US" sz="1300" b="1">
              <a:solidFill>
                <a:srgbClr val="168E8B"/>
              </a:solidFill>
              <a:latin typeface="Aptos" panose="020B0004020202020204" pitchFamily="34" charset="0"/>
            </a:endParaRPr>
          </a:p>
        </p:txBody>
      </p:sp>
      <p:sp>
        <p:nvSpPr>
          <p:cNvPr id="17" name="sem-pos-cap">
            <a:extLst>
              <a:ext uri="{FF2B5EF4-FFF2-40B4-BE49-F238E27FC236}">
                <a16:creationId xmlns:a16="http://schemas.microsoft.com/office/drawing/2014/main" id="{A7911D3F-0573-B8C5-ABF4-1862AE162FC7}"/>
              </a:ext>
            </a:extLst>
          </p:cNvPr>
          <p:cNvSpPr txBox="1"/>
          <p:nvPr/>
        </p:nvSpPr>
        <p:spPr>
          <a:xfrm>
            <a:off x="1117600" y="26289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submitted FYP snapshot: 23,342 / 24,000</a:t>
            </a:r>
            <a:endParaRPr lang="zh-CN" altLang="en-US" sz="950">
              <a:solidFill>
                <a:srgbClr val="52617A"/>
              </a:solidFill>
              <a:latin typeface="Aptos" panose="020B0004020202020204" pitchFamily="34" charset="0"/>
            </a:endParaRPr>
          </a:p>
        </p:txBody>
      </p:sp>
      <p:sp>
        <p:nvSpPr>
          <p:cNvPr id="18" name="sem-neg1-label">
            <a:extLst>
              <a:ext uri="{FF2B5EF4-FFF2-40B4-BE49-F238E27FC236}">
                <a16:creationId xmlns:a16="http://schemas.microsoft.com/office/drawing/2014/main" id="{3D343F3F-B4C0-EEA6-AD01-2313EF654097}"/>
              </a:ext>
            </a:extLst>
          </p:cNvPr>
          <p:cNvSpPr txBox="1"/>
          <p:nvPr/>
        </p:nvSpPr>
        <p:spPr>
          <a:xfrm>
            <a:off x="1117600" y="3136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fixed controls</a:t>
            </a:r>
            <a:endParaRPr lang="zh-CN" altLang="en-US" sz="1320" b="1">
              <a:solidFill>
                <a:srgbClr val="071837"/>
              </a:solidFill>
              <a:latin typeface="Aptos" panose="020B0004020202020204" pitchFamily="34" charset="0"/>
            </a:endParaRPr>
          </a:p>
        </p:txBody>
      </p:sp>
      <p:sp>
        <p:nvSpPr>
          <p:cNvPr id="19" name="sem-neg1-track">
            <a:extLst>
              <a:ext uri="{FF2B5EF4-FFF2-40B4-BE49-F238E27FC236}">
                <a16:creationId xmlns:a16="http://schemas.microsoft.com/office/drawing/2014/main" id="{E767ACEF-84BA-9774-C933-67E9BE2B3FB5}"/>
              </a:ext>
            </a:extLst>
          </p:cNvPr>
          <p:cNvSpPr/>
          <p:nvPr/>
        </p:nvSpPr>
        <p:spPr>
          <a:xfrm>
            <a:off x="3632200" y="31750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em-neg1-bar">
            <a:extLst>
              <a:ext uri="{FF2B5EF4-FFF2-40B4-BE49-F238E27FC236}">
                <a16:creationId xmlns:a16="http://schemas.microsoft.com/office/drawing/2014/main" id="{D4DFB0DE-F856-BB91-3B0A-B13DE1ABCD57}"/>
              </a:ext>
            </a:extLst>
          </p:cNvPr>
          <p:cNvSpPr/>
          <p:nvPr/>
        </p:nvSpPr>
        <p:spPr>
          <a:xfrm>
            <a:off x="3632200" y="31750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sem-neg1-value">
            <a:extLst>
              <a:ext uri="{FF2B5EF4-FFF2-40B4-BE49-F238E27FC236}">
                <a16:creationId xmlns:a16="http://schemas.microsoft.com/office/drawing/2014/main" id="{B0033CF7-AD24-9534-AE2A-FA5C06835E4A}"/>
              </a:ext>
            </a:extLst>
          </p:cNvPr>
          <p:cNvSpPr txBox="1"/>
          <p:nvPr/>
        </p:nvSpPr>
        <p:spPr>
          <a:xfrm>
            <a:off x="9245600" y="31242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62,400</a:t>
            </a:r>
            <a:endParaRPr lang="zh-CN" altLang="en-US" sz="1300" b="1">
              <a:solidFill>
                <a:srgbClr val="1F7A4D"/>
              </a:solidFill>
              <a:latin typeface="Aptos" panose="020B0004020202020204" pitchFamily="34" charset="0"/>
            </a:endParaRPr>
          </a:p>
        </p:txBody>
      </p:sp>
      <p:sp>
        <p:nvSpPr>
          <p:cNvPr id="22" name="sem-neg1-cap">
            <a:extLst>
              <a:ext uri="{FF2B5EF4-FFF2-40B4-BE49-F238E27FC236}">
                <a16:creationId xmlns:a16="http://schemas.microsoft.com/office/drawing/2014/main" id="{292DEECF-F29B-0836-6390-FBB247A56ACD}"/>
              </a:ext>
            </a:extLst>
          </p:cNvPr>
          <p:cNvSpPr txBox="1"/>
          <p:nvPr/>
        </p:nvSpPr>
        <p:spPr>
          <a:xfrm>
            <a:off x="1117600" y="34163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zero-event fail-closed control surface</a:t>
            </a:r>
            <a:endParaRPr lang="zh-CN" altLang="en-US" sz="950">
              <a:solidFill>
                <a:srgbClr val="52617A"/>
              </a:solidFill>
              <a:latin typeface="Aptos" panose="020B0004020202020204" pitchFamily="34" charset="0"/>
            </a:endParaRPr>
          </a:p>
        </p:txBody>
      </p:sp>
      <p:sp>
        <p:nvSpPr>
          <p:cNvPr id="23" name="sem-neg2-label">
            <a:extLst>
              <a:ext uri="{FF2B5EF4-FFF2-40B4-BE49-F238E27FC236}">
                <a16:creationId xmlns:a16="http://schemas.microsoft.com/office/drawing/2014/main" id="{9EFE3256-C67B-C292-37D6-3DDE395BEEF0}"/>
              </a:ext>
            </a:extLst>
          </p:cNvPr>
          <p:cNvSpPr txBox="1"/>
          <p:nvPr/>
        </p:nvSpPr>
        <p:spPr>
          <a:xfrm>
            <a:off x="1117600" y="3924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blind replay</a:t>
            </a:r>
            <a:endParaRPr lang="zh-CN" altLang="en-US" sz="1320" b="1">
              <a:solidFill>
                <a:srgbClr val="071837"/>
              </a:solidFill>
              <a:latin typeface="Aptos" panose="020B0004020202020204" pitchFamily="34" charset="0"/>
            </a:endParaRPr>
          </a:p>
        </p:txBody>
      </p:sp>
      <p:sp>
        <p:nvSpPr>
          <p:cNvPr id="24" name="sem-neg2-track">
            <a:extLst>
              <a:ext uri="{FF2B5EF4-FFF2-40B4-BE49-F238E27FC236}">
                <a16:creationId xmlns:a16="http://schemas.microsoft.com/office/drawing/2014/main" id="{CDF579AA-3CDB-C86C-1F58-E45B2992DB6A}"/>
              </a:ext>
            </a:extLst>
          </p:cNvPr>
          <p:cNvSpPr/>
          <p:nvPr/>
        </p:nvSpPr>
        <p:spPr>
          <a:xfrm>
            <a:off x="3632200" y="3962400"/>
            <a:ext cx="5461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em-neg2-bar">
            <a:extLst>
              <a:ext uri="{FF2B5EF4-FFF2-40B4-BE49-F238E27FC236}">
                <a16:creationId xmlns:a16="http://schemas.microsoft.com/office/drawing/2014/main" id="{19A5DC7A-D443-E6E6-C59F-2ECAE99F349E}"/>
              </a:ext>
            </a:extLst>
          </p:cNvPr>
          <p:cNvSpPr/>
          <p:nvPr/>
        </p:nvSpPr>
        <p:spPr>
          <a:xfrm>
            <a:off x="3632200" y="39624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sem-neg2-value">
            <a:extLst>
              <a:ext uri="{FF2B5EF4-FFF2-40B4-BE49-F238E27FC236}">
                <a16:creationId xmlns:a16="http://schemas.microsoft.com/office/drawing/2014/main" id="{C50FB526-C439-9B91-16E6-2B2FED574E19}"/>
              </a:ext>
            </a:extLst>
          </p:cNvPr>
          <p:cNvSpPr txBox="1"/>
          <p:nvPr/>
        </p:nvSpPr>
        <p:spPr>
          <a:xfrm>
            <a:off x="9245600" y="39116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62,400</a:t>
            </a:r>
            <a:endParaRPr lang="zh-CN" altLang="en-US" sz="1300" b="1">
              <a:solidFill>
                <a:srgbClr val="1F7A4D"/>
              </a:solidFill>
              <a:latin typeface="Aptos" panose="020B0004020202020204" pitchFamily="34" charset="0"/>
            </a:endParaRPr>
          </a:p>
        </p:txBody>
      </p:sp>
      <p:sp>
        <p:nvSpPr>
          <p:cNvPr id="27" name="sem-neg2-cap">
            <a:extLst>
              <a:ext uri="{FF2B5EF4-FFF2-40B4-BE49-F238E27FC236}">
                <a16:creationId xmlns:a16="http://schemas.microsoft.com/office/drawing/2014/main" id="{C3390A1A-851B-83FE-A130-9C792900AF99}"/>
              </a:ext>
            </a:extLst>
          </p:cNvPr>
          <p:cNvSpPr txBox="1"/>
          <p:nvPr/>
        </p:nvSpPr>
        <p:spPr>
          <a:xfrm>
            <a:off x="1117600" y="4203700"/>
            <a:ext cx="8763000" cy="276999"/>
          </a:xfrm>
          <a:prstGeom prst="rect">
            <a:avLst/>
          </a:prstGeom>
          <a:noFill/>
        </p:spPr>
        <p:txBody>
          <a:bodyPr vert="horz" wrap="square" lIns="0" tIns="0" rIns="0" bIns="0" rtlCol="0">
            <a:noAutofit/>
          </a:bodyPr>
          <a:lstStyle/>
          <a:p>
            <a:r>
              <a:rPr lang="en-US" altLang="zh-CN" sz="950">
                <a:solidFill>
                  <a:srgbClr val="52617A"/>
                </a:solidFill>
                <a:latin typeface="Aptos" panose="020B0004020202020204" pitchFamily="34" charset="0"/>
              </a:rPr>
              <a:t>independent negative replay gate</a:t>
            </a:r>
            <a:endParaRPr lang="zh-CN" altLang="en-US" sz="950">
              <a:solidFill>
                <a:srgbClr val="52617A"/>
              </a:solidFill>
              <a:latin typeface="Aptos" panose="020B0004020202020204" pitchFamily="34" charset="0"/>
            </a:endParaRPr>
          </a:p>
        </p:txBody>
      </p:sp>
      <p:sp>
        <p:nvSpPr>
          <p:cNvPr id="28" name="ablation">
            <a:extLst>
              <a:ext uri="{FF2B5EF4-FFF2-40B4-BE49-F238E27FC236}">
                <a16:creationId xmlns:a16="http://schemas.microsoft.com/office/drawing/2014/main" id="{2A0D6D83-19D8-7534-11E7-6F7D8A90854A}"/>
              </a:ext>
            </a:extLst>
          </p:cNvPr>
          <p:cNvSpPr/>
          <p:nvPr/>
        </p:nvSpPr>
        <p:spPr>
          <a:xfrm>
            <a:off x="8128000" y="2286000"/>
            <a:ext cx="3098800" cy="2641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ablation-k">
            <a:extLst>
              <a:ext uri="{FF2B5EF4-FFF2-40B4-BE49-F238E27FC236}">
                <a16:creationId xmlns:a16="http://schemas.microsoft.com/office/drawing/2014/main" id="{6C4CEE65-14D1-33F9-0EBC-109EA9284A17}"/>
              </a:ext>
            </a:extLst>
          </p:cNvPr>
          <p:cNvSpPr txBox="1"/>
          <p:nvPr/>
        </p:nvSpPr>
        <p:spPr>
          <a:xfrm>
            <a:off x="8458200" y="2616200"/>
            <a:ext cx="2159000" cy="276999"/>
          </a:xfrm>
          <a:prstGeom prst="rect">
            <a:avLst/>
          </a:prstGeom>
          <a:noFill/>
        </p:spPr>
        <p:txBody>
          <a:bodyPr vert="horz" wrap="square" lIns="0" tIns="0" rIns="0" bIns="0" rtlCol="0">
            <a:noAutofit/>
          </a:bodyPr>
          <a:lstStyle/>
          <a:p>
            <a:r>
              <a:rPr lang="en-US" altLang="zh-CN" sz="1200" b="1">
                <a:solidFill>
                  <a:srgbClr val="52617A"/>
                </a:solidFill>
                <a:latin typeface="Aptos" panose="020B0004020202020204" pitchFamily="34" charset="0"/>
              </a:rPr>
              <a:t>ablation support</a:t>
            </a:r>
            <a:endParaRPr lang="zh-CN" altLang="en-US" sz="1200" b="1">
              <a:solidFill>
                <a:srgbClr val="52617A"/>
              </a:solidFill>
              <a:latin typeface="Aptos" panose="020B0004020202020204" pitchFamily="34" charset="0"/>
            </a:endParaRPr>
          </a:p>
        </p:txBody>
      </p:sp>
      <p:sp>
        <p:nvSpPr>
          <p:cNvPr id="30" name="abl-l0">
            <a:extLst>
              <a:ext uri="{FF2B5EF4-FFF2-40B4-BE49-F238E27FC236}">
                <a16:creationId xmlns:a16="http://schemas.microsoft.com/office/drawing/2014/main" id="{4514586E-DF97-0B00-099A-C45FECF4BDFF}"/>
              </a:ext>
            </a:extLst>
          </p:cNvPr>
          <p:cNvSpPr txBox="1"/>
          <p:nvPr/>
        </p:nvSpPr>
        <p:spPr>
          <a:xfrm>
            <a:off x="8458200" y="3022600"/>
            <a:ext cx="965200" cy="276999"/>
          </a:xfrm>
          <a:prstGeom prst="rect">
            <a:avLst/>
          </a:prstGeom>
          <a:noFill/>
        </p:spPr>
        <p:txBody>
          <a:bodyPr vert="horz" wrap="square" lIns="0" tIns="0" rIns="0" bIns="0" rtlCol="0">
            <a:noAutofit/>
          </a:bodyPr>
          <a:lstStyle/>
          <a:p>
            <a:r>
              <a:rPr lang="en-US" altLang="zh-CN" sz="970" b="1">
                <a:solidFill>
                  <a:srgbClr val="071837"/>
                </a:solidFill>
                <a:latin typeface="Aptos" panose="020B0004020202020204" pitchFamily="34" charset="0"/>
              </a:rPr>
              <a:t>AST only</a:t>
            </a:r>
            <a:endParaRPr lang="zh-CN" altLang="en-US" sz="970" b="1">
              <a:solidFill>
                <a:srgbClr val="071837"/>
              </a:solidFill>
              <a:latin typeface="Aptos" panose="020B0004020202020204" pitchFamily="34" charset="0"/>
            </a:endParaRPr>
          </a:p>
        </p:txBody>
      </p:sp>
      <p:sp>
        <p:nvSpPr>
          <p:cNvPr id="31" name="abl-track0">
            <a:extLst>
              <a:ext uri="{FF2B5EF4-FFF2-40B4-BE49-F238E27FC236}">
                <a16:creationId xmlns:a16="http://schemas.microsoft.com/office/drawing/2014/main" id="{BD5B5DD3-74E3-1D0C-D7D9-C420E2E591EF}"/>
              </a:ext>
            </a:extLst>
          </p:cNvPr>
          <p:cNvSpPr/>
          <p:nvPr/>
        </p:nvSpPr>
        <p:spPr>
          <a:xfrm>
            <a:off x="9525000" y="30480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abl-bar0">
            <a:extLst>
              <a:ext uri="{FF2B5EF4-FFF2-40B4-BE49-F238E27FC236}">
                <a16:creationId xmlns:a16="http://schemas.microsoft.com/office/drawing/2014/main" id="{318AFB94-AF62-E4C8-53FE-95FCD0E5E8D2}"/>
              </a:ext>
            </a:extLst>
          </p:cNvPr>
          <p:cNvSpPr/>
          <p:nvPr/>
        </p:nvSpPr>
        <p:spPr>
          <a:xfrm>
            <a:off x="9525000" y="3048000"/>
            <a:ext cx="1014413"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abl-l1">
            <a:extLst>
              <a:ext uri="{FF2B5EF4-FFF2-40B4-BE49-F238E27FC236}">
                <a16:creationId xmlns:a16="http://schemas.microsoft.com/office/drawing/2014/main" id="{12A924FA-D269-6797-71B6-0267631155A4}"/>
              </a:ext>
            </a:extLst>
          </p:cNvPr>
          <p:cNvSpPr txBox="1"/>
          <p:nvPr/>
        </p:nvSpPr>
        <p:spPr>
          <a:xfrm>
            <a:off x="8458200" y="3327400"/>
            <a:ext cx="965200" cy="276999"/>
          </a:xfrm>
          <a:prstGeom prst="rect">
            <a:avLst/>
          </a:prstGeom>
          <a:noFill/>
        </p:spPr>
        <p:txBody>
          <a:bodyPr vert="horz" wrap="square" lIns="0" tIns="0" rIns="0" bIns="0" rtlCol="0">
            <a:noAutofit/>
          </a:bodyPr>
          <a:lstStyle/>
          <a:p>
            <a:r>
              <a:rPr lang="en-US" altLang="zh-CN" sz="970" b="1">
                <a:solidFill>
                  <a:srgbClr val="071837"/>
                </a:solidFill>
                <a:latin typeface="Aptos" panose="020B0004020202020204" pitchFamily="34" charset="0"/>
              </a:rPr>
              <a:t>CFG only</a:t>
            </a:r>
            <a:endParaRPr lang="zh-CN" altLang="en-US" sz="970" b="1">
              <a:solidFill>
                <a:srgbClr val="071837"/>
              </a:solidFill>
              <a:latin typeface="Aptos" panose="020B0004020202020204" pitchFamily="34" charset="0"/>
            </a:endParaRPr>
          </a:p>
        </p:txBody>
      </p:sp>
      <p:sp>
        <p:nvSpPr>
          <p:cNvPr id="34" name="abl-track1">
            <a:extLst>
              <a:ext uri="{FF2B5EF4-FFF2-40B4-BE49-F238E27FC236}">
                <a16:creationId xmlns:a16="http://schemas.microsoft.com/office/drawing/2014/main" id="{5838A693-7D90-FE03-4481-F97EA162716F}"/>
              </a:ext>
            </a:extLst>
          </p:cNvPr>
          <p:cNvSpPr/>
          <p:nvPr/>
        </p:nvSpPr>
        <p:spPr>
          <a:xfrm>
            <a:off x="9525000" y="33528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abl-bar1">
            <a:extLst>
              <a:ext uri="{FF2B5EF4-FFF2-40B4-BE49-F238E27FC236}">
                <a16:creationId xmlns:a16="http://schemas.microsoft.com/office/drawing/2014/main" id="{E2116330-F361-0CB0-5C92-1E310EE305C9}"/>
              </a:ext>
            </a:extLst>
          </p:cNvPr>
          <p:cNvSpPr/>
          <p:nvPr/>
        </p:nvSpPr>
        <p:spPr>
          <a:xfrm>
            <a:off x="9525000" y="3352800"/>
            <a:ext cx="952462"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abl-l2">
            <a:extLst>
              <a:ext uri="{FF2B5EF4-FFF2-40B4-BE49-F238E27FC236}">
                <a16:creationId xmlns:a16="http://schemas.microsoft.com/office/drawing/2014/main" id="{2EC9B76F-9CF6-8CFE-51DF-B7111C9188F1}"/>
              </a:ext>
            </a:extLst>
          </p:cNvPr>
          <p:cNvSpPr txBox="1"/>
          <p:nvPr/>
        </p:nvSpPr>
        <p:spPr>
          <a:xfrm>
            <a:off x="8458200" y="3632200"/>
            <a:ext cx="965200" cy="276999"/>
          </a:xfrm>
          <a:prstGeom prst="rect">
            <a:avLst/>
          </a:prstGeom>
          <a:noFill/>
        </p:spPr>
        <p:txBody>
          <a:bodyPr vert="horz" wrap="square" lIns="0" tIns="0" rIns="0" bIns="0" rtlCol="0">
            <a:noAutofit/>
          </a:bodyPr>
          <a:lstStyle/>
          <a:p>
            <a:r>
              <a:rPr lang="en-US" altLang="zh-CN" sz="970" b="1">
                <a:solidFill>
                  <a:srgbClr val="071837"/>
                </a:solidFill>
                <a:latin typeface="Aptos" panose="020B0004020202020204" pitchFamily="34" charset="0"/>
              </a:rPr>
              <a:t>ECC off</a:t>
            </a:r>
            <a:endParaRPr lang="zh-CN" altLang="en-US" sz="970" b="1">
              <a:solidFill>
                <a:srgbClr val="071837"/>
              </a:solidFill>
              <a:latin typeface="Aptos" panose="020B0004020202020204" pitchFamily="34" charset="0"/>
            </a:endParaRPr>
          </a:p>
        </p:txBody>
      </p:sp>
      <p:sp>
        <p:nvSpPr>
          <p:cNvPr id="37" name="abl-track2">
            <a:extLst>
              <a:ext uri="{FF2B5EF4-FFF2-40B4-BE49-F238E27FC236}">
                <a16:creationId xmlns:a16="http://schemas.microsoft.com/office/drawing/2014/main" id="{DE92F4FC-AAB0-17E3-3AF7-6F5EB8480419}"/>
              </a:ext>
            </a:extLst>
          </p:cNvPr>
          <p:cNvSpPr/>
          <p:nvPr/>
        </p:nvSpPr>
        <p:spPr>
          <a:xfrm>
            <a:off x="9525000" y="36576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abl-bar2">
            <a:extLst>
              <a:ext uri="{FF2B5EF4-FFF2-40B4-BE49-F238E27FC236}">
                <a16:creationId xmlns:a16="http://schemas.microsoft.com/office/drawing/2014/main" id="{AD901FB0-7CAF-FF50-2256-9C9F6CCF6E2F}"/>
              </a:ext>
            </a:extLst>
          </p:cNvPr>
          <p:cNvSpPr/>
          <p:nvPr/>
        </p:nvSpPr>
        <p:spPr>
          <a:xfrm>
            <a:off x="9525000" y="3657600"/>
            <a:ext cx="371475"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abl-l3">
            <a:extLst>
              <a:ext uri="{FF2B5EF4-FFF2-40B4-BE49-F238E27FC236}">
                <a16:creationId xmlns:a16="http://schemas.microsoft.com/office/drawing/2014/main" id="{6E6FE855-1D81-8895-3403-5B8024661282}"/>
              </a:ext>
            </a:extLst>
          </p:cNvPr>
          <p:cNvSpPr txBox="1"/>
          <p:nvPr/>
        </p:nvSpPr>
        <p:spPr>
          <a:xfrm>
            <a:off x="8458200" y="3937000"/>
            <a:ext cx="965200" cy="276999"/>
          </a:xfrm>
          <a:prstGeom prst="rect">
            <a:avLst/>
          </a:prstGeom>
          <a:noFill/>
        </p:spPr>
        <p:txBody>
          <a:bodyPr vert="horz" wrap="square" lIns="0" tIns="0" rIns="0" bIns="0" rtlCol="0">
            <a:noAutofit/>
          </a:bodyPr>
          <a:lstStyle/>
          <a:p>
            <a:r>
              <a:rPr lang="en-US" altLang="zh-CN" sz="970" b="1">
                <a:solidFill>
                  <a:srgbClr val="071837"/>
                </a:solidFill>
                <a:latin typeface="Aptos" panose="020B0004020202020204" pitchFamily="34" charset="0"/>
              </a:rPr>
              <a:t>unkeyed</a:t>
            </a:r>
            <a:endParaRPr lang="zh-CN" altLang="en-US" sz="970" b="1">
              <a:solidFill>
                <a:srgbClr val="071837"/>
              </a:solidFill>
              <a:latin typeface="Aptos" panose="020B0004020202020204" pitchFamily="34" charset="0"/>
            </a:endParaRPr>
          </a:p>
        </p:txBody>
      </p:sp>
      <p:sp>
        <p:nvSpPr>
          <p:cNvPr id="40" name="abl-track3">
            <a:extLst>
              <a:ext uri="{FF2B5EF4-FFF2-40B4-BE49-F238E27FC236}">
                <a16:creationId xmlns:a16="http://schemas.microsoft.com/office/drawing/2014/main" id="{94628465-5590-E946-20CC-CE5CF88935D8}"/>
              </a:ext>
            </a:extLst>
          </p:cNvPr>
          <p:cNvSpPr/>
          <p:nvPr/>
        </p:nvSpPr>
        <p:spPr>
          <a:xfrm>
            <a:off x="9525000" y="39624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abl-bar3">
            <a:extLst>
              <a:ext uri="{FF2B5EF4-FFF2-40B4-BE49-F238E27FC236}">
                <a16:creationId xmlns:a16="http://schemas.microsoft.com/office/drawing/2014/main" id="{1AF2922D-90A1-F3C8-8E49-96BA4D6B9425}"/>
              </a:ext>
            </a:extLst>
          </p:cNvPr>
          <p:cNvSpPr/>
          <p:nvPr/>
        </p:nvSpPr>
        <p:spPr>
          <a:xfrm>
            <a:off x="9525000" y="3962400"/>
            <a:ext cx="271463"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abl-l4">
            <a:extLst>
              <a:ext uri="{FF2B5EF4-FFF2-40B4-BE49-F238E27FC236}">
                <a16:creationId xmlns:a16="http://schemas.microsoft.com/office/drawing/2014/main" id="{6A0FE561-516B-C2FA-BE90-738A79102F0D}"/>
              </a:ext>
            </a:extLst>
          </p:cNvPr>
          <p:cNvSpPr txBox="1"/>
          <p:nvPr/>
        </p:nvSpPr>
        <p:spPr>
          <a:xfrm>
            <a:off x="8458200" y="4241800"/>
            <a:ext cx="965200" cy="276999"/>
          </a:xfrm>
          <a:prstGeom prst="rect">
            <a:avLst/>
          </a:prstGeom>
          <a:noFill/>
        </p:spPr>
        <p:txBody>
          <a:bodyPr vert="horz" wrap="square" lIns="0" tIns="0" rIns="0" bIns="0" rtlCol="0">
            <a:noAutofit/>
          </a:bodyPr>
          <a:lstStyle/>
          <a:p>
            <a:r>
              <a:rPr lang="en-US" altLang="zh-CN" sz="970" b="1">
                <a:solidFill>
                  <a:srgbClr val="071837"/>
                </a:solidFill>
                <a:latin typeface="Aptos" panose="020B0004020202020204" pitchFamily="34" charset="0"/>
              </a:rPr>
              <a:t>SSA only</a:t>
            </a:r>
            <a:endParaRPr lang="zh-CN" altLang="en-US" sz="970" b="1">
              <a:solidFill>
                <a:srgbClr val="071837"/>
              </a:solidFill>
              <a:latin typeface="Aptos" panose="020B0004020202020204" pitchFamily="34" charset="0"/>
            </a:endParaRPr>
          </a:p>
        </p:txBody>
      </p:sp>
      <p:sp>
        <p:nvSpPr>
          <p:cNvPr id="43" name="abl-track4">
            <a:extLst>
              <a:ext uri="{FF2B5EF4-FFF2-40B4-BE49-F238E27FC236}">
                <a16:creationId xmlns:a16="http://schemas.microsoft.com/office/drawing/2014/main" id="{D1FF3247-DA30-7689-0A7E-1354F8C172E3}"/>
              </a:ext>
            </a:extLst>
          </p:cNvPr>
          <p:cNvSpPr/>
          <p:nvPr/>
        </p:nvSpPr>
        <p:spPr>
          <a:xfrm>
            <a:off x="9525000" y="4267200"/>
            <a:ext cx="1143000" cy="1016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abl-bar4">
            <a:extLst>
              <a:ext uri="{FF2B5EF4-FFF2-40B4-BE49-F238E27FC236}">
                <a16:creationId xmlns:a16="http://schemas.microsoft.com/office/drawing/2014/main" id="{C0DBD2F3-744C-A004-76A8-C2373E70E8D4}"/>
              </a:ext>
            </a:extLst>
          </p:cNvPr>
          <p:cNvSpPr/>
          <p:nvPr/>
        </p:nvSpPr>
        <p:spPr>
          <a:xfrm>
            <a:off x="9525000" y="4267200"/>
            <a:ext cx="85725" cy="1016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sem-bound">
            <a:extLst>
              <a:ext uri="{FF2B5EF4-FFF2-40B4-BE49-F238E27FC236}">
                <a16:creationId xmlns:a16="http://schemas.microsoft.com/office/drawing/2014/main" id="{532BF35A-7543-4F84-B426-CFB59251C77C}"/>
              </a:ext>
            </a:extLst>
          </p:cNvPr>
          <p:cNvSpPr/>
          <p:nvPr/>
        </p:nvSpPr>
        <p:spPr>
          <a:xfrm>
            <a:off x="1879600" y="5359400"/>
            <a:ext cx="8432800" cy="4826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sem-bound-t">
            <a:extLst>
              <a:ext uri="{FF2B5EF4-FFF2-40B4-BE49-F238E27FC236}">
                <a16:creationId xmlns:a16="http://schemas.microsoft.com/office/drawing/2014/main" id="{6A4B42C8-2F30-9DE5-B045-852D7FB0933A}"/>
              </a:ext>
            </a:extLst>
          </p:cNvPr>
          <p:cNvSpPr txBox="1"/>
          <p:nvPr/>
        </p:nvSpPr>
        <p:spPr>
          <a:xfrm>
            <a:off x="2311400" y="5511800"/>
            <a:ext cx="7620000" cy="276999"/>
          </a:xfrm>
          <a:prstGeom prst="rect">
            <a:avLst/>
          </a:prstGeom>
          <a:noFill/>
        </p:spPr>
        <p:txBody>
          <a:bodyPr vert="horz" wrap="square" lIns="0" tIns="0" rIns="0" bIns="0" rtlCol="0">
            <a:noAutofit/>
          </a:bodyPr>
          <a:lstStyle/>
          <a:p>
            <a:r>
              <a:rPr lang="en-US" altLang="zh-CN" sz="1130" b="1">
                <a:solidFill>
                  <a:srgbClr val="071837"/>
                </a:solidFill>
                <a:latin typeface="Aptos" panose="020B0004020202020204" pitchFamily="34" charset="0"/>
              </a:rPr>
              <a:t>Claim boundary: admitted white-box cells, not universal natural-generation watermarking.</a:t>
            </a:r>
            <a:endParaRPr lang="zh-CN" altLang="en-US" sz="1130" b="1">
              <a:solidFill>
                <a:srgbClr val="071837"/>
              </a:solidFill>
              <a:latin typeface="Aptos" panose="020B0004020202020204" pitchFamily="34" charset="0"/>
            </a:endParaRPr>
          </a:p>
        </p:txBody>
      </p:sp>
      <p:sp>
        <p:nvSpPr>
          <p:cNvPr id="47" name="footer-hit-7">
            <a:hlinkClick r:id="rId4"/>
            <a:extLst>
              <a:ext uri="{FF2B5EF4-FFF2-40B4-BE49-F238E27FC236}">
                <a16:creationId xmlns:a16="http://schemas.microsoft.com/office/drawing/2014/main" id="{7F683EE7-1CE3-5A94-6EFB-6BB6BF8D42C1}"/>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71374641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par>
                          <p:cTn id="112" fill="hold">
                            <p:stCondLst>
                              <p:cond delay="4320"/>
                            </p:stCondLst>
                            <p:childTnLst>
                              <p:par>
                                <p:cTn id="113" presetID="10" presetClass="entr" presetSubtype="0" fill="hold" grpId="0" nodeType="afterEffect">
                                  <p:stCondLst>
                                    <p:cond delay="0"/>
                                  </p:stCondLst>
                                  <p:childTnLst>
                                    <p:set>
                                      <p:cBhvr>
                                        <p:cTn id="114" dur="1" fill="hold">
                                          <p:stCondLst>
                                            <p:cond delay="0"/>
                                          </p:stCondLst>
                                        </p:cTn>
                                        <p:tgtEl>
                                          <p:spTgt spid="40"/>
                                        </p:tgtEl>
                                        <p:attrNameLst>
                                          <p:attrName>style.visibility</p:attrName>
                                        </p:attrNameLst>
                                      </p:cBhvr>
                                      <p:to>
                                        <p:strVal val="visible"/>
                                      </p:to>
                                    </p:set>
                                    <p:animEffect transition="in" filter="fade">
                                      <p:cBhvr>
                                        <p:cTn id="115" dur="160"/>
                                        <p:tgtEl>
                                          <p:spTgt spid="40"/>
                                        </p:tgtEl>
                                      </p:cBhvr>
                                    </p:animEffect>
                                  </p:childTnLst>
                                </p:cTn>
                              </p:par>
                            </p:childTnLst>
                          </p:cTn>
                        </p:par>
                        <p:par>
                          <p:cTn id="116" fill="hold">
                            <p:stCondLst>
                              <p:cond delay="4480"/>
                            </p:stCondLst>
                            <p:childTnLst>
                              <p:par>
                                <p:cTn id="117" presetID="10" presetClass="entr" presetSubtype="0" fill="hold" grpId="0" nodeType="after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160"/>
                                        <p:tgtEl>
                                          <p:spTgt spid="41"/>
                                        </p:tgtEl>
                                      </p:cBhvr>
                                    </p:animEffect>
                                  </p:childTnLst>
                                </p:cTn>
                              </p:par>
                            </p:childTnLst>
                          </p:cTn>
                        </p:par>
                        <p:par>
                          <p:cTn id="120" fill="hold">
                            <p:stCondLst>
                              <p:cond delay="4640"/>
                            </p:stCondLst>
                            <p:childTnLst>
                              <p:par>
                                <p:cTn id="121" presetID="10" presetClass="entr" presetSubtype="0" fill="hold" grpId="0" nodeType="afterEffect">
                                  <p:stCondLst>
                                    <p:cond delay="0"/>
                                  </p:stCondLst>
                                  <p:childTnLst>
                                    <p:set>
                                      <p:cBhvr>
                                        <p:cTn id="122" dur="1" fill="hold">
                                          <p:stCondLst>
                                            <p:cond delay="0"/>
                                          </p:stCondLst>
                                        </p:cTn>
                                        <p:tgtEl>
                                          <p:spTgt spid="42"/>
                                        </p:tgtEl>
                                        <p:attrNameLst>
                                          <p:attrName>style.visibility</p:attrName>
                                        </p:attrNameLst>
                                      </p:cBhvr>
                                      <p:to>
                                        <p:strVal val="visible"/>
                                      </p:to>
                                    </p:set>
                                    <p:animEffect transition="in" filter="fade">
                                      <p:cBhvr>
                                        <p:cTn id="123" dur="160"/>
                                        <p:tgtEl>
                                          <p:spTgt spid="42"/>
                                        </p:tgtEl>
                                      </p:cBhvr>
                                    </p:animEffect>
                                  </p:childTnLst>
                                </p:cTn>
                              </p:par>
                            </p:childTnLst>
                          </p:cTn>
                        </p:par>
                        <p:par>
                          <p:cTn id="124" fill="hold">
                            <p:stCondLst>
                              <p:cond delay="4800"/>
                            </p:stCondLst>
                            <p:childTnLst>
                              <p:par>
                                <p:cTn id="125" presetID="10" presetClass="entr" presetSubtype="0" fill="hold" grpId="0" nodeType="after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160"/>
                                        <p:tgtEl>
                                          <p:spTgt spid="43"/>
                                        </p:tgtEl>
                                      </p:cBhvr>
                                    </p:animEffect>
                                  </p:childTnLst>
                                </p:cTn>
                              </p:par>
                            </p:childTnLst>
                          </p:cTn>
                        </p:par>
                        <p:par>
                          <p:cTn id="128" fill="hold">
                            <p:stCondLst>
                              <p:cond delay="4960"/>
                            </p:stCondLst>
                            <p:childTnLst>
                              <p:par>
                                <p:cTn id="129" presetID="10" presetClass="entr" presetSubtype="0" fill="hold" grpId="0" nodeType="after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160"/>
                                        <p:tgtEl>
                                          <p:spTgt spid="44"/>
                                        </p:tgtEl>
                                      </p:cBhvr>
                                    </p:animEffect>
                                  </p:childTnLst>
                                </p:cTn>
                              </p:par>
                            </p:childTnLst>
                          </p:cTn>
                        </p:par>
                        <p:par>
                          <p:cTn id="132" fill="hold">
                            <p:stCondLst>
                              <p:cond delay="5120"/>
                            </p:stCondLst>
                            <p:childTnLst>
                              <p:par>
                                <p:cTn id="133" presetID="10" presetClass="entr" presetSubtype="0" fill="hold" grpId="0" nodeType="afterEffect">
                                  <p:stCondLst>
                                    <p:cond delay="0"/>
                                  </p:stCondLst>
                                  <p:childTnLst>
                                    <p:set>
                                      <p:cBhvr>
                                        <p:cTn id="134" dur="1" fill="hold">
                                          <p:stCondLst>
                                            <p:cond delay="0"/>
                                          </p:stCondLst>
                                        </p:cTn>
                                        <p:tgtEl>
                                          <p:spTgt spid="45"/>
                                        </p:tgtEl>
                                        <p:attrNameLst>
                                          <p:attrName>style.visibility</p:attrName>
                                        </p:attrNameLst>
                                      </p:cBhvr>
                                      <p:to>
                                        <p:strVal val="visible"/>
                                      </p:to>
                                    </p:set>
                                    <p:animEffect transition="in" filter="fade">
                                      <p:cBhvr>
                                        <p:cTn id="135" dur="160"/>
                                        <p:tgtEl>
                                          <p:spTgt spid="45"/>
                                        </p:tgtEl>
                                      </p:cBhvr>
                                    </p:animEffect>
                                  </p:childTnLst>
                                </p:cTn>
                              </p:par>
                            </p:childTnLst>
                          </p:cTn>
                        </p:par>
                        <p:par>
                          <p:cTn id="136" fill="hold">
                            <p:stCondLst>
                              <p:cond delay="5280"/>
                            </p:stCondLst>
                            <p:childTnLst>
                              <p:par>
                                <p:cTn id="137" presetID="10" presetClass="entr" presetSubtype="0" fill="hold" grpId="0" nodeType="afterEffect">
                                  <p:stCondLst>
                                    <p:cond delay="0"/>
                                  </p:stCondLst>
                                  <p:childTnLst>
                                    <p:set>
                                      <p:cBhvr>
                                        <p:cTn id="138" dur="1" fill="hold">
                                          <p:stCondLst>
                                            <p:cond delay="0"/>
                                          </p:stCondLst>
                                        </p:cTn>
                                        <p:tgtEl>
                                          <p:spTgt spid="46"/>
                                        </p:tgtEl>
                                        <p:attrNameLst>
                                          <p:attrName>style.visibility</p:attrName>
                                        </p:attrNameLst>
                                      </p:cBhvr>
                                      <p:to>
                                        <p:strVal val="visible"/>
                                      </p:to>
                                    </p:set>
                                    <p:animEffect transition="in" filter="fade">
                                      <p:cBhvr>
                                        <p:cTn id="139" dur="16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animBg="1"/>
      <p:bldP spid="16" grpId="0"/>
      <p:bldP spid="17" grpId="0"/>
      <p:bldP spid="18" grpId="0"/>
      <p:bldP spid="19" grpId="0" animBg="1"/>
      <p:bldP spid="20" grpId="0" animBg="1"/>
      <p:bldP spid="21" grpId="0"/>
      <p:bldP spid="22" grpId="0"/>
      <p:bldP spid="23" grpId="0"/>
      <p:bldP spid="24" grpId="0" animBg="1"/>
      <p:bldP spid="25" grpId="0" animBg="1"/>
      <p:bldP spid="26" grpId="0"/>
      <p:bldP spid="27" grpId="0"/>
      <p:bldP spid="28" grpId="0" animBg="1"/>
      <p:bldP spid="29" grpId="0"/>
      <p:bldP spid="30" grpId="0"/>
      <p:bldP spid="31" grpId="0" animBg="1"/>
      <p:bldP spid="32" grpId="0" animBg="1"/>
      <p:bldP spid="33" grpId="0"/>
      <p:bldP spid="34" grpId="0" animBg="1"/>
      <p:bldP spid="35" grpId="0" animBg="1"/>
      <p:bldP spid="36" grpId="0"/>
      <p:bldP spid="37" grpId="0" animBg="1"/>
      <p:bldP spid="38" grpId="0" animBg="1"/>
      <p:bldP spid="39" grpId="0"/>
      <p:bldP spid="40" grpId="0" animBg="1"/>
      <p:bldP spid="41" grpId="0" animBg="1"/>
      <p:bldP spid="42" grpId="0"/>
      <p:bldP spid="43" grpId="0" animBg="1"/>
      <p:bldP spid="44" grpId="0" animBg="1"/>
      <p:bldP spid="45" grpId="0" animBg="1"/>
      <p:bldP spid="4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A724F07-7B99-1D4B-C698-2AB4E73E0F54}"/>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E45EED6F-7C98-0957-4F8C-47411906AFD1}"/>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8BC63FAA-8DF2-7051-4BF2-56C2279E8115}"/>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CODEDYE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DF00636C-8B78-D8BF-D85D-DEEC35BEF4E7}"/>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08</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D949130E-8096-9F4C-AD38-C0D01A828919}"/>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FEA1A0D2-B3CE-EA77-CF6C-EE4BB6C8BC00}"/>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65B80783-20D1-86A3-74F9-7B854A2A1829}"/>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7FE60825-D29A-AD65-C010-954E37EF52C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06E1E6BD-BEDF-8413-D1A7-FA924BE8AE3D}"/>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black-box audit is valuable because it refuses to overclaim.</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CF0A9F16-3807-4C9F-5440-B4DEFD4C5878}"/>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latest surface reports a null live signal with calibration and control separation.</a:t>
            </a:r>
            <a:endParaRPr lang="zh-CN" altLang="en-US" sz="1700">
              <a:solidFill>
                <a:srgbClr val="52617A"/>
              </a:solidFill>
              <a:latin typeface="Aptos" panose="020B0004020202020204" pitchFamily="34" charset="0"/>
            </a:endParaRPr>
          </a:p>
        </p:txBody>
      </p:sp>
      <p:sp>
        <p:nvSpPr>
          <p:cNvPr id="13" name="cd1-axis">
            <a:extLst>
              <a:ext uri="{FF2B5EF4-FFF2-40B4-BE49-F238E27FC236}">
                <a16:creationId xmlns:a16="http://schemas.microsoft.com/office/drawing/2014/main" id="{DBB9DD03-A33A-E071-5512-C980F5C40F63}"/>
              </a:ext>
            </a:extLst>
          </p:cNvPr>
          <p:cNvSpPr/>
          <p:nvPr/>
        </p:nvSpPr>
        <p:spPr>
          <a:xfrm>
            <a:off x="18034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cd1-track">
            <a:extLst>
              <a:ext uri="{FF2B5EF4-FFF2-40B4-BE49-F238E27FC236}">
                <a16:creationId xmlns:a16="http://schemas.microsoft.com/office/drawing/2014/main" id="{0B6E84F2-6EB9-049C-841C-6F8B5789EAC8}"/>
              </a:ext>
            </a:extLst>
          </p:cNvPr>
          <p:cNvSpPr/>
          <p:nvPr/>
        </p:nvSpPr>
        <p:spPr>
          <a:xfrm>
            <a:off x="20320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cd1-bar">
            <a:extLst>
              <a:ext uri="{FF2B5EF4-FFF2-40B4-BE49-F238E27FC236}">
                <a16:creationId xmlns:a16="http://schemas.microsoft.com/office/drawing/2014/main" id="{CC500D5C-58D0-0D1F-EFBB-28822C78B24A}"/>
              </a:ext>
            </a:extLst>
          </p:cNvPr>
          <p:cNvSpPr/>
          <p:nvPr/>
        </p:nvSpPr>
        <p:spPr>
          <a:xfrm>
            <a:off x="2032000" y="4876800"/>
            <a:ext cx="558800" cy="25400"/>
          </a:xfrm>
          <a:prstGeom prst="roundRect">
            <a:avLst>
              <a:gd name="adj" fmla="val 14000"/>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cd1-value">
            <a:extLst>
              <a:ext uri="{FF2B5EF4-FFF2-40B4-BE49-F238E27FC236}">
                <a16:creationId xmlns:a16="http://schemas.microsoft.com/office/drawing/2014/main" id="{4278F468-7FE8-5DE0-7D41-93365F5B5FCB}"/>
              </a:ext>
            </a:extLst>
          </p:cNvPr>
          <p:cNvSpPr txBox="1"/>
          <p:nvPr/>
        </p:nvSpPr>
        <p:spPr>
          <a:xfrm>
            <a:off x="1651000" y="2489200"/>
            <a:ext cx="1320800" cy="276999"/>
          </a:xfrm>
          <a:prstGeom prst="rect">
            <a:avLst/>
          </a:prstGeom>
          <a:noFill/>
        </p:spPr>
        <p:txBody>
          <a:bodyPr vert="horz" wrap="square" lIns="0" tIns="0" rIns="0" bIns="0" rtlCol="0">
            <a:noAutofit/>
          </a:bodyPr>
          <a:lstStyle/>
          <a:p>
            <a:pPr algn="ctr"/>
            <a:r>
              <a:rPr lang="en-US" altLang="zh-CN" sz="1350" b="1">
                <a:solidFill>
                  <a:srgbClr val="5B45C8"/>
                </a:solidFill>
                <a:latin typeface="Aptos" panose="020B0004020202020204" pitchFamily="34" charset="0"/>
              </a:rPr>
              <a:t>0/300</a:t>
            </a:r>
            <a:endParaRPr lang="zh-CN" altLang="en-US" sz="1350" b="1">
              <a:solidFill>
                <a:srgbClr val="5B45C8"/>
              </a:solidFill>
              <a:latin typeface="Aptos" panose="020B0004020202020204" pitchFamily="34" charset="0"/>
            </a:endParaRPr>
          </a:p>
        </p:txBody>
      </p:sp>
      <p:sp>
        <p:nvSpPr>
          <p:cNvPr id="17" name="cd1-label">
            <a:extLst>
              <a:ext uri="{FF2B5EF4-FFF2-40B4-BE49-F238E27FC236}">
                <a16:creationId xmlns:a16="http://schemas.microsoft.com/office/drawing/2014/main" id="{2B5DB056-4DDF-6B96-C7B7-60ADDDEFED57}"/>
              </a:ext>
            </a:extLst>
          </p:cNvPr>
          <p:cNvSpPr txBox="1"/>
          <p:nvPr/>
        </p:nvSpPr>
        <p:spPr>
          <a:xfrm>
            <a:off x="1574800" y="5054600"/>
            <a:ext cx="1473200" cy="276999"/>
          </a:xfrm>
          <a:prstGeom prst="rect">
            <a:avLst/>
          </a:prstGeom>
          <a:noFill/>
        </p:spPr>
        <p:txBody>
          <a:bodyPr vert="horz" wrap="square" lIns="0" tIns="0" rIns="0" bIns="0" rtlCol="0">
            <a:noAutofit/>
          </a:bodyPr>
          <a:lstStyle/>
          <a:p>
            <a:pPr algn="ctr"/>
            <a:r>
              <a:rPr lang="en-US" altLang="zh-CN" sz="1050" b="1">
                <a:solidFill>
                  <a:srgbClr val="071837"/>
                </a:solidFill>
                <a:latin typeface="Aptos" panose="020B0004020202020204" pitchFamily="34" charset="0"/>
              </a:rPr>
              <a:t>fresh live</a:t>
            </a:r>
            <a:endParaRPr lang="zh-CN" altLang="en-US" sz="1050" b="1">
              <a:solidFill>
                <a:srgbClr val="071837"/>
              </a:solidFill>
              <a:latin typeface="Aptos" panose="020B0004020202020204" pitchFamily="34" charset="0"/>
            </a:endParaRPr>
          </a:p>
        </p:txBody>
      </p:sp>
      <p:sp>
        <p:nvSpPr>
          <p:cNvPr id="18" name="cd2-axis">
            <a:extLst>
              <a:ext uri="{FF2B5EF4-FFF2-40B4-BE49-F238E27FC236}">
                <a16:creationId xmlns:a16="http://schemas.microsoft.com/office/drawing/2014/main" id="{D40607A3-0EB4-896D-CF58-46E342B8A277}"/>
              </a:ext>
            </a:extLst>
          </p:cNvPr>
          <p:cNvSpPr/>
          <p:nvPr/>
        </p:nvSpPr>
        <p:spPr>
          <a:xfrm>
            <a:off x="38354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d2-track">
            <a:extLst>
              <a:ext uri="{FF2B5EF4-FFF2-40B4-BE49-F238E27FC236}">
                <a16:creationId xmlns:a16="http://schemas.microsoft.com/office/drawing/2014/main" id="{6AA4BF69-B366-BB6E-5A7B-1FF903257C84}"/>
              </a:ext>
            </a:extLst>
          </p:cNvPr>
          <p:cNvSpPr/>
          <p:nvPr/>
        </p:nvSpPr>
        <p:spPr>
          <a:xfrm>
            <a:off x="40640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cd2-bar">
            <a:extLst>
              <a:ext uri="{FF2B5EF4-FFF2-40B4-BE49-F238E27FC236}">
                <a16:creationId xmlns:a16="http://schemas.microsoft.com/office/drawing/2014/main" id="{4114434D-5547-C52D-E3C1-4869F38C6A9A}"/>
              </a:ext>
            </a:extLst>
          </p:cNvPr>
          <p:cNvSpPr/>
          <p:nvPr/>
        </p:nvSpPr>
        <p:spPr>
          <a:xfrm>
            <a:off x="4064000" y="2870200"/>
            <a:ext cx="558800" cy="20320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d2-value">
            <a:extLst>
              <a:ext uri="{FF2B5EF4-FFF2-40B4-BE49-F238E27FC236}">
                <a16:creationId xmlns:a16="http://schemas.microsoft.com/office/drawing/2014/main" id="{8A3C2CCE-0EA8-D6FD-DA20-2C3B93FC9509}"/>
              </a:ext>
            </a:extLst>
          </p:cNvPr>
          <p:cNvSpPr txBox="1"/>
          <p:nvPr/>
        </p:nvSpPr>
        <p:spPr>
          <a:xfrm>
            <a:off x="3683000" y="2489200"/>
            <a:ext cx="1320800" cy="276999"/>
          </a:xfrm>
          <a:prstGeom prst="rect">
            <a:avLst/>
          </a:prstGeom>
          <a:noFill/>
        </p:spPr>
        <p:txBody>
          <a:bodyPr vert="horz" wrap="square" lIns="0" tIns="0" rIns="0" bIns="0" rtlCol="0">
            <a:noAutofit/>
          </a:bodyPr>
          <a:lstStyle/>
          <a:p>
            <a:pPr algn="ctr"/>
            <a:r>
              <a:rPr lang="en-US" altLang="zh-CN" sz="1350" b="1">
                <a:solidFill>
                  <a:srgbClr val="1F7A4D"/>
                </a:solidFill>
                <a:latin typeface="Aptos" panose="020B0004020202020204" pitchFamily="34" charset="0"/>
              </a:rPr>
              <a:t>272/300</a:t>
            </a:r>
            <a:endParaRPr lang="zh-CN" altLang="en-US" sz="1350" b="1">
              <a:solidFill>
                <a:srgbClr val="1F7A4D"/>
              </a:solidFill>
              <a:latin typeface="Aptos" panose="020B0004020202020204" pitchFamily="34" charset="0"/>
            </a:endParaRPr>
          </a:p>
        </p:txBody>
      </p:sp>
      <p:sp>
        <p:nvSpPr>
          <p:cNvPr id="22" name="cd2-label">
            <a:extLst>
              <a:ext uri="{FF2B5EF4-FFF2-40B4-BE49-F238E27FC236}">
                <a16:creationId xmlns:a16="http://schemas.microsoft.com/office/drawing/2014/main" id="{43D90608-42FF-4B49-C0F4-DAE731F0C4C2}"/>
              </a:ext>
            </a:extLst>
          </p:cNvPr>
          <p:cNvSpPr txBox="1"/>
          <p:nvPr/>
        </p:nvSpPr>
        <p:spPr>
          <a:xfrm>
            <a:off x="3606800" y="5054600"/>
            <a:ext cx="1473200" cy="276999"/>
          </a:xfrm>
          <a:prstGeom prst="rect">
            <a:avLst/>
          </a:prstGeom>
          <a:noFill/>
        </p:spPr>
        <p:txBody>
          <a:bodyPr vert="horz" wrap="square" lIns="0" tIns="0" rIns="0" bIns="0" rtlCol="0">
            <a:noAutofit/>
          </a:bodyPr>
          <a:lstStyle/>
          <a:p>
            <a:pPr algn="ctr"/>
            <a:r>
              <a:rPr lang="en-US" altLang="zh-CN" sz="1050" b="1">
                <a:solidFill>
                  <a:srgbClr val="071837"/>
                </a:solidFill>
                <a:latin typeface="Aptos" panose="020B0004020202020204" pitchFamily="34" charset="0"/>
              </a:rPr>
              <a:t>positive memory</a:t>
            </a:r>
            <a:endParaRPr lang="zh-CN" altLang="en-US" sz="1050" b="1">
              <a:solidFill>
                <a:srgbClr val="071837"/>
              </a:solidFill>
              <a:latin typeface="Aptos" panose="020B0004020202020204" pitchFamily="34" charset="0"/>
            </a:endParaRPr>
          </a:p>
        </p:txBody>
      </p:sp>
      <p:sp>
        <p:nvSpPr>
          <p:cNvPr id="23" name="cd3-axis">
            <a:extLst>
              <a:ext uri="{FF2B5EF4-FFF2-40B4-BE49-F238E27FC236}">
                <a16:creationId xmlns:a16="http://schemas.microsoft.com/office/drawing/2014/main" id="{AC442D8F-5014-5B55-054F-2136114CC4AD}"/>
              </a:ext>
            </a:extLst>
          </p:cNvPr>
          <p:cNvSpPr/>
          <p:nvPr/>
        </p:nvSpPr>
        <p:spPr>
          <a:xfrm>
            <a:off x="58674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cd3-track">
            <a:extLst>
              <a:ext uri="{FF2B5EF4-FFF2-40B4-BE49-F238E27FC236}">
                <a16:creationId xmlns:a16="http://schemas.microsoft.com/office/drawing/2014/main" id="{E4E03035-9FAD-4F3E-03E7-75138DAEF0F7}"/>
              </a:ext>
            </a:extLst>
          </p:cNvPr>
          <p:cNvSpPr/>
          <p:nvPr/>
        </p:nvSpPr>
        <p:spPr>
          <a:xfrm>
            <a:off x="60960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cd3-bar">
            <a:extLst>
              <a:ext uri="{FF2B5EF4-FFF2-40B4-BE49-F238E27FC236}">
                <a16:creationId xmlns:a16="http://schemas.microsoft.com/office/drawing/2014/main" id="{0E9A1A74-D12E-00F2-82A9-09EC6723615E}"/>
              </a:ext>
            </a:extLst>
          </p:cNvPr>
          <p:cNvSpPr/>
          <p:nvPr/>
        </p:nvSpPr>
        <p:spPr>
          <a:xfrm>
            <a:off x="6096000" y="4876800"/>
            <a:ext cx="558800" cy="254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cd3-value">
            <a:extLst>
              <a:ext uri="{FF2B5EF4-FFF2-40B4-BE49-F238E27FC236}">
                <a16:creationId xmlns:a16="http://schemas.microsoft.com/office/drawing/2014/main" id="{EAE9609A-C1CD-F62D-1BBE-3954AEBD7DD5}"/>
              </a:ext>
            </a:extLst>
          </p:cNvPr>
          <p:cNvSpPr txBox="1"/>
          <p:nvPr/>
        </p:nvSpPr>
        <p:spPr>
          <a:xfrm>
            <a:off x="5715000" y="2489200"/>
            <a:ext cx="1320800" cy="276999"/>
          </a:xfrm>
          <a:prstGeom prst="rect">
            <a:avLst/>
          </a:prstGeom>
          <a:noFill/>
        </p:spPr>
        <p:txBody>
          <a:bodyPr vert="horz" wrap="square" lIns="0" tIns="0" rIns="0" bIns="0" rtlCol="0">
            <a:noAutofit/>
          </a:bodyPr>
          <a:lstStyle/>
          <a:p>
            <a:pPr algn="ctr"/>
            <a:r>
              <a:rPr lang="en-US" altLang="zh-CN" sz="1350" b="1">
                <a:solidFill>
                  <a:srgbClr val="B92C41"/>
                </a:solidFill>
                <a:latin typeface="Aptos" panose="020B0004020202020204" pitchFamily="34" charset="0"/>
              </a:rPr>
              <a:t>0/300</a:t>
            </a:r>
            <a:endParaRPr lang="zh-CN" altLang="en-US" sz="1350" b="1">
              <a:solidFill>
                <a:srgbClr val="B92C41"/>
              </a:solidFill>
              <a:latin typeface="Aptos" panose="020B0004020202020204" pitchFamily="34" charset="0"/>
            </a:endParaRPr>
          </a:p>
        </p:txBody>
      </p:sp>
      <p:sp>
        <p:nvSpPr>
          <p:cNvPr id="27" name="cd3-label">
            <a:extLst>
              <a:ext uri="{FF2B5EF4-FFF2-40B4-BE49-F238E27FC236}">
                <a16:creationId xmlns:a16="http://schemas.microsoft.com/office/drawing/2014/main" id="{579B3E80-1CCF-858C-E558-313C7D10D0B2}"/>
              </a:ext>
            </a:extLst>
          </p:cNvPr>
          <p:cNvSpPr txBox="1"/>
          <p:nvPr/>
        </p:nvSpPr>
        <p:spPr>
          <a:xfrm>
            <a:off x="5638800" y="5054600"/>
            <a:ext cx="1473200" cy="276999"/>
          </a:xfrm>
          <a:prstGeom prst="rect">
            <a:avLst/>
          </a:prstGeom>
          <a:noFill/>
        </p:spPr>
        <p:txBody>
          <a:bodyPr vert="horz" wrap="square" lIns="0" tIns="0" rIns="0" bIns="0" rtlCol="0">
            <a:noAutofit/>
          </a:bodyPr>
          <a:lstStyle/>
          <a:p>
            <a:pPr algn="ctr"/>
            <a:r>
              <a:rPr lang="en-US" altLang="zh-CN" sz="1050" b="1">
                <a:solidFill>
                  <a:srgbClr val="071837"/>
                </a:solidFill>
                <a:latin typeface="Aptos" panose="020B0004020202020204" pitchFamily="34" charset="0"/>
              </a:rPr>
              <a:t>negative control</a:t>
            </a:r>
            <a:endParaRPr lang="zh-CN" altLang="en-US" sz="1050" b="1">
              <a:solidFill>
                <a:srgbClr val="071837"/>
              </a:solidFill>
              <a:latin typeface="Aptos" panose="020B0004020202020204" pitchFamily="34" charset="0"/>
            </a:endParaRPr>
          </a:p>
        </p:txBody>
      </p:sp>
      <p:sp>
        <p:nvSpPr>
          <p:cNvPr id="28" name="cd4-axis">
            <a:extLst>
              <a:ext uri="{FF2B5EF4-FFF2-40B4-BE49-F238E27FC236}">
                <a16:creationId xmlns:a16="http://schemas.microsoft.com/office/drawing/2014/main" id="{00BBF6AF-309B-AD9A-C089-03665E9D6112}"/>
              </a:ext>
            </a:extLst>
          </p:cNvPr>
          <p:cNvSpPr/>
          <p:nvPr/>
        </p:nvSpPr>
        <p:spPr>
          <a:xfrm>
            <a:off x="7899400" y="2870200"/>
            <a:ext cx="12700" cy="2032000"/>
          </a:xfrm>
          <a:prstGeom prst="rect">
            <a:avLst/>
          </a:prstGeom>
          <a:solidFill>
            <a:srgbClr val="D7E2F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cd4-track">
            <a:extLst>
              <a:ext uri="{FF2B5EF4-FFF2-40B4-BE49-F238E27FC236}">
                <a16:creationId xmlns:a16="http://schemas.microsoft.com/office/drawing/2014/main" id="{D1616F0A-9B7E-10B5-4B72-DB77FE4C804E}"/>
              </a:ext>
            </a:extLst>
          </p:cNvPr>
          <p:cNvSpPr/>
          <p:nvPr/>
        </p:nvSpPr>
        <p:spPr>
          <a:xfrm>
            <a:off x="8128000" y="2870200"/>
            <a:ext cx="558800" cy="20320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cd4-bar">
            <a:extLst>
              <a:ext uri="{FF2B5EF4-FFF2-40B4-BE49-F238E27FC236}">
                <a16:creationId xmlns:a16="http://schemas.microsoft.com/office/drawing/2014/main" id="{E5D2E25A-5CC6-741A-BCCA-999FCAE2A7B8}"/>
              </a:ext>
            </a:extLst>
          </p:cNvPr>
          <p:cNvSpPr/>
          <p:nvPr/>
        </p:nvSpPr>
        <p:spPr>
          <a:xfrm>
            <a:off x="8128000" y="4876800"/>
            <a:ext cx="558800" cy="254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cd4-value">
            <a:extLst>
              <a:ext uri="{FF2B5EF4-FFF2-40B4-BE49-F238E27FC236}">
                <a16:creationId xmlns:a16="http://schemas.microsoft.com/office/drawing/2014/main" id="{9987E907-3C8C-729C-FDFC-6612E58F2D1A}"/>
              </a:ext>
            </a:extLst>
          </p:cNvPr>
          <p:cNvSpPr txBox="1"/>
          <p:nvPr/>
        </p:nvSpPr>
        <p:spPr>
          <a:xfrm>
            <a:off x="7747000" y="2489200"/>
            <a:ext cx="1320800" cy="276999"/>
          </a:xfrm>
          <a:prstGeom prst="rect">
            <a:avLst/>
          </a:prstGeom>
          <a:noFill/>
        </p:spPr>
        <p:txBody>
          <a:bodyPr vert="horz" wrap="square" lIns="0" tIns="0" rIns="0" bIns="0" rtlCol="0">
            <a:noAutofit/>
          </a:bodyPr>
          <a:lstStyle/>
          <a:p>
            <a:pPr algn="ctr"/>
            <a:r>
              <a:rPr lang="en-US" altLang="zh-CN" sz="1350" b="1">
                <a:solidFill>
                  <a:srgbClr val="B92C41"/>
                </a:solidFill>
                <a:latin typeface="Aptos" panose="020B0004020202020204" pitchFamily="34" charset="0"/>
              </a:rPr>
              <a:t>0/300</a:t>
            </a:r>
            <a:endParaRPr lang="zh-CN" altLang="en-US" sz="1350" b="1">
              <a:solidFill>
                <a:srgbClr val="B92C41"/>
              </a:solidFill>
              <a:latin typeface="Aptos" panose="020B0004020202020204" pitchFamily="34" charset="0"/>
            </a:endParaRPr>
          </a:p>
        </p:txBody>
      </p:sp>
      <p:sp>
        <p:nvSpPr>
          <p:cNvPr id="32" name="cd4-label">
            <a:extLst>
              <a:ext uri="{FF2B5EF4-FFF2-40B4-BE49-F238E27FC236}">
                <a16:creationId xmlns:a16="http://schemas.microsoft.com/office/drawing/2014/main" id="{35FE11C0-E00A-3899-7893-7524D27B3FBF}"/>
              </a:ext>
            </a:extLst>
          </p:cNvPr>
          <p:cNvSpPr txBox="1"/>
          <p:nvPr/>
        </p:nvSpPr>
        <p:spPr>
          <a:xfrm>
            <a:off x="7670800" y="5054600"/>
            <a:ext cx="1473200" cy="276999"/>
          </a:xfrm>
          <a:prstGeom prst="rect">
            <a:avLst/>
          </a:prstGeom>
          <a:noFill/>
        </p:spPr>
        <p:txBody>
          <a:bodyPr vert="horz" wrap="square" lIns="0" tIns="0" rIns="0" bIns="0" rtlCol="0">
            <a:noAutofit/>
          </a:bodyPr>
          <a:lstStyle/>
          <a:p>
            <a:pPr algn="ctr"/>
            <a:r>
              <a:rPr lang="en-US" altLang="zh-CN" sz="1050" b="1">
                <a:solidFill>
                  <a:srgbClr val="071837"/>
                </a:solidFill>
                <a:latin typeface="Aptos" panose="020B0004020202020204" pitchFamily="34" charset="0"/>
              </a:rPr>
              <a:t>retrieval control</a:t>
            </a:r>
            <a:endParaRPr lang="zh-CN" altLang="en-US" sz="1050" b="1">
              <a:solidFill>
                <a:srgbClr val="071837"/>
              </a:solidFill>
              <a:latin typeface="Aptos" panose="020B0004020202020204" pitchFamily="34" charset="0"/>
            </a:endParaRPr>
          </a:p>
        </p:txBody>
      </p:sp>
      <p:sp>
        <p:nvSpPr>
          <p:cNvPr id="33" name="cd-box">
            <a:extLst>
              <a:ext uri="{FF2B5EF4-FFF2-40B4-BE49-F238E27FC236}">
                <a16:creationId xmlns:a16="http://schemas.microsoft.com/office/drawing/2014/main" id="{8E431D55-9A09-E361-41A3-6162E889D1D4}"/>
              </a:ext>
            </a:extLst>
          </p:cNvPr>
          <p:cNvSpPr/>
          <p:nvPr/>
        </p:nvSpPr>
        <p:spPr>
          <a:xfrm>
            <a:off x="8940800" y="2387600"/>
            <a:ext cx="2209800" cy="18034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cd-box-k">
            <a:extLst>
              <a:ext uri="{FF2B5EF4-FFF2-40B4-BE49-F238E27FC236}">
                <a16:creationId xmlns:a16="http://schemas.microsoft.com/office/drawing/2014/main" id="{FAA529E6-077C-30FF-63F8-88A75129D260}"/>
              </a:ext>
            </a:extLst>
          </p:cNvPr>
          <p:cNvSpPr txBox="1"/>
          <p:nvPr/>
        </p:nvSpPr>
        <p:spPr>
          <a:xfrm>
            <a:off x="9245600" y="2717800"/>
            <a:ext cx="1549400" cy="276999"/>
          </a:xfrm>
          <a:prstGeom prst="rect">
            <a:avLst/>
          </a:prstGeom>
          <a:noFill/>
        </p:spPr>
        <p:txBody>
          <a:bodyPr vert="horz" wrap="square" lIns="0" tIns="0" rIns="0" bIns="0" rtlCol="0">
            <a:noAutofit/>
          </a:bodyPr>
          <a:lstStyle/>
          <a:p>
            <a:r>
              <a:rPr lang="en-US" altLang="zh-CN" sz="1220" b="1">
                <a:solidFill>
                  <a:srgbClr val="B85C00"/>
                </a:solidFill>
                <a:latin typeface="Aptos" panose="020B0004020202020204" pitchFamily="34" charset="0"/>
              </a:rPr>
              <a:t>safe reading</a:t>
            </a:r>
            <a:endParaRPr lang="zh-CN" altLang="en-US" sz="1220" b="1">
              <a:solidFill>
                <a:srgbClr val="B85C00"/>
              </a:solidFill>
              <a:latin typeface="Aptos" panose="020B0004020202020204" pitchFamily="34" charset="0"/>
            </a:endParaRPr>
          </a:p>
        </p:txBody>
      </p:sp>
      <p:sp>
        <p:nvSpPr>
          <p:cNvPr id="35" name="cd-box-t">
            <a:extLst>
              <a:ext uri="{FF2B5EF4-FFF2-40B4-BE49-F238E27FC236}">
                <a16:creationId xmlns:a16="http://schemas.microsoft.com/office/drawing/2014/main" id="{E9CE48C8-7F03-5A5A-75B4-6015DADCD980}"/>
              </a:ext>
            </a:extLst>
          </p:cNvPr>
          <p:cNvSpPr txBox="1"/>
          <p:nvPr/>
        </p:nvSpPr>
        <p:spPr>
          <a:xfrm>
            <a:off x="9245600" y="3200400"/>
            <a:ext cx="1447800" cy="276999"/>
          </a:xfrm>
          <a:prstGeom prst="rect">
            <a:avLst/>
          </a:prstGeom>
          <a:noFill/>
        </p:spPr>
        <p:txBody>
          <a:bodyPr vert="horz" wrap="square" lIns="0" tIns="0" rIns="0" bIns="0" rtlCol="0">
            <a:noAutofit/>
          </a:bodyPr>
          <a:lstStyle/>
          <a:p>
            <a:r>
              <a:rPr lang="en-US" altLang="zh-CN" sz="2200" b="1">
                <a:solidFill>
                  <a:srgbClr val="071837"/>
                </a:solidFill>
                <a:latin typeface="Aptos" panose="020B0004020202020204" pitchFamily="34" charset="0"/>
              </a:rPr>
              <a:t>null-audit
evidence</a:t>
            </a:r>
            <a:endParaRPr lang="zh-CN" altLang="en-US" sz="2200" b="1">
              <a:solidFill>
                <a:srgbClr val="071837"/>
              </a:solidFill>
              <a:latin typeface="Aptos" panose="020B0004020202020204" pitchFamily="34" charset="0"/>
            </a:endParaRPr>
          </a:p>
        </p:txBody>
      </p:sp>
      <p:sp>
        <p:nvSpPr>
          <p:cNvPr id="36" name="cd-box-s">
            <a:extLst>
              <a:ext uri="{FF2B5EF4-FFF2-40B4-BE49-F238E27FC236}">
                <a16:creationId xmlns:a16="http://schemas.microsoft.com/office/drawing/2014/main" id="{2615ADCE-6BCB-857E-B08E-4F4B51DF894B}"/>
              </a:ext>
            </a:extLst>
          </p:cNvPr>
          <p:cNvSpPr txBox="1"/>
          <p:nvPr/>
        </p:nvSpPr>
        <p:spPr>
          <a:xfrm>
            <a:off x="9245600" y="3937000"/>
            <a:ext cx="15494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not prevalence or accusation</a:t>
            </a:r>
            <a:endParaRPr lang="zh-CN" altLang="en-US" sz="1050" b="1">
              <a:solidFill>
                <a:srgbClr val="52617A"/>
              </a:solidFill>
              <a:latin typeface="Aptos" panose="020B0004020202020204" pitchFamily="34" charset="0"/>
            </a:endParaRPr>
          </a:p>
        </p:txBody>
      </p:sp>
      <p:sp>
        <p:nvSpPr>
          <p:cNvPr id="37" name="footer-hit-8">
            <a:hlinkClick r:id="rId4"/>
            <a:extLst>
              <a:ext uri="{FF2B5EF4-FFF2-40B4-BE49-F238E27FC236}">
                <a16:creationId xmlns:a16="http://schemas.microsoft.com/office/drawing/2014/main" id="{A5911195-9078-51AA-22E2-0926237678DF}"/>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3638829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animBg="1"/>
      <p:bldP spid="19" grpId="0" animBg="1"/>
      <p:bldP spid="20" grpId="0" animBg="1"/>
      <p:bldP spid="21" grpId="0"/>
      <p:bldP spid="22" grpId="0"/>
      <p:bldP spid="23" grpId="0" animBg="1"/>
      <p:bldP spid="24" grpId="0" animBg="1"/>
      <p:bldP spid="25" grpId="0" animBg="1"/>
      <p:bldP spid="26" grpId="0"/>
      <p:bldP spid="27" grpId="0"/>
      <p:bldP spid="28" grpId="0" animBg="1"/>
      <p:bldP spid="29" grpId="0" animBg="1"/>
      <p:bldP spid="30" grpId="0" animBg="1"/>
      <p:bldP spid="31" grpId="0"/>
      <p:bldP spid="32" grpId="0"/>
      <p:bldP spid="33" grpId="0" animBg="1"/>
      <p:bldP spid="34"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7AC0F95D-03FE-C5FB-B14E-ED65037F2349}"/>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D450C47-B883-467D-AF30-9A1266723945}"/>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B49BDC03-1923-4D0C-49E6-1036428F6A81}"/>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PROBETRACE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D031924A-AC6E-7C66-0794-EED5238AA307}"/>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09</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7637B2BC-9FFA-F1AC-3CFF-2982EFBAAFB3}"/>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25736478-36E0-20F0-2DE7-B0EE1D8ABD38}"/>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45321307-55D7-54AD-A362-A6ACFE3D1DC1}"/>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4B6D0D1A-39C1-E50D-6244-AF8ABB903E2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3A1EC817-227A-FDF9-5F4C-36A4CAC4A42C}"/>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Owner attribution works only inside the registered source boundary.</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FEB7E6D7-474A-7A3B-DF55-7EF8973356E9}"/>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continuation surface separates true-owner positives from wrong, null, random, and same-provider controls.</a:t>
            </a:r>
            <a:endParaRPr lang="zh-CN" altLang="en-US" sz="1700">
              <a:solidFill>
                <a:srgbClr val="52617A"/>
              </a:solidFill>
              <a:latin typeface="Aptos" panose="020B0004020202020204" pitchFamily="34" charset="0"/>
            </a:endParaRPr>
          </a:p>
        </p:txBody>
      </p:sp>
      <p:sp>
        <p:nvSpPr>
          <p:cNvPr id="13" name="pt-left">
            <a:extLst>
              <a:ext uri="{FF2B5EF4-FFF2-40B4-BE49-F238E27FC236}">
                <a16:creationId xmlns:a16="http://schemas.microsoft.com/office/drawing/2014/main" id="{8ED4B0BC-CEEB-0E51-9FE9-69DFB3210A55}"/>
              </a:ext>
            </a:extLst>
          </p:cNvPr>
          <p:cNvSpPr/>
          <p:nvPr/>
        </p:nvSpPr>
        <p:spPr>
          <a:xfrm>
            <a:off x="1041400" y="2286000"/>
            <a:ext cx="4013200" cy="2921000"/>
          </a:xfrm>
          <a:prstGeom prst="roundRect">
            <a:avLst>
              <a:gd name="adj" fmla="val 14000"/>
            </a:avLst>
          </a:prstGeom>
          <a:solidFill>
            <a:srgbClr val="003B7A"/>
          </a:solidFill>
          <a:ln w="10160" cap="flat" cmpd="sng" algn="ctr">
            <a:solidFill>
              <a:srgbClr val="003B7A">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t-k">
            <a:extLst>
              <a:ext uri="{FF2B5EF4-FFF2-40B4-BE49-F238E27FC236}">
                <a16:creationId xmlns:a16="http://schemas.microsoft.com/office/drawing/2014/main" id="{6A64D5AF-7B85-4006-C25F-5B52C7925A33}"/>
              </a:ext>
            </a:extLst>
          </p:cNvPr>
          <p:cNvSpPr txBox="1"/>
          <p:nvPr/>
        </p:nvSpPr>
        <p:spPr>
          <a:xfrm>
            <a:off x="1473200" y="2717800"/>
            <a:ext cx="2159000" cy="276999"/>
          </a:xfrm>
          <a:prstGeom prst="rect">
            <a:avLst/>
          </a:prstGeom>
          <a:noFill/>
        </p:spPr>
        <p:txBody>
          <a:bodyPr vert="horz" wrap="square" lIns="0" tIns="0" rIns="0" bIns="0" rtlCol="0">
            <a:noAutofit/>
          </a:bodyPr>
          <a:lstStyle/>
          <a:p>
            <a:r>
              <a:rPr lang="en-US" altLang="zh-CN" sz="1250" b="1">
                <a:solidFill>
                  <a:srgbClr val="CDE2FA"/>
                </a:solidFill>
                <a:latin typeface="Aptos" panose="020B0004020202020204" pitchFamily="34" charset="0"/>
              </a:rPr>
              <a:t>true owner positives</a:t>
            </a:r>
            <a:endParaRPr lang="zh-CN" altLang="en-US" sz="1250" b="1">
              <a:solidFill>
                <a:srgbClr val="CDE2FA"/>
              </a:solidFill>
              <a:latin typeface="Aptos" panose="020B0004020202020204" pitchFamily="34" charset="0"/>
            </a:endParaRPr>
          </a:p>
        </p:txBody>
      </p:sp>
      <p:sp>
        <p:nvSpPr>
          <p:cNvPr id="15" name="pt-v">
            <a:extLst>
              <a:ext uri="{FF2B5EF4-FFF2-40B4-BE49-F238E27FC236}">
                <a16:creationId xmlns:a16="http://schemas.microsoft.com/office/drawing/2014/main" id="{10FA86DB-1737-7038-E7E8-3D83704FF477}"/>
              </a:ext>
            </a:extLst>
          </p:cNvPr>
          <p:cNvSpPr txBox="1"/>
          <p:nvPr/>
        </p:nvSpPr>
        <p:spPr>
          <a:xfrm>
            <a:off x="1447800" y="3327400"/>
            <a:ext cx="2235200" cy="276999"/>
          </a:xfrm>
          <a:prstGeom prst="rect">
            <a:avLst/>
          </a:prstGeom>
          <a:noFill/>
        </p:spPr>
        <p:txBody>
          <a:bodyPr vert="horz" wrap="square" lIns="0" tIns="0" rIns="0" bIns="0" rtlCol="0">
            <a:noAutofit/>
          </a:bodyPr>
          <a:lstStyle/>
          <a:p>
            <a:r>
              <a:rPr lang="en-US" altLang="zh-CN" sz="4500" b="1">
                <a:solidFill>
                  <a:srgbClr val="FFFFFF"/>
                </a:solidFill>
                <a:latin typeface="Aptos" panose="020B0004020202020204" pitchFamily="34" charset="0"/>
              </a:rPr>
              <a:t>750/750</a:t>
            </a:r>
            <a:endParaRPr lang="zh-CN" altLang="en-US" sz="4500" b="1">
              <a:solidFill>
                <a:srgbClr val="FFFFFF"/>
              </a:solidFill>
              <a:latin typeface="Aptos" panose="020B0004020202020204" pitchFamily="34" charset="0"/>
            </a:endParaRPr>
          </a:p>
        </p:txBody>
      </p:sp>
      <p:sp>
        <p:nvSpPr>
          <p:cNvPr id="16" name="pt-s">
            <a:extLst>
              <a:ext uri="{FF2B5EF4-FFF2-40B4-BE49-F238E27FC236}">
                <a16:creationId xmlns:a16="http://schemas.microsoft.com/office/drawing/2014/main" id="{9E029E28-5A33-C20F-08F0-F3CDB835E01B}"/>
              </a:ext>
            </a:extLst>
          </p:cNvPr>
          <p:cNvSpPr txBox="1"/>
          <p:nvPr/>
        </p:nvSpPr>
        <p:spPr>
          <a:xfrm>
            <a:off x="1473200" y="4318000"/>
            <a:ext cx="2717800" cy="276999"/>
          </a:xfrm>
          <a:prstGeom prst="rect">
            <a:avLst/>
          </a:prstGeom>
          <a:noFill/>
        </p:spPr>
        <p:txBody>
          <a:bodyPr vert="horz" wrap="square" lIns="0" tIns="0" rIns="0" bIns="0" rtlCol="0">
            <a:noAutofit/>
          </a:bodyPr>
          <a:lstStyle/>
          <a:p>
            <a:r>
              <a:rPr lang="en-US" altLang="zh-CN" sz="1350" b="1">
                <a:solidFill>
                  <a:srgbClr val="DDEBFC"/>
                </a:solidFill>
                <a:latin typeface="Aptos" panose="020B0004020202020204" pitchFamily="34" charset="0"/>
              </a:rPr>
              <a:t>source-bound commitment / witness verification</a:t>
            </a:r>
            <a:endParaRPr lang="zh-CN" altLang="en-US" sz="1350" b="1">
              <a:solidFill>
                <a:srgbClr val="DDEBFC"/>
              </a:solidFill>
              <a:latin typeface="Aptos" panose="020B0004020202020204" pitchFamily="34" charset="0"/>
            </a:endParaRPr>
          </a:p>
        </p:txBody>
      </p:sp>
      <p:sp>
        <p:nvSpPr>
          <p:cNvPr id="17" name="pt-right">
            <a:extLst>
              <a:ext uri="{FF2B5EF4-FFF2-40B4-BE49-F238E27FC236}">
                <a16:creationId xmlns:a16="http://schemas.microsoft.com/office/drawing/2014/main" id="{0CAB5BD4-F7AF-A1C1-F8D6-F97BFD8FE65D}"/>
              </a:ext>
            </a:extLst>
          </p:cNvPr>
          <p:cNvSpPr/>
          <p:nvPr/>
        </p:nvSpPr>
        <p:spPr>
          <a:xfrm>
            <a:off x="6045200" y="2286000"/>
            <a:ext cx="5054600" cy="292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pt-f1-label">
            <a:extLst>
              <a:ext uri="{FF2B5EF4-FFF2-40B4-BE49-F238E27FC236}">
                <a16:creationId xmlns:a16="http://schemas.microsoft.com/office/drawing/2014/main" id="{56BC671C-4611-F57A-BF5B-9C5BB2D4110D}"/>
              </a:ext>
            </a:extLst>
          </p:cNvPr>
          <p:cNvSpPr txBox="1"/>
          <p:nvPr/>
        </p:nvSpPr>
        <p:spPr>
          <a:xfrm>
            <a:off x="6477000" y="2755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false-owner controls</a:t>
            </a:r>
            <a:endParaRPr lang="zh-CN" altLang="en-US" sz="1320" b="1">
              <a:solidFill>
                <a:srgbClr val="071837"/>
              </a:solidFill>
              <a:latin typeface="Aptos" panose="020B0004020202020204" pitchFamily="34" charset="0"/>
            </a:endParaRPr>
          </a:p>
        </p:txBody>
      </p:sp>
      <p:sp>
        <p:nvSpPr>
          <p:cNvPr id="19" name="pt-f1-track">
            <a:extLst>
              <a:ext uri="{FF2B5EF4-FFF2-40B4-BE49-F238E27FC236}">
                <a16:creationId xmlns:a16="http://schemas.microsoft.com/office/drawing/2014/main" id="{5431599F-7E98-EB22-101B-6DC75D60FFC3}"/>
              </a:ext>
            </a:extLst>
          </p:cNvPr>
          <p:cNvSpPr/>
          <p:nvPr/>
        </p:nvSpPr>
        <p:spPr>
          <a:xfrm>
            <a:off x="8991600" y="27940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pt-f1-bar">
            <a:extLst>
              <a:ext uri="{FF2B5EF4-FFF2-40B4-BE49-F238E27FC236}">
                <a16:creationId xmlns:a16="http://schemas.microsoft.com/office/drawing/2014/main" id="{9D7B810F-6DF9-DA08-48EE-2A3884B89FBB}"/>
              </a:ext>
            </a:extLst>
          </p:cNvPr>
          <p:cNvSpPr/>
          <p:nvPr/>
        </p:nvSpPr>
        <p:spPr>
          <a:xfrm>
            <a:off x="8991600" y="27940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pt-f1-value">
            <a:extLst>
              <a:ext uri="{FF2B5EF4-FFF2-40B4-BE49-F238E27FC236}">
                <a16:creationId xmlns:a16="http://schemas.microsoft.com/office/drawing/2014/main" id="{BE3E2A3F-4C58-A83D-125C-0037A4B7D228}"/>
              </a:ext>
            </a:extLst>
          </p:cNvPr>
          <p:cNvSpPr txBox="1"/>
          <p:nvPr/>
        </p:nvSpPr>
        <p:spPr>
          <a:xfrm>
            <a:off x="11938000" y="27432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0 / 5,250</a:t>
            </a:r>
            <a:endParaRPr lang="zh-CN" altLang="en-US" sz="1300" b="1">
              <a:solidFill>
                <a:srgbClr val="1F7A4D"/>
              </a:solidFill>
              <a:latin typeface="Aptos" panose="020B0004020202020204" pitchFamily="34" charset="0"/>
            </a:endParaRPr>
          </a:p>
        </p:txBody>
      </p:sp>
      <p:sp>
        <p:nvSpPr>
          <p:cNvPr id="22" name="pt-f2-label">
            <a:extLst>
              <a:ext uri="{FF2B5EF4-FFF2-40B4-BE49-F238E27FC236}">
                <a16:creationId xmlns:a16="http://schemas.microsoft.com/office/drawing/2014/main" id="{356AD194-00E0-0C64-CF47-E0A97528306F}"/>
              </a:ext>
            </a:extLst>
          </p:cNvPr>
          <p:cNvSpPr txBox="1"/>
          <p:nvPr/>
        </p:nvSpPr>
        <p:spPr>
          <a:xfrm>
            <a:off x="6477000" y="3543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owner-heldout rows</a:t>
            </a:r>
            <a:endParaRPr lang="zh-CN" altLang="en-US" sz="1320" b="1">
              <a:solidFill>
                <a:srgbClr val="071837"/>
              </a:solidFill>
              <a:latin typeface="Aptos" panose="020B0004020202020204" pitchFamily="34" charset="0"/>
            </a:endParaRPr>
          </a:p>
        </p:txBody>
      </p:sp>
      <p:sp>
        <p:nvSpPr>
          <p:cNvPr id="23" name="pt-f2-track">
            <a:extLst>
              <a:ext uri="{FF2B5EF4-FFF2-40B4-BE49-F238E27FC236}">
                <a16:creationId xmlns:a16="http://schemas.microsoft.com/office/drawing/2014/main" id="{B4251139-4ABC-350B-1748-43493F91DF02}"/>
              </a:ext>
            </a:extLst>
          </p:cNvPr>
          <p:cNvSpPr/>
          <p:nvPr/>
        </p:nvSpPr>
        <p:spPr>
          <a:xfrm>
            <a:off x="8991600" y="35814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pt-f2-bar">
            <a:extLst>
              <a:ext uri="{FF2B5EF4-FFF2-40B4-BE49-F238E27FC236}">
                <a16:creationId xmlns:a16="http://schemas.microsoft.com/office/drawing/2014/main" id="{31C0FF66-C898-0534-01F9-9E73CDCD2491}"/>
              </a:ext>
            </a:extLst>
          </p:cNvPr>
          <p:cNvSpPr/>
          <p:nvPr/>
        </p:nvSpPr>
        <p:spPr>
          <a:xfrm>
            <a:off x="8991600" y="3581400"/>
            <a:ext cx="2794000" cy="177800"/>
          </a:xfrm>
          <a:prstGeom prst="roundRect">
            <a:avLst>
              <a:gd name="adj" fmla="val 14000"/>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pt-f2-value">
            <a:extLst>
              <a:ext uri="{FF2B5EF4-FFF2-40B4-BE49-F238E27FC236}">
                <a16:creationId xmlns:a16="http://schemas.microsoft.com/office/drawing/2014/main" id="{9B8032CD-0906-9EC3-1A45-A40D0DA881B1}"/>
              </a:ext>
            </a:extLst>
          </p:cNvPr>
          <p:cNvSpPr txBox="1"/>
          <p:nvPr/>
        </p:nvSpPr>
        <p:spPr>
          <a:xfrm>
            <a:off x="11938000" y="3530600"/>
            <a:ext cx="1524000" cy="276999"/>
          </a:xfrm>
          <a:prstGeom prst="rect">
            <a:avLst/>
          </a:prstGeom>
          <a:noFill/>
        </p:spPr>
        <p:txBody>
          <a:bodyPr vert="horz" wrap="square" lIns="0" tIns="0" rIns="0" bIns="0" rtlCol="0">
            <a:noAutofit/>
          </a:bodyPr>
          <a:lstStyle/>
          <a:p>
            <a:r>
              <a:rPr lang="en-US" altLang="zh-CN" sz="1300" b="1">
                <a:solidFill>
                  <a:srgbClr val="B85C00"/>
                </a:solidFill>
                <a:latin typeface="Aptos" panose="020B0004020202020204" pitchFamily="34" charset="0"/>
              </a:rPr>
              <a:t>1,200</a:t>
            </a:r>
            <a:endParaRPr lang="zh-CN" altLang="en-US" sz="1300" b="1">
              <a:solidFill>
                <a:srgbClr val="B85C00"/>
              </a:solidFill>
              <a:latin typeface="Aptos" panose="020B0004020202020204" pitchFamily="34" charset="0"/>
            </a:endParaRPr>
          </a:p>
        </p:txBody>
      </p:sp>
      <p:sp>
        <p:nvSpPr>
          <p:cNvPr id="26" name="pt-f3-label">
            <a:extLst>
              <a:ext uri="{FF2B5EF4-FFF2-40B4-BE49-F238E27FC236}">
                <a16:creationId xmlns:a16="http://schemas.microsoft.com/office/drawing/2014/main" id="{9EB264EE-C988-65A9-8314-FF012B753ADD}"/>
              </a:ext>
            </a:extLst>
          </p:cNvPr>
          <p:cNvSpPr txBox="1"/>
          <p:nvPr/>
        </p:nvSpPr>
        <p:spPr>
          <a:xfrm>
            <a:off x="6477000" y="43307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task-heldout rows</a:t>
            </a:r>
            <a:endParaRPr lang="zh-CN" altLang="en-US" sz="1320" b="1">
              <a:solidFill>
                <a:srgbClr val="071837"/>
              </a:solidFill>
              <a:latin typeface="Aptos" panose="020B0004020202020204" pitchFamily="34" charset="0"/>
            </a:endParaRPr>
          </a:p>
        </p:txBody>
      </p:sp>
      <p:sp>
        <p:nvSpPr>
          <p:cNvPr id="27" name="pt-f3-track">
            <a:extLst>
              <a:ext uri="{FF2B5EF4-FFF2-40B4-BE49-F238E27FC236}">
                <a16:creationId xmlns:a16="http://schemas.microsoft.com/office/drawing/2014/main" id="{478AB9EC-8772-7F81-3A86-E363649E0B1E}"/>
              </a:ext>
            </a:extLst>
          </p:cNvPr>
          <p:cNvSpPr/>
          <p:nvPr/>
        </p:nvSpPr>
        <p:spPr>
          <a:xfrm>
            <a:off x="8991600" y="4368800"/>
            <a:ext cx="2794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pt-f3-bar">
            <a:extLst>
              <a:ext uri="{FF2B5EF4-FFF2-40B4-BE49-F238E27FC236}">
                <a16:creationId xmlns:a16="http://schemas.microsoft.com/office/drawing/2014/main" id="{E0BE455A-4AA1-8AA8-F8F6-4F611F05C301}"/>
              </a:ext>
            </a:extLst>
          </p:cNvPr>
          <p:cNvSpPr/>
          <p:nvPr/>
        </p:nvSpPr>
        <p:spPr>
          <a:xfrm>
            <a:off x="8991600" y="4368800"/>
            <a:ext cx="2794000" cy="177800"/>
          </a:xfrm>
          <a:prstGeom prst="roundRect">
            <a:avLst>
              <a:gd name="adj" fmla="val 14000"/>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t-f3-value">
            <a:extLst>
              <a:ext uri="{FF2B5EF4-FFF2-40B4-BE49-F238E27FC236}">
                <a16:creationId xmlns:a16="http://schemas.microsoft.com/office/drawing/2014/main" id="{C51C1949-7E03-6B34-7D42-B1D13894064F}"/>
              </a:ext>
            </a:extLst>
          </p:cNvPr>
          <p:cNvSpPr txBox="1"/>
          <p:nvPr/>
        </p:nvSpPr>
        <p:spPr>
          <a:xfrm>
            <a:off x="11938000" y="4318000"/>
            <a:ext cx="1524000" cy="276999"/>
          </a:xfrm>
          <a:prstGeom prst="rect">
            <a:avLst/>
          </a:prstGeom>
          <a:noFill/>
        </p:spPr>
        <p:txBody>
          <a:bodyPr vert="horz" wrap="square" lIns="0" tIns="0" rIns="0" bIns="0" rtlCol="0">
            <a:noAutofit/>
          </a:bodyPr>
          <a:lstStyle/>
          <a:p>
            <a:r>
              <a:rPr lang="en-US" altLang="zh-CN" sz="1300" b="1">
                <a:solidFill>
                  <a:srgbClr val="B85C00"/>
                </a:solidFill>
                <a:latin typeface="Aptos" panose="020B0004020202020204" pitchFamily="34" charset="0"/>
              </a:rPr>
              <a:t>1,200</a:t>
            </a:r>
            <a:endParaRPr lang="zh-CN" altLang="en-US" sz="1300" b="1">
              <a:solidFill>
                <a:srgbClr val="B85C00"/>
              </a:solidFill>
              <a:latin typeface="Aptos" panose="020B0004020202020204" pitchFamily="34" charset="0"/>
            </a:endParaRPr>
          </a:p>
        </p:txBody>
      </p:sp>
      <p:sp>
        <p:nvSpPr>
          <p:cNvPr id="30" name="pt-auc">
            <a:extLst>
              <a:ext uri="{FF2B5EF4-FFF2-40B4-BE49-F238E27FC236}">
                <a16:creationId xmlns:a16="http://schemas.microsoft.com/office/drawing/2014/main" id="{BE1DBFF7-EEEF-0094-1995-89065F091015}"/>
              </a:ext>
            </a:extLst>
          </p:cNvPr>
          <p:cNvSpPr txBox="1"/>
          <p:nvPr/>
        </p:nvSpPr>
        <p:spPr>
          <a:xfrm>
            <a:off x="6502400" y="5029200"/>
            <a:ext cx="3175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AUC = 1.0 under this discrete, finite oracle boundary.</a:t>
            </a:r>
            <a:endParaRPr lang="zh-CN" altLang="en-US" sz="1050" b="1">
              <a:solidFill>
                <a:srgbClr val="52617A"/>
              </a:solidFill>
              <a:latin typeface="Aptos" panose="020B0004020202020204" pitchFamily="34" charset="0"/>
            </a:endParaRPr>
          </a:p>
        </p:txBody>
      </p:sp>
      <p:sp>
        <p:nvSpPr>
          <p:cNvPr id="31" name="footer-hit-9">
            <a:hlinkClick r:id="rId4"/>
            <a:extLst>
              <a:ext uri="{FF2B5EF4-FFF2-40B4-BE49-F238E27FC236}">
                <a16:creationId xmlns:a16="http://schemas.microsoft.com/office/drawing/2014/main" id="{226CED96-F4A0-83A3-F393-097B3320D1D1}"/>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368900225"/>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p:bldP spid="17" grpId="0" animBg="1"/>
      <p:bldP spid="18" grpId="0"/>
      <p:bldP spid="19" grpId="0" animBg="1"/>
      <p:bldP spid="20" grpId="0" animBg="1"/>
      <p:bldP spid="21" grpId="0"/>
      <p:bldP spid="22" grpId="0"/>
      <p:bldP spid="23" grpId="0" animBg="1"/>
      <p:bldP spid="24" grpId="0" animBg="1"/>
      <p:bldP spid="25" grpId="0"/>
      <p:bldP spid="26" grpId="0"/>
      <p:bldP spid="27" grpId="0" animBg="1"/>
      <p:bldP spid="28" grpId="0" animBg="1"/>
      <p:bldP spid="29" grpId="0"/>
      <p:bldP spid="3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F4C39216-881C-B214-337D-8F7492C51BDD}"/>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92EFCA02-8C2D-C80E-C2C4-6DBB50AFCDFD}"/>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6A076357-9AC4-949D-4B7D-63908CFFD91E}"/>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SEALAUDIT</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BC7E479C-A1DC-64D2-E250-AFAC1F9CA380}"/>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10</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C1FBF9C1-F19E-C5C3-82F5-8AF13C0A4AEA}"/>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EB039B83-FB0F-77B0-1413-038F55CC763F}"/>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DF80E1D0-80E2-4879-C3D7-AF4D891D4DE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7CEFDA5B-EE7B-CBE3-2E24-9004820BF75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F27030BE-5F87-D81E-2F44-204FCBFA87C3}"/>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Security triage is selective by design.</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FEBB9693-ADED-8920-F40F-C1E8C1D33A28}"/>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main result is a coverage frontier: decisive rows, hard ambiguity, and review cases are all reported.</a:t>
            </a:r>
            <a:endParaRPr lang="zh-CN" altLang="en-US" sz="1700">
              <a:solidFill>
                <a:srgbClr val="52617A"/>
              </a:solidFill>
              <a:latin typeface="Aptos" panose="020B0004020202020204" pitchFamily="34" charset="0"/>
            </a:endParaRPr>
          </a:p>
        </p:txBody>
      </p:sp>
      <p:sp>
        <p:nvSpPr>
          <p:cNvPr id="13" name="seal-stack-benign">
            <a:extLst>
              <a:ext uri="{FF2B5EF4-FFF2-40B4-BE49-F238E27FC236}">
                <a16:creationId xmlns:a16="http://schemas.microsoft.com/office/drawing/2014/main" id="{52DD6CC9-99D4-2A53-3465-42DA8902B5C4}"/>
              </a:ext>
            </a:extLst>
          </p:cNvPr>
          <p:cNvSpPr/>
          <p:nvPr/>
        </p:nvSpPr>
        <p:spPr>
          <a:xfrm>
            <a:off x="1193800" y="2768600"/>
            <a:ext cx="814917" cy="6858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seal-stack-txt-benign">
            <a:extLst>
              <a:ext uri="{FF2B5EF4-FFF2-40B4-BE49-F238E27FC236}">
                <a16:creationId xmlns:a16="http://schemas.microsoft.com/office/drawing/2014/main" id="{ABE01559-AF3E-3E37-CD38-5D1E8D3EA596}"/>
              </a:ext>
            </a:extLst>
          </p:cNvPr>
          <p:cNvSpPr txBox="1"/>
          <p:nvPr/>
        </p:nvSpPr>
        <p:spPr>
          <a:xfrm>
            <a:off x="1270000" y="2895600"/>
            <a:ext cx="662517"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80 benign</a:t>
            </a:r>
            <a:endParaRPr lang="zh-CN" altLang="en-US" sz="1020" b="1">
              <a:solidFill>
                <a:srgbClr val="FFFFFF"/>
              </a:solidFill>
              <a:latin typeface="Aptos" panose="020B0004020202020204" pitchFamily="34" charset="0"/>
            </a:endParaRPr>
          </a:p>
        </p:txBody>
      </p:sp>
      <p:sp>
        <p:nvSpPr>
          <p:cNvPr id="15" name="seal-stack-risk">
            <a:extLst>
              <a:ext uri="{FF2B5EF4-FFF2-40B4-BE49-F238E27FC236}">
                <a16:creationId xmlns:a16="http://schemas.microsoft.com/office/drawing/2014/main" id="{C7E3D2D4-F785-6C82-E26A-82720428F30C}"/>
              </a:ext>
            </a:extLst>
          </p:cNvPr>
          <p:cNvSpPr/>
          <p:nvPr/>
        </p:nvSpPr>
        <p:spPr>
          <a:xfrm>
            <a:off x="2008717" y="2768600"/>
            <a:ext cx="2444750" cy="6858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seal-stack-txt-risk">
            <a:extLst>
              <a:ext uri="{FF2B5EF4-FFF2-40B4-BE49-F238E27FC236}">
                <a16:creationId xmlns:a16="http://schemas.microsoft.com/office/drawing/2014/main" id="{62C8E4C9-65F0-05C7-0D52-1A1F6489C031}"/>
              </a:ext>
            </a:extLst>
          </p:cNvPr>
          <p:cNvSpPr txBox="1"/>
          <p:nvPr/>
        </p:nvSpPr>
        <p:spPr>
          <a:xfrm>
            <a:off x="2084917" y="2895600"/>
            <a:ext cx="2292350"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240 latent risk</a:t>
            </a:r>
            <a:endParaRPr lang="zh-CN" altLang="en-US" sz="1020" b="1">
              <a:solidFill>
                <a:srgbClr val="FFFFFF"/>
              </a:solidFill>
              <a:latin typeface="Aptos" panose="020B0004020202020204" pitchFamily="34" charset="0"/>
            </a:endParaRPr>
          </a:p>
        </p:txBody>
      </p:sp>
      <p:sp>
        <p:nvSpPr>
          <p:cNvPr id="17" name="seal-stack-ambig">
            <a:extLst>
              <a:ext uri="{FF2B5EF4-FFF2-40B4-BE49-F238E27FC236}">
                <a16:creationId xmlns:a16="http://schemas.microsoft.com/office/drawing/2014/main" id="{43193D59-2D25-C33A-ABCC-767945595200}"/>
              </a:ext>
            </a:extLst>
          </p:cNvPr>
          <p:cNvSpPr/>
          <p:nvPr/>
        </p:nvSpPr>
        <p:spPr>
          <a:xfrm>
            <a:off x="4453467" y="2768600"/>
            <a:ext cx="4930246" cy="6858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seal-stack-txt-ambig">
            <a:extLst>
              <a:ext uri="{FF2B5EF4-FFF2-40B4-BE49-F238E27FC236}">
                <a16:creationId xmlns:a16="http://schemas.microsoft.com/office/drawing/2014/main" id="{49C0DAE3-051A-2677-E47B-6CDEF7558AF5}"/>
              </a:ext>
            </a:extLst>
          </p:cNvPr>
          <p:cNvSpPr txBox="1"/>
          <p:nvPr/>
        </p:nvSpPr>
        <p:spPr>
          <a:xfrm>
            <a:off x="4529667" y="2895600"/>
            <a:ext cx="4777846"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484 hard ambiguity</a:t>
            </a:r>
            <a:endParaRPr lang="zh-CN" altLang="en-US" sz="1020" b="1">
              <a:solidFill>
                <a:srgbClr val="FFFFFF"/>
              </a:solidFill>
              <a:latin typeface="Aptos" panose="020B0004020202020204" pitchFamily="34" charset="0"/>
            </a:endParaRPr>
          </a:p>
        </p:txBody>
      </p:sp>
      <p:sp>
        <p:nvSpPr>
          <p:cNvPr id="19" name="seal-stack-review">
            <a:extLst>
              <a:ext uri="{FF2B5EF4-FFF2-40B4-BE49-F238E27FC236}">
                <a16:creationId xmlns:a16="http://schemas.microsoft.com/office/drawing/2014/main" id="{21A5B8A2-42AB-6AAF-4E2C-BFA4D30720DE}"/>
              </a:ext>
            </a:extLst>
          </p:cNvPr>
          <p:cNvSpPr/>
          <p:nvPr/>
        </p:nvSpPr>
        <p:spPr>
          <a:xfrm>
            <a:off x="9383713" y="2768600"/>
            <a:ext cx="1589087" cy="685800"/>
          </a:xfrm>
          <a:prstGeom prst="rect">
            <a:avLst/>
          </a:prstGeom>
          <a:solidFill>
            <a:srgbClr val="5261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seal-stack-txt-review">
            <a:extLst>
              <a:ext uri="{FF2B5EF4-FFF2-40B4-BE49-F238E27FC236}">
                <a16:creationId xmlns:a16="http://schemas.microsoft.com/office/drawing/2014/main" id="{89A6464F-3C70-7DB5-3604-E4E558A78368}"/>
              </a:ext>
            </a:extLst>
          </p:cNvPr>
          <p:cNvSpPr txBox="1"/>
          <p:nvPr/>
        </p:nvSpPr>
        <p:spPr>
          <a:xfrm>
            <a:off x="9459913" y="2895600"/>
            <a:ext cx="1436688" cy="276999"/>
          </a:xfrm>
          <a:prstGeom prst="rect">
            <a:avLst/>
          </a:prstGeom>
          <a:noFill/>
        </p:spPr>
        <p:txBody>
          <a:bodyPr vert="horz" wrap="square" lIns="0" tIns="0" rIns="0" bIns="0" rtlCol="0">
            <a:noAutofit/>
          </a:bodyPr>
          <a:lstStyle/>
          <a:p>
            <a:pPr algn="ctr"/>
            <a:r>
              <a:rPr lang="en-US" altLang="zh-CN" sz="1020" b="1">
                <a:solidFill>
                  <a:srgbClr val="FFFFFF"/>
                </a:solidFill>
                <a:latin typeface="Aptos" panose="020B0004020202020204" pitchFamily="34" charset="0"/>
              </a:rPr>
              <a:t>156 review</a:t>
            </a:r>
            <a:endParaRPr lang="zh-CN" altLang="en-US" sz="1020" b="1">
              <a:solidFill>
                <a:srgbClr val="FFFFFF"/>
              </a:solidFill>
              <a:latin typeface="Aptos" panose="020B0004020202020204" pitchFamily="34" charset="0"/>
            </a:endParaRPr>
          </a:p>
        </p:txBody>
      </p:sp>
      <p:sp>
        <p:nvSpPr>
          <p:cNvPr id="21" name="stack-l">
            <a:extLst>
              <a:ext uri="{FF2B5EF4-FFF2-40B4-BE49-F238E27FC236}">
                <a16:creationId xmlns:a16="http://schemas.microsoft.com/office/drawing/2014/main" id="{108133C3-2855-0F3C-8C0A-EB0620DFA07E}"/>
              </a:ext>
            </a:extLst>
          </p:cNvPr>
          <p:cNvSpPr txBox="1"/>
          <p:nvPr/>
        </p:nvSpPr>
        <p:spPr>
          <a:xfrm>
            <a:off x="1193800" y="3657600"/>
            <a:ext cx="9652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960 marker-hidden rows: 320 decisive, 484 hard ambiguity, 156 role-based review.</a:t>
            </a:r>
            <a:endParaRPr lang="zh-CN" altLang="en-US" sz="1300" b="1">
              <a:solidFill>
                <a:srgbClr val="071837"/>
              </a:solidFill>
              <a:latin typeface="Aptos" panose="020B0004020202020204" pitchFamily="34" charset="0"/>
            </a:endParaRPr>
          </a:p>
        </p:txBody>
      </p:sp>
      <p:sp>
        <p:nvSpPr>
          <p:cNvPr id="22" name="seal0-label">
            <a:extLst>
              <a:ext uri="{FF2B5EF4-FFF2-40B4-BE49-F238E27FC236}">
                <a16:creationId xmlns:a16="http://schemas.microsoft.com/office/drawing/2014/main" id="{D5C2C965-3B11-6BA2-3265-303EB1A18D19}"/>
              </a:ext>
            </a:extLst>
          </p:cNvPr>
          <p:cNvSpPr txBox="1"/>
          <p:nvPr/>
        </p:nvSpPr>
        <p:spPr>
          <a:xfrm>
            <a:off x="1803400" y="43307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decisive triage</a:t>
            </a:r>
            <a:endParaRPr lang="zh-CN" altLang="en-US" sz="1320" b="1">
              <a:solidFill>
                <a:srgbClr val="071837"/>
              </a:solidFill>
              <a:latin typeface="Aptos" panose="020B0004020202020204" pitchFamily="34" charset="0"/>
            </a:endParaRPr>
          </a:p>
        </p:txBody>
      </p:sp>
      <p:sp>
        <p:nvSpPr>
          <p:cNvPr id="23" name="seal0-track">
            <a:extLst>
              <a:ext uri="{FF2B5EF4-FFF2-40B4-BE49-F238E27FC236}">
                <a16:creationId xmlns:a16="http://schemas.microsoft.com/office/drawing/2014/main" id="{C2EF3258-BD5E-1BBE-DCFE-4CF7E4371957}"/>
              </a:ext>
            </a:extLst>
          </p:cNvPr>
          <p:cNvSpPr/>
          <p:nvPr/>
        </p:nvSpPr>
        <p:spPr>
          <a:xfrm>
            <a:off x="4318000" y="4368800"/>
            <a:ext cx="4953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seal0-bar">
            <a:extLst>
              <a:ext uri="{FF2B5EF4-FFF2-40B4-BE49-F238E27FC236}">
                <a16:creationId xmlns:a16="http://schemas.microsoft.com/office/drawing/2014/main" id="{AB5376C9-38EE-8A5D-3EB0-4E22D555F145}"/>
              </a:ext>
            </a:extLst>
          </p:cNvPr>
          <p:cNvSpPr/>
          <p:nvPr/>
        </p:nvSpPr>
        <p:spPr>
          <a:xfrm>
            <a:off x="4318000" y="4368800"/>
            <a:ext cx="25400" cy="177800"/>
          </a:xfrm>
          <a:prstGeom prst="roundRect">
            <a:avLst>
              <a:gd name="adj" fmla="val 14000"/>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seal0-value">
            <a:extLst>
              <a:ext uri="{FF2B5EF4-FFF2-40B4-BE49-F238E27FC236}">
                <a16:creationId xmlns:a16="http://schemas.microsoft.com/office/drawing/2014/main" id="{B2783A14-4353-72B4-72B2-F2DE47A19674}"/>
              </a:ext>
            </a:extLst>
          </p:cNvPr>
          <p:cNvSpPr txBox="1"/>
          <p:nvPr/>
        </p:nvSpPr>
        <p:spPr>
          <a:xfrm>
            <a:off x="9423400" y="4318000"/>
            <a:ext cx="1524000" cy="276999"/>
          </a:xfrm>
          <a:prstGeom prst="rect">
            <a:avLst/>
          </a:prstGeom>
          <a:noFill/>
        </p:spPr>
        <p:txBody>
          <a:bodyPr vert="horz" wrap="square" lIns="0" tIns="0" rIns="0" bIns="0" rtlCol="0">
            <a:noAutofit/>
          </a:bodyPr>
          <a:lstStyle/>
          <a:p>
            <a:r>
              <a:rPr lang="en-US" altLang="zh-CN" sz="1300" b="1">
                <a:solidFill>
                  <a:srgbClr val="1F7A4D"/>
                </a:solidFill>
                <a:latin typeface="Aptos" panose="020B0004020202020204" pitchFamily="34" charset="0"/>
              </a:rPr>
              <a:t>320/960</a:t>
            </a:r>
            <a:endParaRPr lang="zh-CN" altLang="en-US" sz="1300" b="1">
              <a:solidFill>
                <a:srgbClr val="1F7A4D"/>
              </a:solidFill>
              <a:latin typeface="Aptos" panose="020B0004020202020204" pitchFamily="34" charset="0"/>
            </a:endParaRPr>
          </a:p>
        </p:txBody>
      </p:sp>
      <p:sp>
        <p:nvSpPr>
          <p:cNvPr id="26" name="seal1-label">
            <a:extLst>
              <a:ext uri="{FF2B5EF4-FFF2-40B4-BE49-F238E27FC236}">
                <a16:creationId xmlns:a16="http://schemas.microsoft.com/office/drawing/2014/main" id="{45ADE871-E9A3-D82D-BFD2-1551E85B7B7B}"/>
              </a:ext>
            </a:extLst>
          </p:cNvPr>
          <p:cNvSpPr txBox="1"/>
          <p:nvPr/>
        </p:nvSpPr>
        <p:spPr>
          <a:xfrm>
            <a:off x="1803400" y="48133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unsafe passes</a:t>
            </a:r>
            <a:endParaRPr lang="zh-CN" altLang="en-US" sz="1320" b="1">
              <a:solidFill>
                <a:srgbClr val="071837"/>
              </a:solidFill>
              <a:latin typeface="Aptos" panose="020B0004020202020204" pitchFamily="34" charset="0"/>
            </a:endParaRPr>
          </a:p>
        </p:txBody>
      </p:sp>
      <p:sp>
        <p:nvSpPr>
          <p:cNvPr id="27" name="seal1-track">
            <a:extLst>
              <a:ext uri="{FF2B5EF4-FFF2-40B4-BE49-F238E27FC236}">
                <a16:creationId xmlns:a16="http://schemas.microsoft.com/office/drawing/2014/main" id="{B98D5D93-55DB-1A6A-ACC2-05519CCE8D7D}"/>
              </a:ext>
            </a:extLst>
          </p:cNvPr>
          <p:cNvSpPr/>
          <p:nvPr/>
        </p:nvSpPr>
        <p:spPr>
          <a:xfrm>
            <a:off x="4318000" y="4851400"/>
            <a:ext cx="4953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seal1-bar">
            <a:extLst>
              <a:ext uri="{FF2B5EF4-FFF2-40B4-BE49-F238E27FC236}">
                <a16:creationId xmlns:a16="http://schemas.microsoft.com/office/drawing/2014/main" id="{5678D6EB-61E0-6CF8-407D-2E522588755E}"/>
              </a:ext>
            </a:extLst>
          </p:cNvPr>
          <p:cNvSpPr/>
          <p:nvPr/>
        </p:nvSpPr>
        <p:spPr>
          <a:xfrm>
            <a:off x="4318000" y="4851400"/>
            <a:ext cx="25400" cy="177800"/>
          </a:xfrm>
          <a:prstGeom prst="roundRect">
            <a:avLst>
              <a:gd name="adj" fmla="val 14000"/>
            </a:avLst>
          </a:prstGeom>
          <a:solidFill>
            <a:srgbClr val="B92C41"/>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seal1-value">
            <a:extLst>
              <a:ext uri="{FF2B5EF4-FFF2-40B4-BE49-F238E27FC236}">
                <a16:creationId xmlns:a16="http://schemas.microsoft.com/office/drawing/2014/main" id="{C16276FB-0D1C-537C-77D5-6F037E78007E}"/>
              </a:ext>
            </a:extLst>
          </p:cNvPr>
          <p:cNvSpPr txBox="1"/>
          <p:nvPr/>
        </p:nvSpPr>
        <p:spPr>
          <a:xfrm>
            <a:off x="9423400" y="4800600"/>
            <a:ext cx="1524000" cy="276999"/>
          </a:xfrm>
          <a:prstGeom prst="rect">
            <a:avLst/>
          </a:prstGeom>
          <a:noFill/>
        </p:spPr>
        <p:txBody>
          <a:bodyPr vert="horz" wrap="square" lIns="0" tIns="0" rIns="0" bIns="0" rtlCol="0">
            <a:noAutofit/>
          </a:bodyPr>
          <a:lstStyle/>
          <a:p>
            <a:r>
              <a:rPr lang="en-US" altLang="zh-CN" sz="1300" b="1">
                <a:solidFill>
                  <a:srgbClr val="B92C41"/>
                </a:solidFill>
                <a:latin typeface="Aptos" panose="020B0004020202020204" pitchFamily="34" charset="0"/>
              </a:rPr>
              <a:t>0/960</a:t>
            </a:r>
            <a:endParaRPr lang="zh-CN" altLang="en-US" sz="1300" b="1">
              <a:solidFill>
                <a:srgbClr val="B92C41"/>
              </a:solidFill>
              <a:latin typeface="Aptos" panose="020B0004020202020204" pitchFamily="34" charset="0"/>
            </a:endParaRPr>
          </a:p>
        </p:txBody>
      </p:sp>
      <p:sp>
        <p:nvSpPr>
          <p:cNvPr id="30" name="seal2-label">
            <a:extLst>
              <a:ext uri="{FF2B5EF4-FFF2-40B4-BE49-F238E27FC236}">
                <a16:creationId xmlns:a16="http://schemas.microsoft.com/office/drawing/2014/main" id="{79B47707-71AD-DA0D-2FBE-A06B0AF8732A}"/>
              </a:ext>
            </a:extLst>
          </p:cNvPr>
          <p:cNvSpPr txBox="1"/>
          <p:nvPr/>
        </p:nvSpPr>
        <p:spPr>
          <a:xfrm>
            <a:off x="1803400" y="5295900"/>
            <a:ext cx="2413000" cy="276999"/>
          </a:xfrm>
          <a:prstGeom prst="rect">
            <a:avLst/>
          </a:prstGeom>
          <a:noFill/>
        </p:spPr>
        <p:txBody>
          <a:bodyPr vert="horz" wrap="square" lIns="0" tIns="0" rIns="0" bIns="0" rtlCol="0">
            <a:noAutofit/>
          </a:bodyPr>
          <a:lstStyle/>
          <a:p>
            <a:r>
              <a:rPr lang="en-US" altLang="zh-CN" sz="1320" b="1">
                <a:solidFill>
                  <a:srgbClr val="071837"/>
                </a:solidFill>
                <a:latin typeface="Aptos" panose="020B0004020202020204" pitchFamily="34" charset="0"/>
              </a:rPr>
              <a:t>support stress</a:t>
            </a:r>
            <a:endParaRPr lang="zh-CN" altLang="en-US" sz="1320" b="1">
              <a:solidFill>
                <a:srgbClr val="071837"/>
              </a:solidFill>
              <a:latin typeface="Aptos" panose="020B0004020202020204" pitchFamily="34" charset="0"/>
            </a:endParaRPr>
          </a:p>
        </p:txBody>
      </p:sp>
      <p:sp>
        <p:nvSpPr>
          <p:cNvPr id="31" name="seal2-track">
            <a:extLst>
              <a:ext uri="{FF2B5EF4-FFF2-40B4-BE49-F238E27FC236}">
                <a16:creationId xmlns:a16="http://schemas.microsoft.com/office/drawing/2014/main" id="{DE734213-7DC6-4324-4D03-CC1E616B6C00}"/>
              </a:ext>
            </a:extLst>
          </p:cNvPr>
          <p:cNvSpPr/>
          <p:nvPr/>
        </p:nvSpPr>
        <p:spPr>
          <a:xfrm>
            <a:off x="4318000" y="5334000"/>
            <a:ext cx="4953000" cy="177800"/>
          </a:xfrm>
          <a:prstGeom prst="roundRect">
            <a:avLst>
              <a:gd name="adj" fmla="val 14000"/>
            </a:avLst>
          </a:prstGeom>
          <a:solidFill>
            <a:srgbClr val="EBF1F9"/>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seal2-bar">
            <a:extLst>
              <a:ext uri="{FF2B5EF4-FFF2-40B4-BE49-F238E27FC236}">
                <a16:creationId xmlns:a16="http://schemas.microsoft.com/office/drawing/2014/main" id="{59E0952E-FBCA-0002-6FF6-8B7E60B4E43C}"/>
              </a:ext>
            </a:extLst>
          </p:cNvPr>
          <p:cNvSpPr/>
          <p:nvPr/>
        </p:nvSpPr>
        <p:spPr>
          <a:xfrm>
            <a:off x="4318000" y="5334000"/>
            <a:ext cx="25400" cy="177800"/>
          </a:xfrm>
          <a:prstGeom prst="roundRect">
            <a:avLst>
              <a:gd name="adj" fmla="val 14000"/>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seal2-value">
            <a:extLst>
              <a:ext uri="{FF2B5EF4-FFF2-40B4-BE49-F238E27FC236}">
                <a16:creationId xmlns:a16="http://schemas.microsoft.com/office/drawing/2014/main" id="{F29580E4-52BC-9084-0CDC-2DCB69507357}"/>
              </a:ext>
            </a:extLst>
          </p:cNvPr>
          <p:cNvSpPr txBox="1"/>
          <p:nvPr/>
        </p:nvSpPr>
        <p:spPr>
          <a:xfrm>
            <a:off x="9423400" y="5283200"/>
            <a:ext cx="1524000" cy="276999"/>
          </a:xfrm>
          <a:prstGeom prst="rect">
            <a:avLst/>
          </a:prstGeom>
          <a:noFill/>
        </p:spPr>
        <p:txBody>
          <a:bodyPr vert="horz" wrap="square" lIns="0" tIns="0" rIns="0" bIns="0" rtlCol="0">
            <a:noAutofit/>
          </a:bodyPr>
          <a:lstStyle/>
          <a:p>
            <a:r>
              <a:rPr lang="en-US" altLang="zh-CN" sz="1300" b="1">
                <a:solidFill>
                  <a:srgbClr val="168E8B"/>
                </a:solidFill>
                <a:latin typeface="Aptos" panose="020B0004020202020204" pitchFamily="34" charset="0"/>
              </a:rPr>
              <a:t>312/960</a:t>
            </a:r>
            <a:endParaRPr lang="zh-CN" altLang="en-US" sz="1300" b="1">
              <a:solidFill>
                <a:srgbClr val="168E8B"/>
              </a:solidFill>
              <a:latin typeface="Aptos" panose="020B0004020202020204" pitchFamily="34" charset="0"/>
            </a:endParaRPr>
          </a:p>
        </p:txBody>
      </p:sp>
      <p:sp>
        <p:nvSpPr>
          <p:cNvPr id="34" name="seal-bound">
            <a:extLst>
              <a:ext uri="{FF2B5EF4-FFF2-40B4-BE49-F238E27FC236}">
                <a16:creationId xmlns:a16="http://schemas.microsoft.com/office/drawing/2014/main" id="{CB4A669B-87F6-1FDA-520A-47B3E95ECBB4}"/>
              </a:ext>
            </a:extLst>
          </p:cNvPr>
          <p:cNvSpPr/>
          <p:nvPr/>
        </p:nvSpPr>
        <p:spPr>
          <a:xfrm>
            <a:off x="8178800" y="4292600"/>
            <a:ext cx="2794000" cy="13462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seal-bound-t">
            <a:extLst>
              <a:ext uri="{FF2B5EF4-FFF2-40B4-BE49-F238E27FC236}">
                <a16:creationId xmlns:a16="http://schemas.microsoft.com/office/drawing/2014/main" id="{1CB36C57-6041-4582-4955-832D01E5CFF7}"/>
              </a:ext>
            </a:extLst>
          </p:cNvPr>
          <p:cNvSpPr txBox="1"/>
          <p:nvPr/>
        </p:nvSpPr>
        <p:spPr>
          <a:xfrm>
            <a:off x="8509000" y="4572000"/>
            <a:ext cx="2133600" cy="276999"/>
          </a:xfrm>
          <a:prstGeom prst="rect">
            <a:avLst/>
          </a:prstGeom>
          <a:noFill/>
        </p:spPr>
        <p:txBody>
          <a:bodyPr vert="horz" wrap="square" lIns="0" tIns="0" rIns="0" bIns="0" rtlCol="0">
            <a:noAutofit/>
          </a:bodyPr>
          <a:lstStyle/>
          <a:p>
            <a:r>
              <a:rPr lang="en-US" altLang="zh-CN" sz="2200" b="1">
                <a:solidFill>
                  <a:srgbClr val="071837"/>
                </a:solidFill>
                <a:latin typeface="Aptos" panose="020B0004020202020204" pitchFamily="34" charset="0"/>
              </a:rPr>
              <a:t>abstention is
not a failure</a:t>
            </a:r>
            <a:endParaRPr lang="zh-CN" altLang="en-US" sz="2200" b="1">
              <a:solidFill>
                <a:srgbClr val="071837"/>
              </a:solidFill>
              <a:latin typeface="Aptos" panose="020B0004020202020204" pitchFamily="34" charset="0"/>
            </a:endParaRPr>
          </a:p>
        </p:txBody>
      </p:sp>
      <p:sp>
        <p:nvSpPr>
          <p:cNvPr id="36" name="seal-bound-s">
            <a:extLst>
              <a:ext uri="{FF2B5EF4-FFF2-40B4-BE49-F238E27FC236}">
                <a16:creationId xmlns:a16="http://schemas.microsoft.com/office/drawing/2014/main" id="{567EDB5B-AFFF-2945-C14F-27248F4D164F}"/>
              </a:ext>
            </a:extLst>
          </p:cNvPr>
          <p:cNvSpPr txBox="1"/>
          <p:nvPr/>
        </p:nvSpPr>
        <p:spPr>
          <a:xfrm>
            <a:off x="8509000" y="5257800"/>
            <a:ext cx="2108200" cy="276999"/>
          </a:xfrm>
          <a:prstGeom prst="rect">
            <a:avLst/>
          </a:prstGeom>
          <a:noFill/>
        </p:spPr>
        <p:txBody>
          <a:bodyPr vert="horz" wrap="square" lIns="0" tIns="0" rIns="0" bIns="0" rtlCol="0">
            <a:noAutofit/>
          </a:bodyPr>
          <a:lstStyle/>
          <a:p>
            <a:r>
              <a:rPr lang="en-US" altLang="zh-CN" sz="980" b="1">
                <a:solidFill>
                  <a:srgbClr val="52617A"/>
                </a:solidFill>
                <a:latin typeface="Aptos" panose="020B0004020202020204" pitchFamily="34" charset="0"/>
              </a:rPr>
              <a:t>it blocks unsupported safety claims</a:t>
            </a:r>
            <a:endParaRPr lang="zh-CN" altLang="en-US" sz="980" b="1">
              <a:solidFill>
                <a:srgbClr val="52617A"/>
              </a:solidFill>
              <a:latin typeface="Aptos" panose="020B0004020202020204" pitchFamily="34" charset="0"/>
            </a:endParaRPr>
          </a:p>
        </p:txBody>
      </p:sp>
      <p:sp>
        <p:nvSpPr>
          <p:cNvPr id="37" name="footer-hit-10">
            <a:hlinkClick r:id="rId4"/>
            <a:extLst>
              <a:ext uri="{FF2B5EF4-FFF2-40B4-BE49-F238E27FC236}">
                <a16:creationId xmlns:a16="http://schemas.microsoft.com/office/drawing/2014/main" id="{558A8C65-5C84-6B15-2B1B-6230317C2E03}"/>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801086094"/>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160"/>
                                        <p:tgtEl>
                                          <p:spTgt spid="22"/>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160"/>
                                        <p:tgtEl>
                                          <p:spTgt spid="23"/>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160"/>
                                        <p:tgtEl>
                                          <p:spTgt spid="24"/>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160"/>
                                        <p:tgtEl>
                                          <p:spTgt spid="25"/>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160"/>
                                        <p:tgtEl>
                                          <p:spTgt spid="26"/>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160"/>
                                        <p:tgtEl>
                                          <p:spTgt spid="27"/>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160"/>
                                        <p:tgtEl>
                                          <p:spTgt spid="28"/>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160"/>
                                        <p:tgtEl>
                                          <p:spTgt spid="29"/>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160"/>
                                        <p:tgtEl>
                                          <p:spTgt spid="30"/>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160"/>
                                        <p:tgtEl>
                                          <p:spTgt spid="31"/>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160"/>
                                        <p:tgtEl>
                                          <p:spTgt spid="32"/>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160"/>
                                        <p:tgtEl>
                                          <p:spTgt spid="33"/>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160"/>
                                        <p:tgtEl>
                                          <p:spTgt spid="34"/>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160"/>
                                        <p:tgtEl>
                                          <p:spTgt spid="35"/>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P spid="17" grpId="0" animBg="1"/>
      <p:bldP spid="18" grpId="0"/>
      <p:bldP spid="19" grpId="0" animBg="1"/>
      <p:bldP spid="20" grpId="0"/>
      <p:bldP spid="22" grpId="0"/>
      <p:bldP spid="23" grpId="0" animBg="1"/>
      <p:bldP spid="24" grpId="0" animBg="1"/>
      <p:bldP spid="25" grpId="0"/>
      <p:bldP spid="26" grpId="0"/>
      <p:bldP spid="27" grpId="0" animBg="1"/>
      <p:bldP spid="28" grpId="0" animBg="1"/>
      <p:bldP spid="29" grpId="0"/>
      <p:bldP spid="30" grpId="0"/>
      <p:bldP spid="31" grpId="0" animBg="1"/>
      <p:bldP spid="32" grpId="0" animBg="1"/>
      <p:bldP spid="33" grpId="0"/>
      <p:bldP spid="34" grpId="0" animBg="1"/>
      <p:bldP spid="35" grpId="0"/>
      <p:bldP spid="3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BB6EA731-809C-FB69-FF7A-7C3B1F8DCD24}"/>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26A7597D-8427-B2DC-0336-1773A223F5D1}"/>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E66A2BFB-FBD6-9304-D736-A0699F5E5E76}"/>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EVIDENCE LEDGER</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AF6B004D-0570-07D4-B972-8F691AD3674B}"/>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11</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A6E51905-734E-BD7D-19F0-75A27A7649F1}"/>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16157018-8122-0CF5-7DD7-4381033D02FB}"/>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1B55989-0AE7-2789-11F0-9D848E255005}"/>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6D400EAF-94DD-D72D-DA90-A60E534B40B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B71EED6F-104D-C6A1-C065-ABD1E605F35A}"/>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viva can show progress without moving the submitted baseline.</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6DF07CD5-7BFF-C1DF-2383-51DED19334E2}"/>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table keeps official FYP numbers and continuation numbers in separate lanes.</a:t>
            </a:r>
            <a:endParaRPr lang="zh-CN" altLang="en-US" sz="1700">
              <a:solidFill>
                <a:srgbClr val="52617A"/>
              </a:solidFill>
              <a:latin typeface="Aptos" panose="020B0004020202020204" pitchFamily="34" charset="0"/>
            </a:endParaRPr>
          </a:p>
        </p:txBody>
      </p:sp>
      <p:sp>
        <p:nvSpPr>
          <p:cNvPr id="13" name="h0">
            <a:extLst>
              <a:ext uri="{FF2B5EF4-FFF2-40B4-BE49-F238E27FC236}">
                <a16:creationId xmlns:a16="http://schemas.microsoft.com/office/drawing/2014/main" id="{433FAB97-6624-3C1E-0D4B-EEEA2D4F68AF}"/>
              </a:ext>
            </a:extLst>
          </p:cNvPr>
          <p:cNvSpPr txBox="1"/>
          <p:nvPr/>
        </p:nvSpPr>
        <p:spPr>
          <a:xfrm>
            <a:off x="1168400" y="2133600"/>
            <a:ext cx="2159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track</a:t>
            </a:r>
            <a:endParaRPr lang="zh-CN" altLang="en-US" sz="1050" b="1">
              <a:solidFill>
                <a:srgbClr val="52617A"/>
              </a:solidFill>
              <a:latin typeface="Aptos" panose="020B0004020202020204" pitchFamily="34" charset="0"/>
            </a:endParaRPr>
          </a:p>
        </p:txBody>
      </p:sp>
      <p:sp>
        <p:nvSpPr>
          <p:cNvPr id="14" name="h1">
            <a:extLst>
              <a:ext uri="{FF2B5EF4-FFF2-40B4-BE49-F238E27FC236}">
                <a16:creationId xmlns:a16="http://schemas.microsoft.com/office/drawing/2014/main" id="{34C3B318-B0B9-E697-4761-54FCE090CA97}"/>
              </a:ext>
            </a:extLst>
          </p:cNvPr>
          <p:cNvSpPr txBox="1"/>
          <p:nvPr/>
        </p:nvSpPr>
        <p:spPr>
          <a:xfrm>
            <a:off x="3962400" y="2133600"/>
            <a:ext cx="2667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submitted FYP snapshot</a:t>
            </a:r>
            <a:endParaRPr lang="zh-CN" altLang="en-US" sz="1050" b="1">
              <a:solidFill>
                <a:srgbClr val="52617A"/>
              </a:solidFill>
              <a:latin typeface="Aptos" panose="020B0004020202020204" pitchFamily="34" charset="0"/>
            </a:endParaRPr>
          </a:p>
        </p:txBody>
      </p:sp>
      <p:sp>
        <p:nvSpPr>
          <p:cNvPr id="15" name="h2">
            <a:extLst>
              <a:ext uri="{FF2B5EF4-FFF2-40B4-BE49-F238E27FC236}">
                <a16:creationId xmlns:a16="http://schemas.microsoft.com/office/drawing/2014/main" id="{76AE0D0A-B9C4-93DE-7951-C2D6540F2855}"/>
              </a:ext>
            </a:extLst>
          </p:cNvPr>
          <p:cNvSpPr txBox="1"/>
          <p:nvPr/>
        </p:nvSpPr>
        <p:spPr>
          <a:xfrm>
            <a:off x="7366000" y="2133600"/>
            <a:ext cx="3302000" cy="276999"/>
          </a:xfrm>
          <a:prstGeom prst="rect">
            <a:avLst/>
          </a:prstGeom>
          <a:noFill/>
        </p:spPr>
        <p:txBody>
          <a:bodyPr vert="horz" wrap="square" lIns="0" tIns="0" rIns="0" bIns="0" rtlCol="0">
            <a:noAutofit/>
          </a:bodyPr>
          <a:lstStyle/>
          <a:p>
            <a:r>
              <a:rPr lang="en-US" altLang="zh-CN" sz="1050" b="1">
                <a:solidFill>
                  <a:srgbClr val="52617A"/>
                </a:solidFill>
                <a:latin typeface="Aptos" panose="020B0004020202020204" pitchFamily="34" charset="0"/>
              </a:rPr>
              <a:t>continuation surface for viva discussion</a:t>
            </a:r>
            <a:endParaRPr lang="zh-CN" altLang="en-US" sz="1050" b="1">
              <a:solidFill>
                <a:srgbClr val="52617A"/>
              </a:solidFill>
              <a:latin typeface="Aptos" panose="020B0004020202020204" pitchFamily="34" charset="0"/>
            </a:endParaRPr>
          </a:p>
        </p:txBody>
      </p:sp>
      <p:sp>
        <p:nvSpPr>
          <p:cNvPr id="16" name="led0">
            <a:extLst>
              <a:ext uri="{FF2B5EF4-FFF2-40B4-BE49-F238E27FC236}">
                <a16:creationId xmlns:a16="http://schemas.microsoft.com/office/drawing/2014/main" id="{89AF55A0-28D5-8DA0-A770-5D66EE31E3A0}"/>
              </a:ext>
            </a:extLst>
          </p:cNvPr>
          <p:cNvSpPr/>
          <p:nvPr/>
        </p:nvSpPr>
        <p:spPr>
          <a:xfrm>
            <a:off x="1016000" y="24892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ledbar0">
            <a:extLst>
              <a:ext uri="{FF2B5EF4-FFF2-40B4-BE49-F238E27FC236}">
                <a16:creationId xmlns:a16="http://schemas.microsoft.com/office/drawing/2014/main" id="{465888BD-D234-DCE0-7A67-3DC4547D5A49}"/>
              </a:ext>
            </a:extLst>
          </p:cNvPr>
          <p:cNvSpPr/>
          <p:nvPr/>
        </p:nvSpPr>
        <p:spPr>
          <a:xfrm>
            <a:off x="1016000" y="2489200"/>
            <a:ext cx="101600" cy="5334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ledp0">
            <a:extLst>
              <a:ext uri="{FF2B5EF4-FFF2-40B4-BE49-F238E27FC236}">
                <a16:creationId xmlns:a16="http://schemas.microsoft.com/office/drawing/2014/main" id="{F6F57682-DF75-F092-5473-9010336CD90C}"/>
              </a:ext>
            </a:extLst>
          </p:cNvPr>
          <p:cNvSpPr txBox="1"/>
          <p:nvPr/>
        </p:nvSpPr>
        <p:spPr>
          <a:xfrm>
            <a:off x="1371600" y="2628900"/>
            <a:ext cx="2032000" cy="276999"/>
          </a:xfrm>
          <a:prstGeom prst="rect">
            <a:avLst/>
          </a:prstGeom>
          <a:noFill/>
        </p:spPr>
        <p:txBody>
          <a:bodyPr vert="horz" wrap="square" lIns="0" tIns="0" rIns="0" bIns="0" rtlCol="0">
            <a:noAutofit/>
          </a:bodyPr>
          <a:lstStyle/>
          <a:p>
            <a:r>
              <a:rPr lang="en-US" altLang="zh-CN" sz="1350" b="1">
                <a:solidFill>
                  <a:srgbClr val="003B7A"/>
                </a:solidFill>
                <a:latin typeface="Aptos" panose="020B0004020202020204" pitchFamily="34" charset="0"/>
              </a:rPr>
              <a:t>CodeMarkBench</a:t>
            </a:r>
            <a:endParaRPr lang="zh-CN" altLang="en-US" sz="1350" b="1">
              <a:solidFill>
                <a:srgbClr val="003B7A"/>
              </a:solidFill>
              <a:latin typeface="Aptos" panose="020B0004020202020204" pitchFamily="34" charset="0"/>
            </a:endParaRPr>
          </a:p>
        </p:txBody>
      </p:sp>
      <p:sp>
        <p:nvSpPr>
          <p:cNvPr id="19" name="leds0">
            <a:extLst>
              <a:ext uri="{FF2B5EF4-FFF2-40B4-BE49-F238E27FC236}">
                <a16:creationId xmlns:a16="http://schemas.microsoft.com/office/drawing/2014/main" id="{7092C1CB-DE84-AFFC-6870-085EDB4A3FD1}"/>
              </a:ext>
            </a:extLst>
          </p:cNvPr>
          <p:cNvSpPr txBox="1"/>
          <p:nvPr/>
        </p:nvSpPr>
        <p:spPr>
          <a:xfrm>
            <a:off x="3962400" y="2628900"/>
            <a:ext cx="2794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140/140 runs</a:t>
            </a:r>
            <a:endParaRPr lang="zh-CN" altLang="en-US" sz="1300" b="1">
              <a:solidFill>
                <a:srgbClr val="071837"/>
              </a:solidFill>
              <a:latin typeface="Aptos" panose="020B0004020202020204" pitchFamily="34" charset="0"/>
            </a:endParaRPr>
          </a:p>
        </p:txBody>
      </p:sp>
      <p:sp>
        <p:nvSpPr>
          <p:cNvPr id="20" name="ledc0">
            <a:extLst>
              <a:ext uri="{FF2B5EF4-FFF2-40B4-BE49-F238E27FC236}">
                <a16:creationId xmlns:a16="http://schemas.microsoft.com/office/drawing/2014/main" id="{0AB1B298-FD2F-871E-BCB4-869D0A1922DF}"/>
              </a:ext>
            </a:extLst>
          </p:cNvPr>
          <p:cNvSpPr txBox="1"/>
          <p:nvPr/>
        </p:nvSpPr>
        <p:spPr>
          <a:xfrm>
            <a:off x="7366000" y="2628900"/>
            <a:ext cx="3302000" cy="276999"/>
          </a:xfrm>
          <a:prstGeom prst="rect">
            <a:avLst/>
          </a:prstGeom>
          <a:noFill/>
        </p:spPr>
        <p:txBody>
          <a:bodyPr vert="horz" wrap="square" lIns="0" tIns="0" rIns="0" bIns="0" rtlCol="0">
            <a:noAutofit/>
          </a:bodyPr>
          <a:lstStyle/>
          <a:p>
            <a:r>
              <a:rPr lang="en-US" altLang="zh-CN" sz="1250" b="1">
                <a:solidFill>
                  <a:srgbClr val="52617A"/>
                </a:solidFill>
                <a:latin typeface="Aptos" panose="020B0004020202020204" pitchFamily="34" charset="0"/>
              </a:rPr>
              <a:t>same benchmark track</a:t>
            </a:r>
            <a:endParaRPr lang="zh-CN" altLang="en-US" sz="1250" b="1">
              <a:solidFill>
                <a:srgbClr val="52617A"/>
              </a:solidFill>
              <a:latin typeface="Aptos" panose="020B0004020202020204" pitchFamily="34" charset="0"/>
            </a:endParaRPr>
          </a:p>
        </p:txBody>
      </p:sp>
      <p:sp>
        <p:nvSpPr>
          <p:cNvPr id="21" name="led1">
            <a:extLst>
              <a:ext uri="{FF2B5EF4-FFF2-40B4-BE49-F238E27FC236}">
                <a16:creationId xmlns:a16="http://schemas.microsoft.com/office/drawing/2014/main" id="{A0F5698E-4E0E-E876-8B45-219C1F34EB47}"/>
              </a:ext>
            </a:extLst>
          </p:cNvPr>
          <p:cNvSpPr/>
          <p:nvPr/>
        </p:nvSpPr>
        <p:spPr>
          <a:xfrm>
            <a:off x="1016000" y="31496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ledbar1">
            <a:extLst>
              <a:ext uri="{FF2B5EF4-FFF2-40B4-BE49-F238E27FC236}">
                <a16:creationId xmlns:a16="http://schemas.microsoft.com/office/drawing/2014/main" id="{8911897F-5581-859D-134B-EC3CD1B70C19}"/>
              </a:ext>
            </a:extLst>
          </p:cNvPr>
          <p:cNvSpPr/>
          <p:nvPr/>
        </p:nvSpPr>
        <p:spPr>
          <a:xfrm>
            <a:off x="1016000" y="3149600"/>
            <a:ext cx="101600" cy="5334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ledp1">
            <a:extLst>
              <a:ext uri="{FF2B5EF4-FFF2-40B4-BE49-F238E27FC236}">
                <a16:creationId xmlns:a16="http://schemas.microsoft.com/office/drawing/2014/main" id="{3056BCB5-CB20-2C0A-DFC5-6E4C99E05A18}"/>
              </a:ext>
            </a:extLst>
          </p:cNvPr>
          <p:cNvSpPr txBox="1"/>
          <p:nvPr/>
        </p:nvSpPr>
        <p:spPr>
          <a:xfrm>
            <a:off x="1371600" y="3289300"/>
            <a:ext cx="2032000" cy="276999"/>
          </a:xfrm>
          <a:prstGeom prst="rect">
            <a:avLst/>
          </a:prstGeom>
          <a:noFill/>
        </p:spPr>
        <p:txBody>
          <a:bodyPr vert="horz" wrap="square" lIns="0" tIns="0" rIns="0" bIns="0" rtlCol="0">
            <a:noAutofit/>
          </a:bodyPr>
          <a:lstStyle/>
          <a:p>
            <a:r>
              <a:rPr lang="en-US" altLang="zh-CN" sz="1350" b="1">
                <a:solidFill>
                  <a:srgbClr val="168E8B"/>
                </a:solidFill>
                <a:latin typeface="Aptos" panose="020B0004020202020204" pitchFamily="34" charset="0"/>
              </a:rPr>
              <a:t>SemCodebook</a:t>
            </a:r>
            <a:endParaRPr lang="zh-CN" altLang="en-US" sz="1350" b="1">
              <a:solidFill>
                <a:srgbClr val="168E8B"/>
              </a:solidFill>
              <a:latin typeface="Aptos" panose="020B0004020202020204" pitchFamily="34" charset="0"/>
            </a:endParaRPr>
          </a:p>
        </p:txBody>
      </p:sp>
      <p:sp>
        <p:nvSpPr>
          <p:cNvPr id="24" name="leds1">
            <a:extLst>
              <a:ext uri="{FF2B5EF4-FFF2-40B4-BE49-F238E27FC236}">
                <a16:creationId xmlns:a16="http://schemas.microsoft.com/office/drawing/2014/main" id="{F501A616-2A40-4D17-758F-322094D525DD}"/>
              </a:ext>
            </a:extLst>
          </p:cNvPr>
          <p:cNvSpPr txBox="1"/>
          <p:nvPr/>
        </p:nvSpPr>
        <p:spPr>
          <a:xfrm>
            <a:off x="3962400" y="3289300"/>
            <a:ext cx="2794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23,342/24,000</a:t>
            </a:r>
            <a:endParaRPr lang="zh-CN" altLang="en-US" sz="1300" b="1">
              <a:solidFill>
                <a:srgbClr val="071837"/>
              </a:solidFill>
              <a:latin typeface="Aptos" panose="020B0004020202020204" pitchFamily="34" charset="0"/>
            </a:endParaRPr>
          </a:p>
        </p:txBody>
      </p:sp>
      <p:sp>
        <p:nvSpPr>
          <p:cNvPr id="25" name="ledc1">
            <a:extLst>
              <a:ext uri="{FF2B5EF4-FFF2-40B4-BE49-F238E27FC236}">
                <a16:creationId xmlns:a16="http://schemas.microsoft.com/office/drawing/2014/main" id="{EEC8FF50-B17A-1CCF-54C2-34D742131666}"/>
              </a:ext>
            </a:extLst>
          </p:cNvPr>
          <p:cNvSpPr txBox="1"/>
          <p:nvPr/>
        </p:nvSpPr>
        <p:spPr>
          <a:xfrm>
            <a:off x="7366000" y="3289300"/>
            <a:ext cx="3302000" cy="276999"/>
          </a:xfrm>
          <a:prstGeom prst="rect">
            <a:avLst/>
          </a:prstGeom>
          <a:noFill/>
        </p:spPr>
        <p:txBody>
          <a:bodyPr vert="horz" wrap="square" lIns="0" tIns="0" rIns="0" bIns="0" rtlCol="0">
            <a:noAutofit/>
          </a:bodyPr>
          <a:lstStyle/>
          <a:p>
            <a:r>
              <a:rPr lang="en-US" altLang="zh-CN" sz="1250" b="1">
                <a:solidFill>
                  <a:srgbClr val="52617A"/>
                </a:solidFill>
                <a:latin typeface="Aptos" panose="020B0004020202020204" pitchFamily="34" charset="0"/>
              </a:rPr>
              <a:t>30,330/31,200; 0/62,400 x2 controls</a:t>
            </a:r>
            <a:endParaRPr lang="zh-CN" altLang="en-US" sz="1250" b="1">
              <a:solidFill>
                <a:srgbClr val="52617A"/>
              </a:solidFill>
              <a:latin typeface="Aptos" panose="020B0004020202020204" pitchFamily="34" charset="0"/>
            </a:endParaRPr>
          </a:p>
        </p:txBody>
      </p:sp>
      <p:sp>
        <p:nvSpPr>
          <p:cNvPr id="26" name="led2">
            <a:extLst>
              <a:ext uri="{FF2B5EF4-FFF2-40B4-BE49-F238E27FC236}">
                <a16:creationId xmlns:a16="http://schemas.microsoft.com/office/drawing/2014/main" id="{10245BC4-2660-EFDD-03A4-6D452BD4D214}"/>
              </a:ext>
            </a:extLst>
          </p:cNvPr>
          <p:cNvSpPr/>
          <p:nvPr/>
        </p:nvSpPr>
        <p:spPr>
          <a:xfrm>
            <a:off x="1016000" y="38100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ledbar2">
            <a:extLst>
              <a:ext uri="{FF2B5EF4-FFF2-40B4-BE49-F238E27FC236}">
                <a16:creationId xmlns:a16="http://schemas.microsoft.com/office/drawing/2014/main" id="{2A094FEE-A762-0C6F-A627-A8B27CCDFB22}"/>
              </a:ext>
            </a:extLst>
          </p:cNvPr>
          <p:cNvSpPr/>
          <p:nvPr/>
        </p:nvSpPr>
        <p:spPr>
          <a:xfrm>
            <a:off x="1016000" y="3810000"/>
            <a:ext cx="101600" cy="5334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ledp2">
            <a:extLst>
              <a:ext uri="{FF2B5EF4-FFF2-40B4-BE49-F238E27FC236}">
                <a16:creationId xmlns:a16="http://schemas.microsoft.com/office/drawing/2014/main" id="{D6557706-6B9B-3AAA-5175-595CA027C66E}"/>
              </a:ext>
            </a:extLst>
          </p:cNvPr>
          <p:cNvSpPr txBox="1"/>
          <p:nvPr/>
        </p:nvSpPr>
        <p:spPr>
          <a:xfrm>
            <a:off x="1371600" y="3949700"/>
            <a:ext cx="2032000" cy="276999"/>
          </a:xfrm>
          <a:prstGeom prst="rect">
            <a:avLst/>
          </a:prstGeom>
          <a:noFill/>
        </p:spPr>
        <p:txBody>
          <a:bodyPr vert="horz" wrap="square" lIns="0" tIns="0" rIns="0" bIns="0" rtlCol="0">
            <a:noAutofit/>
          </a:bodyPr>
          <a:lstStyle/>
          <a:p>
            <a:r>
              <a:rPr lang="en-US" altLang="zh-CN" sz="1350" b="1">
                <a:solidFill>
                  <a:srgbClr val="5B45C8"/>
                </a:solidFill>
                <a:latin typeface="Aptos" panose="020B0004020202020204" pitchFamily="34" charset="0"/>
              </a:rPr>
              <a:t>CodeDye</a:t>
            </a:r>
            <a:endParaRPr lang="zh-CN" altLang="en-US" sz="1350" b="1">
              <a:solidFill>
                <a:srgbClr val="5B45C8"/>
              </a:solidFill>
              <a:latin typeface="Aptos" panose="020B0004020202020204" pitchFamily="34" charset="0"/>
            </a:endParaRPr>
          </a:p>
        </p:txBody>
      </p:sp>
      <p:sp>
        <p:nvSpPr>
          <p:cNvPr id="29" name="leds2">
            <a:extLst>
              <a:ext uri="{FF2B5EF4-FFF2-40B4-BE49-F238E27FC236}">
                <a16:creationId xmlns:a16="http://schemas.microsoft.com/office/drawing/2014/main" id="{C6DA63FC-D3E1-04CA-A76A-AECE40FBDEEF}"/>
              </a:ext>
            </a:extLst>
          </p:cNvPr>
          <p:cNvSpPr txBox="1"/>
          <p:nvPr/>
        </p:nvSpPr>
        <p:spPr>
          <a:xfrm>
            <a:off x="3962400" y="3949700"/>
            <a:ext cx="2794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6/300 sparse live</a:t>
            </a:r>
            <a:endParaRPr lang="zh-CN" altLang="en-US" sz="1300" b="1">
              <a:solidFill>
                <a:srgbClr val="071837"/>
              </a:solidFill>
              <a:latin typeface="Aptos" panose="020B0004020202020204" pitchFamily="34" charset="0"/>
            </a:endParaRPr>
          </a:p>
        </p:txBody>
      </p:sp>
      <p:sp>
        <p:nvSpPr>
          <p:cNvPr id="30" name="ledc2">
            <a:extLst>
              <a:ext uri="{FF2B5EF4-FFF2-40B4-BE49-F238E27FC236}">
                <a16:creationId xmlns:a16="http://schemas.microsoft.com/office/drawing/2014/main" id="{96C3871A-69C6-13C9-FF6D-B1D99B29BABB}"/>
              </a:ext>
            </a:extLst>
          </p:cNvPr>
          <p:cNvSpPr txBox="1"/>
          <p:nvPr/>
        </p:nvSpPr>
        <p:spPr>
          <a:xfrm>
            <a:off x="7366000" y="3949700"/>
            <a:ext cx="3302000" cy="276999"/>
          </a:xfrm>
          <a:prstGeom prst="rect">
            <a:avLst/>
          </a:prstGeom>
          <a:noFill/>
        </p:spPr>
        <p:txBody>
          <a:bodyPr vert="horz" wrap="square" lIns="0" tIns="0" rIns="0" bIns="0" rtlCol="0">
            <a:noAutofit/>
          </a:bodyPr>
          <a:lstStyle/>
          <a:p>
            <a:r>
              <a:rPr lang="en-US" altLang="zh-CN" sz="1250" b="1">
                <a:solidFill>
                  <a:srgbClr val="52617A"/>
                </a:solidFill>
                <a:latin typeface="Aptos" panose="020B0004020202020204" pitchFamily="34" charset="0"/>
              </a:rPr>
              <a:t>0/300 fresh; 272/300 calibration</a:t>
            </a:r>
            <a:endParaRPr lang="zh-CN" altLang="en-US" sz="1250" b="1">
              <a:solidFill>
                <a:srgbClr val="52617A"/>
              </a:solidFill>
              <a:latin typeface="Aptos" panose="020B0004020202020204" pitchFamily="34" charset="0"/>
            </a:endParaRPr>
          </a:p>
        </p:txBody>
      </p:sp>
      <p:sp>
        <p:nvSpPr>
          <p:cNvPr id="31" name="led3">
            <a:extLst>
              <a:ext uri="{FF2B5EF4-FFF2-40B4-BE49-F238E27FC236}">
                <a16:creationId xmlns:a16="http://schemas.microsoft.com/office/drawing/2014/main" id="{5B4DF355-B06B-FF44-9222-55809A57BF7A}"/>
              </a:ext>
            </a:extLst>
          </p:cNvPr>
          <p:cNvSpPr/>
          <p:nvPr/>
        </p:nvSpPr>
        <p:spPr>
          <a:xfrm>
            <a:off x="1016000" y="44704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ledbar3">
            <a:extLst>
              <a:ext uri="{FF2B5EF4-FFF2-40B4-BE49-F238E27FC236}">
                <a16:creationId xmlns:a16="http://schemas.microsoft.com/office/drawing/2014/main" id="{8D21A84B-DC71-17E0-0EA2-B2B5DF0833C6}"/>
              </a:ext>
            </a:extLst>
          </p:cNvPr>
          <p:cNvSpPr/>
          <p:nvPr/>
        </p:nvSpPr>
        <p:spPr>
          <a:xfrm>
            <a:off x="1016000" y="4470400"/>
            <a:ext cx="101600" cy="5334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ledp3">
            <a:extLst>
              <a:ext uri="{FF2B5EF4-FFF2-40B4-BE49-F238E27FC236}">
                <a16:creationId xmlns:a16="http://schemas.microsoft.com/office/drawing/2014/main" id="{F747A90B-CC52-D29B-683E-752D2AEB84CE}"/>
              </a:ext>
            </a:extLst>
          </p:cNvPr>
          <p:cNvSpPr txBox="1"/>
          <p:nvPr/>
        </p:nvSpPr>
        <p:spPr>
          <a:xfrm>
            <a:off x="1371600" y="4610100"/>
            <a:ext cx="2032000" cy="276999"/>
          </a:xfrm>
          <a:prstGeom prst="rect">
            <a:avLst/>
          </a:prstGeom>
          <a:noFill/>
        </p:spPr>
        <p:txBody>
          <a:bodyPr vert="horz" wrap="square" lIns="0" tIns="0" rIns="0" bIns="0" rtlCol="0">
            <a:noAutofit/>
          </a:bodyPr>
          <a:lstStyle/>
          <a:p>
            <a:r>
              <a:rPr lang="en-US" altLang="zh-CN" sz="1350" b="1">
                <a:solidFill>
                  <a:srgbClr val="B85C00"/>
                </a:solidFill>
                <a:latin typeface="Aptos" panose="020B0004020202020204" pitchFamily="34" charset="0"/>
              </a:rPr>
              <a:t>ProbeTrace</a:t>
            </a:r>
            <a:endParaRPr lang="zh-CN" altLang="en-US" sz="1350" b="1">
              <a:solidFill>
                <a:srgbClr val="B85C00"/>
              </a:solidFill>
              <a:latin typeface="Aptos" panose="020B0004020202020204" pitchFamily="34" charset="0"/>
            </a:endParaRPr>
          </a:p>
        </p:txBody>
      </p:sp>
      <p:sp>
        <p:nvSpPr>
          <p:cNvPr id="34" name="leds3">
            <a:extLst>
              <a:ext uri="{FF2B5EF4-FFF2-40B4-BE49-F238E27FC236}">
                <a16:creationId xmlns:a16="http://schemas.microsoft.com/office/drawing/2014/main" id="{6354388C-10F4-BB85-5632-2B430A3B9B8B}"/>
              </a:ext>
            </a:extLst>
          </p:cNvPr>
          <p:cNvSpPr txBox="1"/>
          <p:nvPr/>
        </p:nvSpPr>
        <p:spPr>
          <a:xfrm>
            <a:off x="3962400" y="4610100"/>
            <a:ext cx="2794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300/300 decisions</a:t>
            </a:r>
            <a:endParaRPr lang="zh-CN" altLang="en-US" sz="1300" b="1">
              <a:solidFill>
                <a:srgbClr val="071837"/>
              </a:solidFill>
              <a:latin typeface="Aptos" panose="020B0004020202020204" pitchFamily="34" charset="0"/>
            </a:endParaRPr>
          </a:p>
        </p:txBody>
      </p:sp>
      <p:sp>
        <p:nvSpPr>
          <p:cNvPr id="35" name="ledc3">
            <a:extLst>
              <a:ext uri="{FF2B5EF4-FFF2-40B4-BE49-F238E27FC236}">
                <a16:creationId xmlns:a16="http://schemas.microsoft.com/office/drawing/2014/main" id="{67C80964-6465-5928-3A72-D69032AF1B7C}"/>
              </a:ext>
            </a:extLst>
          </p:cNvPr>
          <p:cNvSpPr txBox="1"/>
          <p:nvPr/>
        </p:nvSpPr>
        <p:spPr>
          <a:xfrm>
            <a:off x="7366000" y="4610100"/>
            <a:ext cx="3302000" cy="276999"/>
          </a:xfrm>
          <a:prstGeom prst="rect">
            <a:avLst/>
          </a:prstGeom>
          <a:noFill/>
        </p:spPr>
        <p:txBody>
          <a:bodyPr vert="horz" wrap="square" lIns="0" tIns="0" rIns="0" bIns="0" rtlCol="0">
            <a:noAutofit/>
          </a:bodyPr>
          <a:lstStyle/>
          <a:p>
            <a:r>
              <a:rPr lang="en-US" altLang="zh-CN" sz="1250" b="1">
                <a:solidFill>
                  <a:srgbClr val="52617A"/>
                </a:solidFill>
                <a:latin typeface="Aptos" panose="020B0004020202020204" pitchFamily="34" charset="0"/>
              </a:rPr>
              <a:t>750/750 true owner; 0/5,250 controls</a:t>
            </a:r>
            <a:endParaRPr lang="zh-CN" altLang="en-US" sz="1250" b="1">
              <a:solidFill>
                <a:srgbClr val="52617A"/>
              </a:solidFill>
              <a:latin typeface="Aptos" panose="020B0004020202020204" pitchFamily="34" charset="0"/>
            </a:endParaRPr>
          </a:p>
        </p:txBody>
      </p:sp>
      <p:sp>
        <p:nvSpPr>
          <p:cNvPr id="36" name="led4">
            <a:extLst>
              <a:ext uri="{FF2B5EF4-FFF2-40B4-BE49-F238E27FC236}">
                <a16:creationId xmlns:a16="http://schemas.microsoft.com/office/drawing/2014/main" id="{D0BEDDE0-A3D7-45F4-B3FA-DBBD3D82E720}"/>
              </a:ext>
            </a:extLst>
          </p:cNvPr>
          <p:cNvSpPr/>
          <p:nvPr/>
        </p:nvSpPr>
        <p:spPr>
          <a:xfrm>
            <a:off x="1016000" y="5130800"/>
            <a:ext cx="10160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ledbar4">
            <a:extLst>
              <a:ext uri="{FF2B5EF4-FFF2-40B4-BE49-F238E27FC236}">
                <a16:creationId xmlns:a16="http://schemas.microsoft.com/office/drawing/2014/main" id="{7B027C58-A91C-34D4-306C-06F39569AE67}"/>
              </a:ext>
            </a:extLst>
          </p:cNvPr>
          <p:cNvSpPr/>
          <p:nvPr/>
        </p:nvSpPr>
        <p:spPr>
          <a:xfrm>
            <a:off x="1016000" y="5130800"/>
            <a:ext cx="101600" cy="5334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ledp4">
            <a:extLst>
              <a:ext uri="{FF2B5EF4-FFF2-40B4-BE49-F238E27FC236}">
                <a16:creationId xmlns:a16="http://schemas.microsoft.com/office/drawing/2014/main" id="{2ABCEC04-101E-20B4-F329-996574000AAD}"/>
              </a:ext>
            </a:extLst>
          </p:cNvPr>
          <p:cNvSpPr txBox="1"/>
          <p:nvPr/>
        </p:nvSpPr>
        <p:spPr>
          <a:xfrm>
            <a:off x="1371600" y="5270500"/>
            <a:ext cx="2032000" cy="276999"/>
          </a:xfrm>
          <a:prstGeom prst="rect">
            <a:avLst/>
          </a:prstGeom>
          <a:noFill/>
        </p:spPr>
        <p:txBody>
          <a:bodyPr vert="horz" wrap="square" lIns="0" tIns="0" rIns="0" bIns="0" rtlCol="0">
            <a:noAutofit/>
          </a:bodyPr>
          <a:lstStyle/>
          <a:p>
            <a:r>
              <a:rPr lang="en-US" altLang="zh-CN" sz="1350" b="1">
                <a:solidFill>
                  <a:srgbClr val="1F7A4D"/>
                </a:solidFill>
                <a:latin typeface="Aptos" panose="020B0004020202020204" pitchFamily="34" charset="0"/>
              </a:rPr>
              <a:t>SealAudit</a:t>
            </a:r>
            <a:endParaRPr lang="zh-CN" altLang="en-US" sz="1350" b="1">
              <a:solidFill>
                <a:srgbClr val="1F7A4D"/>
              </a:solidFill>
              <a:latin typeface="Aptos" panose="020B0004020202020204" pitchFamily="34" charset="0"/>
            </a:endParaRPr>
          </a:p>
        </p:txBody>
      </p:sp>
      <p:sp>
        <p:nvSpPr>
          <p:cNvPr id="39" name="leds4">
            <a:extLst>
              <a:ext uri="{FF2B5EF4-FFF2-40B4-BE49-F238E27FC236}">
                <a16:creationId xmlns:a16="http://schemas.microsoft.com/office/drawing/2014/main" id="{FC71BCF8-2C01-3899-5175-6AB718BB7D7A}"/>
              </a:ext>
            </a:extLst>
          </p:cNvPr>
          <p:cNvSpPr txBox="1"/>
          <p:nvPr/>
        </p:nvSpPr>
        <p:spPr>
          <a:xfrm>
            <a:off x="3962400" y="5270500"/>
            <a:ext cx="2794000" cy="276999"/>
          </a:xfrm>
          <a:prstGeom prst="rect">
            <a:avLst/>
          </a:prstGeom>
          <a:noFill/>
        </p:spPr>
        <p:txBody>
          <a:bodyPr vert="horz" wrap="square" lIns="0" tIns="0" rIns="0" bIns="0" rtlCol="0">
            <a:noAutofit/>
          </a:bodyPr>
          <a:lstStyle/>
          <a:p>
            <a:r>
              <a:rPr lang="en-US" altLang="zh-CN" sz="1300" b="1">
                <a:solidFill>
                  <a:srgbClr val="071837"/>
                </a:solidFill>
                <a:latin typeface="Aptos" panose="020B0004020202020204" pitchFamily="34" charset="0"/>
              </a:rPr>
              <a:t>81/960 decisive</a:t>
            </a:r>
            <a:endParaRPr lang="zh-CN" altLang="en-US" sz="1300" b="1">
              <a:solidFill>
                <a:srgbClr val="071837"/>
              </a:solidFill>
              <a:latin typeface="Aptos" panose="020B0004020202020204" pitchFamily="34" charset="0"/>
            </a:endParaRPr>
          </a:p>
        </p:txBody>
      </p:sp>
      <p:sp>
        <p:nvSpPr>
          <p:cNvPr id="40" name="ledc4">
            <a:extLst>
              <a:ext uri="{FF2B5EF4-FFF2-40B4-BE49-F238E27FC236}">
                <a16:creationId xmlns:a16="http://schemas.microsoft.com/office/drawing/2014/main" id="{0AC75524-F007-425B-218D-EE0077430608}"/>
              </a:ext>
            </a:extLst>
          </p:cNvPr>
          <p:cNvSpPr txBox="1"/>
          <p:nvPr/>
        </p:nvSpPr>
        <p:spPr>
          <a:xfrm>
            <a:off x="7366000" y="5270500"/>
            <a:ext cx="3302000" cy="276999"/>
          </a:xfrm>
          <a:prstGeom prst="rect">
            <a:avLst/>
          </a:prstGeom>
          <a:noFill/>
        </p:spPr>
        <p:txBody>
          <a:bodyPr vert="horz" wrap="square" lIns="0" tIns="0" rIns="0" bIns="0" rtlCol="0">
            <a:noAutofit/>
          </a:bodyPr>
          <a:lstStyle/>
          <a:p>
            <a:r>
              <a:rPr lang="en-US" altLang="zh-CN" sz="1250" b="1">
                <a:solidFill>
                  <a:srgbClr val="52617A"/>
                </a:solidFill>
                <a:latin typeface="Aptos" panose="020B0004020202020204" pitchFamily="34" charset="0"/>
              </a:rPr>
              <a:t>320/960 decisive; 0/960 unsafe pass</a:t>
            </a:r>
            <a:endParaRPr lang="zh-CN" altLang="en-US" sz="1250" b="1">
              <a:solidFill>
                <a:srgbClr val="52617A"/>
              </a:solidFill>
              <a:latin typeface="Aptos" panose="020B0004020202020204" pitchFamily="34" charset="0"/>
            </a:endParaRPr>
          </a:p>
        </p:txBody>
      </p:sp>
      <p:sp>
        <p:nvSpPr>
          <p:cNvPr id="41" name="footer-hit-11">
            <a:hlinkClick r:id="rId4"/>
            <a:extLst>
              <a:ext uri="{FF2B5EF4-FFF2-40B4-BE49-F238E27FC236}">
                <a16:creationId xmlns:a16="http://schemas.microsoft.com/office/drawing/2014/main" id="{1CFC9FA9-1132-D078-B4C1-F9ED16B1F594}"/>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9671096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60"/>
                                        <p:tgtEl>
                                          <p:spTgt spid="16"/>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160"/>
                                        <p:tgtEl>
                                          <p:spTgt spid="17"/>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160"/>
                                        <p:tgtEl>
                                          <p:spTgt spid="18"/>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160"/>
                                        <p:tgtEl>
                                          <p:spTgt spid="19"/>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160"/>
                                        <p:tgtEl>
                                          <p:spTgt spid="20"/>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160"/>
                                        <p:tgtEl>
                                          <p:spTgt spid="21"/>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160"/>
                                        <p:tgtEl>
                                          <p:spTgt spid="22"/>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160"/>
                                        <p:tgtEl>
                                          <p:spTgt spid="23"/>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160"/>
                                        <p:tgtEl>
                                          <p:spTgt spid="24"/>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160"/>
                                        <p:tgtEl>
                                          <p:spTgt spid="25"/>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160"/>
                                        <p:tgtEl>
                                          <p:spTgt spid="26"/>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160"/>
                                        <p:tgtEl>
                                          <p:spTgt spid="27"/>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160"/>
                                        <p:tgtEl>
                                          <p:spTgt spid="28"/>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160"/>
                                        <p:tgtEl>
                                          <p:spTgt spid="29"/>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160"/>
                                        <p:tgtEl>
                                          <p:spTgt spid="30"/>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160"/>
                                        <p:tgtEl>
                                          <p:spTgt spid="31"/>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160"/>
                                        <p:tgtEl>
                                          <p:spTgt spid="32"/>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160"/>
                                        <p:tgtEl>
                                          <p:spTgt spid="33"/>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4"/>
                                        </p:tgtEl>
                                        <p:attrNameLst>
                                          <p:attrName>style.visibility</p:attrName>
                                        </p:attrNameLst>
                                      </p:cBhvr>
                                      <p:to>
                                        <p:strVal val="visible"/>
                                      </p:to>
                                    </p:set>
                                    <p:animEffect transition="in" filter="fade">
                                      <p:cBhvr>
                                        <p:cTn id="79" dur="160"/>
                                        <p:tgtEl>
                                          <p:spTgt spid="34"/>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160"/>
                                        <p:tgtEl>
                                          <p:spTgt spid="35"/>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6"/>
                                        </p:tgtEl>
                                        <p:attrNameLst>
                                          <p:attrName>style.visibility</p:attrName>
                                        </p:attrNameLst>
                                      </p:cBhvr>
                                      <p:to>
                                        <p:strVal val="visible"/>
                                      </p:to>
                                    </p:set>
                                    <p:animEffect transition="in" filter="fade">
                                      <p:cBhvr>
                                        <p:cTn id="87" dur="160"/>
                                        <p:tgtEl>
                                          <p:spTgt spid="36"/>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160"/>
                                        <p:tgtEl>
                                          <p:spTgt spid="37"/>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160"/>
                                        <p:tgtEl>
                                          <p:spTgt spid="38"/>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160"/>
                                        <p:tgtEl>
                                          <p:spTgt spid="39"/>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40"/>
                                        </p:tgtEl>
                                        <p:attrNameLst>
                                          <p:attrName>style.visibility</p:attrName>
                                        </p:attrNameLst>
                                      </p:cBhvr>
                                      <p:to>
                                        <p:strVal val="visible"/>
                                      </p:to>
                                    </p:set>
                                    <p:animEffect transition="in" filter="fade">
                                      <p:cBhvr>
                                        <p:cTn id="103" dur="16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p:bldP spid="20" grpId="0"/>
      <p:bldP spid="21" grpId="0" animBg="1"/>
      <p:bldP spid="22" grpId="0" animBg="1"/>
      <p:bldP spid="23" grpId="0"/>
      <p:bldP spid="24" grpId="0"/>
      <p:bldP spid="25" grpId="0"/>
      <p:bldP spid="26" grpId="0" animBg="1"/>
      <p:bldP spid="27" grpId="0" animBg="1"/>
      <p:bldP spid="28" grpId="0"/>
      <p:bldP spid="29" grpId="0"/>
      <p:bldP spid="30" grpId="0"/>
      <p:bldP spid="31" grpId="0" animBg="1"/>
      <p:bldP spid="32" grpId="0" animBg="1"/>
      <p:bldP spid="33" grpId="0"/>
      <p:bldP spid="34" grpId="0"/>
      <p:bldP spid="35" grpId="0"/>
      <p:bldP spid="36" grpId="0" animBg="1"/>
      <p:bldP spid="37" grpId="0" animBg="1"/>
      <p:bldP spid="38" grpId="0"/>
      <p:bldP spid="39" grpId="0"/>
      <p:bldP spid="40"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D048F173-EDF1-935F-C663-3DEA5FA49E51}"/>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863408C-4FE9-6643-DF38-0B74F5F77C2B}"/>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7D51CFCB-19E3-031C-66EF-0985EA572915}"/>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DEMO 1</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BB7A8CF9-69E4-0F39-3987-FF5408A2D901}"/>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12</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62D911F5-8CCF-EAB0-FA2A-55509F434422}"/>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E55CE2A5-19EA-5E4A-E7EA-7F9FCDC0D529}"/>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730D99F7-D83D-2066-34A9-F95E46041760}"/>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A5FF19A7-FA60-BF36-7F98-DD0401F2677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4810466B-96E1-80CA-14E4-824F0F95DFBD}"/>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A 90-second video should prove repository inspectability.</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DCA9BBB2-4D74-1665-2606-F73F9EDC2F6A}"/>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Open the project page, then trace one claim to its boundary, manifest row, artifact path, and hash.</a:t>
            </a:r>
            <a:endParaRPr lang="zh-CN" altLang="en-US" sz="1700">
              <a:solidFill>
                <a:srgbClr val="52617A"/>
              </a:solidFill>
              <a:latin typeface="Aptos" panose="020B0004020202020204" pitchFamily="34" charset="0"/>
            </a:endParaRPr>
          </a:p>
        </p:txBody>
      </p:sp>
      <p:sp>
        <p:nvSpPr>
          <p:cNvPr id="13" name="video">
            <a:extLst>
              <a:ext uri="{FF2B5EF4-FFF2-40B4-BE49-F238E27FC236}">
                <a16:creationId xmlns:a16="http://schemas.microsoft.com/office/drawing/2014/main" id="{5556A4F0-63AE-EB94-8B6B-BC0ABC0E7829}"/>
              </a:ext>
            </a:extLst>
          </p:cNvPr>
          <p:cNvSpPr/>
          <p:nvPr/>
        </p:nvSpPr>
        <p:spPr>
          <a:xfrm>
            <a:off x="838200" y="2235200"/>
            <a:ext cx="5308600" cy="3225800"/>
          </a:xfrm>
          <a:prstGeom prst="roundRect">
            <a:avLst>
              <a:gd name="adj" fmla="val 14000"/>
            </a:avLst>
          </a:prstGeom>
          <a:solidFill>
            <a:srgbClr val="EBF3FD"/>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play">
            <a:extLst>
              <a:ext uri="{FF2B5EF4-FFF2-40B4-BE49-F238E27FC236}">
                <a16:creationId xmlns:a16="http://schemas.microsoft.com/office/drawing/2014/main" id="{0FC1D2D7-E3AD-D0EF-491A-956DCBDA949E}"/>
              </a:ext>
            </a:extLst>
          </p:cNvPr>
          <p:cNvSpPr/>
          <p:nvPr/>
        </p:nvSpPr>
        <p:spPr>
          <a:xfrm>
            <a:off x="2984500" y="3251200"/>
            <a:ext cx="1041400" cy="1041400"/>
          </a:xfrm>
          <a:prstGeom prst="ellipse">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play-t">
            <a:extLst>
              <a:ext uri="{FF2B5EF4-FFF2-40B4-BE49-F238E27FC236}">
                <a16:creationId xmlns:a16="http://schemas.microsoft.com/office/drawing/2014/main" id="{0E8BF76D-8FE2-21AD-230D-82531919ADDD}"/>
              </a:ext>
            </a:extLst>
          </p:cNvPr>
          <p:cNvSpPr txBox="1"/>
          <p:nvPr/>
        </p:nvSpPr>
        <p:spPr>
          <a:xfrm>
            <a:off x="3225800" y="3556000"/>
            <a:ext cx="584200" cy="276999"/>
          </a:xfrm>
          <a:prstGeom prst="rect">
            <a:avLst/>
          </a:prstGeom>
          <a:noFill/>
        </p:spPr>
        <p:txBody>
          <a:bodyPr vert="horz" wrap="square" lIns="0" tIns="0" rIns="0" bIns="0" rtlCol="0">
            <a:noAutofit/>
          </a:bodyPr>
          <a:lstStyle/>
          <a:p>
            <a:pPr algn="ctr"/>
            <a:r>
              <a:rPr lang="en-US" altLang="zh-CN" sz="1400" b="1">
                <a:solidFill>
                  <a:srgbClr val="FFFFFF"/>
                </a:solidFill>
                <a:latin typeface="Aptos" panose="020B0004020202020204" pitchFamily="34" charset="0"/>
              </a:rPr>
              <a:t>PLAY</a:t>
            </a:r>
            <a:endParaRPr lang="zh-CN" altLang="en-US" sz="1400" b="1">
              <a:solidFill>
                <a:srgbClr val="FFFFFF"/>
              </a:solidFill>
              <a:latin typeface="Aptos" panose="020B0004020202020204" pitchFamily="34" charset="0"/>
            </a:endParaRPr>
          </a:p>
        </p:txBody>
      </p:sp>
      <p:sp>
        <p:nvSpPr>
          <p:cNvPr id="16" name="video-l">
            <a:extLst>
              <a:ext uri="{FF2B5EF4-FFF2-40B4-BE49-F238E27FC236}">
                <a16:creationId xmlns:a16="http://schemas.microsoft.com/office/drawing/2014/main" id="{DF97D409-6B3F-CD9B-D079-7460F2BBFFE2}"/>
              </a:ext>
            </a:extLst>
          </p:cNvPr>
          <p:cNvSpPr txBox="1"/>
          <p:nvPr/>
        </p:nvSpPr>
        <p:spPr>
          <a:xfrm>
            <a:off x="1498600" y="4699000"/>
            <a:ext cx="4038600" cy="276999"/>
          </a:xfrm>
          <a:prstGeom prst="rect">
            <a:avLst/>
          </a:prstGeom>
          <a:noFill/>
        </p:spPr>
        <p:txBody>
          <a:bodyPr vert="horz" wrap="square" lIns="0" tIns="0" rIns="0" bIns="0" rtlCol="0">
            <a:noAutofit/>
          </a:bodyPr>
          <a:lstStyle/>
          <a:p>
            <a:pPr algn="ctr"/>
            <a:r>
              <a:rPr lang="en-US" altLang="zh-CN" sz="1500" b="1">
                <a:solidFill>
                  <a:srgbClr val="071837"/>
                </a:solidFill>
                <a:latin typeface="Aptos" panose="020B0004020202020204" pitchFamily="34" charset="0"/>
              </a:rPr>
              <a:t>Insert repository walkthrough video here</a:t>
            </a:r>
            <a:endParaRPr lang="zh-CN" altLang="en-US" sz="1500" b="1">
              <a:solidFill>
                <a:srgbClr val="071837"/>
              </a:solidFill>
              <a:latin typeface="Aptos" panose="020B0004020202020204" pitchFamily="34" charset="0"/>
            </a:endParaRPr>
          </a:p>
        </p:txBody>
      </p:sp>
      <p:sp>
        <p:nvSpPr>
          <p:cNvPr id="17" name="demo0">
            <a:extLst>
              <a:ext uri="{FF2B5EF4-FFF2-40B4-BE49-F238E27FC236}">
                <a16:creationId xmlns:a16="http://schemas.microsoft.com/office/drawing/2014/main" id="{263CB7A8-472F-961F-B372-6FC53465D476}"/>
              </a:ext>
            </a:extLst>
          </p:cNvPr>
          <p:cNvSpPr/>
          <p:nvPr/>
        </p:nvSpPr>
        <p:spPr>
          <a:xfrm>
            <a:off x="6959600" y="223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emo-n0">
            <a:extLst>
              <a:ext uri="{FF2B5EF4-FFF2-40B4-BE49-F238E27FC236}">
                <a16:creationId xmlns:a16="http://schemas.microsoft.com/office/drawing/2014/main" id="{AA473822-9BD1-6FE4-F7EA-89ABD6E46095}"/>
              </a:ext>
            </a:extLst>
          </p:cNvPr>
          <p:cNvSpPr txBox="1"/>
          <p:nvPr/>
        </p:nvSpPr>
        <p:spPr>
          <a:xfrm>
            <a:off x="7239000" y="236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01</a:t>
            </a:r>
            <a:endParaRPr lang="zh-CN" altLang="en-US" sz="1050" b="1">
              <a:solidFill>
                <a:srgbClr val="003B7A"/>
              </a:solidFill>
              <a:latin typeface="Aptos" panose="020B0004020202020204" pitchFamily="34" charset="0"/>
            </a:endParaRPr>
          </a:p>
        </p:txBody>
      </p:sp>
      <p:sp>
        <p:nvSpPr>
          <p:cNvPr id="19" name="demo-t0">
            <a:extLst>
              <a:ext uri="{FF2B5EF4-FFF2-40B4-BE49-F238E27FC236}">
                <a16:creationId xmlns:a16="http://schemas.microsoft.com/office/drawing/2014/main" id="{56A74B2D-91AB-379C-417D-BADBE51B753F}"/>
              </a:ext>
            </a:extLst>
          </p:cNvPr>
          <p:cNvSpPr txBox="1"/>
          <p:nvPr/>
        </p:nvSpPr>
        <p:spPr>
          <a:xfrm>
            <a:off x="7874000" y="2349500"/>
            <a:ext cx="24130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Project page</a:t>
            </a:r>
            <a:endParaRPr lang="zh-CN" altLang="en-US" sz="1280" b="1">
              <a:solidFill>
                <a:srgbClr val="071837"/>
              </a:solidFill>
              <a:latin typeface="Aptos" panose="020B0004020202020204" pitchFamily="34" charset="0"/>
            </a:endParaRPr>
          </a:p>
        </p:txBody>
      </p:sp>
      <p:sp>
        <p:nvSpPr>
          <p:cNvPr id="20" name="demo-hit0">
            <a:hlinkClick r:id="rId4"/>
            <a:extLst>
              <a:ext uri="{FF2B5EF4-FFF2-40B4-BE49-F238E27FC236}">
                <a16:creationId xmlns:a16="http://schemas.microsoft.com/office/drawing/2014/main" id="{8292FF9C-68F6-7824-E75D-F0EB455951A2}"/>
              </a:ext>
            </a:extLst>
          </p:cNvPr>
          <p:cNvSpPr/>
          <p:nvPr/>
        </p:nvSpPr>
        <p:spPr>
          <a:xfrm>
            <a:off x="6959600" y="223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demo1">
            <a:extLst>
              <a:ext uri="{FF2B5EF4-FFF2-40B4-BE49-F238E27FC236}">
                <a16:creationId xmlns:a16="http://schemas.microsoft.com/office/drawing/2014/main" id="{8CCAAAD9-F15E-6518-6591-72029C4E298C}"/>
              </a:ext>
            </a:extLst>
          </p:cNvPr>
          <p:cNvSpPr/>
          <p:nvPr/>
        </p:nvSpPr>
        <p:spPr>
          <a:xfrm>
            <a:off x="6959600" y="2870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emo-n1">
            <a:extLst>
              <a:ext uri="{FF2B5EF4-FFF2-40B4-BE49-F238E27FC236}">
                <a16:creationId xmlns:a16="http://schemas.microsoft.com/office/drawing/2014/main" id="{CD8C43D2-6FCE-1E81-B02E-FF15E87524F5}"/>
              </a:ext>
            </a:extLst>
          </p:cNvPr>
          <p:cNvSpPr txBox="1"/>
          <p:nvPr/>
        </p:nvSpPr>
        <p:spPr>
          <a:xfrm>
            <a:off x="7239000" y="2997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02</a:t>
            </a:r>
            <a:endParaRPr lang="zh-CN" altLang="en-US" sz="1050" b="1">
              <a:solidFill>
                <a:srgbClr val="003B7A"/>
              </a:solidFill>
              <a:latin typeface="Aptos" panose="020B0004020202020204" pitchFamily="34" charset="0"/>
            </a:endParaRPr>
          </a:p>
        </p:txBody>
      </p:sp>
      <p:sp>
        <p:nvSpPr>
          <p:cNvPr id="23" name="demo-t1">
            <a:extLst>
              <a:ext uri="{FF2B5EF4-FFF2-40B4-BE49-F238E27FC236}">
                <a16:creationId xmlns:a16="http://schemas.microsoft.com/office/drawing/2014/main" id="{661F6E0D-A4FC-7C3B-7F32-98F8D22B8612}"/>
              </a:ext>
            </a:extLst>
          </p:cNvPr>
          <p:cNvSpPr txBox="1"/>
          <p:nvPr/>
        </p:nvSpPr>
        <p:spPr>
          <a:xfrm>
            <a:off x="7874000" y="2984500"/>
            <a:ext cx="24130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README / folders</a:t>
            </a:r>
            <a:endParaRPr lang="zh-CN" altLang="en-US" sz="1280" b="1">
              <a:solidFill>
                <a:srgbClr val="071837"/>
              </a:solidFill>
              <a:latin typeface="Aptos" panose="020B0004020202020204" pitchFamily="34" charset="0"/>
            </a:endParaRPr>
          </a:p>
        </p:txBody>
      </p:sp>
      <p:sp>
        <p:nvSpPr>
          <p:cNvPr id="24" name="demo-hit1">
            <a:hlinkClick r:id="rId5"/>
            <a:extLst>
              <a:ext uri="{FF2B5EF4-FFF2-40B4-BE49-F238E27FC236}">
                <a16:creationId xmlns:a16="http://schemas.microsoft.com/office/drawing/2014/main" id="{7F013047-EDA9-53A5-44D7-A900690F999D}"/>
              </a:ext>
            </a:extLst>
          </p:cNvPr>
          <p:cNvSpPr/>
          <p:nvPr/>
        </p:nvSpPr>
        <p:spPr>
          <a:xfrm>
            <a:off x="6959600" y="2870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demo2">
            <a:extLst>
              <a:ext uri="{FF2B5EF4-FFF2-40B4-BE49-F238E27FC236}">
                <a16:creationId xmlns:a16="http://schemas.microsoft.com/office/drawing/2014/main" id="{B0591714-CBCA-7D4C-4B5F-1C7F7632BF78}"/>
              </a:ext>
            </a:extLst>
          </p:cNvPr>
          <p:cNvSpPr/>
          <p:nvPr/>
        </p:nvSpPr>
        <p:spPr>
          <a:xfrm>
            <a:off x="6959600" y="350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demo-n2">
            <a:extLst>
              <a:ext uri="{FF2B5EF4-FFF2-40B4-BE49-F238E27FC236}">
                <a16:creationId xmlns:a16="http://schemas.microsoft.com/office/drawing/2014/main" id="{56DD620A-9260-BDBA-91B8-F5AACE875B3C}"/>
              </a:ext>
            </a:extLst>
          </p:cNvPr>
          <p:cNvSpPr txBox="1"/>
          <p:nvPr/>
        </p:nvSpPr>
        <p:spPr>
          <a:xfrm>
            <a:off x="7239000" y="363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03</a:t>
            </a:r>
            <a:endParaRPr lang="zh-CN" altLang="en-US" sz="1050" b="1">
              <a:solidFill>
                <a:srgbClr val="003B7A"/>
              </a:solidFill>
              <a:latin typeface="Aptos" panose="020B0004020202020204" pitchFamily="34" charset="0"/>
            </a:endParaRPr>
          </a:p>
        </p:txBody>
      </p:sp>
      <p:sp>
        <p:nvSpPr>
          <p:cNvPr id="27" name="demo-t2">
            <a:extLst>
              <a:ext uri="{FF2B5EF4-FFF2-40B4-BE49-F238E27FC236}">
                <a16:creationId xmlns:a16="http://schemas.microsoft.com/office/drawing/2014/main" id="{BF9448CD-8357-BA77-0BF6-D05EA7F37BA4}"/>
              </a:ext>
            </a:extLst>
          </p:cNvPr>
          <p:cNvSpPr txBox="1"/>
          <p:nvPr/>
        </p:nvSpPr>
        <p:spPr>
          <a:xfrm>
            <a:off x="7874000" y="3619500"/>
            <a:ext cx="24130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Claim boundaries</a:t>
            </a:r>
            <a:endParaRPr lang="zh-CN" altLang="en-US" sz="1280" b="1">
              <a:solidFill>
                <a:srgbClr val="071837"/>
              </a:solidFill>
              <a:latin typeface="Aptos" panose="020B0004020202020204" pitchFamily="34" charset="0"/>
            </a:endParaRPr>
          </a:p>
        </p:txBody>
      </p:sp>
      <p:sp>
        <p:nvSpPr>
          <p:cNvPr id="28" name="demo-hit2">
            <a:hlinkClick r:id="rId6"/>
            <a:extLst>
              <a:ext uri="{FF2B5EF4-FFF2-40B4-BE49-F238E27FC236}">
                <a16:creationId xmlns:a16="http://schemas.microsoft.com/office/drawing/2014/main" id="{FF9060AA-1648-9266-AF15-FC939C87FD93}"/>
              </a:ext>
            </a:extLst>
          </p:cNvPr>
          <p:cNvSpPr/>
          <p:nvPr/>
        </p:nvSpPr>
        <p:spPr>
          <a:xfrm>
            <a:off x="6959600" y="350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demo3">
            <a:extLst>
              <a:ext uri="{FF2B5EF4-FFF2-40B4-BE49-F238E27FC236}">
                <a16:creationId xmlns:a16="http://schemas.microsoft.com/office/drawing/2014/main" id="{17B149FF-F7B7-69B9-5241-E97381071F7B}"/>
              </a:ext>
            </a:extLst>
          </p:cNvPr>
          <p:cNvSpPr/>
          <p:nvPr/>
        </p:nvSpPr>
        <p:spPr>
          <a:xfrm>
            <a:off x="6959600" y="4140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demo-n3">
            <a:extLst>
              <a:ext uri="{FF2B5EF4-FFF2-40B4-BE49-F238E27FC236}">
                <a16:creationId xmlns:a16="http://schemas.microsoft.com/office/drawing/2014/main" id="{2DBC8349-4E11-D756-3779-E17832AAB313}"/>
              </a:ext>
            </a:extLst>
          </p:cNvPr>
          <p:cNvSpPr txBox="1"/>
          <p:nvPr/>
        </p:nvSpPr>
        <p:spPr>
          <a:xfrm>
            <a:off x="7239000" y="4267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04</a:t>
            </a:r>
            <a:endParaRPr lang="zh-CN" altLang="en-US" sz="1050" b="1">
              <a:solidFill>
                <a:srgbClr val="003B7A"/>
              </a:solidFill>
              <a:latin typeface="Aptos" panose="020B0004020202020204" pitchFamily="34" charset="0"/>
            </a:endParaRPr>
          </a:p>
        </p:txBody>
      </p:sp>
      <p:sp>
        <p:nvSpPr>
          <p:cNvPr id="31" name="demo-t3">
            <a:extLst>
              <a:ext uri="{FF2B5EF4-FFF2-40B4-BE49-F238E27FC236}">
                <a16:creationId xmlns:a16="http://schemas.microsoft.com/office/drawing/2014/main" id="{848C9A9D-1671-1E37-39AE-1AC7CB63F33C}"/>
              </a:ext>
            </a:extLst>
          </p:cNvPr>
          <p:cNvSpPr txBox="1"/>
          <p:nvPr/>
        </p:nvSpPr>
        <p:spPr>
          <a:xfrm>
            <a:off x="7874000" y="4254500"/>
            <a:ext cx="24130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Traceability matrix</a:t>
            </a:r>
            <a:endParaRPr lang="zh-CN" altLang="en-US" sz="1280" b="1">
              <a:solidFill>
                <a:srgbClr val="071837"/>
              </a:solidFill>
              <a:latin typeface="Aptos" panose="020B0004020202020204" pitchFamily="34" charset="0"/>
            </a:endParaRPr>
          </a:p>
        </p:txBody>
      </p:sp>
      <p:sp>
        <p:nvSpPr>
          <p:cNvPr id="32" name="demo-hit3">
            <a:hlinkClick r:id="rId7"/>
            <a:extLst>
              <a:ext uri="{FF2B5EF4-FFF2-40B4-BE49-F238E27FC236}">
                <a16:creationId xmlns:a16="http://schemas.microsoft.com/office/drawing/2014/main" id="{D8333C98-AF07-5869-81D2-1702203DB3D4}"/>
              </a:ext>
            </a:extLst>
          </p:cNvPr>
          <p:cNvSpPr/>
          <p:nvPr/>
        </p:nvSpPr>
        <p:spPr>
          <a:xfrm>
            <a:off x="6959600" y="4140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demo4">
            <a:extLst>
              <a:ext uri="{FF2B5EF4-FFF2-40B4-BE49-F238E27FC236}">
                <a16:creationId xmlns:a16="http://schemas.microsoft.com/office/drawing/2014/main" id="{74A0870F-00F8-687D-4E54-59EB21559F51}"/>
              </a:ext>
            </a:extLst>
          </p:cNvPr>
          <p:cNvSpPr/>
          <p:nvPr/>
        </p:nvSpPr>
        <p:spPr>
          <a:xfrm>
            <a:off x="6959600" y="4775200"/>
            <a:ext cx="4140200" cy="482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demo-n4">
            <a:extLst>
              <a:ext uri="{FF2B5EF4-FFF2-40B4-BE49-F238E27FC236}">
                <a16:creationId xmlns:a16="http://schemas.microsoft.com/office/drawing/2014/main" id="{FDBE98E7-C322-25FB-46EF-61AC4ED48EE3}"/>
              </a:ext>
            </a:extLst>
          </p:cNvPr>
          <p:cNvSpPr txBox="1"/>
          <p:nvPr/>
        </p:nvSpPr>
        <p:spPr>
          <a:xfrm>
            <a:off x="7239000" y="4902200"/>
            <a:ext cx="431800" cy="276999"/>
          </a:xfrm>
          <a:prstGeom prst="rect">
            <a:avLst/>
          </a:prstGeom>
          <a:noFill/>
        </p:spPr>
        <p:txBody>
          <a:bodyPr vert="horz" wrap="square" lIns="0" tIns="0" rIns="0" bIns="0" rtlCol="0">
            <a:noAutofit/>
          </a:bodyPr>
          <a:lstStyle/>
          <a:p>
            <a:r>
              <a:rPr lang="en-US" altLang="zh-CN" sz="1050" b="1">
                <a:solidFill>
                  <a:srgbClr val="003B7A"/>
                </a:solidFill>
                <a:latin typeface="Aptos" panose="020B0004020202020204" pitchFamily="34" charset="0"/>
              </a:rPr>
              <a:t>05</a:t>
            </a:r>
            <a:endParaRPr lang="zh-CN" altLang="en-US" sz="1050" b="1">
              <a:solidFill>
                <a:srgbClr val="003B7A"/>
              </a:solidFill>
              <a:latin typeface="Aptos" panose="020B0004020202020204" pitchFamily="34" charset="0"/>
            </a:endParaRPr>
          </a:p>
        </p:txBody>
      </p:sp>
      <p:sp>
        <p:nvSpPr>
          <p:cNvPr id="35" name="demo-t4">
            <a:extLst>
              <a:ext uri="{FF2B5EF4-FFF2-40B4-BE49-F238E27FC236}">
                <a16:creationId xmlns:a16="http://schemas.microsoft.com/office/drawing/2014/main" id="{90C2411F-6B5C-34D7-BA0C-4C1F8188FD98}"/>
              </a:ext>
            </a:extLst>
          </p:cNvPr>
          <p:cNvSpPr txBox="1"/>
          <p:nvPr/>
        </p:nvSpPr>
        <p:spPr>
          <a:xfrm>
            <a:off x="7874000" y="4889500"/>
            <a:ext cx="24130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Result manifest</a:t>
            </a:r>
            <a:endParaRPr lang="zh-CN" altLang="en-US" sz="1280" b="1">
              <a:solidFill>
                <a:srgbClr val="071837"/>
              </a:solidFill>
              <a:latin typeface="Aptos" panose="020B0004020202020204" pitchFamily="34" charset="0"/>
            </a:endParaRPr>
          </a:p>
        </p:txBody>
      </p:sp>
      <p:sp>
        <p:nvSpPr>
          <p:cNvPr id="36" name="demo-hit4">
            <a:hlinkClick r:id="rId8"/>
            <a:extLst>
              <a:ext uri="{FF2B5EF4-FFF2-40B4-BE49-F238E27FC236}">
                <a16:creationId xmlns:a16="http://schemas.microsoft.com/office/drawing/2014/main" id="{3A7876E0-7C2A-2D7F-8726-56C30C92D12A}"/>
              </a:ext>
            </a:extLst>
          </p:cNvPr>
          <p:cNvSpPr/>
          <p:nvPr/>
        </p:nvSpPr>
        <p:spPr>
          <a:xfrm>
            <a:off x="6959600" y="4775200"/>
            <a:ext cx="4140200" cy="482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footer-hit-12">
            <a:hlinkClick r:id="rId4"/>
            <a:extLst>
              <a:ext uri="{FF2B5EF4-FFF2-40B4-BE49-F238E27FC236}">
                <a16:creationId xmlns:a16="http://schemas.microsoft.com/office/drawing/2014/main" id="{F10A7EDB-EFB8-1BD3-1F7E-863C6F4E4459}"/>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6720541"/>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p:bldP spid="19" grpId="0"/>
      <p:bldP spid="20" grpId="0" animBg="1"/>
      <p:bldP spid="21" grpId="0" animBg="1"/>
      <p:bldP spid="22" grpId="0"/>
      <p:bldP spid="23" grpId="0"/>
      <p:bldP spid="24" grpId="0" animBg="1"/>
      <p:bldP spid="25" grpId="0" animBg="1"/>
      <p:bldP spid="26" grpId="0"/>
      <p:bldP spid="27" grpId="0"/>
      <p:bldP spid="28" grpId="0" animBg="1"/>
      <p:bldP spid="29" grpId="0" animBg="1"/>
      <p:bldP spid="30" grpId="0"/>
      <p:bldP spid="31" grpId="0"/>
      <p:bldP spid="32" grpId="0" animBg="1"/>
      <p:bldP spid="33" grpId="0" animBg="1"/>
      <p:bldP spid="34" grpId="0"/>
      <p:bldP spid="35" grpId="0"/>
      <p:bldP spid="3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0820B31D-CFC3-791B-25BE-181C38FE9728}"/>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1F6A915E-88BA-C53A-3CCE-449DDDCAC524}"/>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7DD3D2A8-4B28-9034-98BE-89BB4F8C1B0F}"/>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DEMO 2</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7FAF8D46-9D68-1FEF-D2DC-A59B941F0981}"/>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13</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70D7C1D3-F8DD-6297-201E-3E0805123094}"/>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CC55C34B-838C-5FE4-EBA2-5C022838FDD6}"/>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B6E379D5-A86D-E804-4CD1-12401EF4ED4F}"/>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B8C673C6-9225-E20B-DCE2-BE574A39C3A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35844021-E91A-C0C2-B92B-0744187BB194}"/>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A 60-second local check verifies the inspection route.</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2F2A4C34-24E0-8A26-25BA-0B76AD76ACAE}"/>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The check is intentionally lightweight, so it can run during the viva.</a:t>
            </a:r>
            <a:endParaRPr lang="zh-CN" altLang="en-US" sz="1700">
              <a:solidFill>
                <a:srgbClr val="52617A"/>
              </a:solidFill>
              <a:latin typeface="Aptos" panose="020B0004020202020204" pitchFamily="34" charset="0"/>
            </a:endParaRPr>
          </a:p>
        </p:txBody>
      </p:sp>
      <p:sp>
        <p:nvSpPr>
          <p:cNvPr id="13" name="terminal">
            <a:extLst>
              <a:ext uri="{FF2B5EF4-FFF2-40B4-BE49-F238E27FC236}">
                <a16:creationId xmlns:a16="http://schemas.microsoft.com/office/drawing/2014/main" id="{17877B45-032C-C28A-E029-5BCC4AE78B7D}"/>
              </a:ext>
            </a:extLst>
          </p:cNvPr>
          <p:cNvSpPr/>
          <p:nvPr/>
        </p:nvSpPr>
        <p:spPr>
          <a:xfrm>
            <a:off x="914400" y="2260600"/>
            <a:ext cx="6096000" cy="2946400"/>
          </a:xfrm>
          <a:prstGeom prst="roundRect">
            <a:avLst>
              <a:gd name="adj" fmla="val 14000"/>
            </a:avLst>
          </a:prstGeom>
          <a:solidFill>
            <a:srgbClr val="0A1222"/>
          </a:solidFill>
          <a:ln w="10160" cap="flat" cmpd="sng" algn="ctr">
            <a:solidFill>
              <a:srgbClr val="0A1222">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rm-cmd">
            <a:extLst>
              <a:ext uri="{FF2B5EF4-FFF2-40B4-BE49-F238E27FC236}">
                <a16:creationId xmlns:a16="http://schemas.microsoft.com/office/drawing/2014/main" id="{746CF51E-EE9A-FCE2-4483-64BA0770987F}"/>
              </a:ext>
            </a:extLst>
          </p:cNvPr>
          <p:cNvSpPr txBox="1"/>
          <p:nvPr/>
        </p:nvSpPr>
        <p:spPr>
          <a:xfrm>
            <a:off x="1397000" y="2743200"/>
            <a:ext cx="4724400" cy="276999"/>
          </a:xfrm>
          <a:prstGeom prst="rect">
            <a:avLst/>
          </a:prstGeom>
          <a:noFill/>
        </p:spPr>
        <p:txBody>
          <a:bodyPr vert="horz" wrap="square" lIns="0" tIns="0" rIns="0" bIns="0" rtlCol="0">
            <a:noAutofit/>
          </a:bodyPr>
          <a:lstStyle/>
          <a:p>
            <a:r>
              <a:rPr lang="en-US" altLang="zh-CN" sz="2000" b="1">
                <a:solidFill>
                  <a:srgbClr val="FFFFFF"/>
                </a:solidFill>
                <a:latin typeface="Consolas" panose="020B0609020204030204" pitchFamily="49" charset="0"/>
              </a:rPr>
              <a:t>python scripts/viva_check.py</a:t>
            </a:r>
            <a:endParaRPr lang="zh-CN" altLang="en-US" sz="2000" b="1">
              <a:solidFill>
                <a:srgbClr val="FFFFFF"/>
              </a:solidFill>
              <a:latin typeface="Consolas" panose="020B0609020204030204" pitchFamily="49" charset="0"/>
            </a:endParaRPr>
          </a:p>
        </p:txBody>
      </p:sp>
      <p:sp>
        <p:nvSpPr>
          <p:cNvPr id="15" name="term-out">
            <a:extLst>
              <a:ext uri="{FF2B5EF4-FFF2-40B4-BE49-F238E27FC236}">
                <a16:creationId xmlns:a16="http://schemas.microsoft.com/office/drawing/2014/main" id="{2B2D260B-2C43-22DD-9520-6D7AF443EAAB}"/>
              </a:ext>
            </a:extLst>
          </p:cNvPr>
          <p:cNvSpPr txBox="1"/>
          <p:nvPr/>
        </p:nvSpPr>
        <p:spPr>
          <a:xfrm>
            <a:off x="1397000" y="3429000"/>
            <a:ext cx="4572000" cy="276999"/>
          </a:xfrm>
          <a:prstGeom prst="rect">
            <a:avLst/>
          </a:prstGeom>
          <a:noFill/>
        </p:spPr>
        <p:txBody>
          <a:bodyPr vert="horz" wrap="square" lIns="0" tIns="0" rIns="0" bIns="0" rtlCol="0">
            <a:noAutofit/>
          </a:bodyPr>
          <a:lstStyle/>
          <a:p>
            <a:r>
              <a:rPr lang="en-US" altLang="zh-CN" sz="1350" b="1">
                <a:solidFill>
                  <a:srgbClr val="B7F0CF"/>
                </a:solidFill>
                <a:latin typeface="Consolas" panose="020B0609020204030204" pitchFamily="49" charset="0"/>
              </a:rPr>
              <a:t>[OK] Viva-facing documents present
[OK] Result manifest covers modules
[OK] Manifest rows are hash-addressed
[OK] Claim boundaries are present
[OK] Viva check passed</a:t>
            </a:r>
            <a:endParaRPr lang="zh-CN" altLang="en-US" sz="1350" b="1">
              <a:solidFill>
                <a:srgbClr val="B7F0CF"/>
              </a:solidFill>
              <a:latin typeface="Consolas" panose="020B0609020204030204" pitchFamily="49" charset="0"/>
            </a:endParaRPr>
          </a:p>
        </p:txBody>
      </p:sp>
      <p:sp>
        <p:nvSpPr>
          <p:cNvPr id="16" name="check1">
            <a:extLst>
              <a:ext uri="{FF2B5EF4-FFF2-40B4-BE49-F238E27FC236}">
                <a16:creationId xmlns:a16="http://schemas.microsoft.com/office/drawing/2014/main" id="{12EC605D-7328-85AE-BC43-B776E33081ED}"/>
              </a:ext>
            </a:extLst>
          </p:cNvPr>
          <p:cNvSpPr/>
          <p:nvPr/>
        </p:nvSpPr>
        <p:spPr>
          <a:xfrm>
            <a:off x="7670800" y="2336800"/>
            <a:ext cx="3175000" cy="762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check1t">
            <a:extLst>
              <a:ext uri="{FF2B5EF4-FFF2-40B4-BE49-F238E27FC236}">
                <a16:creationId xmlns:a16="http://schemas.microsoft.com/office/drawing/2014/main" id="{9E48BDF9-6705-E1D1-099E-A065B16CBAA2}"/>
              </a:ext>
            </a:extLst>
          </p:cNvPr>
          <p:cNvSpPr txBox="1"/>
          <p:nvPr/>
        </p:nvSpPr>
        <p:spPr>
          <a:xfrm>
            <a:off x="8026400" y="2540000"/>
            <a:ext cx="23876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checks documents + manifest</a:t>
            </a:r>
            <a:endParaRPr lang="zh-CN" altLang="en-US" sz="1280" b="1">
              <a:solidFill>
                <a:srgbClr val="071837"/>
              </a:solidFill>
              <a:latin typeface="Aptos" panose="020B0004020202020204" pitchFamily="34" charset="0"/>
            </a:endParaRPr>
          </a:p>
        </p:txBody>
      </p:sp>
      <p:sp>
        <p:nvSpPr>
          <p:cNvPr id="18" name="check2">
            <a:extLst>
              <a:ext uri="{FF2B5EF4-FFF2-40B4-BE49-F238E27FC236}">
                <a16:creationId xmlns:a16="http://schemas.microsoft.com/office/drawing/2014/main" id="{5221B654-2660-1526-2761-40D440977DF2}"/>
              </a:ext>
            </a:extLst>
          </p:cNvPr>
          <p:cNvSpPr/>
          <p:nvPr/>
        </p:nvSpPr>
        <p:spPr>
          <a:xfrm>
            <a:off x="7670800" y="3403600"/>
            <a:ext cx="3175000" cy="7620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check2t">
            <a:extLst>
              <a:ext uri="{FF2B5EF4-FFF2-40B4-BE49-F238E27FC236}">
                <a16:creationId xmlns:a16="http://schemas.microsoft.com/office/drawing/2014/main" id="{E7CB8DEA-6A80-EE0E-9B9F-7C2024BB077C}"/>
              </a:ext>
            </a:extLst>
          </p:cNvPr>
          <p:cNvSpPr txBox="1"/>
          <p:nvPr/>
        </p:nvSpPr>
        <p:spPr>
          <a:xfrm>
            <a:off x="8026400" y="3606800"/>
            <a:ext cx="23876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does not rerun GPU/API jobs</a:t>
            </a:r>
            <a:endParaRPr lang="zh-CN" altLang="en-US" sz="1280" b="1">
              <a:solidFill>
                <a:srgbClr val="071837"/>
              </a:solidFill>
              <a:latin typeface="Aptos" panose="020B0004020202020204" pitchFamily="34" charset="0"/>
            </a:endParaRPr>
          </a:p>
        </p:txBody>
      </p:sp>
      <p:sp>
        <p:nvSpPr>
          <p:cNvPr id="20" name="check3">
            <a:extLst>
              <a:ext uri="{FF2B5EF4-FFF2-40B4-BE49-F238E27FC236}">
                <a16:creationId xmlns:a16="http://schemas.microsoft.com/office/drawing/2014/main" id="{844CF543-4D30-B28D-E3E4-B1097FE35A4C}"/>
              </a:ext>
            </a:extLst>
          </p:cNvPr>
          <p:cNvSpPr/>
          <p:nvPr/>
        </p:nvSpPr>
        <p:spPr>
          <a:xfrm>
            <a:off x="7670800" y="4470400"/>
            <a:ext cx="3175000" cy="762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check3t">
            <a:extLst>
              <a:ext uri="{FF2B5EF4-FFF2-40B4-BE49-F238E27FC236}">
                <a16:creationId xmlns:a16="http://schemas.microsoft.com/office/drawing/2014/main" id="{8D790877-BA69-D175-6C92-29B45921BDC9}"/>
              </a:ext>
            </a:extLst>
          </p:cNvPr>
          <p:cNvSpPr txBox="1"/>
          <p:nvPr/>
        </p:nvSpPr>
        <p:spPr>
          <a:xfrm>
            <a:off x="8026400" y="4673600"/>
            <a:ext cx="2387600" cy="276999"/>
          </a:xfrm>
          <a:prstGeom prst="rect">
            <a:avLst/>
          </a:prstGeom>
          <a:noFill/>
        </p:spPr>
        <p:txBody>
          <a:bodyPr vert="horz" wrap="square" lIns="0" tIns="0" rIns="0" bIns="0" rtlCol="0">
            <a:noAutofit/>
          </a:bodyPr>
          <a:lstStyle/>
          <a:p>
            <a:r>
              <a:rPr lang="en-US" altLang="zh-CN" sz="1280" b="1">
                <a:solidFill>
                  <a:srgbClr val="071837"/>
                </a:solidFill>
                <a:latin typeface="Aptos" panose="020B0004020202020204" pitchFamily="34" charset="0"/>
              </a:rPr>
              <a:t>fallback: recorded demo ready</a:t>
            </a:r>
            <a:endParaRPr lang="zh-CN" altLang="en-US" sz="1280" b="1">
              <a:solidFill>
                <a:srgbClr val="071837"/>
              </a:solidFill>
              <a:latin typeface="Aptos" panose="020B0004020202020204" pitchFamily="34" charset="0"/>
            </a:endParaRPr>
          </a:p>
        </p:txBody>
      </p:sp>
      <p:sp>
        <p:nvSpPr>
          <p:cNvPr id="22" name="open-check">
            <a:hlinkClick r:id="rId4"/>
            <a:extLst>
              <a:ext uri="{FF2B5EF4-FFF2-40B4-BE49-F238E27FC236}">
                <a16:creationId xmlns:a16="http://schemas.microsoft.com/office/drawing/2014/main" id="{9AEAF3CF-4349-ADFC-791C-668E1AD00C45}"/>
              </a:ext>
            </a:extLst>
          </p:cNvPr>
          <p:cNvSpPr/>
          <p:nvPr/>
        </p:nvSpPr>
        <p:spPr>
          <a:xfrm>
            <a:off x="2946400" y="5537200"/>
            <a:ext cx="2413000" cy="406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Open viva_check.py</a:t>
            </a:r>
            <a:endParaRPr lang="zh-CN" altLang="en-US" sz="1050" b="1">
              <a:solidFill>
                <a:srgbClr val="003B7A"/>
              </a:solidFill>
              <a:latin typeface="Aptos" panose="020B0004020202020204" pitchFamily="34" charset="0"/>
            </a:endParaRPr>
          </a:p>
        </p:txBody>
      </p:sp>
      <p:sp>
        <p:nvSpPr>
          <p:cNvPr id="23" name="footer-hit-13">
            <a:hlinkClick r:id="rId5"/>
            <a:extLst>
              <a:ext uri="{FF2B5EF4-FFF2-40B4-BE49-F238E27FC236}">
                <a16:creationId xmlns:a16="http://schemas.microsoft.com/office/drawing/2014/main" id="{135CBB6C-7727-838D-BAA2-853C5083CCE8}"/>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09441961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p:bldP spid="16" grpId="0" animBg="1"/>
      <p:bldP spid="17" grpId="0"/>
      <p:bldP spid="18" grpId="0" animBg="1"/>
      <p:bldP spid="19" grpId="0"/>
      <p:bldP spid="20" grpId="0" animBg="1"/>
      <p:bldP spid="21" grpId="0"/>
      <p:bldP spid="22"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6DBDE4AD-A5CB-79CD-14B9-C364F6B40750}"/>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B0A312AA-A1EE-F6D9-ABD0-9C2222D8F5D2}"/>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F0B1CCF8-103A-8D8C-DF80-A5E54F5A8F2A}"/>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DEFENCE</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80E77342-33FB-BB4A-974F-96868DFC961C}"/>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14</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D73598EC-76FD-5A1E-49D8-5FFF3771B711}"/>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95E332CE-6C82-2E6D-91B7-E3E54706F35B}"/>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D40E52B1-DACA-A52A-77F4-ADC5CD5EC45B}"/>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404627B5-8194-DE27-11B5-F3B2617FDD9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1563D528-A346-9659-6D7C-3BC5EF03143D}"/>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safest Q&amp;A pattern is answer, bound, then point.</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99B6BF15-6E0D-BC46-1344-785AB2E6EB14}"/>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Short answers are stronger than broad claims.</a:t>
            </a:r>
            <a:endParaRPr lang="zh-CN" altLang="en-US" sz="1700">
              <a:solidFill>
                <a:srgbClr val="52617A"/>
              </a:solidFill>
              <a:latin typeface="Aptos" panose="020B0004020202020204" pitchFamily="34" charset="0"/>
            </a:endParaRPr>
          </a:p>
        </p:txBody>
      </p:sp>
      <p:sp>
        <p:nvSpPr>
          <p:cNvPr id="13" name="def0">
            <a:extLst>
              <a:ext uri="{FF2B5EF4-FFF2-40B4-BE49-F238E27FC236}">
                <a16:creationId xmlns:a16="http://schemas.microsoft.com/office/drawing/2014/main" id="{1FE6467A-BBA2-18EB-A542-4D19FB3F3DEF}"/>
              </a:ext>
            </a:extLst>
          </p:cNvPr>
          <p:cNvSpPr/>
          <p:nvPr/>
        </p:nvSpPr>
        <p:spPr>
          <a:xfrm>
            <a:off x="10922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defbar0">
            <a:extLst>
              <a:ext uri="{FF2B5EF4-FFF2-40B4-BE49-F238E27FC236}">
                <a16:creationId xmlns:a16="http://schemas.microsoft.com/office/drawing/2014/main" id="{F9862F78-DDE3-B4E8-E4A3-D0B32BAC8AA9}"/>
              </a:ext>
            </a:extLst>
          </p:cNvPr>
          <p:cNvSpPr/>
          <p:nvPr/>
        </p:nvSpPr>
        <p:spPr>
          <a:xfrm>
            <a:off x="1092200" y="2413000"/>
            <a:ext cx="3098800" cy="1143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deft0">
            <a:extLst>
              <a:ext uri="{FF2B5EF4-FFF2-40B4-BE49-F238E27FC236}">
                <a16:creationId xmlns:a16="http://schemas.microsoft.com/office/drawing/2014/main" id="{5BA896A3-0200-E0DE-34AB-DCED4307B5EB}"/>
              </a:ext>
            </a:extLst>
          </p:cNvPr>
          <p:cNvSpPr txBox="1"/>
          <p:nvPr/>
        </p:nvSpPr>
        <p:spPr>
          <a:xfrm>
            <a:off x="1524000" y="3022600"/>
            <a:ext cx="2108200" cy="276999"/>
          </a:xfrm>
          <a:prstGeom prst="rect">
            <a:avLst/>
          </a:prstGeom>
          <a:noFill/>
        </p:spPr>
        <p:txBody>
          <a:bodyPr vert="horz" wrap="square" lIns="0" tIns="0" rIns="0" bIns="0" rtlCol="0">
            <a:noAutofit/>
          </a:bodyPr>
          <a:lstStyle/>
          <a:p>
            <a:r>
              <a:rPr lang="en-US" altLang="zh-CN" sz="2800" b="1">
                <a:solidFill>
                  <a:srgbClr val="003B7A"/>
                </a:solidFill>
                <a:latin typeface="Aptos" panose="020B0004020202020204" pitchFamily="34" charset="0"/>
              </a:rPr>
              <a:t>Answer</a:t>
            </a:r>
            <a:endParaRPr lang="zh-CN" altLang="en-US" sz="2800" b="1">
              <a:solidFill>
                <a:srgbClr val="003B7A"/>
              </a:solidFill>
              <a:latin typeface="Aptos" panose="020B0004020202020204" pitchFamily="34" charset="0"/>
            </a:endParaRPr>
          </a:p>
        </p:txBody>
      </p:sp>
      <p:sp>
        <p:nvSpPr>
          <p:cNvPr id="16" name="defs0">
            <a:extLst>
              <a:ext uri="{FF2B5EF4-FFF2-40B4-BE49-F238E27FC236}">
                <a16:creationId xmlns:a16="http://schemas.microsoft.com/office/drawing/2014/main" id="{7CA38A50-70BE-11BF-67BE-0F25552F09DC}"/>
              </a:ext>
            </a:extLst>
          </p:cNvPr>
          <p:cNvSpPr txBox="1"/>
          <p:nvPr/>
        </p:nvSpPr>
        <p:spPr>
          <a:xfrm>
            <a:off x="15240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one direct sentence</a:t>
            </a:r>
            <a:endParaRPr lang="zh-CN" altLang="en-US" sz="1400" b="1">
              <a:solidFill>
                <a:srgbClr val="52617A"/>
              </a:solidFill>
              <a:latin typeface="Aptos" panose="020B0004020202020204" pitchFamily="34" charset="0"/>
            </a:endParaRPr>
          </a:p>
        </p:txBody>
      </p:sp>
      <p:sp>
        <p:nvSpPr>
          <p:cNvPr id="17" name="def1">
            <a:extLst>
              <a:ext uri="{FF2B5EF4-FFF2-40B4-BE49-F238E27FC236}">
                <a16:creationId xmlns:a16="http://schemas.microsoft.com/office/drawing/2014/main" id="{42D5F161-3627-74F8-A049-9D9537B0D98B}"/>
              </a:ext>
            </a:extLst>
          </p:cNvPr>
          <p:cNvSpPr/>
          <p:nvPr/>
        </p:nvSpPr>
        <p:spPr>
          <a:xfrm>
            <a:off x="47498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defbar1">
            <a:extLst>
              <a:ext uri="{FF2B5EF4-FFF2-40B4-BE49-F238E27FC236}">
                <a16:creationId xmlns:a16="http://schemas.microsoft.com/office/drawing/2014/main" id="{D72EBA2C-1573-8192-9632-027A9472A7C7}"/>
              </a:ext>
            </a:extLst>
          </p:cNvPr>
          <p:cNvSpPr/>
          <p:nvPr/>
        </p:nvSpPr>
        <p:spPr>
          <a:xfrm>
            <a:off x="4749800" y="2413000"/>
            <a:ext cx="3098800" cy="1143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deft1">
            <a:extLst>
              <a:ext uri="{FF2B5EF4-FFF2-40B4-BE49-F238E27FC236}">
                <a16:creationId xmlns:a16="http://schemas.microsoft.com/office/drawing/2014/main" id="{0CE4E8D0-EF0E-95BA-E244-AA07B7E3B865}"/>
              </a:ext>
            </a:extLst>
          </p:cNvPr>
          <p:cNvSpPr txBox="1"/>
          <p:nvPr/>
        </p:nvSpPr>
        <p:spPr>
          <a:xfrm>
            <a:off x="5181600" y="3022600"/>
            <a:ext cx="2108200" cy="276999"/>
          </a:xfrm>
          <a:prstGeom prst="rect">
            <a:avLst/>
          </a:prstGeom>
          <a:noFill/>
        </p:spPr>
        <p:txBody>
          <a:bodyPr vert="horz" wrap="square" lIns="0" tIns="0" rIns="0" bIns="0" rtlCol="0">
            <a:noAutofit/>
          </a:bodyPr>
          <a:lstStyle/>
          <a:p>
            <a:r>
              <a:rPr lang="en-US" altLang="zh-CN" sz="2800" b="1">
                <a:solidFill>
                  <a:srgbClr val="B85C00"/>
                </a:solidFill>
                <a:latin typeface="Aptos" panose="020B0004020202020204" pitchFamily="34" charset="0"/>
              </a:rPr>
              <a:t>Bound</a:t>
            </a:r>
            <a:endParaRPr lang="zh-CN" altLang="en-US" sz="2800" b="1">
              <a:solidFill>
                <a:srgbClr val="B85C00"/>
              </a:solidFill>
              <a:latin typeface="Aptos" panose="020B0004020202020204" pitchFamily="34" charset="0"/>
            </a:endParaRPr>
          </a:p>
        </p:txBody>
      </p:sp>
      <p:sp>
        <p:nvSpPr>
          <p:cNvPr id="20" name="defs1">
            <a:extLst>
              <a:ext uri="{FF2B5EF4-FFF2-40B4-BE49-F238E27FC236}">
                <a16:creationId xmlns:a16="http://schemas.microsoft.com/office/drawing/2014/main" id="{F9FA0188-1530-776E-4F05-C6C3B6F280FB}"/>
              </a:ext>
            </a:extLst>
          </p:cNvPr>
          <p:cNvSpPr txBox="1"/>
          <p:nvPr/>
        </p:nvSpPr>
        <p:spPr>
          <a:xfrm>
            <a:off x="51816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denominator + controls</a:t>
            </a:r>
            <a:endParaRPr lang="zh-CN" altLang="en-US" sz="1400" b="1">
              <a:solidFill>
                <a:srgbClr val="52617A"/>
              </a:solidFill>
              <a:latin typeface="Aptos" panose="020B0004020202020204" pitchFamily="34" charset="0"/>
            </a:endParaRPr>
          </a:p>
        </p:txBody>
      </p:sp>
      <p:sp>
        <p:nvSpPr>
          <p:cNvPr id="21" name="def2">
            <a:extLst>
              <a:ext uri="{FF2B5EF4-FFF2-40B4-BE49-F238E27FC236}">
                <a16:creationId xmlns:a16="http://schemas.microsoft.com/office/drawing/2014/main" id="{16AC4471-74CE-1775-6DCA-ED4570E5F33F}"/>
              </a:ext>
            </a:extLst>
          </p:cNvPr>
          <p:cNvSpPr/>
          <p:nvPr/>
        </p:nvSpPr>
        <p:spPr>
          <a:xfrm>
            <a:off x="8407400" y="2413000"/>
            <a:ext cx="3098800" cy="18796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defbar2">
            <a:extLst>
              <a:ext uri="{FF2B5EF4-FFF2-40B4-BE49-F238E27FC236}">
                <a16:creationId xmlns:a16="http://schemas.microsoft.com/office/drawing/2014/main" id="{418CE3E4-7FE8-63DB-6651-37C692D37BB3}"/>
              </a:ext>
            </a:extLst>
          </p:cNvPr>
          <p:cNvSpPr/>
          <p:nvPr/>
        </p:nvSpPr>
        <p:spPr>
          <a:xfrm>
            <a:off x="8407400" y="2413000"/>
            <a:ext cx="3098800" cy="1143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deft2">
            <a:extLst>
              <a:ext uri="{FF2B5EF4-FFF2-40B4-BE49-F238E27FC236}">
                <a16:creationId xmlns:a16="http://schemas.microsoft.com/office/drawing/2014/main" id="{4760CDE9-4091-0BB9-D4F2-800F44968EEE}"/>
              </a:ext>
            </a:extLst>
          </p:cNvPr>
          <p:cNvSpPr txBox="1"/>
          <p:nvPr/>
        </p:nvSpPr>
        <p:spPr>
          <a:xfrm>
            <a:off x="8839200" y="3022600"/>
            <a:ext cx="2108200" cy="276999"/>
          </a:xfrm>
          <a:prstGeom prst="rect">
            <a:avLst/>
          </a:prstGeom>
          <a:noFill/>
        </p:spPr>
        <p:txBody>
          <a:bodyPr vert="horz" wrap="square" lIns="0" tIns="0" rIns="0" bIns="0" rtlCol="0">
            <a:noAutofit/>
          </a:bodyPr>
          <a:lstStyle/>
          <a:p>
            <a:r>
              <a:rPr lang="en-US" altLang="zh-CN" sz="2800" b="1">
                <a:solidFill>
                  <a:srgbClr val="1F7A4D"/>
                </a:solidFill>
                <a:latin typeface="Aptos" panose="020B0004020202020204" pitchFamily="34" charset="0"/>
              </a:rPr>
              <a:t>Point</a:t>
            </a:r>
            <a:endParaRPr lang="zh-CN" altLang="en-US" sz="2800" b="1">
              <a:solidFill>
                <a:srgbClr val="1F7A4D"/>
              </a:solidFill>
              <a:latin typeface="Aptos" panose="020B0004020202020204" pitchFamily="34" charset="0"/>
            </a:endParaRPr>
          </a:p>
        </p:txBody>
      </p:sp>
      <p:sp>
        <p:nvSpPr>
          <p:cNvPr id="24" name="defs2">
            <a:extLst>
              <a:ext uri="{FF2B5EF4-FFF2-40B4-BE49-F238E27FC236}">
                <a16:creationId xmlns:a16="http://schemas.microsoft.com/office/drawing/2014/main" id="{C66DCD41-2D6B-71CE-F77B-625C82375F74}"/>
              </a:ext>
            </a:extLst>
          </p:cNvPr>
          <p:cNvSpPr txBox="1"/>
          <p:nvPr/>
        </p:nvSpPr>
        <p:spPr>
          <a:xfrm>
            <a:off x="8839200" y="3733800"/>
            <a:ext cx="2133600" cy="276999"/>
          </a:xfrm>
          <a:prstGeom prst="rect">
            <a:avLst/>
          </a:prstGeom>
          <a:noFill/>
        </p:spPr>
        <p:txBody>
          <a:bodyPr vert="horz" wrap="square" lIns="0" tIns="0" rIns="0" bIns="0" rtlCol="0">
            <a:noAutofit/>
          </a:bodyPr>
          <a:lstStyle/>
          <a:p>
            <a:r>
              <a:rPr lang="en-US" altLang="zh-CN" sz="1400" b="1">
                <a:solidFill>
                  <a:srgbClr val="52617A"/>
                </a:solidFill>
                <a:latin typeface="Aptos" panose="020B0004020202020204" pitchFamily="34" charset="0"/>
              </a:rPr>
              <a:t>file, slide, or demo route</a:t>
            </a:r>
            <a:endParaRPr lang="zh-CN" altLang="en-US" sz="1400" b="1">
              <a:solidFill>
                <a:srgbClr val="52617A"/>
              </a:solidFill>
              <a:latin typeface="Aptos" panose="020B0004020202020204" pitchFamily="34" charset="0"/>
            </a:endParaRPr>
          </a:p>
        </p:txBody>
      </p:sp>
      <p:sp>
        <p:nvSpPr>
          <p:cNvPr id="25" name="no">
            <a:extLst>
              <a:ext uri="{FF2B5EF4-FFF2-40B4-BE49-F238E27FC236}">
                <a16:creationId xmlns:a16="http://schemas.microsoft.com/office/drawing/2014/main" id="{546859D6-906D-F513-6827-44AB4D9958B5}"/>
              </a:ext>
            </a:extLst>
          </p:cNvPr>
          <p:cNvSpPr/>
          <p:nvPr/>
        </p:nvSpPr>
        <p:spPr>
          <a:xfrm>
            <a:off x="1600200" y="5130800"/>
            <a:ext cx="8991600" cy="533400"/>
          </a:xfrm>
          <a:prstGeom prst="roundRect">
            <a:avLst>
              <a:gd name="adj" fmla="val 14000"/>
            </a:avLst>
          </a:prstGeom>
          <a:solidFill>
            <a:srgbClr val="FFF0F4"/>
          </a:solidFill>
          <a:ln w="10160" cap="flat" cmpd="sng" algn="ctr">
            <a:solidFill>
              <a:srgbClr val="EEB5BF">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no-t">
            <a:extLst>
              <a:ext uri="{FF2B5EF4-FFF2-40B4-BE49-F238E27FC236}">
                <a16:creationId xmlns:a16="http://schemas.microsoft.com/office/drawing/2014/main" id="{154B621A-C11E-6044-A388-5733AE0F26AE}"/>
              </a:ext>
            </a:extLst>
          </p:cNvPr>
          <p:cNvSpPr txBox="1"/>
          <p:nvPr/>
        </p:nvSpPr>
        <p:spPr>
          <a:xfrm>
            <a:off x="1955800" y="5295900"/>
            <a:ext cx="8280400" cy="276999"/>
          </a:xfrm>
          <a:prstGeom prst="rect">
            <a:avLst/>
          </a:prstGeom>
          <a:noFill/>
        </p:spPr>
        <p:txBody>
          <a:bodyPr vert="horz" wrap="square" lIns="0" tIns="0" rIns="0" bIns="0" rtlCol="0">
            <a:noAutofit/>
          </a:bodyPr>
          <a:lstStyle/>
          <a:p>
            <a:r>
              <a:rPr lang="en-US" altLang="zh-CN" sz="1230" b="1">
                <a:solidFill>
                  <a:srgbClr val="B92C41"/>
                </a:solidFill>
                <a:latin typeface="Aptos" panose="020B0004020202020204" pitchFamily="34" charset="0"/>
              </a:rPr>
              <a:t>Do not claim: universal watermarking, provider accusation, legal authorship proof, or safety certification.</a:t>
            </a:r>
            <a:endParaRPr lang="zh-CN" altLang="en-US" sz="1230" b="1">
              <a:solidFill>
                <a:srgbClr val="B92C41"/>
              </a:solidFill>
              <a:latin typeface="Aptos" panose="020B0004020202020204" pitchFamily="34" charset="0"/>
            </a:endParaRPr>
          </a:p>
        </p:txBody>
      </p:sp>
      <p:sp>
        <p:nvSpPr>
          <p:cNvPr id="27" name="footer-hit-14">
            <a:hlinkClick r:id="rId4"/>
            <a:extLst>
              <a:ext uri="{FF2B5EF4-FFF2-40B4-BE49-F238E27FC236}">
                <a16:creationId xmlns:a16="http://schemas.microsoft.com/office/drawing/2014/main" id="{99651DFA-B626-4B9B-AF36-1A3E02AE8376}"/>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670483819"/>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animBg="1"/>
      <p:bldP spid="18" grpId="0" animBg="1"/>
      <p:bldP spid="19" grpId="0"/>
      <p:bldP spid="20" grpId="0"/>
      <p:bldP spid="21" grpId="0" animBg="1"/>
      <p:bldP spid="22" grpId="0" animBg="1"/>
      <p:bldP spid="23" grpId="0"/>
      <p:bldP spid="24" grpId="0"/>
      <p:bldP spid="25" grpId="0" animBg="1"/>
      <p:bldP spid="26"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51005911-BAFF-145B-C13C-F23944BD40C3}"/>
              </a:ext>
            </a:extLst>
          </p:cNvPr>
          <p:cNvSpPr/>
          <p:nvPr/>
        </p:nvSpPr>
        <p:spPr>
          <a:xfrm>
            <a:off x="0" y="0"/>
            <a:ext cx="12192000" cy="6858000"/>
          </a:xfrm>
          <a:prstGeom prst="rect">
            <a:avLst/>
          </a:prstGeom>
          <a:solidFill>
            <a:srgbClr val="FFFFFF"/>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rail">
            <a:extLst>
              <a:ext uri="{FF2B5EF4-FFF2-40B4-BE49-F238E27FC236}">
                <a16:creationId xmlns:a16="http://schemas.microsoft.com/office/drawing/2014/main" id="{A4E54D8D-39E3-A781-A373-FFF82E4259BD}"/>
              </a:ext>
            </a:extLst>
          </p:cNvPr>
          <p:cNvSpPr/>
          <p:nvPr/>
        </p:nvSpPr>
        <p:spPr>
          <a:xfrm>
            <a:off x="0" y="0"/>
            <a:ext cx="2286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section">
            <a:extLst>
              <a:ext uri="{FF2B5EF4-FFF2-40B4-BE49-F238E27FC236}">
                <a16:creationId xmlns:a16="http://schemas.microsoft.com/office/drawing/2014/main" id="{ADE32211-5750-4358-976E-18F16E967811}"/>
              </a:ext>
            </a:extLst>
          </p:cNvPr>
          <p:cNvSpPr txBox="1"/>
          <p:nvPr/>
        </p:nvSpPr>
        <p:spPr>
          <a:xfrm>
            <a:off x="736600" y="381000"/>
            <a:ext cx="3937000" cy="276999"/>
          </a:xfrm>
          <a:prstGeom prst="rect">
            <a:avLst/>
          </a:prstGeom>
          <a:noFill/>
        </p:spPr>
        <p:txBody>
          <a:bodyPr vert="horz" wrap="square" lIns="0" tIns="0" rIns="0" bIns="0" rtlCol="0">
            <a:noAutofit/>
          </a:bodyPr>
          <a:lstStyle/>
          <a:p>
            <a:r>
              <a:rPr lang="en-US" altLang="zh-CN" sz="1100" b="1">
                <a:solidFill>
                  <a:srgbClr val="003B7A"/>
                </a:solidFill>
                <a:latin typeface="Aptos" panose="020B0004020202020204" pitchFamily="34" charset="0"/>
              </a:rPr>
              <a:t>PUBLICATION PLAN</a:t>
            </a:r>
            <a:endParaRPr lang="zh-CN" altLang="en-US" sz="1100" b="1">
              <a:solidFill>
                <a:srgbClr val="003B7A"/>
              </a:solidFill>
              <a:latin typeface="Aptos" panose="020B0004020202020204" pitchFamily="34" charset="0"/>
            </a:endParaRPr>
          </a:p>
        </p:txBody>
      </p:sp>
      <p:sp>
        <p:nvSpPr>
          <p:cNvPr id="5" name="num">
            <a:extLst>
              <a:ext uri="{FF2B5EF4-FFF2-40B4-BE49-F238E27FC236}">
                <a16:creationId xmlns:a16="http://schemas.microsoft.com/office/drawing/2014/main" id="{88C724D5-AC97-103F-08E0-B6EAB87CAB74}"/>
              </a:ext>
            </a:extLst>
          </p:cNvPr>
          <p:cNvSpPr txBox="1"/>
          <p:nvPr/>
        </p:nvSpPr>
        <p:spPr>
          <a:xfrm>
            <a:off x="11480800" y="381000"/>
            <a:ext cx="431800" cy="276999"/>
          </a:xfrm>
          <a:prstGeom prst="rect">
            <a:avLst/>
          </a:prstGeom>
          <a:noFill/>
        </p:spPr>
        <p:txBody>
          <a:bodyPr vert="horz" wrap="square" lIns="0" tIns="0" rIns="0" bIns="0" rtlCol="0">
            <a:noAutofit/>
          </a:bodyPr>
          <a:lstStyle/>
          <a:p>
            <a:r>
              <a:rPr lang="en-US" altLang="zh-CN" sz="900">
                <a:solidFill>
                  <a:srgbClr val="52617A"/>
                </a:solidFill>
                <a:latin typeface="Aptos" panose="020B0004020202020204" pitchFamily="34" charset="0"/>
              </a:rPr>
              <a:t>15</a:t>
            </a:r>
            <a:endParaRPr lang="zh-CN" altLang="en-US" sz="900">
              <a:solidFill>
                <a:srgbClr val="52617A"/>
              </a:solidFill>
              <a:latin typeface="Aptos" panose="020B0004020202020204" pitchFamily="34" charset="0"/>
            </a:endParaRPr>
          </a:p>
        </p:txBody>
      </p:sp>
      <p:cxnSp>
        <p:nvCxnSpPr>
          <p:cNvPr id="6" name="top-rule">
            <a:extLst>
              <a:ext uri="{FF2B5EF4-FFF2-40B4-BE49-F238E27FC236}">
                <a16:creationId xmlns:a16="http://schemas.microsoft.com/office/drawing/2014/main" id="{370AC798-08A7-DC94-CE19-DEDA2DE928AF}"/>
              </a:ext>
            </a:extLst>
          </p:cNvPr>
          <p:cNvCxnSpPr/>
          <p:nvPr/>
        </p:nvCxnSpPr>
        <p:spPr>
          <a:xfrm>
            <a:off x="736600" y="1803400"/>
            <a:ext cx="10718800" cy="0"/>
          </a:xfrm>
          <a:prstGeom prst="line">
            <a:avLst/>
          </a:prstGeom>
          <a:ln w="12700">
            <a:solidFill>
              <a:srgbClr val="D7E2F0"/>
            </a:solidFill>
          </a:ln>
        </p:spPr>
        <p:style>
          <a:lnRef idx="1">
            <a:schemeClr val="accent1"/>
          </a:lnRef>
          <a:fillRef idx="0">
            <a:schemeClr val="accent1"/>
          </a:fillRef>
          <a:effectRef idx="0">
            <a:schemeClr val="accent1"/>
          </a:effectRef>
          <a:fontRef idx="minor">
            <a:schemeClr val="tx1"/>
          </a:fontRef>
        </p:style>
      </p:cxnSp>
      <p:sp>
        <p:nvSpPr>
          <p:cNvPr id="7" name="footer">
            <a:extLst>
              <a:ext uri="{FF2B5EF4-FFF2-40B4-BE49-F238E27FC236}">
                <a16:creationId xmlns:a16="http://schemas.microsoft.com/office/drawing/2014/main" id="{6E653546-1199-8BB0-379E-06FAD6B6B112}"/>
              </a:ext>
            </a:extLst>
          </p:cNvPr>
          <p:cNvSpPr txBox="1"/>
          <p:nvPr/>
        </p:nvSpPr>
        <p:spPr>
          <a:xfrm>
            <a:off x="736600" y="6527800"/>
            <a:ext cx="3429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WatermarkScope FYP Viva</a:t>
            </a:r>
            <a:endParaRPr lang="zh-CN" altLang="en-US" sz="750">
              <a:solidFill>
                <a:srgbClr val="52617A"/>
              </a:solidFill>
              <a:latin typeface="Aptos" panose="020B0004020202020204" pitchFamily="34" charset="0"/>
            </a:endParaRPr>
          </a:p>
        </p:txBody>
      </p:sp>
      <p:sp>
        <p:nvSpPr>
          <p:cNvPr id="8" name="student">
            <a:extLst>
              <a:ext uri="{FF2B5EF4-FFF2-40B4-BE49-F238E27FC236}">
                <a16:creationId xmlns:a16="http://schemas.microsoft.com/office/drawing/2014/main" id="{1FE86D64-FA63-F7FF-AA39-F938CFB2F662}"/>
              </a:ext>
            </a:extLst>
          </p:cNvPr>
          <p:cNvSpPr txBox="1"/>
          <p:nvPr/>
        </p:nvSpPr>
        <p:spPr>
          <a:xfrm>
            <a:off x="4978400" y="6527800"/>
            <a:ext cx="2286000" cy="276999"/>
          </a:xfrm>
          <a:prstGeom prst="rect">
            <a:avLst/>
          </a:prstGeom>
          <a:noFill/>
        </p:spPr>
        <p:txBody>
          <a:bodyPr vert="horz" wrap="square" lIns="0" tIns="0" rIns="0" bIns="0" rtlCol="0">
            <a:noAutofit/>
          </a:bodyPr>
          <a:lstStyle/>
          <a:p>
            <a:r>
              <a:rPr lang="en-US" altLang="zh-CN" sz="750">
                <a:solidFill>
                  <a:srgbClr val="52617A"/>
                </a:solidFill>
                <a:latin typeface="Aptos" panose="020B0004020202020204" pitchFamily="34" charset="0"/>
              </a:rPr>
              <a:t>Haoyi Zhang | 2254912</a:t>
            </a:r>
            <a:endParaRPr lang="zh-CN" altLang="en-US" sz="750">
              <a:solidFill>
                <a:srgbClr val="52617A"/>
              </a:solidFill>
              <a:latin typeface="Aptos" panose="020B0004020202020204" pitchFamily="34" charset="0"/>
            </a:endParaRPr>
          </a:p>
        </p:txBody>
      </p:sp>
      <p:pic>
        <p:nvPicPr>
          <p:cNvPr id="10" name="图片 9">
            <a:extLst>
              <a:ext uri="{FF2B5EF4-FFF2-40B4-BE49-F238E27FC236}">
                <a16:creationId xmlns:a16="http://schemas.microsoft.com/office/drawing/2014/main" id="{BB225F67-81B5-141E-3CC7-64D203ECCC3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9525000" y="6096000"/>
            <a:ext cx="1778000" cy="482600"/>
          </a:xfrm>
          <a:prstGeom prst="rect">
            <a:avLst/>
          </a:prstGeom>
        </p:spPr>
      </p:pic>
      <p:sp>
        <p:nvSpPr>
          <p:cNvPr id="11" name="title">
            <a:extLst>
              <a:ext uri="{FF2B5EF4-FFF2-40B4-BE49-F238E27FC236}">
                <a16:creationId xmlns:a16="http://schemas.microsoft.com/office/drawing/2014/main" id="{4BFD9C3B-4035-AE13-7DB2-5128E5AFA443}"/>
              </a:ext>
            </a:extLst>
          </p:cNvPr>
          <p:cNvSpPr txBox="1"/>
          <p:nvPr/>
        </p:nvSpPr>
        <p:spPr>
          <a:xfrm>
            <a:off x="736600" y="685800"/>
            <a:ext cx="10795000" cy="276999"/>
          </a:xfrm>
          <a:prstGeom prst="rect">
            <a:avLst/>
          </a:prstGeom>
          <a:noFill/>
        </p:spPr>
        <p:txBody>
          <a:bodyPr vert="horz" wrap="square" lIns="0" tIns="0" rIns="0" bIns="0" rtlCol="0">
            <a:noAutofit/>
          </a:bodyPr>
          <a:lstStyle/>
          <a:p>
            <a:r>
              <a:rPr lang="en-US" altLang="zh-CN" sz="3650" b="1">
                <a:solidFill>
                  <a:srgbClr val="071837"/>
                </a:solidFill>
                <a:latin typeface="Aptos" panose="020B0004020202020204" pitchFamily="34" charset="0"/>
              </a:rPr>
              <a:t>The FYP becomes five paper tracks after the viva.</a:t>
            </a:r>
            <a:endParaRPr lang="zh-CN" altLang="en-US" sz="3650" b="1">
              <a:solidFill>
                <a:srgbClr val="071837"/>
              </a:solidFill>
              <a:latin typeface="Aptos" panose="020B0004020202020204" pitchFamily="34" charset="0"/>
            </a:endParaRPr>
          </a:p>
        </p:txBody>
      </p:sp>
      <p:sp>
        <p:nvSpPr>
          <p:cNvPr id="12" name="subtitle">
            <a:extLst>
              <a:ext uri="{FF2B5EF4-FFF2-40B4-BE49-F238E27FC236}">
                <a16:creationId xmlns:a16="http://schemas.microsoft.com/office/drawing/2014/main" id="{8EC62651-1389-EB84-2197-30057195BD83}"/>
              </a:ext>
            </a:extLst>
          </p:cNvPr>
          <p:cNvSpPr txBox="1"/>
          <p:nvPr/>
        </p:nvSpPr>
        <p:spPr>
          <a:xfrm>
            <a:off x="787400" y="1524000"/>
            <a:ext cx="10287000" cy="276999"/>
          </a:xfrm>
          <a:prstGeom prst="rect">
            <a:avLst/>
          </a:prstGeom>
          <a:noFill/>
        </p:spPr>
        <p:txBody>
          <a:bodyPr vert="horz" wrap="square" lIns="0" tIns="0" rIns="0" bIns="0" rtlCol="0">
            <a:noAutofit/>
          </a:bodyPr>
          <a:lstStyle/>
          <a:p>
            <a:r>
              <a:rPr lang="en-US" altLang="zh-CN" sz="1700">
                <a:solidFill>
                  <a:srgbClr val="52617A"/>
                </a:solidFill>
                <a:latin typeface="Aptos" panose="020B0004020202020204" pitchFamily="34" charset="0"/>
              </a:rPr>
              <a:t>Current code and experiments were completed individually; later manuscript writing may involve collaborators.</a:t>
            </a:r>
            <a:endParaRPr lang="zh-CN" altLang="en-US" sz="1700">
              <a:solidFill>
                <a:srgbClr val="52617A"/>
              </a:solidFill>
              <a:latin typeface="Aptos" panose="020B0004020202020204" pitchFamily="34" charset="0"/>
            </a:endParaRPr>
          </a:p>
        </p:txBody>
      </p:sp>
      <p:sp>
        <p:nvSpPr>
          <p:cNvPr id="13" name="road0">
            <a:extLst>
              <a:ext uri="{FF2B5EF4-FFF2-40B4-BE49-F238E27FC236}">
                <a16:creationId xmlns:a16="http://schemas.microsoft.com/office/drawing/2014/main" id="{33A9BA6A-3C74-8437-4102-4944932B5777}"/>
              </a:ext>
            </a:extLst>
          </p:cNvPr>
          <p:cNvSpPr/>
          <p:nvPr/>
        </p:nvSpPr>
        <p:spPr>
          <a:xfrm>
            <a:off x="1168400" y="21590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roadbar0">
            <a:extLst>
              <a:ext uri="{FF2B5EF4-FFF2-40B4-BE49-F238E27FC236}">
                <a16:creationId xmlns:a16="http://schemas.microsoft.com/office/drawing/2014/main" id="{FD659477-B004-5048-B4A1-3AF99869EA2C}"/>
              </a:ext>
            </a:extLst>
          </p:cNvPr>
          <p:cNvSpPr/>
          <p:nvPr/>
        </p:nvSpPr>
        <p:spPr>
          <a:xfrm>
            <a:off x="1168400" y="2159000"/>
            <a:ext cx="114300" cy="5334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oadp0">
            <a:extLst>
              <a:ext uri="{FF2B5EF4-FFF2-40B4-BE49-F238E27FC236}">
                <a16:creationId xmlns:a16="http://schemas.microsoft.com/office/drawing/2014/main" id="{30D58B03-9062-C6FF-D082-E18253E8C5FD}"/>
              </a:ext>
            </a:extLst>
          </p:cNvPr>
          <p:cNvSpPr txBox="1"/>
          <p:nvPr/>
        </p:nvSpPr>
        <p:spPr>
          <a:xfrm>
            <a:off x="1549400" y="2298700"/>
            <a:ext cx="2082800" cy="276999"/>
          </a:xfrm>
          <a:prstGeom prst="rect">
            <a:avLst/>
          </a:prstGeom>
          <a:noFill/>
        </p:spPr>
        <p:txBody>
          <a:bodyPr vert="horz" wrap="square" lIns="0" tIns="0" rIns="0" bIns="0" rtlCol="0">
            <a:noAutofit/>
          </a:bodyPr>
          <a:lstStyle/>
          <a:p>
            <a:r>
              <a:rPr lang="en-US" altLang="zh-CN" sz="1350" b="1">
                <a:solidFill>
                  <a:srgbClr val="003B7A"/>
                </a:solidFill>
                <a:latin typeface="Aptos" panose="020B0004020202020204" pitchFamily="34" charset="0"/>
              </a:rPr>
              <a:t>CodeMarkBench</a:t>
            </a:r>
            <a:endParaRPr lang="zh-CN" altLang="en-US" sz="1350" b="1">
              <a:solidFill>
                <a:srgbClr val="003B7A"/>
              </a:solidFill>
              <a:latin typeface="Aptos" panose="020B0004020202020204" pitchFamily="34" charset="0"/>
            </a:endParaRPr>
          </a:p>
        </p:txBody>
      </p:sp>
      <p:sp>
        <p:nvSpPr>
          <p:cNvPr id="16" name="roadv0">
            <a:extLst>
              <a:ext uri="{FF2B5EF4-FFF2-40B4-BE49-F238E27FC236}">
                <a16:creationId xmlns:a16="http://schemas.microsoft.com/office/drawing/2014/main" id="{36B36D9F-782B-CEF9-2D65-30B8583EA98E}"/>
              </a:ext>
            </a:extLst>
          </p:cNvPr>
          <p:cNvSpPr txBox="1"/>
          <p:nvPr/>
        </p:nvSpPr>
        <p:spPr>
          <a:xfrm>
            <a:off x="4140200" y="2298700"/>
            <a:ext cx="939800" cy="276999"/>
          </a:xfrm>
          <a:prstGeom prst="rect">
            <a:avLst/>
          </a:prstGeom>
          <a:noFill/>
        </p:spPr>
        <p:txBody>
          <a:bodyPr vert="horz" wrap="square" lIns="0" tIns="0" rIns="0" bIns="0" rtlCol="0">
            <a:noAutofit/>
          </a:bodyPr>
          <a:lstStyle/>
          <a:p>
            <a:r>
              <a:rPr lang="en-US" altLang="zh-CN" sz="1280" b="1">
                <a:solidFill>
                  <a:srgbClr val="003B7A"/>
                </a:solidFill>
                <a:latin typeface="Aptos" panose="020B0004020202020204" pitchFamily="34" charset="0"/>
              </a:rPr>
              <a:t>TOSEM</a:t>
            </a:r>
            <a:endParaRPr lang="zh-CN" altLang="en-US" sz="1280" b="1">
              <a:solidFill>
                <a:srgbClr val="003B7A"/>
              </a:solidFill>
              <a:latin typeface="Aptos" panose="020B0004020202020204" pitchFamily="34" charset="0"/>
            </a:endParaRPr>
          </a:p>
        </p:txBody>
      </p:sp>
      <p:sp>
        <p:nvSpPr>
          <p:cNvPr id="17" name="roadt0">
            <a:extLst>
              <a:ext uri="{FF2B5EF4-FFF2-40B4-BE49-F238E27FC236}">
                <a16:creationId xmlns:a16="http://schemas.microsoft.com/office/drawing/2014/main" id="{6BAA2670-0F1E-BEE4-690F-987A9F677D9F}"/>
              </a:ext>
            </a:extLst>
          </p:cNvPr>
          <p:cNvSpPr txBox="1"/>
          <p:nvPr/>
        </p:nvSpPr>
        <p:spPr>
          <a:xfrm>
            <a:off x="5664200" y="2298700"/>
            <a:ext cx="4191000" cy="276999"/>
          </a:xfrm>
          <a:prstGeom prst="rect">
            <a:avLst/>
          </a:prstGeom>
          <a:noFill/>
        </p:spPr>
        <p:txBody>
          <a:bodyPr vert="horz" wrap="square" lIns="0" tIns="0" rIns="0" bIns="0" rtlCol="0">
            <a:noAutofit/>
          </a:bodyPr>
          <a:lstStyle/>
          <a:p>
            <a:r>
              <a:rPr lang="en-US" altLang="zh-CN" sz="1280" b="1">
                <a:solidFill>
                  <a:srgbClr val="52617A"/>
                </a:solidFill>
                <a:latin typeface="Aptos" panose="020B0004020202020204" pitchFamily="34" charset="0"/>
              </a:rPr>
              <a:t>benchmark and executable evaluation</a:t>
            </a:r>
            <a:endParaRPr lang="zh-CN" altLang="en-US" sz="1280" b="1">
              <a:solidFill>
                <a:srgbClr val="52617A"/>
              </a:solidFill>
              <a:latin typeface="Aptos" panose="020B0004020202020204" pitchFamily="34" charset="0"/>
            </a:endParaRPr>
          </a:p>
        </p:txBody>
      </p:sp>
      <p:sp>
        <p:nvSpPr>
          <p:cNvPr id="18" name="road1">
            <a:extLst>
              <a:ext uri="{FF2B5EF4-FFF2-40B4-BE49-F238E27FC236}">
                <a16:creationId xmlns:a16="http://schemas.microsoft.com/office/drawing/2014/main" id="{5D5F1CCD-22D7-E6B2-EE06-703B6CAF5B88}"/>
              </a:ext>
            </a:extLst>
          </p:cNvPr>
          <p:cNvSpPr/>
          <p:nvPr/>
        </p:nvSpPr>
        <p:spPr>
          <a:xfrm>
            <a:off x="1168400" y="28448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roadbar1">
            <a:extLst>
              <a:ext uri="{FF2B5EF4-FFF2-40B4-BE49-F238E27FC236}">
                <a16:creationId xmlns:a16="http://schemas.microsoft.com/office/drawing/2014/main" id="{C992744A-118F-5638-84B4-B389D5A7FB6F}"/>
              </a:ext>
            </a:extLst>
          </p:cNvPr>
          <p:cNvSpPr/>
          <p:nvPr/>
        </p:nvSpPr>
        <p:spPr>
          <a:xfrm>
            <a:off x="1168400" y="2844800"/>
            <a:ext cx="114300" cy="533400"/>
          </a:xfrm>
          <a:prstGeom prst="rect">
            <a:avLst/>
          </a:prstGeom>
          <a:solidFill>
            <a:srgbClr val="168E8B"/>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oadp1">
            <a:extLst>
              <a:ext uri="{FF2B5EF4-FFF2-40B4-BE49-F238E27FC236}">
                <a16:creationId xmlns:a16="http://schemas.microsoft.com/office/drawing/2014/main" id="{E34ECE5C-B551-01F0-68C9-1ED50639D9FF}"/>
              </a:ext>
            </a:extLst>
          </p:cNvPr>
          <p:cNvSpPr txBox="1"/>
          <p:nvPr/>
        </p:nvSpPr>
        <p:spPr>
          <a:xfrm>
            <a:off x="1549400" y="2984500"/>
            <a:ext cx="2082800" cy="276999"/>
          </a:xfrm>
          <a:prstGeom prst="rect">
            <a:avLst/>
          </a:prstGeom>
          <a:noFill/>
        </p:spPr>
        <p:txBody>
          <a:bodyPr vert="horz" wrap="square" lIns="0" tIns="0" rIns="0" bIns="0" rtlCol="0">
            <a:noAutofit/>
          </a:bodyPr>
          <a:lstStyle/>
          <a:p>
            <a:r>
              <a:rPr lang="en-US" altLang="zh-CN" sz="1350" b="1">
                <a:solidFill>
                  <a:srgbClr val="168E8B"/>
                </a:solidFill>
                <a:latin typeface="Aptos" panose="020B0004020202020204" pitchFamily="34" charset="0"/>
              </a:rPr>
              <a:t>SemCodebook</a:t>
            </a:r>
            <a:endParaRPr lang="zh-CN" altLang="en-US" sz="1350" b="1">
              <a:solidFill>
                <a:srgbClr val="168E8B"/>
              </a:solidFill>
              <a:latin typeface="Aptos" panose="020B0004020202020204" pitchFamily="34" charset="0"/>
            </a:endParaRPr>
          </a:p>
        </p:txBody>
      </p:sp>
      <p:sp>
        <p:nvSpPr>
          <p:cNvPr id="21" name="roadv1">
            <a:extLst>
              <a:ext uri="{FF2B5EF4-FFF2-40B4-BE49-F238E27FC236}">
                <a16:creationId xmlns:a16="http://schemas.microsoft.com/office/drawing/2014/main" id="{E3E526F9-CF5A-0958-EFA1-44CCC8BC64AC}"/>
              </a:ext>
            </a:extLst>
          </p:cNvPr>
          <p:cNvSpPr txBox="1"/>
          <p:nvPr/>
        </p:nvSpPr>
        <p:spPr>
          <a:xfrm>
            <a:off x="4140200" y="2984500"/>
            <a:ext cx="939800" cy="276999"/>
          </a:xfrm>
          <a:prstGeom prst="rect">
            <a:avLst/>
          </a:prstGeom>
          <a:noFill/>
        </p:spPr>
        <p:txBody>
          <a:bodyPr vert="horz" wrap="square" lIns="0" tIns="0" rIns="0" bIns="0" rtlCol="0">
            <a:noAutofit/>
          </a:bodyPr>
          <a:lstStyle/>
          <a:p>
            <a:r>
              <a:rPr lang="en-US" altLang="zh-CN" sz="1280" b="1">
                <a:solidFill>
                  <a:srgbClr val="003B7A"/>
                </a:solidFill>
                <a:latin typeface="Aptos" panose="020B0004020202020204" pitchFamily="34" charset="0"/>
              </a:rPr>
              <a:t>EMNLP</a:t>
            </a:r>
            <a:endParaRPr lang="zh-CN" altLang="en-US" sz="1280" b="1">
              <a:solidFill>
                <a:srgbClr val="003B7A"/>
              </a:solidFill>
              <a:latin typeface="Aptos" panose="020B0004020202020204" pitchFamily="34" charset="0"/>
            </a:endParaRPr>
          </a:p>
        </p:txBody>
      </p:sp>
      <p:sp>
        <p:nvSpPr>
          <p:cNvPr id="22" name="roadt1">
            <a:extLst>
              <a:ext uri="{FF2B5EF4-FFF2-40B4-BE49-F238E27FC236}">
                <a16:creationId xmlns:a16="http://schemas.microsoft.com/office/drawing/2014/main" id="{9E44A375-CF36-7413-DAA6-3F19D507D16A}"/>
              </a:ext>
            </a:extLst>
          </p:cNvPr>
          <p:cNvSpPr txBox="1"/>
          <p:nvPr/>
        </p:nvSpPr>
        <p:spPr>
          <a:xfrm>
            <a:off x="5664200" y="2984500"/>
            <a:ext cx="4191000" cy="276999"/>
          </a:xfrm>
          <a:prstGeom prst="rect">
            <a:avLst/>
          </a:prstGeom>
          <a:noFill/>
        </p:spPr>
        <p:txBody>
          <a:bodyPr vert="horz" wrap="square" lIns="0" tIns="0" rIns="0" bIns="0" rtlCol="0">
            <a:noAutofit/>
          </a:bodyPr>
          <a:lstStyle/>
          <a:p>
            <a:r>
              <a:rPr lang="en-US" altLang="zh-CN" sz="1280" b="1">
                <a:solidFill>
                  <a:srgbClr val="52617A"/>
                </a:solidFill>
                <a:latin typeface="Aptos" panose="020B0004020202020204" pitchFamily="34" charset="0"/>
              </a:rPr>
              <a:t>white-box provenance recovery</a:t>
            </a:r>
            <a:endParaRPr lang="zh-CN" altLang="en-US" sz="1280" b="1">
              <a:solidFill>
                <a:srgbClr val="52617A"/>
              </a:solidFill>
              <a:latin typeface="Aptos" panose="020B0004020202020204" pitchFamily="34" charset="0"/>
            </a:endParaRPr>
          </a:p>
        </p:txBody>
      </p:sp>
      <p:sp>
        <p:nvSpPr>
          <p:cNvPr id="23" name="road2">
            <a:extLst>
              <a:ext uri="{FF2B5EF4-FFF2-40B4-BE49-F238E27FC236}">
                <a16:creationId xmlns:a16="http://schemas.microsoft.com/office/drawing/2014/main" id="{B7AAA5C4-A1DA-496F-33C9-C087597989F1}"/>
              </a:ext>
            </a:extLst>
          </p:cNvPr>
          <p:cNvSpPr/>
          <p:nvPr/>
        </p:nvSpPr>
        <p:spPr>
          <a:xfrm>
            <a:off x="1168400" y="35306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roadbar2">
            <a:extLst>
              <a:ext uri="{FF2B5EF4-FFF2-40B4-BE49-F238E27FC236}">
                <a16:creationId xmlns:a16="http://schemas.microsoft.com/office/drawing/2014/main" id="{B4B25BB6-5C80-D1FD-D122-5878AD664AA3}"/>
              </a:ext>
            </a:extLst>
          </p:cNvPr>
          <p:cNvSpPr/>
          <p:nvPr/>
        </p:nvSpPr>
        <p:spPr>
          <a:xfrm>
            <a:off x="1168400" y="3530600"/>
            <a:ext cx="114300" cy="533400"/>
          </a:xfrm>
          <a:prstGeom prst="rect">
            <a:avLst/>
          </a:prstGeom>
          <a:solidFill>
            <a:srgbClr val="5B45C8"/>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roadp2">
            <a:extLst>
              <a:ext uri="{FF2B5EF4-FFF2-40B4-BE49-F238E27FC236}">
                <a16:creationId xmlns:a16="http://schemas.microsoft.com/office/drawing/2014/main" id="{688C54F7-B0F2-892A-6173-19DF0B5F6622}"/>
              </a:ext>
            </a:extLst>
          </p:cNvPr>
          <p:cNvSpPr txBox="1"/>
          <p:nvPr/>
        </p:nvSpPr>
        <p:spPr>
          <a:xfrm>
            <a:off x="1549400" y="3670300"/>
            <a:ext cx="2082800" cy="276999"/>
          </a:xfrm>
          <a:prstGeom prst="rect">
            <a:avLst/>
          </a:prstGeom>
          <a:noFill/>
        </p:spPr>
        <p:txBody>
          <a:bodyPr vert="horz" wrap="square" lIns="0" tIns="0" rIns="0" bIns="0" rtlCol="0">
            <a:noAutofit/>
          </a:bodyPr>
          <a:lstStyle/>
          <a:p>
            <a:r>
              <a:rPr lang="en-US" altLang="zh-CN" sz="1350" b="1">
                <a:solidFill>
                  <a:srgbClr val="5B45C8"/>
                </a:solidFill>
                <a:latin typeface="Aptos" panose="020B0004020202020204" pitchFamily="34" charset="0"/>
              </a:rPr>
              <a:t>CodeDye</a:t>
            </a:r>
            <a:endParaRPr lang="zh-CN" altLang="en-US" sz="1350" b="1">
              <a:solidFill>
                <a:srgbClr val="5B45C8"/>
              </a:solidFill>
              <a:latin typeface="Aptos" panose="020B0004020202020204" pitchFamily="34" charset="0"/>
            </a:endParaRPr>
          </a:p>
        </p:txBody>
      </p:sp>
      <p:sp>
        <p:nvSpPr>
          <p:cNvPr id="26" name="roadv2">
            <a:extLst>
              <a:ext uri="{FF2B5EF4-FFF2-40B4-BE49-F238E27FC236}">
                <a16:creationId xmlns:a16="http://schemas.microsoft.com/office/drawing/2014/main" id="{BECA3A55-7D34-D808-339E-775A8C9FC9CF}"/>
              </a:ext>
            </a:extLst>
          </p:cNvPr>
          <p:cNvSpPr txBox="1"/>
          <p:nvPr/>
        </p:nvSpPr>
        <p:spPr>
          <a:xfrm>
            <a:off x="4140200" y="3670300"/>
            <a:ext cx="939800" cy="276999"/>
          </a:xfrm>
          <a:prstGeom prst="rect">
            <a:avLst/>
          </a:prstGeom>
          <a:noFill/>
        </p:spPr>
        <p:txBody>
          <a:bodyPr vert="horz" wrap="square" lIns="0" tIns="0" rIns="0" bIns="0" rtlCol="0">
            <a:noAutofit/>
          </a:bodyPr>
          <a:lstStyle/>
          <a:p>
            <a:r>
              <a:rPr lang="en-US" altLang="zh-CN" sz="1280" b="1">
                <a:solidFill>
                  <a:srgbClr val="003B7A"/>
                </a:solidFill>
                <a:latin typeface="Aptos" panose="020B0004020202020204" pitchFamily="34" charset="0"/>
              </a:rPr>
              <a:t>EMNLP</a:t>
            </a:r>
            <a:endParaRPr lang="zh-CN" altLang="en-US" sz="1280" b="1">
              <a:solidFill>
                <a:srgbClr val="003B7A"/>
              </a:solidFill>
              <a:latin typeface="Aptos" panose="020B0004020202020204" pitchFamily="34" charset="0"/>
            </a:endParaRPr>
          </a:p>
        </p:txBody>
      </p:sp>
      <p:sp>
        <p:nvSpPr>
          <p:cNvPr id="27" name="roadt2">
            <a:extLst>
              <a:ext uri="{FF2B5EF4-FFF2-40B4-BE49-F238E27FC236}">
                <a16:creationId xmlns:a16="http://schemas.microsoft.com/office/drawing/2014/main" id="{37983E41-2C3B-AAA3-E955-EFC6E02EA8AD}"/>
              </a:ext>
            </a:extLst>
          </p:cNvPr>
          <p:cNvSpPr txBox="1"/>
          <p:nvPr/>
        </p:nvSpPr>
        <p:spPr>
          <a:xfrm>
            <a:off x="5664200" y="3670300"/>
            <a:ext cx="4191000" cy="276999"/>
          </a:xfrm>
          <a:prstGeom prst="rect">
            <a:avLst/>
          </a:prstGeom>
          <a:noFill/>
        </p:spPr>
        <p:txBody>
          <a:bodyPr vert="horz" wrap="square" lIns="0" tIns="0" rIns="0" bIns="0" rtlCol="0">
            <a:noAutofit/>
          </a:bodyPr>
          <a:lstStyle/>
          <a:p>
            <a:r>
              <a:rPr lang="en-US" altLang="zh-CN" sz="1280" b="1">
                <a:solidFill>
                  <a:srgbClr val="52617A"/>
                </a:solidFill>
                <a:latin typeface="Aptos" panose="020B0004020202020204" pitchFamily="34" charset="0"/>
              </a:rPr>
              <a:t>black-box null-audit calibration</a:t>
            </a:r>
            <a:endParaRPr lang="zh-CN" altLang="en-US" sz="1280" b="1">
              <a:solidFill>
                <a:srgbClr val="52617A"/>
              </a:solidFill>
              <a:latin typeface="Aptos" panose="020B0004020202020204" pitchFamily="34" charset="0"/>
            </a:endParaRPr>
          </a:p>
        </p:txBody>
      </p:sp>
      <p:sp>
        <p:nvSpPr>
          <p:cNvPr id="28" name="road3">
            <a:extLst>
              <a:ext uri="{FF2B5EF4-FFF2-40B4-BE49-F238E27FC236}">
                <a16:creationId xmlns:a16="http://schemas.microsoft.com/office/drawing/2014/main" id="{FA524475-8C74-BC76-695F-1EC4ACFA39C8}"/>
              </a:ext>
            </a:extLst>
          </p:cNvPr>
          <p:cNvSpPr/>
          <p:nvPr/>
        </p:nvSpPr>
        <p:spPr>
          <a:xfrm>
            <a:off x="1168400" y="42164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roadbar3">
            <a:extLst>
              <a:ext uri="{FF2B5EF4-FFF2-40B4-BE49-F238E27FC236}">
                <a16:creationId xmlns:a16="http://schemas.microsoft.com/office/drawing/2014/main" id="{51B1A47B-4760-4BC6-80BC-87ED59F5D69A}"/>
              </a:ext>
            </a:extLst>
          </p:cNvPr>
          <p:cNvSpPr/>
          <p:nvPr/>
        </p:nvSpPr>
        <p:spPr>
          <a:xfrm>
            <a:off x="1168400" y="4216400"/>
            <a:ext cx="114300" cy="533400"/>
          </a:xfrm>
          <a:prstGeom prst="rect">
            <a:avLst/>
          </a:prstGeom>
          <a:solidFill>
            <a:srgbClr val="B85C0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roadp3">
            <a:extLst>
              <a:ext uri="{FF2B5EF4-FFF2-40B4-BE49-F238E27FC236}">
                <a16:creationId xmlns:a16="http://schemas.microsoft.com/office/drawing/2014/main" id="{209E97DE-8ED9-CDED-9D57-781AA9AB55FA}"/>
              </a:ext>
            </a:extLst>
          </p:cNvPr>
          <p:cNvSpPr txBox="1"/>
          <p:nvPr/>
        </p:nvSpPr>
        <p:spPr>
          <a:xfrm>
            <a:off x="1549400" y="4356100"/>
            <a:ext cx="2082800" cy="276999"/>
          </a:xfrm>
          <a:prstGeom prst="rect">
            <a:avLst/>
          </a:prstGeom>
          <a:noFill/>
        </p:spPr>
        <p:txBody>
          <a:bodyPr vert="horz" wrap="square" lIns="0" tIns="0" rIns="0" bIns="0" rtlCol="0">
            <a:noAutofit/>
          </a:bodyPr>
          <a:lstStyle/>
          <a:p>
            <a:r>
              <a:rPr lang="en-US" altLang="zh-CN" sz="1350" b="1">
                <a:solidFill>
                  <a:srgbClr val="B85C00"/>
                </a:solidFill>
                <a:latin typeface="Aptos" panose="020B0004020202020204" pitchFamily="34" charset="0"/>
              </a:rPr>
              <a:t>ProbeTrace</a:t>
            </a:r>
            <a:endParaRPr lang="zh-CN" altLang="en-US" sz="1350" b="1">
              <a:solidFill>
                <a:srgbClr val="B85C00"/>
              </a:solidFill>
              <a:latin typeface="Aptos" panose="020B0004020202020204" pitchFamily="34" charset="0"/>
            </a:endParaRPr>
          </a:p>
        </p:txBody>
      </p:sp>
      <p:sp>
        <p:nvSpPr>
          <p:cNvPr id="31" name="roadv3">
            <a:extLst>
              <a:ext uri="{FF2B5EF4-FFF2-40B4-BE49-F238E27FC236}">
                <a16:creationId xmlns:a16="http://schemas.microsoft.com/office/drawing/2014/main" id="{5D569F4B-DF49-18E0-95E2-32FC8A02F693}"/>
              </a:ext>
            </a:extLst>
          </p:cNvPr>
          <p:cNvSpPr txBox="1"/>
          <p:nvPr/>
        </p:nvSpPr>
        <p:spPr>
          <a:xfrm>
            <a:off x="4140200" y="4356100"/>
            <a:ext cx="939800" cy="276999"/>
          </a:xfrm>
          <a:prstGeom prst="rect">
            <a:avLst/>
          </a:prstGeom>
          <a:noFill/>
        </p:spPr>
        <p:txBody>
          <a:bodyPr vert="horz" wrap="square" lIns="0" tIns="0" rIns="0" bIns="0" rtlCol="0">
            <a:noAutofit/>
          </a:bodyPr>
          <a:lstStyle/>
          <a:p>
            <a:r>
              <a:rPr lang="en-US" altLang="zh-CN" sz="1280" b="1">
                <a:solidFill>
                  <a:srgbClr val="003B7A"/>
                </a:solidFill>
                <a:latin typeface="Aptos" panose="020B0004020202020204" pitchFamily="34" charset="0"/>
              </a:rPr>
              <a:t>EMNLP</a:t>
            </a:r>
            <a:endParaRPr lang="zh-CN" altLang="en-US" sz="1280" b="1">
              <a:solidFill>
                <a:srgbClr val="003B7A"/>
              </a:solidFill>
              <a:latin typeface="Aptos" panose="020B0004020202020204" pitchFamily="34" charset="0"/>
            </a:endParaRPr>
          </a:p>
        </p:txBody>
      </p:sp>
      <p:sp>
        <p:nvSpPr>
          <p:cNvPr id="32" name="roadt3">
            <a:extLst>
              <a:ext uri="{FF2B5EF4-FFF2-40B4-BE49-F238E27FC236}">
                <a16:creationId xmlns:a16="http://schemas.microsoft.com/office/drawing/2014/main" id="{DB203EBE-2F09-6662-4897-2B8B533C6927}"/>
              </a:ext>
            </a:extLst>
          </p:cNvPr>
          <p:cNvSpPr txBox="1"/>
          <p:nvPr/>
        </p:nvSpPr>
        <p:spPr>
          <a:xfrm>
            <a:off x="5664200" y="4356100"/>
            <a:ext cx="4191000" cy="276999"/>
          </a:xfrm>
          <a:prstGeom prst="rect">
            <a:avLst/>
          </a:prstGeom>
          <a:noFill/>
        </p:spPr>
        <p:txBody>
          <a:bodyPr vert="horz" wrap="square" lIns="0" tIns="0" rIns="0" bIns="0" rtlCol="0">
            <a:noAutofit/>
          </a:bodyPr>
          <a:lstStyle/>
          <a:p>
            <a:r>
              <a:rPr lang="en-US" altLang="zh-CN" sz="1280" b="1">
                <a:solidFill>
                  <a:srgbClr val="52617A"/>
                </a:solidFill>
                <a:latin typeface="Aptos" panose="020B0004020202020204" pitchFamily="34" charset="0"/>
              </a:rPr>
              <a:t>active-owner attribution</a:t>
            </a:r>
            <a:endParaRPr lang="zh-CN" altLang="en-US" sz="1280" b="1">
              <a:solidFill>
                <a:srgbClr val="52617A"/>
              </a:solidFill>
              <a:latin typeface="Aptos" panose="020B0004020202020204" pitchFamily="34" charset="0"/>
            </a:endParaRPr>
          </a:p>
        </p:txBody>
      </p:sp>
      <p:sp>
        <p:nvSpPr>
          <p:cNvPr id="33" name="road4">
            <a:extLst>
              <a:ext uri="{FF2B5EF4-FFF2-40B4-BE49-F238E27FC236}">
                <a16:creationId xmlns:a16="http://schemas.microsoft.com/office/drawing/2014/main" id="{13756173-0694-C8B6-2ECB-52DBED2B68DE}"/>
              </a:ext>
            </a:extLst>
          </p:cNvPr>
          <p:cNvSpPr/>
          <p:nvPr/>
        </p:nvSpPr>
        <p:spPr>
          <a:xfrm>
            <a:off x="1168400" y="4902200"/>
            <a:ext cx="9652000" cy="5334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roadbar4">
            <a:extLst>
              <a:ext uri="{FF2B5EF4-FFF2-40B4-BE49-F238E27FC236}">
                <a16:creationId xmlns:a16="http://schemas.microsoft.com/office/drawing/2014/main" id="{67D0E0FE-5074-75C1-0846-C29FC0248BC6}"/>
              </a:ext>
            </a:extLst>
          </p:cNvPr>
          <p:cNvSpPr/>
          <p:nvPr/>
        </p:nvSpPr>
        <p:spPr>
          <a:xfrm>
            <a:off x="1168400" y="4902200"/>
            <a:ext cx="114300" cy="533400"/>
          </a:xfrm>
          <a:prstGeom prst="rect">
            <a:avLst/>
          </a:prstGeom>
          <a:solidFill>
            <a:srgbClr val="1F7A4D"/>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roadp4">
            <a:extLst>
              <a:ext uri="{FF2B5EF4-FFF2-40B4-BE49-F238E27FC236}">
                <a16:creationId xmlns:a16="http://schemas.microsoft.com/office/drawing/2014/main" id="{5F00AC5A-A673-7B7D-F7A7-DA9E9058E75D}"/>
              </a:ext>
            </a:extLst>
          </p:cNvPr>
          <p:cNvSpPr txBox="1"/>
          <p:nvPr/>
        </p:nvSpPr>
        <p:spPr>
          <a:xfrm>
            <a:off x="1549400" y="5041900"/>
            <a:ext cx="2082800" cy="276999"/>
          </a:xfrm>
          <a:prstGeom prst="rect">
            <a:avLst/>
          </a:prstGeom>
          <a:noFill/>
        </p:spPr>
        <p:txBody>
          <a:bodyPr vert="horz" wrap="square" lIns="0" tIns="0" rIns="0" bIns="0" rtlCol="0">
            <a:noAutofit/>
          </a:bodyPr>
          <a:lstStyle/>
          <a:p>
            <a:r>
              <a:rPr lang="en-US" altLang="zh-CN" sz="1350" b="1">
                <a:solidFill>
                  <a:srgbClr val="1F7A4D"/>
                </a:solidFill>
                <a:latin typeface="Aptos" panose="020B0004020202020204" pitchFamily="34" charset="0"/>
              </a:rPr>
              <a:t>SealAudit</a:t>
            </a:r>
            <a:endParaRPr lang="zh-CN" altLang="en-US" sz="1350" b="1">
              <a:solidFill>
                <a:srgbClr val="1F7A4D"/>
              </a:solidFill>
              <a:latin typeface="Aptos" panose="020B0004020202020204" pitchFamily="34" charset="0"/>
            </a:endParaRPr>
          </a:p>
        </p:txBody>
      </p:sp>
      <p:sp>
        <p:nvSpPr>
          <p:cNvPr id="36" name="roadv4">
            <a:extLst>
              <a:ext uri="{FF2B5EF4-FFF2-40B4-BE49-F238E27FC236}">
                <a16:creationId xmlns:a16="http://schemas.microsoft.com/office/drawing/2014/main" id="{E2D855DF-0066-5769-2DED-6B5AD57D112E}"/>
              </a:ext>
            </a:extLst>
          </p:cNvPr>
          <p:cNvSpPr txBox="1"/>
          <p:nvPr/>
        </p:nvSpPr>
        <p:spPr>
          <a:xfrm>
            <a:off x="4140200" y="5041900"/>
            <a:ext cx="939800" cy="276999"/>
          </a:xfrm>
          <a:prstGeom prst="rect">
            <a:avLst/>
          </a:prstGeom>
          <a:noFill/>
        </p:spPr>
        <p:txBody>
          <a:bodyPr vert="horz" wrap="square" lIns="0" tIns="0" rIns="0" bIns="0" rtlCol="0">
            <a:noAutofit/>
          </a:bodyPr>
          <a:lstStyle/>
          <a:p>
            <a:r>
              <a:rPr lang="en-US" altLang="zh-CN" sz="1280" b="1">
                <a:solidFill>
                  <a:srgbClr val="003B7A"/>
                </a:solidFill>
                <a:latin typeface="Aptos" panose="020B0004020202020204" pitchFamily="34" charset="0"/>
              </a:rPr>
              <a:t>EMNLP</a:t>
            </a:r>
            <a:endParaRPr lang="zh-CN" altLang="en-US" sz="1280" b="1">
              <a:solidFill>
                <a:srgbClr val="003B7A"/>
              </a:solidFill>
              <a:latin typeface="Aptos" panose="020B0004020202020204" pitchFamily="34" charset="0"/>
            </a:endParaRPr>
          </a:p>
        </p:txBody>
      </p:sp>
      <p:sp>
        <p:nvSpPr>
          <p:cNvPr id="37" name="roadt4">
            <a:extLst>
              <a:ext uri="{FF2B5EF4-FFF2-40B4-BE49-F238E27FC236}">
                <a16:creationId xmlns:a16="http://schemas.microsoft.com/office/drawing/2014/main" id="{DCEF463A-EC40-232A-89EE-D79242054152}"/>
              </a:ext>
            </a:extLst>
          </p:cNvPr>
          <p:cNvSpPr txBox="1"/>
          <p:nvPr/>
        </p:nvSpPr>
        <p:spPr>
          <a:xfrm>
            <a:off x="5664200" y="5041900"/>
            <a:ext cx="4191000" cy="276999"/>
          </a:xfrm>
          <a:prstGeom prst="rect">
            <a:avLst/>
          </a:prstGeom>
          <a:noFill/>
        </p:spPr>
        <p:txBody>
          <a:bodyPr vert="horz" wrap="square" lIns="0" tIns="0" rIns="0" bIns="0" rtlCol="0">
            <a:noAutofit/>
          </a:bodyPr>
          <a:lstStyle/>
          <a:p>
            <a:r>
              <a:rPr lang="en-US" altLang="zh-CN" sz="1280" b="1">
                <a:solidFill>
                  <a:srgbClr val="52617A"/>
                </a:solidFill>
                <a:latin typeface="Aptos" panose="020B0004020202020204" pitchFamily="34" charset="0"/>
              </a:rPr>
              <a:t>marker-hidden security triage</a:t>
            </a:r>
            <a:endParaRPr lang="zh-CN" altLang="en-US" sz="1280" b="1">
              <a:solidFill>
                <a:srgbClr val="52617A"/>
              </a:solidFill>
              <a:latin typeface="Aptos" panose="020B0004020202020204" pitchFamily="34" charset="0"/>
            </a:endParaRPr>
          </a:p>
        </p:txBody>
      </p:sp>
      <p:sp>
        <p:nvSpPr>
          <p:cNvPr id="38" name="roadnote">
            <a:extLst>
              <a:ext uri="{FF2B5EF4-FFF2-40B4-BE49-F238E27FC236}">
                <a16:creationId xmlns:a16="http://schemas.microsoft.com/office/drawing/2014/main" id="{59DE7E52-5B16-865C-B6DE-05490A0EDF55}"/>
              </a:ext>
            </a:extLst>
          </p:cNvPr>
          <p:cNvSpPr/>
          <p:nvPr/>
        </p:nvSpPr>
        <p:spPr>
          <a:xfrm>
            <a:off x="2057400" y="5740400"/>
            <a:ext cx="8077200" cy="381000"/>
          </a:xfrm>
          <a:prstGeom prst="roundRect">
            <a:avLst>
              <a:gd name="adj" fmla="val 14000"/>
            </a:avLst>
          </a:prstGeom>
          <a:solidFill>
            <a:srgbClr val="FFF7E0"/>
          </a:solidFill>
          <a:ln w="10160" cap="flat" cmpd="sng" algn="ctr">
            <a:solidFill>
              <a:srgbClr val="F4C249">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roadnote-t">
            <a:extLst>
              <a:ext uri="{FF2B5EF4-FFF2-40B4-BE49-F238E27FC236}">
                <a16:creationId xmlns:a16="http://schemas.microsoft.com/office/drawing/2014/main" id="{741A8E65-8082-7A66-B879-E87DCF8F00F4}"/>
              </a:ext>
            </a:extLst>
          </p:cNvPr>
          <p:cNvSpPr txBox="1"/>
          <p:nvPr/>
        </p:nvSpPr>
        <p:spPr>
          <a:xfrm>
            <a:off x="2413000" y="5854700"/>
            <a:ext cx="7366000" cy="276999"/>
          </a:xfrm>
          <a:prstGeom prst="rect">
            <a:avLst/>
          </a:prstGeom>
          <a:noFill/>
        </p:spPr>
        <p:txBody>
          <a:bodyPr vert="horz" wrap="square" lIns="0" tIns="0" rIns="0" bIns="0" rtlCol="0">
            <a:noAutofit/>
          </a:bodyPr>
          <a:lstStyle/>
          <a:p>
            <a:r>
              <a:rPr lang="en-US" altLang="zh-CN" sz="1040" b="1">
                <a:solidFill>
                  <a:srgbClr val="071837"/>
                </a:solidFill>
                <a:latin typeface="Aptos" panose="020B0004020202020204" pitchFamily="34" charset="0"/>
              </a:rPr>
              <a:t>Boundary: future papers are continuations; the submitted FYP artifact remains fixed.</a:t>
            </a:r>
            <a:endParaRPr lang="zh-CN" altLang="en-US" sz="1040" b="1">
              <a:solidFill>
                <a:srgbClr val="071837"/>
              </a:solidFill>
              <a:latin typeface="Aptos" panose="020B0004020202020204" pitchFamily="34" charset="0"/>
            </a:endParaRPr>
          </a:p>
        </p:txBody>
      </p:sp>
      <p:sp>
        <p:nvSpPr>
          <p:cNvPr id="40" name="footer-hit-15">
            <a:hlinkClick r:id="rId4"/>
            <a:extLst>
              <a:ext uri="{FF2B5EF4-FFF2-40B4-BE49-F238E27FC236}">
                <a16:creationId xmlns:a16="http://schemas.microsoft.com/office/drawing/2014/main" id="{E2F6D3B7-4881-D376-5BAF-BF3478AF7744}"/>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52562593"/>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60"/>
                                        <p:tgtEl>
                                          <p:spTgt spid="13"/>
                                        </p:tgtEl>
                                      </p:cBhvr>
                                    </p:animEffect>
                                  </p:childTnLst>
                                </p:cTn>
                              </p:par>
                            </p:childTnLst>
                          </p:cTn>
                        </p:par>
                        <p:par>
                          <p:cTn id="8" fill="hold">
                            <p:stCondLst>
                              <p:cond delay="160"/>
                            </p:stCondLst>
                            <p:childTnLst>
                              <p:par>
                                <p:cTn id="9" presetID="10" presetClass="entr" presetSubtype="0" fill="hold" grpId="0"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160"/>
                                        <p:tgtEl>
                                          <p:spTgt spid="14"/>
                                        </p:tgtEl>
                                      </p:cBhvr>
                                    </p:animEffect>
                                  </p:childTnLst>
                                </p:cTn>
                              </p:par>
                            </p:childTnLst>
                          </p:cTn>
                        </p:par>
                        <p:par>
                          <p:cTn id="12" fill="hold">
                            <p:stCondLst>
                              <p:cond delay="320"/>
                            </p:stCondLst>
                            <p:childTnLst>
                              <p:par>
                                <p:cTn id="13" presetID="10" presetClass="entr" presetSubtype="0" fill="hold" grpId="0"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160"/>
                                        <p:tgtEl>
                                          <p:spTgt spid="15"/>
                                        </p:tgtEl>
                                      </p:cBhvr>
                                    </p:animEffect>
                                  </p:childTnLst>
                                </p:cTn>
                              </p:par>
                            </p:childTnLst>
                          </p:cTn>
                        </p:par>
                        <p:par>
                          <p:cTn id="16" fill="hold">
                            <p:stCondLst>
                              <p:cond delay="480"/>
                            </p:stCondLst>
                            <p:childTnLst>
                              <p:par>
                                <p:cTn id="17" presetID="10" presetClass="entr" presetSubtype="0" fill="hold" grpId="0"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160"/>
                                        <p:tgtEl>
                                          <p:spTgt spid="16"/>
                                        </p:tgtEl>
                                      </p:cBhvr>
                                    </p:animEffect>
                                  </p:childTnLst>
                                </p:cTn>
                              </p:par>
                            </p:childTnLst>
                          </p:cTn>
                        </p:par>
                        <p:par>
                          <p:cTn id="20" fill="hold">
                            <p:stCondLst>
                              <p:cond delay="640"/>
                            </p:stCondLst>
                            <p:childTnLst>
                              <p:par>
                                <p:cTn id="21" presetID="10" presetClass="entr" presetSubtype="0" fill="hold" grpId="0" nodeType="after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160"/>
                                        <p:tgtEl>
                                          <p:spTgt spid="17"/>
                                        </p:tgtEl>
                                      </p:cBhvr>
                                    </p:animEffect>
                                  </p:childTnLst>
                                </p:cTn>
                              </p:par>
                            </p:childTnLst>
                          </p:cTn>
                        </p:par>
                        <p:par>
                          <p:cTn id="24" fill="hold">
                            <p:stCondLst>
                              <p:cond delay="800"/>
                            </p:stCondLst>
                            <p:childTnLst>
                              <p:par>
                                <p:cTn id="25" presetID="10"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160"/>
                                        <p:tgtEl>
                                          <p:spTgt spid="18"/>
                                        </p:tgtEl>
                                      </p:cBhvr>
                                    </p:animEffect>
                                  </p:childTnLst>
                                </p:cTn>
                              </p:par>
                            </p:childTnLst>
                          </p:cTn>
                        </p:par>
                        <p:par>
                          <p:cTn id="28" fill="hold">
                            <p:stCondLst>
                              <p:cond delay="960"/>
                            </p:stCondLst>
                            <p:childTnLst>
                              <p:par>
                                <p:cTn id="29" presetID="10" presetClass="entr" presetSubtype="0" fill="hold" grpId="0" nodeType="after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160"/>
                                        <p:tgtEl>
                                          <p:spTgt spid="19"/>
                                        </p:tgtEl>
                                      </p:cBhvr>
                                    </p:animEffect>
                                  </p:childTnLst>
                                </p:cTn>
                              </p:par>
                            </p:childTnLst>
                          </p:cTn>
                        </p:par>
                        <p:par>
                          <p:cTn id="32" fill="hold">
                            <p:stCondLst>
                              <p:cond delay="1120"/>
                            </p:stCondLst>
                            <p:childTnLst>
                              <p:par>
                                <p:cTn id="33" presetID="10" presetClass="entr" presetSubtype="0" fill="hold" grpId="0" nodeType="after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160"/>
                                        <p:tgtEl>
                                          <p:spTgt spid="20"/>
                                        </p:tgtEl>
                                      </p:cBhvr>
                                    </p:animEffect>
                                  </p:childTnLst>
                                </p:cTn>
                              </p:par>
                            </p:childTnLst>
                          </p:cTn>
                        </p:par>
                        <p:par>
                          <p:cTn id="36" fill="hold">
                            <p:stCondLst>
                              <p:cond delay="1280"/>
                            </p:stCondLst>
                            <p:childTnLst>
                              <p:par>
                                <p:cTn id="37" presetID="10" presetClass="entr" presetSubtype="0" fill="hold" grpId="0" nodeType="after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160"/>
                                        <p:tgtEl>
                                          <p:spTgt spid="21"/>
                                        </p:tgtEl>
                                      </p:cBhvr>
                                    </p:animEffect>
                                  </p:childTnLst>
                                </p:cTn>
                              </p:par>
                            </p:childTnLst>
                          </p:cTn>
                        </p:par>
                        <p:par>
                          <p:cTn id="40" fill="hold">
                            <p:stCondLst>
                              <p:cond delay="1440"/>
                            </p:stCondLst>
                            <p:childTnLst>
                              <p:par>
                                <p:cTn id="41" presetID="10" presetClass="entr" presetSubtype="0" fill="hold" grpId="0" nodeType="after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160"/>
                                        <p:tgtEl>
                                          <p:spTgt spid="22"/>
                                        </p:tgtEl>
                                      </p:cBhvr>
                                    </p:animEffect>
                                  </p:childTnLst>
                                </p:cTn>
                              </p:par>
                            </p:childTnLst>
                          </p:cTn>
                        </p:par>
                        <p:par>
                          <p:cTn id="44" fill="hold">
                            <p:stCondLst>
                              <p:cond delay="1600"/>
                            </p:stCondLst>
                            <p:childTnLst>
                              <p:par>
                                <p:cTn id="45" presetID="10" presetClass="entr" presetSubtype="0" fill="hold" grpId="0" nodeType="after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160"/>
                                        <p:tgtEl>
                                          <p:spTgt spid="23"/>
                                        </p:tgtEl>
                                      </p:cBhvr>
                                    </p:animEffect>
                                  </p:childTnLst>
                                </p:cTn>
                              </p:par>
                            </p:childTnLst>
                          </p:cTn>
                        </p:par>
                        <p:par>
                          <p:cTn id="48" fill="hold">
                            <p:stCondLst>
                              <p:cond delay="1760"/>
                            </p:stCondLst>
                            <p:childTnLst>
                              <p:par>
                                <p:cTn id="49" presetID="10" presetClass="entr" presetSubtype="0" fill="hold" grpId="0" nodeType="after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160"/>
                                        <p:tgtEl>
                                          <p:spTgt spid="24"/>
                                        </p:tgtEl>
                                      </p:cBhvr>
                                    </p:animEffect>
                                  </p:childTnLst>
                                </p:cTn>
                              </p:par>
                            </p:childTnLst>
                          </p:cTn>
                        </p:par>
                        <p:par>
                          <p:cTn id="52" fill="hold">
                            <p:stCondLst>
                              <p:cond delay="192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160"/>
                                        <p:tgtEl>
                                          <p:spTgt spid="25"/>
                                        </p:tgtEl>
                                      </p:cBhvr>
                                    </p:animEffect>
                                  </p:childTnLst>
                                </p:cTn>
                              </p:par>
                            </p:childTnLst>
                          </p:cTn>
                        </p:par>
                        <p:par>
                          <p:cTn id="56" fill="hold">
                            <p:stCondLst>
                              <p:cond delay="2080"/>
                            </p:stCondLst>
                            <p:childTnLst>
                              <p:par>
                                <p:cTn id="57" presetID="10" presetClass="entr" presetSubtype="0" fill="hold" grpId="0" nodeType="after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160"/>
                                        <p:tgtEl>
                                          <p:spTgt spid="26"/>
                                        </p:tgtEl>
                                      </p:cBhvr>
                                    </p:animEffect>
                                  </p:childTnLst>
                                </p:cTn>
                              </p:par>
                            </p:childTnLst>
                          </p:cTn>
                        </p:par>
                        <p:par>
                          <p:cTn id="60" fill="hold">
                            <p:stCondLst>
                              <p:cond delay="2240"/>
                            </p:stCondLst>
                            <p:childTnLst>
                              <p:par>
                                <p:cTn id="61" presetID="10" presetClass="entr" presetSubtype="0" fill="hold" grpId="0" nodeType="after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160"/>
                                        <p:tgtEl>
                                          <p:spTgt spid="27"/>
                                        </p:tgtEl>
                                      </p:cBhvr>
                                    </p:animEffect>
                                  </p:childTnLst>
                                </p:cTn>
                              </p:par>
                            </p:childTnLst>
                          </p:cTn>
                        </p:par>
                        <p:par>
                          <p:cTn id="64" fill="hold">
                            <p:stCondLst>
                              <p:cond delay="2400"/>
                            </p:stCondLst>
                            <p:childTnLst>
                              <p:par>
                                <p:cTn id="65" presetID="10" presetClass="entr" presetSubtype="0" fill="hold" grpId="0" nodeType="after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160"/>
                                        <p:tgtEl>
                                          <p:spTgt spid="28"/>
                                        </p:tgtEl>
                                      </p:cBhvr>
                                    </p:animEffect>
                                  </p:childTnLst>
                                </p:cTn>
                              </p:par>
                            </p:childTnLst>
                          </p:cTn>
                        </p:par>
                        <p:par>
                          <p:cTn id="68" fill="hold">
                            <p:stCondLst>
                              <p:cond delay="2560"/>
                            </p:stCondLst>
                            <p:childTnLst>
                              <p:par>
                                <p:cTn id="69" presetID="10" presetClass="entr" presetSubtype="0" fill="hold" grpId="0" nodeType="after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160"/>
                                        <p:tgtEl>
                                          <p:spTgt spid="29"/>
                                        </p:tgtEl>
                                      </p:cBhvr>
                                    </p:animEffect>
                                  </p:childTnLst>
                                </p:cTn>
                              </p:par>
                            </p:childTnLst>
                          </p:cTn>
                        </p:par>
                        <p:par>
                          <p:cTn id="72" fill="hold">
                            <p:stCondLst>
                              <p:cond delay="2720"/>
                            </p:stCondLst>
                            <p:childTnLst>
                              <p:par>
                                <p:cTn id="73" presetID="10" presetClass="entr" presetSubtype="0" fill="hold" grpId="0" nodeType="after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160"/>
                                        <p:tgtEl>
                                          <p:spTgt spid="30"/>
                                        </p:tgtEl>
                                      </p:cBhvr>
                                    </p:animEffect>
                                  </p:childTnLst>
                                </p:cTn>
                              </p:par>
                            </p:childTnLst>
                          </p:cTn>
                        </p:par>
                        <p:par>
                          <p:cTn id="76" fill="hold">
                            <p:stCondLst>
                              <p:cond delay="2880"/>
                            </p:stCondLst>
                            <p:childTnLst>
                              <p:par>
                                <p:cTn id="77" presetID="10" presetClass="entr" presetSubtype="0" fill="hold" grpId="0" nodeType="after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160"/>
                                        <p:tgtEl>
                                          <p:spTgt spid="31"/>
                                        </p:tgtEl>
                                      </p:cBhvr>
                                    </p:animEffect>
                                  </p:childTnLst>
                                </p:cTn>
                              </p:par>
                            </p:childTnLst>
                          </p:cTn>
                        </p:par>
                        <p:par>
                          <p:cTn id="80" fill="hold">
                            <p:stCondLst>
                              <p:cond delay="3040"/>
                            </p:stCondLst>
                            <p:childTnLst>
                              <p:par>
                                <p:cTn id="81" presetID="10" presetClass="entr" presetSubtype="0" fill="hold" grpId="0" nodeType="after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160"/>
                                        <p:tgtEl>
                                          <p:spTgt spid="32"/>
                                        </p:tgtEl>
                                      </p:cBhvr>
                                    </p:animEffect>
                                  </p:childTnLst>
                                </p:cTn>
                              </p:par>
                            </p:childTnLst>
                          </p:cTn>
                        </p:par>
                        <p:par>
                          <p:cTn id="84" fill="hold">
                            <p:stCondLst>
                              <p:cond delay="3200"/>
                            </p:stCondLst>
                            <p:childTnLst>
                              <p:par>
                                <p:cTn id="85" presetID="10" presetClass="entr" presetSubtype="0" fill="hold" grpId="0" nodeType="afterEffect">
                                  <p:stCondLst>
                                    <p:cond delay="0"/>
                                  </p:stCondLst>
                                  <p:childTnLst>
                                    <p:set>
                                      <p:cBhvr>
                                        <p:cTn id="86" dur="1" fill="hold">
                                          <p:stCondLst>
                                            <p:cond delay="0"/>
                                          </p:stCondLst>
                                        </p:cTn>
                                        <p:tgtEl>
                                          <p:spTgt spid="33"/>
                                        </p:tgtEl>
                                        <p:attrNameLst>
                                          <p:attrName>style.visibility</p:attrName>
                                        </p:attrNameLst>
                                      </p:cBhvr>
                                      <p:to>
                                        <p:strVal val="visible"/>
                                      </p:to>
                                    </p:set>
                                    <p:animEffect transition="in" filter="fade">
                                      <p:cBhvr>
                                        <p:cTn id="87" dur="160"/>
                                        <p:tgtEl>
                                          <p:spTgt spid="33"/>
                                        </p:tgtEl>
                                      </p:cBhvr>
                                    </p:animEffect>
                                  </p:childTnLst>
                                </p:cTn>
                              </p:par>
                            </p:childTnLst>
                          </p:cTn>
                        </p:par>
                        <p:par>
                          <p:cTn id="88" fill="hold">
                            <p:stCondLst>
                              <p:cond delay="3360"/>
                            </p:stCondLst>
                            <p:childTnLst>
                              <p:par>
                                <p:cTn id="89" presetID="10" presetClass="entr" presetSubtype="0" fill="hold" grpId="0" nodeType="after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160"/>
                                        <p:tgtEl>
                                          <p:spTgt spid="34"/>
                                        </p:tgtEl>
                                      </p:cBhvr>
                                    </p:animEffect>
                                  </p:childTnLst>
                                </p:cTn>
                              </p:par>
                            </p:childTnLst>
                          </p:cTn>
                        </p:par>
                        <p:par>
                          <p:cTn id="92" fill="hold">
                            <p:stCondLst>
                              <p:cond delay="3520"/>
                            </p:stCondLst>
                            <p:childTnLst>
                              <p:par>
                                <p:cTn id="93" presetID="10" presetClass="entr" presetSubtype="0" fill="hold" grpId="0" nodeType="after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160"/>
                                        <p:tgtEl>
                                          <p:spTgt spid="35"/>
                                        </p:tgtEl>
                                      </p:cBhvr>
                                    </p:animEffect>
                                  </p:childTnLst>
                                </p:cTn>
                              </p:par>
                            </p:childTnLst>
                          </p:cTn>
                        </p:par>
                        <p:par>
                          <p:cTn id="96" fill="hold">
                            <p:stCondLst>
                              <p:cond delay="3680"/>
                            </p:stCondLst>
                            <p:childTnLst>
                              <p:par>
                                <p:cTn id="97" presetID="10" presetClass="entr" presetSubtype="0"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160"/>
                                        <p:tgtEl>
                                          <p:spTgt spid="36"/>
                                        </p:tgtEl>
                                      </p:cBhvr>
                                    </p:animEffect>
                                  </p:childTnLst>
                                </p:cTn>
                              </p:par>
                            </p:childTnLst>
                          </p:cTn>
                        </p:par>
                        <p:par>
                          <p:cTn id="100" fill="hold">
                            <p:stCondLst>
                              <p:cond delay="3840"/>
                            </p:stCondLst>
                            <p:childTnLst>
                              <p:par>
                                <p:cTn id="101" presetID="10" presetClass="entr" presetSubtype="0" fill="hold" grpId="0" nodeType="afterEffect">
                                  <p:stCondLst>
                                    <p:cond delay="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160"/>
                                        <p:tgtEl>
                                          <p:spTgt spid="37"/>
                                        </p:tgtEl>
                                      </p:cBhvr>
                                    </p:animEffect>
                                  </p:childTnLst>
                                </p:cTn>
                              </p:par>
                            </p:childTnLst>
                          </p:cTn>
                        </p:par>
                        <p:par>
                          <p:cTn id="104" fill="hold">
                            <p:stCondLst>
                              <p:cond delay="4000"/>
                            </p:stCondLst>
                            <p:childTnLst>
                              <p:par>
                                <p:cTn id="105" presetID="10" presetClass="entr" presetSubtype="0" fill="hold" grpId="0" nodeType="afterEffect">
                                  <p:stCondLst>
                                    <p:cond delay="0"/>
                                  </p:stCondLst>
                                  <p:childTnLst>
                                    <p:set>
                                      <p:cBhvr>
                                        <p:cTn id="106" dur="1" fill="hold">
                                          <p:stCondLst>
                                            <p:cond delay="0"/>
                                          </p:stCondLst>
                                        </p:cTn>
                                        <p:tgtEl>
                                          <p:spTgt spid="38"/>
                                        </p:tgtEl>
                                        <p:attrNameLst>
                                          <p:attrName>style.visibility</p:attrName>
                                        </p:attrNameLst>
                                      </p:cBhvr>
                                      <p:to>
                                        <p:strVal val="visible"/>
                                      </p:to>
                                    </p:set>
                                    <p:animEffect transition="in" filter="fade">
                                      <p:cBhvr>
                                        <p:cTn id="107" dur="160"/>
                                        <p:tgtEl>
                                          <p:spTgt spid="38"/>
                                        </p:tgtEl>
                                      </p:cBhvr>
                                    </p:animEffect>
                                  </p:childTnLst>
                                </p:cTn>
                              </p:par>
                            </p:childTnLst>
                          </p:cTn>
                        </p:par>
                        <p:par>
                          <p:cTn id="108" fill="hold">
                            <p:stCondLst>
                              <p:cond delay="4160"/>
                            </p:stCondLst>
                            <p:childTnLst>
                              <p:par>
                                <p:cTn id="109" presetID="10"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16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p:bldP spid="16" grpId="0"/>
      <p:bldP spid="17" grpId="0"/>
      <p:bldP spid="18" grpId="0" animBg="1"/>
      <p:bldP spid="19" grpId="0" animBg="1"/>
      <p:bldP spid="20" grpId="0"/>
      <p:bldP spid="21" grpId="0"/>
      <p:bldP spid="22" grpId="0"/>
      <p:bldP spid="23" grpId="0" animBg="1"/>
      <p:bldP spid="24" grpId="0" animBg="1"/>
      <p:bldP spid="25" grpId="0"/>
      <p:bldP spid="26" grpId="0"/>
      <p:bldP spid="27" grpId="0"/>
      <p:bldP spid="28" grpId="0" animBg="1"/>
      <p:bldP spid="29" grpId="0" animBg="1"/>
      <p:bldP spid="30" grpId="0"/>
      <p:bldP spid="31" grpId="0"/>
      <p:bldP spid="32" grpId="0"/>
      <p:bldP spid="33" grpId="0" animBg="1"/>
      <p:bldP spid="34" grpId="0" animBg="1"/>
      <p:bldP spid="35" grpId="0"/>
      <p:bldP spid="36" grpId="0"/>
      <p:bldP spid="37" grpId="0"/>
      <p:bldP spid="38" grpId="0" animBg="1"/>
      <p:bldP spid="39"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
            <a:extLst>
              <a:ext uri="{FF2B5EF4-FFF2-40B4-BE49-F238E27FC236}">
                <a16:creationId xmlns:a16="http://schemas.microsoft.com/office/drawing/2014/main" id="{1E2A1D4A-DBFE-057F-AEC4-E99163C6BD02}"/>
              </a:ext>
            </a:extLst>
          </p:cNvPr>
          <p:cNvSpPr/>
          <p:nvPr/>
        </p:nvSpPr>
        <p:spPr>
          <a:xfrm>
            <a:off x="0" y="0"/>
            <a:ext cx="12192000" cy="6858000"/>
          </a:xfrm>
          <a:prstGeom prst="rect">
            <a:avLst/>
          </a:prstGeom>
          <a:solidFill>
            <a:srgbClr val="003B7A"/>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panel">
            <a:extLst>
              <a:ext uri="{FF2B5EF4-FFF2-40B4-BE49-F238E27FC236}">
                <a16:creationId xmlns:a16="http://schemas.microsoft.com/office/drawing/2014/main" id="{10822574-7217-FFA3-646E-2BC792635E8F}"/>
              </a:ext>
            </a:extLst>
          </p:cNvPr>
          <p:cNvSpPr/>
          <p:nvPr/>
        </p:nvSpPr>
        <p:spPr>
          <a:xfrm>
            <a:off x="939800" y="1041400"/>
            <a:ext cx="3505200" cy="4445000"/>
          </a:xfrm>
          <a:prstGeom prst="roundRect">
            <a:avLst>
              <a:gd name="adj" fmla="val 14000"/>
            </a:avLst>
          </a:prstGeom>
          <a:solidFill>
            <a:srgbClr val="002D60"/>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 name="divider">
            <a:extLst>
              <a:ext uri="{FF2B5EF4-FFF2-40B4-BE49-F238E27FC236}">
                <a16:creationId xmlns:a16="http://schemas.microsoft.com/office/drawing/2014/main" id="{BBB4FD28-CB0B-B18D-3397-ED0D1C074BB2}"/>
              </a:ext>
            </a:extLst>
          </p:cNvPr>
          <p:cNvCxnSpPr/>
          <p:nvPr/>
        </p:nvCxnSpPr>
        <p:spPr>
          <a:xfrm>
            <a:off x="5054600" y="1168400"/>
            <a:ext cx="0" cy="4394200"/>
          </a:xfrm>
          <a:prstGeom prst="line">
            <a:avLst/>
          </a:prstGeom>
          <a:ln w="17780">
            <a:solidFill>
              <a:srgbClr val="447BBA"/>
            </a:solidFill>
          </a:ln>
        </p:spPr>
        <p:style>
          <a:lnRef idx="1">
            <a:schemeClr val="accent1"/>
          </a:lnRef>
          <a:fillRef idx="0">
            <a:schemeClr val="accent1"/>
          </a:fillRef>
          <a:effectRef idx="0">
            <a:schemeClr val="accent1"/>
          </a:effectRef>
          <a:fontRef idx="minor">
            <a:schemeClr val="tx1"/>
          </a:fontRef>
        </p:style>
      </p:cxnSp>
      <p:sp>
        <p:nvSpPr>
          <p:cNvPr id="5" name="thanks">
            <a:extLst>
              <a:ext uri="{FF2B5EF4-FFF2-40B4-BE49-F238E27FC236}">
                <a16:creationId xmlns:a16="http://schemas.microsoft.com/office/drawing/2014/main" id="{BC1ADE42-2968-E872-9D01-FE6E910F3480}"/>
              </a:ext>
            </a:extLst>
          </p:cNvPr>
          <p:cNvSpPr txBox="1"/>
          <p:nvPr/>
        </p:nvSpPr>
        <p:spPr>
          <a:xfrm>
            <a:off x="5715000" y="1219200"/>
            <a:ext cx="5334000" cy="276999"/>
          </a:xfrm>
          <a:prstGeom prst="rect">
            <a:avLst/>
          </a:prstGeom>
          <a:noFill/>
        </p:spPr>
        <p:txBody>
          <a:bodyPr vert="horz" wrap="square" lIns="0" tIns="0" rIns="0" bIns="0" rtlCol="0">
            <a:noAutofit/>
          </a:bodyPr>
          <a:lstStyle/>
          <a:p>
            <a:r>
              <a:rPr lang="en-US" altLang="zh-CN" sz="6800" b="1">
                <a:solidFill>
                  <a:srgbClr val="FFFFFF"/>
                </a:solidFill>
                <a:latin typeface="Aptos" panose="020B0004020202020204" pitchFamily="34" charset="0"/>
              </a:rPr>
              <a:t>Thank you</a:t>
            </a:r>
            <a:endParaRPr lang="zh-CN" altLang="en-US" sz="6800" b="1">
              <a:solidFill>
                <a:srgbClr val="FFFFFF"/>
              </a:solidFill>
              <a:latin typeface="Aptos" panose="020B0004020202020204" pitchFamily="34" charset="0"/>
            </a:endParaRPr>
          </a:p>
        </p:txBody>
      </p:sp>
      <p:sp>
        <p:nvSpPr>
          <p:cNvPr id="6" name="q">
            <a:extLst>
              <a:ext uri="{FF2B5EF4-FFF2-40B4-BE49-F238E27FC236}">
                <a16:creationId xmlns:a16="http://schemas.microsoft.com/office/drawing/2014/main" id="{D51C63BD-C783-DCDC-916E-FA76FA6559C5}"/>
              </a:ext>
            </a:extLst>
          </p:cNvPr>
          <p:cNvSpPr txBox="1"/>
          <p:nvPr/>
        </p:nvSpPr>
        <p:spPr>
          <a:xfrm>
            <a:off x="5765800" y="2565400"/>
            <a:ext cx="4064000" cy="276999"/>
          </a:xfrm>
          <a:prstGeom prst="rect">
            <a:avLst/>
          </a:prstGeom>
          <a:noFill/>
        </p:spPr>
        <p:txBody>
          <a:bodyPr vert="horz" wrap="square" lIns="0" tIns="0" rIns="0" bIns="0" rtlCol="0">
            <a:noAutofit/>
          </a:bodyPr>
          <a:lstStyle/>
          <a:p>
            <a:r>
              <a:rPr lang="en-US" altLang="zh-CN" sz="3800" b="1">
                <a:solidFill>
                  <a:srgbClr val="DCEBFC"/>
                </a:solidFill>
                <a:latin typeface="Aptos" panose="020B0004020202020204" pitchFamily="34" charset="0"/>
              </a:rPr>
              <a:t>Questions?</a:t>
            </a:r>
            <a:endParaRPr lang="zh-CN" altLang="en-US" sz="3800" b="1">
              <a:solidFill>
                <a:srgbClr val="DCEBFC"/>
              </a:solidFill>
              <a:latin typeface="Aptos" panose="020B0004020202020204" pitchFamily="34" charset="0"/>
            </a:endParaRPr>
          </a:p>
        </p:txBody>
      </p:sp>
      <p:cxnSp>
        <p:nvCxnSpPr>
          <p:cNvPr id="7" name="qrule">
            <a:extLst>
              <a:ext uri="{FF2B5EF4-FFF2-40B4-BE49-F238E27FC236}">
                <a16:creationId xmlns:a16="http://schemas.microsoft.com/office/drawing/2014/main" id="{0823A4F8-E5F8-3A90-157B-2DEE4F5B14C5}"/>
              </a:ext>
            </a:extLst>
          </p:cNvPr>
          <p:cNvCxnSpPr/>
          <p:nvPr/>
        </p:nvCxnSpPr>
        <p:spPr>
          <a:xfrm>
            <a:off x="5765800" y="3429000"/>
            <a:ext cx="4749800" cy="0"/>
          </a:xfrm>
          <a:prstGeom prst="line">
            <a:avLst/>
          </a:prstGeom>
          <a:ln w="19050">
            <a:solidFill>
              <a:srgbClr val="B5D3F5"/>
            </a:solidFill>
          </a:ln>
        </p:spPr>
        <p:style>
          <a:lnRef idx="1">
            <a:schemeClr val="accent1"/>
          </a:lnRef>
          <a:fillRef idx="0">
            <a:schemeClr val="accent1"/>
          </a:fillRef>
          <a:effectRef idx="0">
            <a:schemeClr val="accent1"/>
          </a:effectRef>
          <a:fontRef idx="minor">
            <a:schemeClr val="tx1"/>
          </a:fontRef>
        </p:style>
      </p:cxnSp>
      <p:sp>
        <p:nvSpPr>
          <p:cNvPr id="8" name="a1">
            <a:extLst>
              <a:ext uri="{FF2B5EF4-FFF2-40B4-BE49-F238E27FC236}">
                <a16:creationId xmlns:a16="http://schemas.microsoft.com/office/drawing/2014/main" id="{108A1468-44B0-6709-32AC-DA5103AA1D50}"/>
              </a:ext>
            </a:extLst>
          </p:cNvPr>
          <p:cNvSpPr txBox="1"/>
          <p:nvPr/>
        </p:nvSpPr>
        <p:spPr>
          <a:xfrm>
            <a:off x="5765800" y="3937000"/>
            <a:ext cx="5715000" cy="276999"/>
          </a:xfrm>
          <a:prstGeom prst="rect">
            <a:avLst/>
          </a:prstGeom>
          <a:noFill/>
        </p:spPr>
        <p:txBody>
          <a:bodyPr vert="horz" wrap="square" lIns="0" tIns="0" rIns="0" bIns="0" rtlCol="0">
            <a:noAutofit/>
          </a:bodyPr>
          <a:lstStyle/>
          <a:p>
            <a:r>
              <a:rPr lang="en-US" altLang="zh-CN" sz="1620" b="1">
                <a:solidFill>
                  <a:srgbClr val="FFFFFF"/>
                </a:solidFill>
                <a:latin typeface="Aptos" panose="020B0004020202020204" pitchFamily="34" charset="0"/>
              </a:rPr>
              <a:t>Evidence contract: denominator + controls + boundary</a:t>
            </a:r>
            <a:endParaRPr lang="zh-CN" altLang="en-US" sz="1620" b="1">
              <a:solidFill>
                <a:srgbClr val="FFFFFF"/>
              </a:solidFill>
              <a:latin typeface="Aptos" panose="020B0004020202020204" pitchFamily="34" charset="0"/>
            </a:endParaRPr>
          </a:p>
        </p:txBody>
      </p:sp>
      <p:sp>
        <p:nvSpPr>
          <p:cNvPr id="9" name="a2">
            <a:extLst>
              <a:ext uri="{FF2B5EF4-FFF2-40B4-BE49-F238E27FC236}">
                <a16:creationId xmlns:a16="http://schemas.microsoft.com/office/drawing/2014/main" id="{44AD3D54-124C-997E-B0BD-FC1889F1B986}"/>
              </a:ext>
            </a:extLst>
          </p:cNvPr>
          <p:cNvSpPr txBox="1"/>
          <p:nvPr/>
        </p:nvSpPr>
        <p:spPr>
          <a:xfrm>
            <a:off x="5765800" y="4546600"/>
            <a:ext cx="5715000" cy="276999"/>
          </a:xfrm>
          <a:prstGeom prst="rect">
            <a:avLst/>
          </a:prstGeom>
          <a:noFill/>
        </p:spPr>
        <p:txBody>
          <a:bodyPr vert="horz" wrap="square" lIns="0" tIns="0" rIns="0" bIns="0" rtlCol="0">
            <a:noAutofit/>
          </a:bodyPr>
          <a:lstStyle/>
          <a:p>
            <a:r>
              <a:rPr lang="en-US" altLang="zh-CN" sz="1620" b="1">
                <a:solidFill>
                  <a:srgbClr val="FFFFFF"/>
                </a:solidFill>
                <a:latin typeface="Aptos" panose="020B0004020202020204" pitchFamily="34" charset="0"/>
              </a:rPr>
              <a:t>Submitted FYP snapshot is separate from continuation progress</a:t>
            </a:r>
            <a:endParaRPr lang="zh-CN" altLang="en-US" sz="1620" b="1">
              <a:solidFill>
                <a:srgbClr val="FFFFFF"/>
              </a:solidFill>
              <a:latin typeface="Aptos" panose="020B0004020202020204" pitchFamily="34" charset="0"/>
            </a:endParaRPr>
          </a:p>
        </p:txBody>
      </p:sp>
      <p:sp>
        <p:nvSpPr>
          <p:cNvPr id="10" name="a3">
            <a:extLst>
              <a:ext uri="{FF2B5EF4-FFF2-40B4-BE49-F238E27FC236}">
                <a16:creationId xmlns:a16="http://schemas.microsoft.com/office/drawing/2014/main" id="{49F3553E-10CE-2CE8-ADCD-9FFF84870D9A}"/>
              </a:ext>
            </a:extLst>
          </p:cNvPr>
          <p:cNvSpPr txBox="1"/>
          <p:nvPr/>
        </p:nvSpPr>
        <p:spPr>
          <a:xfrm>
            <a:off x="5765800" y="5156200"/>
            <a:ext cx="5715000" cy="276999"/>
          </a:xfrm>
          <a:prstGeom prst="rect">
            <a:avLst/>
          </a:prstGeom>
          <a:noFill/>
        </p:spPr>
        <p:txBody>
          <a:bodyPr vert="horz" wrap="square" lIns="0" tIns="0" rIns="0" bIns="0" rtlCol="0">
            <a:noAutofit/>
          </a:bodyPr>
          <a:lstStyle/>
          <a:p>
            <a:r>
              <a:rPr lang="en-US" altLang="zh-CN" sz="1620" b="1">
                <a:solidFill>
                  <a:srgbClr val="FFFFFF"/>
                </a:solidFill>
                <a:latin typeface="Aptos" panose="020B0004020202020204" pitchFamily="34" charset="0"/>
              </a:rPr>
              <a:t>Demo route: page, repository, claim boundary, manifest</a:t>
            </a:r>
            <a:endParaRPr lang="zh-CN" altLang="en-US" sz="1620" b="1">
              <a:solidFill>
                <a:srgbClr val="FFFFFF"/>
              </a:solidFill>
              <a:latin typeface="Aptos" panose="020B0004020202020204" pitchFamily="34" charset="0"/>
            </a:endParaRPr>
          </a:p>
        </p:txBody>
      </p:sp>
      <p:pic>
        <p:nvPicPr>
          <p:cNvPr id="12" name="图片 11">
            <a:hlinkClick r:id="rId3"/>
            <a:extLst>
              <a:ext uri="{FF2B5EF4-FFF2-40B4-BE49-F238E27FC236}">
                <a16:creationId xmlns:a16="http://schemas.microsoft.com/office/drawing/2014/main" id="{84055B95-6409-27E9-719C-B3464709AF9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1524000" y="1549400"/>
            <a:ext cx="1574800" cy="1574800"/>
          </a:xfrm>
          <a:prstGeom prst="rect">
            <a:avLst/>
          </a:prstGeom>
        </p:spPr>
      </p:pic>
      <p:sp>
        <p:nvSpPr>
          <p:cNvPr id="13" name="qrlab">
            <a:extLst>
              <a:ext uri="{FF2B5EF4-FFF2-40B4-BE49-F238E27FC236}">
                <a16:creationId xmlns:a16="http://schemas.microsoft.com/office/drawing/2014/main" id="{880332A0-0A1A-C331-5B83-490553F40E11}"/>
              </a:ext>
            </a:extLst>
          </p:cNvPr>
          <p:cNvSpPr txBox="1"/>
          <p:nvPr/>
        </p:nvSpPr>
        <p:spPr>
          <a:xfrm>
            <a:off x="1498600" y="3302000"/>
            <a:ext cx="2159000" cy="276999"/>
          </a:xfrm>
          <a:prstGeom prst="rect">
            <a:avLst/>
          </a:prstGeom>
          <a:noFill/>
        </p:spPr>
        <p:txBody>
          <a:bodyPr vert="horz" wrap="square" lIns="0" tIns="0" rIns="0" bIns="0" rtlCol="0">
            <a:noAutofit/>
          </a:bodyPr>
          <a:lstStyle/>
          <a:p>
            <a:r>
              <a:rPr lang="en-US" altLang="zh-CN" sz="1250" b="1">
                <a:solidFill>
                  <a:srgbClr val="FFFFFF"/>
                </a:solidFill>
                <a:latin typeface="Aptos" panose="020B0004020202020204" pitchFamily="34" charset="0"/>
              </a:rPr>
              <a:t>Project page</a:t>
            </a:r>
            <a:endParaRPr lang="zh-CN" altLang="en-US" sz="1250" b="1">
              <a:solidFill>
                <a:srgbClr val="FFFFFF"/>
              </a:solidFill>
              <a:latin typeface="Aptos" panose="020B0004020202020204" pitchFamily="34" charset="0"/>
            </a:endParaRPr>
          </a:p>
        </p:txBody>
      </p:sp>
      <p:sp>
        <p:nvSpPr>
          <p:cNvPr id="14" name="close-page">
            <a:hlinkClick r:id="rId3"/>
            <a:extLst>
              <a:ext uri="{FF2B5EF4-FFF2-40B4-BE49-F238E27FC236}">
                <a16:creationId xmlns:a16="http://schemas.microsoft.com/office/drawing/2014/main" id="{6FABB239-43C1-9E33-68FC-7686417B5FB7}"/>
              </a:ext>
            </a:extLst>
          </p:cNvPr>
          <p:cNvSpPr/>
          <p:nvPr/>
        </p:nvSpPr>
        <p:spPr>
          <a:xfrm>
            <a:off x="1422400" y="3860800"/>
            <a:ext cx="1092200" cy="38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Page</a:t>
            </a:r>
            <a:endParaRPr lang="zh-CN" altLang="en-US" sz="1050" b="1">
              <a:solidFill>
                <a:srgbClr val="003B7A"/>
              </a:solidFill>
              <a:latin typeface="Aptos" panose="020B0004020202020204" pitchFamily="34" charset="0"/>
            </a:endParaRPr>
          </a:p>
        </p:txBody>
      </p:sp>
      <p:sp>
        <p:nvSpPr>
          <p:cNvPr id="15" name="close-repo">
            <a:hlinkClick r:id="rId5"/>
            <a:extLst>
              <a:ext uri="{FF2B5EF4-FFF2-40B4-BE49-F238E27FC236}">
                <a16:creationId xmlns:a16="http://schemas.microsoft.com/office/drawing/2014/main" id="{0F647ED7-540E-23A9-E01A-4AB54AAD04C9}"/>
              </a:ext>
            </a:extLst>
          </p:cNvPr>
          <p:cNvSpPr/>
          <p:nvPr/>
        </p:nvSpPr>
        <p:spPr>
          <a:xfrm>
            <a:off x="2667000" y="3860800"/>
            <a:ext cx="990600" cy="381000"/>
          </a:xfrm>
          <a:prstGeom prst="roundRect">
            <a:avLst>
              <a:gd name="adj" fmla="val 14000"/>
            </a:avLst>
          </a:prstGeom>
          <a:solidFill>
            <a:srgbClr val="FFFFFF"/>
          </a:solidFill>
          <a:ln w="10160" cap="flat" cmpd="sng" algn="ctr">
            <a:solidFill>
              <a:srgbClr val="D7E2F0">
                <a:alpha val="88000"/>
              </a:srgb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wrap="square" lIns="152400" tIns="101600" rIns="152400" bIns="101600" rtlCol="0" anchor="ctr" anchorCtr="1">
            <a:noAutofit/>
          </a:bodyPr>
          <a:lstStyle/>
          <a:p>
            <a:pPr algn="ctr"/>
            <a:r>
              <a:rPr lang="en-US" altLang="zh-CN" sz="1050" b="1">
                <a:solidFill>
                  <a:srgbClr val="003B7A"/>
                </a:solidFill>
                <a:latin typeface="Aptos" panose="020B0004020202020204" pitchFamily="34" charset="0"/>
              </a:rPr>
              <a:t>Repo</a:t>
            </a:r>
            <a:endParaRPr lang="zh-CN" altLang="en-US" sz="1050" b="1">
              <a:solidFill>
                <a:srgbClr val="003B7A"/>
              </a:solidFill>
              <a:latin typeface="Aptos" panose="020B0004020202020204" pitchFamily="34" charset="0"/>
            </a:endParaRPr>
          </a:p>
        </p:txBody>
      </p:sp>
      <p:pic>
        <p:nvPicPr>
          <p:cNvPr id="17" name="图片 16">
            <a:extLst>
              <a:ext uri="{FF2B5EF4-FFF2-40B4-BE49-F238E27FC236}">
                <a16:creationId xmlns:a16="http://schemas.microsoft.com/office/drawing/2014/main" id="{CC724493-0540-86DD-9A4A-EBB021F484E2}"/>
              </a:ext>
            </a:extLst>
          </p:cNvPr>
          <p:cNvPicPr>
            <a:picLocks/>
          </p:cNvPicPr>
          <p:nvPr/>
        </p:nvPicPr>
        <p:blipFill>
          <a:blip r:embed="rId6">
            <a:extLst>
              <a:ext uri="{28A0092B-C50C-407E-A947-70E740481C1C}">
                <a14:useLocalDpi xmlns:a14="http://schemas.microsoft.com/office/drawing/2010/main" val="0"/>
              </a:ext>
            </a:extLst>
          </a:blip>
          <a:stretch>
            <a:fillRect/>
          </a:stretch>
        </p:blipFill>
        <p:spPr>
          <a:xfrm>
            <a:off x="9220200" y="5918200"/>
            <a:ext cx="2082800" cy="571500"/>
          </a:xfrm>
          <a:prstGeom prst="rect">
            <a:avLst/>
          </a:prstGeom>
        </p:spPr>
      </p:pic>
      <p:sp>
        <p:nvSpPr>
          <p:cNvPr id="18" name="footer-hit-16">
            <a:hlinkClick r:id="rId3"/>
            <a:extLst>
              <a:ext uri="{FF2B5EF4-FFF2-40B4-BE49-F238E27FC236}">
                <a16:creationId xmlns:a16="http://schemas.microsoft.com/office/drawing/2014/main" id="{C452E98D-F6D1-27B2-F4E5-8F81B4EA42DD}"/>
              </a:ext>
            </a:extLst>
          </p:cNvPr>
          <p:cNvSpPr/>
          <p:nvPr/>
        </p:nvSpPr>
        <p:spPr>
          <a:xfrm>
            <a:off x="685800" y="6502400"/>
            <a:ext cx="3175000" cy="228600"/>
          </a:xfrm>
          <a:prstGeom prst="rect">
            <a:avLst/>
          </a:prstGeom>
          <a:solidFill>
            <a:srgbClr val="FFFFFF">
              <a:alpha val="0"/>
            </a:srgb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256379867"/>
      </p:ext>
    </p:extLst>
  </p:cSld>
  <p:clrMapOvr>
    <a:masterClrMapping/>
  </p:clrMapOvr>
  <mc:AlternateContent xmlns:mc="http://schemas.openxmlformats.org/markup-compatibility/2006">
    <mc:Choice xmlns:p14="http://schemas.microsoft.com/office/powerpoint/2010/main" Requires="p14">
      <p:transition p14:dur="180">
        <p:fade thruBlk="1"/>
      </p:transition>
    </mc:Choice>
    <mc:Fallback>
      <p:transition>
        <p:fade thruBlk="1"/>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2089</Words>
  <Application>Microsoft Office PowerPoint</Application>
  <PresentationFormat>自定义</PresentationFormat>
  <Paragraphs>305</Paragraphs>
  <Slides>16</Slides>
  <Notes>16</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16</vt:i4>
      </vt:variant>
    </vt:vector>
  </HeadingPairs>
  <TitlesOfParts>
    <vt:vector size="22" baseType="lpstr">
      <vt:lpstr>等线</vt:lpstr>
      <vt:lpstr>等线 Light</vt:lpstr>
      <vt:lpstr>Aptos</vt:lpstr>
      <vt:lpstr>Arial</vt:lpstr>
      <vt:lpstr>Consolas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周率 圆</dc:creator>
  <cp:lastModifiedBy>周率 圆</cp:lastModifiedBy>
  <cp:revision>1</cp:revision>
  <dcterms:created xsi:type="dcterms:W3CDTF">2026-05-15T01:11:24Z</dcterms:created>
  <dcterms:modified xsi:type="dcterms:W3CDTF">2026-05-15T01:11:24Z</dcterms:modified>
</cp:coreProperties>
</file>