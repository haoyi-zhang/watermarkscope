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461"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5A03C3-31C5-4360-AE37-38C9F394CADA}" type="datetimeFigureOut">
              <a:rPr lang="zh-CN" altLang="en-US" smtClean="0"/>
              <a:t>2026/5/15</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C0D1325-43DF-407E-BD7B-79DA3298A8CD}" type="slidenum">
              <a:rPr lang="zh-CN" altLang="en-US" smtClean="0"/>
              <a:t>‹#›</a:t>
            </a:fld>
            <a:endParaRPr lang="zh-CN" altLang="en-US"/>
          </a:p>
        </p:txBody>
      </p:sp>
    </p:spTree>
    <p:extLst>
      <p:ext uri="{BB962C8B-B14F-4D97-AF65-F5344CB8AC3E}">
        <p14:creationId xmlns:p14="http://schemas.microsoft.com/office/powerpoint/2010/main" val="25207719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Good afternoon. I am Haoyi Zhang. My project is WatermarkScope. My central message is simple: watermark evidence needs a claim boundary before it can support a claim.</a:t>
            </a:r>
            <a:endParaRPr lang="zh-CN" altLang="en-US"/>
          </a:p>
        </p:txBody>
      </p:sp>
      <p:sp>
        <p:nvSpPr>
          <p:cNvPr id="4" name="灯片编号占位符 3"/>
          <p:cNvSpPr>
            <a:spLocks noGrp="1"/>
          </p:cNvSpPr>
          <p:nvPr>
            <p:ph type="sldNum" sz="quarter" idx="5"/>
          </p:nvPr>
        </p:nvSpPr>
        <p:spPr/>
        <p:txBody>
          <a:bodyPr/>
          <a:lstStyle/>
          <a:p>
            <a:fld id="{EC0D1325-43DF-407E-BD7B-79DA3298A8CD}" type="slidenum">
              <a:rPr lang="zh-CN" altLang="en-US" smtClean="0"/>
              <a:t>1</a:t>
            </a:fld>
            <a:endParaRPr lang="zh-CN" altLang="en-US"/>
          </a:p>
        </p:txBody>
      </p:sp>
    </p:spTree>
    <p:extLst>
      <p:ext uri="{BB962C8B-B14F-4D97-AF65-F5344CB8AC3E}">
        <p14:creationId xmlns:p14="http://schemas.microsoft.com/office/powerpoint/2010/main" val="35882019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practical problem is that generated code does not stay in a clean generation session. It moves into new files and larger repositories. So the question is not just whether a detector fires. The question is what evidence survives, and what claim that evidence can support.</a:t>
            </a:r>
            <a:endParaRPr lang="zh-CN" altLang="en-US"/>
          </a:p>
        </p:txBody>
      </p:sp>
      <p:sp>
        <p:nvSpPr>
          <p:cNvPr id="4" name="灯片编号占位符 3"/>
          <p:cNvSpPr>
            <a:spLocks noGrp="1"/>
          </p:cNvSpPr>
          <p:nvPr>
            <p:ph type="sldNum" sz="quarter" idx="5"/>
          </p:nvPr>
        </p:nvSpPr>
        <p:spPr/>
        <p:txBody>
          <a:bodyPr/>
          <a:lstStyle/>
          <a:p>
            <a:fld id="{EC0D1325-43DF-407E-BD7B-79DA3298A8CD}" type="slidenum">
              <a:rPr lang="zh-CN" altLang="en-US" smtClean="0"/>
              <a:t>2</a:t>
            </a:fld>
            <a:endParaRPr lang="zh-CN" altLang="en-US"/>
          </a:p>
        </p:txBody>
      </p:sp>
    </p:spTree>
    <p:extLst>
      <p:ext uri="{BB962C8B-B14F-4D97-AF65-F5344CB8AC3E}">
        <p14:creationId xmlns:p14="http://schemas.microsoft.com/office/powerpoint/2010/main" val="9469600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gap I focused on. A score can be useful, but it does not tell us what is being claimed. I treat a claim as a function of admitted evidence, controls, the access model, and a boundary.</a:t>
            </a:r>
            <a:endParaRPr lang="zh-CN" altLang="en-US"/>
          </a:p>
        </p:txBody>
      </p:sp>
      <p:sp>
        <p:nvSpPr>
          <p:cNvPr id="4" name="灯片编号占位符 3"/>
          <p:cNvSpPr>
            <a:spLocks noGrp="1"/>
          </p:cNvSpPr>
          <p:nvPr>
            <p:ph type="sldNum" sz="quarter" idx="5"/>
          </p:nvPr>
        </p:nvSpPr>
        <p:spPr/>
        <p:txBody>
          <a:bodyPr/>
          <a:lstStyle/>
          <a:p>
            <a:fld id="{EC0D1325-43DF-407E-BD7B-79DA3298A8CD}" type="slidenum">
              <a:rPr lang="zh-CN" altLang="en-US" smtClean="0"/>
              <a:t>3</a:t>
            </a:fld>
            <a:endParaRPr lang="zh-CN" altLang="en-US"/>
          </a:p>
        </p:txBody>
      </p:sp>
    </p:spTree>
    <p:extLst>
      <p:ext uri="{BB962C8B-B14F-4D97-AF65-F5344CB8AC3E}">
        <p14:creationId xmlns:p14="http://schemas.microsoft.com/office/powerpoint/2010/main" val="23966042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benchmark layer is not just a dataset table. It is a denominator discipline. Before interpreting results, the framework fixes the task, transformation, executable oracle, controls, and artifact identity.</a:t>
            </a:r>
            <a:endParaRPr lang="zh-CN" altLang="en-US"/>
          </a:p>
        </p:txBody>
      </p:sp>
      <p:sp>
        <p:nvSpPr>
          <p:cNvPr id="4" name="灯片编号占位符 3"/>
          <p:cNvSpPr>
            <a:spLocks noGrp="1"/>
          </p:cNvSpPr>
          <p:nvPr>
            <p:ph type="sldNum" sz="quarter" idx="5"/>
          </p:nvPr>
        </p:nvSpPr>
        <p:spPr/>
        <p:txBody>
          <a:bodyPr/>
          <a:lstStyle/>
          <a:p>
            <a:fld id="{EC0D1325-43DF-407E-BD7B-79DA3298A8CD}" type="slidenum">
              <a:rPr lang="zh-CN" altLang="en-US" smtClean="0"/>
              <a:t>4</a:t>
            </a:fld>
            <a:endParaRPr lang="zh-CN" altLang="en-US"/>
          </a:p>
        </p:txBody>
      </p:sp>
    </p:spTree>
    <p:extLst>
      <p:ext uri="{BB962C8B-B14F-4D97-AF65-F5344CB8AC3E}">
        <p14:creationId xmlns:p14="http://schemas.microsoft.com/office/powerpoint/2010/main" val="36819146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full framework. The five stages look at different kinds of watermark evidence. What connects them is one evidence contract. Each stage must state what it can claim, and what it cannot claim.</a:t>
            </a:r>
            <a:endParaRPr lang="zh-CN" altLang="en-US"/>
          </a:p>
        </p:txBody>
      </p:sp>
      <p:sp>
        <p:nvSpPr>
          <p:cNvPr id="4" name="灯片编号占位符 3"/>
          <p:cNvSpPr>
            <a:spLocks noGrp="1"/>
          </p:cNvSpPr>
          <p:nvPr>
            <p:ph type="sldNum" sz="quarter" idx="5"/>
          </p:nvPr>
        </p:nvSpPr>
        <p:spPr/>
        <p:txBody>
          <a:bodyPr/>
          <a:lstStyle/>
          <a:p>
            <a:fld id="{EC0D1325-43DF-407E-BD7B-79DA3298A8CD}" type="slidenum">
              <a:rPr lang="zh-CN" altLang="en-US" smtClean="0"/>
              <a:t>5</a:t>
            </a:fld>
            <a:endParaRPr lang="zh-CN" altLang="en-US"/>
          </a:p>
        </p:txBody>
      </p:sp>
    </p:spTree>
    <p:extLst>
      <p:ext uri="{BB962C8B-B14F-4D97-AF65-F5344CB8AC3E}">
        <p14:creationId xmlns:p14="http://schemas.microsoft.com/office/powerpoint/2010/main" val="26372442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evidence object has five parts. I freeze the denominator, controls, artifact and hash, then I state the boundary. If the evidence is not enough, the correct answer is abstention, not a stronger claim.</a:t>
            </a:r>
            <a:endParaRPr lang="zh-CN" altLang="en-US"/>
          </a:p>
        </p:txBody>
      </p:sp>
      <p:sp>
        <p:nvSpPr>
          <p:cNvPr id="4" name="灯片编号占位符 3"/>
          <p:cNvSpPr>
            <a:spLocks noGrp="1"/>
          </p:cNvSpPr>
          <p:nvPr>
            <p:ph type="sldNum" sz="quarter" idx="5"/>
          </p:nvPr>
        </p:nvSpPr>
        <p:spPr/>
        <p:txBody>
          <a:bodyPr/>
          <a:lstStyle/>
          <a:p>
            <a:fld id="{EC0D1325-43DF-407E-BD7B-79DA3298A8CD}" type="slidenum">
              <a:rPr lang="zh-CN" altLang="en-US" smtClean="0"/>
              <a:t>6</a:t>
            </a:fld>
            <a:endParaRPr lang="zh-CN" altLang="en-US"/>
          </a:p>
        </p:txBody>
      </p:sp>
    </p:spTree>
    <p:extLst>
      <p:ext uri="{BB962C8B-B14F-4D97-AF65-F5344CB8AC3E}">
        <p14:creationId xmlns:p14="http://schemas.microsoft.com/office/powerpoint/2010/main" val="16818754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key results slide. I report each result with its denominator and control surface. The important point is not a single overall score. It is that every promoted claim has a bounded evidence object.</a:t>
            </a:r>
            <a:endParaRPr lang="zh-CN" altLang="en-US"/>
          </a:p>
        </p:txBody>
      </p:sp>
      <p:sp>
        <p:nvSpPr>
          <p:cNvPr id="4" name="灯片编号占位符 3"/>
          <p:cNvSpPr>
            <a:spLocks noGrp="1"/>
          </p:cNvSpPr>
          <p:nvPr>
            <p:ph type="sldNum" sz="quarter" idx="5"/>
          </p:nvPr>
        </p:nvSpPr>
        <p:spPr/>
        <p:txBody>
          <a:bodyPr/>
          <a:lstStyle/>
          <a:p>
            <a:fld id="{EC0D1325-43DF-407E-BD7B-79DA3298A8CD}" type="slidenum">
              <a:rPr lang="zh-CN" altLang="en-US" smtClean="0"/>
              <a:t>7</a:t>
            </a:fld>
            <a:endParaRPr lang="zh-CN" altLang="en-US"/>
          </a:p>
        </p:txBody>
      </p:sp>
    </p:spTree>
    <p:extLst>
      <p:ext uri="{BB962C8B-B14F-4D97-AF65-F5344CB8AC3E}">
        <p14:creationId xmlns:p14="http://schemas.microsoft.com/office/powerpoint/2010/main" val="39848812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Two modules are intentionally conservative. CodeDye has sparse black-box signal, and SealAudit is selective. I do not hide that. The framework uses these results to show where we should abstain.</a:t>
            </a:r>
            <a:endParaRPr lang="zh-CN" altLang="en-US"/>
          </a:p>
        </p:txBody>
      </p:sp>
      <p:sp>
        <p:nvSpPr>
          <p:cNvPr id="4" name="灯片编号占位符 3"/>
          <p:cNvSpPr>
            <a:spLocks noGrp="1"/>
          </p:cNvSpPr>
          <p:nvPr>
            <p:ph type="sldNum" sz="quarter" idx="5"/>
          </p:nvPr>
        </p:nvSpPr>
        <p:spPr/>
        <p:txBody>
          <a:bodyPr/>
          <a:lstStyle/>
          <a:p>
            <a:fld id="{EC0D1325-43DF-407E-BD7B-79DA3298A8CD}" type="slidenum">
              <a:rPr lang="zh-CN" altLang="en-US" smtClean="0"/>
              <a:t>8</a:t>
            </a:fld>
            <a:endParaRPr lang="zh-CN" altLang="en-US"/>
          </a:p>
        </p:txBody>
      </p:sp>
    </p:spTree>
    <p:extLst>
      <p:ext uri="{BB962C8B-B14F-4D97-AF65-F5344CB8AC3E}">
        <p14:creationId xmlns:p14="http://schemas.microsoft.com/office/powerpoint/2010/main" val="35689027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the first demo, I will not rerun the whole experiment. I will show inspectability. I will open the project page, then the claim boundary, the traceability matrix, the manifest, and one evidence folder.</a:t>
            </a:r>
            <a:endParaRPr lang="zh-CN" altLang="en-US"/>
          </a:p>
        </p:txBody>
      </p:sp>
      <p:sp>
        <p:nvSpPr>
          <p:cNvPr id="4" name="灯片编号占位符 3"/>
          <p:cNvSpPr>
            <a:spLocks noGrp="1"/>
          </p:cNvSpPr>
          <p:nvPr>
            <p:ph type="sldNum" sz="quarter" idx="5"/>
          </p:nvPr>
        </p:nvSpPr>
        <p:spPr/>
        <p:txBody>
          <a:bodyPr/>
          <a:lstStyle/>
          <a:p>
            <a:fld id="{EC0D1325-43DF-407E-BD7B-79DA3298A8CD}" type="slidenum">
              <a:rPr lang="zh-CN" altLang="en-US" smtClean="0"/>
              <a:t>9</a:t>
            </a:fld>
            <a:endParaRPr lang="zh-CN" altLang="en-US"/>
          </a:p>
        </p:txBody>
      </p:sp>
    </p:spTree>
    <p:extLst>
      <p:ext uri="{BB962C8B-B14F-4D97-AF65-F5344CB8AC3E}">
        <p14:creationId xmlns:p14="http://schemas.microsoft.com/office/powerpoint/2010/main" val="41151420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second demo is a quick local check. I will say its boundary clearly. It checks documents, manifests, hashes, and claim files. It does not rerun the full experiments, because those need external compute and API resources.</a:t>
            </a:r>
            <a:endParaRPr lang="zh-CN" altLang="en-US"/>
          </a:p>
        </p:txBody>
      </p:sp>
      <p:sp>
        <p:nvSpPr>
          <p:cNvPr id="4" name="灯片编号占位符 3"/>
          <p:cNvSpPr>
            <a:spLocks noGrp="1"/>
          </p:cNvSpPr>
          <p:nvPr>
            <p:ph type="sldNum" sz="quarter" idx="5"/>
          </p:nvPr>
        </p:nvSpPr>
        <p:spPr/>
        <p:txBody>
          <a:bodyPr/>
          <a:lstStyle/>
          <a:p>
            <a:fld id="{EC0D1325-43DF-407E-BD7B-79DA3298A8CD}" type="slidenum">
              <a:rPr lang="zh-CN" altLang="en-US" smtClean="0"/>
              <a:t>10</a:t>
            </a:fld>
            <a:endParaRPr lang="zh-CN" altLang="en-US"/>
          </a:p>
        </p:txBody>
      </p:sp>
    </p:spTree>
    <p:extLst>
      <p:ext uri="{BB962C8B-B14F-4D97-AF65-F5344CB8AC3E}">
        <p14:creationId xmlns:p14="http://schemas.microsoft.com/office/powerpoint/2010/main" val="2675977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In Q&amp;A, I should keep answers short. First I answer directly. Then I state the boundary, such as denominator, control, or access model. If needed, I point to the claim boundary file, manifest, or viva check script.</a:t>
            </a:r>
            <a:endParaRPr lang="zh-CN" altLang="en-US"/>
          </a:p>
        </p:txBody>
      </p:sp>
      <p:sp>
        <p:nvSpPr>
          <p:cNvPr id="4" name="灯片编号占位符 3"/>
          <p:cNvSpPr>
            <a:spLocks noGrp="1"/>
          </p:cNvSpPr>
          <p:nvPr>
            <p:ph type="sldNum" sz="quarter" idx="5"/>
          </p:nvPr>
        </p:nvSpPr>
        <p:spPr/>
        <p:txBody>
          <a:bodyPr/>
          <a:lstStyle/>
          <a:p>
            <a:fld id="{EC0D1325-43DF-407E-BD7B-79DA3298A8CD}" type="slidenum">
              <a:rPr lang="zh-CN" altLang="en-US" smtClean="0"/>
              <a:t>11</a:t>
            </a:fld>
            <a:endParaRPr lang="zh-CN" altLang="en-US"/>
          </a:p>
        </p:txBody>
      </p:sp>
    </p:spTree>
    <p:extLst>
      <p:ext uri="{BB962C8B-B14F-4D97-AF65-F5344CB8AC3E}">
        <p14:creationId xmlns:p14="http://schemas.microsoft.com/office/powerpoint/2010/main" val="14525292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future work, the FYP artifact is the base. The benchmark work can be developed toward TOSEM, and the other four workstreams can be developed toward EMNLP-style papers. These are planned continuations. They are not extra claims added to the submitted dissertation.</a:t>
            </a:r>
            <a:endParaRPr lang="zh-CN" altLang="en-US"/>
          </a:p>
        </p:txBody>
      </p:sp>
      <p:sp>
        <p:nvSpPr>
          <p:cNvPr id="4" name="灯片编号占位符 3"/>
          <p:cNvSpPr>
            <a:spLocks noGrp="1"/>
          </p:cNvSpPr>
          <p:nvPr>
            <p:ph type="sldNum" sz="quarter" idx="5"/>
          </p:nvPr>
        </p:nvSpPr>
        <p:spPr/>
        <p:txBody>
          <a:bodyPr/>
          <a:lstStyle/>
          <a:p>
            <a:fld id="{EC0D1325-43DF-407E-BD7B-79DA3298A8CD}" type="slidenum">
              <a:rPr lang="zh-CN" altLang="en-US" smtClean="0"/>
              <a:t>12</a:t>
            </a:fld>
            <a:endParaRPr lang="zh-CN" altLang="en-US"/>
          </a:p>
        </p:txBody>
      </p:sp>
    </p:spTree>
    <p:extLst>
      <p:ext uri="{BB962C8B-B14F-4D97-AF65-F5344CB8AC3E}">
        <p14:creationId xmlns:p14="http://schemas.microsoft.com/office/powerpoint/2010/main" val="9102212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Thank you. I am ready for questions. If needed, I can open the project page, the repository, or the claim boundary document.</a:t>
            </a:r>
            <a:endParaRPr lang="zh-CN" altLang="en-US"/>
          </a:p>
        </p:txBody>
      </p:sp>
      <p:sp>
        <p:nvSpPr>
          <p:cNvPr id="4" name="灯片编号占位符 3"/>
          <p:cNvSpPr>
            <a:spLocks noGrp="1"/>
          </p:cNvSpPr>
          <p:nvPr>
            <p:ph type="sldNum" sz="quarter" idx="5"/>
          </p:nvPr>
        </p:nvSpPr>
        <p:spPr/>
        <p:txBody>
          <a:bodyPr/>
          <a:lstStyle/>
          <a:p>
            <a:fld id="{EC0D1325-43DF-407E-BD7B-79DA3298A8CD}" type="slidenum">
              <a:rPr lang="zh-CN" altLang="en-US" smtClean="0"/>
              <a:t>13</a:t>
            </a:fld>
            <a:endParaRPr lang="zh-CN" altLang="en-US"/>
          </a:p>
        </p:txBody>
      </p:sp>
    </p:spTree>
    <p:extLst>
      <p:ext uri="{BB962C8B-B14F-4D97-AF65-F5344CB8AC3E}">
        <p14:creationId xmlns:p14="http://schemas.microsoft.com/office/powerpoint/2010/main" val="17587212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backup slide explains the notation. If asked about a formula, I should translate it into plain English: fix the denominator, run controls, preserve the artifact, and then state only the bounded claim.</a:t>
            </a:r>
            <a:endParaRPr lang="zh-CN" altLang="en-US"/>
          </a:p>
        </p:txBody>
      </p:sp>
      <p:sp>
        <p:nvSpPr>
          <p:cNvPr id="4" name="灯片编号占位符 3"/>
          <p:cNvSpPr>
            <a:spLocks noGrp="1"/>
          </p:cNvSpPr>
          <p:nvPr>
            <p:ph type="sldNum" sz="quarter" idx="5"/>
          </p:nvPr>
        </p:nvSpPr>
        <p:spPr/>
        <p:txBody>
          <a:bodyPr/>
          <a:lstStyle/>
          <a:p>
            <a:fld id="{EC0D1325-43DF-407E-BD7B-79DA3298A8CD}" type="slidenum">
              <a:rPr lang="zh-CN" altLang="en-US" smtClean="0"/>
              <a:t>14</a:t>
            </a:fld>
            <a:endParaRPr lang="zh-CN" altLang="en-US"/>
          </a:p>
        </p:txBody>
      </p:sp>
    </p:spTree>
    <p:extLst>
      <p:ext uri="{BB962C8B-B14F-4D97-AF65-F5344CB8AC3E}">
        <p14:creationId xmlns:p14="http://schemas.microsoft.com/office/powerpoint/2010/main" val="4725174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a backup Q&amp;A page. I should keep answers short and specific.</a:t>
            </a:r>
            <a:endParaRPr lang="zh-CN" altLang="en-US"/>
          </a:p>
        </p:txBody>
      </p:sp>
      <p:sp>
        <p:nvSpPr>
          <p:cNvPr id="4" name="灯片编号占位符 3"/>
          <p:cNvSpPr>
            <a:spLocks noGrp="1"/>
          </p:cNvSpPr>
          <p:nvPr>
            <p:ph type="sldNum" sz="quarter" idx="5"/>
          </p:nvPr>
        </p:nvSpPr>
        <p:spPr/>
        <p:txBody>
          <a:bodyPr/>
          <a:lstStyle/>
          <a:p>
            <a:fld id="{EC0D1325-43DF-407E-BD7B-79DA3298A8CD}" type="slidenum">
              <a:rPr lang="zh-CN" altLang="en-US" smtClean="0"/>
              <a:t>15</a:t>
            </a:fld>
            <a:endParaRPr lang="zh-CN" altLang="en-US"/>
          </a:p>
        </p:txBody>
      </p:sp>
    </p:spTree>
    <p:extLst>
      <p:ext uri="{BB962C8B-B14F-4D97-AF65-F5344CB8AC3E}">
        <p14:creationId xmlns:p14="http://schemas.microsoft.com/office/powerpoint/2010/main" val="3820189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backup storyboard. If the live demo has a problem, I can describe the route and use the saved video.</a:t>
            </a:r>
            <a:endParaRPr lang="zh-CN" altLang="en-US"/>
          </a:p>
        </p:txBody>
      </p:sp>
      <p:sp>
        <p:nvSpPr>
          <p:cNvPr id="4" name="灯片编号占位符 3"/>
          <p:cNvSpPr>
            <a:spLocks noGrp="1"/>
          </p:cNvSpPr>
          <p:nvPr>
            <p:ph type="sldNum" sz="quarter" idx="5"/>
          </p:nvPr>
        </p:nvSpPr>
        <p:spPr/>
        <p:txBody>
          <a:bodyPr/>
          <a:lstStyle/>
          <a:p>
            <a:fld id="{EC0D1325-43DF-407E-BD7B-79DA3298A8CD}" type="slidenum">
              <a:rPr lang="zh-CN" altLang="en-US" smtClean="0"/>
              <a:t>16</a:t>
            </a:fld>
            <a:endParaRPr lang="zh-CN" altLang="en-US"/>
          </a:p>
        </p:txBody>
      </p:sp>
    </p:spTree>
    <p:extLst>
      <p:ext uri="{BB962C8B-B14F-4D97-AF65-F5344CB8AC3E}">
        <p14:creationId xmlns:p14="http://schemas.microsoft.com/office/powerpoint/2010/main" val="567020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4483042-3AC8-4AE0-58FD-611F80401D56}"/>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AC5EEE95-1DEC-BD30-6F2F-BD0FDC4C1E1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C5C004C6-C545-D497-5FDB-F6E0BD0A6B00}"/>
              </a:ext>
            </a:extLst>
          </p:cNvPr>
          <p:cNvSpPr>
            <a:spLocks noGrp="1"/>
          </p:cNvSpPr>
          <p:nvPr>
            <p:ph type="dt" sz="half" idx="10"/>
          </p:nvPr>
        </p:nvSpPr>
        <p:spPr/>
        <p:txBody>
          <a:bodyPr/>
          <a:lstStyle/>
          <a:p>
            <a:fld id="{60D9FF60-80F7-4871-A393-9759AE8E5043}"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31B9238D-058E-E18D-9BD8-26411FA809F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D7167202-7403-0929-12DF-A44EC516B989}"/>
              </a:ext>
            </a:extLst>
          </p:cNvPr>
          <p:cNvSpPr>
            <a:spLocks noGrp="1"/>
          </p:cNvSpPr>
          <p:nvPr>
            <p:ph type="sldNum" sz="quarter" idx="12"/>
          </p:nvPr>
        </p:nvSpPr>
        <p:spPr/>
        <p:txBody>
          <a:bodyPr/>
          <a:lstStyle/>
          <a:p>
            <a:fld id="{2DFB0C09-02B1-4FD9-9132-88FB23AD6455}" type="slidenum">
              <a:rPr lang="zh-CN" altLang="en-US" smtClean="0"/>
              <a:t>‹#›</a:t>
            </a:fld>
            <a:endParaRPr lang="zh-CN" altLang="en-US"/>
          </a:p>
        </p:txBody>
      </p:sp>
    </p:spTree>
    <p:extLst>
      <p:ext uri="{BB962C8B-B14F-4D97-AF65-F5344CB8AC3E}">
        <p14:creationId xmlns:p14="http://schemas.microsoft.com/office/powerpoint/2010/main" val="22762842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AFB0684-6877-0CA5-856E-9BDC8196389A}"/>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69865FFB-3F54-9F98-8D94-34BD78F26CB2}"/>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F09E404-21F3-7F61-EFF1-EFCAB999ED5D}"/>
              </a:ext>
            </a:extLst>
          </p:cNvPr>
          <p:cNvSpPr>
            <a:spLocks noGrp="1"/>
          </p:cNvSpPr>
          <p:nvPr>
            <p:ph type="dt" sz="half" idx="10"/>
          </p:nvPr>
        </p:nvSpPr>
        <p:spPr/>
        <p:txBody>
          <a:bodyPr/>
          <a:lstStyle/>
          <a:p>
            <a:fld id="{60D9FF60-80F7-4871-A393-9759AE8E5043}"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CF3F324C-4AD3-2A8E-8FAA-66F444FC02F7}"/>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26877214-2E01-AC8A-6B0F-EB6E11CA83C1}"/>
              </a:ext>
            </a:extLst>
          </p:cNvPr>
          <p:cNvSpPr>
            <a:spLocks noGrp="1"/>
          </p:cNvSpPr>
          <p:nvPr>
            <p:ph type="sldNum" sz="quarter" idx="12"/>
          </p:nvPr>
        </p:nvSpPr>
        <p:spPr/>
        <p:txBody>
          <a:bodyPr/>
          <a:lstStyle/>
          <a:p>
            <a:fld id="{2DFB0C09-02B1-4FD9-9132-88FB23AD6455}" type="slidenum">
              <a:rPr lang="zh-CN" altLang="en-US" smtClean="0"/>
              <a:t>‹#›</a:t>
            </a:fld>
            <a:endParaRPr lang="zh-CN" altLang="en-US"/>
          </a:p>
        </p:txBody>
      </p:sp>
    </p:spTree>
    <p:extLst>
      <p:ext uri="{BB962C8B-B14F-4D97-AF65-F5344CB8AC3E}">
        <p14:creationId xmlns:p14="http://schemas.microsoft.com/office/powerpoint/2010/main" val="25104672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FA649F7-561F-95A8-DACF-F7CDF4FA2541}"/>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C5BF42B9-958F-6373-5C10-E4E2BD9A9DE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7FF4D118-1D16-E933-FE89-F573420F06EA}"/>
              </a:ext>
            </a:extLst>
          </p:cNvPr>
          <p:cNvSpPr>
            <a:spLocks noGrp="1"/>
          </p:cNvSpPr>
          <p:nvPr>
            <p:ph type="dt" sz="half" idx="10"/>
          </p:nvPr>
        </p:nvSpPr>
        <p:spPr/>
        <p:txBody>
          <a:bodyPr/>
          <a:lstStyle/>
          <a:p>
            <a:fld id="{60D9FF60-80F7-4871-A393-9759AE8E5043}"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0967896A-FB3A-EBB9-E6AB-EA2A66078D8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A75C6C2-0D0E-F914-12A5-CFC2C9CAD72A}"/>
              </a:ext>
            </a:extLst>
          </p:cNvPr>
          <p:cNvSpPr>
            <a:spLocks noGrp="1"/>
          </p:cNvSpPr>
          <p:nvPr>
            <p:ph type="sldNum" sz="quarter" idx="12"/>
          </p:nvPr>
        </p:nvSpPr>
        <p:spPr/>
        <p:txBody>
          <a:bodyPr/>
          <a:lstStyle/>
          <a:p>
            <a:fld id="{2DFB0C09-02B1-4FD9-9132-88FB23AD6455}" type="slidenum">
              <a:rPr lang="zh-CN" altLang="en-US" smtClean="0"/>
              <a:t>‹#›</a:t>
            </a:fld>
            <a:endParaRPr lang="zh-CN" altLang="en-US"/>
          </a:p>
        </p:txBody>
      </p:sp>
    </p:spTree>
    <p:extLst>
      <p:ext uri="{BB962C8B-B14F-4D97-AF65-F5344CB8AC3E}">
        <p14:creationId xmlns:p14="http://schemas.microsoft.com/office/powerpoint/2010/main" val="35332959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2C7E02E-917C-50B7-3424-E43379218570}"/>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E9AF7CA1-1154-A054-B6EC-05403A2E5BDD}"/>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DFDAB9D5-F27F-A2EB-44CE-329A5AF47735}"/>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3D47E83C-FDE2-29A8-0A3D-BDAFA025BC08}"/>
              </a:ext>
            </a:extLst>
          </p:cNvPr>
          <p:cNvSpPr>
            <a:spLocks noGrp="1"/>
          </p:cNvSpPr>
          <p:nvPr>
            <p:ph type="dt" sz="half" idx="10"/>
          </p:nvPr>
        </p:nvSpPr>
        <p:spPr/>
        <p:txBody>
          <a:bodyPr/>
          <a:lstStyle/>
          <a:p>
            <a:fld id="{60D9FF60-80F7-4871-A393-9759AE8E5043}" type="datetimeFigureOut">
              <a:rPr lang="zh-CN" altLang="en-US" smtClean="0"/>
              <a:t>2026/5/15</a:t>
            </a:fld>
            <a:endParaRPr lang="zh-CN" altLang="en-US"/>
          </a:p>
        </p:txBody>
      </p:sp>
      <p:sp>
        <p:nvSpPr>
          <p:cNvPr id="6" name="页脚占位符 5">
            <a:extLst>
              <a:ext uri="{FF2B5EF4-FFF2-40B4-BE49-F238E27FC236}">
                <a16:creationId xmlns:a16="http://schemas.microsoft.com/office/drawing/2014/main" id="{A4AFF727-AE8A-DF18-E0A8-9D874CC3F9D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9086228C-1A23-4C15-706F-27C43FA3AEE0}"/>
              </a:ext>
            </a:extLst>
          </p:cNvPr>
          <p:cNvSpPr>
            <a:spLocks noGrp="1"/>
          </p:cNvSpPr>
          <p:nvPr>
            <p:ph type="sldNum" sz="quarter" idx="12"/>
          </p:nvPr>
        </p:nvSpPr>
        <p:spPr/>
        <p:txBody>
          <a:bodyPr/>
          <a:lstStyle/>
          <a:p>
            <a:fld id="{2DFB0C09-02B1-4FD9-9132-88FB23AD6455}" type="slidenum">
              <a:rPr lang="zh-CN" altLang="en-US" smtClean="0"/>
              <a:t>‹#›</a:t>
            </a:fld>
            <a:endParaRPr lang="zh-CN" altLang="en-US"/>
          </a:p>
        </p:txBody>
      </p:sp>
    </p:spTree>
    <p:extLst>
      <p:ext uri="{BB962C8B-B14F-4D97-AF65-F5344CB8AC3E}">
        <p14:creationId xmlns:p14="http://schemas.microsoft.com/office/powerpoint/2010/main" val="31462384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DA89BF4-E5A1-18EF-7B42-B0107B1E552F}"/>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71058CD2-6C5B-9250-2EDB-BFE700A3DCE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38107BA2-1D6C-6540-C521-00EA2EE1724A}"/>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B8F09FCF-46E1-3C68-186A-B732A4875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95A59D43-373D-6AD5-D7D9-9AF0DCB23925}"/>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4E6AB768-677B-A6CC-D5E8-4A36FB7DCD1B}"/>
              </a:ext>
            </a:extLst>
          </p:cNvPr>
          <p:cNvSpPr>
            <a:spLocks noGrp="1"/>
          </p:cNvSpPr>
          <p:nvPr>
            <p:ph type="dt" sz="half" idx="10"/>
          </p:nvPr>
        </p:nvSpPr>
        <p:spPr/>
        <p:txBody>
          <a:bodyPr/>
          <a:lstStyle/>
          <a:p>
            <a:fld id="{60D9FF60-80F7-4871-A393-9759AE8E5043}" type="datetimeFigureOut">
              <a:rPr lang="zh-CN" altLang="en-US" smtClean="0"/>
              <a:t>2026/5/15</a:t>
            </a:fld>
            <a:endParaRPr lang="zh-CN" altLang="en-US"/>
          </a:p>
        </p:txBody>
      </p:sp>
      <p:sp>
        <p:nvSpPr>
          <p:cNvPr id="8" name="页脚占位符 7">
            <a:extLst>
              <a:ext uri="{FF2B5EF4-FFF2-40B4-BE49-F238E27FC236}">
                <a16:creationId xmlns:a16="http://schemas.microsoft.com/office/drawing/2014/main" id="{08E2F5A2-9142-920F-654D-4046E9D63970}"/>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40979EE7-6AB8-7663-A8D3-CF742652200E}"/>
              </a:ext>
            </a:extLst>
          </p:cNvPr>
          <p:cNvSpPr>
            <a:spLocks noGrp="1"/>
          </p:cNvSpPr>
          <p:nvPr>
            <p:ph type="sldNum" sz="quarter" idx="12"/>
          </p:nvPr>
        </p:nvSpPr>
        <p:spPr/>
        <p:txBody>
          <a:bodyPr/>
          <a:lstStyle/>
          <a:p>
            <a:fld id="{2DFB0C09-02B1-4FD9-9132-88FB23AD6455}" type="slidenum">
              <a:rPr lang="zh-CN" altLang="en-US" smtClean="0"/>
              <a:t>‹#›</a:t>
            </a:fld>
            <a:endParaRPr lang="zh-CN" altLang="en-US"/>
          </a:p>
        </p:txBody>
      </p:sp>
    </p:spTree>
    <p:extLst>
      <p:ext uri="{BB962C8B-B14F-4D97-AF65-F5344CB8AC3E}">
        <p14:creationId xmlns:p14="http://schemas.microsoft.com/office/powerpoint/2010/main" val="391551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15E5CD-C232-C2A0-4AD6-296B51CBBC17}"/>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1D5D118A-96A6-D6F2-BCD0-F307905479A2}"/>
              </a:ext>
            </a:extLst>
          </p:cNvPr>
          <p:cNvSpPr>
            <a:spLocks noGrp="1"/>
          </p:cNvSpPr>
          <p:nvPr>
            <p:ph type="dt" sz="half" idx="10"/>
          </p:nvPr>
        </p:nvSpPr>
        <p:spPr/>
        <p:txBody>
          <a:bodyPr/>
          <a:lstStyle/>
          <a:p>
            <a:fld id="{60D9FF60-80F7-4871-A393-9759AE8E5043}" type="datetimeFigureOut">
              <a:rPr lang="zh-CN" altLang="en-US" smtClean="0"/>
              <a:t>2026/5/15</a:t>
            </a:fld>
            <a:endParaRPr lang="zh-CN" altLang="en-US"/>
          </a:p>
        </p:txBody>
      </p:sp>
      <p:sp>
        <p:nvSpPr>
          <p:cNvPr id="4" name="页脚占位符 3">
            <a:extLst>
              <a:ext uri="{FF2B5EF4-FFF2-40B4-BE49-F238E27FC236}">
                <a16:creationId xmlns:a16="http://schemas.microsoft.com/office/drawing/2014/main" id="{2F098663-320D-73BD-8A0F-949722CF24C5}"/>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A304BD35-9E34-F809-FDD7-6DE79FB59696}"/>
              </a:ext>
            </a:extLst>
          </p:cNvPr>
          <p:cNvSpPr>
            <a:spLocks noGrp="1"/>
          </p:cNvSpPr>
          <p:nvPr>
            <p:ph type="sldNum" sz="quarter" idx="12"/>
          </p:nvPr>
        </p:nvSpPr>
        <p:spPr/>
        <p:txBody>
          <a:bodyPr/>
          <a:lstStyle/>
          <a:p>
            <a:fld id="{2DFB0C09-02B1-4FD9-9132-88FB23AD6455}" type="slidenum">
              <a:rPr lang="zh-CN" altLang="en-US" smtClean="0"/>
              <a:t>‹#›</a:t>
            </a:fld>
            <a:endParaRPr lang="zh-CN" altLang="en-US"/>
          </a:p>
        </p:txBody>
      </p:sp>
    </p:spTree>
    <p:extLst>
      <p:ext uri="{BB962C8B-B14F-4D97-AF65-F5344CB8AC3E}">
        <p14:creationId xmlns:p14="http://schemas.microsoft.com/office/powerpoint/2010/main" val="30277471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5535C128-8556-0B5F-1314-463DEFA3A154}"/>
              </a:ext>
            </a:extLst>
          </p:cNvPr>
          <p:cNvSpPr>
            <a:spLocks noGrp="1"/>
          </p:cNvSpPr>
          <p:nvPr>
            <p:ph type="dt" sz="half" idx="10"/>
          </p:nvPr>
        </p:nvSpPr>
        <p:spPr/>
        <p:txBody>
          <a:bodyPr/>
          <a:lstStyle/>
          <a:p>
            <a:fld id="{60D9FF60-80F7-4871-A393-9759AE8E5043}" type="datetimeFigureOut">
              <a:rPr lang="zh-CN" altLang="en-US" smtClean="0"/>
              <a:t>2026/5/15</a:t>
            </a:fld>
            <a:endParaRPr lang="zh-CN" altLang="en-US"/>
          </a:p>
        </p:txBody>
      </p:sp>
      <p:sp>
        <p:nvSpPr>
          <p:cNvPr id="3" name="页脚占位符 2">
            <a:extLst>
              <a:ext uri="{FF2B5EF4-FFF2-40B4-BE49-F238E27FC236}">
                <a16:creationId xmlns:a16="http://schemas.microsoft.com/office/drawing/2014/main" id="{7779C86F-C49D-3472-9D79-7ACC94AA19A8}"/>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F1E52249-D308-194E-FC6C-E7E0506B4298}"/>
              </a:ext>
            </a:extLst>
          </p:cNvPr>
          <p:cNvSpPr>
            <a:spLocks noGrp="1"/>
          </p:cNvSpPr>
          <p:nvPr>
            <p:ph type="sldNum" sz="quarter" idx="12"/>
          </p:nvPr>
        </p:nvSpPr>
        <p:spPr/>
        <p:txBody>
          <a:bodyPr/>
          <a:lstStyle/>
          <a:p>
            <a:fld id="{2DFB0C09-02B1-4FD9-9132-88FB23AD6455}" type="slidenum">
              <a:rPr lang="zh-CN" altLang="en-US" smtClean="0"/>
              <a:t>‹#›</a:t>
            </a:fld>
            <a:endParaRPr lang="zh-CN" altLang="en-US"/>
          </a:p>
        </p:txBody>
      </p:sp>
    </p:spTree>
    <p:extLst>
      <p:ext uri="{BB962C8B-B14F-4D97-AF65-F5344CB8AC3E}">
        <p14:creationId xmlns:p14="http://schemas.microsoft.com/office/powerpoint/2010/main" val="37552268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8DAF3C0-21DE-DC78-96E5-20BF61583FA5}"/>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A5BA4EE7-BE19-86FE-9C25-08A2630F23F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CF801517-9E5E-61B7-5620-38E590260E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B62F9DFD-044D-ED0E-2A05-37372DA7483C}"/>
              </a:ext>
            </a:extLst>
          </p:cNvPr>
          <p:cNvSpPr>
            <a:spLocks noGrp="1"/>
          </p:cNvSpPr>
          <p:nvPr>
            <p:ph type="dt" sz="half" idx="10"/>
          </p:nvPr>
        </p:nvSpPr>
        <p:spPr/>
        <p:txBody>
          <a:bodyPr/>
          <a:lstStyle/>
          <a:p>
            <a:fld id="{60D9FF60-80F7-4871-A393-9759AE8E5043}" type="datetimeFigureOut">
              <a:rPr lang="zh-CN" altLang="en-US" smtClean="0"/>
              <a:t>2026/5/15</a:t>
            </a:fld>
            <a:endParaRPr lang="zh-CN" altLang="en-US"/>
          </a:p>
        </p:txBody>
      </p:sp>
      <p:sp>
        <p:nvSpPr>
          <p:cNvPr id="6" name="页脚占位符 5">
            <a:extLst>
              <a:ext uri="{FF2B5EF4-FFF2-40B4-BE49-F238E27FC236}">
                <a16:creationId xmlns:a16="http://schemas.microsoft.com/office/drawing/2014/main" id="{0A01DB4E-D8D6-DCDB-412A-FAD051CE9759}"/>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99F61665-EBC0-D1BE-0FDD-4FAADBBA0F1D}"/>
              </a:ext>
            </a:extLst>
          </p:cNvPr>
          <p:cNvSpPr>
            <a:spLocks noGrp="1"/>
          </p:cNvSpPr>
          <p:nvPr>
            <p:ph type="sldNum" sz="quarter" idx="12"/>
          </p:nvPr>
        </p:nvSpPr>
        <p:spPr/>
        <p:txBody>
          <a:bodyPr/>
          <a:lstStyle/>
          <a:p>
            <a:fld id="{2DFB0C09-02B1-4FD9-9132-88FB23AD6455}" type="slidenum">
              <a:rPr lang="zh-CN" altLang="en-US" smtClean="0"/>
              <a:t>‹#›</a:t>
            </a:fld>
            <a:endParaRPr lang="zh-CN" altLang="en-US"/>
          </a:p>
        </p:txBody>
      </p:sp>
    </p:spTree>
    <p:extLst>
      <p:ext uri="{BB962C8B-B14F-4D97-AF65-F5344CB8AC3E}">
        <p14:creationId xmlns:p14="http://schemas.microsoft.com/office/powerpoint/2010/main" val="19588405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2DC9FC-A591-C6F6-584E-0C9F67D48A9D}"/>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9011740D-F641-4868-FF33-1FACB69FE4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FCFD7420-B12A-AA65-BC88-E01F5677EF9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89AC208-FF52-A115-AAA2-5D46C5CD63F3}"/>
              </a:ext>
            </a:extLst>
          </p:cNvPr>
          <p:cNvSpPr>
            <a:spLocks noGrp="1"/>
          </p:cNvSpPr>
          <p:nvPr>
            <p:ph type="dt" sz="half" idx="10"/>
          </p:nvPr>
        </p:nvSpPr>
        <p:spPr/>
        <p:txBody>
          <a:bodyPr/>
          <a:lstStyle/>
          <a:p>
            <a:fld id="{60D9FF60-80F7-4871-A393-9759AE8E5043}" type="datetimeFigureOut">
              <a:rPr lang="zh-CN" altLang="en-US" smtClean="0"/>
              <a:t>2026/5/15</a:t>
            </a:fld>
            <a:endParaRPr lang="zh-CN" altLang="en-US"/>
          </a:p>
        </p:txBody>
      </p:sp>
      <p:sp>
        <p:nvSpPr>
          <p:cNvPr id="6" name="页脚占位符 5">
            <a:extLst>
              <a:ext uri="{FF2B5EF4-FFF2-40B4-BE49-F238E27FC236}">
                <a16:creationId xmlns:a16="http://schemas.microsoft.com/office/drawing/2014/main" id="{AFABAC1A-822D-F569-8575-4FD3C3621F75}"/>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8BF101BB-E4DE-DEDA-242F-2DEE891D3A32}"/>
              </a:ext>
            </a:extLst>
          </p:cNvPr>
          <p:cNvSpPr>
            <a:spLocks noGrp="1"/>
          </p:cNvSpPr>
          <p:nvPr>
            <p:ph type="sldNum" sz="quarter" idx="12"/>
          </p:nvPr>
        </p:nvSpPr>
        <p:spPr/>
        <p:txBody>
          <a:bodyPr/>
          <a:lstStyle/>
          <a:p>
            <a:fld id="{2DFB0C09-02B1-4FD9-9132-88FB23AD6455}" type="slidenum">
              <a:rPr lang="zh-CN" altLang="en-US" smtClean="0"/>
              <a:t>‹#›</a:t>
            </a:fld>
            <a:endParaRPr lang="zh-CN" altLang="en-US"/>
          </a:p>
        </p:txBody>
      </p:sp>
    </p:spTree>
    <p:extLst>
      <p:ext uri="{BB962C8B-B14F-4D97-AF65-F5344CB8AC3E}">
        <p14:creationId xmlns:p14="http://schemas.microsoft.com/office/powerpoint/2010/main" val="37724038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4E7E21-EEC5-C282-7DD5-564379264C2D}"/>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A910FAFB-A920-13FC-CFE5-E17B9FB8260C}"/>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EBD6F91-BF6E-FEBB-2764-5CF4DC93B44B}"/>
              </a:ext>
            </a:extLst>
          </p:cNvPr>
          <p:cNvSpPr>
            <a:spLocks noGrp="1"/>
          </p:cNvSpPr>
          <p:nvPr>
            <p:ph type="dt" sz="half" idx="10"/>
          </p:nvPr>
        </p:nvSpPr>
        <p:spPr/>
        <p:txBody>
          <a:bodyPr/>
          <a:lstStyle/>
          <a:p>
            <a:fld id="{60D9FF60-80F7-4871-A393-9759AE8E5043}"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EA90CB36-D3AE-E4F8-4F58-54E9BD916B2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01920EE-8DFD-D1DF-D923-91018FB9836A}"/>
              </a:ext>
            </a:extLst>
          </p:cNvPr>
          <p:cNvSpPr>
            <a:spLocks noGrp="1"/>
          </p:cNvSpPr>
          <p:nvPr>
            <p:ph type="sldNum" sz="quarter" idx="12"/>
          </p:nvPr>
        </p:nvSpPr>
        <p:spPr/>
        <p:txBody>
          <a:bodyPr/>
          <a:lstStyle/>
          <a:p>
            <a:fld id="{2DFB0C09-02B1-4FD9-9132-88FB23AD6455}" type="slidenum">
              <a:rPr lang="zh-CN" altLang="en-US" smtClean="0"/>
              <a:t>‹#›</a:t>
            </a:fld>
            <a:endParaRPr lang="zh-CN" altLang="en-US"/>
          </a:p>
        </p:txBody>
      </p:sp>
    </p:spTree>
    <p:extLst>
      <p:ext uri="{BB962C8B-B14F-4D97-AF65-F5344CB8AC3E}">
        <p14:creationId xmlns:p14="http://schemas.microsoft.com/office/powerpoint/2010/main" val="39483463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10F759A6-455C-BD7A-1402-48B46CBEFC3E}"/>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CE7A3AEC-3C5A-6361-3BD1-243CECECD20F}"/>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8E325FEC-227A-51FE-4667-64580F6B3BA4}"/>
              </a:ext>
            </a:extLst>
          </p:cNvPr>
          <p:cNvSpPr>
            <a:spLocks noGrp="1"/>
          </p:cNvSpPr>
          <p:nvPr>
            <p:ph type="dt" sz="half" idx="10"/>
          </p:nvPr>
        </p:nvSpPr>
        <p:spPr/>
        <p:txBody>
          <a:bodyPr/>
          <a:lstStyle/>
          <a:p>
            <a:fld id="{60D9FF60-80F7-4871-A393-9759AE8E5043}"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1E6F1731-6C82-E64D-0608-7BB741C2BED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9BD0EFE7-97EC-3971-0254-811795CB9A4F}"/>
              </a:ext>
            </a:extLst>
          </p:cNvPr>
          <p:cNvSpPr>
            <a:spLocks noGrp="1"/>
          </p:cNvSpPr>
          <p:nvPr>
            <p:ph type="sldNum" sz="quarter" idx="12"/>
          </p:nvPr>
        </p:nvSpPr>
        <p:spPr/>
        <p:txBody>
          <a:bodyPr/>
          <a:lstStyle/>
          <a:p>
            <a:fld id="{2DFB0C09-02B1-4FD9-9132-88FB23AD6455}" type="slidenum">
              <a:rPr lang="zh-CN" altLang="en-US" smtClean="0"/>
              <a:t>‹#›</a:t>
            </a:fld>
            <a:endParaRPr lang="zh-CN" altLang="en-US"/>
          </a:p>
        </p:txBody>
      </p:sp>
    </p:spTree>
    <p:extLst>
      <p:ext uri="{BB962C8B-B14F-4D97-AF65-F5344CB8AC3E}">
        <p14:creationId xmlns:p14="http://schemas.microsoft.com/office/powerpoint/2010/main" val="9466392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8E6F5BF9-1CF9-A349-36CF-44781D1BEDE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B874B60E-388D-8A7D-C47F-C22EFAD3A50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A22FCA58-022F-F807-78B8-12EE68C9327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0D9FF60-80F7-4871-A393-9759AE8E5043}"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D2836E35-787F-F68E-7286-2A603334370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A221783B-124E-7F1D-FCD1-D6ABBCAB6A1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DFB0C09-02B1-4FD9-9132-88FB23AD6455}" type="slidenum">
              <a:rPr lang="zh-CN" altLang="en-US" smtClean="0"/>
              <a:t>‹#›</a:t>
            </a:fld>
            <a:endParaRPr lang="zh-CN" altLang="en-US"/>
          </a:p>
        </p:txBody>
      </p:sp>
    </p:spTree>
    <p:extLst>
      <p:ext uri="{BB962C8B-B14F-4D97-AF65-F5344CB8AC3E}">
        <p14:creationId xmlns:p14="http://schemas.microsoft.com/office/powerpoint/2010/main" val="8186158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hyperlink" Target="https://github.com/Haoyi-Zhang/WatermarkScope" TargetMode="External"/><Relationship Id="rId5" Type="http://schemas.openxmlformats.org/officeDocument/2006/relationships/image" Target="../media/image2.png"/><Relationship Id="rId4" Type="http://schemas.openxmlformats.org/officeDocument/2006/relationships/hyperlink" Target="https://haoyi-zhang.github.io/WatermarkScope/"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hyperlink" Target="https://haoyi-zhang.github.io/WatermarkScope/" TargetMode="Externa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hyperlink" Target="https://haoyi-zhang.github.io/WatermarkScope/" TargetMode="External"/><Relationship Id="rId4" Type="http://schemas.openxmlformats.org/officeDocument/2006/relationships/hyperlink" Target="https://github.com/Haoyi-Zhang/WatermarkScope/blob/main/scripts/viva_check.py"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hyperlink" Target="https://github.com/Haoyi-Zhang/WatermarkScope" TargetMode="External"/><Relationship Id="rId5" Type="http://schemas.openxmlformats.org/officeDocument/2006/relationships/image" Target="../media/image2.png"/><Relationship Id="rId4" Type="http://schemas.openxmlformats.org/officeDocument/2006/relationships/hyperlink" Target="https://haoyi-zhang.github.io/WatermarkScope/"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6.xml.rels><?xml version="1.0" encoding="UTF-8" standalone="yes"?>
<Relationships xmlns="http://schemas.openxmlformats.org/package/2006/relationships"><Relationship Id="rId8" Type="http://schemas.openxmlformats.org/officeDocument/2006/relationships/hyperlink" Target="https://github.com/Haoyi-Zhang/WatermarkScope/blob/main/RESULT_MANIFEST.jsonl" TargetMode="External"/><Relationship Id="rId3" Type="http://schemas.openxmlformats.org/officeDocument/2006/relationships/image" Target="../media/image3.jpeg"/><Relationship Id="rId7" Type="http://schemas.openxmlformats.org/officeDocument/2006/relationships/hyperlink" Target="https://github.com/Haoyi-Zhang/WatermarkScope/blob/main/docs/TRACEABILITY_MATRIX.md" TargetMode="External"/><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hyperlink" Target="https://github.com/Haoyi-Zhang/WatermarkScope/blob/main/CLAIM_BOUNDARIES.md" TargetMode="External"/><Relationship Id="rId5" Type="http://schemas.openxmlformats.org/officeDocument/2006/relationships/hyperlink" Target="https://github.com/Haoyi-Zhang/WatermarkScope/blob/main/scripts/viva_check.py" TargetMode="External"/><Relationship Id="rId4" Type="http://schemas.openxmlformats.org/officeDocument/2006/relationships/hyperlink" Target="https://haoyi-zhang.github.io/WatermarkScop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E4EA597E-F1D1-21CB-2094-48385B821E00}"/>
              </a:ext>
            </a:extLst>
          </p:cNvPr>
          <p:cNvSpPr/>
          <p:nvPr/>
        </p:nvSpPr>
        <p:spPr>
          <a:xfrm>
            <a:off x="0" y="0"/>
            <a:ext cx="121920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side-shade">
            <a:extLst>
              <a:ext uri="{FF2B5EF4-FFF2-40B4-BE49-F238E27FC236}">
                <a16:creationId xmlns:a16="http://schemas.microsoft.com/office/drawing/2014/main" id="{C2C4DD99-F8CC-4932-9740-99070F7B3CD8}"/>
              </a:ext>
            </a:extLst>
          </p:cNvPr>
          <p:cNvSpPr/>
          <p:nvPr/>
        </p:nvSpPr>
        <p:spPr>
          <a:xfrm>
            <a:off x="0" y="0"/>
            <a:ext cx="4191000" cy="6858000"/>
          </a:xfrm>
          <a:prstGeom prst="rect">
            <a:avLst/>
          </a:prstGeom>
          <a:solidFill>
            <a:srgbClr val="002D6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cover-rule">
            <a:extLst>
              <a:ext uri="{FF2B5EF4-FFF2-40B4-BE49-F238E27FC236}">
                <a16:creationId xmlns:a16="http://schemas.microsoft.com/office/drawing/2014/main" id="{FB59AF72-CD2A-C6B2-3784-2C424DAF6572}"/>
              </a:ext>
            </a:extLst>
          </p:cNvPr>
          <p:cNvCxnSpPr/>
          <p:nvPr/>
        </p:nvCxnSpPr>
        <p:spPr>
          <a:xfrm>
            <a:off x="4470400" y="0"/>
            <a:ext cx="0" cy="6858000"/>
          </a:xfrm>
          <a:prstGeom prst="line">
            <a:avLst/>
          </a:prstGeom>
          <a:ln w="13970">
            <a:solidFill>
              <a:srgbClr val="386FB0"/>
            </a:solidFill>
          </a:ln>
        </p:spPr>
        <p:style>
          <a:lnRef idx="1">
            <a:schemeClr val="accent1"/>
          </a:lnRef>
          <a:fillRef idx="0">
            <a:schemeClr val="accent1"/>
          </a:fillRef>
          <a:effectRef idx="0">
            <a:schemeClr val="accent1"/>
          </a:effectRef>
          <a:fontRef idx="minor">
            <a:schemeClr val="tx1"/>
          </a:fontRef>
        </p:style>
      </p:cxnSp>
      <p:pic>
        <p:nvPicPr>
          <p:cNvPr id="6" name="图片 5">
            <a:extLst>
              <a:ext uri="{FF2B5EF4-FFF2-40B4-BE49-F238E27FC236}">
                <a16:creationId xmlns:a16="http://schemas.microsoft.com/office/drawing/2014/main" id="{44A413A1-3CA8-E37C-DC08-5E9BE9E7804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7" name="kicker">
            <a:extLst>
              <a:ext uri="{FF2B5EF4-FFF2-40B4-BE49-F238E27FC236}">
                <a16:creationId xmlns:a16="http://schemas.microsoft.com/office/drawing/2014/main" id="{7C5B9C8A-CE4D-DAAC-9D4C-426587D6E6AB}"/>
              </a:ext>
            </a:extLst>
          </p:cNvPr>
          <p:cNvSpPr txBox="1"/>
          <p:nvPr/>
        </p:nvSpPr>
        <p:spPr>
          <a:xfrm>
            <a:off x="5003800" y="990600"/>
            <a:ext cx="4572000" cy="276999"/>
          </a:xfrm>
          <a:prstGeom prst="rect">
            <a:avLst/>
          </a:prstGeom>
          <a:noFill/>
        </p:spPr>
        <p:txBody>
          <a:bodyPr vert="horz" wrap="square" lIns="0" tIns="0" rIns="0" bIns="0" rtlCol="0">
            <a:noAutofit/>
          </a:bodyPr>
          <a:lstStyle/>
          <a:p>
            <a:r>
              <a:rPr lang="en-US" altLang="zh-CN" sz="800" b="1">
                <a:solidFill>
                  <a:srgbClr val="C2DCFA"/>
                </a:solidFill>
                <a:latin typeface="Aptos" panose="020B0004020202020204" pitchFamily="34" charset="0"/>
              </a:rPr>
              <a:t>FINAL YEAR PROJECT VIVA</a:t>
            </a:r>
            <a:endParaRPr lang="zh-CN" altLang="en-US" sz="800" b="1">
              <a:solidFill>
                <a:srgbClr val="C2DCFA"/>
              </a:solidFill>
              <a:latin typeface="Aptos" panose="020B0004020202020204" pitchFamily="34" charset="0"/>
            </a:endParaRPr>
          </a:p>
        </p:txBody>
      </p:sp>
      <p:sp>
        <p:nvSpPr>
          <p:cNvPr id="8" name="h1">
            <a:extLst>
              <a:ext uri="{FF2B5EF4-FFF2-40B4-BE49-F238E27FC236}">
                <a16:creationId xmlns:a16="http://schemas.microsoft.com/office/drawing/2014/main" id="{BDF798C1-0B64-67B4-AE88-0B6A2234FE03}"/>
              </a:ext>
            </a:extLst>
          </p:cNvPr>
          <p:cNvSpPr txBox="1"/>
          <p:nvPr/>
        </p:nvSpPr>
        <p:spPr>
          <a:xfrm>
            <a:off x="5003800" y="1371600"/>
            <a:ext cx="6223000" cy="276999"/>
          </a:xfrm>
          <a:prstGeom prst="rect">
            <a:avLst/>
          </a:prstGeom>
          <a:noFill/>
        </p:spPr>
        <p:txBody>
          <a:bodyPr vert="horz" wrap="square" lIns="0" tIns="0" rIns="0" bIns="0" rtlCol="0">
            <a:noAutofit/>
          </a:bodyPr>
          <a:lstStyle/>
          <a:p>
            <a:r>
              <a:rPr lang="en-US" altLang="zh-CN" sz="4800" b="1">
                <a:solidFill>
                  <a:srgbClr val="FFFFFF"/>
                </a:solidFill>
                <a:latin typeface="Aptos" panose="020B0004020202020204" pitchFamily="34" charset="0"/>
              </a:rPr>
              <a:t>WatermarkScope</a:t>
            </a:r>
            <a:endParaRPr lang="zh-CN" altLang="en-US" sz="4800" b="1">
              <a:solidFill>
                <a:srgbClr val="FFFFFF"/>
              </a:solidFill>
              <a:latin typeface="Aptos" panose="020B0004020202020204" pitchFamily="34" charset="0"/>
            </a:endParaRPr>
          </a:p>
        </p:txBody>
      </p:sp>
      <p:sp>
        <p:nvSpPr>
          <p:cNvPr id="9" name="sub">
            <a:extLst>
              <a:ext uri="{FF2B5EF4-FFF2-40B4-BE49-F238E27FC236}">
                <a16:creationId xmlns:a16="http://schemas.microsoft.com/office/drawing/2014/main" id="{DF680F50-F940-E58F-D274-7AAFBD0104BE}"/>
              </a:ext>
            </a:extLst>
          </p:cNvPr>
          <p:cNvSpPr txBox="1"/>
          <p:nvPr/>
        </p:nvSpPr>
        <p:spPr>
          <a:xfrm>
            <a:off x="5054600" y="2387600"/>
            <a:ext cx="5778500" cy="276999"/>
          </a:xfrm>
          <a:prstGeom prst="rect">
            <a:avLst/>
          </a:prstGeom>
          <a:noFill/>
        </p:spPr>
        <p:txBody>
          <a:bodyPr vert="horz" wrap="square" lIns="0" tIns="0" rIns="0" bIns="0" rtlCol="0">
            <a:noAutofit/>
          </a:bodyPr>
          <a:lstStyle/>
          <a:p>
            <a:r>
              <a:rPr lang="en-US" altLang="zh-CN" sz="1850" b="1">
                <a:solidFill>
                  <a:srgbClr val="FFFFFF"/>
                </a:solidFill>
                <a:latin typeface="Aptos" panose="020B0004020202020204" pitchFamily="34" charset="0"/>
              </a:rPr>
              <a:t>A benchmark-to-audit framework for source-code watermarking in code generation models.</a:t>
            </a:r>
            <a:endParaRPr lang="zh-CN" altLang="en-US" sz="1850" b="1">
              <a:solidFill>
                <a:srgbClr val="FFFFFF"/>
              </a:solidFill>
              <a:latin typeface="Aptos" panose="020B0004020202020204" pitchFamily="34" charset="0"/>
            </a:endParaRPr>
          </a:p>
        </p:txBody>
      </p:sp>
      <p:cxnSp>
        <p:nvCxnSpPr>
          <p:cNvPr id="10" name="rule">
            <a:extLst>
              <a:ext uri="{FF2B5EF4-FFF2-40B4-BE49-F238E27FC236}">
                <a16:creationId xmlns:a16="http://schemas.microsoft.com/office/drawing/2014/main" id="{C6E4E435-597C-65B9-D7CE-99CFA48A5E56}"/>
              </a:ext>
            </a:extLst>
          </p:cNvPr>
          <p:cNvCxnSpPr/>
          <p:nvPr/>
        </p:nvCxnSpPr>
        <p:spPr>
          <a:xfrm>
            <a:off x="5054600" y="3327400"/>
            <a:ext cx="5638800" cy="0"/>
          </a:xfrm>
          <a:prstGeom prst="line">
            <a:avLst/>
          </a:prstGeom>
          <a:ln w="15240">
            <a:solidFill>
              <a:srgbClr val="B5D3F5"/>
            </a:solidFill>
          </a:ln>
        </p:spPr>
        <p:style>
          <a:lnRef idx="1">
            <a:schemeClr val="accent1"/>
          </a:lnRef>
          <a:fillRef idx="0">
            <a:schemeClr val="accent1"/>
          </a:fillRef>
          <a:effectRef idx="0">
            <a:schemeClr val="accent1"/>
          </a:effectRef>
          <a:fontRef idx="minor">
            <a:schemeClr val="tx1"/>
          </a:fontRef>
        </p:style>
      </p:cxnSp>
      <p:sp>
        <p:nvSpPr>
          <p:cNvPr id="11" name="thesis">
            <a:extLst>
              <a:ext uri="{FF2B5EF4-FFF2-40B4-BE49-F238E27FC236}">
                <a16:creationId xmlns:a16="http://schemas.microsoft.com/office/drawing/2014/main" id="{122D1F3E-FCCD-B52C-120C-94B153E7FF58}"/>
              </a:ext>
            </a:extLst>
          </p:cNvPr>
          <p:cNvSpPr txBox="1"/>
          <p:nvPr/>
        </p:nvSpPr>
        <p:spPr>
          <a:xfrm>
            <a:off x="5054600" y="3810000"/>
            <a:ext cx="5461000" cy="276999"/>
          </a:xfrm>
          <a:prstGeom prst="rect">
            <a:avLst/>
          </a:prstGeom>
          <a:noFill/>
        </p:spPr>
        <p:txBody>
          <a:bodyPr vert="horz" wrap="square" lIns="0" tIns="0" rIns="0" bIns="0" rtlCol="0">
            <a:noAutofit/>
          </a:bodyPr>
          <a:lstStyle/>
          <a:p>
            <a:r>
              <a:rPr lang="en-US" altLang="zh-CN" sz="1850" b="1">
                <a:solidFill>
                  <a:srgbClr val="FFFFFF"/>
                </a:solidFill>
                <a:latin typeface="Aptos" panose="020B0004020202020204" pitchFamily="34" charset="0"/>
              </a:rPr>
              <a:t>Watermark evidence needs a claim boundary before it can support a claim.</a:t>
            </a:r>
            <a:endParaRPr lang="zh-CN" altLang="en-US" sz="1850" b="1">
              <a:solidFill>
                <a:srgbClr val="FFFFFF"/>
              </a:solidFill>
              <a:latin typeface="Aptos" panose="020B0004020202020204" pitchFamily="34" charset="0"/>
            </a:endParaRPr>
          </a:p>
        </p:txBody>
      </p:sp>
      <p:sp>
        <p:nvSpPr>
          <p:cNvPr id="12" name="meta">
            <a:extLst>
              <a:ext uri="{FF2B5EF4-FFF2-40B4-BE49-F238E27FC236}">
                <a16:creationId xmlns:a16="http://schemas.microsoft.com/office/drawing/2014/main" id="{5FBF8D0F-CCB3-5E93-47A9-CBF6A121701A}"/>
              </a:ext>
            </a:extLst>
          </p:cNvPr>
          <p:cNvSpPr txBox="1"/>
          <p:nvPr/>
        </p:nvSpPr>
        <p:spPr>
          <a:xfrm>
            <a:off x="5054600" y="5029200"/>
            <a:ext cx="4953000" cy="276999"/>
          </a:xfrm>
          <a:prstGeom prst="rect">
            <a:avLst/>
          </a:prstGeom>
          <a:noFill/>
        </p:spPr>
        <p:txBody>
          <a:bodyPr vert="horz" wrap="square" lIns="0" tIns="0" rIns="0" bIns="0" rtlCol="0">
            <a:noAutofit/>
          </a:bodyPr>
          <a:lstStyle/>
          <a:p>
            <a:r>
              <a:rPr lang="en-US" altLang="zh-CN" sz="920">
                <a:solidFill>
                  <a:srgbClr val="D6E5FA"/>
                </a:solidFill>
                <a:latin typeface="Aptos" panose="020B0004020202020204" pitchFamily="34" charset="0"/>
              </a:rPr>
              <a:t>Haoyi Zhang | 2254912
Supervisor: Md Maruf Hasan
Viva: 21 May 2026</a:t>
            </a:r>
            <a:endParaRPr lang="zh-CN" altLang="en-US" sz="920">
              <a:solidFill>
                <a:srgbClr val="D6E5FA"/>
              </a:solidFill>
              <a:latin typeface="Aptos" panose="020B0004020202020204" pitchFamily="34" charset="0"/>
            </a:endParaRPr>
          </a:p>
        </p:txBody>
      </p:sp>
      <p:pic>
        <p:nvPicPr>
          <p:cNvPr id="14" name="图片 13">
            <a:hlinkClick r:id="rId4"/>
            <a:extLst>
              <a:ext uri="{FF2B5EF4-FFF2-40B4-BE49-F238E27FC236}">
                <a16:creationId xmlns:a16="http://schemas.microsoft.com/office/drawing/2014/main" id="{96BB06A5-54D4-8A19-7D3E-B7F62AF42C03}"/>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914400" y="1168400"/>
            <a:ext cx="1219200" cy="1219200"/>
          </a:xfrm>
          <a:prstGeom prst="rect">
            <a:avLst/>
          </a:prstGeom>
        </p:spPr>
      </p:pic>
      <p:sp>
        <p:nvSpPr>
          <p:cNvPr id="15" name="artifact">
            <a:extLst>
              <a:ext uri="{FF2B5EF4-FFF2-40B4-BE49-F238E27FC236}">
                <a16:creationId xmlns:a16="http://schemas.microsoft.com/office/drawing/2014/main" id="{3BF34F61-DEAF-CA23-E5D8-2E16299BBABA}"/>
              </a:ext>
            </a:extLst>
          </p:cNvPr>
          <p:cNvSpPr txBox="1"/>
          <p:nvPr/>
        </p:nvSpPr>
        <p:spPr>
          <a:xfrm>
            <a:off x="914400" y="2667000"/>
            <a:ext cx="21336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Artifact access</a:t>
            </a:r>
            <a:endParaRPr lang="zh-CN" altLang="en-US" sz="820" b="1">
              <a:solidFill>
                <a:srgbClr val="FFFFFF"/>
              </a:solidFill>
              <a:latin typeface="Aptos" panose="020B0004020202020204" pitchFamily="34" charset="0"/>
            </a:endParaRPr>
          </a:p>
        </p:txBody>
      </p:sp>
      <p:sp>
        <p:nvSpPr>
          <p:cNvPr id="16" name="artifact2">
            <a:extLst>
              <a:ext uri="{FF2B5EF4-FFF2-40B4-BE49-F238E27FC236}">
                <a16:creationId xmlns:a16="http://schemas.microsoft.com/office/drawing/2014/main" id="{FE15B040-0867-DD38-286D-1B64EFC99983}"/>
              </a:ext>
            </a:extLst>
          </p:cNvPr>
          <p:cNvSpPr txBox="1"/>
          <p:nvPr/>
        </p:nvSpPr>
        <p:spPr>
          <a:xfrm>
            <a:off x="914400" y="2984500"/>
            <a:ext cx="2336800" cy="276999"/>
          </a:xfrm>
          <a:prstGeom prst="rect">
            <a:avLst/>
          </a:prstGeom>
          <a:noFill/>
        </p:spPr>
        <p:txBody>
          <a:bodyPr vert="horz" wrap="square" lIns="0" tIns="0" rIns="0" bIns="0" rtlCol="0">
            <a:noAutofit/>
          </a:bodyPr>
          <a:lstStyle/>
          <a:p>
            <a:r>
              <a:rPr lang="en-US" altLang="zh-CN" sz="810">
                <a:solidFill>
                  <a:srgbClr val="D6E5FA"/>
                </a:solidFill>
                <a:latin typeface="Aptos" panose="020B0004020202020204" pitchFamily="34" charset="0"/>
              </a:rPr>
              <a:t>Project page, repository, claim boundaries, and viva materials.</a:t>
            </a:r>
            <a:endParaRPr lang="zh-CN" altLang="en-US" sz="810">
              <a:solidFill>
                <a:srgbClr val="D6E5FA"/>
              </a:solidFill>
              <a:latin typeface="Aptos" panose="020B0004020202020204" pitchFamily="34" charset="0"/>
            </a:endParaRPr>
          </a:p>
        </p:txBody>
      </p:sp>
      <p:sp>
        <p:nvSpPr>
          <p:cNvPr id="17" name="cover-page">
            <a:hlinkClick r:id="rId4"/>
            <a:extLst>
              <a:ext uri="{FF2B5EF4-FFF2-40B4-BE49-F238E27FC236}">
                <a16:creationId xmlns:a16="http://schemas.microsoft.com/office/drawing/2014/main" id="{1AA563F8-E431-FA4B-A5DF-92E637F21802}"/>
              </a:ext>
            </a:extLst>
          </p:cNvPr>
          <p:cNvSpPr/>
          <p:nvPr/>
        </p:nvSpPr>
        <p:spPr>
          <a:xfrm>
            <a:off x="914400" y="3784600"/>
            <a:ext cx="1168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Project page</a:t>
            </a:r>
            <a:endParaRPr lang="zh-CN" altLang="en-US" sz="760" b="1">
              <a:solidFill>
                <a:srgbClr val="003B7A"/>
              </a:solidFill>
              <a:latin typeface="Aptos" panose="020B0004020202020204" pitchFamily="34" charset="0"/>
            </a:endParaRPr>
          </a:p>
        </p:txBody>
      </p:sp>
      <p:sp>
        <p:nvSpPr>
          <p:cNvPr id="18" name="cover-repo">
            <a:hlinkClick r:id="rId6"/>
            <a:extLst>
              <a:ext uri="{FF2B5EF4-FFF2-40B4-BE49-F238E27FC236}">
                <a16:creationId xmlns:a16="http://schemas.microsoft.com/office/drawing/2014/main" id="{E0554C2A-2078-0767-2266-E2453DBCEB46}"/>
              </a:ext>
            </a:extLst>
          </p:cNvPr>
          <p:cNvSpPr/>
          <p:nvPr/>
        </p:nvSpPr>
        <p:spPr>
          <a:xfrm>
            <a:off x="2159000" y="3784600"/>
            <a:ext cx="914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Repo</a:t>
            </a:r>
            <a:endParaRPr lang="zh-CN" altLang="en-US" sz="760" b="1">
              <a:solidFill>
                <a:srgbClr val="003B7A"/>
              </a:solidFill>
              <a:latin typeface="Aptos" panose="020B0004020202020204" pitchFamily="34" charset="0"/>
            </a:endParaRPr>
          </a:p>
        </p:txBody>
      </p:sp>
      <p:sp>
        <p:nvSpPr>
          <p:cNvPr id="19" name="cover-flow-0">
            <a:extLst>
              <a:ext uri="{FF2B5EF4-FFF2-40B4-BE49-F238E27FC236}">
                <a16:creationId xmlns:a16="http://schemas.microsoft.com/office/drawing/2014/main" id="{2FECDB39-D712-F37A-285F-956332ACFDB2}"/>
              </a:ext>
            </a:extLst>
          </p:cNvPr>
          <p:cNvSpPr/>
          <p:nvPr/>
        </p:nvSpPr>
        <p:spPr>
          <a:xfrm>
            <a:off x="914400" y="4724400"/>
            <a:ext cx="584200" cy="5842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cover-flow-n-0">
            <a:extLst>
              <a:ext uri="{FF2B5EF4-FFF2-40B4-BE49-F238E27FC236}">
                <a16:creationId xmlns:a16="http://schemas.microsoft.com/office/drawing/2014/main" id="{DBC4C81B-09F7-B292-2266-F34315EF1E02}"/>
              </a:ext>
            </a:extLst>
          </p:cNvPr>
          <p:cNvSpPr txBox="1"/>
          <p:nvPr/>
        </p:nvSpPr>
        <p:spPr>
          <a:xfrm>
            <a:off x="11049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01</a:t>
            </a:r>
            <a:endParaRPr lang="zh-CN" altLang="en-US" sz="700" b="1">
              <a:solidFill>
                <a:srgbClr val="FFFFFF"/>
              </a:solidFill>
              <a:latin typeface="Aptos" panose="020B0004020202020204" pitchFamily="34" charset="0"/>
            </a:endParaRPr>
          </a:p>
        </p:txBody>
      </p:sp>
      <p:sp>
        <p:nvSpPr>
          <p:cNvPr id="21" name="cover-flow-t-0">
            <a:extLst>
              <a:ext uri="{FF2B5EF4-FFF2-40B4-BE49-F238E27FC236}">
                <a16:creationId xmlns:a16="http://schemas.microsoft.com/office/drawing/2014/main" id="{5BFB3DFB-5175-0C2A-0F3C-05FDA5F620BA}"/>
              </a:ext>
            </a:extLst>
          </p:cNvPr>
          <p:cNvSpPr txBox="1"/>
          <p:nvPr/>
        </p:nvSpPr>
        <p:spPr>
          <a:xfrm>
            <a:off x="8890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Admit</a:t>
            </a:r>
            <a:endParaRPr lang="zh-CN" altLang="en-US" sz="620" b="1">
              <a:solidFill>
                <a:srgbClr val="D6E5FA"/>
              </a:solidFill>
              <a:latin typeface="Aptos" panose="020B0004020202020204" pitchFamily="34" charset="0"/>
            </a:endParaRPr>
          </a:p>
        </p:txBody>
      </p:sp>
      <p:cxnSp>
        <p:nvCxnSpPr>
          <p:cNvPr id="22" name="cover-flow-a-0">
            <a:extLst>
              <a:ext uri="{FF2B5EF4-FFF2-40B4-BE49-F238E27FC236}">
                <a16:creationId xmlns:a16="http://schemas.microsoft.com/office/drawing/2014/main" id="{0611DC76-3C3F-5703-75E0-079F0E6A517C}"/>
              </a:ext>
            </a:extLst>
          </p:cNvPr>
          <p:cNvCxnSpPr/>
          <p:nvPr/>
        </p:nvCxnSpPr>
        <p:spPr>
          <a:xfrm>
            <a:off x="1524000" y="5016500"/>
            <a:ext cx="152400" cy="0"/>
          </a:xfrm>
          <a:prstGeom prst="line">
            <a:avLst/>
          </a:prstGeom>
          <a:ln w="11430">
            <a:solidFill>
              <a:srgbClr val="B5D3F5"/>
            </a:solidFill>
            <a:tailEnd type="arrow"/>
          </a:ln>
        </p:spPr>
        <p:style>
          <a:lnRef idx="1">
            <a:schemeClr val="accent1"/>
          </a:lnRef>
          <a:fillRef idx="0">
            <a:schemeClr val="accent1"/>
          </a:fillRef>
          <a:effectRef idx="0">
            <a:schemeClr val="accent1"/>
          </a:effectRef>
          <a:fontRef idx="minor">
            <a:schemeClr val="tx1"/>
          </a:fontRef>
        </p:style>
      </p:cxnSp>
      <p:sp>
        <p:nvSpPr>
          <p:cNvPr id="23" name="cover-flow-1">
            <a:extLst>
              <a:ext uri="{FF2B5EF4-FFF2-40B4-BE49-F238E27FC236}">
                <a16:creationId xmlns:a16="http://schemas.microsoft.com/office/drawing/2014/main" id="{060661B1-6A0B-1411-FEB8-79789F9F7789}"/>
              </a:ext>
            </a:extLst>
          </p:cNvPr>
          <p:cNvSpPr/>
          <p:nvPr/>
        </p:nvSpPr>
        <p:spPr>
          <a:xfrm>
            <a:off x="1727200" y="4724400"/>
            <a:ext cx="584200" cy="5842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cover-flow-n-1">
            <a:extLst>
              <a:ext uri="{FF2B5EF4-FFF2-40B4-BE49-F238E27FC236}">
                <a16:creationId xmlns:a16="http://schemas.microsoft.com/office/drawing/2014/main" id="{02B0628D-A6FD-A415-E086-A57C1A035BC4}"/>
              </a:ext>
            </a:extLst>
          </p:cNvPr>
          <p:cNvSpPr txBox="1"/>
          <p:nvPr/>
        </p:nvSpPr>
        <p:spPr>
          <a:xfrm>
            <a:off x="19177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02</a:t>
            </a:r>
            <a:endParaRPr lang="zh-CN" altLang="en-US" sz="700" b="1">
              <a:solidFill>
                <a:srgbClr val="FFFFFF"/>
              </a:solidFill>
              <a:latin typeface="Aptos" panose="020B0004020202020204" pitchFamily="34" charset="0"/>
            </a:endParaRPr>
          </a:p>
        </p:txBody>
      </p:sp>
      <p:sp>
        <p:nvSpPr>
          <p:cNvPr id="25" name="cover-flow-t-1">
            <a:extLst>
              <a:ext uri="{FF2B5EF4-FFF2-40B4-BE49-F238E27FC236}">
                <a16:creationId xmlns:a16="http://schemas.microsoft.com/office/drawing/2014/main" id="{486060E1-4FAC-2086-F6D6-45C78BA042F1}"/>
              </a:ext>
            </a:extLst>
          </p:cNvPr>
          <p:cNvSpPr txBox="1"/>
          <p:nvPr/>
        </p:nvSpPr>
        <p:spPr>
          <a:xfrm>
            <a:off x="17018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Control</a:t>
            </a:r>
            <a:endParaRPr lang="zh-CN" altLang="en-US" sz="620" b="1">
              <a:solidFill>
                <a:srgbClr val="D6E5FA"/>
              </a:solidFill>
              <a:latin typeface="Aptos" panose="020B0004020202020204" pitchFamily="34" charset="0"/>
            </a:endParaRPr>
          </a:p>
        </p:txBody>
      </p:sp>
      <p:cxnSp>
        <p:nvCxnSpPr>
          <p:cNvPr id="26" name="cover-flow-a-1">
            <a:extLst>
              <a:ext uri="{FF2B5EF4-FFF2-40B4-BE49-F238E27FC236}">
                <a16:creationId xmlns:a16="http://schemas.microsoft.com/office/drawing/2014/main" id="{737FED1D-3B45-B321-837E-F76B4A6A07A8}"/>
              </a:ext>
            </a:extLst>
          </p:cNvPr>
          <p:cNvCxnSpPr/>
          <p:nvPr/>
        </p:nvCxnSpPr>
        <p:spPr>
          <a:xfrm>
            <a:off x="2336800" y="5016500"/>
            <a:ext cx="152400" cy="0"/>
          </a:xfrm>
          <a:prstGeom prst="line">
            <a:avLst/>
          </a:prstGeom>
          <a:ln w="11430">
            <a:solidFill>
              <a:srgbClr val="B5D3F5"/>
            </a:solidFill>
            <a:tailEnd type="arrow"/>
          </a:ln>
        </p:spPr>
        <p:style>
          <a:lnRef idx="1">
            <a:schemeClr val="accent1"/>
          </a:lnRef>
          <a:fillRef idx="0">
            <a:schemeClr val="accent1"/>
          </a:fillRef>
          <a:effectRef idx="0">
            <a:schemeClr val="accent1"/>
          </a:effectRef>
          <a:fontRef idx="minor">
            <a:schemeClr val="tx1"/>
          </a:fontRef>
        </p:style>
      </p:cxnSp>
      <p:sp>
        <p:nvSpPr>
          <p:cNvPr id="27" name="cover-flow-2">
            <a:extLst>
              <a:ext uri="{FF2B5EF4-FFF2-40B4-BE49-F238E27FC236}">
                <a16:creationId xmlns:a16="http://schemas.microsoft.com/office/drawing/2014/main" id="{6B266AE5-96C6-9B08-44DF-8595A79DE8A4}"/>
              </a:ext>
            </a:extLst>
          </p:cNvPr>
          <p:cNvSpPr/>
          <p:nvPr/>
        </p:nvSpPr>
        <p:spPr>
          <a:xfrm>
            <a:off x="2540000" y="4724400"/>
            <a:ext cx="584200" cy="5842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cover-flow-n-2">
            <a:extLst>
              <a:ext uri="{FF2B5EF4-FFF2-40B4-BE49-F238E27FC236}">
                <a16:creationId xmlns:a16="http://schemas.microsoft.com/office/drawing/2014/main" id="{D311BFD9-3442-9D25-49EE-1B14DA78EC37}"/>
              </a:ext>
            </a:extLst>
          </p:cNvPr>
          <p:cNvSpPr txBox="1"/>
          <p:nvPr/>
        </p:nvSpPr>
        <p:spPr>
          <a:xfrm>
            <a:off x="27305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03</a:t>
            </a:r>
            <a:endParaRPr lang="zh-CN" altLang="en-US" sz="700" b="1">
              <a:solidFill>
                <a:srgbClr val="FFFFFF"/>
              </a:solidFill>
              <a:latin typeface="Aptos" panose="020B0004020202020204" pitchFamily="34" charset="0"/>
            </a:endParaRPr>
          </a:p>
        </p:txBody>
      </p:sp>
      <p:sp>
        <p:nvSpPr>
          <p:cNvPr id="29" name="cover-flow-t-2">
            <a:extLst>
              <a:ext uri="{FF2B5EF4-FFF2-40B4-BE49-F238E27FC236}">
                <a16:creationId xmlns:a16="http://schemas.microsoft.com/office/drawing/2014/main" id="{891F55DC-709C-076B-1C88-45FF1C4288F8}"/>
              </a:ext>
            </a:extLst>
          </p:cNvPr>
          <p:cNvSpPr txBox="1"/>
          <p:nvPr/>
        </p:nvSpPr>
        <p:spPr>
          <a:xfrm>
            <a:off x="25146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Hash</a:t>
            </a:r>
            <a:endParaRPr lang="zh-CN" altLang="en-US" sz="620" b="1">
              <a:solidFill>
                <a:srgbClr val="D6E5FA"/>
              </a:solidFill>
              <a:latin typeface="Aptos" panose="020B0004020202020204" pitchFamily="34" charset="0"/>
            </a:endParaRPr>
          </a:p>
        </p:txBody>
      </p:sp>
      <p:cxnSp>
        <p:nvCxnSpPr>
          <p:cNvPr id="30" name="cover-flow-a-2">
            <a:extLst>
              <a:ext uri="{FF2B5EF4-FFF2-40B4-BE49-F238E27FC236}">
                <a16:creationId xmlns:a16="http://schemas.microsoft.com/office/drawing/2014/main" id="{B0BB8C83-897D-95D4-CC3F-643E278A8D00}"/>
              </a:ext>
            </a:extLst>
          </p:cNvPr>
          <p:cNvCxnSpPr/>
          <p:nvPr/>
        </p:nvCxnSpPr>
        <p:spPr>
          <a:xfrm>
            <a:off x="3149600" y="5016500"/>
            <a:ext cx="152400" cy="0"/>
          </a:xfrm>
          <a:prstGeom prst="line">
            <a:avLst/>
          </a:prstGeom>
          <a:ln w="11430">
            <a:solidFill>
              <a:srgbClr val="B5D3F5"/>
            </a:solidFill>
            <a:tailEnd type="arrow"/>
          </a:ln>
        </p:spPr>
        <p:style>
          <a:lnRef idx="1">
            <a:schemeClr val="accent1"/>
          </a:lnRef>
          <a:fillRef idx="0">
            <a:schemeClr val="accent1"/>
          </a:fillRef>
          <a:effectRef idx="0">
            <a:schemeClr val="accent1"/>
          </a:effectRef>
          <a:fontRef idx="minor">
            <a:schemeClr val="tx1"/>
          </a:fontRef>
        </p:style>
      </p:cxnSp>
      <p:sp>
        <p:nvSpPr>
          <p:cNvPr id="31" name="cover-flow-3">
            <a:extLst>
              <a:ext uri="{FF2B5EF4-FFF2-40B4-BE49-F238E27FC236}">
                <a16:creationId xmlns:a16="http://schemas.microsoft.com/office/drawing/2014/main" id="{FE1D245B-2751-70A6-8F88-019D279E2A26}"/>
              </a:ext>
            </a:extLst>
          </p:cNvPr>
          <p:cNvSpPr/>
          <p:nvPr/>
        </p:nvSpPr>
        <p:spPr>
          <a:xfrm>
            <a:off x="3352800" y="4724400"/>
            <a:ext cx="584200" cy="5842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cover-flow-n-3">
            <a:extLst>
              <a:ext uri="{FF2B5EF4-FFF2-40B4-BE49-F238E27FC236}">
                <a16:creationId xmlns:a16="http://schemas.microsoft.com/office/drawing/2014/main" id="{05EBD9E7-E731-043F-3DF7-871073996C2F}"/>
              </a:ext>
            </a:extLst>
          </p:cNvPr>
          <p:cNvSpPr txBox="1"/>
          <p:nvPr/>
        </p:nvSpPr>
        <p:spPr>
          <a:xfrm>
            <a:off x="35433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04</a:t>
            </a:r>
            <a:endParaRPr lang="zh-CN" altLang="en-US" sz="700" b="1">
              <a:solidFill>
                <a:srgbClr val="FFFFFF"/>
              </a:solidFill>
              <a:latin typeface="Aptos" panose="020B0004020202020204" pitchFamily="34" charset="0"/>
            </a:endParaRPr>
          </a:p>
        </p:txBody>
      </p:sp>
      <p:sp>
        <p:nvSpPr>
          <p:cNvPr id="33" name="cover-flow-t-3">
            <a:extLst>
              <a:ext uri="{FF2B5EF4-FFF2-40B4-BE49-F238E27FC236}">
                <a16:creationId xmlns:a16="http://schemas.microsoft.com/office/drawing/2014/main" id="{4436987E-1D25-43D9-085B-D3AB13A8D1D7}"/>
              </a:ext>
            </a:extLst>
          </p:cNvPr>
          <p:cNvSpPr txBox="1"/>
          <p:nvPr/>
        </p:nvSpPr>
        <p:spPr>
          <a:xfrm>
            <a:off x="33274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Claim</a:t>
            </a:r>
            <a:endParaRPr lang="zh-CN" altLang="en-US" sz="620" b="1">
              <a:solidFill>
                <a:srgbClr val="D6E5FA"/>
              </a:solidFill>
              <a:latin typeface="Aptos" panose="020B0004020202020204" pitchFamily="34" charset="0"/>
            </a:endParaRPr>
          </a:p>
        </p:txBody>
      </p:sp>
      <p:sp>
        <p:nvSpPr>
          <p:cNvPr id="34" name="footer-hit-1">
            <a:hlinkClick r:id="rId4"/>
            <a:extLst>
              <a:ext uri="{FF2B5EF4-FFF2-40B4-BE49-F238E27FC236}">
                <a16:creationId xmlns:a16="http://schemas.microsoft.com/office/drawing/2014/main" id="{7C3213A8-AF02-CAFC-D2FD-D294FA06AF69}"/>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471151088"/>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60"/>
                                        <p:tgtEl>
                                          <p:spTgt spid="19"/>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60"/>
                                        <p:tgtEl>
                                          <p:spTgt spid="20"/>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160"/>
                                        <p:tgtEl>
                                          <p:spTgt spid="21"/>
                                        </p:tgtEl>
                                      </p:cBhvr>
                                    </p:animEffect>
                                  </p:childTnLst>
                                </p:cTn>
                              </p:par>
                            </p:childTnLst>
                          </p:cTn>
                        </p:par>
                        <p:par>
                          <p:cTn id="16" fill="hold">
                            <p:stCondLst>
                              <p:cond delay="480"/>
                            </p:stCondLst>
                            <p:childTnLst>
                              <p:par>
                                <p:cTn id="17" presetID="10" presetClass="entr" presetSubtype="0" fill="hold" nodeType="after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160"/>
                                        <p:tgtEl>
                                          <p:spTgt spid="22"/>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160"/>
                                        <p:tgtEl>
                                          <p:spTgt spid="23"/>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160"/>
                                        <p:tgtEl>
                                          <p:spTgt spid="24"/>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160"/>
                                        <p:tgtEl>
                                          <p:spTgt spid="25"/>
                                        </p:tgtEl>
                                      </p:cBhvr>
                                    </p:animEffect>
                                  </p:childTnLst>
                                </p:cTn>
                              </p:par>
                            </p:childTnLst>
                          </p:cTn>
                        </p:par>
                        <p:par>
                          <p:cTn id="32" fill="hold">
                            <p:stCondLst>
                              <p:cond delay="1120"/>
                            </p:stCondLst>
                            <p:childTnLst>
                              <p:par>
                                <p:cTn id="33" presetID="10" presetClass="entr" presetSubtype="0" fill="hold"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160"/>
                                        <p:tgtEl>
                                          <p:spTgt spid="26"/>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160"/>
                                        <p:tgtEl>
                                          <p:spTgt spid="27"/>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160"/>
                                        <p:tgtEl>
                                          <p:spTgt spid="28"/>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160"/>
                                        <p:tgtEl>
                                          <p:spTgt spid="29"/>
                                        </p:tgtEl>
                                      </p:cBhvr>
                                    </p:animEffect>
                                  </p:childTnLst>
                                </p:cTn>
                              </p:par>
                            </p:childTnLst>
                          </p:cTn>
                        </p:par>
                        <p:par>
                          <p:cTn id="48" fill="hold">
                            <p:stCondLst>
                              <p:cond delay="1760"/>
                            </p:stCondLst>
                            <p:childTnLst>
                              <p:par>
                                <p:cTn id="49" presetID="10" presetClass="entr" presetSubtype="0" fill="hold"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160"/>
                                        <p:tgtEl>
                                          <p:spTgt spid="30"/>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160"/>
                                        <p:tgtEl>
                                          <p:spTgt spid="31"/>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160"/>
                                        <p:tgtEl>
                                          <p:spTgt spid="32"/>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16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p:bldP spid="21" grpId="0"/>
      <p:bldP spid="23" grpId="0" animBg="1"/>
      <p:bldP spid="24" grpId="0"/>
      <p:bldP spid="25" grpId="0"/>
      <p:bldP spid="27" grpId="0" animBg="1"/>
      <p:bldP spid="28" grpId="0"/>
      <p:bldP spid="29" grpId="0"/>
      <p:bldP spid="31" grpId="0" animBg="1"/>
      <p:bldP spid="32" grpId="0"/>
      <p:bldP spid="33"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78D83AE9-4073-61FD-CBB4-7AE87B0FBB39}"/>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0EB2333D-E564-75AA-2066-32E4EFA44FEF}"/>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F415BE93-4A48-9630-BC7B-34025837683F}"/>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0B7DC7D5-75D5-E8AD-73D5-6C02A83E957B}"/>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PROBLEM</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E612695B-583D-6DBB-040E-7A6B04DCD275}"/>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02</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11C71E5E-84B9-BDBE-DE7C-AE97B84A4901}"/>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B5C7F931-E90F-D7FC-C16D-C3CFB1043690}"/>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6D3055D4-D7AB-1CF4-52DA-FB5D012C2FF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9BEB57CA-49AB-9843-8488-25849365566D}"/>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Generated code leaves the clean lab setting.</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D2E916DF-27F7-5153-5F9B-7A25DCA6206E}"/>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useful question is not whether a detector fires, but what evidence survives after code movement.</a:t>
            </a:r>
            <a:endParaRPr lang="zh-CN" altLang="en-US" sz="930">
              <a:solidFill>
                <a:srgbClr val="4A5B78"/>
              </a:solidFill>
              <a:latin typeface="Aptos" panose="020B0004020202020204" pitchFamily="34" charset="0"/>
            </a:endParaRPr>
          </a:p>
        </p:txBody>
      </p:sp>
      <p:sp>
        <p:nvSpPr>
          <p:cNvPr id="13" name="lab">
            <a:extLst>
              <a:ext uri="{FF2B5EF4-FFF2-40B4-BE49-F238E27FC236}">
                <a16:creationId xmlns:a16="http://schemas.microsoft.com/office/drawing/2014/main" id="{993CD5E4-3317-0EA5-7731-002E4473B25C}"/>
              </a:ext>
            </a:extLst>
          </p:cNvPr>
          <p:cNvSpPr/>
          <p:nvPr/>
        </p:nvSpPr>
        <p:spPr>
          <a:xfrm>
            <a:off x="838200" y="1955800"/>
            <a:ext cx="3175000" cy="3276600"/>
          </a:xfrm>
          <a:prstGeom prst="rect">
            <a:avLst/>
          </a:prstGeom>
          <a:solidFill>
            <a:srgbClr val="030918"/>
          </a:solidFill>
          <a:ln w="11430">
            <a:solidFill>
              <a:srgbClr val="03091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ab-k">
            <a:extLst>
              <a:ext uri="{FF2B5EF4-FFF2-40B4-BE49-F238E27FC236}">
                <a16:creationId xmlns:a16="http://schemas.microsoft.com/office/drawing/2014/main" id="{08383001-1FF0-0194-8721-3A77F2302320}"/>
              </a:ext>
            </a:extLst>
          </p:cNvPr>
          <p:cNvSpPr txBox="1"/>
          <p:nvPr/>
        </p:nvSpPr>
        <p:spPr>
          <a:xfrm>
            <a:off x="1168400" y="2286000"/>
            <a:ext cx="1905000" cy="276999"/>
          </a:xfrm>
          <a:prstGeom prst="rect">
            <a:avLst/>
          </a:prstGeom>
          <a:noFill/>
        </p:spPr>
        <p:txBody>
          <a:bodyPr vert="horz" wrap="square" lIns="0" tIns="0" rIns="0" bIns="0" rtlCol="0">
            <a:noAutofit/>
          </a:bodyPr>
          <a:lstStyle/>
          <a:p>
            <a:r>
              <a:rPr lang="en-US" altLang="zh-CN" sz="780" b="1">
                <a:solidFill>
                  <a:srgbClr val="A5C6EB"/>
                </a:solidFill>
                <a:latin typeface="Aptos" panose="020B0004020202020204" pitchFamily="34" charset="0"/>
              </a:rPr>
              <a:t>clean generation session</a:t>
            </a:r>
            <a:endParaRPr lang="zh-CN" altLang="en-US" sz="780" b="1">
              <a:solidFill>
                <a:srgbClr val="A5C6EB"/>
              </a:solidFill>
              <a:latin typeface="Aptos" panose="020B0004020202020204" pitchFamily="34" charset="0"/>
            </a:endParaRPr>
          </a:p>
        </p:txBody>
      </p:sp>
      <p:sp>
        <p:nvSpPr>
          <p:cNvPr id="15" name="lab-code">
            <a:extLst>
              <a:ext uri="{FF2B5EF4-FFF2-40B4-BE49-F238E27FC236}">
                <a16:creationId xmlns:a16="http://schemas.microsoft.com/office/drawing/2014/main" id="{29F90BF9-5AAE-7483-2152-0402ADD8DD9A}"/>
              </a:ext>
            </a:extLst>
          </p:cNvPr>
          <p:cNvSpPr txBox="1"/>
          <p:nvPr/>
        </p:nvSpPr>
        <p:spPr>
          <a:xfrm>
            <a:off x="1168400" y="2794000"/>
            <a:ext cx="2311400" cy="276999"/>
          </a:xfrm>
          <a:prstGeom prst="rect">
            <a:avLst/>
          </a:prstGeom>
          <a:noFill/>
        </p:spPr>
        <p:txBody>
          <a:bodyPr vert="horz" wrap="square" lIns="0" tIns="0" rIns="0" bIns="0" rtlCol="0">
            <a:noAutofit/>
          </a:bodyPr>
          <a:lstStyle/>
          <a:p>
            <a:r>
              <a:rPr lang="en-US" altLang="zh-CN" sz="1250">
                <a:solidFill>
                  <a:srgbClr val="FFFFFF"/>
                </a:solidFill>
                <a:latin typeface="Consolas" panose="020B0609020204030204" pitchFamily="49" charset="0"/>
              </a:rPr>
              <a:t>def normalize_name(s):
    y = s.strip().lower()
    return y.replace('_', '-')</a:t>
            </a:r>
            <a:endParaRPr lang="zh-CN" altLang="en-US" sz="1250">
              <a:solidFill>
                <a:srgbClr val="FFFFFF"/>
              </a:solidFill>
              <a:latin typeface="Consolas" panose="020B0609020204030204" pitchFamily="49" charset="0"/>
            </a:endParaRPr>
          </a:p>
        </p:txBody>
      </p:sp>
      <p:cxnSp>
        <p:nvCxnSpPr>
          <p:cNvPr id="16" name="lab-rule">
            <a:extLst>
              <a:ext uri="{FF2B5EF4-FFF2-40B4-BE49-F238E27FC236}">
                <a16:creationId xmlns:a16="http://schemas.microsoft.com/office/drawing/2014/main" id="{B3CA5F27-64B3-E22B-B800-902401A81F61}"/>
              </a:ext>
            </a:extLst>
          </p:cNvPr>
          <p:cNvCxnSpPr/>
          <p:nvPr/>
        </p:nvCxnSpPr>
        <p:spPr>
          <a:xfrm>
            <a:off x="1168400" y="4038600"/>
            <a:ext cx="2286000" cy="0"/>
          </a:xfrm>
          <a:prstGeom prst="line">
            <a:avLst/>
          </a:prstGeom>
          <a:ln w="12700">
            <a:solidFill>
              <a:srgbClr val="43648F"/>
            </a:solidFill>
          </a:ln>
        </p:spPr>
        <p:style>
          <a:lnRef idx="1">
            <a:schemeClr val="accent1"/>
          </a:lnRef>
          <a:fillRef idx="0">
            <a:schemeClr val="accent1"/>
          </a:fillRef>
          <a:effectRef idx="0">
            <a:schemeClr val="accent1"/>
          </a:effectRef>
          <a:fontRef idx="minor">
            <a:schemeClr val="tx1"/>
          </a:fontRef>
        </p:style>
      </p:cxnSp>
      <p:sp>
        <p:nvSpPr>
          <p:cNvPr id="17" name="lab-note">
            <a:extLst>
              <a:ext uri="{FF2B5EF4-FFF2-40B4-BE49-F238E27FC236}">
                <a16:creationId xmlns:a16="http://schemas.microsoft.com/office/drawing/2014/main" id="{9806D953-4CC9-C776-D084-6234586E9B89}"/>
              </a:ext>
            </a:extLst>
          </p:cNvPr>
          <p:cNvSpPr txBox="1"/>
          <p:nvPr/>
        </p:nvSpPr>
        <p:spPr>
          <a:xfrm>
            <a:off x="1168400" y="4318000"/>
            <a:ext cx="2336800" cy="276999"/>
          </a:xfrm>
          <a:prstGeom prst="rect">
            <a:avLst/>
          </a:prstGeom>
          <a:noFill/>
        </p:spPr>
        <p:txBody>
          <a:bodyPr vert="horz" wrap="square" lIns="0" tIns="0" rIns="0" bIns="0" rtlCol="0">
            <a:noAutofit/>
          </a:bodyPr>
          <a:lstStyle/>
          <a:p>
            <a:r>
              <a:rPr lang="en-US" altLang="zh-CN" sz="820">
                <a:solidFill>
                  <a:srgbClr val="C4D4E8"/>
                </a:solidFill>
                <a:latin typeface="Aptos" panose="020B0004020202020204" pitchFamily="34" charset="0"/>
              </a:rPr>
              <a:t>Watermark context, prompt context, and original model session are still close to the code.</a:t>
            </a:r>
            <a:endParaRPr lang="zh-CN" altLang="en-US" sz="820">
              <a:solidFill>
                <a:srgbClr val="C4D4E8"/>
              </a:solidFill>
              <a:latin typeface="Aptos" panose="020B0004020202020204" pitchFamily="34" charset="0"/>
            </a:endParaRPr>
          </a:p>
        </p:txBody>
      </p:sp>
      <p:cxnSp>
        <p:nvCxnSpPr>
          <p:cNvPr id="18" name="move-spine">
            <a:extLst>
              <a:ext uri="{FF2B5EF4-FFF2-40B4-BE49-F238E27FC236}">
                <a16:creationId xmlns:a16="http://schemas.microsoft.com/office/drawing/2014/main" id="{41B168E8-A126-705F-345D-084C883491D0}"/>
              </a:ext>
            </a:extLst>
          </p:cNvPr>
          <p:cNvCxnSpPr/>
          <p:nvPr/>
        </p:nvCxnSpPr>
        <p:spPr>
          <a:xfrm>
            <a:off x="4394200" y="3238500"/>
            <a:ext cx="3581400" cy="0"/>
          </a:xfrm>
          <a:prstGeom prst="line">
            <a:avLst/>
          </a:prstGeom>
          <a:ln w="30480">
            <a:solidFill>
              <a:srgbClr val="D5E2F0"/>
            </a:solidFill>
          </a:ln>
        </p:spPr>
        <p:style>
          <a:lnRef idx="1">
            <a:schemeClr val="accent1"/>
          </a:lnRef>
          <a:fillRef idx="0">
            <a:schemeClr val="accent1"/>
          </a:fillRef>
          <a:effectRef idx="0">
            <a:schemeClr val="accent1"/>
          </a:effectRef>
          <a:fontRef idx="minor">
            <a:schemeClr val="tx1"/>
          </a:fontRef>
        </p:style>
      </p:cxnSp>
      <p:sp>
        <p:nvSpPr>
          <p:cNvPr id="19" name="move-0">
            <a:extLst>
              <a:ext uri="{FF2B5EF4-FFF2-40B4-BE49-F238E27FC236}">
                <a16:creationId xmlns:a16="http://schemas.microsoft.com/office/drawing/2014/main" id="{13A54484-85EC-AF1D-3E8F-23D84CB39F03}"/>
              </a:ext>
            </a:extLst>
          </p:cNvPr>
          <p:cNvSpPr/>
          <p:nvPr/>
        </p:nvSpPr>
        <p:spPr>
          <a:xfrm>
            <a:off x="4495800" y="2667000"/>
            <a:ext cx="96520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move-top-0">
            <a:extLst>
              <a:ext uri="{FF2B5EF4-FFF2-40B4-BE49-F238E27FC236}">
                <a16:creationId xmlns:a16="http://schemas.microsoft.com/office/drawing/2014/main" id="{C9322A4F-D72D-75C5-C0DC-AFEC54F7E87D}"/>
              </a:ext>
            </a:extLst>
          </p:cNvPr>
          <p:cNvSpPr/>
          <p:nvPr/>
        </p:nvSpPr>
        <p:spPr>
          <a:xfrm>
            <a:off x="4495800" y="2667000"/>
            <a:ext cx="965200" cy="889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move-t-0">
            <a:extLst>
              <a:ext uri="{FF2B5EF4-FFF2-40B4-BE49-F238E27FC236}">
                <a16:creationId xmlns:a16="http://schemas.microsoft.com/office/drawing/2014/main" id="{72DE8CA7-C8B3-FB39-1A6A-98071A5361FE}"/>
              </a:ext>
            </a:extLst>
          </p:cNvPr>
          <p:cNvSpPr txBox="1"/>
          <p:nvPr/>
        </p:nvSpPr>
        <p:spPr>
          <a:xfrm>
            <a:off x="4673600" y="2997200"/>
            <a:ext cx="660400" cy="276999"/>
          </a:xfrm>
          <a:prstGeom prst="rect">
            <a:avLst/>
          </a:prstGeom>
          <a:noFill/>
        </p:spPr>
        <p:txBody>
          <a:bodyPr vert="horz" wrap="square" lIns="0" tIns="0" rIns="0" bIns="0" rtlCol="0">
            <a:noAutofit/>
          </a:bodyPr>
          <a:lstStyle/>
          <a:p>
            <a:r>
              <a:rPr lang="en-US" altLang="zh-CN" sz="1080" b="1">
                <a:solidFill>
                  <a:srgbClr val="071A3D"/>
                </a:solidFill>
                <a:latin typeface="Aptos" panose="020B0004020202020204" pitchFamily="34" charset="0"/>
              </a:rPr>
              <a:t>copy</a:t>
            </a:r>
            <a:endParaRPr lang="zh-CN" altLang="en-US" sz="1080" b="1">
              <a:solidFill>
                <a:srgbClr val="071A3D"/>
              </a:solidFill>
              <a:latin typeface="Aptos" panose="020B0004020202020204" pitchFamily="34" charset="0"/>
            </a:endParaRPr>
          </a:p>
        </p:txBody>
      </p:sp>
      <p:sp>
        <p:nvSpPr>
          <p:cNvPr id="22" name="move-s-0">
            <a:extLst>
              <a:ext uri="{FF2B5EF4-FFF2-40B4-BE49-F238E27FC236}">
                <a16:creationId xmlns:a16="http://schemas.microsoft.com/office/drawing/2014/main" id="{002F83CB-0667-EFDF-01A8-3E782E8D2009}"/>
              </a:ext>
            </a:extLst>
          </p:cNvPr>
          <p:cNvSpPr txBox="1"/>
          <p:nvPr/>
        </p:nvSpPr>
        <p:spPr>
          <a:xfrm>
            <a:off x="4673600" y="3352800"/>
            <a:ext cx="660400" cy="276999"/>
          </a:xfrm>
          <a:prstGeom prst="rect">
            <a:avLst/>
          </a:prstGeom>
          <a:noFill/>
        </p:spPr>
        <p:txBody>
          <a:bodyPr vert="horz" wrap="square" lIns="0" tIns="0" rIns="0" bIns="0" rtlCol="0">
            <a:noAutofit/>
          </a:bodyPr>
          <a:lstStyle/>
          <a:p>
            <a:r>
              <a:rPr lang="en-US" altLang="zh-CN" sz="760">
                <a:solidFill>
                  <a:srgbClr val="4A5B78"/>
                </a:solidFill>
                <a:latin typeface="Aptos" panose="020B0004020202020204" pitchFamily="34" charset="0"/>
              </a:rPr>
              <a:t>new file</a:t>
            </a:r>
            <a:endParaRPr lang="zh-CN" altLang="en-US" sz="760">
              <a:solidFill>
                <a:srgbClr val="4A5B78"/>
              </a:solidFill>
              <a:latin typeface="Aptos" panose="020B0004020202020204" pitchFamily="34" charset="0"/>
            </a:endParaRPr>
          </a:p>
        </p:txBody>
      </p:sp>
      <p:cxnSp>
        <p:nvCxnSpPr>
          <p:cNvPr id="23" name="move-a-0">
            <a:extLst>
              <a:ext uri="{FF2B5EF4-FFF2-40B4-BE49-F238E27FC236}">
                <a16:creationId xmlns:a16="http://schemas.microsoft.com/office/drawing/2014/main" id="{2ED0AD4A-6BA5-8782-8362-BF964C096F9E}"/>
              </a:ext>
            </a:extLst>
          </p:cNvPr>
          <p:cNvCxnSpPr/>
          <p:nvPr/>
        </p:nvCxnSpPr>
        <p:spPr>
          <a:xfrm>
            <a:off x="5511800" y="3238500"/>
            <a:ext cx="254000" cy="0"/>
          </a:xfrm>
          <a:prstGeom prst="line">
            <a:avLst/>
          </a:prstGeom>
          <a:ln w="1397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24" name="move-1">
            <a:extLst>
              <a:ext uri="{FF2B5EF4-FFF2-40B4-BE49-F238E27FC236}">
                <a16:creationId xmlns:a16="http://schemas.microsoft.com/office/drawing/2014/main" id="{4F63126F-8E8D-40B9-3E18-8360C10E9528}"/>
              </a:ext>
            </a:extLst>
          </p:cNvPr>
          <p:cNvSpPr/>
          <p:nvPr/>
        </p:nvSpPr>
        <p:spPr>
          <a:xfrm>
            <a:off x="5791200" y="2667000"/>
            <a:ext cx="96520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move-top-1">
            <a:extLst>
              <a:ext uri="{FF2B5EF4-FFF2-40B4-BE49-F238E27FC236}">
                <a16:creationId xmlns:a16="http://schemas.microsoft.com/office/drawing/2014/main" id="{B3EDE3A4-635C-5501-615B-C66CB0A60021}"/>
              </a:ext>
            </a:extLst>
          </p:cNvPr>
          <p:cNvSpPr/>
          <p:nvPr/>
        </p:nvSpPr>
        <p:spPr>
          <a:xfrm>
            <a:off x="5791200" y="2667000"/>
            <a:ext cx="965200" cy="889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move-t-1">
            <a:extLst>
              <a:ext uri="{FF2B5EF4-FFF2-40B4-BE49-F238E27FC236}">
                <a16:creationId xmlns:a16="http://schemas.microsoft.com/office/drawing/2014/main" id="{252CD48B-8536-B4D9-EB6F-6E925414DB4B}"/>
              </a:ext>
            </a:extLst>
          </p:cNvPr>
          <p:cNvSpPr txBox="1"/>
          <p:nvPr/>
        </p:nvSpPr>
        <p:spPr>
          <a:xfrm>
            <a:off x="5969000" y="2997200"/>
            <a:ext cx="660400" cy="276999"/>
          </a:xfrm>
          <a:prstGeom prst="rect">
            <a:avLst/>
          </a:prstGeom>
          <a:noFill/>
        </p:spPr>
        <p:txBody>
          <a:bodyPr vert="horz" wrap="square" lIns="0" tIns="0" rIns="0" bIns="0" rtlCol="0">
            <a:noAutofit/>
          </a:bodyPr>
          <a:lstStyle/>
          <a:p>
            <a:r>
              <a:rPr lang="en-US" altLang="zh-CN" sz="1080" b="1">
                <a:solidFill>
                  <a:srgbClr val="071A3D"/>
                </a:solidFill>
                <a:latin typeface="Aptos" panose="020B0004020202020204" pitchFamily="34" charset="0"/>
              </a:rPr>
              <a:t>edit</a:t>
            </a:r>
            <a:endParaRPr lang="zh-CN" altLang="en-US" sz="1080" b="1">
              <a:solidFill>
                <a:srgbClr val="071A3D"/>
              </a:solidFill>
              <a:latin typeface="Aptos" panose="020B0004020202020204" pitchFamily="34" charset="0"/>
            </a:endParaRPr>
          </a:p>
        </p:txBody>
      </p:sp>
      <p:sp>
        <p:nvSpPr>
          <p:cNvPr id="27" name="move-s-1">
            <a:extLst>
              <a:ext uri="{FF2B5EF4-FFF2-40B4-BE49-F238E27FC236}">
                <a16:creationId xmlns:a16="http://schemas.microsoft.com/office/drawing/2014/main" id="{042C9B40-4110-5365-3340-DE1BC7A8C79F}"/>
              </a:ext>
            </a:extLst>
          </p:cNvPr>
          <p:cNvSpPr txBox="1"/>
          <p:nvPr/>
        </p:nvSpPr>
        <p:spPr>
          <a:xfrm>
            <a:off x="5969000" y="3352800"/>
            <a:ext cx="660400" cy="276999"/>
          </a:xfrm>
          <a:prstGeom prst="rect">
            <a:avLst/>
          </a:prstGeom>
          <a:noFill/>
        </p:spPr>
        <p:txBody>
          <a:bodyPr vert="horz" wrap="square" lIns="0" tIns="0" rIns="0" bIns="0" rtlCol="0">
            <a:noAutofit/>
          </a:bodyPr>
          <a:lstStyle/>
          <a:p>
            <a:r>
              <a:rPr lang="en-US" altLang="zh-CN" sz="760">
                <a:solidFill>
                  <a:srgbClr val="4A5B78"/>
                </a:solidFill>
                <a:latin typeface="Aptos" panose="020B0004020202020204" pitchFamily="34" charset="0"/>
              </a:rPr>
              <a:t>human rewrite</a:t>
            </a:r>
            <a:endParaRPr lang="zh-CN" altLang="en-US" sz="760">
              <a:solidFill>
                <a:srgbClr val="4A5B78"/>
              </a:solidFill>
              <a:latin typeface="Aptos" panose="020B0004020202020204" pitchFamily="34" charset="0"/>
            </a:endParaRPr>
          </a:p>
        </p:txBody>
      </p:sp>
      <p:cxnSp>
        <p:nvCxnSpPr>
          <p:cNvPr id="28" name="move-a-1">
            <a:extLst>
              <a:ext uri="{FF2B5EF4-FFF2-40B4-BE49-F238E27FC236}">
                <a16:creationId xmlns:a16="http://schemas.microsoft.com/office/drawing/2014/main" id="{1AEDD5E5-3FD9-D669-59C9-B67725DFE81D}"/>
              </a:ext>
            </a:extLst>
          </p:cNvPr>
          <p:cNvCxnSpPr/>
          <p:nvPr/>
        </p:nvCxnSpPr>
        <p:spPr>
          <a:xfrm>
            <a:off x="6807200" y="3238500"/>
            <a:ext cx="254000" cy="0"/>
          </a:xfrm>
          <a:prstGeom prst="line">
            <a:avLst/>
          </a:prstGeom>
          <a:ln w="1397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29" name="move-2">
            <a:extLst>
              <a:ext uri="{FF2B5EF4-FFF2-40B4-BE49-F238E27FC236}">
                <a16:creationId xmlns:a16="http://schemas.microsoft.com/office/drawing/2014/main" id="{A46BB475-28E6-0520-6224-ADB8F84A07D2}"/>
              </a:ext>
            </a:extLst>
          </p:cNvPr>
          <p:cNvSpPr/>
          <p:nvPr/>
        </p:nvSpPr>
        <p:spPr>
          <a:xfrm>
            <a:off x="7086600" y="2667000"/>
            <a:ext cx="96520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move-top-2">
            <a:extLst>
              <a:ext uri="{FF2B5EF4-FFF2-40B4-BE49-F238E27FC236}">
                <a16:creationId xmlns:a16="http://schemas.microsoft.com/office/drawing/2014/main" id="{5770D597-B13D-239E-7847-3AF0C886165D}"/>
              </a:ext>
            </a:extLst>
          </p:cNvPr>
          <p:cNvSpPr/>
          <p:nvPr/>
        </p:nvSpPr>
        <p:spPr>
          <a:xfrm>
            <a:off x="7086600" y="2667000"/>
            <a:ext cx="965200" cy="889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move-t-2">
            <a:extLst>
              <a:ext uri="{FF2B5EF4-FFF2-40B4-BE49-F238E27FC236}">
                <a16:creationId xmlns:a16="http://schemas.microsoft.com/office/drawing/2014/main" id="{0F42F81C-F81A-ECC1-CA61-0DCB6A5D94F0}"/>
              </a:ext>
            </a:extLst>
          </p:cNvPr>
          <p:cNvSpPr txBox="1"/>
          <p:nvPr/>
        </p:nvSpPr>
        <p:spPr>
          <a:xfrm>
            <a:off x="7264400" y="2997200"/>
            <a:ext cx="660400" cy="276999"/>
          </a:xfrm>
          <a:prstGeom prst="rect">
            <a:avLst/>
          </a:prstGeom>
          <a:noFill/>
        </p:spPr>
        <p:txBody>
          <a:bodyPr vert="horz" wrap="square" lIns="0" tIns="0" rIns="0" bIns="0" rtlCol="0">
            <a:noAutofit/>
          </a:bodyPr>
          <a:lstStyle/>
          <a:p>
            <a:r>
              <a:rPr lang="en-US" altLang="zh-CN" sz="1080" b="1">
                <a:solidFill>
                  <a:srgbClr val="071A3D"/>
                </a:solidFill>
                <a:latin typeface="Aptos" panose="020B0004020202020204" pitchFamily="34" charset="0"/>
              </a:rPr>
              <a:t>reuse</a:t>
            </a:r>
            <a:endParaRPr lang="zh-CN" altLang="en-US" sz="1080" b="1">
              <a:solidFill>
                <a:srgbClr val="071A3D"/>
              </a:solidFill>
              <a:latin typeface="Aptos" panose="020B0004020202020204" pitchFamily="34" charset="0"/>
            </a:endParaRPr>
          </a:p>
        </p:txBody>
      </p:sp>
      <p:sp>
        <p:nvSpPr>
          <p:cNvPr id="32" name="move-s-2">
            <a:extLst>
              <a:ext uri="{FF2B5EF4-FFF2-40B4-BE49-F238E27FC236}">
                <a16:creationId xmlns:a16="http://schemas.microsoft.com/office/drawing/2014/main" id="{B40C5E54-D1AC-2217-F2F9-026918C88DC4}"/>
              </a:ext>
            </a:extLst>
          </p:cNvPr>
          <p:cNvSpPr txBox="1"/>
          <p:nvPr/>
        </p:nvSpPr>
        <p:spPr>
          <a:xfrm>
            <a:off x="7264400" y="3352800"/>
            <a:ext cx="660400" cy="276999"/>
          </a:xfrm>
          <a:prstGeom prst="rect">
            <a:avLst/>
          </a:prstGeom>
          <a:noFill/>
        </p:spPr>
        <p:txBody>
          <a:bodyPr vert="horz" wrap="square" lIns="0" tIns="0" rIns="0" bIns="0" rtlCol="0">
            <a:noAutofit/>
          </a:bodyPr>
          <a:lstStyle/>
          <a:p>
            <a:r>
              <a:rPr lang="en-US" altLang="zh-CN" sz="760">
                <a:solidFill>
                  <a:srgbClr val="4A5B78"/>
                </a:solidFill>
                <a:latin typeface="Aptos" panose="020B0004020202020204" pitchFamily="34" charset="0"/>
              </a:rPr>
              <a:t>larger repo</a:t>
            </a:r>
            <a:endParaRPr lang="zh-CN" altLang="en-US" sz="760">
              <a:solidFill>
                <a:srgbClr val="4A5B78"/>
              </a:solidFill>
              <a:latin typeface="Aptos" panose="020B0004020202020204" pitchFamily="34" charset="0"/>
            </a:endParaRPr>
          </a:p>
        </p:txBody>
      </p:sp>
      <p:cxnSp>
        <p:nvCxnSpPr>
          <p:cNvPr id="33" name="audit-a">
            <a:extLst>
              <a:ext uri="{FF2B5EF4-FFF2-40B4-BE49-F238E27FC236}">
                <a16:creationId xmlns:a16="http://schemas.microsoft.com/office/drawing/2014/main" id="{C3668D90-C661-0E1E-CF3E-8C16B7E9155C}"/>
              </a:ext>
            </a:extLst>
          </p:cNvPr>
          <p:cNvCxnSpPr/>
          <p:nvPr/>
        </p:nvCxnSpPr>
        <p:spPr>
          <a:xfrm>
            <a:off x="8255000" y="3238500"/>
            <a:ext cx="635000" cy="0"/>
          </a:xfrm>
          <a:prstGeom prst="line">
            <a:avLst/>
          </a:prstGeom>
          <a:ln w="1905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34" name="audit">
            <a:extLst>
              <a:ext uri="{FF2B5EF4-FFF2-40B4-BE49-F238E27FC236}">
                <a16:creationId xmlns:a16="http://schemas.microsoft.com/office/drawing/2014/main" id="{20DCD767-2BBB-E331-27D8-B1BD247236A9}"/>
              </a:ext>
            </a:extLst>
          </p:cNvPr>
          <p:cNvSpPr/>
          <p:nvPr/>
        </p:nvSpPr>
        <p:spPr>
          <a:xfrm>
            <a:off x="9093200" y="1955800"/>
            <a:ext cx="2260600" cy="3276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audit-k">
            <a:extLst>
              <a:ext uri="{FF2B5EF4-FFF2-40B4-BE49-F238E27FC236}">
                <a16:creationId xmlns:a16="http://schemas.microsoft.com/office/drawing/2014/main" id="{9EDE692A-CA69-0790-D841-F8622D0001E6}"/>
              </a:ext>
            </a:extLst>
          </p:cNvPr>
          <p:cNvSpPr txBox="1"/>
          <p:nvPr/>
        </p:nvSpPr>
        <p:spPr>
          <a:xfrm>
            <a:off x="9423400" y="2336800"/>
            <a:ext cx="1397000" cy="276999"/>
          </a:xfrm>
          <a:prstGeom prst="rect">
            <a:avLst/>
          </a:prstGeom>
          <a:noFill/>
        </p:spPr>
        <p:txBody>
          <a:bodyPr vert="horz" wrap="square" lIns="0" tIns="0" rIns="0" bIns="0" rtlCol="0">
            <a:noAutofit/>
          </a:bodyPr>
          <a:lstStyle/>
          <a:p>
            <a:r>
              <a:rPr lang="en-US" altLang="zh-CN" sz="760" b="1">
                <a:solidFill>
                  <a:srgbClr val="003B7A"/>
                </a:solidFill>
                <a:latin typeface="Aptos" panose="020B0004020202020204" pitchFamily="34" charset="0"/>
              </a:rPr>
              <a:t>audit question</a:t>
            </a:r>
            <a:endParaRPr lang="zh-CN" altLang="en-US" sz="760" b="1">
              <a:solidFill>
                <a:srgbClr val="003B7A"/>
              </a:solidFill>
              <a:latin typeface="Aptos" panose="020B0004020202020204" pitchFamily="34" charset="0"/>
            </a:endParaRPr>
          </a:p>
        </p:txBody>
      </p:sp>
      <p:sp>
        <p:nvSpPr>
          <p:cNvPr id="36" name="audit-main">
            <a:extLst>
              <a:ext uri="{FF2B5EF4-FFF2-40B4-BE49-F238E27FC236}">
                <a16:creationId xmlns:a16="http://schemas.microsoft.com/office/drawing/2014/main" id="{213270AA-9E5D-3F73-29F2-7251A9132D44}"/>
              </a:ext>
            </a:extLst>
          </p:cNvPr>
          <p:cNvSpPr txBox="1"/>
          <p:nvPr/>
        </p:nvSpPr>
        <p:spPr>
          <a:xfrm>
            <a:off x="9423400" y="2794000"/>
            <a:ext cx="1473200" cy="276999"/>
          </a:xfrm>
          <a:prstGeom prst="rect">
            <a:avLst/>
          </a:prstGeom>
          <a:noFill/>
        </p:spPr>
        <p:txBody>
          <a:bodyPr vert="horz" wrap="square" lIns="0" tIns="0" rIns="0" bIns="0" rtlCol="0">
            <a:noAutofit/>
          </a:bodyPr>
          <a:lstStyle/>
          <a:p>
            <a:r>
              <a:rPr lang="en-US" altLang="zh-CN" sz="1900" b="1">
                <a:solidFill>
                  <a:srgbClr val="071A3D"/>
                </a:solidFill>
                <a:latin typeface="Aptos" panose="020B0004020202020204" pitchFamily="34" charset="0"/>
              </a:rPr>
              <a:t>What can still be claimed?</a:t>
            </a:r>
            <a:endParaRPr lang="zh-CN" altLang="en-US" sz="1900" b="1">
              <a:solidFill>
                <a:srgbClr val="071A3D"/>
              </a:solidFill>
              <a:latin typeface="Aptos" panose="020B0004020202020204" pitchFamily="34" charset="0"/>
            </a:endParaRPr>
          </a:p>
        </p:txBody>
      </p:sp>
      <p:sp>
        <p:nvSpPr>
          <p:cNvPr id="37" name="audit-dot-0">
            <a:extLst>
              <a:ext uri="{FF2B5EF4-FFF2-40B4-BE49-F238E27FC236}">
                <a16:creationId xmlns:a16="http://schemas.microsoft.com/office/drawing/2014/main" id="{89899B55-ED9E-F93D-4F8B-6F566572D5CD}"/>
              </a:ext>
            </a:extLst>
          </p:cNvPr>
          <p:cNvSpPr/>
          <p:nvPr/>
        </p:nvSpPr>
        <p:spPr>
          <a:xfrm>
            <a:off x="9423400" y="3886200"/>
            <a:ext cx="127000" cy="127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audit-q-0">
            <a:extLst>
              <a:ext uri="{FF2B5EF4-FFF2-40B4-BE49-F238E27FC236}">
                <a16:creationId xmlns:a16="http://schemas.microsoft.com/office/drawing/2014/main" id="{CA74A3F7-4AE6-4EDE-CEB3-8DA94BD775AA}"/>
              </a:ext>
            </a:extLst>
          </p:cNvPr>
          <p:cNvSpPr txBox="1"/>
          <p:nvPr/>
        </p:nvSpPr>
        <p:spPr>
          <a:xfrm>
            <a:off x="9702800" y="3873500"/>
            <a:ext cx="1320800" cy="276999"/>
          </a:xfrm>
          <a:prstGeom prst="rect">
            <a:avLst/>
          </a:prstGeom>
          <a:noFill/>
        </p:spPr>
        <p:txBody>
          <a:bodyPr vert="horz" wrap="square" lIns="0" tIns="0" rIns="0" bIns="0" rtlCol="0">
            <a:noAutofit/>
          </a:bodyPr>
          <a:lstStyle/>
          <a:p>
            <a:r>
              <a:rPr lang="en-US" altLang="zh-CN" sz="810" b="1">
                <a:solidFill>
                  <a:srgbClr val="071A3D"/>
                </a:solidFill>
                <a:latin typeface="Aptos" panose="020B0004020202020204" pitchFamily="34" charset="0"/>
              </a:rPr>
              <a:t>Which denominator?</a:t>
            </a:r>
            <a:endParaRPr lang="zh-CN" altLang="en-US" sz="810" b="1">
              <a:solidFill>
                <a:srgbClr val="071A3D"/>
              </a:solidFill>
              <a:latin typeface="Aptos" panose="020B0004020202020204" pitchFamily="34" charset="0"/>
            </a:endParaRPr>
          </a:p>
        </p:txBody>
      </p:sp>
      <p:sp>
        <p:nvSpPr>
          <p:cNvPr id="39" name="audit-dot-1">
            <a:extLst>
              <a:ext uri="{FF2B5EF4-FFF2-40B4-BE49-F238E27FC236}">
                <a16:creationId xmlns:a16="http://schemas.microsoft.com/office/drawing/2014/main" id="{A9A7E428-7557-74B5-14B6-9D053E000395}"/>
              </a:ext>
            </a:extLst>
          </p:cNvPr>
          <p:cNvSpPr/>
          <p:nvPr/>
        </p:nvSpPr>
        <p:spPr>
          <a:xfrm>
            <a:off x="9423400" y="4267200"/>
            <a:ext cx="127000" cy="1270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audit-q-1">
            <a:extLst>
              <a:ext uri="{FF2B5EF4-FFF2-40B4-BE49-F238E27FC236}">
                <a16:creationId xmlns:a16="http://schemas.microsoft.com/office/drawing/2014/main" id="{A09360A5-9B8B-5F87-BBCB-EF7B2796F6F7}"/>
              </a:ext>
            </a:extLst>
          </p:cNvPr>
          <p:cNvSpPr txBox="1"/>
          <p:nvPr/>
        </p:nvSpPr>
        <p:spPr>
          <a:xfrm>
            <a:off x="9702800" y="4254500"/>
            <a:ext cx="1320800" cy="276999"/>
          </a:xfrm>
          <a:prstGeom prst="rect">
            <a:avLst/>
          </a:prstGeom>
          <a:noFill/>
        </p:spPr>
        <p:txBody>
          <a:bodyPr vert="horz" wrap="square" lIns="0" tIns="0" rIns="0" bIns="0" rtlCol="0">
            <a:noAutofit/>
          </a:bodyPr>
          <a:lstStyle/>
          <a:p>
            <a:r>
              <a:rPr lang="en-US" altLang="zh-CN" sz="810" b="1">
                <a:solidFill>
                  <a:srgbClr val="071A3D"/>
                </a:solidFill>
                <a:latin typeface="Aptos" panose="020B0004020202020204" pitchFamily="34" charset="0"/>
              </a:rPr>
              <a:t>Which controls?</a:t>
            </a:r>
            <a:endParaRPr lang="zh-CN" altLang="en-US" sz="810" b="1">
              <a:solidFill>
                <a:srgbClr val="071A3D"/>
              </a:solidFill>
              <a:latin typeface="Aptos" panose="020B0004020202020204" pitchFamily="34" charset="0"/>
            </a:endParaRPr>
          </a:p>
        </p:txBody>
      </p:sp>
      <p:sp>
        <p:nvSpPr>
          <p:cNvPr id="41" name="audit-dot-2">
            <a:extLst>
              <a:ext uri="{FF2B5EF4-FFF2-40B4-BE49-F238E27FC236}">
                <a16:creationId xmlns:a16="http://schemas.microsoft.com/office/drawing/2014/main" id="{614D8D2D-04BE-541C-229A-292DFD1FAE3F}"/>
              </a:ext>
            </a:extLst>
          </p:cNvPr>
          <p:cNvSpPr/>
          <p:nvPr/>
        </p:nvSpPr>
        <p:spPr>
          <a:xfrm>
            <a:off x="9423400" y="4648200"/>
            <a:ext cx="127000" cy="1270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audit-q-2">
            <a:extLst>
              <a:ext uri="{FF2B5EF4-FFF2-40B4-BE49-F238E27FC236}">
                <a16:creationId xmlns:a16="http://schemas.microsoft.com/office/drawing/2014/main" id="{2F8FB912-5E2F-41C9-77F8-B6D0F31F1DC4}"/>
              </a:ext>
            </a:extLst>
          </p:cNvPr>
          <p:cNvSpPr txBox="1"/>
          <p:nvPr/>
        </p:nvSpPr>
        <p:spPr>
          <a:xfrm>
            <a:off x="9702800" y="4635500"/>
            <a:ext cx="1320800" cy="276999"/>
          </a:xfrm>
          <a:prstGeom prst="rect">
            <a:avLst/>
          </a:prstGeom>
          <a:noFill/>
        </p:spPr>
        <p:txBody>
          <a:bodyPr vert="horz" wrap="square" lIns="0" tIns="0" rIns="0" bIns="0" rtlCol="0">
            <a:noAutofit/>
          </a:bodyPr>
          <a:lstStyle/>
          <a:p>
            <a:r>
              <a:rPr lang="en-US" altLang="zh-CN" sz="810" b="1">
                <a:solidFill>
                  <a:srgbClr val="071A3D"/>
                </a:solidFill>
                <a:latin typeface="Aptos" panose="020B0004020202020204" pitchFamily="34" charset="0"/>
              </a:rPr>
              <a:t>Which boundary?</a:t>
            </a:r>
            <a:endParaRPr lang="zh-CN" altLang="en-US" sz="810" b="1">
              <a:solidFill>
                <a:srgbClr val="071A3D"/>
              </a:solidFill>
              <a:latin typeface="Aptos" panose="020B0004020202020204" pitchFamily="34" charset="0"/>
            </a:endParaRPr>
          </a:p>
        </p:txBody>
      </p:sp>
      <p:sp>
        <p:nvSpPr>
          <p:cNvPr id="43" name="question">
            <a:extLst>
              <a:ext uri="{FF2B5EF4-FFF2-40B4-BE49-F238E27FC236}">
                <a16:creationId xmlns:a16="http://schemas.microsoft.com/office/drawing/2014/main" id="{57C3D949-8E63-2643-4AE5-33B9D880125F}"/>
              </a:ext>
            </a:extLst>
          </p:cNvPr>
          <p:cNvSpPr/>
          <p:nvPr/>
        </p:nvSpPr>
        <p:spPr>
          <a:xfrm>
            <a:off x="1854200" y="5486400"/>
            <a:ext cx="8483600" cy="431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question-t">
            <a:extLst>
              <a:ext uri="{FF2B5EF4-FFF2-40B4-BE49-F238E27FC236}">
                <a16:creationId xmlns:a16="http://schemas.microsoft.com/office/drawing/2014/main" id="{9E838AF2-385A-773B-25A0-31DFF40868DE}"/>
              </a:ext>
            </a:extLst>
          </p:cNvPr>
          <p:cNvSpPr txBox="1"/>
          <p:nvPr/>
        </p:nvSpPr>
        <p:spPr>
          <a:xfrm>
            <a:off x="2235200" y="5613400"/>
            <a:ext cx="7721600" cy="276999"/>
          </a:xfrm>
          <a:prstGeom prst="rect">
            <a:avLst/>
          </a:prstGeom>
          <a:noFill/>
        </p:spPr>
        <p:txBody>
          <a:bodyPr vert="horz" wrap="square" lIns="0" tIns="0" rIns="0" bIns="0" rtlCol="0">
            <a:noAutofit/>
          </a:bodyPr>
          <a:lstStyle/>
          <a:p>
            <a:r>
              <a:rPr lang="en-US" altLang="zh-CN" sz="840" b="1">
                <a:solidFill>
                  <a:srgbClr val="071A3D"/>
                </a:solidFill>
                <a:latin typeface="Aptos" panose="020B0004020202020204" pitchFamily="34" charset="0"/>
              </a:rPr>
              <a:t>A watermark result becomes useful only after the surviving evidence is admitted.</a:t>
            </a:r>
            <a:endParaRPr lang="zh-CN" altLang="en-US" sz="840" b="1">
              <a:solidFill>
                <a:srgbClr val="071A3D"/>
              </a:solidFill>
              <a:latin typeface="Aptos" panose="020B0004020202020204" pitchFamily="34" charset="0"/>
            </a:endParaRPr>
          </a:p>
        </p:txBody>
      </p:sp>
      <p:sp>
        <p:nvSpPr>
          <p:cNvPr id="45" name="footer-hit-2">
            <a:hlinkClick r:id="rId4"/>
            <a:extLst>
              <a:ext uri="{FF2B5EF4-FFF2-40B4-BE49-F238E27FC236}">
                <a16:creationId xmlns:a16="http://schemas.microsoft.com/office/drawing/2014/main" id="{EB6B0F93-506E-1192-61B8-2E06A21F498B}"/>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044127481"/>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160"/>
                                        <p:tgtEl>
                                          <p:spTgt spid="40"/>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160"/>
                                        <p:tgtEl>
                                          <p:spTgt spid="41"/>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160"/>
                                        <p:tgtEl>
                                          <p:spTgt spid="42"/>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160"/>
                                        <p:tgtEl>
                                          <p:spTgt spid="43"/>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16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7" grpId="0"/>
      <p:bldP spid="19" grpId="0" animBg="1"/>
      <p:bldP spid="20" grpId="0" animBg="1"/>
      <p:bldP spid="21" grpId="0"/>
      <p:bldP spid="22" grpId="0"/>
      <p:bldP spid="24" grpId="0" animBg="1"/>
      <p:bldP spid="25" grpId="0" animBg="1"/>
      <p:bldP spid="26" grpId="0"/>
      <p:bldP spid="27" grpId="0"/>
      <p:bldP spid="29" grpId="0" animBg="1"/>
      <p:bldP spid="30" grpId="0" animBg="1"/>
      <p:bldP spid="31" grpId="0"/>
      <p:bldP spid="32" grpId="0"/>
      <p:bldP spid="34" grpId="0" animBg="1"/>
      <p:bldP spid="35" grpId="0"/>
      <p:bldP spid="36" grpId="0"/>
      <p:bldP spid="37" grpId="0" animBg="1"/>
      <p:bldP spid="38" grpId="0"/>
      <p:bldP spid="39" grpId="0" animBg="1"/>
      <p:bldP spid="40" grpId="0"/>
      <p:bldP spid="41" grpId="0" animBg="1"/>
      <p:bldP spid="42" grpId="0"/>
      <p:bldP spid="43" grpId="0" animBg="1"/>
      <p:bldP spid="4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A3215FE9-B684-9F61-F33D-59A8E01FF8A1}"/>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A398D05D-C4FD-9B26-7057-C2772BD0B134}"/>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95FB5DB6-7CC6-C48B-43F0-8FA780C21723}"/>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39817A40-0BB5-2308-51A2-47F6401B0D97}"/>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RESEARCH GAP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F55E825E-F85A-C258-9D39-EC391CEE1B43}"/>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03</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8BE14D1D-7DE6-EF2E-E984-750EB5A2EAC2}"/>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190E1694-6863-9E5F-E716-6D2C7722FD50}"/>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42026D2B-A074-5A55-8780-37CA5D9B426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BDAF6FBA-F733-7720-225A-DEB8E631A9A0}"/>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A score is not a claim until evidence is admitted.</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9BA5B941-5702-5AA8-7908-FCD8EA9A8923}"/>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WatermarkScope separates detector output from what the evaluator is allowed to conclude.</a:t>
            </a:r>
            <a:endParaRPr lang="zh-CN" altLang="en-US" sz="930">
              <a:solidFill>
                <a:srgbClr val="4A5B78"/>
              </a:solidFill>
              <a:latin typeface="Aptos" panose="020B0004020202020204" pitchFamily="34" charset="0"/>
            </a:endParaRPr>
          </a:p>
        </p:txBody>
      </p:sp>
      <p:sp>
        <p:nvSpPr>
          <p:cNvPr id="13" name="scorebox">
            <a:extLst>
              <a:ext uri="{FF2B5EF4-FFF2-40B4-BE49-F238E27FC236}">
                <a16:creationId xmlns:a16="http://schemas.microsoft.com/office/drawing/2014/main" id="{73B894B7-9C7A-200A-1A7E-D3CF5269E71A}"/>
              </a:ext>
            </a:extLst>
          </p:cNvPr>
          <p:cNvSpPr/>
          <p:nvPr/>
        </p:nvSpPr>
        <p:spPr>
          <a:xfrm>
            <a:off x="1041400" y="2159000"/>
            <a:ext cx="3276600" cy="1752600"/>
          </a:xfrm>
          <a:prstGeom prst="rect">
            <a:avLst/>
          </a:prstGeom>
          <a:solidFill>
            <a:srgbClr val="FFEFF2"/>
          </a:solidFill>
          <a:ln w="11430">
            <a:solidFill>
              <a:srgbClr val="EBA7B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score-k">
            <a:extLst>
              <a:ext uri="{FF2B5EF4-FFF2-40B4-BE49-F238E27FC236}">
                <a16:creationId xmlns:a16="http://schemas.microsoft.com/office/drawing/2014/main" id="{A0EEAAFE-C49F-B3E7-E767-27C385BA9F8E}"/>
              </a:ext>
            </a:extLst>
          </p:cNvPr>
          <p:cNvSpPr txBox="1"/>
          <p:nvPr/>
        </p:nvSpPr>
        <p:spPr>
          <a:xfrm>
            <a:off x="1422400" y="2463800"/>
            <a:ext cx="1397000" cy="276999"/>
          </a:xfrm>
          <a:prstGeom prst="rect">
            <a:avLst/>
          </a:prstGeom>
          <a:noFill/>
        </p:spPr>
        <p:txBody>
          <a:bodyPr vert="horz" wrap="square" lIns="0" tIns="0" rIns="0" bIns="0" rtlCol="0">
            <a:noAutofit/>
          </a:bodyPr>
          <a:lstStyle/>
          <a:p>
            <a:r>
              <a:rPr lang="en-US" altLang="zh-CN" sz="750" b="1">
                <a:solidFill>
                  <a:srgbClr val="B8293C"/>
                </a:solidFill>
                <a:latin typeface="Aptos" panose="020B0004020202020204" pitchFamily="34" charset="0"/>
              </a:rPr>
              <a:t>shortcut</a:t>
            </a:r>
            <a:endParaRPr lang="zh-CN" altLang="en-US" sz="750" b="1">
              <a:solidFill>
                <a:srgbClr val="B8293C"/>
              </a:solidFill>
              <a:latin typeface="Aptos" panose="020B0004020202020204" pitchFamily="34" charset="0"/>
            </a:endParaRPr>
          </a:p>
        </p:txBody>
      </p:sp>
      <p:sp>
        <p:nvSpPr>
          <p:cNvPr id="15" name="score-big">
            <a:extLst>
              <a:ext uri="{FF2B5EF4-FFF2-40B4-BE49-F238E27FC236}">
                <a16:creationId xmlns:a16="http://schemas.microsoft.com/office/drawing/2014/main" id="{2742FFCA-9544-7DBC-D726-88D97C3759DA}"/>
              </a:ext>
            </a:extLst>
          </p:cNvPr>
          <p:cNvSpPr txBox="1"/>
          <p:nvPr/>
        </p:nvSpPr>
        <p:spPr>
          <a:xfrm>
            <a:off x="1422400" y="2921000"/>
            <a:ext cx="2108200" cy="276999"/>
          </a:xfrm>
          <a:prstGeom prst="rect">
            <a:avLst/>
          </a:prstGeom>
          <a:noFill/>
        </p:spPr>
        <p:txBody>
          <a:bodyPr vert="horz" wrap="square" lIns="0" tIns="0" rIns="0" bIns="0" rtlCol="0">
            <a:noAutofit/>
          </a:bodyPr>
          <a:lstStyle/>
          <a:p>
            <a:r>
              <a:rPr lang="en-US" altLang="zh-CN" sz="2300" b="1">
                <a:solidFill>
                  <a:srgbClr val="B8293C"/>
                </a:solidFill>
                <a:latin typeface="Consolas" panose="020B0609020204030204" pitchFamily="49" charset="0"/>
              </a:rPr>
              <a:t>score = 0.93</a:t>
            </a:r>
            <a:endParaRPr lang="zh-CN" altLang="en-US" sz="2300" b="1">
              <a:solidFill>
                <a:srgbClr val="B8293C"/>
              </a:solidFill>
              <a:latin typeface="Consolas" panose="020B0609020204030204" pitchFamily="49" charset="0"/>
            </a:endParaRPr>
          </a:p>
        </p:txBody>
      </p:sp>
      <p:sp>
        <p:nvSpPr>
          <p:cNvPr id="16" name="score-small">
            <a:extLst>
              <a:ext uri="{FF2B5EF4-FFF2-40B4-BE49-F238E27FC236}">
                <a16:creationId xmlns:a16="http://schemas.microsoft.com/office/drawing/2014/main" id="{C9E82867-2CF5-AF4A-773E-DAC7477EC77E}"/>
              </a:ext>
            </a:extLst>
          </p:cNvPr>
          <p:cNvSpPr txBox="1"/>
          <p:nvPr/>
        </p:nvSpPr>
        <p:spPr>
          <a:xfrm>
            <a:off x="1422400" y="3505200"/>
            <a:ext cx="2387600" cy="276999"/>
          </a:xfrm>
          <a:prstGeom prst="rect">
            <a:avLst/>
          </a:prstGeom>
          <a:noFill/>
        </p:spPr>
        <p:txBody>
          <a:bodyPr vert="horz" wrap="square" lIns="0" tIns="0" rIns="0" bIns="0" rtlCol="0">
            <a:noAutofit/>
          </a:bodyPr>
          <a:lstStyle/>
          <a:p>
            <a:r>
              <a:rPr lang="en-US" altLang="zh-CN" sz="780">
                <a:solidFill>
                  <a:srgbClr val="4A5B78"/>
                </a:solidFill>
                <a:latin typeface="Aptos" panose="020B0004020202020204" pitchFamily="34" charset="0"/>
              </a:rPr>
              <a:t>unclear denominator, controls, or boundary</a:t>
            </a:r>
            <a:endParaRPr lang="zh-CN" altLang="en-US" sz="780">
              <a:solidFill>
                <a:srgbClr val="4A5B78"/>
              </a:solidFill>
              <a:latin typeface="Aptos" panose="020B0004020202020204" pitchFamily="34" charset="0"/>
            </a:endParaRPr>
          </a:p>
        </p:txBody>
      </p:sp>
      <p:cxnSp>
        <p:nvCxnSpPr>
          <p:cNvPr id="17" name="gap-arrow">
            <a:extLst>
              <a:ext uri="{FF2B5EF4-FFF2-40B4-BE49-F238E27FC236}">
                <a16:creationId xmlns:a16="http://schemas.microsoft.com/office/drawing/2014/main" id="{CD1587D1-B79E-C63A-2B85-CC08BC7A5385}"/>
              </a:ext>
            </a:extLst>
          </p:cNvPr>
          <p:cNvCxnSpPr/>
          <p:nvPr/>
        </p:nvCxnSpPr>
        <p:spPr>
          <a:xfrm>
            <a:off x="4851400" y="3048000"/>
            <a:ext cx="1397000" cy="0"/>
          </a:xfrm>
          <a:prstGeom prst="line">
            <a:avLst/>
          </a:prstGeom>
          <a:ln w="2540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18" name="claimbox">
            <a:extLst>
              <a:ext uri="{FF2B5EF4-FFF2-40B4-BE49-F238E27FC236}">
                <a16:creationId xmlns:a16="http://schemas.microsoft.com/office/drawing/2014/main" id="{73D141EF-299D-3606-93CF-23FEB601CDCE}"/>
              </a:ext>
            </a:extLst>
          </p:cNvPr>
          <p:cNvSpPr/>
          <p:nvPr/>
        </p:nvSpPr>
        <p:spPr>
          <a:xfrm>
            <a:off x="6756400" y="1841500"/>
            <a:ext cx="4419600" cy="2413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claim-k">
            <a:extLst>
              <a:ext uri="{FF2B5EF4-FFF2-40B4-BE49-F238E27FC236}">
                <a16:creationId xmlns:a16="http://schemas.microsoft.com/office/drawing/2014/main" id="{94EAFA8A-D615-CD9C-4733-84409705536D}"/>
              </a:ext>
            </a:extLst>
          </p:cNvPr>
          <p:cNvSpPr txBox="1"/>
          <p:nvPr/>
        </p:nvSpPr>
        <p:spPr>
          <a:xfrm>
            <a:off x="7137400" y="2184400"/>
            <a:ext cx="2032000" cy="276999"/>
          </a:xfrm>
          <a:prstGeom prst="rect">
            <a:avLst/>
          </a:prstGeom>
          <a:noFill/>
        </p:spPr>
        <p:txBody>
          <a:bodyPr vert="horz" wrap="square" lIns="0" tIns="0" rIns="0" bIns="0" rtlCol="0">
            <a:noAutofit/>
          </a:bodyPr>
          <a:lstStyle/>
          <a:p>
            <a:r>
              <a:rPr lang="en-US" altLang="zh-CN" sz="760" b="1">
                <a:solidFill>
                  <a:srgbClr val="CBE1FA"/>
                </a:solidFill>
                <a:latin typeface="Aptos" panose="020B0004020202020204" pitchFamily="34" charset="0"/>
              </a:rPr>
              <a:t>evidence contract</a:t>
            </a:r>
            <a:endParaRPr lang="zh-CN" altLang="en-US" sz="760" b="1">
              <a:solidFill>
                <a:srgbClr val="CBE1FA"/>
              </a:solidFill>
              <a:latin typeface="Aptos" panose="020B0004020202020204" pitchFamily="34" charset="0"/>
            </a:endParaRPr>
          </a:p>
        </p:txBody>
      </p:sp>
      <p:sp>
        <p:nvSpPr>
          <p:cNvPr id="20" name="claim-f">
            <a:extLst>
              <a:ext uri="{FF2B5EF4-FFF2-40B4-BE49-F238E27FC236}">
                <a16:creationId xmlns:a16="http://schemas.microsoft.com/office/drawing/2014/main" id="{AD385C0B-48C6-7CB0-7222-DC76779F63BF}"/>
              </a:ext>
            </a:extLst>
          </p:cNvPr>
          <p:cNvSpPr txBox="1"/>
          <p:nvPr/>
        </p:nvSpPr>
        <p:spPr>
          <a:xfrm>
            <a:off x="7137400" y="2717800"/>
            <a:ext cx="3505200" cy="276999"/>
          </a:xfrm>
          <a:prstGeom prst="rect">
            <a:avLst/>
          </a:prstGeom>
          <a:noFill/>
        </p:spPr>
        <p:txBody>
          <a:bodyPr vert="horz" wrap="square" lIns="0" tIns="0" rIns="0" bIns="0" rtlCol="0">
            <a:noAutofit/>
          </a:bodyPr>
          <a:lstStyle/>
          <a:p>
            <a:r>
              <a:rPr lang="pt-BR" altLang="zh-CN" sz="2200" b="1">
                <a:solidFill>
                  <a:srgbClr val="FFFFFF"/>
                </a:solidFill>
                <a:latin typeface="Consolas" panose="020B0609020204030204" pitchFamily="49" charset="0"/>
              </a:rPr>
              <a:t>claim := f(E, C, A, B)</a:t>
            </a:r>
            <a:endParaRPr lang="zh-CN" altLang="en-US" sz="2200" b="1">
              <a:solidFill>
                <a:srgbClr val="FFFFFF"/>
              </a:solidFill>
              <a:latin typeface="Consolas" panose="020B0609020204030204" pitchFamily="49" charset="0"/>
            </a:endParaRPr>
          </a:p>
        </p:txBody>
      </p:sp>
      <p:sp>
        <p:nvSpPr>
          <p:cNvPr id="21" name="claim-e">
            <a:extLst>
              <a:ext uri="{FF2B5EF4-FFF2-40B4-BE49-F238E27FC236}">
                <a16:creationId xmlns:a16="http://schemas.microsoft.com/office/drawing/2014/main" id="{40E38F63-E1CD-6F79-200A-4176360EC4AC}"/>
              </a:ext>
            </a:extLst>
          </p:cNvPr>
          <p:cNvSpPr txBox="1"/>
          <p:nvPr/>
        </p:nvSpPr>
        <p:spPr>
          <a:xfrm>
            <a:off x="7137400" y="3530600"/>
            <a:ext cx="3200400" cy="276999"/>
          </a:xfrm>
          <a:prstGeom prst="rect">
            <a:avLst/>
          </a:prstGeom>
          <a:noFill/>
        </p:spPr>
        <p:txBody>
          <a:bodyPr vert="horz" wrap="square" lIns="0" tIns="0" rIns="0" bIns="0" rtlCol="0">
            <a:noAutofit/>
          </a:bodyPr>
          <a:lstStyle/>
          <a:p>
            <a:r>
              <a:rPr lang="en-US" altLang="zh-CN" sz="920">
                <a:solidFill>
                  <a:srgbClr val="DBE9FA"/>
                </a:solidFill>
                <a:latin typeface="Aptos" panose="020B0004020202020204" pitchFamily="34" charset="0"/>
              </a:rPr>
              <a:t>E evidence object
C controls | A access model | B boundary</a:t>
            </a:r>
            <a:endParaRPr lang="zh-CN" altLang="en-US" sz="920">
              <a:solidFill>
                <a:srgbClr val="DBE9FA"/>
              </a:solidFill>
              <a:latin typeface="Aptos" panose="020B0004020202020204" pitchFamily="34" charset="0"/>
            </a:endParaRPr>
          </a:p>
        </p:txBody>
      </p:sp>
      <p:sp>
        <p:nvSpPr>
          <p:cNvPr id="22" name="tag-0">
            <a:extLst>
              <a:ext uri="{FF2B5EF4-FFF2-40B4-BE49-F238E27FC236}">
                <a16:creationId xmlns:a16="http://schemas.microsoft.com/office/drawing/2014/main" id="{EB65FA82-E210-0073-0442-CF0266C5D7C6}"/>
              </a:ext>
            </a:extLst>
          </p:cNvPr>
          <p:cNvSpPr/>
          <p:nvPr/>
        </p:nvSpPr>
        <p:spPr>
          <a:xfrm>
            <a:off x="19558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fixed denominator</a:t>
            </a:r>
            <a:endParaRPr lang="zh-CN" altLang="en-US" sz="750" b="1">
              <a:solidFill>
                <a:srgbClr val="003B7A"/>
              </a:solidFill>
              <a:latin typeface="Aptos" panose="020B0004020202020204" pitchFamily="34" charset="0"/>
            </a:endParaRPr>
          </a:p>
        </p:txBody>
      </p:sp>
      <p:sp>
        <p:nvSpPr>
          <p:cNvPr id="23" name="tag-1">
            <a:extLst>
              <a:ext uri="{FF2B5EF4-FFF2-40B4-BE49-F238E27FC236}">
                <a16:creationId xmlns:a16="http://schemas.microsoft.com/office/drawing/2014/main" id="{E8B2120C-E8FD-B425-2523-4B959EDA6FCF}"/>
              </a:ext>
            </a:extLst>
          </p:cNvPr>
          <p:cNvSpPr/>
          <p:nvPr/>
        </p:nvSpPr>
        <p:spPr>
          <a:xfrm>
            <a:off x="40640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control rows</a:t>
            </a:r>
            <a:endParaRPr lang="zh-CN" altLang="en-US" sz="750" b="1">
              <a:solidFill>
                <a:srgbClr val="003B7A"/>
              </a:solidFill>
              <a:latin typeface="Aptos" panose="020B0004020202020204" pitchFamily="34" charset="0"/>
            </a:endParaRPr>
          </a:p>
        </p:txBody>
      </p:sp>
      <p:sp>
        <p:nvSpPr>
          <p:cNvPr id="24" name="tag-2">
            <a:extLst>
              <a:ext uri="{FF2B5EF4-FFF2-40B4-BE49-F238E27FC236}">
                <a16:creationId xmlns:a16="http://schemas.microsoft.com/office/drawing/2014/main" id="{708E7423-96D1-A6A1-5B37-E2099EB06672}"/>
              </a:ext>
            </a:extLst>
          </p:cNvPr>
          <p:cNvSpPr/>
          <p:nvPr/>
        </p:nvSpPr>
        <p:spPr>
          <a:xfrm>
            <a:off x="61722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artifact hash</a:t>
            </a:r>
            <a:endParaRPr lang="zh-CN" altLang="en-US" sz="750" b="1">
              <a:solidFill>
                <a:srgbClr val="003B7A"/>
              </a:solidFill>
              <a:latin typeface="Aptos" panose="020B0004020202020204" pitchFamily="34" charset="0"/>
            </a:endParaRPr>
          </a:p>
        </p:txBody>
      </p:sp>
      <p:sp>
        <p:nvSpPr>
          <p:cNvPr id="25" name="tag-3">
            <a:extLst>
              <a:ext uri="{FF2B5EF4-FFF2-40B4-BE49-F238E27FC236}">
                <a16:creationId xmlns:a16="http://schemas.microsoft.com/office/drawing/2014/main" id="{9E30891A-8691-1F82-3EB5-3F6C052DD369}"/>
              </a:ext>
            </a:extLst>
          </p:cNvPr>
          <p:cNvSpPr/>
          <p:nvPr/>
        </p:nvSpPr>
        <p:spPr>
          <a:xfrm>
            <a:off x="82804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access boundary</a:t>
            </a:r>
            <a:endParaRPr lang="zh-CN" altLang="en-US" sz="750" b="1">
              <a:solidFill>
                <a:srgbClr val="003B7A"/>
              </a:solidFill>
              <a:latin typeface="Aptos" panose="020B0004020202020204" pitchFamily="34" charset="0"/>
            </a:endParaRPr>
          </a:p>
        </p:txBody>
      </p:sp>
      <p:sp>
        <p:nvSpPr>
          <p:cNvPr id="26" name="footer-hit-3">
            <a:hlinkClick r:id="rId4"/>
            <a:extLst>
              <a:ext uri="{FF2B5EF4-FFF2-40B4-BE49-F238E27FC236}">
                <a16:creationId xmlns:a16="http://schemas.microsoft.com/office/drawing/2014/main" id="{2A0434C0-F6AB-5339-A794-371A40858E3B}"/>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610814274"/>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A9BA2569-980C-BD3F-620F-77AA7D907545}"/>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96C059D7-B15F-7093-D83D-C195EDB407EC}"/>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18FD5474-F0D6-E562-76D6-26948D072EF8}"/>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65616246-B8BC-B3A9-D7BC-59D44B72A9EA}"/>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BENCHMARK FOUNDATION</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847526CF-7382-B396-D1C5-FDC2AF305817}"/>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04</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4C223BB1-CBC4-A7F3-BA3B-882282BC79F2}"/>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C6B57064-65C6-8A33-A173-4F16E6C82D75}"/>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C4422421-FD04-EAB9-1980-061218D7F7D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6DB03EFF-91BA-0449-ADC3-6C347AA4299B}"/>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denominator is fixed before interpretation.</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845D1ECF-F0BC-28C1-D5B5-6FEA9E5BEDF6}"/>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CodeMarkBench is the executable base layer: each run has a task, a transformation, a control, and an artifact identity.</a:t>
            </a:r>
            <a:endParaRPr lang="zh-CN" altLang="en-US" sz="930">
              <a:solidFill>
                <a:srgbClr val="4A5B78"/>
              </a:solidFill>
              <a:latin typeface="Aptos" panose="020B0004020202020204" pitchFamily="34" charset="0"/>
            </a:endParaRPr>
          </a:p>
        </p:txBody>
      </p:sp>
      <p:sp>
        <p:nvSpPr>
          <p:cNvPr id="13" name="big">
            <a:extLst>
              <a:ext uri="{FF2B5EF4-FFF2-40B4-BE49-F238E27FC236}">
                <a16:creationId xmlns:a16="http://schemas.microsoft.com/office/drawing/2014/main" id="{E0C35470-48E9-CC1C-7952-77577DFBE481}"/>
              </a:ext>
            </a:extLst>
          </p:cNvPr>
          <p:cNvSpPr txBox="1"/>
          <p:nvPr/>
        </p:nvSpPr>
        <p:spPr>
          <a:xfrm>
            <a:off x="914400" y="1955800"/>
            <a:ext cx="2006600" cy="276999"/>
          </a:xfrm>
          <a:prstGeom prst="rect">
            <a:avLst/>
          </a:prstGeom>
          <a:noFill/>
        </p:spPr>
        <p:txBody>
          <a:bodyPr vert="horz" wrap="square" lIns="0" tIns="0" rIns="0" bIns="0" rtlCol="0">
            <a:noAutofit/>
          </a:bodyPr>
          <a:lstStyle/>
          <a:p>
            <a:r>
              <a:rPr lang="en-US" altLang="zh-CN" sz="3400" b="1">
                <a:solidFill>
                  <a:srgbClr val="003B7A"/>
                </a:solidFill>
                <a:latin typeface="Aptos" panose="020B0004020202020204" pitchFamily="34" charset="0"/>
              </a:rPr>
              <a:t>140/140</a:t>
            </a:r>
            <a:endParaRPr lang="zh-CN" altLang="en-US" sz="3400" b="1">
              <a:solidFill>
                <a:srgbClr val="003B7A"/>
              </a:solidFill>
              <a:latin typeface="Aptos" panose="020B0004020202020204" pitchFamily="34" charset="0"/>
            </a:endParaRPr>
          </a:p>
        </p:txBody>
      </p:sp>
      <p:sp>
        <p:nvSpPr>
          <p:cNvPr id="14" name="big-sub">
            <a:extLst>
              <a:ext uri="{FF2B5EF4-FFF2-40B4-BE49-F238E27FC236}">
                <a16:creationId xmlns:a16="http://schemas.microsoft.com/office/drawing/2014/main" id="{0324E1A2-1141-9A46-0CB4-9D75F77B9336}"/>
              </a:ext>
            </a:extLst>
          </p:cNvPr>
          <p:cNvSpPr txBox="1"/>
          <p:nvPr/>
        </p:nvSpPr>
        <p:spPr>
          <a:xfrm>
            <a:off x="965200" y="2768600"/>
            <a:ext cx="1955800" cy="276999"/>
          </a:xfrm>
          <a:prstGeom prst="rect">
            <a:avLst/>
          </a:prstGeom>
          <a:noFill/>
        </p:spPr>
        <p:txBody>
          <a:bodyPr vert="horz" wrap="square" lIns="0" tIns="0" rIns="0" bIns="0" rtlCol="0">
            <a:noAutofit/>
          </a:bodyPr>
          <a:lstStyle/>
          <a:p>
            <a:r>
              <a:rPr lang="en-US" altLang="zh-CN" sz="850">
                <a:solidFill>
                  <a:srgbClr val="4A5B78"/>
                </a:solidFill>
                <a:latin typeface="Aptos" panose="020B0004020202020204" pitchFamily="34" charset="0"/>
              </a:rPr>
              <a:t>canonical benchmark runs in the submitted FYP snapshot</a:t>
            </a:r>
            <a:endParaRPr lang="zh-CN" altLang="en-US" sz="850">
              <a:solidFill>
                <a:srgbClr val="4A5B78"/>
              </a:solidFill>
              <a:latin typeface="Aptos" panose="020B0004020202020204" pitchFamily="34" charset="0"/>
            </a:endParaRPr>
          </a:p>
        </p:txBody>
      </p:sp>
      <p:sp>
        <p:nvSpPr>
          <p:cNvPr id="15" name="h-0">
            <a:extLst>
              <a:ext uri="{FF2B5EF4-FFF2-40B4-BE49-F238E27FC236}">
                <a16:creationId xmlns:a16="http://schemas.microsoft.com/office/drawing/2014/main" id="{C262EEDB-4F3D-C2F6-7A17-ADA635C54348}"/>
              </a:ext>
            </a:extLst>
          </p:cNvPr>
          <p:cNvSpPr/>
          <p:nvPr/>
        </p:nvSpPr>
        <p:spPr>
          <a:xfrm>
            <a:off x="33528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language</a:t>
            </a:r>
            <a:endParaRPr lang="zh-CN" altLang="en-US" sz="830" b="1">
              <a:solidFill>
                <a:srgbClr val="003B7A"/>
              </a:solidFill>
              <a:latin typeface="Aptos" panose="020B0004020202020204" pitchFamily="34" charset="0"/>
            </a:endParaRPr>
          </a:p>
        </p:txBody>
      </p:sp>
      <p:sp>
        <p:nvSpPr>
          <p:cNvPr id="16" name="v-0">
            <a:extLst>
              <a:ext uri="{FF2B5EF4-FFF2-40B4-BE49-F238E27FC236}">
                <a16:creationId xmlns:a16="http://schemas.microsoft.com/office/drawing/2014/main" id="{1BB3A8C6-2E7C-9204-2038-5D94F8A7B1C2}"/>
              </a:ext>
            </a:extLst>
          </p:cNvPr>
          <p:cNvSpPr/>
          <p:nvPr/>
        </p:nvSpPr>
        <p:spPr>
          <a:xfrm>
            <a:off x="33528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Python</a:t>
            </a:r>
            <a:endParaRPr lang="zh-CN" altLang="en-US" sz="940">
              <a:solidFill>
                <a:srgbClr val="071A3D"/>
              </a:solidFill>
              <a:latin typeface="Aptos" panose="020B0004020202020204" pitchFamily="34" charset="0"/>
            </a:endParaRPr>
          </a:p>
        </p:txBody>
      </p:sp>
      <p:sp>
        <p:nvSpPr>
          <p:cNvPr id="17" name="h-1">
            <a:extLst>
              <a:ext uri="{FF2B5EF4-FFF2-40B4-BE49-F238E27FC236}">
                <a16:creationId xmlns:a16="http://schemas.microsoft.com/office/drawing/2014/main" id="{610C2A68-5380-685E-36FD-735A74A31FFF}"/>
              </a:ext>
            </a:extLst>
          </p:cNvPr>
          <p:cNvSpPr/>
          <p:nvPr/>
        </p:nvSpPr>
        <p:spPr>
          <a:xfrm>
            <a:off x="46482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task</a:t>
            </a:r>
            <a:endParaRPr lang="zh-CN" altLang="en-US" sz="830" b="1">
              <a:solidFill>
                <a:srgbClr val="003B7A"/>
              </a:solidFill>
              <a:latin typeface="Aptos" panose="020B0004020202020204" pitchFamily="34" charset="0"/>
            </a:endParaRPr>
          </a:p>
        </p:txBody>
      </p:sp>
      <p:sp>
        <p:nvSpPr>
          <p:cNvPr id="18" name="v-1">
            <a:extLst>
              <a:ext uri="{FF2B5EF4-FFF2-40B4-BE49-F238E27FC236}">
                <a16:creationId xmlns:a16="http://schemas.microsoft.com/office/drawing/2014/main" id="{FF8B1332-C51B-CD67-1B48-6D4B6F2B984F}"/>
              </a:ext>
            </a:extLst>
          </p:cNvPr>
          <p:cNvSpPr/>
          <p:nvPr/>
        </p:nvSpPr>
        <p:spPr>
          <a:xfrm>
            <a:off x="46482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string normalization</a:t>
            </a:r>
            <a:endParaRPr lang="zh-CN" altLang="en-US" sz="940">
              <a:solidFill>
                <a:srgbClr val="071A3D"/>
              </a:solidFill>
              <a:latin typeface="Aptos" panose="020B0004020202020204" pitchFamily="34" charset="0"/>
            </a:endParaRPr>
          </a:p>
        </p:txBody>
      </p:sp>
      <p:sp>
        <p:nvSpPr>
          <p:cNvPr id="19" name="h-2">
            <a:extLst>
              <a:ext uri="{FF2B5EF4-FFF2-40B4-BE49-F238E27FC236}">
                <a16:creationId xmlns:a16="http://schemas.microsoft.com/office/drawing/2014/main" id="{07AEABBB-E151-AFED-4B3E-F05033267C9D}"/>
              </a:ext>
            </a:extLst>
          </p:cNvPr>
          <p:cNvSpPr/>
          <p:nvPr/>
        </p:nvSpPr>
        <p:spPr>
          <a:xfrm>
            <a:off x="59436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transform</a:t>
            </a:r>
            <a:endParaRPr lang="zh-CN" altLang="en-US" sz="830" b="1">
              <a:solidFill>
                <a:srgbClr val="003B7A"/>
              </a:solidFill>
              <a:latin typeface="Aptos" panose="020B0004020202020204" pitchFamily="34" charset="0"/>
            </a:endParaRPr>
          </a:p>
        </p:txBody>
      </p:sp>
      <p:sp>
        <p:nvSpPr>
          <p:cNvPr id="20" name="v-2">
            <a:extLst>
              <a:ext uri="{FF2B5EF4-FFF2-40B4-BE49-F238E27FC236}">
                <a16:creationId xmlns:a16="http://schemas.microsoft.com/office/drawing/2014/main" id="{6C15BE71-10E8-19BC-786C-24CCE7843CD8}"/>
              </a:ext>
            </a:extLst>
          </p:cNvPr>
          <p:cNvSpPr/>
          <p:nvPr/>
        </p:nvSpPr>
        <p:spPr>
          <a:xfrm>
            <a:off x="59436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semantic rewrite</a:t>
            </a:r>
            <a:endParaRPr lang="zh-CN" altLang="en-US" sz="940">
              <a:solidFill>
                <a:srgbClr val="071A3D"/>
              </a:solidFill>
              <a:latin typeface="Aptos" panose="020B0004020202020204" pitchFamily="34" charset="0"/>
            </a:endParaRPr>
          </a:p>
        </p:txBody>
      </p:sp>
      <p:sp>
        <p:nvSpPr>
          <p:cNvPr id="21" name="h-3">
            <a:extLst>
              <a:ext uri="{FF2B5EF4-FFF2-40B4-BE49-F238E27FC236}">
                <a16:creationId xmlns:a16="http://schemas.microsoft.com/office/drawing/2014/main" id="{FA5360DF-702C-EEB5-A786-D7B69D410291}"/>
              </a:ext>
            </a:extLst>
          </p:cNvPr>
          <p:cNvSpPr/>
          <p:nvPr/>
        </p:nvSpPr>
        <p:spPr>
          <a:xfrm>
            <a:off x="72390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oracle</a:t>
            </a:r>
            <a:endParaRPr lang="zh-CN" altLang="en-US" sz="830" b="1">
              <a:solidFill>
                <a:srgbClr val="003B7A"/>
              </a:solidFill>
              <a:latin typeface="Aptos" panose="020B0004020202020204" pitchFamily="34" charset="0"/>
            </a:endParaRPr>
          </a:p>
        </p:txBody>
      </p:sp>
      <p:sp>
        <p:nvSpPr>
          <p:cNvPr id="22" name="v-3">
            <a:extLst>
              <a:ext uri="{FF2B5EF4-FFF2-40B4-BE49-F238E27FC236}">
                <a16:creationId xmlns:a16="http://schemas.microsoft.com/office/drawing/2014/main" id="{0F36F2BC-F4AA-6E9F-20CA-6CDFC9E937BF}"/>
              </a:ext>
            </a:extLst>
          </p:cNvPr>
          <p:cNvSpPr/>
          <p:nvPr/>
        </p:nvSpPr>
        <p:spPr>
          <a:xfrm>
            <a:off x="72390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executable pass/fail</a:t>
            </a:r>
            <a:endParaRPr lang="zh-CN" altLang="en-US" sz="940">
              <a:solidFill>
                <a:srgbClr val="071A3D"/>
              </a:solidFill>
              <a:latin typeface="Aptos" panose="020B0004020202020204" pitchFamily="34" charset="0"/>
            </a:endParaRPr>
          </a:p>
        </p:txBody>
      </p:sp>
      <p:sp>
        <p:nvSpPr>
          <p:cNvPr id="23" name="h-4">
            <a:extLst>
              <a:ext uri="{FF2B5EF4-FFF2-40B4-BE49-F238E27FC236}">
                <a16:creationId xmlns:a16="http://schemas.microsoft.com/office/drawing/2014/main" id="{8553892A-5DF5-7407-2CF2-C019CFEDF711}"/>
              </a:ext>
            </a:extLst>
          </p:cNvPr>
          <p:cNvSpPr/>
          <p:nvPr/>
        </p:nvSpPr>
        <p:spPr>
          <a:xfrm>
            <a:off x="85344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control</a:t>
            </a:r>
            <a:endParaRPr lang="zh-CN" altLang="en-US" sz="830" b="1">
              <a:solidFill>
                <a:srgbClr val="003B7A"/>
              </a:solidFill>
              <a:latin typeface="Aptos" panose="020B0004020202020204" pitchFamily="34" charset="0"/>
            </a:endParaRPr>
          </a:p>
        </p:txBody>
      </p:sp>
      <p:sp>
        <p:nvSpPr>
          <p:cNvPr id="24" name="v-4">
            <a:extLst>
              <a:ext uri="{FF2B5EF4-FFF2-40B4-BE49-F238E27FC236}">
                <a16:creationId xmlns:a16="http://schemas.microsoft.com/office/drawing/2014/main" id="{BCE85639-896E-C5EE-33FD-DDC697C1E10E}"/>
              </a:ext>
            </a:extLst>
          </p:cNvPr>
          <p:cNvSpPr/>
          <p:nvPr/>
        </p:nvSpPr>
        <p:spPr>
          <a:xfrm>
            <a:off x="85344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negative row</a:t>
            </a:r>
            <a:endParaRPr lang="zh-CN" altLang="en-US" sz="940">
              <a:solidFill>
                <a:srgbClr val="071A3D"/>
              </a:solidFill>
              <a:latin typeface="Aptos" panose="020B0004020202020204" pitchFamily="34" charset="0"/>
            </a:endParaRPr>
          </a:p>
        </p:txBody>
      </p:sp>
      <p:sp>
        <p:nvSpPr>
          <p:cNvPr id="25" name="h-5">
            <a:extLst>
              <a:ext uri="{FF2B5EF4-FFF2-40B4-BE49-F238E27FC236}">
                <a16:creationId xmlns:a16="http://schemas.microsoft.com/office/drawing/2014/main" id="{261C91F2-3918-6F21-AB6B-E596619D6266}"/>
              </a:ext>
            </a:extLst>
          </p:cNvPr>
          <p:cNvSpPr/>
          <p:nvPr/>
        </p:nvSpPr>
        <p:spPr>
          <a:xfrm>
            <a:off x="98298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artifact</a:t>
            </a:r>
            <a:endParaRPr lang="zh-CN" altLang="en-US" sz="830" b="1">
              <a:solidFill>
                <a:srgbClr val="003B7A"/>
              </a:solidFill>
              <a:latin typeface="Aptos" panose="020B0004020202020204" pitchFamily="34" charset="0"/>
            </a:endParaRPr>
          </a:p>
        </p:txBody>
      </p:sp>
      <p:sp>
        <p:nvSpPr>
          <p:cNvPr id="26" name="v-5">
            <a:extLst>
              <a:ext uri="{FF2B5EF4-FFF2-40B4-BE49-F238E27FC236}">
                <a16:creationId xmlns:a16="http://schemas.microsoft.com/office/drawing/2014/main" id="{F1283028-24EF-E2A9-453A-3F355B9A969F}"/>
              </a:ext>
            </a:extLst>
          </p:cNvPr>
          <p:cNvSpPr/>
          <p:nvPr/>
        </p:nvSpPr>
        <p:spPr>
          <a:xfrm>
            <a:off x="98298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hash-bound JSON</a:t>
            </a:r>
            <a:endParaRPr lang="zh-CN" altLang="en-US" sz="940">
              <a:solidFill>
                <a:srgbClr val="071A3D"/>
              </a:solidFill>
              <a:latin typeface="Aptos" panose="020B0004020202020204" pitchFamily="34" charset="0"/>
            </a:endParaRPr>
          </a:p>
        </p:txBody>
      </p:sp>
      <p:sp>
        <p:nvSpPr>
          <p:cNvPr id="27" name="path">
            <a:extLst>
              <a:ext uri="{FF2B5EF4-FFF2-40B4-BE49-F238E27FC236}">
                <a16:creationId xmlns:a16="http://schemas.microsoft.com/office/drawing/2014/main" id="{DFB65F1A-0F1B-60B1-4408-CCFFA6172EC4}"/>
              </a:ext>
            </a:extLst>
          </p:cNvPr>
          <p:cNvSpPr/>
          <p:nvPr/>
        </p:nvSpPr>
        <p:spPr>
          <a:xfrm>
            <a:off x="3352800" y="3581400"/>
            <a:ext cx="7772400" cy="1092200"/>
          </a:xfrm>
          <a:prstGeom prst="rect">
            <a:avLst/>
          </a:prstGeom>
          <a:solidFill>
            <a:srgbClr val="F8FB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path-title">
            <a:extLst>
              <a:ext uri="{FF2B5EF4-FFF2-40B4-BE49-F238E27FC236}">
                <a16:creationId xmlns:a16="http://schemas.microsoft.com/office/drawing/2014/main" id="{F79149BD-AF3E-DBDA-6936-B4D04435B714}"/>
              </a:ext>
            </a:extLst>
          </p:cNvPr>
          <p:cNvSpPr txBox="1"/>
          <p:nvPr/>
        </p:nvSpPr>
        <p:spPr>
          <a:xfrm>
            <a:off x="3708400" y="3886200"/>
            <a:ext cx="1498600" cy="276999"/>
          </a:xfrm>
          <a:prstGeom prst="rect">
            <a:avLst/>
          </a:prstGeom>
          <a:noFill/>
        </p:spPr>
        <p:txBody>
          <a:bodyPr vert="horz" wrap="square" lIns="0" tIns="0" rIns="0" bIns="0" rtlCol="0">
            <a:noAutofit/>
          </a:bodyPr>
          <a:lstStyle/>
          <a:p>
            <a:r>
              <a:rPr lang="en-US" altLang="zh-CN" sz="760" b="1">
                <a:solidFill>
                  <a:srgbClr val="4A5B78"/>
                </a:solidFill>
                <a:latin typeface="Aptos" panose="020B0004020202020204" pitchFamily="34" charset="0"/>
              </a:rPr>
              <a:t>admission path</a:t>
            </a:r>
            <a:endParaRPr lang="zh-CN" altLang="en-US" sz="760" b="1">
              <a:solidFill>
                <a:srgbClr val="4A5B78"/>
              </a:solidFill>
              <a:latin typeface="Aptos" panose="020B0004020202020204" pitchFamily="34" charset="0"/>
            </a:endParaRPr>
          </a:p>
        </p:txBody>
      </p:sp>
      <p:sp>
        <p:nvSpPr>
          <p:cNvPr id="29" name="path-text">
            <a:extLst>
              <a:ext uri="{FF2B5EF4-FFF2-40B4-BE49-F238E27FC236}">
                <a16:creationId xmlns:a16="http://schemas.microsoft.com/office/drawing/2014/main" id="{6D79960A-C47B-F4CE-7D7E-3AE96EF0AF9B}"/>
              </a:ext>
            </a:extLst>
          </p:cNvPr>
          <p:cNvSpPr txBox="1"/>
          <p:nvPr/>
        </p:nvSpPr>
        <p:spPr>
          <a:xfrm>
            <a:off x="3708400" y="4241800"/>
            <a:ext cx="6807200" cy="276999"/>
          </a:xfrm>
          <a:prstGeom prst="rect">
            <a:avLst/>
          </a:prstGeom>
          <a:noFill/>
        </p:spPr>
        <p:txBody>
          <a:bodyPr vert="horz" wrap="square" lIns="0" tIns="0" rIns="0" bIns="0" rtlCol="0">
            <a:noAutofit/>
          </a:bodyPr>
          <a:lstStyle/>
          <a:p>
            <a:r>
              <a:rPr lang="en-US" altLang="zh-CN" sz="1180" b="1">
                <a:solidFill>
                  <a:srgbClr val="071A3D"/>
                </a:solidFill>
                <a:latin typeface="Aptos" panose="020B0004020202020204" pitchFamily="34" charset="0"/>
              </a:rPr>
              <a:t>benchmark row -&gt; executable result -&gt; control status -&gt; preserved artifact -&gt; bounded claim</a:t>
            </a:r>
            <a:endParaRPr lang="zh-CN" altLang="en-US" sz="1180" b="1">
              <a:solidFill>
                <a:srgbClr val="071A3D"/>
              </a:solidFill>
              <a:latin typeface="Aptos" panose="020B0004020202020204" pitchFamily="34" charset="0"/>
            </a:endParaRPr>
          </a:p>
        </p:txBody>
      </p:sp>
      <p:sp>
        <p:nvSpPr>
          <p:cNvPr id="30" name="why">
            <a:extLst>
              <a:ext uri="{FF2B5EF4-FFF2-40B4-BE49-F238E27FC236}">
                <a16:creationId xmlns:a16="http://schemas.microsoft.com/office/drawing/2014/main" id="{97611743-836E-7C3E-5BA3-3DE957C34D3A}"/>
              </a:ext>
            </a:extLst>
          </p:cNvPr>
          <p:cNvSpPr/>
          <p:nvPr/>
        </p:nvSpPr>
        <p:spPr>
          <a:xfrm>
            <a:off x="1549400" y="5384800"/>
            <a:ext cx="9093200" cy="4572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why-t">
            <a:extLst>
              <a:ext uri="{FF2B5EF4-FFF2-40B4-BE49-F238E27FC236}">
                <a16:creationId xmlns:a16="http://schemas.microsoft.com/office/drawing/2014/main" id="{658C0AA7-8EAB-6BCC-E7B2-D85F846EF8B1}"/>
              </a:ext>
            </a:extLst>
          </p:cNvPr>
          <p:cNvSpPr txBox="1"/>
          <p:nvPr/>
        </p:nvSpPr>
        <p:spPr>
          <a:xfrm>
            <a:off x="1955800" y="5524500"/>
            <a:ext cx="81280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This prevents a later result from quietly changing its denominator.</a:t>
            </a:r>
            <a:endParaRPr lang="zh-CN" altLang="en-US" sz="820" b="1">
              <a:solidFill>
                <a:srgbClr val="FFFFFF"/>
              </a:solidFill>
              <a:latin typeface="Aptos" panose="020B0004020202020204" pitchFamily="34" charset="0"/>
            </a:endParaRPr>
          </a:p>
        </p:txBody>
      </p:sp>
      <p:sp>
        <p:nvSpPr>
          <p:cNvPr id="32" name="footer-hit-4">
            <a:hlinkClick r:id="rId4"/>
            <a:extLst>
              <a:ext uri="{FF2B5EF4-FFF2-40B4-BE49-F238E27FC236}">
                <a16:creationId xmlns:a16="http://schemas.microsoft.com/office/drawing/2014/main" id="{681DDA5D-456B-DE29-14EF-6DA048EA1894}"/>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31724550"/>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F499C577-28CA-8641-55D5-1AC19B653DF6}"/>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72910E93-28BB-1067-C9CB-B98968F177D5}"/>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07B5E793-4B43-3C1E-C109-FE98BA179806}"/>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04094D3F-A3BD-D56F-15FD-897BF66C3931}"/>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FRAMEWORK</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B5541F5B-3A91-470C-34BB-E4EF055193FF}"/>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05</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4AA5ED5C-1740-3BDF-CE08-251776462576}"/>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6E589FD5-DC08-103C-0EC8-535E82F2C683}"/>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110A1939-8717-A850-C7F0-6678901ED07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6D1FA171-7451-62CD-3D69-E84E03B2FC3E}"/>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Five stages share one evidence contract.</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ACB4AAB1-1207-8D54-7D35-D939E3DBA055}"/>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Each stage admits a different evidence object, then blocks one common overclaim.</a:t>
            </a:r>
            <a:endParaRPr lang="zh-CN" altLang="en-US" sz="930">
              <a:solidFill>
                <a:srgbClr val="4A5B78"/>
              </a:solidFill>
              <a:latin typeface="Aptos" panose="020B0004020202020204" pitchFamily="34" charset="0"/>
            </a:endParaRPr>
          </a:p>
        </p:txBody>
      </p:sp>
      <p:sp>
        <p:nvSpPr>
          <p:cNvPr id="13" name="contract-core">
            <a:extLst>
              <a:ext uri="{FF2B5EF4-FFF2-40B4-BE49-F238E27FC236}">
                <a16:creationId xmlns:a16="http://schemas.microsoft.com/office/drawing/2014/main" id="{F4419772-E0D2-EC2B-921A-A39618C1F925}"/>
              </a:ext>
            </a:extLst>
          </p:cNvPr>
          <p:cNvSpPr/>
          <p:nvPr/>
        </p:nvSpPr>
        <p:spPr>
          <a:xfrm>
            <a:off x="838200" y="2260600"/>
            <a:ext cx="10515600" cy="1498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contract-k">
            <a:extLst>
              <a:ext uri="{FF2B5EF4-FFF2-40B4-BE49-F238E27FC236}">
                <a16:creationId xmlns:a16="http://schemas.microsoft.com/office/drawing/2014/main" id="{4B27D23F-DC23-9FA2-B7BB-061A28D26709}"/>
              </a:ext>
            </a:extLst>
          </p:cNvPr>
          <p:cNvSpPr txBox="1"/>
          <p:nvPr/>
        </p:nvSpPr>
        <p:spPr>
          <a:xfrm>
            <a:off x="1244600" y="2565400"/>
            <a:ext cx="18796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SHARED EVIDENCE CONTRACT</a:t>
            </a:r>
            <a:endParaRPr lang="zh-CN" altLang="en-US" sz="770" b="1">
              <a:solidFill>
                <a:srgbClr val="CDE2FA"/>
              </a:solidFill>
              <a:latin typeface="Aptos" panose="020B0004020202020204" pitchFamily="34" charset="0"/>
            </a:endParaRPr>
          </a:p>
        </p:txBody>
      </p:sp>
      <p:sp>
        <p:nvSpPr>
          <p:cNvPr id="15" name="contract-f">
            <a:extLst>
              <a:ext uri="{FF2B5EF4-FFF2-40B4-BE49-F238E27FC236}">
                <a16:creationId xmlns:a16="http://schemas.microsoft.com/office/drawing/2014/main" id="{5CD5BD82-4A28-B45A-8D34-183968E3DE3C}"/>
              </a:ext>
            </a:extLst>
          </p:cNvPr>
          <p:cNvSpPr txBox="1"/>
          <p:nvPr/>
        </p:nvSpPr>
        <p:spPr>
          <a:xfrm>
            <a:off x="1244600" y="2997200"/>
            <a:ext cx="3911600" cy="276999"/>
          </a:xfrm>
          <a:prstGeom prst="rect">
            <a:avLst/>
          </a:prstGeom>
          <a:noFill/>
        </p:spPr>
        <p:txBody>
          <a:bodyPr vert="horz" wrap="square" lIns="0" tIns="0" rIns="0" bIns="0" rtlCol="0">
            <a:noAutofit/>
          </a:bodyPr>
          <a:lstStyle/>
          <a:p>
            <a:r>
              <a:rPr lang="en-US" altLang="zh-CN" sz="1650" b="1">
                <a:solidFill>
                  <a:srgbClr val="FFFFFF"/>
                </a:solidFill>
                <a:latin typeface="Consolas" panose="020B0609020204030204" pitchFamily="49" charset="0"/>
              </a:rPr>
              <a:t>claim := f(E, controls, access, boundary)</a:t>
            </a:r>
            <a:endParaRPr lang="zh-CN" altLang="en-US" sz="1650" b="1">
              <a:solidFill>
                <a:srgbClr val="FFFFFF"/>
              </a:solidFill>
              <a:latin typeface="Consolas" panose="020B0609020204030204" pitchFamily="49" charset="0"/>
            </a:endParaRPr>
          </a:p>
        </p:txBody>
      </p:sp>
      <p:sp>
        <p:nvSpPr>
          <p:cNvPr id="16" name="contract-s">
            <a:extLst>
              <a:ext uri="{FF2B5EF4-FFF2-40B4-BE49-F238E27FC236}">
                <a16:creationId xmlns:a16="http://schemas.microsoft.com/office/drawing/2014/main" id="{44CAB60A-FF64-ABA7-1A93-65F99DBCE622}"/>
              </a:ext>
            </a:extLst>
          </p:cNvPr>
          <p:cNvSpPr txBox="1"/>
          <p:nvPr/>
        </p:nvSpPr>
        <p:spPr>
          <a:xfrm>
            <a:off x="5892800" y="2743200"/>
            <a:ext cx="4343400" cy="276999"/>
          </a:xfrm>
          <a:prstGeom prst="rect">
            <a:avLst/>
          </a:prstGeom>
          <a:noFill/>
        </p:spPr>
        <p:txBody>
          <a:bodyPr vert="horz" wrap="square" lIns="0" tIns="0" rIns="0" bIns="0" rtlCol="0">
            <a:noAutofit/>
          </a:bodyPr>
          <a:lstStyle/>
          <a:p>
            <a:r>
              <a:rPr lang="en-US" altLang="zh-CN" sz="1400" b="1">
                <a:solidFill>
                  <a:srgbClr val="FFFFFF"/>
                </a:solidFill>
                <a:latin typeface="Aptos" panose="020B0004020202020204" pitchFamily="34" charset="0"/>
              </a:rPr>
              <a:t>Every stage must admit a concrete evidence object before it promotes a conclusion.</a:t>
            </a:r>
            <a:endParaRPr lang="zh-CN" altLang="en-US" sz="1400" b="1">
              <a:solidFill>
                <a:srgbClr val="FFFFFF"/>
              </a:solidFill>
              <a:latin typeface="Aptos" panose="020B0004020202020204" pitchFamily="34" charset="0"/>
            </a:endParaRPr>
          </a:p>
        </p:txBody>
      </p:sp>
      <p:cxnSp>
        <p:nvCxnSpPr>
          <p:cNvPr id="17" name="contract-sep">
            <a:extLst>
              <a:ext uri="{FF2B5EF4-FFF2-40B4-BE49-F238E27FC236}">
                <a16:creationId xmlns:a16="http://schemas.microsoft.com/office/drawing/2014/main" id="{E9815F5D-F375-C615-F9FF-DC64AAC4C928}"/>
              </a:ext>
            </a:extLst>
          </p:cNvPr>
          <p:cNvCxnSpPr/>
          <p:nvPr/>
        </p:nvCxnSpPr>
        <p:spPr>
          <a:xfrm>
            <a:off x="5486400" y="2514600"/>
            <a:ext cx="0" cy="965200"/>
          </a:xfrm>
          <a:prstGeom prst="line">
            <a:avLst/>
          </a:prstGeom>
          <a:ln w="12700">
            <a:solidFill>
              <a:srgbClr val="5F8FC6"/>
            </a:solidFill>
          </a:ln>
        </p:spPr>
        <p:style>
          <a:lnRef idx="1">
            <a:schemeClr val="accent1"/>
          </a:lnRef>
          <a:fillRef idx="0">
            <a:schemeClr val="accent1"/>
          </a:fillRef>
          <a:effectRef idx="0">
            <a:schemeClr val="accent1"/>
          </a:effectRef>
          <a:fontRef idx="minor">
            <a:schemeClr val="tx1"/>
          </a:fontRef>
        </p:style>
      </p:cxnSp>
      <p:sp>
        <p:nvSpPr>
          <p:cNvPr id="18" name="stage-0">
            <a:extLst>
              <a:ext uri="{FF2B5EF4-FFF2-40B4-BE49-F238E27FC236}">
                <a16:creationId xmlns:a16="http://schemas.microsoft.com/office/drawing/2014/main" id="{A0133A3B-020E-3808-8BE1-4F792F829F09}"/>
              </a:ext>
            </a:extLst>
          </p:cNvPr>
          <p:cNvSpPr/>
          <p:nvPr/>
        </p:nvSpPr>
        <p:spPr>
          <a:xfrm>
            <a:off x="83820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stage-band-0">
            <a:extLst>
              <a:ext uri="{FF2B5EF4-FFF2-40B4-BE49-F238E27FC236}">
                <a16:creationId xmlns:a16="http://schemas.microsoft.com/office/drawing/2014/main" id="{FC6FC3F4-8418-451A-4DA8-2E39B6B2FA47}"/>
              </a:ext>
            </a:extLst>
          </p:cNvPr>
          <p:cNvSpPr/>
          <p:nvPr/>
        </p:nvSpPr>
        <p:spPr>
          <a:xfrm>
            <a:off x="838200" y="4216400"/>
            <a:ext cx="2103120" cy="889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stage-num-0">
            <a:extLst>
              <a:ext uri="{FF2B5EF4-FFF2-40B4-BE49-F238E27FC236}">
                <a16:creationId xmlns:a16="http://schemas.microsoft.com/office/drawing/2014/main" id="{6189C47B-45D5-5352-FCD8-00FA42E75F01}"/>
              </a:ext>
            </a:extLst>
          </p:cNvPr>
          <p:cNvSpPr txBox="1"/>
          <p:nvPr/>
        </p:nvSpPr>
        <p:spPr>
          <a:xfrm>
            <a:off x="1041400" y="4521200"/>
            <a:ext cx="3048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01</a:t>
            </a:r>
            <a:endParaRPr lang="zh-CN" altLang="en-US" sz="800" b="1">
              <a:solidFill>
                <a:srgbClr val="003B7A"/>
              </a:solidFill>
              <a:latin typeface="Aptos" panose="020B0004020202020204" pitchFamily="34" charset="0"/>
            </a:endParaRPr>
          </a:p>
        </p:txBody>
      </p:sp>
      <p:sp>
        <p:nvSpPr>
          <p:cNvPr id="21" name="stage-name-0">
            <a:extLst>
              <a:ext uri="{FF2B5EF4-FFF2-40B4-BE49-F238E27FC236}">
                <a16:creationId xmlns:a16="http://schemas.microsoft.com/office/drawing/2014/main" id="{E7359ADD-73DA-B46F-0076-2725BD2CA3FA}"/>
              </a:ext>
            </a:extLst>
          </p:cNvPr>
          <p:cNvSpPr txBox="1"/>
          <p:nvPr/>
        </p:nvSpPr>
        <p:spPr>
          <a:xfrm>
            <a:off x="142240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CodeMarkBench</a:t>
            </a:r>
            <a:endParaRPr lang="zh-CN" altLang="en-US" sz="860" b="1">
              <a:solidFill>
                <a:srgbClr val="071A3D"/>
              </a:solidFill>
              <a:latin typeface="Aptos" panose="020B0004020202020204" pitchFamily="34" charset="0"/>
            </a:endParaRPr>
          </a:p>
        </p:txBody>
      </p:sp>
      <p:sp>
        <p:nvSpPr>
          <p:cNvPr id="22" name="stage-admit-0">
            <a:extLst>
              <a:ext uri="{FF2B5EF4-FFF2-40B4-BE49-F238E27FC236}">
                <a16:creationId xmlns:a16="http://schemas.microsoft.com/office/drawing/2014/main" id="{A874D5FF-5423-1DF8-3335-018C2E844B6D}"/>
              </a:ext>
            </a:extLst>
          </p:cNvPr>
          <p:cNvSpPr txBox="1"/>
          <p:nvPr/>
        </p:nvSpPr>
        <p:spPr>
          <a:xfrm>
            <a:off x="104140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fixed denominator</a:t>
            </a:r>
            <a:endParaRPr lang="zh-CN" altLang="en-US" sz="730">
              <a:solidFill>
                <a:srgbClr val="4A5B78"/>
              </a:solidFill>
              <a:latin typeface="Aptos" panose="020B0004020202020204" pitchFamily="34" charset="0"/>
            </a:endParaRPr>
          </a:p>
        </p:txBody>
      </p:sp>
      <p:sp>
        <p:nvSpPr>
          <p:cNvPr id="23" name="stage-block-0">
            <a:extLst>
              <a:ext uri="{FF2B5EF4-FFF2-40B4-BE49-F238E27FC236}">
                <a16:creationId xmlns:a16="http://schemas.microsoft.com/office/drawing/2014/main" id="{D135ECE1-F773-01F8-8423-8D0B5EA98A5A}"/>
              </a:ext>
            </a:extLst>
          </p:cNvPr>
          <p:cNvSpPr txBox="1"/>
          <p:nvPr/>
        </p:nvSpPr>
        <p:spPr>
          <a:xfrm>
            <a:off x="104140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moving target</a:t>
            </a:r>
            <a:endParaRPr lang="zh-CN" altLang="en-US" sz="730" b="1">
              <a:solidFill>
                <a:srgbClr val="B8293C"/>
              </a:solidFill>
              <a:latin typeface="Aptos" panose="020B0004020202020204" pitchFamily="34" charset="0"/>
            </a:endParaRPr>
          </a:p>
        </p:txBody>
      </p:sp>
      <p:cxnSp>
        <p:nvCxnSpPr>
          <p:cNvPr id="24" name="stage-tie-0">
            <a:extLst>
              <a:ext uri="{FF2B5EF4-FFF2-40B4-BE49-F238E27FC236}">
                <a16:creationId xmlns:a16="http://schemas.microsoft.com/office/drawing/2014/main" id="{9FE0AA0B-96B4-9DF4-649A-8C48D1A7F038}"/>
              </a:ext>
            </a:extLst>
          </p:cNvPr>
          <p:cNvCxnSpPr/>
          <p:nvPr/>
        </p:nvCxnSpPr>
        <p:spPr>
          <a:xfrm>
            <a:off x="1889760" y="3759200"/>
            <a:ext cx="0" cy="457200"/>
          </a:xfrm>
          <a:prstGeom prst="line">
            <a:avLst/>
          </a:prstGeom>
          <a:ln w="13970">
            <a:solidFill>
              <a:srgbClr val="003B7A"/>
            </a:solidFill>
          </a:ln>
        </p:spPr>
        <p:style>
          <a:lnRef idx="1">
            <a:schemeClr val="accent1"/>
          </a:lnRef>
          <a:fillRef idx="0">
            <a:schemeClr val="accent1"/>
          </a:fillRef>
          <a:effectRef idx="0">
            <a:schemeClr val="accent1"/>
          </a:effectRef>
          <a:fontRef idx="minor">
            <a:schemeClr val="tx1"/>
          </a:fontRef>
        </p:style>
      </p:cxnSp>
      <p:sp>
        <p:nvSpPr>
          <p:cNvPr id="25" name="stage-1">
            <a:extLst>
              <a:ext uri="{FF2B5EF4-FFF2-40B4-BE49-F238E27FC236}">
                <a16:creationId xmlns:a16="http://schemas.microsoft.com/office/drawing/2014/main" id="{7B1C6BA3-404C-B981-11DE-2C519E4ACF35}"/>
              </a:ext>
            </a:extLst>
          </p:cNvPr>
          <p:cNvSpPr/>
          <p:nvPr/>
        </p:nvSpPr>
        <p:spPr>
          <a:xfrm>
            <a:off x="294132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stage-band-1">
            <a:extLst>
              <a:ext uri="{FF2B5EF4-FFF2-40B4-BE49-F238E27FC236}">
                <a16:creationId xmlns:a16="http://schemas.microsoft.com/office/drawing/2014/main" id="{EF4B3C41-BD85-1A1D-8E2E-F1C1065A4328}"/>
              </a:ext>
            </a:extLst>
          </p:cNvPr>
          <p:cNvSpPr/>
          <p:nvPr/>
        </p:nvSpPr>
        <p:spPr>
          <a:xfrm>
            <a:off x="2941320" y="4216400"/>
            <a:ext cx="2103120" cy="889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stage-num-1">
            <a:extLst>
              <a:ext uri="{FF2B5EF4-FFF2-40B4-BE49-F238E27FC236}">
                <a16:creationId xmlns:a16="http://schemas.microsoft.com/office/drawing/2014/main" id="{2E159F8C-DB45-BE2E-792B-4D504AB6597A}"/>
              </a:ext>
            </a:extLst>
          </p:cNvPr>
          <p:cNvSpPr txBox="1"/>
          <p:nvPr/>
        </p:nvSpPr>
        <p:spPr>
          <a:xfrm>
            <a:off x="3144520" y="4521200"/>
            <a:ext cx="304800" cy="276999"/>
          </a:xfrm>
          <a:prstGeom prst="rect">
            <a:avLst/>
          </a:prstGeom>
          <a:noFill/>
        </p:spPr>
        <p:txBody>
          <a:bodyPr vert="horz" wrap="square" lIns="0" tIns="0" rIns="0" bIns="0" rtlCol="0">
            <a:noAutofit/>
          </a:bodyPr>
          <a:lstStyle/>
          <a:p>
            <a:r>
              <a:rPr lang="en-US" altLang="zh-CN" sz="800" b="1">
                <a:solidFill>
                  <a:srgbClr val="168E8B"/>
                </a:solidFill>
                <a:latin typeface="Aptos" panose="020B0004020202020204" pitchFamily="34" charset="0"/>
              </a:rPr>
              <a:t>02</a:t>
            </a:r>
            <a:endParaRPr lang="zh-CN" altLang="en-US" sz="800" b="1">
              <a:solidFill>
                <a:srgbClr val="168E8B"/>
              </a:solidFill>
              <a:latin typeface="Aptos" panose="020B0004020202020204" pitchFamily="34" charset="0"/>
            </a:endParaRPr>
          </a:p>
        </p:txBody>
      </p:sp>
      <p:sp>
        <p:nvSpPr>
          <p:cNvPr id="28" name="stage-name-1">
            <a:extLst>
              <a:ext uri="{FF2B5EF4-FFF2-40B4-BE49-F238E27FC236}">
                <a16:creationId xmlns:a16="http://schemas.microsoft.com/office/drawing/2014/main" id="{DF6532A7-C255-4E8D-DD8B-39AB3B245578}"/>
              </a:ext>
            </a:extLst>
          </p:cNvPr>
          <p:cNvSpPr txBox="1"/>
          <p:nvPr/>
        </p:nvSpPr>
        <p:spPr>
          <a:xfrm>
            <a:off x="352552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SemCodebook</a:t>
            </a:r>
            <a:endParaRPr lang="zh-CN" altLang="en-US" sz="860" b="1">
              <a:solidFill>
                <a:srgbClr val="071A3D"/>
              </a:solidFill>
              <a:latin typeface="Aptos" panose="020B0004020202020204" pitchFamily="34" charset="0"/>
            </a:endParaRPr>
          </a:p>
        </p:txBody>
      </p:sp>
      <p:sp>
        <p:nvSpPr>
          <p:cNvPr id="29" name="stage-admit-1">
            <a:extLst>
              <a:ext uri="{FF2B5EF4-FFF2-40B4-BE49-F238E27FC236}">
                <a16:creationId xmlns:a16="http://schemas.microsoft.com/office/drawing/2014/main" id="{EAABF292-E972-20B4-4456-1A946B0BC380}"/>
              </a:ext>
            </a:extLst>
          </p:cNvPr>
          <p:cNvSpPr txBox="1"/>
          <p:nvPr/>
        </p:nvSpPr>
        <p:spPr>
          <a:xfrm>
            <a:off x="314452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white-box recovery</a:t>
            </a:r>
            <a:endParaRPr lang="zh-CN" altLang="en-US" sz="730">
              <a:solidFill>
                <a:srgbClr val="4A5B78"/>
              </a:solidFill>
              <a:latin typeface="Aptos" panose="020B0004020202020204" pitchFamily="34" charset="0"/>
            </a:endParaRPr>
          </a:p>
        </p:txBody>
      </p:sp>
      <p:sp>
        <p:nvSpPr>
          <p:cNvPr id="30" name="stage-block-1">
            <a:extLst>
              <a:ext uri="{FF2B5EF4-FFF2-40B4-BE49-F238E27FC236}">
                <a16:creationId xmlns:a16="http://schemas.microsoft.com/office/drawing/2014/main" id="{9EBF921E-869B-D0B0-3561-38DC94759B08}"/>
              </a:ext>
            </a:extLst>
          </p:cNvPr>
          <p:cNvSpPr txBox="1"/>
          <p:nvPr/>
        </p:nvSpPr>
        <p:spPr>
          <a:xfrm>
            <a:off x="314452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universal claim</a:t>
            </a:r>
            <a:endParaRPr lang="zh-CN" altLang="en-US" sz="730" b="1">
              <a:solidFill>
                <a:srgbClr val="B8293C"/>
              </a:solidFill>
              <a:latin typeface="Aptos" panose="020B0004020202020204" pitchFamily="34" charset="0"/>
            </a:endParaRPr>
          </a:p>
        </p:txBody>
      </p:sp>
      <p:cxnSp>
        <p:nvCxnSpPr>
          <p:cNvPr id="31" name="stage-tie-1">
            <a:extLst>
              <a:ext uri="{FF2B5EF4-FFF2-40B4-BE49-F238E27FC236}">
                <a16:creationId xmlns:a16="http://schemas.microsoft.com/office/drawing/2014/main" id="{5AD6016D-CCB5-D6D5-204C-F2C1FD3CD5D8}"/>
              </a:ext>
            </a:extLst>
          </p:cNvPr>
          <p:cNvCxnSpPr/>
          <p:nvPr/>
        </p:nvCxnSpPr>
        <p:spPr>
          <a:xfrm>
            <a:off x="3992880" y="3759200"/>
            <a:ext cx="0" cy="457200"/>
          </a:xfrm>
          <a:prstGeom prst="line">
            <a:avLst/>
          </a:prstGeom>
          <a:ln w="13970">
            <a:solidFill>
              <a:srgbClr val="168E8B"/>
            </a:solidFill>
          </a:ln>
        </p:spPr>
        <p:style>
          <a:lnRef idx="1">
            <a:schemeClr val="accent1"/>
          </a:lnRef>
          <a:fillRef idx="0">
            <a:schemeClr val="accent1"/>
          </a:fillRef>
          <a:effectRef idx="0">
            <a:schemeClr val="accent1"/>
          </a:effectRef>
          <a:fontRef idx="minor">
            <a:schemeClr val="tx1"/>
          </a:fontRef>
        </p:style>
      </p:cxnSp>
      <p:sp>
        <p:nvSpPr>
          <p:cNvPr id="32" name="stage-2">
            <a:extLst>
              <a:ext uri="{FF2B5EF4-FFF2-40B4-BE49-F238E27FC236}">
                <a16:creationId xmlns:a16="http://schemas.microsoft.com/office/drawing/2014/main" id="{E8DA9967-9F66-4BB5-153F-5290A8DA4FF8}"/>
              </a:ext>
            </a:extLst>
          </p:cNvPr>
          <p:cNvSpPr/>
          <p:nvPr/>
        </p:nvSpPr>
        <p:spPr>
          <a:xfrm>
            <a:off x="5044440" y="4216400"/>
            <a:ext cx="2103121"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stage-band-2">
            <a:extLst>
              <a:ext uri="{FF2B5EF4-FFF2-40B4-BE49-F238E27FC236}">
                <a16:creationId xmlns:a16="http://schemas.microsoft.com/office/drawing/2014/main" id="{162ED221-F391-7C9D-F95F-1913F2C3DE37}"/>
              </a:ext>
            </a:extLst>
          </p:cNvPr>
          <p:cNvSpPr/>
          <p:nvPr/>
        </p:nvSpPr>
        <p:spPr>
          <a:xfrm>
            <a:off x="5044440" y="4216400"/>
            <a:ext cx="2103121" cy="889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stage-num-2">
            <a:extLst>
              <a:ext uri="{FF2B5EF4-FFF2-40B4-BE49-F238E27FC236}">
                <a16:creationId xmlns:a16="http://schemas.microsoft.com/office/drawing/2014/main" id="{1D88BEDE-28A7-2762-0FB7-DB5C20BB5B50}"/>
              </a:ext>
            </a:extLst>
          </p:cNvPr>
          <p:cNvSpPr txBox="1"/>
          <p:nvPr/>
        </p:nvSpPr>
        <p:spPr>
          <a:xfrm>
            <a:off x="5247640" y="4521200"/>
            <a:ext cx="304800" cy="276999"/>
          </a:xfrm>
          <a:prstGeom prst="rect">
            <a:avLst/>
          </a:prstGeom>
          <a:noFill/>
        </p:spPr>
        <p:txBody>
          <a:bodyPr vert="horz" wrap="square" lIns="0" tIns="0" rIns="0" bIns="0" rtlCol="0">
            <a:noAutofit/>
          </a:bodyPr>
          <a:lstStyle/>
          <a:p>
            <a:r>
              <a:rPr lang="en-US" altLang="zh-CN" sz="800" b="1">
                <a:solidFill>
                  <a:srgbClr val="5B45C8"/>
                </a:solidFill>
                <a:latin typeface="Aptos" panose="020B0004020202020204" pitchFamily="34" charset="0"/>
              </a:rPr>
              <a:t>03</a:t>
            </a:r>
            <a:endParaRPr lang="zh-CN" altLang="en-US" sz="800" b="1">
              <a:solidFill>
                <a:srgbClr val="5B45C8"/>
              </a:solidFill>
              <a:latin typeface="Aptos" panose="020B0004020202020204" pitchFamily="34" charset="0"/>
            </a:endParaRPr>
          </a:p>
        </p:txBody>
      </p:sp>
      <p:sp>
        <p:nvSpPr>
          <p:cNvPr id="35" name="stage-name-2">
            <a:extLst>
              <a:ext uri="{FF2B5EF4-FFF2-40B4-BE49-F238E27FC236}">
                <a16:creationId xmlns:a16="http://schemas.microsoft.com/office/drawing/2014/main" id="{8601D8D5-B538-A928-7C48-B69655AD6C15}"/>
              </a:ext>
            </a:extLst>
          </p:cNvPr>
          <p:cNvSpPr txBox="1"/>
          <p:nvPr/>
        </p:nvSpPr>
        <p:spPr>
          <a:xfrm>
            <a:off x="562864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CodeDye</a:t>
            </a:r>
            <a:endParaRPr lang="zh-CN" altLang="en-US" sz="860" b="1">
              <a:solidFill>
                <a:srgbClr val="071A3D"/>
              </a:solidFill>
              <a:latin typeface="Aptos" panose="020B0004020202020204" pitchFamily="34" charset="0"/>
            </a:endParaRPr>
          </a:p>
        </p:txBody>
      </p:sp>
      <p:sp>
        <p:nvSpPr>
          <p:cNvPr id="36" name="stage-admit-2">
            <a:extLst>
              <a:ext uri="{FF2B5EF4-FFF2-40B4-BE49-F238E27FC236}">
                <a16:creationId xmlns:a16="http://schemas.microsoft.com/office/drawing/2014/main" id="{6ADE7D30-5706-4B72-C32E-FF33CA52AB90}"/>
              </a:ext>
            </a:extLst>
          </p:cNvPr>
          <p:cNvSpPr txBox="1"/>
          <p:nvPr/>
        </p:nvSpPr>
        <p:spPr>
          <a:xfrm>
            <a:off x="524764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black-box null audit</a:t>
            </a:r>
            <a:endParaRPr lang="zh-CN" altLang="en-US" sz="730">
              <a:solidFill>
                <a:srgbClr val="4A5B78"/>
              </a:solidFill>
              <a:latin typeface="Aptos" panose="020B0004020202020204" pitchFamily="34" charset="0"/>
            </a:endParaRPr>
          </a:p>
        </p:txBody>
      </p:sp>
      <p:sp>
        <p:nvSpPr>
          <p:cNvPr id="37" name="stage-block-2">
            <a:extLst>
              <a:ext uri="{FF2B5EF4-FFF2-40B4-BE49-F238E27FC236}">
                <a16:creationId xmlns:a16="http://schemas.microsoft.com/office/drawing/2014/main" id="{D07AB0C4-DA04-DA92-55E4-13970DC0D380}"/>
              </a:ext>
            </a:extLst>
          </p:cNvPr>
          <p:cNvSpPr txBox="1"/>
          <p:nvPr/>
        </p:nvSpPr>
        <p:spPr>
          <a:xfrm>
            <a:off x="524764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provider accusation</a:t>
            </a:r>
            <a:endParaRPr lang="zh-CN" altLang="en-US" sz="730" b="1">
              <a:solidFill>
                <a:srgbClr val="B8293C"/>
              </a:solidFill>
              <a:latin typeface="Aptos" panose="020B0004020202020204" pitchFamily="34" charset="0"/>
            </a:endParaRPr>
          </a:p>
        </p:txBody>
      </p:sp>
      <p:cxnSp>
        <p:nvCxnSpPr>
          <p:cNvPr id="38" name="stage-tie-2">
            <a:extLst>
              <a:ext uri="{FF2B5EF4-FFF2-40B4-BE49-F238E27FC236}">
                <a16:creationId xmlns:a16="http://schemas.microsoft.com/office/drawing/2014/main" id="{CF63CD7C-0E86-0722-2E21-05A74D37B3FE}"/>
              </a:ext>
            </a:extLst>
          </p:cNvPr>
          <p:cNvCxnSpPr/>
          <p:nvPr/>
        </p:nvCxnSpPr>
        <p:spPr>
          <a:xfrm>
            <a:off x="6096000" y="3759200"/>
            <a:ext cx="0" cy="457200"/>
          </a:xfrm>
          <a:prstGeom prst="line">
            <a:avLst/>
          </a:prstGeom>
          <a:ln w="13970">
            <a:solidFill>
              <a:srgbClr val="5B45C8"/>
            </a:solidFill>
          </a:ln>
        </p:spPr>
        <p:style>
          <a:lnRef idx="1">
            <a:schemeClr val="accent1"/>
          </a:lnRef>
          <a:fillRef idx="0">
            <a:schemeClr val="accent1"/>
          </a:fillRef>
          <a:effectRef idx="0">
            <a:schemeClr val="accent1"/>
          </a:effectRef>
          <a:fontRef idx="minor">
            <a:schemeClr val="tx1"/>
          </a:fontRef>
        </p:style>
      </p:cxnSp>
      <p:sp>
        <p:nvSpPr>
          <p:cNvPr id="39" name="stage-3">
            <a:extLst>
              <a:ext uri="{FF2B5EF4-FFF2-40B4-BE49-F238E27FC236}">
                <a16:creationId xmlns:a16="http://schemas.microsoft.com/office/drawing/2014/main" id="{2C311285-645A-8ABC-BDA9-3AD0DB60CC76}"/>
              </a:ext>
            </a:extLst>
          </p:cNvPr>
          <p:cNvSpPr/>
          <p:nvPr/>
        </p:nvSpPr>
        <p:spPr>
          <a:xfrm>
            <a:off x="714756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stage-band-3">
            <a:extLst>
              <a:ext uri="{FF2B5EF4-FFF2-40B4-BE49-F238E27FC236}">
                <a16:creationId xmlns:a16="http://schemas.microsoft.com/office/drawing/2014/main" id="{A96EA698-A28D-306C-AB36-486FEA92FB4F}"/>
              </a:ext>
            </a:extLst>
          </p:cNvPr>
          <p:cNvSpPr/>
          <p:nvPr/>
        </p:nvSpPr>
        <p:spPr>
          <a:xfrm>
            <a:off x="7147560" y="4216400"/>
            <a:ext cx="2103120" cy="889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stage-num-3">
            <a:extLst>
              <a:ext uri="{FF2B5EF4-FFF2-40B4-BE49-F238E27FC236}">
                <a16:creationId xmlns:a16="http://schemas.microsoft.com/office/drawing/2014/main" id="{28AD94EC-56E7-2C48-3096-99EC1726D1F6}"/>
              </a:ext>
            </a:extLst>
          </p:cNvPr>
          <p:cNvSpPr txBox="1"/>
          <p:nvPr/>
        </p:nvSpPr>
        <p:spPr>
          <a:xfrm>
            <a:off x="7350760" y="4521200"/>
            <a:ext cx="304800" cy="276999"/>
          </a:xfrm>
          <a:prstGeom prst="rect">
            <a:avLst/>
          </a:prstGeom>
          <a:noFill/>
        </p:spPr>
        <p:txBody>
          <a:bodyPr vert="horz" wrap="square" lIns="0" tIns="0" rIns="0" bIns="0" rtlCol="0">
            <a:noAutofit/>
          </a:bodyPr>
          <a:lstStyle/>
          <a:p>
            <a:r>
              <a:rPr lang="en-US" altLang="zh-CN" sz="800" b="1">
                <a:solidFill>
                  <a:srgbClr val="B85C00"/>
                </a:solidFill>
                <a:latin typeface="Aptos" panose="020B0004020202020204" pitchFamily="34" charset="0"/>
              </a:rPr>
              <a:t>04</a:t>
            </a:r>
            <a:endParaRPr lang="zh-CN" altLang="en-US" sz="800" b="1">
              <a:solidFill>
                <a:srgbClr val="B85C00"/>
              </a:solidFill>
              <a:latin typeface="Aptos" panose="020B0004020202020204" pitchFamily="34" charset="0"/>
            </a:endParaRPr>
          </a:p>
        </p:txBody>
      </p:sp>
      <p:sp>
        <p:nvSpPr>
          <p:cNvPr id="42" name="stage-name-3">
            <a:extLst>
              <a:ext uri="{FF2B5EF4-FFF2-40B4-BE49-F238E27FC236}">
                <a16:creationId xmlns:a16="http://schemas.microsoft.com/office/drawing/2014/main" id="{C5898B78-E3E4-1891-57F9-037D4E0978B8}"/>
              </a:ext>
            </a:extLst>
          </p:cNvPr>
          <p:cNvSpPr txBox="1"/>
          <p:nvPr/>
        </p:nvSpPr>
        <p:spPr>
          <a:xfrm>
            <a:off x="773176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ProbeTrace</a:t>
            </a:r>
            <a:endParaRPr lang="zh-CN" altLang="en-US" sz="860" b="1">
              <a:solidFill>
                <a:srgbClr val="071A3D"/>
              </a:solidFill>
              <a:latin typeface="Aptos" panose="020B0004020202020204" pitchFamily="34" charset="0"/>
            </a:endParaRPr>
          </a:p>
        </p:txBody>
      </p:sp>
      <p:sp>
        <p:nvSpPr>
          <p:cNvPr id="43" name="stage-admit-3">
            <a:extLst>
              <a:ext uri="{FF2B5EF4-FFF2-40B4-BE49-F238E27FC236}">
                <a16:creationId xmlns:a16="http://schemas.microsoft.com/office/drawing/2014/main" id="{88CC5146-0F7D-9F15-5ACE-4FE0DE04DE1F}"/>
              </a:ext>
            </a:extLst>
          </p:cNvPr>
          <p:cNvSpPr txBox="1"/>
          <p:nvPr/>
        </p:nvSpPr>
        <p:spPr>
          <a:xfrm>
            <a:off x="735076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owner attribution</a:t>
            </a:r>
            <a:endParaRPr lang="zh-CN" altLang="en-US" sz="730">
              <a:solidFill>
                <a:srgbClr val="4A5B78"/>
              </a:solidFill>
              <a:latin typeface="Aptos" panose="020B0004020202020204" pitchFamily="34" charset="0"/>
            </a:endParaRPr>
          </a:p>
        </p:txBody>
      </p:sp>
      <p:sp>
        <p:nvSpPr>
          <p:cNvPr id="44" name="stage-block-3">
            <a:extLst>
              <a:ext uri="{FF2B5EF4-FFF2-40B4-BE49-F238E27FC236}">
                <a16:creationId xmlns:a16="http://schemas.microsoft.com/office/drawing/2014/main" id="{5669BA5B-0CA9-A14A-8891-35C828DE7731}"/>
              </a:ext>
            </a:extLst>
          </p:cNvPr>
          <p:cNvSpPr txBox="1"/>
          <p:nvPr/>
        </p:nvSpPr>
        <p:spPr>
          <a:xfrm>
            <a:off x="735076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false-owner claim</a:t>
            </a:r>
            <a:endParaRPr lang="zh-CN" altLang="en-US" sz="730" b="1">
              <a:solidFill>
                <a:srgbClr val="B8293C"/>
              </a:solidFill>
              <a:latin typeface="Aptos" panose="020B0004020202020204" pitchFamily="34" charset="0"/>
            </a:endParaRPr>
          </a:p>
        </p:txBody>
      </p:sp>
      <p:cxnSp>
        <p:nvCxnSpPr>
          <p:cNvPr id="45" name="stage-tie-3">
            <a:extLst>
              <a:ext uri="{FF2B5EF4-FFF2-40B4-BE49-F238E27FC236}">
                <a16:creationId xmlns:a16="http://schemas.microsoft.com/office/drawing/2014/main" id="{5412A5A5-D8FE-3069-1011-CB50E826293D}"/>
              </a:ext>
            </a:extLst>
          </p:cNvPr>
          <p:cNvCxnSpPr/>
          <p:nvPr/>
        </p:nvCxnSpPr>
        <p:spPr>
          <a:xfrm>
            <a:off x="8199120" y="3759200"/>
            <a:ext cx="0" cy="457200"/>
          </a:xfrm>
          <a:prstGeom prst="line">
            <a:avLst/>
          </a:prstGeom>
          <a:ln w="13970">
            <a:solidFill>
              <a:srgbClr val="B85C00"/>
            </a:solidFill>
          </a:ln>
        </p:spPr>
        <p:style>
          <a:lnRef idx="1">
            <a:schemeClr val="accent1"/>
          </a:lnRef>
          <a:fillRef idx="0">
            <a:schemeClr val="accent1"/>
          </a:fillRef>
          <a:effectRef idx="0">
            <a:schemeClr val="accent1"/>
          </a:effectRef>
          <a:fontRef idx="minor">
            <a:schemeClr val="tx1"/>
          </a:fontRef>
        </p:style>
      </p:cxnSp>
      <p:sp>
        <p:nvSpPr>
          <p:cNvPr id="46" name="stage-4">
            <a:extLst>
              <a:ext uri="{FF2B5EF4-FFF2-40B4-BE49-F238E27FC236}">
                <a16:creationId xmlns:a16="http://schemas.microsoft.com/office/drawing/2014/main" id="{BA68A094-A4EA-A18D-F704-694CF99D37CB}"/>
              </a:ext>
            </a:extLst>
          </p:cNvPr>
          <p:cNvSpPr/>
          <p:nvPr/>
        </p:nvSpPr>
        <p:spPr>
          <a:xfrm>
            <a:off x="925068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stage-band-4">
            <a:extLst>
              <a:ext uri="{FF2B5EF4-FFF2-40B4-BE49-F238E27FC236}">
                <a16:creationId xmlns:a16="http://schemas.microsoft.com/office/drawing/2014/main" id="{8A116988-A8B8-A6E9-F701-42F2E17A28DD}"/>
              </a:ext>
            </a:extLst>
          </p:cNvPr>
          <p:cNvSpPr/>
          <p:nvPr/>
        </p:nvSpPr>
        <p:spPr>
          <a:xfrm>
            <a:off x="9250680" y="4216400"/>
            <a:ext cx="2103120" cy="889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stage-num-4">
            <a:extLst>
              <a:ext uri="{FF2B5EF4-FFF2-40B4-BE49-F238E27FC236}">
                <a16:creationId xmlns:a16="http://schemas.microsoft.com/office/drawing/2014/main" id="{5A5DD7B1-A1D0-6BB6-86F2-4F10D734C81B}"/>
              </a:ext>
            </a:extLst>
          </p:cNvPr>
          <p:cNvSpPr txBox="1"/>
          <p:nvPr/>
        </p:nvSpPr>
        <p:spPr>
          <a:xfrm>
            <a:off x="9453880" y="4521200"/>
            <a:ext cx="304800" cy="276999"/>
          </a:xfrm>
          <a:prstGeom prst="rect">
            <a:avLst/>
          </a:prstGeom>
          <a:noFill/>
        </p:spPr>
        <p:txBody>
          <a:bodyPr vert="horz" wrap="square" lIns="0" tIns="0" rIns="0" bIns="0" rtlCol="0">
            <a:noAutofit/>
          </a:bodyPr>
          <a:lstStyle/>
          <a:p>
            <a:r>
              <a:rPr lang="en-US" altLang="zh-CN" sz="800" b="1">
                <a:solidFill>
                  <a:srgbClr val="1F7A4D"/>
                </a:solidFill>
                <a:latin typeface="Aptos" panose="020B0004020202020204" pitchFamily="34" charset="0"/>
              </a:rPr>
              <a:t>05</a:t>
            </a:r>
            <a:endParaRPr lang="zh-CN" altLang="en-US" sz="800" b="1">
              <a:solidFill>
                <a:srgbClr val="1F7A4D"/>
              </a:solidFill>
              <a:latin typeface="Aptos" panose="020B0004020202020204" pitchFamily="34" charset="0"/>
            </a:endParaRPr>
          </a:p>
        </p:txBody>
      </p:sp>
      <p:sp>
        <p:nvSpPr>
          <p:cNvPr id="49" name="stage-name-4">
            <a:extLst>
              <a:ext uri="{FF2B5EF4-FFF2-40B4-BE49-F238E27FC236}">
                <a16:creationId xmlns:a16="http://schemas.microsoft.com/office/drawing/2014/main" id="{629880E2-9DB2-B38C-EA4E-37F240D97132}"/>
              </a:ext>
            </a:extLst>
          </p:cNvPr>
          <p:cNvSpPr txBox="1"/>
          <p:nvPr/>
        </p:nvSpPr>
        <p:spPr>
          <a:xfrm>
            <a:off x="983488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SealAudit</a:t>
            </a:r>
            <a:endParaRPr lang="zh-CN" altLang="en-US" sz="860" b="1">
              <a:solidFill>
                <a:srgbClr val="071A3D"/>
              </a:solidFill>
              <a:latin typeface="Aptos" panose="020B0004020202020204" pitchFamily="34" charset="0"/>
            </a:endParaRPr>
          </a:p>
        </p:txBody>
      </p:sp>
      <p:sp>
        <p:nvSpPr>
          <p:cNvPr id="50" name="stage-admit-4">
            <a:extLst>
              <a:ext uri="{FF2B5EF4-FFF2-40B4-BE49-F238E27FC236}">
                <a16:creationId xmlns:a16="http://schemas.microsoft.com/office/drawing/2014/main" id="{F8B95533-645C-C6C9-045F-65DC13B6C7CC}"/>
              </a:ext>
            </a:extLst>
          </p:cNvPr>
          <p:cNvSpPr txBox="1"/>
          <p:nvPr/>
        </p:nvSpPr>
        <p:spPr>
          <a:xfrm>
            <a:off x="945388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security triage</a:t>
            </a:r>
            <a:endParaRPr lang="zh-CN" altLang="en-US" sz="730">
              <a:solidFill>
                <a:srgbClr val="4A5B78"/>
              </a:solidFill>
              <a:latin typeface="Aptos" panose="020B0004020202020204" pitchFamily="34" charset="0"/>
            </a:endParaRPr>
          </a:p>
        </p:txBody>
      </p:sp>
      <p:sp>
        <p:nvSpPr>
          <p:cNvPr id="51" name="stage-block-4">
            <a:extLst>
              <a:ext uri="{FF2B5EF4-FFF2-40B4-BE49-F238E27FC236}">
                <a16:creationId xmlns:a16="http://schemas.microsoft.com/office/drawing/2014/main" id="{2AA0363C-0D92-EFD3-5B42-350ECD0360A5}"/>
              </a:ext>
            </a:extLst>
          </p:cNvPr>
          <p:cNvSpPr txBox="1"/>
          <p:nvPr/>
        </p:nvSpPr>
        <p:spPr>
          <a:xfrm>
            <a:off x="945388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safety certificate</a:t>
            </a:r>
            <a:endParaRPr lang="zh-CN" altLang="en-US" sz="730" b="1">
              <a:solidFill>
                <a:srgbClr val="B8293C"/>
              </a:solidFill>
              <a:latin typeface="Aptos" panose="020B0004020202020204" pitchFamily="34" charset="0"/>
            </a:endParaRPr>
          </a:p>
        </p:txBody>
      </p:sp>
      <p:cxnSp>
        <p:nvCxnSpPr>
          <p:cNvPr id="52" name="stage-tie-4">
            <a:extLst>
              <a:ext uri="{FF2B5EF4-FFF2-40B4-BE49-F238E27FC236}">
                <a16:creationId xmlns:a16="http://schemas.microsoft.com/office/drawing/2014/main" id="{F5D80C2D-D4EE-3352-DFDA-92F1B03E4FF0}"/>
              </a:ext>
            </a:extLst>
          </p:cNvPr>
          <p:cNvCxnSpPr/>
          <p:nvPr/>
        </p:nvCxnSpPr>
        <p:spPr>
          <a:xfrm>
            <a:off x="10302240" y="3759200"/>
            <a:ext cx="0" cy="457200"/>
          </a:xfrm>
          <a:prstGeom prst="line">
            <a:avLst/>
          </a:prstGeom>
          <a:ln w="13970">
            <a:solidFill>
              <a:srgbClr val="1F7A4D"/>
            </a:solidFill>
          </a:ln>
        </p:spPr>
        <p:style>
          <a:lnRef idx="1">
            <a:schemeClr val="accent1"/>
          </a:lnRef>
          <a:fillRef idx="0">
            <a:schemeClr val="accent1"/>
          </a:fillRef>
          <a:effectRef idx="0">
            <a:schemeClr val="accent1"/>
          </a:effectRef>
          <a:fontRef idx="minor">
            <a:schemeClr val="tx1"/>
          </a:fontRef>
        </p:style>
      </p:cxnSp>
      <p:sp>
        <p:nvSpPr>
          <p:cNvPr id="53" name="takeaway">
            <a:extLst>
              <a:ext uri="{FF2B5EF4-FFF2-40B4-BE49-F238E27FC236}">
                <a16:creationId xmlns:a16="http://schemas.microsoft.com/office/drawing/2014/main" id="{01357257-7503-3AE4-AEA0-3EB8B3B018BC}"/>
              </a:ext>
            </a:extLst>
          </p:cNvPr>
          <p:cNvSpPr/>
          <p:nvPr/>
        </p:nvSpPr>
        <p:spPr>
          <a:xfrm>
            <a:off x="1498600" y="5740400"/>
            <a:ext cx="9194800" cy="304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takeaway-t">
            <a:extLst>
              <a:ext uri="{FF2B5EF4-FFF2-40B4-BE49-F238E27FC236}">
                <a16:creationId xmlns:a16="http://schemas.microsoft.com/office/drawing/2014/main" id="{DDE42F64-7103-D366-03C0-D7BF8ACEC4C2}"/>
              </a:ext>
            </a:extLst>
          </p:cNvPr>
          <p:cNvSpPr txBox="1"/>
          <p:nvPr/>
        </p:nvSpPr>
        <p:spPr>
          <a:xfrm>
            <a:off x="1905000" y="5829300"/>
            <a:ext cx="8382000" cy="276999"/>
          </a:xfrm>
          <a:prstGeom prst="rect">
            <a:avLst/>
          </a:prstGeom>
          <a:noFill/>
        </p:spPr>
        <p:txBody>
          <a:bodyPr vert="horz" wrap="square" lIns="0" tIns="0" rIns="0" bIns="0" rtlCol="0">
            <a:noAutofit/>
          </a:bodyPr>
          <a:lstStyle/>
          <a:p>
            <a:r>
              <a:rPr lang="en-US" altLang="zh-CN" sz="780" b="1">
                <a:solidFill>
                  <a:srgbClr val="071A3D"/>
                </a:solidFill>
                <a:latin typeface="Aptos" panose="020B0004020202020204" pitchFamily="34" charset="0"/>
              </a:rPr>
              <a:t>One discipline, five access models: each result is allowed to be narrow, but never vague.</a:t>
            </a:r>
            <a:endParaRPr lang="zh-CN" altLang="en-US" sz="780" b="1">
              <a:solidFill>
                <a:srgbClr val="071A3D"/>
              </a:solidFill>
              <a:latin typeface="Aptos" panose="020B0004020202020204" pitchFamily="34" charset="0"/>
            </a:endParaRPr>
          </a:p>
        </p:txBody>
      </p:sp>
      <p:sp>
        <p:nvSpPr>
          <p:cNvPr id="55" name="footer-hit-5">
            <a:hlinkClick r:id="rId4"/>
            <a:extLst>
              <a:ext uri="{FF2B5EF4-FFF2-40B4-BE49-F238E27FC236}">
                <a16:creationId xmlns:a16="http://schemas.microsoft.com/office/drawing/2014/main" id="{657F44EF-9121-6DD8-AFF8-0E1366B38506}"/>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80937557"/>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160"/>
                                        <p:tgtEl>
                                          <p:spTgt spid="40"/>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160"/>
                                        <p:tgtEl>
                                          <p:spTgt spid="41"/>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160"/>
                                        <p:tgtEl>
                                          <p:spTgt spid="42"/>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160"/>
                                        <p:tgtEl>
                                          <p:spTgt spid="43"/>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160"/>
                                        <p:tgtEl>
                                          <p:spTgt spid="44"/>
                                        </p:tgtEl>
                                      </p:cBhvr>
                                    </p:animEffect>
                                  </p:childTnLst>
                                </p:cTn>
                              </p:par>
                            </p:childTnLst>
                          </p:cTn>
                        </p:par>
                        <p:par>
                          <p:cTn id="132" fill="hold">
                            <p:stCondLst>
                              <p:cond delay="5120"/>
                            </p:stCondLst>
                            <p:childTnLst>
                              <p:par>
                                <p:cTn id="133" presetID="10" presetClass="entr" presetSubtype="0" fill="hold" nodeType="afterEffect">
                                  <p:stCondLst>
                                    <p:cond delay="0"/>
                                  </p:stCondLst>
                                  <p:childTnLst>
                                    <p:set>
                                      <p:cBhvr>
                                        <p:cTn id="134" dur="1" fill="hold">
                                          <p:stCondLst>
                                            <p:cond delay="0"/>
                                          </p:stCondLst>
                                        </p:cTn>
                                        <p:tgtEl>
                                          <p:spTgt spid="45"/>
                                        </p:tgtEl>
                                        <p:attrNameLst>
                                          <p:attrName>style.visibility</p:attrName>
                                        </p:attrNameLst>
                                      </p:cBhvr>
                                      <p:to>
                                        <p:strVal val="visible"/>
                                      </p:to>
                                    </p:set>
                                    <p:animEffect transition="in" filter="fade">
                                      <p:cBhvr>
                                        <p:cTn id="135" dur="160"/>
                                        <p:tgtEl>
                                          <p:spTgt spid="45"/>
                                        </p:tgtEl>
                                      </p:cBhvr>
                                    </p:animEffect>
                                  </p:childTnLst>
                                </p:cTn>
                              </p:par>
                            </p:childTnLst>
                          </p:cTn>
                        </p:par>
                        <p:par>
                          <p:cTn id="136" fill="hold">
                            <p:stCondLst>
                              <p:cond delay="5280"/>
                            </p:stCondLst>
                            <p:childTnLst>
                              <p:par>
                                <p:cTn id="137" presetID="10" presetClass="entr" presetSubtype="0" fill="hold" grpId="0" nodeType="afterEffect">
                                  <p:stCondLst>
                                    <p:cond delay="0"/>
                                  </p:stCondLst>
                                  <p:childTnLst>
                                    <p:set>
                                      <p:cBhvr>
                                        <p:cTn id="138" dur="1" fill="hold">
                                          <p:stCondLst>
                                            <p:cond delay="0"/>
                                          </p:stCondLst>
                                        </p:cTn>
                                        <p:tgtEl>
                                          <p:spTgt spid="46"/>
                                        </p:tgtEl>
                                        <p:attrNameLst>
                                          <p:attrName>style.visibility</p:attrName>
                                        </p:attrNameLst>
                                      </p:cBhvr>
                                      <p:to>
                                        <p:strVal val="visible"/>
                                      </p:to>
                                    </p:set>
                                    <p:animEffect transition="in" filter="fade">
                                      <p:cBhvr>
                                        <p:cTn id="139" dur="160"/>
                                        <p:tgtEl>
                                          <p:spTgt spid="46"/>
                                        </p:tgtEl>
                                      </p:cBhvr>
                                    </p:animEffect>
                                  </p:childTnLst>
                                </p:cTn>
                              </p:par>
                            </p:childTnLst>
                          </p:cTn>
                        </p:par>
                        <p:par>
                          <p:cTn id="140" fill="hold">
                            <p:stCondLst>
                              <p:cond delay="5440"/>
                            </p:stCondLst>
                            <p:childTnLst>
                              <p:par>
                                <p:cTn id="141" presetID="10" presetClass="entr" presetSubtype="0" fill="hold" grpId="0" nodeType="afterEffect">
                                  <p:stCondLst>
                                    <p:cond delay="0"/>
                                  </p:stCondLst>
                                  <p:childTnLst>
                                    <p:set>
                                      <p:cBhvr>
                                        <p:cTn id="142" dur="1" fill="hold">
                                          <p:stCondLst>
                                            <p:cond delay="0"/>
                                          </p:stCondLst>
                                        </p:cTn>
                                        <p:tgtEl>
                                          <p:spTgt spid="47"/>
                                        </p:tgtEl>
                                        <p:attrNameLst>
                                          <p:attrName>style.visibility</p:attrName>
                                        </p:attrNameLst>
                                      </p:cBhvr>
                                      <p:to>
                                        <p:strVal val="visible"/>
                                      </p:to>
                                    </p:set>
                                    <p:animEffect transition="in" filter="fade">
                                      <p:cBhvr>
                                        <p:cTn id="143" dur="160"/>
                                        <p:tgtEl>
                                          <p:spTgt spid="47"/>
                                        </p:tgtEl>
                                      </p:cBhvr>
                                    </p:animEffect>
                                  </p:childTnLst>
                                </p:cTn>
                              </p:par>
                            </p:childTnLst>
                          </p:cTn>
                        </p:par>
                        <p:par>
                          <p:cTn id="144" fill="hold">
                            <p:stCondLst>
                              <p:cond delay="5600"/>
                            </p:stCondLst>
                            <p:childTnLst>
                              <p:par>
                                <p:cTn id="145" presetID="10" presetClass="entr" presetSubtype="0" fill="hold" grpId="0" nodeType="afterEffect">
                                  <p:stCondLst>
                                    <p:cond delay="0"/>
                                  </p:stCondLst>
                                  <p:childTnLst>
                                    <p:set>
                                      <p:cBhvr>
                                        <p:cTn id="146" dur="1" fill="hold">
                                          <p:stCondLst>
                                            <p:cond delay="0"/>
                                          </p:stCondLst>
                                        </p:cTn>
                                        <p:tgtEl>
                                          <p:spTgt spid="48"/>
                                        </p:tgtEl>
                                        <p:attrNameLst>
                                          <p:attrName>style.visibility</p:attrName>
                                        </p:attrNameLst>
                                      </p:cBhvr>
                                      <p:to>
                                        <p:strVal val="visible"/>
                                      </p:to>
                                    </p:set>
                                    <p:animEffect transition="in" filter="fade">
                                      <p:cBhvr>
                                        <p:cTn id="147" dur="160"/>
                                        <p:tgtEl>
                                          <p:spTgt spid="48"/>
                                        </p:tgtEl>
                                      </p:cBhvr>
                                    </p:animEffect>
                                  </p:childTnLst>
                                </p:cTn>
                              </p:par>
                            </p:childTnLst>
                          </p:cTn>
                        </p:par>
                        <p:par>
                          <p:cTn id="148" fill="hold">
                            <p:stCondLst>
                              <p:cond delay="5760"/>
                            </p:stCondLst>
                            <p:childTnLst>
                              <p:par>
                                <p:cTn id="149" presetID="10" presetClass="entr" presetSubtype="0" fill="hold" grpId="0" nodeType="afterEffect">
                                  <p:stCondLst>
                                    <p:cond delay="0"/>
                                  </p:stCondLst>
                                  <p:childTnLst>
                                    <p:set>
                                      <p:cBhvr>
                                        <p:cTn id="150" dur="1" fill="hold">
                                          <p:stCondLst>
                                            <p:cond delay="0"/>
                                          </p:stCondLst>
                                        </p:cTn>
                                        <p:tgtEl>
                                          <p:spTgt spid="49"/>
                                        </p:tgtEl>
                                        <p:attrNameLst>
                                          <p:attrName>style.visibility</p:attrName>
                                        </p:attrNameLst>
                                      </p:cBhvr>
                                      <p:to>
                                        <p:strVal val="visible"/>
                                      </p:to>
                                    </p:set>
                                    <p:animEffect transition="in" filter="fade">
                                      <p:cBhvr>
                                        <p:cTn id="151" dur="160"/>
                                        <p:tgtEl>
                                          <p:spTgt spid="49"/>
                                        </p:tgtEl>
                                      </p:cBhvr>
                                    </p:animEffect>
                                  </p:childTnLst>
                                </p:cTn>
                              </p:par>
                            </p:childTnLst>
                          </p:cTn>
                        </p:par>
                        <p:par>
                          <p:cTn id="152" fill="hold">
                            <p:stCondLst>
                              <p:cond delay="5920"/>
                            </p:stCondLst>
                            <p:childTnLst>
                              <p:par>
                                <p:cTn id="153" presetID="10" presetClass="entr" presetSubtype="0" fill="hold" grpId="0" nodeType="afterEffect">
                                  <p:stCondLst>
                                    <p:cond delay="0"/>
                                  </p:stCondLst>
                                  <p:childTnLst>
                                    <p:set>
                                      <p:cBhvr>
                                        <p:cTn id="154" dur="1" fill="hold">
                                          <p:stCondLst>
                                            <p:cond delay="0"/>
                                          </p:stCondLst>
                                        </p:cTn>
                                        <p:tgtEl>
                                          <p:spTgt spid="50"/>
                                        </p:tgtEl>
                                        <p:attrNameLst>
                                          <p:attrName>style.visibility</p:attrName>
                                        </p:attrNameLst>
                                      </p:cBhvr>
                                      <p:to>
                                        <p:strVal val="visible"/>
                                      </p:to>
                                    </p:set>
                                    <p:animEffect transition="in" filter="fade">
                                      <p:cBhvr>
                                        <p:cTn id="155" dur="160"/>
                                        <p:tgtEl>
                                          <p:spTgt spid="50"/>
                                        </p:tgtEl>
                                      </p:cBhvr>
                                    </p:animEffect>
                                  </p:childTnLst>
                                </p:cTn>
                              </p:par>
                            </p:childTnLst>
                          </p:cTn>
                        </p:par>
                        <p:par>
                          <p:cTn id="156" fill="hold">
                            <p:stCondLst>
                              <p:cond delay="6080"/>
                            </p:stCondLst>
                            <p:childTnLst>
                              <p:par>
                                <p:cTn id="157" presetID="10" presetClass="entr" presetSubtype="0" fill="hold" grpId="0" nodeType="afterEffect">
                                  <p:stCondLst>
                                    <p:cond delay="0"/>
                                  </p:stCondLst>
                                  <p:childTnLst>
                                    <p:set>
                                      <p:cBhvr>
                                        <p:cTn id="158" dur="1" fill="hold">
                                          <p:stCondLst>
                                            <p:cond delay="0"/>
                                          </p:stCondLst>
                                        </p:cTn>
                                        <p:tgtEl>
                                          <p:spTgt spid="51"/>
                                        </p:tgtEl>
                                        <p:attrNameLst>
                                          <p:attrName>style.visibility</p:attrName>
                                        </p:attrNameLst>
                                      </p:cBhvr>
                                      <p:to>
                                        <p:strVal val="visible"/>
                                      </p:to>
                                    </p:set>
                                    <p:animEffect transition="in" filter="fade">
                                      <p:cBhvr>
                                        <p:cTn id="159" dur="160"/>
                                        <p:tgtEl>
                                          <p:spTgt spid="51"/>
                                        </p:tgtEl>
                                      </p:cBhvr>
                                    </p:animEffect>
                                  </p:childTnLst>
                                </p:cTn>
                              </p:par>
                            </p:childTnLst>
                          </p:cTn>
                        </p:par>
                        <p:par>
                          <p:cTn id="160" fill="hold">
                            <p:stCondLst>
                              <p:cond delay="6240"/>
                            </p:stCondLst>
                            <p:childTnLst>
                              <p:par>
                                <p:cTn id="161" presetID="10" presetClass="entr" presetSubtype="0" fill="hold" nodeType="afterEffect">
                                  <p:stCondLst>
                                    <p:cond delay="0"/>
                                  </p:stCondLst>
                                  <p:childTnLst>
                                    <p:set>
                                      <p:cBhvr>
                                        <p:cTn id="162" dur="1" fill="hold">
                                          <p:stCondLst>
                                            <p:cond delay="0"/>
                                          </p:stCondLst>
                                        </p:cTn>
                                        <p:tgtEl>
                                          <p:spTgt spid="52"/>
                                        </p:tgtEl>
                                        <p:attrNameLst>
                                          <p:attrName>style.visibility</p:attrName>
                                        </p:attrNameLst>
                                      </p:cBhvr>
                                      <p:to>
                                        <p:strVal val="visible"/>
                                      </p:to>
                                    </p:set>
                                    <p:animEffect transition="in" filter="fade">
                                      <p:cBhvr>
                                        <p:cTn id="163" dur="160"/>
                                        <p:tgtEl>
                                          <p:spTgt spid="52"/>
                                        </p:tgtEl>
                                      </p:cBhvr>
                                    </p:animEffect>
                                  </p:childTnLst>
                                </p:cTn>
                              </p:par>
                            </p:childTnLst>
                          </p:cTn>
                        </p:par>
                        <p:par>
                          <p:cTn id="164" fill="hold">
                            <p:stCondLst>
                              <p:cond delay="6400"/>
                            </p:stCondLst>
                            <p:childTnLst>
                              <p:par>
                                <p:cTn id="165" presetID="10" presetClass="entr" presetSubtype="0" fill="hold" grpId="0" nodeType="afterEffect">
                                  <p:stCondLst>
                                    <p:cond delay="0"/>
                                  </p:stCondLst>
                                  <p:childTnLst>
                                    <p:set>
                                      <p:cBhvr>
                                        <p:cTn id="166" dur="1" fill="hold">
                                          <p:stCondLst>
                                            <p:cond delay="0"/>
                                          </p:stCondLst>
                                        </p:cTn>
                                        <p:tgtEl>
                                          <p:spTgt spid="53"/>
                                        </p:tgtEl>
                                        <p:attrNameLst>
                                          <p:attrName>style.visibility</p:attrName>
                                        </p:attrNameLst>
                                      </p:cBhvr>
                                      <p:to>
                                        <p:strVal val="visible"/>
                                      </p:to>
                                    </p:set>
                                    <p:animEffect transition="in" filter="fade">
                                      <p:cBhvr>
                                        <p:cTn id="167" dur="160"/>
                                        <p:tgtEl>
                                          <p:spTgt spid="53"/>
                                        </p:tgtEl>
                                      </p:cBhvr>
                                    </p:animEffect>
                                  </p:childTnLst>
                                </p:cTn>
                              </p:par>
                            </p:childTnLst>
                          </p:cTn>
                        </p:par>
                        <p:par>
                          <p:cTn id="168" fill="hold">
                            <p:stCondLst>
                              <p:cond delay="6560"/>
                            </p:stCondLst>
                            <p:childTnLst>
                              <p:par>
                                <p:cTn id="169" presetID="10" presetClass="entr" presetSubtype="0" fill="hold" grpId="0" nodeType="afterEffect">
                                  <p:stCondLst>
                                    <p:cond delay="0"/>
                                  </p:stCondLst>
                                  <p:childTnLst>
                                    <p:set>
                                      <p:cBhvr>
                                        <p:cTn id="170" dur="1" fill="hold">
                                          <p:stCondLst>
                                            <p:cond delay="0"/>
                                          </p:stCondLst>
                                        </p:cTn>
                                        <p:tgtEl>
                                          <p:spTgt spid="54"/>
                                        </p:tgtEl>
                                        <p:attrNameLst>
                                          <p:attrName>style.visibility</p:attrName>
                                        </p:attrNameLst>
                                      </p:cBhvr>
                                      <p:to>
                                        <p:strVal val="visible"/>
                                      </p:to>
                                    </p:set>
                                    <p:animEffect transition="in" filter="fade">
                                      <p:cBhvr>
                                        <p:cTn id="171" dur="16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8" grpId="0" animBg="1"/>
      <p:bldP spid="19" grpId="0" animBg="1"/>
      <p:bldP spid="20" grpId="0"/>
      <p:bldP spid="21" grpId="0"/>
      <p:bldP spid="22" grpId="0"/>
      <p:bldP spid="23" grpId="0"/>
      <p:bldP spid="25" grpId="0" animBg="1"/>
      <p:bldP spid="26" grpId="0" animBg="1"/>
      <p:bldP spid="27" grpId="0"/>
      <p:bldP spid="28" grpId="0"/>
      <p:bldP spid="29" grpId="0"/>
      <p:bldP spid="30" grpId="0"/>
      <p:bldP spid="32" grpId="0" animBg="1"/>
      <p:bldP spid="33" grpId="0" animBg="1"/>
      <p:bldP spid="34" grpId="0"/>
      <p:bldP spid="35" grpId="0"/>
      <p:bldP spid="36" grpId="0"/>
      <p:bldP spid="37" grpId="0"/>
      <p:bldP spid="39" grpId="0" animBg="1"/>
      <p:bldP spid="40" grpId="0" animBg="1"/>
      <p:bldP spid="41" grpId="0"/>
      <p:bldP spid="42" grpId="0"/>
      <p:bldP spid="43" grpId="0"/>
      <p:bldP spid="44" grpId="0"/>
      <p:bldP spid="46" grpId="0" animBg="1"/>
      <p:bldP spid="47" grpId="0" animBg="1"/>
      <p:bldP spid="48" grpId="0"/>
      <p:bldP spid="49" grpId="0"/>
      <p:bldP spid="50" grpId="0"/>
      <p:bldP spid="51" grpId="0"/>
      <p:bldP spid="53" grpId="0" animBg="1"/>
      <p:bldP spid="5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B898A84F-D457-887C-D8C3-59D10499E34E}"/>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A6089397-B9A2-993C-6B8B-F44367933EAC}"/>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31171007-8E47-2F17-0CC6-D8CE4783F9DF}"/>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8A1C996A-C57F-7472-3B8D-A560A64E0070}"/>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METHOD CORE</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E9DDBE14-2D99-F6C1-CF0E-7A45140A82EE}"/>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06</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8076815B-B0C4-580A-109D-FFA12D5C0CF2}"/>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ADF06F9B-D2B7-B6FE-8CE4-483BF745FB1D}"/>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75948DAC-517B-7C99-546C-EACD34D9B47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37D77C79-6404-71C4-B358-F724572464C3}"/>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Evidence is frozen first; interpretation comes second.</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32AA58C3-37A1-F3AA-4F9A-9AE3DC3DFF43}"/>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method is an admission protocol, not only a collection of detectors.</a:t>
            </a:r>
            <a:endParaRPr lang="zh-CN" altLang="en-US" sz="930">
              <a:solidFill>
                <a:srgbClr val="4A5B78"/>
              </a:solidFill>
              <a:latin typeface="Aptos" panose="020B0004020202020204" pitchFamily="34" charset="0"/>
            </a:endParaRPr>
          </a:p>
        </p:txBody>
      </p:sp>
      <p:sp>
        <p:nvSpPr>
          <p:cNvPr id="13" name="formula">
            <a:extLst>
              <a:ext uri="{FF2B5EF4-FFF2-40B4-BE49-F238E27FC236}">
                <a16:creationId xmlns:a16="http://schemas.microsoft.com/office/drawing/2014/main" id="{162F8E7C-5CA9-3642-9617-ED0291366BA6}"/>
              </a:ext>
            </a:extLst>
          </p:cNvPr>
          <p:cNvSpPr/>
          <p:nvPr/>
        </p:nvSpPr>
        <p:spPr>
          <a:xfrm>
            <a:off x="889000" y="1905000"/>
            <a:ext cx="3683000" cy="2413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ormula-k">
            <a:extLst>
              <a:ext uri="{FF2B5EF4-FFF2-40B4-BE49-F238E27FC236}">
                <a16:creationId xmlns:a16="http://schemas.microsoft.com/office/drawing/2014/main" id="{74F67845-61EB-0436-F7AB-86213A560A89}"/>
              </a:ext>
            </a:extLst>
          </p:cNvPr>
          <p:cNvSpPr txBox="1"/>
          <p:nvPr/>
        </p:nvSpPr>
        <p:spPr>
          <a:xfrm>
            <a:off x="1219200" y="2209800"/>
            <a:ext cx="15240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evidence object</a:t>
            </a:r>
            <a:endParaRPr lang="zh-CN" altLang="en-US" sz="770" b="1">
              <a:solidFill>
                <a:srgbClr val="CDE2FA"/>
              </a:solidFill>
              <a:latin typeface="Aptos" panose="020B0004020202020204" pitchFamily="34" charset="0"/>
            </a:endParaRPr>
          </a:p>
        </p:txBody>
      </p:sp>
      <p:sp>
        <p:nvSpPr>
          <p:cNvPr id="15" name="formula-main">
            <a:extLst>
              <a:ext uri="{FF2B5EF4-FFF2-40B4-BE49-F238E27FC236}">
                <a16:creationId xmlns:a16="http://schemas.microsoft.com/office/drawing/2014/main" id="{09FFD9BA-4A9C-260A-50C9-F40C446BC5D3}"/>
              </a:ext>
            </a:extLst>
          </p:cNvPr>
          <p:cNvSpPr txBox="1"/>
          <p:nvPr/>
        </p:nvSpPr>
        <p:spPr>
          <a:xfrm>
            <a:off x="1219200" y="2717800"/>
            <a:ext cx="2921000" cy="276999"/>
          </a:xfrm>
          <a:prstGeom prst="rect">
            <a:avLst/>
          </a:prstGeom>
          <a:noFill/>
        </p:spPr>
        <p:txBody>
          <a:bodyPr vert="horz" wrap="square" lIns="0" tIns="0" rIns="0" bIns="0" rtlCol="0">
            <a:noAutofit/>
          </a:bodyPr>
          <a:lstStyle/>
          <a:p>
            <a:r>
              <a:rPr lang="pt-BR" altLang="zh-CN" sz="2200" b="1">
                <a:solidFill>
                  <a:srgbClr val="FFFFFF"/>
                </a:solidFill>
                <a:latin typeface="Consolas" panose="020B0609020204030204" pitchFamily="49" charset="0"/>
              </a:rPr>
              <a:t>E = &lt;D, C, A, H, B&gt;</a:t>
            </a:r>
            <a:endParaRPr lang="zh-CN" altLang="en-US" sz="2200" b="1">
              <a:solidFill>
                <a:srgbClr val="FFFFFF"/>
              </a:solidFill>
              <a:latin typeface="Consolas" panose="020B0609020204030204" pitchFamily="49" charset="0"/>
            </a:endParaRPr>
          </a:p>
        </p:txBody>
      </p:sp>
      <p:sp>
        <p:nvSpPr>
          <p:cNvPr id="16" name="formula-sub">
            <a:extLst>
              <a:ext uri="{FF2B5EF4-FFF2-40B4-BE49-F238E27FC236}">
                <a16:creationId xmlns:a16="http://schemas.microsoft.com/office/drawing/2014/main" id="{89D4C6FE-6A3C-2DAB-AA9B-8279BE237EB0}"/>
              </a:ext>
            </a:extLst>
          </p:cNvPr>
          <p:cNvSpPr txBox="1"/>
          <p:nvPr/>
        </p:nvSpPr>
        <p:spPr>
          <a:xfrm>
            <a:off x="1219200" y="3429000"/>
            <a:ext cx="2870200" cy="276999"/>
          </a:xfrm>
          <a:prstGeom prst="rect">
            <a:avLst/>
          </a:prstGeom>
          <a:noFill/>
        </p:spPr>
        <p:txBody>
          <a:bodyPr vert="horz" wrap="square" lIns="0" tIns="0" rIns="0" bIns="0" rtlCol="0">
            <a:noAutofit/>
          </a:bodyPr>
          <a:lstStyle/>
          <a:p>
            <a:r>
              <a:rPr lang="en-US" altLang="zh-CN" sz="980">
                <a:solidFill>
                  <a:srgbClr val="DAE8FA"/>
                </a:solidFill>
                <a:latin typeface="Aptos" panose="020B0004020202020204" pitchFamily="34" charset="0"/>
              </a:rPr>
              <a:t>D denominator
C controls
A artifact and access
H hash | B boundary</a:t>
            </a:r>
            <a:endParaRPr lang="zh-CN" altLang="en-US" sz="980">
              <a:solidFill>
                <a:srgbClr val="DAE8FA"/>
              </a:solidFill>
              <a:latin typeface="Aptos" panose="020B0004020202020204" pitchFamily="34" charset="0"/>
            </a:endParaRPr>
          </a:p>
        </p:txBody>
      </p:sp>
      <p:sp>
        <p:nvSpPr>
          <p:cNvPr id="17" name="algo">
            <a:extLst>
              <a:ext uri="{FF2B5EF4-FFF2-40B4-BE49-F238E27FC236}">
                <a16:creationId xmlns:a16="http://schemas.microsoft.com/office/drawing/2014/main" id="{6A5E10E7-6EF8-B18C-75EC-3168630DE710}"/>
              </a:ext>
            </a:extLst>
          </p:cNvPr>
          <p:cNvSpPr/>
          <p:nvPr/>
        </p:nvSpPr>
        <p:spPr>
          <a:xfrm>
            <a:off x="5334000" y="1752600"/>
            <a:ext cx="5334000" cy="2717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lgo-k">
            <a:extLst>
              <a:ext uri="{FF2B5EF4-FFF2-40B4-BE49-F238E27FC236}">
                <a16:creationId xmlns:a16="http://schemas.microsoft.com/office/drawing/2014/main" id="{3FDEA507-25ED-38F3-AE46-BEF90186DBA8}"/>
              </a:ext>
            </a:extLst>
          </p:cNvPr>
          <p:cNvSpPr txBox="1"/>
          <p:nvPr/>
        </p:nvSpPr>
        <p:spPr>
          <a:xfrm>
            <a:off x="5689600" y="2057400"/>
            <a:ext cx="1524000" cy="276999"/>
          </a:xfrm>
          <a:prstGeom prst="rect">
            <a:avLst/>
          </a:prstGeom>
          <a:noFill/>
        </p:spPr>
        <p:txBody>
          <a:bodyPr vert="horz" wrap="square" lIns="0" tIns="0" rIns="0" bIns="0" rtlCol="0">
            <a:noAutofit/>
          </a:bodyPr>
          <a:lstStyle/>
          <a:p>
            <a:r>
              <a:rPr lang="en-US" altLang="zh-CN" sz="780" b="1">
                <a:solidFill>
                  <a:srgbClr val="4A5B78"/>
                </a:solidFill>
                <a:latin typeface="Aptos" panose="020B0004020202020204" pitchFamily="34" charset="0"/>
              </a:rPr>
              <a:t>admission protocol</a:t>
            </a:r>
            <a:endParaRPr lang="zh-CN" altLang="en-US" sz="780" b="1">
              <a:solidFill>
                <a:srgbClr val="4A5B78"/>
              </a:solidFill>
              <a:latin typeface="Aptos" panose="020B0004020202020204" pitchFamily="34" charset="0"/>
            </a:endParaRPr>
          </a:p>
        </p:txBody>
      </p:sp>
      <p:sp>
        <p:nvSpPr>
          <p:cNvPr id="19" name="algo-t">
            <a:extLst>
              <a:ext uri="{FF2B5EF4-FFF2-40B4-BE49-F238E27FC236}">
                <a16:creationId xmlns:a16="http://schemas.microsoft.com/office/drawing/2014/main" id="{9DB2CEE5-157C-A4E4-D45D-49A8CACCC5D9}"/>
              </a:ext>
            </a:extLst>
          </p:cNvPr>
          <p:cNvSpPr txBox="1"/>
          <p:nvPr/>
        </p:nvSpPr>
        <p:spPr>
          <a:xfrm>
            <a:off x="5689600" y="2463800"/>
            <a:ext cx="4292600" cy="276999"/>
          </a:xfrm>
          <a:prstGeom prst="rect">
            <a:avLst/>
          </a:prstGeom>
          <a:noFill/>
        </p:spPr>
        <p:txBody>
          <a:bodyPr vert="horz" wrap="square" lIns="0" tIns="0" rIns="0" bIns="0" rtlCol="0">
            <a:noAutofit/>
          </a:bodyPr>
          <a:lstStyle/>
          <a:p>
            <a:r>
              <a:rPr lang="en-US" altLang="zh-CN" sz="1400" b="1">
                <a:solidFill>
                  <a:srgbClr val="071A3D"/>
                </a:solidFill>
                <a:latin typeface="Aptos" panose="020B0004020202020204" pitchFamily="34" charset="0"/>
              </a:rPr>
              <a:t>1. freeze denominator and protocol
2. run positive and negative controls
3. preserve result artifact and hash
4. report only the bounded claim
5. abstain when evidence is insufficient</a:t>
            </a:r>
            <a:endParaRPr lang="zh-CN" altLang="en-US" sz="1400" b="1">
              <a:solidFill>
                <a:srgbClr val="071A3D"/>
              </a:solidFill>
              <a:latin typeface="Aptos" panose="020B0004020202020204" pitchFamily="34" charset="0"/>
            </a:endParaRPr>
          </a:p>
        </p:txBody>
      </p:sp>
      <p:sp>
        <p:nvSpPr>
          <p:cNvPr id="20" name="eq-0">
            <a:extLst>
              <a:ext uri="{FF2B5EF4-FFF2-40B4-BE49-F238E27FC236}">
                <a16:creationId xmlns:a16="http://schemas.microsoft.com/office/drawing/2014/main" id="{65E8C714-B1BB-BBB1-E246-958FC207F2C0}"/>
              </a:ext>
            </a:extLst>
          </p:cNvPr>
          <p:cNvSpPr/>
          <p:nvPr/>
        </p:nvSpPr>
        <p:spPr>
          <a:xfrm>
            <a:off x="1320800" y="5054600"/>
            <a:ext cx="2565400" cy="584200"/>
          </a:xfrm>
          <a:prstGeom prst="rect">
            <a:avLst/>
          </a:prstGeom>
          <a:solidFill>
            <a:srgbClr val="F7FA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eq-band-0">
            <a:extLst>
              <a:ext uri="{FF2B5EF4-FFF2-40B4-BE49-F238E27FC236}">
                <a16:creationId xmlns:a16="http://schemas.microsoft.com/office/drawing/2014/main" id="{B5B63F64-FCE1-46A7-3A9A-4F26901FC24D}"/>
              </a:ext>
            </a:extLst>
          </p:cNvPr>
          <p:cNvSpPr/>
          <p:nvPr/>
        </p:nvSpPr>
        <p:spPr>
          <a:xfrm>
            <a:off x="1320800" y="5054600"/>
            <a:ext cx="63500" cy="5842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eq-n-0">
            <a:extLst>
              <a:ext uri="{FF2B5EF4-FFF2-40B4-BE49-F238E27FC236}">
                <a16:creationId xmlns:a16="http://schemas.microsoft.com/office/drawing/2014/main" id="{D5B62178-0E57-00F9-5359-152B33379D36}"/>
              </a:ext>
            </a:extLst>
          </p:cNvPr>
          <p:cNvSpPr txBox="1"/>
          <p:nvPr/>
        </p:nvSpPr>
        <p:spPr>
          <a:xfrm>
            <a:off x="1549400" y="5207000"/>
            <a:ext cx="1219200" cy="276999"/>
          </a:xfrm>
          <a:prstGeom prst="rect">
            <a:avLst/>
          </a:prstGeom>
          <a:noFill/>
        </p:spPr>
        <p:txBody>
          <a:bodyPr vert="horz" wrap="square" lIns="0" tIns="0" rIns="0" bIns="0" rtlCol="0">
            <a:noAutofit/>
          </a:bodyPr>
          <a:lstStyle/>
          <a:p>
            <a:r>
              <a:rPr lang="en-US" altLang="zh-CN" sz="810" b="1">
                <a:solidFill>
                  <a:srgbClr val="168E8B"/>
                </a:solidFill>
                <a:latin typeface="Aptos" panose="020B0004020202020204" pitchFamily="34" charset="0"/>
              </a:rPr>
              <a:t>SemCodebook</a:t>
            </a:r>
            <a:endParaRPr lang="zh-CN" altLang="en-US" sz="810" b="1">
              <a:solidFill>
                <a:srgbClr val="168E8B"/>
              </a:solidFill>
              <a:latin typeface="Aptos" panose="020B0004020202020204" pitchFamily="34" charset="0"/>
            </a:endParaRPr>
          </a:p>
        </p:txBody>
      </p:sp>
      <p:sp>
        <p:nvSpPr>
          <p:cNvPr id="23" name="eq-s-0">
            <a:extLst>
              <a:ext uri="{FF2B5EF4-FFF2-40B4-BE49-F238E27FC236}">
                <a16:creationId xmlns:a16="http://schemas.microsoft.com/office/drawing/2014/main" id="{D315D880-A367-CC98-3520-A78378CC0D09}"/>
              </a:ext>
            </a:extLst>
          </p:cNvPr>
          <p:cNvSpPr txBox="1"/>
          <p:nvPr/>
        </p:nvSpPr>
        <p:spPr>
          <a:xfrm>
            <a:off x="1549400" y="5435600"/>
            <a:ext cx="20320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recover typed carriers under a keyed schedule</a:t>
            </a:r>
            <a:endParaRPr lang="zh-CN" altLang="en-US" sz="730">
              <a:solidFill>
                <a:srgbClr val="4A5B78"/>
              </a:solidFill>
              <a:latin typeface="Aptos" panose="020B0004020202020204" pitchFamily="34" charset="0"/>
            </a:endParaRPr>
          </a:p>
        </p:txBody>
      </p:sp>
      <p:sp>
        <p:nvSpPr>
          <p:cNvPr id="24" name="eq-1">
            <a:extLst>
              <a:ext uri="{FF2B5EF4-FFF2-40B4-BE49-F238E27FC236}">
                <a16:creationId xmlns:a16="http://schemas.microsoft.com/office/drawing/2014/main" id="{493EEEA7-CAD2-2221-4C0D-6E7BCE2E4132}"/>
              </a:ext>
            </a:extLst>
          </p:cNvPr>
          <p:cNvSpPr/>
          <p:nvPr/>
        </p:nvSpPr>
        <p:spPr>
          <a:xfrm>
            <a:off x="4521200" y="5054600"/>
            <a:ext cx="2565400" cy="584200"/>
          </a:xfrm>
          <a:prstGeom prst="rect">
            <a:avLst/>
          </a:prstGeom>
          <a:solidFill>
            <a:srgbClr val="F7FA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eq-band-1">
            <a:extLst>
              <a:ext uri="{FF2B5EF4-FFF2-40B4-BE49-F238E27FC236}">
                <a16:creationId xmlns:a16="http://schemas.microsoft.com/office/drawing/2014/main" id="{C7FB18BF-6E48-5D5E-7D43-CAF9448D0E45}"/>
              </a:ext>
            </a:extLst>
          </p:cNvPr>
          <p:cNvSpPr/>
          <p:nvPr/>
        </p:nvSpPr>
        <p:spPr>
          <a:xfrm>
            <a:off x="4521200" y="5054600"/>
            <a:ext cx="63500" cy="5842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eq-n-1">
            <a:extLst>
              <a:ext uri="{FF2B5EF4-FFF2-40B4-BE49-F238E27FC236}">
                <a16:creationId xmlns:a16="http://schemas.microsoft.com/office/drawing/2014/main" id="{4F4D98E1-B0F3-8877-18E0-E34BA2382B5A}"/>
              </a:ext>
            </a:extLst>
          </p:cNvPr>
          <p:cNvSpPr txBox="1"/>
          <p:nvPr/>
        </p:nvSpPr>
        <p:spPr>
          <a:xfrm>
            <a:off x="4749800" y="5207000"/>
            <a:ext cx="1219200" cy="276999"/>
          </a:xfrm>
          <a:prstGeom prst="rect">
            <a:avLst/>
          </a:prstGeom>
          <a:noFill/>
        </p:spPr>
        <p:txBody>
          <a:bodyPr vert="horz" wrap="square" lIns="0" tIns="0" rIns="0" bIns="0" rtlCol="0">
            <a:noAutofit/>
          </a:bodyPr>
          <a:lstStyle/>
          <a:p>
            <a:r>
              <a:rPr lang="en-US" altLang="zh-CN" sz="810" b="1">
                <a:solidFill>
                  <a:srgbClr val="B85C00"/>
                </a:solidFill>
                <a:latin typeface="Aptos" panose="020B0004020202020204" pitchFamily="34" charset="0"/>
              </a:rPr>
              <a:t>ProbeTrace</a:t>
            </a:r>
            <a:endParaRPr lang="zh-CN" altLang="en-US" sz="810" b="1">
              <a:solidFill>
                <a:srgbClr val="B85C00"/>
              </a:solidFill>
              <a:latin typeface="Aptos" panose="020B0004020202020204" pitchFamily="34" charset="0"/>
            </a:endParaRPr>
          </a:p>
        </p:txBody>
      </p:sp>
      <p:sp>
        <p:nvSpPr>
          <p:cNvPr id="27" name="eq-s-1">
            <a:extLst>
              <a:ext uri="{FF2B5EF4-FFF2-40B4-BE49-F238E27FC236}">
                <a16:creationId xmlns:a16="http://schemas.microsoft.com/office/drawing/2014/main" id="{B94ED1BB-AA04-4D36-5785-13EF3BAB30E3}"/>
              </a:ext>
            </a:extLst>
          </p:cNvPr>
          <p:cNvSpPr txBox="1"/>
          <p:nvPr/>
        </p:nvSpPr>
        <p:spPr>
          <a:xfrm>
            <a:off x="4749800" y="5435600"/>
            <a:ext cx="20320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margin = s_true - max(s_false)</a:t>
            </a:r>
            <a:endParaRPr lang="zh-CN" altLang="en-US" sz="730">
              <a:solidFill>
                <a:srgbClr val="4A5B78"/>
              </a:solidFill>
              <a:latin typeface="Aptos" panose="020B0004020202020204" pitchFamily="34" charset="0"/>
            </a:endParaRPr>
          </a:p>
        </p:txBody>
      </p:sp>
      <p:sp>
        <p:nvSpPr>
          <p:cNvPr id="28" name="eq-2">
            <a:extLst>
              <a:ext uri="{FF2B5EF4-FFF2-40B4-BE49-F238E27FC236}">
                <a16:creationId xmlns:a16="http://schemas.microsoft.com/office/drawing/2014/main" id="{8EDBD7E5-F3A9-11C3-AC54-689D3F39EDD8}"/>
              </a:ext>
            </a:extLst>
          </p:cNvPr>
          <p:cNvSpPr/>
          <p:nvPr/>
        </p:nvSpPr>
        <p:spPr>
          <a:xfrm>
            <a:off x="7721600" y="5054600"/>
            <a:ext cx="2565400" cy="584200"/>
          </a:xfrm>
          <a:prstGeom prst="rect">
            <a:avLst/>
          </a:prstGeom>
          <a:solidFill>
            <a:srgbClr val="F7FA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eq-band-2">
            <a:extLst>
              <a:ext uri="{FF2B5EF4-FFF2-40B4-BE49-F238E27FC236}">
                <a16:creationId xmlns:a16="http://schemas.microsoft.com/office/drawing/2014/main" id="{9BD71AE3-0588-A210-C2AF-EB183E33B3F1}"/>
              </a:ext>
            </a:extLst>
          </p:cNvPr>
          <p:cNvSpPr/>
          <p:nvPr/>
        </p:nvSpPr>
        <p:spPr>
          <a:xfrm>
            <a:off x="7721600" y="5054600"/>
            <a:ext cx="63500" cy="5842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eq-n-2">
            <a:extLst>
              <a:ext uri="{FF2B5EF4-FFF2-40B4-BE49-F238E27FC236}">
                <a16:creationId xmlns:a16="http://schemas.microsoft.com/office/drawing/2014/main" id="{A9858803-F2FE-72D1-BECD-B0B073D13EA1}"/>
              </a:ext>
            </a:extLst>
          </p:cNvPr>
          <p:cNvSpPr txBox="1"/>
          <p:nvPr/>
        </p:nvSpPr>
        <p:spPr>
          <a:xfrm>
            <a:off x="7950200" y="5207000"/>
            <a:ext cx="1219200" cy="276999"/>
          </a:xfrm>
          <a:prstGeom prst="rect">
            <a:avLst/>
          </a:prstGeom>
          <a:noFill/>
        </p:spPr>
        <p:txBody>
          <a:bodyPr vert="horz" wrap="square" lIns="0" tIns="0" rIns="0" bIns="0" rtlCol="0">
            <a:noAutofit/>
          </a:bodyPr>
          <a:lstStyle/>
          <a:p>
            <a:r>
              <a:rPr lang="en-US" altLang="zh-CN" sz="810" b="1">
                <a:solidFill>
                  <a:srgbClr val="1F7A4D"/>
                </a:solidFill>
                <a:latin typeface="Aptos" panose="020B0004020202020204" pitchFamily="34" charset="0"/>
              </a:rPr>
              <a:t>SealAudit</a:t>
            </a:r>
            <a:endParaRPr lang="zh-CN" altLang="en-US" sz="810" b="1">
              <a:solidFill>
                <a:srgbClr val="1F7A4D"/>
              </a:solidFill>
              <a:latin typeface="Aptos" panose="020B0004020202020204" pitchFamily="34" charset="0"/>
            </a:endParaRPr>
          </a:p>
        </p:txBody>
      </p:sp>
      <p:sp>
        <p:nvSpPr>
          <p:cNvPr id="31" name="eq-s-2">
            <a:extLst>
              <a:ext uri="{FF2B5EF4-FFF2-40B4-BE49-F238E27FC236}">
                <a16:creationId xmlns:a16="http://schemas.microsoft.com/office/drawing/2014/main" id="{24C129A9-25ED-F4C3-1EE4-57CE83BB8F09}"/>
              </a:ext>
            </a:extLst>
          </p:cNvPr>
          <p:cNvSpPr txBox="1"/>
          <p:nvPr/>
        </p:nvSpPr>
        <p:spPr>
          <a:xfrm>
            <a:off x="7950200" y="5435600"/>
            <a:ext cx="20320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decision only if confidence crosses triage gate</a:t>
            </a:r>
            <a:endParaRPr lang="zh-CN" altLang="en-US" sz="730">
              <a:solidFill>
                <a:srgbClr val="4A5B78"/>
              </a:solidFill>
              <a:latin typeface="Aptos" panose="020B0004020202020204" pitchFamily="34" charset="0"/>
            </a:endParaRPr>
          </a:p>
        </p:txBody>
      </p:sp>
      <p:sp>
        <p:nvSpPr>
          <p:cNvPr id="32" name="footer-hit-6">
            <a:hlinkClick r:id="rId4"/>
            <a:extLst>
              <a:ext uri="{FF2B5EF4-FFF2-40B4-BE49-F238E27FC236}">
                <a16:creationId xmlns:a16="http://schemas.microsoft.com/office/drawing/2014/main" id="{1E6EDB1D-5D19-E945-891F-60857A776949}"/>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01014240"/>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12FB29DA-1BFD-45AF-333D-C57237AE67A0}"/>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F5E52FB2-6721-A744-5510-BAE31A166441}"/>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2EB64AB6-C893-C395-2EA8-0873A49AB291}"/>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540157CB-9753-6C68-CA40-72C057BEB037}"/>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RESULTS</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AD82BE23-CF0E-AF75-905F-E516711343D6}"/>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07</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E0C466D7-C614-354D-BD6D-F218E796D57C}"/>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B499F295-357B-8C01-E18D-B594F7A7618C}"/>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01F564DE-6B27-39ED-2EFB-43B38BEA17B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F2256E40-41FC-7F91-7789-58FD825B069A}"/>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main result is a set of bounded claims.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F7B229ED-3A7D-F8C8-61D9-084A19053460}"/>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I do not average these stages into one score; each result keeps its own denominator, controls, and boundary.</a:t>
            </a:r>
            <a:endParaRPr lang="zh-CN" altLang="en-US" sz="930">
              <a:solidFill>
                <a:srgbClr val="4A5B78"/>
              </a:solidFill>
              <a:latin typeface="Aptos" panose="020B0004020202020204" pitchFamily="34" charset="0"/>
            </a:endParaRPr>
          </a:p>
        </p:txBody>
      </p:sp>
      <p:sp>
        <p:nvSpPr>
          <p:cNvPr id="13" name="headline">
            <a:extLst>
              <a:ext uri="{FF2B5EF4-FFF2-40B4-BE49-F238E27FC236}">
                <a16:creationId xmlns:a16="http://schemas.microsoft.com/office/drawing/2014/main" id="{BE1CC702-5116-66E9-F236-32EB29678E53}"/>
              </a:ext>
            </a:extLst>
          </p:cNvPr>
          <p:cNvSpPr/>
          <p:nvPr/>
        </p:nvSpPr>
        <p:spPr>
          <a:xfrm>
            <a:off x="889000" y="1905000"/>
            <a:ext cx="10414000" cy="6858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headline-k">
            <a:extLst>
              <a:ext uri="{FF2B5EF4-FFF2-40B4-BE49-F238E27FC236}">
                <a16:creationId xmlns:a16="http://schemas.microsoft.com/office/drawing/2014/main" id="{A1ED0870-3F28-D796-E5B7-BD847CCD320B}"/>
              </a:ext>
            </a:extLst>
          </p:cNvPr>
          <p:cNvSpPr txBox="1"/>
          <p:nvPr/>
        </p:nvSpPr>
        <p:spPr>
          <a:xfrm>
            <a:off x="1270000" y="2108200"/>
            <a:ext cx="1955800" cy="276999"/>
          </a:xfrm>
          <a:prstGeom prst="rect">
            <a:avLst/>
          </a:prstGeom>
          <a:noFill/>
        </p:spPr>
        <p:txBody>
          <a:bodyPr vert="horz" wrap="square" lIns="0" tIns="0" rIns="0" bIns="0" rtlCol="0">
            <a:noAutofit/>
          </a:bodyPr>
          <a:lstStyle/>
          <a:p>
            <a:r>
              <a:rPr lang="en-US" altLang="zh-CN" sz="720" b="1">
                <a:solidFill>
                  <a:srgbClr val="CDE2FA"/>
                </a:solidFill>
                <a:latin typeface="Aptos" panose="020B0004020202020204" pitchFamily="34" charset="0"/>
              </a:rPr>
              <a:t>SUBMITTED FYP SNAPSHOT</a:t>
            </a:r>
            <a:endParaRPr lang="zh-CN" altLang="en-US" sz="720" b="1">
              <a:solidFill>
                <a:srgbClr val="CDE2FA"/>
              </a:solidFill>
              <a:latin typeface="Aptos" panose="020B0004020202020204" pitchFamily="34" charset="0"/>
            </a:endParaRPr>
          </a:p>
        </p:txBody>
      </p:sp>
      <p:sp>
        <p:nvSpPr>
          <p:cNvPr id="15" name="headline-t">
            <a:extLst>
              <a:ext uri="{FF2B5EF4-FFF2-40B4-BE49-F238E27FC236}">
                <a16:creationId xmlns:a16="http://schemas.microsoft.com/office/drawing/2014/main" id="{7061511C-4C39-3127-9C43-C654807B3FE5}"/>
              </a:ext>
            </a:extLst>
          </p:cNvPr>
          <p:cNvSpPr txBox="1"/>
          <p:nvPr/>
        </p:nvSpPr>
        <p:spPr>
          <a:xfrm>
            <a:off x="1270000" y="2336800"/>
            <a:ext cx="8178800" cy="276999"/>
          </a:xfrm>
          <a:prstGeom prst="rect">
            <a:avLst/>
          </a:prstGeom>
          <a:noFill/>
        </p:spPr>
        <p:txBody>
          <a:bodyPr vert="horz" wrap="square" lIns="0" tIns="0" rIns="0" bIns="0" rtlCol="0">
            <a:noAutofit/>
          </a:bodyPr>
          <a:lstStyle/>
          <a:p>
            <a:r>
              <a:rPr lang="en-US" altLang="zh-CN" sz="920" b="1">
                <a:solidFill>
                  <a:srgbClr val="FFFFFF"/>
                </a:solidFill>
                <a:latin typeface="Aptos" panose="020B0004020202020204" pitchFamily="34" charset="0"/>
              </a:rPr>
              <a:t>Each number is paired with the claim it permits and the overclaim it blocks.</a:t>
            </a:r>
            <a:endParaRPr lang="zh-CN" altLang="en-US" sz="920" b="1">
              <a:solidFill>
                <a:srgbClr val="FFFFFF"/>
              </a:solidFill>
              <a:latin typeface="Aptos" panose="020B0004020202020204" pitchFamily="34" charset="0"/>
            </a:endParaRPr>
          </a:p>
        </p:txBody>
      </p:sp>
      <p:sp>
        <p:nvSpPr>
          <p:cNvPr id="16" name="big-0">
            <a:extLst>
              <a:ext uri="{FF2B5EF4-FFF2-40B4-BE49-F238E27FC236}">
                <a16:creationId xmlns:a16="http://schemas.microsoft.com/office/drawing/2014/main" id="{38543447-3EAA-B077-7B4D-16A97B401577}"/>
              </a:ext>
            </a:extLst>
          </p:cNvPr>
          <p:cNvSpPr/>
          <p:nvPr/>
        </p:nvSpPr>
        <p:spPr>
          <a:xfrm>
            <a:off x="889000" y="2946400"/>
            <a:ext cx="3175000" cy="157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big-band-0">
            <a:extLst>
              <a:ext uri="{FF2B5EF4-FFF2-40B4-BE49-F238E27FC236}">
                <a16:creationId xmlns:a16="http://schemas.microsoft.com/office/drawing/2014/main" id="{FF32BBD6-74A5-FAF3-114A-D29A0E9DF7D9}"/>
              </a:ext>
            </a:extLst>
          </p:cNvPr>
          <p:cNvSpPr/>
          <p:nvPr/>
        </p:nvSpPr>
        <p:spPr>
          <a:xfrm>
            <a:off x="889000" y="2946400"/>
            <a:ext cx="3175000" cy="101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big-name-0">
            <a:extLst>
              <a:ext uri="{FF2B5EF4-FFF2-40B4-BE49-F238E27FC236}">
                <a16:creationId xmlns:a16="http://schemas.microsoft.com/office/drawing/2014/main" id="{2DB14632-D661-ED23-8611-F426666DE650}"/>
              </a:ext>
            </a:extLst>
          </p:cNvPr>
          <p:cNvSpPr txBox="1"/>
          <p:nvPr/>
        </p:nvSpPr>
        <p:spPr>
          <a:xfrm>
            <a:off x="1193800" y="3302000"/>
            <a:ext cx="1524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Benchmark</a:t>
            </a:r>
            <a:endParaRPr lang="zh-CN" altLang="en-US" sz="880" b="1">
              <a:solidFill>
                <a:srgbClr val="003B7A"/>
              </a:solidFill>
              <a:latin typeface="Aptos" panose="020B0004020202020204" pitchFamily="34" charset="0"/>
            </a:endParaRPr>
          </a:p>
        </p:txBody>
      </p:sp>
      <p:sp>
        <p:nvSpPr>
          <p:cNvPr id="19" name="big-val-0">
            <a:extLst>
              <a:ext uri="{FF2B5EF4-FFF2-40B4-BE49-F238E27FC236}">
                <a16:creationId xmlns:a16="http://schemas.microsoft.com/office/drawing/2014/main" id="{8592A941-FC26-0878-B253-2FDB93BEB1F1}"/>
              </a:ext>
            </a:extLst>
          </p:cNvPr>
          <p:cNvSpPr txBox="1"/>
          <p:nvPr/>
        </p:nvSpPr>
        <p:spPr>
          <a:xfrm>
            <a:off x="1193800" y="3708400"/>
            <a:ext cx="2387600" cy="276999"/>
          </a:xfrm>
          <a:prstGeom prst="rect">
            <a:avLst/>
          </a:prstGeom>
          <a:noFill/>
        </p:spPr>
        <p:txBody>
          <a:bodyPr vert="horz" wrap="square" lIns="0" tIns="0" rIns="0" bIns="0" rtlCol="0">
            <a:noAutofit/>
          </a:bodyPr>
          <a:lstStyle/>
          <a:p>
            <a:r>
              <a:rPr lang="en-US" altLang="zh-CN" sz="1900" b="1">
                <a:solidFill>
                  <a:srgbClr val="071A3D"/>
                </a:solidFill>
                <a:latin typeface="Aptos" panose="020B0004020202020204" pitchFamily="34" charset="0"/>
              </a:rPr>
              <a:t>140/140</a:t>
            </a:r>
            <a:endParaRPr lang="zh-CN" altLang="en-US" sz="1900" b="1">
              <a:solidFill>
                <a:srgbClr val="071A3D"/>
              </a:solidFill>
              <a:latin typeface="Aptos" panose="020B0004020202020204" pitchFamily="34" charset="0"/>
            </a:endParaRPr>
          </a:p>
        </p:txBody>
      </p:sp>
      <p:sp>
        <p:nvSpPr>
          <p:cNvPr id="20" name="big-ok-0">
            <a:extLst>
              <a:ext uri="{FF2B5EF4-FFF2-40B4-BE49-F238E27FC236}">
                <a16:creationId xmlns:a16="http://schemas.microsoft.com/office/drawing/2014/main" id="{73DCBDBC-E4F4-F325-E52E-0599DA1428B4}"/>
              </a:ext>
            </a:extLst>
          </p:cNvPr>
          <p:cNvSpPr txBox="1"/>
          <p:nvPr/>
        </p:nvSpPr>
        <p:spPr>
          <a:xfrm>
            <a:off x="1193800" y="4191000"/>
            <a:ext cx="1168400" cy="276999"/>
          </a:xfrm>
          <a:prstGeom prst="rect">
            <a:avLst/>
          </a:prstGeom>
          <a:noFill/>
        </p:spPr>
        <p:txBody>
          <a:bodyPr vert="horz" wrap="square" lIns="0" tIns="0" rIns="0" bIns="0" rtlCol="0">
            <a:noAutofit/>
          </a:bodyPr>
          <a:lstStyle/>
          <a:p>
            <a:r>
              <a:rPr lang="en-US" altLang="zh-CN" sz="720" b="1">
                <a:solidFill>
                  <a:srgbClr val="003B7A"/>
                </a:solidFill>
                <a:latin typeface="Aptos" panose="020B0004020202020204" pitchFamily="34" charset="0"/>
              </a:rPr>
              <a:t>Allows:</a:t>
            </a:r>
            <a:endParaRPr lang="zh-CN" altLang="en-US" sz="720" b="1">
              <a:solidFill>
                <a:srgbClr val="003B7A"/>
              </a:solidFill>
              <a:latin typeface="Aptos" panose="020B0004020202020204" pitchFamily="34" charset="0"/>
            </a:endParaRPr>
          </a:p>
        </p:txBody>
      </p:sp>
      <p:sp>
        <p:nvSpPr>
          <p:cNvPr id="21" name="big-ok-t-0">
            <a:extLst>
              <a:ext uri="{FF2B5EF4-FFF2-40B4-BE49-F238E27FC236}">
                <a16:creationId xmlns:a16="http://schemas.microsoft.com/office/drawing/2014/main" id="{1B23B3B5-BFB8-A2D7-1C31-74F4382F419C}"/>
              </a:ext>
            </a:extLst>
          </p:cNvPr>
          <p:cNvSpPr txBox="1"/>
          <p:nvPr/>
        </p:nvSpPr>
        <p:spPr>
          <a:xfrm>
            <a:off x="1930400" y="41910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fixed denominator</a:t>
            </a:r>
            <a:endParaRPr lang="zh-CN" altLang="en-US" sz="720">
              <a:solidFill>
                <a:srgbClr val="071A3D"/>
              </a:solidFill>
              <a:latin typeface="Aptos" panose="020B0004020202020204" pitchFamily="34" charset="0"/>
            </a:endParaRPr>
          </a:p>
        </p:txBody>
      </p:sp>
      <p:sp>
        <p:nvSpPr>
          <p:cNvPr id="22" name="big-no-0">
            <a:extLst>
              <a:ext uri="{FF2B5EF4-FFF2-40B4-BE49-F238E27FC236}">
                <a16:creationId xmlns:a16="http://schemas.microsoft.com/office/drawing/2014/main" id="{307E3460-3195-E75F-347F-A38DB79CAE99}"/>
              </a:ext>
            </a:extLst>
          </p:cNvPr>
          <p:cNvSpPr txBox="1"/>
          <p:nvPr/>
        </p:nvSpPr>
        <p:spPr>
          <a:xfrm>
            <a:off x="1193800" y="4419600"/>
            <a:ext cx="1168400" cy="276999"/>
          </a:xfrm>
          <a:prstGeom prst="rect">
            <a:avLst/>
          </a:prstGeom>
          <a:noFill/>
        </p:spPr>
        <p:txBody>
          <a:bodyPr vert="horz" wrap="square" lIns="0" tIns="0" rIns="0" bIns="0" rtlCol="0">
            <a:noAutofit/>
          </a:bodyPr>
          <a:lstStyle/>
          <a:p>
            <a:r>
              <a:rPr lang="en-US" altLang="zh-CN" sz="720" b="1">
                <a:solidFill>
                  <a:srgbClr val="B8293C"/>
                </a:solidFill>
                <a:latin typeface="Aptos" panose="020B0004020202020204" pitchFamily="34" charset="0"/>
              </a:rPr>
              <a:t>Blocks:</a:t>
            </a:r>
            <a:endParaRPr lang="zh-CN" altLang="en-US" sz="720" b="1">
              <a:solidFill>
                <a:srgbClr val="B8293C"/>
              </a:solidFill>
              <a:latin typeface="Aptos" panose="020B0004020202020204" pitchFamily="34" charset="0"/>
            </a:endParaRPr>
          </a:p>
        </p:txBody>
      </p:sp>
      <p:sp>
        <p:nvSpPr>
          <p:cNvPr id="23" name="big-no-t-0">
            <a:extLst>
              <a:ext uri="{FF2B5EF4-FFF2-40B4-BE49-F238E27FC236}">
                <a16:creationId xmlns:a16="http://schemas.microsoft.com/office/drawing/2014/main" id="{E129B186-6EC6-21FE-DFD3-2D737EB3898C}"/>
              </a:ext>
            </a:extLst>
          </p:cNvPr>
          <p:cNvSpPr txBox="1"/>
          <p:nvPr/>
        </p:nvSpPr>
        <p:spPr>
          <a:xfrm>
            <a:off x="1930400" y="44196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not method success</a:t>
            </a:r>
            <a:endParaRPr lang="zh-CN" altLang="en-US" sz="720">
              <a:solidFill>
                <a:srgbClr val="071A3D"/>
              </a:solidFill>
              <a:latin typeface="Aptos" panose="020B0004020202020204" pitchFamily="34" charset="0"/>
            </a:endParaRPr>
          </a:p>
        </p:txBody>
      </p:sp>
      <p:sp>
        <p:nvSpPr>
          <p:cNvPr id="24" name="big-1">
            <a:extLst>
              <a:ext uri="{FF2B5EF4-FFF2-40B4-BE49-F238E27FC236}">
                <a16:creationId xmlns:a16="http://schemas.microsoft.com/office/drawing/2014/main" id="{F3BB811D-A482-B33C-95E9-ADCB3B5CC084}"/>
              </a:ext>
            </a:extLst>
          </p:cNvPr>
          <p:cNvSpPr/>
          <p:nvPr/>
        </p:nvSpPr>
        <p:spPr>
          <a:xfrm>
            <a:off x="4470400" y="2946400"/>
            <a:ext cx="3175000" cy="157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big-band-1">
            <a:extLst>
              <a:ext uri="{FF2B5EF4-FFF2-40B4-BE49-F238E27FC236}">
                <a16:creationId xmlns:a16="http://schemas.microsoft.com/office/drawing/2014/main" id="{64B76560-69D5-A7D5-547B-03E1C9DDF071}"/>
              </a:ext>
            </a:extLst>
          </p:cNvPr>
          <p:cNvSpPr/>
          <p:nvPr/>
        </p:nvSpPr>
        <p:spPr>
          <a:xfrm>
            <a:off x="4470400" y="2946400"/>
            <a:ext cx="3175000" cy="1016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big-name-1">
            <a:extLst>
              <a:ext uri="{FF2B5EF4-FFF2-40B4-BE49-F238E27FC236}">
                <a16:creationId xmlns:a16="http://schemas.microsoft.com/office/drawing/2014/main" id="{093E3992-7358-A992-C44B-266B6AB66181}"/>
              </a:ext>
            </a:extLst>
          </p:cNvPr>
          <p:cNvSpPr txBox="1"/>
          <p:nvPr/>
        </p:nvSpPr>
        <p:spPr>
          <a:xfrm>
            <a:off x="4775200" y="3302000"/>
            <a:ext cx="1524000" cy="276999"/>
          </a:xfrm>
          <a:prstGeom prst="rect">
            <a:avLst/>
          </a:prstGeom>
          <a:noFill/>
        </p:spPr>
        <p:txBody>
          <a:bodyPr vert="horz" wrap="square" lIns="0" tIns="0" rIns="0" bIns="0" rtlCol="0">
            <a:noAutofit/>
          </a:bodyPr>
          <a:lstStyle/>
          <a:p>
            <a:r>
              <a:rPr lang="en-US" altLang="zh-CN" sz="880" b="1">
                <a:solidFill>
                  <a:srgbClr val="168E8B"/>
                </a:solidFill>
                <a:latin typeface="Aptos" panose="020B0004020202020204" pitchFamily="34" charset="0"/>
              </a:rPr>
              <a:t>SemCodebook</a:t>
            </a:r>
            <a:endParaRPr lang="zh-CN" altLang="en-US" sz="880" b="1">
              <a:solidFill>
                <a:srgbClr val="168E8B"/>
              </a:solidFill>
              <a:latin typeface="Aptos" panose="020B0004020202020204" pitchFamily="34" charset="0"/>
            </a:endParaRPr>
          </a:p>
        </p:txBody>
      </p:sp>
      <p:sp>
        <p:nvSpPr>
          <p:cNvPr id="27" name="big-val-1">
            <a:extLst>
              <a:ext uri="{FF2B5EF4-FFF2-40B4-BE49-F238E27FC236}">
                <a16:creationId xmlns:a16="http://schemas.microsoft.com/office/drawing/2014/main" id="{55B1ECE6-DE8C-AB81-1BF0-27FAE4091763}"/>
              </a:ext>
            </a:extLst>
          </p:cNvPr>
          <p:cNvSpPr txBox="1"/>
          <p:nvPr/>
        </p:nvSpPr>
        <p:spPr>
          <a:xfrm>
            <a:off x="4775200" y="3708400"/>
            <a:ext cx="2387600" cy="276999"/>
          </a:xfrm>
          <a:prstGeom prst="rect">
            <a:avLst/>
          </a:prstGeom>
          <a:noFill/>
        </p:spPr>
        <p:txBody>
          <a:bodyPr vert="horz" wrap="square" lIns="0" tIns="0" rIns="0" bIns="0" rtlCol="0">
            <a:noAutofit/>
          </a:bodyPr>
          <a:lstStyle/>
          <a:p>
            <a:r>
              <a:rPr lang="en-US" altLang="zh-CN" sz="1900" b="1">
                <a:solidFill>
                  <a:srgbClr val="071A3D"/>
                </a:solidFill>
                <a:latin typeface="Aptos" panose="020B0004020202020204" pitchFamily="34" charset="0"/>
              </a:rPr>
              <a:t>23,342/24,000</a:t>
            </a:r>
            <a:endParaRPr lang="zh-CN" altLang="en-US" sz="1900" b="1">
              <a:solidFill>
                <a:srgbClr val="071A3D"/>
              </a:solidFill>
              <a:latin typeface="Aptos" panose="020B0004020202020204" pitchFamily="34" charset="0"/>
            </a:endParaRPr>
          </a:p>
        </p:txBody>
      </p:sp>
      <p:sp>
        <p:nvSpPr>
          <p:cNvPr id="28" name="big-ok-1">
            <a:extLst>
              <a:ext uri="{FF2B5EF4-FFF2-40B4-BE49-F238E27FC236}">
                <a16:creationId xmlns:a16="http://schemas.microsoft.com/office/drawing/2014/main" id="{9FA537F0-40F2-6986-8C31-A29C75D08713}"/>
              </a:ext>
            </a:extLst>
          </p:cNvPr>
          <p:cNvSpPr txBox="1"/>
          <p:nvPr/>
        </p:nvSpPr>
        <p:spPr>
          <a:xfrm>
            <a:off x="4775200" y="4191000"/>
            <a:ext cx="1168400" cy="276999"/>
          </a:xfrm>
          <a:prstGeom prst="rect">
            <a:avLst/>
          </a:prstGeom>
          <a:noFill/>
        </p:spPr>
        <p:txBody>
          <a:bodyPr vert="horz" wrap="square" lIns="0" tIns="0" rIns="0" bIns="0" rtlCol="0">
            <a:noAutofit/>
          </a:bodyPr>
          <a:lstStyle/>
          <a:p>
            <a:r>
              <a:rPr lang="en-US" altLang="zh-CN" sz="720" b="1">
                <a:solidFill>
                  <a:srgbClr val="003B7A"/>
                </a:solidFill>
                <a:latin typeface="Aptos" panose="020B0004020202020204" pitchFamily="34" charset="0"/>
              </a:rPr>
              <a:t>Allows:</a:t>
            </a:r>
            <a:endParaRPr lang="zh-CN" altLang="en-US" sz="720" b="1">
              <a:solidFill>
                <a:srgbClr val="003B7A"/>
              </a:solidFill>
              <a:latin typeface="Aptos" panose="020B0004020202020204" pitchFamily="34" charset="0"/>
            </a:endParaRPr>
          </a:p>
        </p:txBody>
      </p:sp>
      <p:sp>
        <p:nvSpPr>
          <p:cNvPr id="29" name="big-ok-t-1">
            <a:extLst>
              <a:ext uri="{FF2B5EF4-FFF2-40B4-BE49-F238E27FC236}">
                <a16:creationId xmlns:a16="http://schemas.microsoft.com/office/drawing/2014/main" id="{BD94B866-452E-F9D2-2DF8-FB1E87A6B02E}"/>
              </a:ext>
            </a:extLst>
          </p:cNvPr>
          <p:cNvSpPr txBox="1"/>
          <p:nvPr/>
        </p:nvSpPr>
        <p:spPr>
          <a:xfrm>
            <a:off x="5511800" y="41910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white-box provenance</a:t>
            </a:r>
            <a:endParaRPr lang="zh-CN" altLang="en-US" sz="720">
              <a:solidFill>
                <a:srgbClr val="071A3D"/>
              </a:solidFill>
              <a:latin typeface="Aptos" panose="020B0004020202020204" pitchFamily="34" charset="0"/>
            </a:endParaRPr>
          </a:p>
        </p:txBody>
      </p:sp>
      <p:sp>
        <p:nvSpPr>
          <p:cNvPr id="30" name="big-no-1">
            <a:extLst>
              <a:ext uri="{FF2B5EF4-FFF2-40B4-BE49-F238E27FC236}">
                <a16:creationId xmlns:a16="http://schemas.microsoft.com/office/drawing/2014/main" id="{08EC5F50-1D1B-297B-5661-D9B3FBF53964}"/>
              </a:ext>
            </a:extLst>
          </p:cNvPr>
          <p:cNvSpPr txBox="1"/>
          <p:nvPr/>
        </p:nvSpPr>
        <p:spPr>
          <a:xfrm>
            <a:off x="4775200" y="4419600"/>
            <a:ext cx="1168400" cy="276999"/>
          </a:xfrm>
          <a:prstGeom prst="rect">
            <a:avLst/>
          </a:prstGeom>
          <a:noFill/>
        </p:spPr>
        <p:txBody>
          <a:bodyPr vert="horz" wrap="square" lIns="0" tIns="0" rIns="0" bIns="0" rtlCol="0">
            <a:noAutofit/>
          </a:bodyPr>
          <a:lstStyle/>
          <a:p>
            <a:r>
              <a:rPr lang="en-US" altLang="zh-CN" sz="720" b="1">
                <a:solidFill>
                  <a:srgbClr val="B8293C"/>
                </a:solidFill>
                <a:latin typeface="Aptos" panose="020B0004020202020204" pitchFamily="34" charset="0"/>
              </a:rPr>
              <a:t>Blocks:</a:t>
            </a:r>
            <a:endParaRPr lang="zh-CN" altLang="en-US" sz="720" b="1">
              <a:solidFill>
                <a:srgbClr val="B8293C"/>
              </a:solidFill>
              <a:latin typeface="Aptos" panose="020B0004020202020204" pitchFamily="34" charset="0"/>
            </a:endParaRPr>
          </a:p>
        </p:txBody>
      </p:sp>
      <p:sp>
        <p:nvSpPr>
          <p:cNvPr id="31" name="big-no-t-1">
            <a:extLst>
              <a:ext uri="{FF2B5EF4-FFF2-40B4-BE49-F238E27FC236}">
                <a16:creationId xmlns:a16="http://schemas.microsoft.com/office/drawing/2014/main" id="{89B1E4B2-5640-04E6-F5D9-C02C5A251B7A}"/>
              </a:ext>
            </a:extLst>
          </p:cNvPr>
          <p:cNvSpPr txBox="1"/>
          <p:nvPr/>
        </p:nvSpPr>
        <p:spPr>
          <a:xfrm>
            <a:off x="5511800" y="44196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not universal watermarking</a:t>
            </a:r>
            <a:endParaRPr lang="zh-CN" altLang="en-US" sz="720">
              <a:solidFill>
                <a:srgbClr val="071A3D"/>
              </a:solidFill>
              <a:latin typeface="Aptos" panose="020B0004020202020204" pitchFamily="34" charset="0"/>
            </a:endParaRPr>
          </a:p>
        </p:txBody>
      </p:sp>
      <p:sp>
        <p:nvSpPr>
          <p:cNvPr id="32" name="big-2">
            <a:extLst>
              <a:ext uri="{FF2B5EF4-FFF2-40B4-BE49-F238E27FC236}">
                <a16:creationId xmlns:a16="http://schemas.microsoft.com/office/drawing/2014/main" id="{4C1978C3-A6EF-97CE-8BE8-336976FCD67A}"/>
              </a:ext>
            </a:extLst>
          </p:cNvPr>
          <p:cNvSpPr/>
          <p:nvPr/>
        </p:nvSpPr>
        <p:spPr>
          <a:xfrm>
            <a:off x="8051800" y="2946400"/>
            <a:ext cx="3175000" cy="157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big-band-2">
            <a:extLst>
              <a:ext uri="{FF2B5EF4-FFF2-40B4-BE49-F238E27FC236}">
                <a16:creationId xmlns:a16="http://schemas.microsoft.com/office/drawing/2014/main" id="{0F7CD2A8-889C-FB82-6B70-5D52B66B76EB}"/>
              </a:ext>
            </a:extLst>
          </p:cNvPr>
          <p:cNvSpPr/>
          <p:nvPr/>
        </p:nvSpPr>
        <p:spPr>
          <a:xfrm>
            <a:off x="8051800" y="2946400"/>
            <a:ext cx="3175000" cy="1016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big-name-2">
            <a:extLst>
              <a:ext uri="{FF2B5EF4-FFF2-40B4-BE49-F238E27FC236}">
                <a16:creationId xmlns:a16="http://schemas.microsoft.com/office/drawing/2014/main" id="{3A8117A5-BBF6-266B-933D-F74E3D79E50F}"/>
              </a:ext>
            </a:extLst>
          </p:cNvPr>
          <p:cNvSpPr txBox="1"/>
          <p:nvPr/>
        </p:nvSpPr>
        <p:spPr>
          <a:xfrm>
            <a:off x="8356600" y="3302000"/>
            <a:ext cx="1524000" cy="276999"/>
          </a:xfrm>
          <a:prstGeom prst="rect">
            <a:avLst/>
          </a:prstGeom>
          <a:noFill/>
        </p:spPr>
        <p:txBody>
          <a:bodyPr vert="horz" wrap="square" lIns="0" tIns="0" rIns="0" bIns="0" rtlCol="0">
            <a:noAutofit/>
          </a:bodyPr>
          <a:lstStyle/>
          <a:p>
            <a:r>
              <a:rPr lang="en-US" altLang="zh-CN" sz="880" b="1">
                <a:solidFill>
                  <a:srgbClr val="B85C00"/>
                </a:solidFill>
                <a:latin typeface="Aptos" panose="020B0004020202020204" pitchFamily="34" charset="0"/>
              </a:rPr>
              <a:t>ProbeTrace</a:t>
            </a:r>
            <a:endParaRPr lang="zh-CN" altLang="en-US" sz="880" b="1">
              <a:solidFill>
                <a:srgbClr val="B85C00"/>
              </a:solidFill>
              <a:latin typeface="Aptos" panose="020B0004020202020204" pitchFamily="34" charset="0"/>
            </a:endParaRPr>
          </a:p>
        </p:txBody>
      </p:sp>
      <p:sp>
        <p:nvSpPr>
          <p:cNvPr id="35" name="big-val-2">
            <a:extLst>
              <a:ext uri="{FF2B5EF4-FFF2-40B4-BE49-F238E27FC236}">
                <a16:creationId xmlns:a16="http://schemas.microsoft.com/office/drawing/2014/main" id="{CAB66497-E660-19B4-B011-F892EF441B49}"/>
              </a:ext>
            </a:extLst>
          </p:cNvPr>
          <p:cNvSpPr txBox="1"/>
          <p:nvPr/>
        </p:nvSpPr>
        <p:spPr>
          <a:xfrm>
            <a:off x="8356600" y="3708400"/>
            <a:ext cx="2387600" cy="276999"/>
          </a:xfrm>
          <a:prstGeom prst="rect">
            <a:avLst/>
          </a:prstGeom>
          <a:noFill/>
        </p:spPr>
        <p:txBody>
          <a:bodyPr vert="horz" wrap="square" lIns="0" tIns="0" rIns="0" bIns="0" rtlCol="0">
            <a:noAutofit/>
          </a:bodyPr>
          <a:lstStyle/>
          <a:p>
            <a:r>
              <a:rPr lang="en-US" altLang="zh-CN" sz="1900" b="1">
                <a:solidFill>
                  <a:srgbClr val="071A3D"/>
                </a:solidFill>
                <a:latin typeface="Aptos" panose="020B0004020202020204" pitchFamily="34" charset="0"/>
              </a:rPr>
              <a:t>300/300</a:t>
            </a:r>
            <a:endParaRPr lang="zh-CN" altLang="en-US" sz="1900" b="1">
              <a:solidFill>
                <a:srgbClr val="071A3D"/>
              </a:solidFill>
              <a:latin typeface="Aptos" panose="020B0004020202020204" pitchFamily="34" charset="0"/>
            </a:endParaRPr>
          </a:p>
        </p:txBody>
      </p:sp>
      <p:sp>
        <p:nvSpPr>
          <p:cNvPr id="36" name="big-ok-2">
            <a:extLst>
              <a:ext uri="{FF2B5EF4-FFF2-40B4-BE49-F238E27FC236}">
                <a16:creationId xmlns:a16="http://schemas.microsoft.com/office/drawing/2014/main" id="{576D1233-DE2A-FED9-35A3-06EF8B1E8A83}"/>
              </a:ext>
            </a:extLst>
          </p:cNvPr>
          <p:cNvSpPr txBox="1"/>
          <p:nvPr/>
        </p:nvSpPr>
        <p:spPr>
          <a:xfrm>
            <a:off x="8356600" y="4191000"/>
            <a:ext cx="1168400" cy="276999"/>
          </a:xfrm>
          <a:prstGeom prst="rect">
            <a:avLst/>
          </a:prstGeom>
          <a:noFill/>
        </p:spPr>
        <p:txBody>
          <a:bodyPr vert="horz" wrap="square" lIns="0" tIns="0" rIns="0" bIns="0" rtlCol="0">
            <a:noAutofit/>
          </a:bodyPr>
          <a:lstStyle/>
          <a:p>
            <a:r>
              <a:rPr lang="en-US" altLang="zh-CN" sz="720" b="1">
                <a:solidFill>
                  <a:srgbClr val="003B7A"/>
                </a:solidFill>
                <a:latin typeface="Aptos" panose="020B0004020202020204" pitchFamily="34" charset="0"/>
              </a:rPr>
              <a:t>Allows:</a:t>
            </a:r>
            <a:endParaRPr lang="zh-CN" altLang="en-US" sz="720" b="1">
              <a:solidFill>
                <a:srgbClr val="003B7A"/>
              </a:solidFill>
              <a:latin typeface="Aptos" panose="020B0004020202020204" pitchFamily="34" charset="0"/>
            </a:endParaRPr>
          </a:p>
        </p:txBody>
      </p:sp>
      <p:sp>
        <p:nvSpPr>
          <p:cNvPr id="37" name="big-ok-t-2">
            <a:extLst>
              <a:ext uri="{FF2B5EF4-FFF2-40B4-BE49-F238E27FC236}">
                <a16:creationId xmlns:a16="http://schemas.microsoft.com/office/drawing/2014/main" id="{5882377C-03F6-FA24-4C42-765509100C04}"/>
              </a:ext>
            </a:extLst>
          </p:cNvPr>
          <p:cNvSpPr txBox="1"/>
          <p:nvPr/>
        </p:nvSpPr>
        <p:spPr>
          <a:xfrm>
            <a:off x="9093200" y="41910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scoped owner attribution</a:t>
            </a:r>
            <a:endParaRPr lang="zh-CN" altLang="en-US" sz="720">
              <a:solidFill>
                <a:srgbClr val="071A3D"/>
              </a:solidFill>
              <a:latin typeface="Aptos" panose="020B0004020202020204" pitchFamily="34" charset="0"/>
            </a:endParaRPr>
          </a:p>
        </p:txBody>
      </p:sp>
      <p:sp>
        <p:nvSpPr>
          <p:cNvPr id="38" name="big-no-2">
            <a:extLst>
              <a:ext uri="{FF2B5EF4-FFF2-40B4-BE49-F238E27FC236}">
                <a16:creationId xmlns:a16="http://schemas.microsoft.com/office/drawing/2014/main" id="{D600DFBF-FD11-4BA9-3463-E2A5C83929DE}"/>
              </a:ext>
            </a:extLst>
          </p:cNvPr>
          <p:cNvSpPr txBox="1"/>
          <p:nvPr/>
        </p:nvSpPr>
        <p:spPr>
          <a:xfrm>
            <a:off x="8356600" y="4419600"/>
            <a:ext cx="1168400" cy="276999"/>
          </a:xfrm>
          <a:prstGeom prst="rect">
            <a:avLst/>
          </a:prstGeom>
          <a:noFill/>
        </p:spPr>
        <p:txBody>
          <a:bodyPr vert="horz" wrap="square" lIns="0" tIns="0" rIns="0" bIns="0" rtlCol="0">
            <a:noAutofit/>
          </a:bodyPr>
          <a:lstStyle/>
          <a:p>
            <a:r>
              <a:rPr lang="en-US" altLang="zh-CN" sz="720" b="1">
                <a:solidFill>
                  <a:srgbClr val="B8293C"/>
                </a:solidFill>
                <a:latin typeface="Aptos" panose="020B0004020202020204" pitchFamily="34" charset="0"/>
              </a:rPr>
              <a:t>Blocks:</a:t>
            </a:r>
            <a:endParaRPr lang="zh-CN" altLang="en-US" sz="720" b="1">
              <a:solidFill>
                <a:srgbClr val="B8293C"/>
              </a:solidFill>
              <a:latin typeface="Aptos" panose="020B0004020202020204" pitchFamily="34" charset="0"/>
            </a:endParaRPr>
          </a:p>
        </p:txBody>
      </p:sp>
      <p:sp>
        <p:nvSpPr>
          <p:cNvPr id="39" name="big-no-t-2">
            <a:extLst>
              <a:ext uri="{FF2B5EF4-FFF2-40B4-BE49-F238E27FC236}">
                <a16:creationId xmlns:a16="http://schemas.microsoft.com/office/drawing/2014/main" id="{D986366C-E7D5-F89E-1B8B-100718F8DECC}"/>
              </a:ext>
            </a:extLst>
          </p:cNvPr>
          <p:cNvSpPr txBox="1"/>
          <p:nvPr/>
        </p:nvSpPr>
        <p:spPr>
          <a:xfrm>
            <a:off x="9093200" y="44196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not general ownership proof</a:t>
            </a:r>
            <a:endParaRPr lang="zh-CN" altLang="en-US" sz="720">
              <a:solidFill>
                <a:srgbClr val="071A3D"/>
              </a:solidFill>
              <a:latin typeface="Aptos" panose="020B0004020202020204" pitchFamily="34" charset="0"/>
            </a:endParaRPr>
          </a:p>
        </p:txBody>
      </p:sp>
      <p:sp>
        <p:nvSpPr>
          <p:cNvPr id="40" name="small-0">
            <a:extLst>
              <a:ext uri="{FF2B5EF4-FFF2-40B4-BE49-F238E27FC236}">
                <a16:creationId xmlns:a16="http://schemas.microsoft.com/office/drawing/2014/main" id="{39A8F393-1CE7-8E35-78BE-68FE6A455A07}"/>
              </a:ext>
            </a:extLst>
          </p:cNvPr>
          <p:cNvSpPr/>
          <p:nvPr/>
        </p:nvSpPr>
        <p:spPr>
          <a:xfrm>
            <a:off x="2133600" y="4876800"/>
            <a:ext cx="3352800" cy="7366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small-band-0">
            <a:extLst>
              <a:ext uri="{FF2B5EF4-FFF2-40B4-BE49-F238E27FC236}">
                <a16:creationId xmlns:a16="http://schemas.microsoft.com/office/drawing/2014/main" id="{FA40055D-D9AA-0824-672E-85B8559CBF07}"/>
              </a:ext>
            </a:extLst>
          </p:cNvPr>
          <p:cNvSpPr/>
          <p:nvPr/>
        </p:nvSpPr>
        <p:spPr>
          <a:xfrm>
            <a:off x="2133600" y="4876800"/>
            <a:ext cx="76200" cy="7366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small-name-0">
            <a:extLst>
              <a:ext uri="{FF2B5EF4-FFF2-40B4-BE49-F238E27FC236}">
                <a16:creationId xmlns:a16="http://schemas.microsoft.com/office/drawing/2014/main" id="{6ED8C0A7-91FD-D8A1-ECCB-480056052A7F}"/>
              </a:ext>
            </a:extLst>
          </p:cNvPr>
          <p:cNvSpPr txBox="1"/>
          <p:nvPr/>
        </p:nvSpPr>
        <p:spPr>
          <a:xfrm>
            <a:off x="2413000" y="5067300"/>
            <a:ext cx="1092200" cy="276999"/>
          </a:xfrm>
          <a:prstGeom prst="rect">
            <a:avLst/>
          </a:prstGeom>
          <a:noFill/>
        </p:spPr>
        <p:txBody>
          <a:bodyPr vert="horz" wrap="square" lIns="0" tIns="0" rIns="0" bIns="0" rtlCol="0">
            <a:noAutofit/>
          </a:bodyPr>
          <a:lstStyle/>
          <a:p>
            <a:r>
              <a:rPr lang="en-US" altLang="zh-CN" sz="780" b="1">
                <a:solidFill>
                  <a:srgbClr val="5B45C8"/>
                </a:solidFill>
                <a:latin typeface="Aptos" panose="020B0004020202020204" pitchFamily="34" charset="0"/>
              </a:rPr>
              <a:t>CodeDye</a:t>
            </a:r>
            <a:endParaRPr lang="zh-CN" altLang="en-US" sz="780" b="1">
              <a:solidFill>
                <a:srgbClr val="5B45C8"/>
              </a:solidFill>
              <a:latin typeface="Aptos" panose="020B0004020202020204" pitchFamily="34" charset="0"/>
            </a:endParaRPr>
          </a:p>
        </p:txBody>
      </p:sp>
      <p:sp>
        <p:nvSpPr>
          <p:cNvPr id="43" name="small-val-0">
            <a:extLst>
              <a:ext uri="{FF2B5EF4-FFF2-40B4-BE49-F238E27FC236}">
                <a16:creationId xmlns:a16="http://schemas.microsoft.com/office/drawing/2014/main" id="{5B79650B-FFB7-D86F-CBAB-B53ABADA9D14}"/>
              </a:ext>
            </a:extLst>
          </p:cNvPr>
          <p:cNvSpPr txBox="1"/>
          <p:nvPr/>
        </p:nvSpPr>
        <p:spPr>
          <a:xfrm>
            <a:off x="3632200" y="5029200"/>
            <a:ext cx="914400" cy="276999"/>
          </a:xfrm>
          <a:prstGeom prst="rect">
            <a:avLst/>
          </a:prstGeom>
          <a:noFill/>
        </p:spPr>
        <p:txBody>
          <a:bodyPr vert="horz" wrap="square" lIns="0" tIns="0" rIns="0" bIns="0" rtlCol="0">
            <a:noAutofit/>
          </a:bodyPr>
          <a:lstStyle/>
          <a:p>
            <a:r>
              <a:rPr lang="en-US" altLang="zh-CN" sz="1350" b="1">
                <a:solidFill>
                  <a:srgbClr val="071A3D"/>
                </a:solidFill>
                <a:latin typeface="Aptos" panose="020B0004020202020204" pitchFamily="34" charset="0"/>
              </a:rPr>
              <a:t>6/300</a:t>
            </a:r>
            <a:endParaRPr lang="zh-CN" altLang="en-US" sz="1350" b="1">
              <a:solidFill>
                <a:srgbClr val="071A3D"/>
              </a:solidFill>
              <a:latin typeface="Aptos" panose="020B0004020202020204" pitchFamily="34" charset="0"/>
            </a:endParaRPr>
          </a:p>
        </p:txBody>
      </p:sp>
      <p:sp>
        <p:nvSpPr>
          <p:cNvPr id="44" name="small-desc-0">
            <a:extLst>
              <a:ext uri="{FF2B5EF4-FFF2-40B4-BE49-F238E27FC236}">
                <a16:creationId xmlns:a16="http://schemas.microsoft.com/office/drawing/2014/main" id="{60D89447-43E2-803A-D6F2-4E155188A995}"/>
              </a:ext>
            </a:extLst>
          </p:cNvPr>
          <p:cNvSpPr txBox="1"/>
          <p:nvPr/>
        </p:nvSpPr>
        <p:spPr>
          <a:xfrm>
            <a:off x="2413000" y="5334000"/>
            <a:ext cx="2717800" cy="276999"/>
          </a:xfrm>
          <a:prstGeom prst="rect">
            <a:avLst/>
          </a:prstGeom>
          <a:noFill/>
        </p:spPr>
        <p:txBody>
          <a:bodyPr vert="horz" wrap="square" lIns="0" tIns="0" rIns="0" bIns="0" rtlCol="0">
            <a:noAutofit/>
          </a:bodyPr>
          <a:lstStyle/>
          <a:p>
            <a:r>
              <a:rPr lang="en-US" altLang="zh-CN" sz="640">
                <a:solidFill>
                  <a:srgbClr val="4A5B78"/>
                </a:solidFill>
                <a:latin typeface="Aptos" panose="020B0004020202020204" pitchFamily="34" charset="0"/>
              </a:rPr>
              <a:t>sparse live signal -&gt; null-audit evidence</a:t>
            </a:r>
            <a:endParaRPr lang="zh-CN" altLang="en-US" sz="640">
              <a:solidFill>
                <a:srgbClr val="4A5B78"/>
              </a:solidFill>
              <a:latin typeface="Aptos" panose="020B0004020202020204" pitchFamily="34" charset="0"/>
            </a:endParaRPr>
          </a:p>
        </p:txBody>
      </p:sp>
      <p:sp>
        <p:nvSpPr>
          <p:cNvPr id="45" name="small-1">
            <a:extLst>
              <a:ext uri="{FF2B5EF4-FFF2-40B4-BE49-F238E27FC236}">
                <a16:creationId xmlns:a16="http://schemas.microsoft.com/office/drawing/2014/main" id="{B247ACA9-1803-1B71-46B5-DEA6E1142A50}"/>
              </a:ext>
            </a:extLst>
          </p:cNvPr>
          <p:cNvSpPr/>
          <p:nvPr/>
        </p:nvSpPr>
        <p:spPr>
          <a:xfrm>
            <a:off x="6705600" y="4876800"/>
            <a:ext cx="3352800" cy="7366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small-band-1">
            <a:extLst>
              <a:ext uri="{FF2B5EF4-FFF2-40B4-BE49-F238E27FC236}">
                <a16:creationId xmlns:a16="http://schemas.microsoft.com/office/drawing/2014/main" id="{969D3922-B2B8-733A-12E5-266F46DED785}"/>
              </a:ext>
            </a:extLst>
          </p:cNvPr>
          <p:cNvSpPr/>
          <p:nvPr/>
        </p:nvSpPr>
        <p:spPr>
          <a:xfrm>
            <a:off x="6705600" y="4876800"/>
            <a:ext cx="76200" cy="7366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small-name-1">
            <a:extLst>
              <a:ext uri="{FF2B5EF4-FFF2-40B4-BE49-F238E27FC236}">
                <a16:creationId xmlns:a16="http://schemas.microsoft.com/office/drawing/2014/main" id="{0A649713-7D1C-1747-3425-D5712BF2BE00}"/>
              </a:ext>
            </a:extLst>
          </p:cNvPr>
          <p:cNvSpPr txBox="1"/>
          <p:nvPr/>
        </p:nvSpPr>
        <p:spPr>
          <a:xfrm>
            <a:off x="6985000" y="5067300"/>
            <a:ext cx="1092200" cy="276999"/>
          </a:xfrm>
          <a:prstGeom prst="rect">
            <a:avLst/>
          </a:prstGeom>
          <a:noFill/>
        </p:spPr>
        <p:txBody>
          <a:bodyPr vert="horz" wrap="square" lIns="0" tIns="0" rIns="0" bIns="0" rtlCol="0">
            <a:noAutofit/>
          </a:bodyPr>
          <a:lstStyle/>
          <a:p>
            <a:r>
              <a:rPr lang="en-US" altLang="zh-CN" sz="780" b="1">
                <a:solidFill>
                  <a:srgbClr val="1F7A4D"/>
                </a:solidFill>
                <a:latin typeface="Aptos" panose="020B0004020202020204" pitchFamily="34" charset="0"/>
              </a:rPr>
              <a:t>SealAudit</a:t>
            </a:r>
            <a:endParaRPr lang="zh-CN" altLang="en-US" sz="780" b="1">
              <a:solidFill>
                <a:srgbClr val="1F7A4D"/>
              </a:solidFill>
              <a:latin typeface="Aptos" panose="020B0004020202020204" pitchFamily="34" charset="0"/>
            </a:endParaRPr>
          </a:p>
        </p:txBody>
      </p:sp>
      <p:sp>
        <p:nvSpPr>
          <p:cNvPr id="48" name="small-val-1">
            <a:extLst>
              <a:ext uri="{FF2B5EF4-FFF2-40B4-BE49-F238E27FC236}">
                <a16:creationId xmlns:a16="http://schemas.microsoft.com/office/drawing/2014/main" id="{B6F5E76F-1FB3-BFD6-B310-DB77C7F433F3}"/>
              </a:ext>
            </a:extLst>
          </p:cNvPr>
          <p:cNvSpPr txBox="1"/>
          <p:nvPr/>
        </p:nvSpPr>
        <p:spPr>
          <a:xfrm>
            <a:off x="8204200" y="5029200"/>
            <a:ext cx="914400" cy="276999"/>
          </a:xfrm>
          <a:prstGeom prst="rect">
            <a:avLst/>
          </a:prstGeom>
          <a:noFill/>
        </p:spPr>
        <p:txBody>
          <a:bodyPr vert="horz" wrap="square" lIns="0" tIns="0" rIns="0" bIns="0" rtlCol="0">
            <a:noAutofit/>
          </a:bodyPr>
          <a:lstStyle/>
          <a:p>
            <a:r>
              <a:rPr lang="en-US" altLang="zh-CN" sz="1350" b="1">
                <a:solidFill>
                  <a:srgbClr val="071A3D"/>
                </a:solidFill>
                <a:latin typeface="Aptos" panose="020B0004020202020204" pitchFamily="34" charset="0"/>
              </a:rPr>
              <a:t>81/960</a:t>
            </a:r>
            <a:endParaRPr lang="zh-CN" altLang="en-US" sz="1350" b="1">
              <a:solidFill>
                <a:srgbClr val="071A3D"/>
              </a:solidFill>
              <a:latin typeface="Aptos" panose="020B0004020202020204" pitchFamily="34" charset="0"/>
            </a:endParaRPr>
          </a:p>
        </p:txBody>
      </p:sp>
      <p:sp>
        <p:nvSpPr>
          <p:cNvPr id="49" name="small-desc-1">
            <a:extLst>
              <a:ext uri="{FF2B5EF4-FFF2-40B4-BE49-F238E27FC236}">
                <a16:creationId xmlns:a16="http://schemas.microsoft.com/office/drawing/2014/main" id="{F757F2D1-A738-EA93-24B3-C169B9EF1C3D}"/>
              </a:ext>
            </a:extLst>
          </p:cNvPr>
          <p:cNvSpPr txBox="1"/>
          <p:nvPr/>
        </p:nvSpPr>
        <p:spPr>
          <a:xfrm>
            <a:off x="6985000" y="5334000"/>
            <a:ext cx="2717800" cy="276999"/>
          </a:xfrm>
          <a:prstGeom prst="rect">
            <a:avLst/>
          </a:prstGeom>
          <a:noFill/>
        </p:spPr>
        <p:txBody>
          <a:bodyPr vert="horz" wrap="square" lIns="0" tIns="0" rIns="0" bIns="0" rtlCol="0">
            <a:noAutofit/>
          </a:bodyPr>
          <a:lstStyle/>
          <a:p>
            <a:r>
              <a:rPr lang="en-US" altLang="zh-CN" sz="640">
                <a:solidFill>
                  <a:srgbClr val="4A5B78"/>
                </a:solidFill>
                <a:latin typeface="Aptos" panose="020B0004020202020204" pitchFamily="34" charset="0"/>
              </a:rPr>
              <a:t>decisive triage rows -&gt; selective security triage</a:t>
            </a:r>
            <a:endParaRPr lang="zh-CN" altLang="en-US" sz="640">
              <a:solidFill>
                <a:srgbClr val="4A5B78"/>
              </a:solidFill>
              <a:latin typeface="Aptos" panose="020B0004020202020204" pitchFamily="34" charset="0"/>
            </a:endParaRPr>
          </a:p>
        </p:txBody>
      </p:sp>
      <p:sp>
        <p:nvSpPr>
          <p:cNvPr id="50" name="call">
            <a:extLst>
              <a:ext uri="{FF2B5EF4-FFF2-40B4-BE49-F238E27FC236}">
                <a16:creationId xmlns:a16="http://schemas.microsoft.com/office/drawing/2014/main" id="{9F0802CD-FEA6-FFFE-A3C3-01334E67D604}"/>
              </a:ext>
            </a:extLst>
          </p:cNvPr>
          <p:cNvSpPr/>
          <p:nvPr/>
        </p:nvSpPr>
        <p:spPr>
          <a:xfrm>
            <a:off x="1981200" y="5816600"/>
            <a:ext cx="7188200" cy="304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call-t">
            <a:extLst>
              <a:ext uri="{FF2B5EF4-FFF2-40B4-BE49-F238E27FC236}">
                <a16:creationId xmlns:a16="http://schemas.microsoft.com/office/drawing/2014/main" id="{D6CB5211-EF06-5EFD-7F21-C06BAD7BE333}"/>
              </a:ext>
            </a:extLst>
          </p:cNvPr>
          <p:cNvSpPr txBox="1"/>
          <p:nvPr/>
        </p:nvSpPr>
        <p:spPr>
          <a:xfrm>
            <a:off x="2336800" y="5905500"/>
            <a:ext cx="6477000" cy="276999"/>
          </a:xfrm>
          <a:prstGeom prst="rect">
            <a:avLst/>
          </a:prstGeom>
          <a:noFill/>
        </p:spPr>
        <p:txBody>
          <a:bodyPr vert="horz" wrap="square" lIns="0" tIns="0" rIns="0" bIns="0" rtlCol="0">
            <a:noAutofit/>
          </a:bodyPr>
          <a:lstStyle/>
          <a:p>
            <a:r>
              <a:rPr lang="en-US" altLang="zh-CN" sz="750" b="1">
                <a:solidFill>
                  <a:srgbClr val="071A3D"/>
                </a:solidFill>
                <a:latin typeface="Aptos" panose="020B0004020202020204" pitchFamily="34" charset="0"/>
              </a:rPr>
              <a:t>Takeaway: strong claims are narrow; broad claims require new admitted evidence.</a:t>
            </a:r>
            <a:endParaRPr lang="zh-CN" altLang="en-US" sz="750" b="1">
              <a:solidFill>
                <a:srgbClr val="071A3D"/>
              </a:solidFill>
              <a:latin typeface="Aptos" panose="020B0004020202020204" pitchFamily="34" charset="0"/>
            </a:endParaRPr>
          </a:p>
        </p:txBody>
      </p:sp>
      <p:sp>
        <p:nvSpPr>
          <p:cNvPr id="52" name="footer-hit-7">
            <a:hlinkClick r:id="rId4"/>
            <a:extLst>
              <a:ext uri="{FF2B5EF4-FFF2-40B4-BE49-F238E27FC236}">
                <a16:creationId xmlns:a16="http://schemas.microsoft.com/office/drawing/2014/main" id="{063CC572-3A95-A2B5-9EC3-35794CFDA3D5}"/>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68745901"/>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160"/>
                                        <p:tgtEl>
                                          <p:spTgt spid="50"/>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51"/>
                                        </p:tgtEl>
                                        <p:attrNameLst>
                                          <p:attrName>style.visibility</p:attrName>
                                        </p:attrNameLst>
                                      </p:cBhvr>
                                      <p:to>
                                        <p:strVal val="visible"/>
                                      </p:to>
                                    </p:set>
                                    <p:animEffect transition="in" filter="fade">
                                      <p:cBhvr>
                                        <p:cTn id="11" dur="16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3B2D452A-F23A-EC4C-6B35-035280092015}"/>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1728C52C-56E9-7F5C-B0E0-CF44137AA31B}"/>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87A08AAF-5B94-ACDC-BE7E-08116B29019A}"/>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97E891FC-C041-407A-1593-C682E2E4648E}"/>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INTERPRETATION</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220EC6A5-DCDE-3A64-AED6-C13F177C5EDF}"/>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08</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3ABE4FD6-9F1C-10F7-8DB7-571F81819009}"/>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200444FD-6078-BCE4-53FF-D20683FCD2E3}"/>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0253228D-30C6-215C-8BED-118DCA0C2DE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39DDBBE4-9AE5-C1ED-A716-AAE29C92D37C}"/>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Abstention is a result when evidence is insufficient.</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72B5AEAC-DFBC-B7B3-0013-C93350C297FB}"/>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conservative modules are designed to say exactly where a broad claim should stop.</a:t>
            </a:r>
            <a:endParaRPr lang="zh-CN" altLang="en-US" sz="930">
              <a:solidFill>
                <a:srgbClr val="4A5B78"/>
              </a:solidFill>
              <a:latin typeface="Aptos" panose="020B0004020202020204" pitchFamily="34" charset="0"/>
            </a:endParaRPr>
          </a:p>
        </p:txBody>
      </p:sp>
      <p:sp>
        <p:nvSpPr>
          <p:cNvPr id="13" name="left">
            <a:extLst>
              <a:ext uri="{FF2B5EF4-FFF2-40B4-BE49-F238E27FC236}">
                <a16:creationId xmlns:a16="http://schemas.microsoft.com/office/drawing/2014/main" id="{5FA04EC7-2912-57AB-6496-FE005BF6DE51}"/>
              </a:ext>
            </a:extLst>
          </p:cNvPr>
          <p:cNvSpPr/>
          <p:nvPr/>
        </p:nvSpPr>
        <p:spPr>
          <a:xfrm>
            <a:off x="990600" y="2082800"/>
            <a:ext cx="4775200" cy="294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eft-band">
            <a:extLst>
              <a:ext uri="{FF2B5EF4-FFF2-40B4-BE49-F238E27FC236}">
                <a16:creationId xmlns:a16="http://schemas.microsoft.com/office/drawing/2014/main" id="{A317C0AB-E648-586F-7EC8-EEE4FAAD7AF1}"/>
              </a:ext>
            </a:extLst>
          </p:cNvPr>
          <p:cNvSpPr/>
          <p:nvPr/>
        </p:nvSpPr>
        <p:spPr>
          <a:xfrm>
            <a:off x="990600" y="2082800"/>
            <a:ext cx="4775200" cy="1016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left-k">
            <a:extLst>
              <a:ext uri="{FF2B5EF4-FFF2-40B4-BE49-F238E27FC236}">
                <a16:creationId xmlns:a16="http://schemas.microsoft.com/office/drawing/2014/main" id="{DA050E18-7A03-AA70-4D90-2BA3467A43F6}"/>
              </a:ext>
            </a:extLst>
          </p:cNvPr>
          <p:cNvSpPr txBox="1"/>
          <p:nvPr/>
        </p:nvSpPr>
        <p:spPr>
          <a:xfrm>
            <a:off x="1422400" y="2489200"/>
            <a:ext cx="1778000" cy="276999"/>
          </a:xfrm>
          <a:prstGeom prst="rect">
            <a:avLst/>
          </a:prstGeom>
          <a:noFill/>
        </p:spPr>
        <p:txBody>
          <a:bodyPr vert="horz" wrap="square" lIns="0" tIns="0" rIns="0" bIns="0" rtlCol="0">
            <a:noAutofit/>
          </a:bodyPr>
          <a:lstStyle/>
          <a:p>
            <a:r>
              <a:rPr lang="en-US" altLang="zh-CN" sz="880" b="1">
                <a:solidFill>
                  <a:srgbClr val="5B45C8"/>
                </a:solidFill>
                <a:latin typeface="Aptos" panose="020B0004020202020204" pitchFamily="34" charset="0"/>
              </a:rPr>
              <a:t>CodeDye black-box audit</a:t>
            </a:r>
            <a:endParaRPr lang="zh-CN" altLang="en-US" sz="880" b="1">
              <a:solidFill>
                <a:srgbClr val="5B45C8"/>
              </a:solidFill>
              <a:latin typeface="Aptos" panose="020B0004020202020204" pitchFamily="34" charset="0"/>
            </a:endParaRPr>
          </a:p>
        </p:txBody>
      </p:sp>
      <p:sp>
        <p:nvSpPr>
          <p:cNvPr id="16" name="left-v">
            <a:extLst>
              <a:ext uri="{FF2B5EF4-FFF2-40B4-BE49-F238E27FC236}">
                <a16:creationId xmlns:a16="http://schemas.microsoft.com/office/drawing/2014/main" id="{DA86B5E7-D8FA-E5B9-923B-E4E17BEB1E8E}"/>
              </a:ext>
            </a:extLst>
          </p:cNvPr>
          <p:cNvSpPr txBox="1"/>
          <p:nvPr/>
        </p:nvSpPr>
        <p:spPr>
          <a:xfrm>
            <a:off x="1422400" y="2997200"/>
            <a:ext cx="1600200" cy="276999"/>
          </a:xfrm>
          <a:prstGeom prst="rect">
            <a:avLst/>
          </a:prstGeom>
          <a:noFill/>
        </p:spPr>
        <p:txBody>
          <a:bodyPr vert="horz" wrap="square" lIns="0" tIns="0" rIns="0" bIns="0" rtlCol="0">
            <a:noAutofit/>
          </a:bodyPr>
          <a:lstStyle/>
          <a:p>
            <a:r>
              <a:rPr lang="en-US" altLang="zh-CN" sz="2900" b="1">
                <a:solidFill>
                  <a:srgbClr val="071A3D"/>
                </a:solidFill>
                <a:latin typeface="Aptos" panose="020B0004020202020204" pitchFamily="34" charset="0"/>
              </a:rPr>
              <a:t>6 / 300</a:t>
            </a:r>
            <a:endParaRPr lang="zh-CN" altLang="en-US" sz="2900" b="1">
              <a:solidFill>
                <a:srgbClr val="071A3D"/>
              </a:solidFill>
              <a:latin typeface="Aptos" panose="020B0004020202020204" pitchFamily="34" charset="0"/>
            </a:endParaRPr>
          </a:p>
        </p:txBody>
      </p:sp>
      <p:sp>
        <p:nvSpPr>
          <p:cNvPr id="17" name="left-s">
            <a:extLst>
              <a:ext uri="{FF2B5EF4-FFF2-40B4-BE49-F238E27FC236}">
                <a16:creationId xmlns:a16="http://schemas.microsoft.com/office/drawing/2014/main" id="{9479D7B5-5736-4459-7F31-A89DB3D2ACC2}"/>
              </a:ext>
            </a:extLst>
          </p:cNvPr>
          <p:cNvSpPr txBox="1"/>
          <p:nvPr/>
        </p:nvSpPr>
        <p:spPr>
          <a:xfrm>
            <a:off x="3276600" y="3073400"/>
            <a:ext cx="1625600" cy="276999"/>
          </a:xfrm>
          <a:prstGeom prst="rect">
            <a:avLst/>
          </a:prstGeom>
          <a:noFill/>
        </p:spPr>
        <p:txBody>
          <a:bodyPr vert="horz" wrap="square" lIns="0" tIns="0" rIns="0" bIns="0" rtlCol="0">
            <a:noAutofit/>
          </a:bodyPr>
          <a:lstStyle/>
          <a:p>
            <a:r>
              <a:rPr lang="en-US" altLang="zh-CN" sz="960" b="1">
                <a:solidFill>
                  <a:srgbClr val="4A5B78"/>
                </a:solidFill>
                <a:latin typeface="Aptos" panose="020B0004020202020204" pitchFamily="34" charset="0"/>
              </a:rPr>
              <a:t>sparse live signals</a:t>
            </a:r>
            <a:endParaRPr lang="zh-CN" altLang="en-US" sz="960" b="1">
              <a:solidFill>
                <a:srgbClr val="4A5B78"/>
              </a:solidFill>
              <a:latin typeface="Aptos" panose="020B0004020202020204" pitchFamily="34" charset="0"/>
            </a:endParaRPr>
          </a:p>
        </p:txBody>
      </p:sp>
      <p:cxnSp>
        <p:nvCxnSpPr>
          <p:cNvPr id="18" name="left-rule">
            <a:extLst>
              <a:ext uri="{FF2B5EF4-FFF2-40B4-BE49-F238E27FC236}">
                <a16:creationId xmlns:a16="http://schemas.microsoft.com/office/drawing/2014/main" id="{0F24AE98-F271-482B-C476-A71F7C3D5806}"/>
              </a:ext>
            </a:extLst>
          </p:cNvPr>
          <p:cNvCxnSpPr/>
          <p:nvPr/>
        </p:nvCxnSpPr>
        <p:spPr>
          <a:xfrm>
            <a:off x="1422400" y="3810000"/>
            <a:ext cx="36068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19" name="left-a">
            <a:extLst>
              <a:ext uri="{FF2B5EF4-FFF2-40B4-BE49-F238E27FC236}">
                <a16:creationId xmlns:a16="http://schemas.microsoft.com/office/drawing/2014/main" id="{5AFFCEB1-ED66-00D1-A085-0AFE175E89AA}"/>
              </a:ext>
            </a:extLst>
          </p:cNvPr>
          <p:cNvSpPr txBox="1"/>
          <p:nvPr/>
        </p:nvSpPr>
        <p:spPr>
          <a:xfrm>
            <a:off x="1422400" y="4140200"/>
            <a:ext cx="1244600" cy="276999"/>
          </a:xfrm>
          <a:prstGeom prst="rect">
            <a:avLst/>
          </a:prstGeom>
          <a:noFill/>
        </p:spPr>
        <p:txBody>
          <a:bodyPr vert="horz" wrap="square" lIns="0" tIns="0" rIns="0" bIns="0" rtlCol="0">
            <a:noAutofit/>
          </a:bodyPr>
          <a:lstStyle/>
          <a:p>
            <a:r>
              <a:rPr lang="en-US" altLang="zh-CN" sz="810" b="1">
                <a:solidFill>
                  <a:srgbClr val="003B7A"/>
                </a:solidFill>
                <a:latin typeface="Aptos" panose="020B0004020202020204" pitchFamily="34" charset="0"/>
              </a:rPr>
              <a:t>Allowed:</a:t>
            </a:r>
            <a:endParaRPr lang="zh-CN" altLang="en-US" sz="810" b="1">
              <a:solidFill>
                <a:srgbClr val="003B7A"/>
              </a:solidFill>
              <a:latin typeface="Aptos" panose="020B0004020202020204" pitchFamily="34" charset="0"/>
            </a:endParaRPr>
          </a:p>
        </p:txBody>
      </p:sp>
      <p:sp>
        <p:nvSpPr>
          <p:cNvPr id="20" name="left-at">
            <a:extLst>
              <a:ext uri="{FF2B5EF4-FFF2-40B4-BE49-F238E27FC236}">
                <a16:creationId xmlns:a16="http://schemas.microsoft.com/office/drawing/2014/main" id="{A01AF9A9-C289-0BE6-84E7-12CE927A1F2D}"/>
              </a:ext>
            </a:extLst>
          </p:cNvPr>
          <p:cNvSpPr txBox="1"/>
          <p:nvPr/>
        </p:nvSpPr>
        <p:spPr>
          <a:xfrm>
            <a:off x="2336800" y="41402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controlled null-audit evidence</a:t>
            </a:r>
            <a:endParaRPr lang="zh-CN" altLang="en-US" sz="810">
              <a:solidFill>
                <a:srgbClr val="071A3D"/>
              </a:solidFill>
              <a:latin typeface="Aptos" panose="020B0004020202020204" pitchFamily="34" charset="0"/>
            </a:endParaRPr>
          </a:p>
        </p:txBody>
      </p:sp>
      <p:sp>
        <p:nvSpPr>
          <p:cNvPr id="21" name="left-b">
            <a:extLst>
              <a:ext uri="{FF2B5EF4-FFF2-40B4-BE49-F238E27FC236}">
                <a16:creationId xmlns:a16="http://schemas.microsoft.com/office/drawing/2014/main" id="{82E98050-1273-3973-C798-89CADD0C63F3}"/>
              </a:ext>
            </a:extLst>
          </p:cNvPr>
          <p:cNvSpPr txBox="1"/>
          <p:nvPr/>
        </p:nvSpPr>
        <p:spPr>
          <a:xfrm>
            <a:off x="1422400" y="4495800"/>
            <a:ext cx="1244600" cy="276999"/>
          </a:xfrm>
          <a:prstGeom prst="rect">
            <a:avLst/>
          </a:prstGeom>
          <a:noFill/>
        </p:spPr>
        <p:txBody>
          <a:bodyPr vert="horz" wrap="square" lIns="0" tIns="0" rIns="0" bIns="0" rtlCol="0">
            <a:noAutofit/>
          </a:bodyPr>
          <a:lstStyle/>
          <a:p>
            <a:r>
              <a:rPr lang="en-US" altLang="zh-CN" sz="810" b="1">
                <a:solidFill>
                  <a:srgbClr val="B8293C"/>
                </a:solidFill>
                <a:latin typeface="Aptos" panose="020B0004020202020204" pitchFamily="34" charset="0"/>
              </a:rPr>
              <a:t>Blocked:</a:t>
            </a:r>
            <a:endParaRPr lang="zh-CN" altLang="en-US" sz="810" b="1">
              <a:solidFill>
                <a:srgbClr val="B8293C"/>
              </a:solidFill>
              <a:latin typeface="Aptos" panose="020B0004020202020204" pitchFamily="34" charset="0"/>
            </a:endParaRPr>
          </a:p>
        </p:txBody>
      </p:sp>
      <p:sp>
        <p:nvSpPr>
          <p:cNvPr id="22" name="left-bt">
            <a:extLst>
              <a:ext uri="{FF2B5EF4-FFF2-40B4-BE49-F238E27FC236}">
                <a16:creationId xmlns:a16="http://schemas.microsoft.com/office/drawing/2014/main" id="{88F624F2-F903-20B1-9834-2518F866BA38}"/>
              </a:ext>
            </a:extLst>
          </p:cNvPr>
          <p:cNvSpPr txBox="1"/>
          <p:nvPr/>
        </p:nvSpPr>
        <p:spPr>
          <a:xfrm>
            <a:off x="2336800" y="44958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provider contamination accusation</a:t>
            </a:r>
            <a:endParaRPr lang="zh-CN" altLang="en-US" sz="810">
              <a:solidFill>
                <a:srgbClr val="071A3D"/>
              </a:solidFill>
              <a:latin typeface="Aptos" panose="020B0004020202020204" pitchFamily="34" charset="0"/>
            </a:endParaRPr>
          </a:p>
        </p:txBody>
      </p:sp>
      <p:sp>
        <p:nvSpPr>
          <p:cNvPr id="23" name="right">
            <a:extLst>
              <a:ext uri="{FF2B5EF4-FFF2-40B4-BE49-F238E27FC236}">
                <a16:creationId xmlns:a16="http://schemas.microsoft.com/office/drawing/2014/main" id="{E5E27D6D-995A-B226-CD4F-6E8A7892C959}"/>
              </a:ext>
            </a:extLst>
          </p:cNvPr>
          <p:cNvSpPr/>
          <p:nvPr/>
        </p:nvSpPr>
        <p:spPr>
          <a:xfrm>
            <a:off x="6426200" y="2082800"/>
            <a:ext cx="4775200" cy="294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right-band">
            <a:extLst>
              <a:ext uri="{FF2B5EF4-FFF2-40B4-BE49-F238E27FC236}">
                <a16:creationId xmlns:a16="http://schemas.microsoft.com/office/drawing/2014/main" id="{10993FFF-E00C-9BEB-726E-6DE217EECCD0}"/>
              </a:ext>
            </a:extLst>
          </p:cNvPr>
          <p:cNvSpPr/>
          <p:nvPr/>
        </p:nvSpPr>
        <p:spPr>
          <a:xfrm>
            <a:off x="6426200" y="2082800"/>
            <a:ext cx="4775200" cy="1016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right-k">
            <a:extLst>
              <a:ext uri="{FF2B5EF4-FFF2-40B4-BE49-F238E27FC236}">
                <a16:creationId xmlns:a16="http://schemas.microsoft.com/office/drawing/2014/main" id="{A440767E-1020-E032-7699-D91F9702899F}"/>
              </a:ext>
            </a:extLst>
          </p:cNvPr>
          <p:cNvSpPr txBox="1"/>
          <p:nvPr/>
        </p:nvSpPr>
        <p:spPr>
          <a:xfrm>
            <a:off x="6858000" y="2489200"/>
            <a:ext cx="1778000" cy="276999"/>
          </a:xfrm>
          <a:prstGeom prst="rect">
            <a:avLst/>
          </a:prstGeom>
          <a:noFill/>
        </p:spPr>
        <p:txBody>
          <a:bodyPr vert="horz" wrap="square" lIns="0" tIns="0" rIns="0" bIns="0" rtlCol="0">
            <a:noAutofit/>
          </a:bodyPr>
          <a:lstStyle/>
          <a:p>
            <a:r>
              <a:rPr lang="en-US" altLang="zh-CN" sz="880" b="1">
                <a:solidFill>
                  <a:srgbClr val="1F7A4D"/>
                </a:solidFill>
                <a:latin typeface="Aptos" panose="020B0004020202020204" pitchFamily="34" charset="0"/>
              </a:rPr>
              <a:t>SealAudit security triage</a:t>
            </a:r>
            <a:endParaRPr lang="zh-CN" altLang="en-US" sz="880" b="1">
              <a:solidFill>
                <a:srgbClr val="1F7A4D"/>
              </a:solidFill>
              <a:latin typeface="Aptos" panose="020B0004020202020204" pitchFamily="34" charset="0"/>
            </a:endParaRPr>
          </a:p>
        </p:txBody>
      </p:sp>
      <p:sp>
        <p:nvSpPr>
          <p:cNvPr id="26" name="right-v">
            <a:extLst>
              <a:ext uri="{FF2B5EF4-FFF2-40B4-BE49-F238E27FC236}">
                <a16:creationId xmlns:a16="http://schemas.microsoft.com/office/drawing/2014/main" id="{AEE60CF1-D4C4-7C3A-5909-18C4DBEA6B37}"/>
              </a:ext>
            </a:extLst>
          </p:cNvPr>
          <p:cNvSpPr txBox="1"/>
          <p:nvPr/>
        </p:nvSpPr>
        <p:spPr>
          <a:xfrm>
            <a:off x="6858000" y="2997200"/>
            <a:ext cx="1600200" cy="276999"/>
          </a:xfrm>
          <a:prstGeom prst="rect">
            <a:avLst/>
          </a:prstGeom>
          <a:noFill/>
        </p:spPr>
        <p:txBody>
          <a:bodyPr vert="horz" wrap="square" lIns="0" tIns="0" rIns="0" bIns="0" rtlCol="0">
            <a:noAutofit/>
          </a:bodyPr>
          <a:lstStyle/>
          <a:p>
            <a:r>
              <a:rPr lang="en-US" altLang="zh-CN" sz="2900" b="1">
                <a:solidFill>
                  <a:srgbClr val="071A3D"/>
                </a:solidFill>
                <a:latin typeface="Aptos" panose="020B0004020202020204" pitchFamily="34" charset="0"/>
              </a:rPr>
              <a:t>81 / 960</a:t>
            </a:r>
            <a:endParaRPr lang="zh-CN" altLang="en-US" sz="2900" b="1">
              <a:solidFill>
                <a:srgbClr val="071A3D"/>
              </a:solidFill>
              <a:latin typeface="Aptos" panose="020B0004020202020204" pitchFamily="34" charset="0"/>
            </a:endParaRPr>
          </a:p>
        </p:txBody>
      </p:sp>
      <p:sp>
        <p:nvSpPr>
          <p:cNvPr id="27" name="right-s">
            <a:extLst>
              <a:ext uri="{FF2B5EF4-FFF2-40B4-BE49-F238E27FC236}">
                <a16:creationId xmlns:a16="http://schemas.microsoft.com/office/drawing/2014/main" id="{64F4B897-4843-63E4-8B9E-B33D23924F9E}"/>
              </a:ext>
            </a:extLst>
          </p:cNvPr>
          <p:cNvSpPr txBox="1"/>
          <p:nvPr/>
        </p:nvSpPr>
        <p:spPr>
          <a:xfrm>
            <a:off x="8864600" y="3073400"/>
            <a:ext cx="1651000" cy="276999"/>
          </a:xfrm>
          <a:prstGeom prst="rect">
            <a:avLst/>
          </a:prstGeom>
          <a:noFill/>
        </p:spPr>
        <p:txBody>
          <a:bodyPr vert="horz" wrap="square" lIns="0" tIns="0" rIns="0" bIns="0" rtlCol="0">
            <a:noAutofit/>
          </a:bodyPr>
          <a:lstStyle/>
          <a:p>
            <a:r>
              <a:rPr lang="en-US" altLang="zh-CN" sz="960" b="1">
                <a:solidFill>
                  <a:srgbClr val="4A5B78"/>
                </a:solidFill>
                <a:latin typeface="Aptos" panose="020B0004020202020204" pitchFamily="34" charset="0"/>
              </a:rPr>
              <a:t>decisive triage rows</a:t>
            </a:r>
            <a:endParaRPr lang="zh-CN" altLang="en-US" sz="960" b="1">
              <a:solidFill>
                <a:srgbClr val="4A5B78"/>
              </a:solidFill>
              <a:latin typeface="Aptos" panose="020B0004020202020204" pitchFamily="34" charset="0"/>
            </a:endParaRPr>
          </a:p>
        </p:txBody>
      </p:sp>
      <p:cxnSp>
        <p:nvCxnSpPr>
          <p:cNvPr id="28" name="right-rule">
            <a:extLst>
              <a:ext uri="{FF2B5EF4-FFF2-40B4-BE49-F238E27FC236}">
                <a16:creationId xmlns:a16="http://schemas.microsoft.com/office/drawing/2014/main" id="{D006C33B-C519-DC54-1A29-952C0DC6BD27}"/>
              </a:ext>
            </a:extLst>
          </p:cNvPr>
          <p:cNvCxnSpPr/>
          <p:nvPr/>
        </p:nvCxnSpPr>
        <p:spPr>
          <a:xfrm>
            <a:off x="6858000" y="3810000"/>
            <a:ext cx="36068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29" name="right-a">
            <a:extLst>
              <a:ext uri="{FF2B5EF4-FFF2-40B4-BE49-F238E27FC236}">
                <a16:creationId xmlns:a16="http://schemas.microsoft.com/office/drawing/2014/main" id="{87577F65-40C6-43D3-280E-B2F9613065E6}"/>
              </a:ext>
            </a:extLst>
          </p:cNvPr>
          <p:cNvSpPr txBox="1"/>
          <p:nvPr/>
        </p:nvSpPr>
        <p:spPr>
          <a:xfrm>
            <a:off x="6858000" y="4140200"/>
            <a:ext cx="1244600" cy="276999"/>
          </a:xfrm>
          <a:prstGeom prst="rect">
            <a:avLst/>
          </a:prstGeom>
          <a:noFill/>
        </p:spPr>
        <p:txBody>
          <a:bodyPr vert="horz" wrap="square" lIns="0" tIns="0" rIns="0" bIns="0" rtlCol="0">
            <a:noAutofit/>
          </a:bodyPr>
          <a:lstStyle/>
          <a:p>
            <a:r>
              <a:rPr lang="en-US" altLang="zh-CN" sz="810" b="1">
                <a:solidFill>
                  <a:srgbClr val="003B7A"/>
                </a:solidFill>
                <a:latin typeface="Aptos" panose="020B0004020202020204" pitchFamily="34" charset="0"/>
              </a:rPr>
              <a:t>Allowed:</a:t>
            </a:r>
            <a:endParaRPr lang="zh-CN" altLang="en-US" sz="810" b="1">
              <a:solidFill>
                <a:srgbClr val="003B7A"/>
              </a:solidFill>
              <a:latin typeface="Aptos" panose="020B0004020202020204" pitchFamily="34" charset="0"/>
            </a:endParaRPr>
          </a:p>
        </p:txBody>
      </p:sp>
      <p:sp>
        <p:nvSpPr>
          <p:cNvPr id="30" name="right-at">
            <a:extLst>
              <a:ext uri="{FF2B5EF4-FFF2-40B4-BE49-F238E27FC236}">
                <a16:creationId xmlns:a16="http://schemas.microsoft.com/office/drawing/2014/main" id="{5A22401A-EFED-98A3-FB35-BD67BEFA5874}"/>
              </a:ext>
            </a:extLst>
          </p:cNvPr>
          <p:cNvSpPr txBox="1"/>
          <p:nvPr/>
        </p:nvSpPr>
        <p:spPr>
          <a:xfrm>
            <a:off x="7772400" y="41402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selective risk triage</a:t>
            </a:r>
            <a:endParaRPr lang="zh-CN" altLang="en-US" sz="810">
              <a:solidFill>
                <a:srgbClr val="071A3D"/>
              </a:solidFill>
              <a:latin typeface="Aptos" panose="020B0004020202020204" pitchFamily="34" charset="0"/>
            </a:endParaRPr>
          </a:p>
        </p:txBody>
      </p:sp>
      <p:sp>
        <p:nvSpPr>
          <p:cNvPr id="31" name="right-b">
            <a:extLst>
              <a:ext uri="{FF2B5EF4-FFF2-40B4-BE49-F238E27FC236}">
                <a16:creationId xmlns:a16="http://schemas.microsoft.com/office/drawing/2014/main" id="{46D48701-4C40-1E2F-C63B-CC0284CACF1C}"/>
              </a:ext>
            </a:extLst>
          </p:cNvPr>
          <p:cNvSpPr txBox="1"/>
          <p:nvPr/>
        </p:nvSpPr>
        <p:spPr>
          <a:xfrm>
            <a:off x="6858000" y="4495800"/>
            <a:ext cx="1244600" cy="276999"/>
          </a:xfrm>
          <a:prstGeom prst="rect">
            <a:avLst/>
          </a:prstGeom>
          <a:noFill/>
        </p:spPr>
        <p:txBody>
          <a:bodyPr vert="horz" wrap="square" lIns="0" tIns="0" rIns="0" bIns="0" rtlCol="0">
            <a:noAutofit/>
          </a:bodyPr>
          <a:lstStyle/>
          <a:p>
            <a:r>
              <a:rPr lang="en-US" altLang="zh-CN" sz="810" b="1">
                <a:solidFill>
                  <a:srgbClr val="B8293C"/>
                </a:solidFill>
                <a:latin typeface="Aptos" panose="020B0004020202020204" pitchFamily="34" charset="0"/>
              </a:rPr>
              <a:t>Blocked:</a:t>
            </a:r>
            <a:endParaRPr lang="zh-CN" altLang="en-US" sz="810" b="1">
              <a:solidFill>
                <a:srgbClr val="B8293C"/>
              </a:solidFill>
              <a:latin typeface="Aptos" panose="020B0004020202020204" pitchFamily="34" charset="0"/>
            </a:endParaRPr>
          </a:p>
        </p:txBody>
      </p:sp>
      <p:sp>
        <p:nvSpPr>
          <p:cNvPr id="32" name="right-bt">
            <a:extLst>
              <a:ext uri="{FF2B5EF4-FFF2-40B4-BE49-F238E27FC236}">
                <a16:creationId xmlns:a16="http://schemas.microsoft.com/office/drawing/2014/main" id="{4724999C-AEE4-4796-A078-63BF1AD7D4E9}"/>
              </a:ext>
            </a:extLst>
          </p:cNvPr>
          <p:cNvSpPr txBox="1"/>
          <p:nvPr/>
        </p:nvSpPr>
        <p:spPr>
          <a:xfrm>
            <a:off x="7772400" y="44958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general safety certificate</a:t>
            </a:r>
            <a:endParaRPr lang="zh-CN" altLang="en-US" sz="810">
              <a:solidFill>
                <a:srgbClr val="071A3D"/>
              </a:solidFill>
              <a:latin typeface="Aptos" panose="020B0004020202020204" pitchFamily="34" charset="0"/>
            </a:endParaRPr>
          </a:p>
        </p:txBody>
      </p:sp>
      <p:sp>
        <p:nvSpPr>
          <p:cNvPr id="33" name="rule">
            <a:extLst>
              <a:ext uri="{FF2B5EF4-FFF2-40B4-BE49-F238E27FC236}">
                <a16:creationId xmlns:a16="http://schemas.microsoft.com/office/drawing/2014/main" id="{409E5892-D75A-0748-7F07-D5F17199E634}"/>
              </a:ext>
            </a:extLst>
          </p:cNvPr>
          <p:cNvSpPr/>
          <p:nvPr/>
        </p:nvSpPr>
        <p:spPr>
          <a:xfrm>
            <a:off x="2108200" y="5511800"/>
            <a:ext cx="7975600" cy="431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rule-t">
            <a:extLst>
              <a:ext uri="{FF2B5EF4-FFF2-40B4-BE49-F238E27FC236}">
                <a16:creationId xmlns:a16="http://schemas.microsoft.com/office/drawing/2014/main" id="{417FA742-6895-F1A9-698D-F7116CD9A7BE}"/>
              </a:ext>
            </a:extLst>
          </p:cNvPr>
          <p:cNvSpPr txBox="1"/>
          <p:nvPr/>
        </p:nvSpPr>
        <p:spPr>
          <a:xfrm>
            <a:off x="2489200" y="5638800"/>
            <a:ext cx="72136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A narrow claim with clear controls is better than a broad claim without evidence.</a:t>
            </a:r>
            <a:endParaRPr lang="zh-CN" altLang="en-US" sz="820" b="1">
              <a:solidFill>
                <a:srgbClr val="071A3D"/>
              </a:solidFill>
              <a:latin typeface="Aptos" panose="020B0004020202020204" pitchFamily="34" charset="0"/>
            </a:endParaRPr>
          </a:p>
        </p:txBody>
      </p:sp>
      <p:sp>
        <p:nvSpPr>
          <p:cNvPr id="35" name="footer-hit-8">
            <a:hlinkClick r:id="rId4"/>
            <a:extLst>
              <a:ext uri="{FF2B5EF4-FFF2-40B4-BE49-F238E27FC236}">
                <a16:creationId xmlns:a16="http://schemas.microsoft.com/office/drawing/2014/main" id="{0187899F-6455-538F-BED1-F604994E7966}"/>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815152782"/>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p:bldP spid="19" grpId="0"/>
      <p:bldP spid="20" grpId="0"/>
      <p:bldP spid="21" grpId="0"/>
      <p:bldP spid="22" grpId="0"/>
      <p:bldP spid="23" grpId="0" animBg="1"/>
      <p:bldP spid="24" grpId="0" animBg="1"/>
      <p:bldP spid="25" grpId="0"/>
      <p:bldP spid="26" grpId="0"/>
      <p:bldP spid="27" grpId="0"/>
      <p:bldP spid="29" grpId="0"/>
      <p:bldP spid="30" grpId="0"/>
      <p:bldP spid="31" grpId="0"/>
      <p:bldP spid="32" grpId="0"/>
      <p:bldP spid="33" grpId="0" animBg="1"/>
      <p:bldP spid="3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91FFEE56-CE1D-C0AC-D1AC-700FADF96A49}"/>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AF356490-8817-CC12-42CB-0598704744D1}"/>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C3424C24-3EBF-32C2-632F-25F8DDE2668C}"/>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B126F1E3-2940-4786-68A0-7ABF4312EF68}"/>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DEMO 1</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90A42E6F-4099-E0F2-C92E-A6536FF5D90B}"/>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09</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DAE4B1E7-F5E6-8435-E78C-941A914BC188}"/>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29BF2428-1709-EAD2-1601-F32EDA9C31BC}"/>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A04A740C-E4AF-EF51-5779-E352F7B9412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380EA198-67F4-4FD9-F22F-3BB536A7365F}"/>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demo shows inspectability, not a new experiment.</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8D06A055-88AA-DE27-9D7B-E3DB15D74DFD}"/>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route is fixed: project page -&gt; repository -&gt; claim boundary -&gt; manifest -&gt; evidence file.</a:t>
            </a:r>
            <a:endParaRPr lang="zh-CN" altLang="en-US" sz="930">
              <a:solidFill>
                <a:srgbClr val="4A5B78"/>
              </a:solidFill>
              <a:latin typeface="Aptos" panose="020B0004020202020204" pitchFamily="34" charset="0"/>
            </a:endParaRPr>
          </a:p>
        </p:txBody>
      </p:sp>
      <p:sp>
        <p:nvSpPr>
          <p:cNvPr id="13" name="shot-frame">
            <a:extLst>
              <a:ext uri="{FF2B5EF4-FFF2-40B4-BE49-F238E27FC236}">
                <a16:creationId xmlns:a16="http://schemas.microsoft.com/office/drawing/2014/main" id="{8E4C23EA-AEC0-4A94-AA20-B8C7C9070DC8}"/>
              </a:ext>
            </a:extLst>
          </p:cNvPr>
          <p:cNvSpPr/>
          <p:nvPr/>
        </p:nvSpPr>
        <p:spPr>
          <a:xfrm>
            <a:off x="736600" y="1981200"/>
            <a:ext cx="7416800" cy="3251200"/>
          </a:xfrm>
          <a:prstGeom prst="rect">
            <a:avLst/>
          </a:prstGeom>
          <a:solidFill>
            <a:srgbClr val="030918"/>
          </a:solidFill>
          <a:ln w="11430">
            <a:solidFill>
              <a:srgbClr val="03091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project-page">
            <a:extLst>
              <a:ext uri="{FF2B5EF4-FFF2-40B4-BE49-F238E27FC236}">
                <a16:creationId xmlns:a16="http://schemas.microsoft.com/office/drawing/2014/main" id="{E9ABFBDC-EECD-0D8C-A573-5F3EB37030B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684834" y="2209800"/>
            <a:ext cx="5520333" cy="2514600"/>
          </a:xfrm>
          <a:prstGeom prst="rect">
            <a:avLst/>
          </a:prstGeom>
          <a:ln w="10160">
            <a:solidFill>
              <a:srgbClr val="1F3756"/>
            </a:solidFill>
          </a:ln>
        </p:spPr>
      </p:pic>
      <p:sp>
        <p:nvSpPr>
          <p:cNvPr id="16" name="demo-under">
            <a:extLst>
              <a:ext uri="{FF2B5EF4-FFF2-40B4-BE49-F238E27FC236}">
                <a16:creationId xmlns:a16="http://schemas.microsoft.com/office/drawing/2014/main" id="{34E89F00-F7C7-F449-70EB-09B0EBA837DE}"/>
              </a:ext>
            </a:extLst>
          </p:cNvPr>
          <p:cNvSpPr/>
          <p:nvPr/>
        </p:nvSpPr>
        <p:spPr>
          <a:xfrm>
            <a:off x="965200" y="4851400"/>
            <a:ext cx="6959600" cy="279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demo-under-t">
            <a:extLst>
              <a:ext uri="{FF2B5EF4-FFF2-40B4-BE49-F238E27FC236}">
                <a16:creationId xmlns:a16="http://schemas.microsoft.com/office/drawing/2014/main" id="{4D109C11-FCB6-771C-14D5-84271F67FF80}"/>
              </a:ext>
            </a:extLst>
          </p:cNvPr>
          <p:cNvSpPr txBox="1"/>
          <p:nvPr/>
        </p:nvSpPr>
        <p:spPr>
          <a:xfrm>
            <a:off x="1244600" y="4940300"/>
            <a:ext cx="4572000" cy="276999"/>
          </a:xfrm>
          <a:prstGeom prst="rect">
            <a:avLst/>
          </a:prstGeom>
          <a:noFill/>
        </p:spPr>
        <p:txBody>
          <a:bodyPr vert="horz" wrap="square" lIns="0" tIns="0" rIns="0" bIns="0" rtlCol="0">
            <a:noAutofit/>
          </a:bodyPr>
          <a:lstStyle/>
          <a:p>
            <a:r>
              <a:rPr lang="en-US" altLang="zh-CN" sz="680" b="1">
                <a:solidFill>
                  <a:srgbClr val="FFFFFF"/>
                </a:solidFill>
                <a:latin typeface="Aptos" panose="020B0004020202020204" pitchFamily="34" charset="0"/>
              </a:rPr>
              <a:t>inspectable route, not a live rerun</a:t>
            </a:r>
            <a:endParaRPr lang="zh-CN" altLang="en-US" sz="680" b="1">
              <a:solidFill>
                <a:srgbClr val="FFFFFF"/>
              </a:solidFill>
              <a:latin typeface="Aptos" panose="020B0004020202020204" pitchFamily="34" charset="0"/>
            </a:endParaRPr>
          </a:p>
        </p:txBody>
      </p:sp>
      <p:sp>
        <p:nvSpPr>
          <p:cNvPr id="18" name="demo-page-link">
            <a:hlinkClick r:id="rId5"/>
            <a:extLst>
              <a:ext uri="{FF2B5EF4-FFF2-40B4-BE49-F238E27FC236}">
                <a16:creationId xmlns:a16="http://schemas.microsoft.com/office/drawing/2014/main" id="{B42D95F2-5821-44A9-DE9E-CBC4E2E52B90}"/>
              </a:ext>
            </a:extLst>
          </p:cNvPr>
          <p:cNvSpPr/>
          <p:nvPr/>
        </p:nvSpPr>
        <p:spPr>
          <a:xfrm>
            <a:off x="6248400" y="4851400"/>
            <a:ext cx="1397000" cy="279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Open page</a:t>
            </a:r>
            <a:endParaRPr lang="zh-CN" altLang="en-US" sz="760" b="1">
              <a:solidFill>
                <a:srgbClr val="003B7A"/>
              </a:solidFill>
              <a:latin typeface="Aptos" panose="020B0004020202020204" pitchFamily="34" charset="0"/>
            </a:endParaRPr>
          </a:p>
        </p:txBody>
      </p:sp>
      <p:sp>
        <p:nvSpPr>
          <p:cNvPr id="19" name="route">
            <a:extLst>
              <a:ext uri="{FF2B5EF4-FFF2-40B4-BE49-F238E27FC236}">
                <a16:creationId xmlns:a16="http://schemas.microsoft.com/office/drawing/2014/main" id="{A00E0751-44E7-15A2-5ED2-747682387CC6}"/>
              </a:ext>
            </a:extLst>
          </p:cNvPr>
          <p:cNvSpPr/>
          <p:nvPr/>
        </p:nvSpPr>
        <p:spPr>
          <a:xfrm>
            <a:off x="8763000" y="1981200"/>
            <a:ext cx="2667000" cy="32512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route-k">
            <a:extLst>
              <a:ext uri="{FF2B5EF4-FFF2-40B4-BE49-F238E27FC236}">
                <a16:creationId xmlns:a16="http://schemas.microsoft.com/office/drawing/2014/main" id="{F6B4FDDF-AC7D-EFF5-99AF-7022ED25AC95}"/>
              </a:ext>
            </a:extLst>
          </p:cNvPr>
          <p:cNvSpPr txBox="1"/>
          <p:nvPr/>
        </p:nvSpPr>
        <p:spPr>
          <a:xfrm>
            <a:off x="9118600" y="2260600"/>
            <a:ext cx="16002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walkthrough route</a:t>
            </a:r>
            <a:endParaRPr lang="zh-CN" altLang="en-US" sz="770" b="1">
              <a:solidFill>
                <a:srgbClr val="CDE2FA"/>
              </a:solidFill>
              <a:latin typeface="Aptos" panose="020B0004020202020204" pitchFamily="34" charset="0"/>
            </a:endParaRPr>
          </a:p>
        </p:txBody>
      </p:sp>
      <p:sp>
        <p:nvSpPr>
          <p:cNvPr id="21" name="rnum-0">
            <a:extLst>
              <a:ext uri="{FF2B5EF4-FFF2-40B4-BE49-F238E27FC236}">
                <a16:creationId xmlns:a16="http://schemas.microsoft.com/office/drawing/2014/main" id="{761FE5CE-C644-D759-8DF9-1A6CAE434297}"/>
              </a:ext>
            </a:extLst>
          </p:cNvPr>
          <p:cNvSpPr/>
          <p:nvPr/>
        </p:nvSpPr>
        <p:spPr>
          <a:xfrm>
            <a:off x="9118600" y="27178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rnumt-0">
            <a:extLst>
              <a:ext uri="{FF2B5EF4-FFF2-40B4-BE49-F238E27FC236}">
                <a16:creationId xmlns:a16="http://schemas.microsoft.com/office/drawing/2014/main" id="{F5CA1BCA-5C94-D37B-52CC-91DAFD70E562}"/>
              </a:ext>
            </a:extLst>
          </p:cNvPr>
          <p:cNvSpPr txBox="1"/>
          <p:nvPr/>
        </p:nvSpPr>
        <p:spPr>
          <a:xfrm>
            <a:off x="9207500" y="27813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1</a:t>
            </a:r>
            <a:endParaRPr lang="zh-CN" altLang="en-US" sz="700" b="1">
              <a:solidFill>
                <a:srgbClr val="003B7A"/>
              </a:solidFill>
              <a:latin typeface="Aptos" panose="020B0004020202020204" pitchFamily="34" charset="0"/>
            </a:endParaRPr>
          </a:p>
        </p:txBody>
      </p:sp>
      <p:sp>
        <p:nvSpPr>
          <p:cNvPr id="23" name="rt-0">
            <a:extLst>
              <a:ext uri="{FF2B5EF4-FFF2-40B4-BE49-F238E27FC236}">
                <a16:creationId xmlns:a16="http://schemas.microsoft.com/office/drawing/2014/main" id="{6D874E98-242B-F1B5-2618-BBDEA620B717}"/>
              </a:ext>
            </a:extLst>
          </p:cNvPr>
          <p:cNvSpPr txBox="1"/>
          <p:nvPr/>
        </p:nvSpPr>
        <p:spPr>
          <a:xfrm>
            <a:off x="9575800" y="27686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Project page</a:t>
            </a:r>
            <a:endParaRPr lang="zh-CN" altLang="en-US" sz="810" b="1">
              <a:solidFill>
                <a:srgbClr val="FFFFFF"/>
              </a:solidFill>
              <a:latin typeface="Aptos" panose="020B0004020202020204" pitchFamily="34" charset="0"/>
            </a:endParaRPr>
          </a:p>
        </p:txBody>
      </p:sp>
      <p:sp>
        <p:nvSpPr>
          <p:cNvPr id="24" name="rnum-1">
            <a:extLst>
              <a:ext uri="{FF2B5EF4-FFF2-40B4-BE49-F238E27FC236}">
                <a16:creationId xmlns:a16="http://schemas.microsoft.com/office/drawing/2014/main" id="{F43EEDEE-FBEF-C573-2F55-670FFE3E4381}"/>
              </a:ext>
            </a:extLst>
          </p:cNvPr>
          <p:cNvSpPr/>
          <p:nvPr/>
        </p:nvSpPr>
        <p:spPr>
          <a:xfrm>
            <a:off x="9118600" y="31623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rnumt-1">
            <a:extLst>
              <a:ext uri="{FF2B5EF4-FFF2-40B4-BE49-F238E27FC236}">
                <a16:creationId xmlns:a16="http://schemas.microsoft.com/office/drawing/2014/main" id="{2481F11A-00E8-0DD8-7B27-90ECC0FB8672}"/>
              </a:ext>
            </a:extLst>
          </p:cNvPr>
          <p:cNvSpPr txBox="1"/>
          <p:nvPr/>
        </p:nvSpPr>
        <p:spPr>
          <a:xfrm>
            <a:off x="9207500" y="32258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2</a:t>
            </a:r>
            <a:endParaRPr lang="zh-CN" altLang="en-US" sz="700" b="1">
              <a:solidFill>
                <a:srgbClr val="003B7A"/>
              </a:solidFill>
              <a:latin typeface="Aptos" panose="020B0004020202020204" pitchFamily="34" charset="0"/>
            </a:endParaRPr>
          </a:p>
        </p:txBody>
      </p:sp>
      <p:sp>
        <p:nvSpPr>
          <p:cNvPr id="26" name="rt-1">
            <a:extLst>
              <a:ext uri="{FF2B5EF4-FFF2-40B4-BE49-F238E27FC236}">
                <a16:creationId xmlns:a16="http://schemas.microsoft.com/office/drawing/2014/main" id="{B12C9CDE-EEDF-F503-C845-0B68AE600040}"/>
              </a:ext>
            </a:extLst>
          </p:cNvPr>
          <p:cNvSpPr txBox="1"/>
          <p:nvPr/>
        </p:nvSpPr>
        <p:spPr>
          <a:xfrm>
            <a:off x="9575800" y="32131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Claim boundary</a:t>
            </a:r>
            <a:endParaRPr lang="zh-CN" altLang="en-US" sz="810" b="1">
              <a:solidFill>
                <a:srgbClr val="FFFFFF"/>
              </a:solidFill>
              <a:latin typeface="Aptos" panose="020B0004020202020204" pitchFamily="34" charset="0"/>
            </a:endParaRPr>
          </a:p>
        </p:txBody>
      </p:sp>
      <p:sp>
        <p:nvSpPr>
          <p:cNvPr id="27" name="rnum-2">
            <a:extLst>
              <a:ext uri="{FF2B5EF4-FFF2-40B4-BE49-F238E27FC236}">
                <a16:creationId xmlns:a16="http://schemas.microsoft.com/office/drawing/2014/main" id="{D8FA851C-B011-F638-C411-1C51DEC845D1}"/>
              </a:ext>
            </a:extLst>
          </p:cNvPr>
          <p:cNvSpPr/>
          <p:nvPr/>
        </p:nvSpPr>
        <p:spPr>
          <a:xfrm>
            <a:off x="9118600" y="36068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rnumt-2">
            <a:extLst>
              <a:ext uri="{FF2B5EF4-FFF2-40B4-BE49-F238E27FC236}">
                <a16:creationId xmlns:a16="http://schemas.microsoft.com/office/drawing/2014/main" id="{011ED53A-A91C-0717-D2F6-BC632A7CDECA}"/>
              </a:ext>
            </a:extLst>
          </p:cNvPr>
          <p:cNvSpPr txBox="1"/>
          <p:nvPr/>
        </p:nvSpPr>
        <p:spPr>
          <a:xfrm>
            <a:off x="9207500" y="36703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3</a:t>
            </a:r>
            <a:endParaRPr lang="zh-CN" altLang="en-US" sz="700" b="1">
              <a:solidFill>
                <a:srgbClr val="003B7A"/>
              </a:solidFill>
              <a:latin typeface="Aptos" panose="020B0004020202020204" pitchFamily="34" charset="0"/>
            </a:endParaRPr>
          </a:p>
        </p:txBody>
      </p:sp>
      <p:sp>
        <p:nvSpPr>
          <p:cNvPr id="29" name="rt-2">
            <a:extLst>
              <a:ext uri="{FF2B5EF4-FFF2-40B4-BE49-F238E27FC236}">
                <a16:creationId xmlns:a16="http://schemas.microsoft.com/office/drawing/2014/main" id="{C8395984-C556-F291-C34C-357E91BEDA56}"/>
              </a:ext>
            </a:extLst>
          </p:cNvPr>
          <p:cNvSpPr txBox="1"/>
          <p:nvPr/>
        </p:nvSpPr>
        <p:spPr>
          <a:xfrm>
            <a:off x="9575800" y="36576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Traceability matrix</a:t>
            </a:r>
            <a:endParaRPr lang="zh-CN" altLang="en-US" sz="810" b="1">
              <a:solidFill>
                <a:srgbClr val="FFFFFF"/>
              </a:solidFill>
              <a:latin typeface="Aptos" panose="020B0004020202020204" pitchFamily="34" charset="0"/>
            </a:endParaRPr>
          </a:p>
        </p:txBody>
      </p:sp>
      <p:sp>
        <p:nvSpPr>
          <p:cNvPr id="30" name="rnum-3">
            <a:extLst>
              <a:ext uri="{FF2B5EF4-FFF2-40B4-BE49-F238E27FC236}">
                <a16:creationId xmlns:a16="http://schemas.microsoft.com/office/drawing/2014/main" id="{F270ED34-820A-3DEE-8381-F4989B243DC7}"/>
              </a:ext>
            </a:extLst>
          </p:cNvPr>
          <p:cNvSpPr/>
          <p:nvPr/>
        </p:nvSpPr>
        <p:spPr>
          <a:xfrm>
            <a:off x="9118600" y="40513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rnumt-3">
            <a:extLst>
              <a:ext uri="{FF2B5EF4-FFF2-40B4-BE49-F238E27FC236}">
                <a16:creationId xmlns:a16="http://schemas.microsoft.com/office/drawing/2014/main" id="{05BD01D5-991A-4226-B6D3-F5CF7C9AFC89}"/>
              </a:ext>
            </a:extLst>
          </p:cNvPr>
          <p:cNvSpPr txBox="1"/>
          <p:nvPr/>
        </p:nvSpPr>
        <p:spPr>
          <a:xfrm>
            <a:off x="9207500" y="41148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4</a:t>
            </a:r>
            <a:endParaRPr lang="zh-CN" altLang="en-US" sz="700" b="1">
              <a:solidFill>
                <a:srgbClr val="003B7A"/>
              </a:solidFill>
              <a:latin typeface="Aptos" panose="020B0004020202020204" pitchFamily="34" charset="0"/>
            </a:endParaRPr>
          </a:p>
        </p:txBody>
      </p:sp>
      <p:sp>
        <p:nvSpPr>
          <p:cNvPr id="32" name="rt-3">
            <a:extLst>
              <a:ext uri="{FF2B5EF4-FFF2-40B4-BE49-F238E27FC236}">
                <a16:creationId xmlns:a16="http://schemas.microsoft.com/office/drawing/2014/main" id="{6436FF43-D681-1378-4F00-44DBAE8AF3AD}"/>
              </a:ext>
            </a:extLst>
          </p:cNvPr>
          <p:cNvSpPr txBox="1"/>
          <p:nvPr/>
        </p:nvSpPr>
        <p:spPr>
          <a:xfrm>
            <a:off x="9575800" y="41021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Result manifest</a:t>
            </a:r>
            <a:endParaRPr lang="zh-CN" altLang="en-US" sz="810" b="1">
              <a:solidFill>
                <a:srgbClr val="FFFFFF"/>
              </a:solidFill>
              <a:latin typeface="Aptos" panose="020B0004020202020204" pitchFamily="34" charset="0"/>
            </a:endParaRPr>
          </a:p>
        </p:txBody>
      </p:sp>
      <p:sp>
        <p:nvSpPr>
          <p:cNvPr id="33" name="rnum-4">
            <a:extLst>
              <a:ext uri="{FF2B5EF4-FFF2-40B4-BE49-F238E27FC236}">
                <a16:creationId xmlns:a16="http://schemas.microsoft.com/office/drawing/2014/main" id="{6FAD9374-6082-E154-9B8D-163F0E7435F4}"/>
              </a:ext>
            </a:extLst>
          </p:cNvPr>
          <p:cNvSpPr/>
          <p:nvPr/>
        </p:nvSpPr>
        <p:spPr>
          <a:xfrm>
            <a:off x="9118600" y="44958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rnumt-4">
            <a:extLst>
              <a:ext uri="{FF2B5EF4-FFF2-40B4-BE49-F238E27FC236}">
                <a16:creationId xmlns:a16="http://schemas.microsoft.com/office/drawing/2014/main" id="{28017AB3-674C-637B-7A44-F044699E0AEB}"/>
              </a:ext>
            </a:extLst>
          </p:cNvPr>
          <p:cNvSpPr txBox="1"/>
          <p:nvPr/>
        </p:nvSpPr>
        <p:spPr>
          <a:xfrm>
            <a:off x="9207500" y="45593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5</a:t>
            </a:r>
            <a:endParaRPr lang="zh-CN" altLang="en-US" sz="700" b="1">
              <a:solidFill>
                <a:srgbClr val="003B7A"/>
              </a:solidFill>
              <a:latin typeface="Aptos" panose="020B0004020202020204" pitchFamily="34" charset="0"/>
            </a:endParaRPr>
          </a:p>
        </p:txBody>
      </p:sp>
      <p:sp>
        <p:nvSpPr>
          <p:cNvPr id="35" name="rt-4">
            <a:extLst>
              <a:ext uri="{FF2B5EF4-FFF2-40B4-BE49-F238E27FC236}">
                <a16:creationId xmlns:a16="http://schemas.microsoft.com/office/drawing/2014/main" id="{8CE5B7EA-84A3-4B43-9DB5-183A33C7528E}"/>
              </a:ext>
            </a:extLst>
          </p:cNvPr>
          <p:cNvSpPr txBox="1"/>
          <p:nvPr/>
        </p:nvSpPr>
        <p:spPr>
          <a:xfrm>
            <a:off x="9575800" y="45466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Evidence folder</a:t>
            </a:r>
            <a:endParaRPr lang="zh-CN" altLang="en-US" sz="810" b="1">
              <a:solidFill>
                <a:srgbClr val="FFFFFF"/>
              </a:solidFill>
              <a:latin typeface="Aptos" panose="020B0004020202020204" pitchFamily="34" charset="0"/>
            </a:endParaRPr>
          </a:p>
        </p:txBody>
      </p:sp>
      <p:sp>
        <p:nvSpPr>
          <p:cNvPr id="36" name="footer-hit-9">
            <a:hlinkClick r:id="rId5"/>
            <a:extLst>
              <a:ext uri="{FF2B5EF4-FFF2-40B4-BE49-F238E27FC236}">
                <a16:creationId xmlns:a16="http://schemas.microsoft.com/office/drawing/2014/main" id="{ED34FCA3-DF24-2F28-4A31-F24DEE556318}"/>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09847956"/>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nodeType="after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160"/>
                                        <p:tgtEl>
                                          <p:spTgt spid="15"/>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160"/>
                                        <p:tgtEl>
                                          <p:spTgt spid="19"/>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160"/>
                                        <p:tgtEl>
                                          <p:spTgt spid="20"/>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160"/>
                                        <p:tgtEl>
                                          <p:spTgt spid="21"/>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160"/>
                                        <p:tgtEl>
                                          <p:spTgt spid="22"/>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160"/>
                                        <p:tgtEl>
                                          <p:spTgt spid="23"/>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160"/>
                                        <p:tgtEl>
                                          <p:spTgt spid="24"/>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160"/>
                                        <p:tgtEl>
                                          <p:spTgt spid="25"/>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160"/>
                                        <p:tgtEl>
                                          <p:spTgt spid="26"/>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160"/>
                                        <p:tgtEl>
                                          <p:spTgt spid="27"/>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160"/>
                                        <p:tgtEl>
                                          <p:spTgt spid="28"/>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160"/>
                                        <p:tgtEl>
                                          <p:spTgt spid="29"/>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160"/>
                                        <p:tgtEl>
                                          <p:spTgt spid="30"/>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160"/>
                                        <p:tgtEl>
                                          <p:spTgt spid="31"/>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32"/>
                                        </p:tgtEl>
                                        <p:attrNameLst>
                                          <p:attrName>style.visibility</p:attrName>
                                        </p:attrNameLst>
                                      </p:cBhvr>
                                      <p:to>
                                        <p:strVal val="visible"/>
                                      </p:to>
                                    </p:set>
                                    <p:animEffect transition="in" filter="fade">
                                      <p:cBhvr>
                                        <p:cTn id="67" dur="160"/>
                                        <p:tgtEl>
                                          <p:spTgt spid="32"/>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160"/>
                                        <p:tgtEl>
                                          <p:spTgt spid="33"/>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160"/>
                                        <p:tgtEl>
                                          <p:spTgt spid="34"/>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fade">
                                      <p:cBhvr>
                                        <p:cTn id="79" dur="16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9" grpId="0" animBg="1"/>
      <p:bldP spid="20" grpId="0"/>
      <p:bldP spid="21" grpId="0" animBg="1"/>
      <p:bldP spid="22" grpId="0"/>
      <p:bldP spid="23" grpId="0"/>
      <p:bldP spid="24" grpId="0" animBg="1"/>
      <p:bldP spid="25" grpId="0"/>
      <p:bldP spid="26" grpId="0"/>
      <p:bldP spid="27" grpId="0" animBg="1"/>
      <p:bldP spid="28" grpId="0"/>
      <p:bldP spid="29" grpId="0"/>
      <p:bldP spid="30" grpId="0" animBg="1"/>
      <p:bldP spid="31" grpId="0"/>
      <p:bldP spid="32" grpId="0"/>
      <p:bldP spid="33" grpId="0" animBg="1"/>
      <p:bldP spid="34" grpId="0"/>
      <p:bldP spid="3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ABD2D1DE-4C49-22E7-C072-C4861F7443B1}"/>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6EB4AB6A-8D8E-B086-82C2-978E78F7850A}"/>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08089AFC-D774-32EB-1595-8672AD2938C7}"/>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EC811732-4F49-8049-D019-D5A72A35DD1B}"/>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DEMO 2</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F7DE8A7D-1238-0EEF-E44C-7B7483D39A7A}"/>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10</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510363D8-8448-8F2B-581F-FE73FEFDDD4B}"/>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E7F70952-06EB-A962-3CB0-F3ECEBFE9065}"/>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1FA533C4-FD56-E1A3-A515-1809B54488C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F63EA625-E18E-B29B-A724-B5B1409DC8DC}"/>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local check verifies repository consistency only.</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16EFA9C9-5E79-CC10-D474-F594ACD03831}"/>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It is a short examiner-facing check, not a hidden rerun of the full experiments.</a:t>
            </a:r>
            <a:endParaRPr lang="zh-CN" altLang="en-US" sz="930">
              <a:solidFill>
                <a:srgbClr val="4A5B78"/>
              </a:solidFill>
              <a:latin typeface="Aptos" panose="020B0004020202020204" pitchFamily="34" charset="0"/>
            </a:endParaRPr>
          </a:p>
        </p:txBody>
      </p:sp>
      <p:sp>
        <p:nvSpPr>
          <p:cNvPr id="13" name="term">
            <a:extLst>
              <a:ext uri="{FF2B5EF4-FFF2-40B4-BE49-F238E27FC236}">
                <a16:creationId xmlns:a16="http://schemas.microsoft.com/office/drawing/2014/main" id="{287DF4CF-7B19-1357-D4E5-804923ED8BC6}"/>
              </a:ext>
            </a:extLst>
          </p:cNvPr>
          <p:cNvSpPr/>
          <p:nvPr/>
        </p:nvSpPr>
        <p:spPr>
          <a:xfrm>
            <a:off x="736600" y="1879600"/>
            <a:ext cx="7061200" cy="3124200"/>
          </a:xfrm>
          <a:prstGeom prst="rect">
            <a:avLst/>
          </a:prstGeom>
          <a:solidFill>
            <a:srgbClr val="030918"/>
          </a:solidFill>
          <a:ln w="11430">
            <a:solidFill>
              <a:srgbClr val="03091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rm-k">
            <a:extLst>
              <a:ext uri="{FF2B5EF4-FFF2-40B4-BE49-F238E27FC236}">
                <a16:creationId xmlns:a16="http://schemas.microsoft.com/office/drawing/2014/main" id="{6B84DFDB-0DF3-B9DC-1ADE-0070E0AB4D0A}"/>
              </a:ext>
            </a:extLst>
          </p:cNvPr>
          <p:cNvSpPr txBox="1"/>
          <p:nvPr/>
        </p:nvSpPr>
        <p:spPr>
          <a:xfrm>
            <a:off x="1066800" y="2159000"/>
            <a:ext cx="2286000" cy="276999"/>
          </a:xfrm>
          <a:prstGeom prst="rect">
            <a:avLst/>
          </a:prstGeom>
          <a:noFill/>
        </p:spPr>
        <p:txBody>
          <a:bodyPr vert="horz" wrap="square" lIns="0" tIns="0" rIns="0" bIns="0" rtlCol="0">
            <a:noAutofit/>
          </a:bodyPr>
          <a:lstStyle/>
          <a:p>
            <a:r>
              <a:rPr lang="en-US" altLang="zh-CN" sz="780" b="1">
                <a:solidFill>
                  <a:srgbClr val="A5C6EB"/>
                </a:solidFill>
                <a:latin typeface="Aptos" panose="020B0004020202020204" pitchFamily="34" charset="0"/>
              </a:rPr>
              <a:t>repository root</a:t>
            </a:r>
            <a:endParaRPr lang="zh-CN" altLang="en-US" sz="780" b="1">
              <a:solidFill>
                <a:srgbClr val="A5C6EB"/>
              </a:solidFill>
              <a:latin typeface="Aptos" panose="020B0004020202020204" pitchFamily="34" charset="0"/>
            </a:endParaRPr>
          </a:p>
        </p:txBody>
      </p:sp>
      <p:cxnSp>
        <p:nvCxnSpPr>
          <p:cNvPr id="15" name="term-line">
            <a:extLst>
              <a:ext uri="{FF2B5EF4-FFF2-40B4-BE49-F238E27FC236}">
                <a16:creationId xmlns:a16="http://schemas.microsoft.com/office/drawing/2014/main" id="{055B2D9C-354B-E715-75FA-6761BE833303}"/>
              </a:ext>
            </a:extLst>
          </p:cNvPr>
          <p:cNvCxnSpPr/>
          <p:nvPr/>
        </p:nvCxnSpPr>
        <p:spPr>
          <a:xfrm>
            <a:off x="1066800" y="2476500"/>
            <a:ext cx="6375400" cy="0"/>
          </a:xfrm>
          <a:prstGeom prst="line">
            <a:avLst/>
          </a:prstGeom>
          <a:ln w="12700">
            <a:solidFill>
              <a:srgbClr val="43648F"/>
            </a:solidFill>
          </a:ln>
        </p:spPr>
        <p:style>
          <a:lnRef idx="1">
            <a:schemeClr val="accent1"/>
          </a:lnRef>
          <a:fillRef idx="0">
            <a:schemeClr val="accent1"/>
          </a:fillRef>
          <a:effectRef idx="0">
            <a:schemeClr val="accent1"/>
          </a:effectRef>
          <a:fontRef idx="minor">
            <a:schemeClr val="tx1"/>
          </a:fontRef>
        </p:style>
      </p:cxnSp>
      <p:sp>
        <p:nvSpPr>
          <p:cNvPr id="16" name="term-t">
            <a:extLst>
              <a:ext uri="{FF2B5EF4-FFF2-40B4-BE49-F238E27FC236}">
                <a16:creationId xmlns:a16="http://schemas.microsoft.com/office/drawing/2014/main" id="{64940794-F54D-B39B-6A90-55CB13034DF0}"/>
              </a:ext>
            </a:extLst>
          </p:cNvPr>
          <p:cNvSpPr txBox="1"/>
          <p:nvPr/>
        </p:nvSpPr>
        <p:spPr>
          <a:xfrm>
            <a:off x="1066800" y="2768600"/>
            <a:ext cx="5689600" cy="276999"/>
          </a:xfrm>
          <a:prstGeom prst="rect">
            <a:avLst/>
          </a:prstGeom>
          <a:noFill/>
        </p:spPr>
        <p:txBody>
          <a:bodyPr vert="horz" wrap="square" lIns="0" tIns="0" rIns="0" bIns="0" rtlCol="0">
            <a:noAutofit/>
          </a:bodyPr>
          <a:lstStyle/>
          <a:p>
            <a:r>
              <a:rPr lang="en-US" altLang="zh-CN" sz="1240">
                <a:solidFill>
                  <a:srgbClr val="FFFFFF"/>
                </a:solidFill>
                <a:latin typeface="Consolas" panose="020B0609020204030204" pitchFamily="49" charset="0"/>
              </a:rPr>
              <a:t>python scripts/viva_check.py
[OK] Viva-facing documents present: 7
[OK] Result manifest covers all modules
[OK] Manifest rows are hash-addressed
[OK] Key inspection artifacts present</a:t>
            </a:r>
            <a:endParaRPr lang="zh-CN" altLang="en-US" sz="1240">
              <a:solidFill>
                <a:srgbClr val="FFFFFF"/>
              </a:solidFill>
              <a:latin typeface="Consolas" panose="020B0609020204030204" pitchFamily="49" charset="0"/>
            </a:endParaRPr>
          </a:p>
        </p:txBody>
      </p:sp>
      <p:sp>
        <p:nvSpPr>
          <p:cNvPr id="17" name="term-bottom">
            <a:extLst>
              <a:ext uri="{FF2B5EF4-FFF2-40B4-BE49-F238E27FC236}">
                <a16:creationId xmlns:a16="http://schemas.microsoft.com/office/drawing/2014/main" id="{49B441BB-9B13-3445-C6F0-406811F0872A}"/>
              </a:ext>
            </a:extLst>
          </p:cNvPr>
          <p:cNvSpPr/>
          <p:nvPr/>
        </p:nvSpPr>
        <p:spPr>
          <a:xfrm>
            <a:off x="1066800" y="4445000"/>
            <a:ext cx="6121400" cy="279400"/>
          </a:xfrm>
          <a:prstGeom prst="rect">
            <a:avLst/>
          </a:prstGeom>
          <a:solidFill>
            <a:srgbClr val="091D43"/>
          </a:solidFill>
          <a:ln w="11430">
            <a:solidFill>
              <a:srgbClr val="234B7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term-bottom-t">
            <a:extLst>
              <a:ext uri="{FF2B5EF4-FFF2-40B4-BE49-F238E27FC236}">
                <a16:creationId xmlns:a16="http://schemas.microsoft.com/office/drawing/2014/main" id="{30F67815-5122-BC87-B07A-193250A66706}"/>
              </a:ext>
            </a:extLst>
          </p:cNvPr>
          <p:cNvSpPr txBox="1"/>
          <p:nvPr/>
        </p:nvSpPr>
        <p:spPr>
          <a:xfrm>
            <a:off x="1346200" y="4533900"/>
            <a:ext cx="5308600" cy="276999"/>
          </a:xfrm>
          <a:prstGeom prst="rect">
            <a:avLst/>
          </a:prstGeom>
          <a:noFill/>
        </p:spPr>
        <p:txBody>
          <a:bodyPr vert="horz" wrap="square" lIns="0" tIns="0" rIns="0" bIns="0" rtlCol="0">
            <a:noAutofit/>
          </a:bodyPr>
          <a:lstStyle/>
          <a:p>
            <a:r>
              <a:rPr lang="en-US" altLang="zh-CN" sz="680" b="1">
                <a:solidFill>
                  <a:srgbClr val="CADEF7"/>
                </a:solidFill>
                <a:latin typeface="Aptos" panose="020B0004020202020204" pitchFamily="34" charset="0"/>
              </a:rPr>
              <a:t>This is a quick inspection check. It does not claim to rerun GPU/API experiments in the room.</a:t>
            </a:r>
            <a:endParaRPr lang="zh-CN" altLang="en-US" sz="680" b="1">
              <a:solidFill>
                <a:srgbClr val="CADEF7"/>
              </a:solidFill>
              <a:latin typeface="Aptos" panose="020B0004020202020204" pitchFamily="34" charset="0"/>
            </a:endParaRPr>
          </a:p>
        </p:txBody>
      </p:sp>
      <p:sp>
        <p:nvSpPr>
          <p:cNvPr id="19" name="ck-0">
            <a:extLst>
              <a:ext uri="{FF2B5EF4-FFF2-40B4-BE49-F238E27FC236}">
                <a16:creationId xmlns:a16="http://schemas.microsoft.com/office/drawing/2014/main" id="{4EBE9EEF-27AA-80EF-9EAA-790F397F23AC}"/>
              </a:ext>
            </a:extLst>
          </p:cNvPr>
          <p:cNvSpPr/>
          <p:nvPr/>
        </p:nvSpPr>
        <p:spPr>
          <a:xfrm>
            <a:off x="8305800" y="2006600"/>
            <a:ext cx="2946400" cy="711200"/>
          </a:xfrm>
          <a:prstGeom prst="rect">
            <a:avLst/>
          </a:prstGeom>
          <a:solidFill>
            <a:srgbClr val="E8F7F0"/>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ckbar-0">
            <a:extLst>
              <a:ext uri="{FF2B5EF4-FFF2-40B4-BE49-F238E27FC236}">
                <a16:creationId xmlns:a16="http://schemas.microsoft.com/office/drawing/2014/main" id="{568E31AB-7777-EFD7-B47C-7B588F9E5B87}"/>
              </a:ext>
            </a:extLst>
          </p:cNvPr>
          <p:cNvSpPr/>
          <p:nvPr/>
        </p:nvSpPr>
        <p:spPr>
          <a:xfrm>
            <a:off x="8305800" y="2006600"/>
            <a:ext cx="76200" cy="7112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ck-t-0">
            <a:extLst>
              <a:ext uri="{FF2B5EF4-FFF2-40B4-BE49-F238E27FC236}">
                <a16:creationId xmlns:a16="http://schemas.microsoft.com/office/drawing/2014/main" id="{FD0657D5-7B36-685F-D80D-BAD1325B8DD8}"/>
              </a:ext>
            </a:extLst>
          </p:cNvPr>
          <p:cNvSpPr txBox="1"/>
          <p:nvPr/>
        </p:nvSpPr>
        <p:spPr>
          <a:xfrm>
            <a:off x="8636000" y="2146300"/>
            <a:ext cx="1625600" cy="276999"/>
          </a:xfrm>
          <a:prstGeom prst="rect">
            <a:avLst/>
          </a:prstGeom>
          <a:noFill/>
        </p:spPr>
        <p:txBody>
          <a:bodyPr vert="horz" wrap="square" lIns="0" tIns="0" rIns="0" bIns="0" rtlCol="0">
            <a:noAutofit/>
          </a:bodyPr>
          <a:lstStyle/>
          <a:p>
            <a:r>
              <a:rPr lang="en-US" altLang="zh-CN" sz="850" b="1">
                <a:solidFill>
                  <a:srgbClr val="1F7A4D"/>
                </a:solidFill>
                <a:latin typeface="Aptos" panose="020B0004020202020204" pitchFamily="34" charset="0"/>
              </a:rPr>
              <a:t>Checks</a:t>
            </a:r>
            <a:endParaRPr lang="zh-CN" altLang="en-US" sz="850" b="1">
              <a:solidFill>
                <a:srgbClr val="1F7A4D"/>
              </a:solidFill>
              <a:latin typeface="Aptos" panose="020B0004020202020204" pitchFamily="34" charset="0"/>
            </a:endParaRPr>
          </a:p>
        </p:txBody>
      </p:sp>
      <p:sp>
        <p:nvSpPr>
          <p:cNvPr id="22" name="ck-s-0">
            <a:extLst>
              <a:ext uri="{FF2B5EF4-FFF2-40B4-BE49-F238E27FC236}">
                <a16:creationId xmlns:a16="http://schemas.microsoft.com/office/drawing/2014/main" id="{A61C320C-D6F1-48A9-3238-CF6B1135C104}"/>
              </a:ext>
            </a:extLst>
          </p:cNvPr>
          <p:cNvSpPr txBox="1"/>
          <p:nvPr/>
        </p:nvSpPr>
        <p:spPr>
          <a:xfrm>
            <a:off x="8636000" y="2400300"/>
            <a:ext cx="2133600" cy="276999"/>
          </a:xfrm>
          <a:prstGeom prst="rect">
            <a:avLst/>
          </a:prstGeom>
          <a:noFill/>
        </p:spPr>
        <p:txBody>
          <a:bodyPr vert="horz" wrap="square" lIns="0" tIns="0" rIns="0" bIns="0" rtlCol="0">
            <a:noAutofit/>
          </a:bodyPr>
          <a:lstStyle/>
          <a:p>
            <a:r>
              <a:rPr lang="en-US" altLang="zh-CN" sz="700">
                <a:solidFill>
                  <a:srgbClr val="4A5B78"/>
                </a:solidFill>
                <a:latin typeface="Aptos" panose="020B0004020202020204" pitchFamily="34" charset="0"/>
              </a:rPr>
              <a:t>documents, manifest rows, hashes, traceability, and claim boundaries</a:t>
            </a:r>
            <a:endParaRPr lang="zh-CN" altLang="en-US" sz="700">
              <a:solidFill>
                <a:srgbClr val="4A5B78"/>
              </a:solidFill>
              <a:latin typeface="Aptos" panose="020B0004020202020204" pitchFamily="34" charset="0"/>
            </a:endParaRPr>
          </a:p>
        </p:txBody>
      </p:sp>
      <p:sp>
        <p:nvSpPr>
          <p:cNvPr id="23" name="ck-1">
            <a:extLst>
              <a:ext uri="{FF2B5EF4-FFF2-40B4-BE49-F238E27FC236}">
                <a16:creationId xmlns:a16="http://schemas.microsoft.com/office/drawing/2014/main" id="{46A00EFF-1307-3E5B-7895-76EF624A3BFA}"/>
              </a:ext>
            </a:extLst>
          </p:cNvPr>
          <p:cNvSpPr/>
          <p:nvPr/>
        </p:nvSpPr>
        <p:spPr>
          <a:xfrm>
            <a:off x="8305800" y="2997200"/>
            <a:ext cx="2946400" cy="711200"/>
          </a:xfrm>
          <a:prstGeom prst="rect">
            <a:avLst/>
          </a:prstGeom>
          <a:solidFill>
            <a:srgbClr val="FFF7E0"/>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ckbar-1">
            <a:extLst>
              <a:ext uri="{FF2B5EF4-FFF2-40B4-BE49-F238E27FC236}">
                <a16:creationId xmlns:a16="http://schemas.microsoft.com/office/drawing/2014/main" id="{0ABB1C7C-050B-BB64-0455-85083A3C859F}"/>
              </a:ext>
            </a:extLst>
          </p:cNvPr>
          <p:cNvSpPr/>
          <p:nvPr/>
        </p:nvSpPr>
        <p:spPr>
          <a:xfrm>
            <a:off x="8305800" y="2997200"/>
            <a:ext cx="76200" cy="7112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ck-t-1">
            <a:extLst>
              <a:ext uri="{FF2B5EF4-FFF2-40B4-BE49-F238E27FC236}">
                <a16:creationId xmlns:a16="http://schemas.microsoft.com/office/drawing/2014/main" id="{18F3D2ED-5C73-825B-EAA1-4EEFE49FC99E}"/>
              </a:ext>
            </a:extLst>
          </p:cNvPr>
          <p:cNvSpPr txBox="1"/>
          <p:nvPr/>
        </p:nvSpPr>
        <p:spPr>
          <a:xfrm>
            <a:off x="8636000" y="3136900"/>
            <a:ext cx="1625600" cy="276999"/>
          </a:xfrm>
          <a:prstGeom prst="rect">
            <a:avLst/>
          </a:prstGeom>
          <a:noFill/>
        </p:spPr>
        <p:txBody>
          <a:bodyPr vert="horz" wrap="square" lIns="0" tIns="0" rIns="0" bIns="0" rtlCol="0">
            <a:noAutofit/>
          </a:bodyPr>
          <a:lstStyle/>
          <a:p>
            <a:r>
              <a:rPr lang="en-US" altLang="zh-CN" sz="850" b="1">
                <a:solidFill>
                  <a:srgbClr val="B85C00"/>
                </a:solidFill>
                <a:latin typeface="Aptos" panose="020B0004020202020204" pitchFamily="34" charset="0"/>
              </a:rPr>
              <a:t>Boundary</a:t>
            </a:r>
            <a:endParaRPr lang="zh-CN" altLang="en-US" sz="850" b="1">
              <a:solidFill>
                <a:srgbClr val="B85C00"/>
              </a:solidFill>
              <a:latin typeface="Aptos" panose="020B0004020202020204" pitchFamily="34" charset="0"/>
            </a:endParaRPr>
          </a:p>
        </p:txBody>
      </p:sp>
      <p:sp>
        <p:nvSpPr>
          <p:cNvPr id="26" name="ck-s-1">
            <a:extLst>
              <a:ext uri="{FF2B5EF4-FFF2-40B4-BE49-F238E27FC236}">
                <a16:creationId xmlns:a16="http://schemas.microsoft.com/office/drawing/2014/main" id="{306F7C7D-BA8D-A0A6-1D4C-E5EC9EE7224F}"/>
              </a:ext>
            </a:extLst>
          </p:cNvPr>
          <p:cNvSpPr txBox="1"/>
          <p:nvPr/>
        </p:nvSpPr>
        <p:spPr>
          <a:xfrm>
            <a:off x="8636000" y="3390900"/>
            <a:ext cx="2133600" cy="276999"/>
          </a:xfrm>
          <a:prstGeom prst="rect">
            <a:avLst/>
          </a:prstGeom>
          <a:noFill/>
        </p:spPr>
        <p:txBody>
          <a:bodyPr vert="horz" wrap="square" lIns="0" tIns="0" rIns="0" bIns="0" rtlCol="0">
            <a:noAutofit/>
          </a:bodyPr>
          <a:lstStyle/>
          <a:p>
            <a:r>
              <a:rPr lang="en-US" altLang="zh-CN" sz="700">
                <a:solidFill>
                  <a:srgbClr val="4A5B78"/>
                </a:solidFill>
                <a:latin typeface="Aptos" panose="020B0004020202020204" pitchFamily="34" charset="0"/>
              </a:rPr>
              <a:t>full experiment reruns require compute, model access, and provider APIs</a:t>
            </a:r>
            <a:endParaRPr lang="zh-CN" altLang="en-US" sz="700">
              <a:solidFill>
                <a:srgbClr val="4A5B78"/>
              </a:solidFill>
              <a:latin typeface="Aptos" panose="020B0004020202020204" pitchFamily="34" charset="0"/>
            </a:endParaRPr>
          </a:p>
        </p:txBody>
      </p:sp>
      <p:sp>
        <p:nvSpPr>
          <p:cNvPr id="27" name="ck-2">
            <a:extLst>
              <a:ext uri="{FF2B5EF4-FFF2-40B4-BE49-F238E27FC236}">
                <a16:creationId xmlns:a16="http://schemas.microsoft.com/office/drawing/2014/main" id="{47DF16E6-FC51-6414-3777-616DC5FAA835}"/>
              </a:ext>
            </a:extLst>
          </p:cNvPr>
          <p:cNvSpPr/>
          <p:nvPr/>
        </p:nvSpPr>
        <p:spPr>
          <a:xfrm>
            <a:off x="8305800" y="3987800"/>
            <a:ext cx="2946400" cy="711200"/>
          </a:xfrm>
          <a:prstGeom prst="rect">
            <a:avLst/>
          </a:prstGeom>
          <a:solidFill>
            <a:srgbClr val="FFEFF2"/>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ckbar-2">
            <a:extLst>
              <a:ext uri="{FF2B5EF4-FFF2-40B4-BE49-F238E27FC236}">
                <a16:creationId xmlns:a16="http://schemas.microsoft.com/office/drawing/2014/main" id="{3AE91CA9-F87C-D162-6643-6B23CE50D5D2}"/>
              </a:ext>
            </a:extLst>
          </p:cNvPr>
          <p:cNvSpPr/>
          <p:nvPr/>
        </p:nvSpPr>
        <p:spPr>
          <a:xfrm>
            <a:off x="8305800" y="3987800"/>
            <a:ext cx="76200" cy="711200"/>
          </a:xfrm>
          <a:prstGeom prst="rect">
            <a:avLst/>
          </a:prstGeom>
          <a:solidFill>
            <a:srgbClr val="B8293C"/>
          </a:solidFill>
          <a:ln w="11430">
            <a:solidFill>
              <a:srgbClr val="B8293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ck-t-2">
            <a:extLst>
              <a:ext uri="{FF2B5EF4-FFF2-40B4-BE49-F238E27FC236}">
                <a16:creationId xmlns:a16="http://schemas.microsoft.com/office/drawing/2014/main" id="{E00B2653-7FED-88B2-BA59-69A557B8E653}"/>
              </a:ext>
            </a:extLst>
          </p:cNvPr>
          <p:cNvSpPr txBox="1"/>
          <p:nvPr/>
        </p:nvSpPr>
        <p:spPr>
          <a:xfrm>
            <a:off x="8636000" y="4127500"/>
            <a:ext cx="1625600" cy="276999"/>
          </a:xfrm>
          <a:prstGeom prst="rect">
            <a:avLst/>
          </a:prstGeom>
          <a:noFill/>
        </p:spPr>
        <p:txBody>
          <a:bodyPr vert="horz" wrap="square" lIns="0" tIns="0" rIns="0" bIns="0" rtlCol="0">
            <a:noAutofit/>
          </a:bodyPr>
          <a:lstStyle/>
          <a:p>
            <a:r>
              <a:rPr lang="en-US" altLang="zh-CN" sz="850" b="1">
                <a:solidFill>
                  <a:srgbClr val="B8293C"/>
                </a:solidFill>
                <a:latin typeface="Aptos" panose="020B0004020202020204" pitchFamily="34" charset="0"/>
              </a:rPr>
              <a:t>If live fails</a:t>
            </a:r>
            <a:endParaRPr lang="zh-CN" altLang="en-US" sz="850" b="1">
              <a:solidFill>
                <a:srgbClr val="B8293C"/>
              </a:solidFill>
              <a:latin typeface="Aptos" panose="020B0004020202020204" pitchFamily="34" charset="0"/>
            </a:endParaRPr>
          </a:p>
        </p:txBody>
      </p:sp>
      <p:sp>
        <p:nvSpPr>
          <p:cNvPr id="30" name="ck-s-2">
            <a:extLst>
              <a:ext uri="{FF2B5EF4-FFF2-40B4-BE49-F238E27FC236}">
                <a16:creationId xmlns:a16="http://schemas.microsoft.com/office/drawing/2014/main" id="{4EC28803-47B0-4C74-A776-DE1729AF62B4}"/>
              </a:ext>
            </a:extLst>
          </p:cNvPr>
          <p:cNvSpPr txBox="1"/>
          <p:nvPr/>
        </p:nvSpPr>
        <p:spPr>
          <a:xfrm>
            <a:off x="8636000" y="4381500"/>
            <a:ext cx="2133600" cy="276999"/>
          </a:xfrm>
          <a:prstGeom prst="rect">
            <a:avLst/>
          </a:prstGeom>
          <a:noFill/>
        </p:spPr>
        <p:txBody>
          <a:bodyPr vert="horz" wrap="square" lIns="0" tIns="0" rIns="0" bIns="0" rtlCol="0">
            <a:noAutofit/>
          </a:bodyPr>
          <a:lstStyle/>
          <a:p>
            <a:r>
              <a:rPr lang="en-US" altLang="zh-CN" sz="700">
                <a:solidFill>
                  <a:srgbClr val="4A5B78"/>
                </a:solidFill>
                <a:latin typeface="Aptos" panose="020B0004020202020204" pitchFamily="34" charset="0"/>
              </a:rPr>
              <a:t>play the recorded demo, then open the same files from the project page</a:t>
            </a:r>
            <a:endParaRPr lang="zh-CN" altLang="en-US" sz="700">
              <a:solidFill>
                <a:srgbClr val="4A5B78"/>
              </a:solidFill>
              <a:latin typeface="Aptos" panose="020B0004020202020204" pitchFamily="34" charset="0"/>
            </a:endParaRPr>
          </a:p>
        </p:txBody>
      </p:sp>
      <p:sp>
        <p:nvSpPr>
          <p:cNvPr id="31" name="check-link">
            <a:hlinkClick r:id="rId4"/>
            <a:extLst>
              <a:ext uri="{FF2B5EF4-FFF2-40B4-BE49-F238E27FC236}">
                <a16:creationId xmlns:a16="http://schemas.microsoft.com/office/drawing/2014/main" id="{AADD0ED4-0E7B-8F65-8A24-0BABFC042101}"/>
              </a:ext>
            </a:extLst>
          </p:cNvPr>
          <p:cNvSpPr/>
          <p:nvPr/>
        </p:nvSpPr>
        <p:spPr>
          <a:xfrm>
            <a:off x="5461000" y="5257800"/>
            <a:ext cx="19050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Open viva_check.py</a:t>
            </a:r>
            <a:endParaRPr lang="zh-CN" altLang="en-US" sz="760" b="1">
              <a:solidFill>
                <a:srgbClr val="003B7A"/>
              </a:solidFill>
              <a:latin typeface="Aptos" panose="020B0004020202020204" pitchFamily="34" charset="0"/>
            </a:endParaRPr>
          </a:p>
        </p:txBody>
      </p:sp>
      <p:sp>
        <p:nvSpPr>
          <p:cNvPr id="32" name="footer-hit-10">
            <a:hlinkClick r:id="rId5"/>
            <a:extLst>
              <a:ext uri="{FF2B5EF4-FFF2-40B4-BE49-F238E27FC236}">
                <a16:creationId xmlns:a16="http://schemas.microsoft.com/office/drawing/2014/main" id="{D739EF8D-D1B2-AF56-4B1E-EBC545030691}"/>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284391828"/>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160"/>
                                        <p:tgtEl>
                                          <p:spTgt spid="21"/>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160"/>
                                        <p:tgtEl>
                                          <p:spTgt spid="22"/>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160"/>
                                        <p:tgtEl>
                                          <p:spTgt spid="23"/>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160"/>
                                        <p:tgtEl>
                                          <p:spTgt spid="25"/>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160"/>
                                        <p:tgtEl>
                                          <p:spTgt spid="26"/>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160"/>
                                        <p:tgtEl>
                                          <p:spTgt spid="27"/>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160"/>
                                        <p:tgtEl>
                                          <p:spTgt spid="29"/>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16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6" grpId="0"/>
      <p:bldP spid="17" grpId="0" animBg="1"/>
      <p:bldP spid="18" grpId="0"/>
      <p:bldP spid="19" grpId="0" animBg="1"/>
      <p:bldP spid="21" grpId="0"/>
      <p:bldP spid="22" grpId="0"/>
      <p:bldP spid="23" grpId="0" animBg="1"/>
      <p:bldP spid="25" grpId="0"/>
      <p:bldP spid="26" grpId="0"/>
      <p:bldP spid="27" grpId="0" animBg="1"/>
      <p:bldP spid="29" grpId="0"/>
      <p:bldP spid="3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5B854DF4-4DA6-BED7-5BE3-059C4C20AB53}"/>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AC775F52-AF8C-FE0B-5D79-C797C157D11E}"/>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3868E3CF-570D-B278-2227-128D3E70865E}"/>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6CCA4963-8E3D-30C2-D05F-2E531C63A902}"/>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DEFENCE</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FFEB702C-DBC2-0427-3F02-80098B0E59E4}"/>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11</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09F3BFBE-0D4B-AE69-7A5D-85EB334EC30E}"/>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6AEC6AB4-76BC-9BAE-8FD7-2D77C75DDDF5}"/>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8EB7BCA7-D9E7-CC5E-419C-124B0D0745E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643748D4-6094-791E-E5F3-4083477CE2DF}"/>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My defence strategy is to answer, bound, then point.</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F89BE486-1C93-FFBC-2961-013C17939A0B}"/>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This keeps the viva direct and prevents accidental overclaiming.</a:t>
            </a:r>
            <a:endParaRPr lang="zh-CN" altLang="en-US" sz="930">
              <a:solidFill>
                <a:srgbClr val="4A5B78"/>
              </a:solidFill>
              <a:latin typeface="Aptos" panose="020B0004020202020204" pitchFamily="34" charset="0"/>
            </a:endParaRPr>
          </a:p>
        </p:txBody>
      </p:sp>
      <p:sp>
        <p:nvSpPr>
          <p:cNvPr id="13" name="rule">
            <a:extLst>
              <a:ext uri="{FF2B5EF4-FFF2-40B4-BE49-F238E27FC236}">
                <a16:creationId xmlns:a16="http://schemas.microsoft.com/office/drawing/2014/main" id="{637F5C7B-F759-4BA2-FBD8-1C4E387CEDFF}"/>
              </a:ext>
            </a:extLst>
          </p:cNvPr>
          <p:cNvSpPr/>
          <p:nvPr/>
        </p:nvSpPr>
        <p:spPr>
          <a:xfrm>
            <a:off x="863600" y="1930400"/>
            <a:ext cx="10464800" cy="609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move-num-0">
            <a:extLst>
              <a:ext uri="{FF2B5EF4-FFF2-40B4-BE49-F238E27FC236}">
                <a16:creationId xmlns:a16="http://schemas.microsoft.com/office/drawing/2014/main" id="{EDE77A35-C1CA-867A-B99F-CE3465D29E7D}"/>
              </a:ext>
            </a:extLst>
          </p:cNvPr>
          <p:cNvSpPr txBox="1"/>
          <p:nvPr/>
        </p:nvSpPr>
        <p:spPr>
          <a:xfrm>
            <a:off x="1422400" y="2108200"/>
            <a:ext cx="228600" cy="276999"/>
          </a:xfrm>
          <a:prstGeom prst="rect">
            <a:avLst/>
          </a:prstGeom>
          <a:noFill/>
        </p:spPr>
        <p:txBody>
          <a:bodyPr vert="horz" wrap="square" lIns="0" tIns="0" rIns="0" bIns="0" rtlCol="0">
            <a:noAutofit/>
          </a:bodyPr>
          <a:lstStyle/>
          <a:p>
            <a:r>
              <a:rPr lang="en-US" altLang="zh-CN" sz="860" b="1">
                <a:solidFill>
                  <a:srgbClr val="CDE2FA"/>
                </a:solidFill>
                <a:latin typeface="Aptos" panose="020B0004020202020204" pitchFamily="34" charset="0"/>
              </a:rPr>
              <a:t>1</a:t>
            </a:r>
            <a:endParaRPr lang="zh-CN" altLang="en-US" sz="860" b="1">
              <a:solidFill>
                <a:srgbClr val="CDE2FA"/>
              </a:solidFill>
              <a:latin typeface="Aptos" panose="020B0004020202020204" pitchFamily="34" charset="0"/>
            </a:endParaRPr>
          </a:p>
        </p:txBody>
      </p:sp>
      <p:sp>
        <p:nvSpPr>
          <p:cNvPr id="15" name="move-title-0">
            <a:extLst>
              <a:ext uri="{FF2B5EF4-FFF2-40B4-BE49-F238E27FC236}">
                <a16:creationId xmlns:a16="http://schemas.microsoft.com/office/drawing/2014/main" id="{36EF493C-4862-7497-41E5-4F7109233ABC}"/>
              </a:ext>
            </a:extLst>
          </p:cNvPr>
          <p:cNvSpPr txBox="1"/>
          <p:nvPr/>
        </p:nvSpPr>
        <p:spPr>
          <a:xfrm>
            <a:off x="1803400" y="2082800"/>
            <a:ext cx="914400" cy="276999"/>
          </a:xfrm>
          <a:prstGeom prst="rect">
            <a:avLst/>
          </a:prstGeom>
          <a:noFill/>
        </p:spPr>
        <p:txBody>
          <a:bodyPr vert="horz" wrap="square" lIns="0" tIns="0" rIns="0" bIns="0" rtlCol="0">
            <a:noAutofit/>
          </a:bodyPr>
          <a:lstStyle/>
          <a:p>
            <a:r>
              <a:rPr lang="en-US" altLang="zh-CN" sz="1140" b="1">
                <a:solidFill>
                  <a:srgbClr val="FFFFFF"/>
                </a:solidFill>
                <a:latin typeface="Aptos" panose="020B0004020202020204" pitchFamily="34" charset="0"/>
              </a:rPr>
              <a:t>Answer</a:t>
            </a:r>
            <a:endParaRPr lang="zh-CN" altLang="en-US" sz="1140" b="1">
              <a:solidFill>
                <a:srgbClr val="FFFFFF"/>
              </a:solidFill>
              <a:latin typeface="Aptos" panose="020B0004020202020204" pitchFamily="34" charset="0"/>
            </a:endParaRPr>
          </a:p>
        </p:txBody>
      </p:sp>
      <p:sp>
        <p:nvSpPr>
          <p:cNvPr id="16" name="move-sub-0">
            <a:extLst>
              <a:ext uri="{FF2B5EF4-FFF2-40B4-BE49-F238E27FC236}">
                <a16:creationId xmlns:a16="http://schemas.microsoft.com/office/drawing/2014/main" id="{FA02BE1D-4C5A-53E4-7121-09CFB71D28CF}"/>
              </a:ext>
            </a:extLst>
          </p:cNvPr>
          <p:cNvSpPr txBox="1"/>
          <p:nvPr/>
        </p:nvSpPr>
        <p:spPr>
          <a:xfrm>
            <a:off x="2844800" y="2133600"/>
            <a:ext cx="1422400" cy="276999"/>
          </a:xfrm>
          <a:prstGeom prst="rect">
            <a:avLst/>
          </a:prstGeom>
          <a:noFill/>
        </p:spPr>
        <p:txBody>
          <a:bodyPr vert="horz" wrap="square" lIns="0" tIns="0" rIns="0" bIns="0" rtlCol="0">
            <a:noAutofit/>
          </a:bodyPr>
          <a:lstStyle/>
          <a:p>
            <a:r>
              <a:rPr lang="en-US" altLang="zh-CN" sz="720">
                <a:solidFill>
                  <a:srgbClr val="DAE8FA"/>
                </a:solidFill>
                <a:latin typeface="Aptos" panose="020B0004020202020204" pitchFamily="34" charset="0"/>
              </a:rPr>
              <a:t>one clear sentence</a:t>
            </a:r>
            <a:endParaRPr lang="zh-CN" altLang="en-US" sz="720">
              <a:solidFill>
                <a:srgbClr val="DAE8FA"/>
              </a:solidFill>
              <a:latin typeface="Aptos" panose="020B0004020202020204" pitchFamily="34" charset="0"/>
            </a:endParaRPr>
          </a:p>
        </p:txBody>
      </p:sp>
      <p:sp>
        <p:nvSpPr>
          <p:cNvPr id="17" name="move-num-1">
            <a:extLst>
              <a:ext uri="{FF2B5EF4-FFF2-40B4-BE49-F238E27FC236}">
                <a16:creationId xmlns:a16="http://schemas.microsoft.com/office/drawing/2014/main" id="{90D48120-29DE-9830-FE96-0713E3EE07E3}"/>
              </a:ext>
            </a:extLst>
          </p:cNvPr>
          <p:cNvSpPr txBox="1"/>
          <p:nvPr/>
        </p:nvSpPr>
        <p:spPr>
          <a:xfrm>
            <a:off x="4622800" y="2108200"/>
            <a:ext cx="228600" cy="276999"/>
          </a:xfrm>
          <a:prstGeom prst="rect">
            <a:avLst/>
          </a:prstGeom>
          <a:noFill/>
        </p:spPr>
        <p:txBody>
          <a:bodyPr vert="horz" wrap="square" lIns="0" tIns="0" rIns="0" bIns="0" rtlCol="0">
            <a:noAutofit/>
          </a:bodyPr>
          <a:lstStyle/>
          <a:p>
            <a:r>
              <a:rPr lang="en-US" altLang="zh-CN" sz="860" b="1">
                <a:solidFill>
                  <a:srgbClr val="CDE2FA"/>
                </a:solidFill>
                <a:latin typeface="Aptos" panose="020B0004020202020204" pitchFamily="34" charset="0"/>
              </a:rPr>
              <a:t>2</a:t>
            </a:r>
            <a:endParaRPr lang="zh-CN" altLang="en-US" sz="860" b="1">
              <a:solidFill>
                <a:srgbClr val="CDE2FA"/>
              </a:solidFill>
              <a:latin typeface="Aptos" panose="020B0004020202020204" pitchFamily="34" charset="0"/>
            </a:endParaRPr>
          </a:p>
        </p:txBody>
      </p:sp>
      <p:sp>
        <p:nvSpPr>
          <p:cNvPr id="18" name="move-title-1">
            <a:extLst>
              <a:ext uri="{FF2B5EF4-FFF2-40B4-BE49-F238E27FC236}">
                <a16:creationId xmlns:a16="http://schemas.microsoft.com/office/drawing/2014/main" id="{0AF0BBDD-8440-A171-79F2-BD720DE70666}"/>
              </a:ext>
            </a:extLst>
          </p:cNvPr>
          <p:cNvSpPr txBox="1"/>
          <p:nvPr/>
        </p:nvSpPr>
        <p:spPr>
          <a:xfrm>
            <a:off x="5003800" y="2082800"/>
            <a:ext cx="914400" cy="276999"/>
          </a:xfrm>
          <a:prstGeom prst="rect">
            <a:avLst/>
          </a:prstGeom>
          <a:noFill/>
        </p:spPr>
        <p:txBody>
          <a:bodyPr vert="horz" wrap="square" lIns="0" tIns="0" rIns="0" bIns="0" rtlCol="0">
            <a:noAutofit/>
          </a:bodyPr>
          <a:lstStyle/>
          <a:p>
            <a:r>
              <a:rPr lang="en-US" altLang="zh-CN" sz="1140" b="1">
                <a:solidFill>
                  <a:srgbClr val="FFFFFF"/>
                </a:solidFill>
                <a:latin typeface="Aptos" panose="020B0004020202020204" pitchFamily="34" charset="0"/>
              </a:rPr>
              <a:t>Bound</a:t>
            </a:r>
            <a:endParaRPr lang="zh-CN" altLang="en-US" sz="1140" b="1">
              <a:solidFill>
                <a:srgbClr val="FFFFFF"/>
              </a:solidFill>
              <a:latin typeface="Aptos" panose="020B0004020202020204" pitchFamily="34" charset="0"/>
            </a:endParaRPr>
          </a:p>
        </p:txBody>
      </p:sp>
      <p:sp>
        <p:nvSpPr>
          <p:cNvPr id="19" name="move-sub-1">
            <a:extLst>
              <a:ext uri="{FF2B5EF4-FFF2-40B4-BE49-F238E27FC236}">
                <a16:creationId xmlns:a16="http://schemas.microsoft.com/office/drawing/2014/main" id="{66E55CAA-0A48-EDD8-57CC-B2E144CEC9C2}"/>
              </a:ext>
            </a:extLst>
          </p:cNvPr>
          <p:cNvSpPr txBox="1"/>
          <p:nvPr/>
        </p:nvSpPr>
        <p:spPr>
          <a:xfrm>
            <a:off x="6045200" y="2133600"/>
            <a:ext cx="1422400" cy="276999"/>
          </a:xfrm>
          <a:prstGeom prst="rect">
            <a:avLst/>
          </a:prstGeom>
          <a:noFill/>
        </p:spPr>
        <p:txBody>
          <a:bodyPr vert="horz" wrap="square" lIns="0" tIns="0" rIns="0" bIns="0" rtlCol="0">
            <a:noAutofit/>
          </a:bodyPr>
          <a:lstStyle/>
          <a:p>
            <a:r>
              <a:rPr lang="en-US" altLang="zh-CN" sz="720">
                <a:solidFill>
                  <a:srgbClr val="DAE8FA"/>
                </a:solidFill>
                <a:latin typeface="Aptos" panose="020B0004020202020204" pitchFamily="34" charset="0"/>
              </a:rPr>
              <a:t>denominator + controls</a:t>
            </a:r>
            <a:endParaRPr lang="zh-CN" altLang="en-US" sz="720">
              <a:solidFill>
                <a:srgbClr val="DAE8FA"/>
              </a:solidFill>
              <a:latin typeface="Aptos" panose="020B0004020202020204" pitchFamily="34" charset="0"/>
            </a:endParaRPr>
          </a:p>
        </p:txBody>
      </p:sp>
      <p:sp>
        <p:nvSpPr>
          <p:cNvPr id="20" name="move-num-2">
            <a:extLst>
              <a:ext uri="{FF2B5EF4-FFF2-40B4-BE49-F238E27FC236}">
                <a16:creationId xmlns:a16="http://schemas.microsoft.com/office/drawing/2014/main" id="{8A4226BC-5D9F-C702-01B9-91CC879F4F12}"/>
              </a:ext>
            </a:extLst>
          </p:cNvPr>
          <p:cNvSpPr txBox="1"/>
          <p:nvPr/>
        </p:nvSpPr>
        <p:spPr>
          <a:xfrm>
            <a:off x="7823200" y="2108200"/>
            <a:ext cx="228600" cy="276999"/>
          </a:xfrm>
          <a:prstGeom prst="rect">
            <a:avLst/>
          </a:prstGeom>
          <a:noFill/>
        </p:spPr>
        <p:txBody>
          <a:bodyPr vert="horz" wrap="square" lIns="0" tIns="0" rIns="0" bIns="0" rtlCol="0">
            <a:noAutofit/>
          </a:bodyPr>
          <a:lstStyle/>
          <a:p>
            <a:r>
              <a:rPr lang="en-US" altLang="zh-CN" sz="860" b="1">
                <a:solidFill>
                  <a:srgbClr val="CDE2FA"/>
                </a:solidFill>
                <a:latin typeface="Aptos" panose="020B0004020202020204" pitchFamily="34" charset="0"/>
              </a:rPr>
              <a:t>3</a:t>
            </a:r>
            <a:endParaRPr lang="zh-CN" altLang="en-US" sz="860" b="1">
              <a:solidFill>
                <a:srgbClr val="CDE2FA"/>
              </a:solidFill>
              <a:latin typeface="Aptos" panose="020B0004020202020204" pitchFamily="34" charset="0"/>
            </a:endParaRPr>
          </a:p>
        </p:txBody>
      </p:sp>
      <p:sp>
        <p:nvSpPr>
          <p:cNvPr id="21" name="move-title-2">
            <a:extLst>
              <a:ext uri="{FF2B5EF4-FFF2-40B4-BE49-F238E27FC236}">
                <a16:creationId xmlns:a16="http://schemas.microsoft.com/office/drawing/2014/main" id="{13F3D0B6-319E-D206-AA16-18C0D4CEB653}"/>
              </a:ext>
            </a:extLst>
          </p:cNvPr>
          <p:cNvSpPr txBox="1"/>
          <p:nvPr/>
        </p:nvSpPr>
        <p:spPr>
          <a:xfrm>
            <a:off x="8204200" y="2082800"/>
            <a:ext cx="914400" cy="276999"/>
          </a:xfrm>
          <a:prstGeom prst="rect">
            <a:avLst/>
          </a:prstGeom>
          <a:noFill/>
        </p:spPr>
        <p:txBody>
          <a:bodyPr vert="horz" wrap="square" lIns="0" tIns="0" rIns="0" bIns="0" rtlCol="0">
            <a:noAutofit/>
          </a:bodyPr>
          <a:lstStyle/>
          <a:p>
            <a:r>
              <a:rPr lang="en-US" altLang="zh-CN" sz="1140" b="1">
                <a:solidFill>
                  <a:srgbClr val="FFFFFF"/>
                </a:solidFill>
                <a:latin typeface="Aptos" panose="020B0004020202020204" pitchFamily="34" charset="0"/>
              </a:rPr>
              <a:t>Point</a:t>
            </a:r>
            <a:endParaRPr lang="zh-CN" altLang="en-US" sz="1140" b="1">
              <a:solidFill>
                <a:srgbClr val="FFFFFF"/>
              </a:solidFill>
              <a:latin typeface="Aptos" panose="020B0004020202020204" pitchFamily="34" charset="0"/>
            </a:endParaRPr>
          </a:p>
        </p:txBody>
      </p:sp>
      <p:sp>
        <p:nvSpPr>
          <p:cNvPr id="22" name="move-sub-2">
            <a:extLst>
              <a:ext uri="{FF2B5EF4-FFF2-40B4-BE49-F238E27FC236}">
                <a16:creationId xmlns:a16="http://schemas.microsoft.com/office/drawing/2014/main" id="{C4265F70-BBC6-92C0-AB74-C30FFA72CB31}"/>
              </a:ext>
            </a:extLst>
          </p:cNvPr>
          <p:cNvSpPr txBox="1"/>
          <p:nvPr/>
        </p:nvSpPr>
        <p:spPr>
          <a:xfrm>
            <a:off x="9245600" y="2133600"/>
            <a:ext cx="1422400" cy="276999"/>
          </a:xfrm>
          <a:prstGeom prst="rect">
            <a:avLst/>
          </a:prstGeom>
          <a:noFill/>
        </p:spPr>
        <p:txBody>
          <a:bodyPr vert="horz" wrap="square" lIns="0" tIns="0" rIns="0" bIns="0" rtlCol="0">
            <a:noAutofit/>
          </a:bodyPr>
          <a:lstStyle/>
          <a:p>
            <a:r>
              <a:rPr lang="en-US" altLang="zh-CN" sz="720">
                <a:solidFill>
                  <a:srgbClr val="DAE8FA"/>
                </a:solidFill>
                <a:latin typeface="Aptos" panose="020B0004020202020204" pitchFamily="34" charset="0"/>
              </a:rPr>
              <a:t>file or demo route</a:t>
            </a:r>
            <a:endParaRPr lang="zh-CN" altLang="en-US" sz="720">
              <a:solidFill>
                <a:srgbClr val="DAE8FA"/>
              </a:solidFill>
              <a:latin typeface="Aptos" panose="020B0004020202020204" pitchFamily="34" charset="0"/>
            </a:endParaRPr>
          </a:p>
        </p:txBody>
      </p:sp>
      <p:sp>
        <p:nvSpPr>
          <p:cNvPr id="23" name="qa-card-0">
            <a:extLst>
              <a:ext uri="{FF2B5EF4-FFF2-40B4-BE49-F238E27FC236}">
                <a16:creationId xmlns:a16="http://schemas.microsoft.com/office/drawing/2014/main" id="{C759D03F-8965-BBCE-3D43-C97934D3F12B}"/>
              </a:ext>
            </a:extLst>
          </p:cNvPr>
          <p:cNvSpPr/>
          <p:nvPr/>
        </p:nvSpPr>
        <p:spPr>
          <a:xfrm>
            <a:off x="1016000" y="3149600"/>
            <a:ext cx="3073400" cy="15240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qa-card-top-0">
            <a:extLst>
              <a:ext uri="{FF2B5EF4-FFF2-40B4-BE49-F238E27FC236}">
                <a16:creationId xmlns:a16="http://schemas.microsoft.com/office/drawing/2014/main" id="{E25DC117-C9A3-3517-D0C0-1179061FA9C1}"/>
              </a:ext>
            </a:extLst>
          </p:cNvPr>
          <p:cNvSpPr/>
          <p:nvPr/>
        </p:nvSpPr>
        <p:spPr>
          <a:xfrm>
            <a:off x="1016000" y="3149600"/>
            <a:ext cx="3073400" cy="889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qa-q-0">
            <a:extLst>
              <a:ext uri="{FF2B5EF4-FFF2-40B4-BE49-F238E27FC236}">
                <a16:creationId xmlns:a16="http://schemas.microsoft.com/office/drawing/2014/main" id="{76FAD2C8-2496-F342-7B4D-147684897608}"/>
              </a:ext>
            </a:extLst>
          </p:cNvPr>
          <p:cNvSpPr txBox="1"/>
          <p:nvPr/>
        </p:nvSpPr>
        <p:spPr>
          <a:xfrm>
            <a:off x="1295400" y="3505200"/>
            <a:ext cx="2286000" cy="276999"/>
          </a:xfrm>
          <a:prstGeom prst="rect">
            <a:avLst/>
          </a:prstGeom>
          <a:noFill/>
        </p:spPr>
        <p:txBody>
          <a:bodyPr vert="horz" wrap="square" lIns="0" tIns="0" rIns="0" bIns="0" rtlCol="0">
            <a:noAutofit/>
          </a:bodyPr>
          <a:lstStyle/>
          <a:p>
            <a:r>
              <a:rPr lang="en-US" altLang="zh-CN" sz="1020" b="1">
                <a:solidFill>
                  <a:srgbClr val="003B7A"/>
                </a:solidFill>
                <a:latin typeface="Aptos" panose="020B0004020202020204" pitchFamily="34" charset="0"/>
              </a:rPr>
              <a:t>One detector score?</a:t>
            </a:r>
            <a:endParaRPr lang="zh-CN" altLang="en-US" sz="1020" b="1">
              <a:solidFill>
                <a:srgbClr val="003B7A"/>
              </a:solidFill>
              <a:latin typeface="Aptos" panose="020B0004020202020204" pitchFamily="34" charset="0"/>
            </a:endParaRPr>
          </a:p>
        </p:txBody>
      </p:sp>
      <p:sp>
        <p:nvSpPr>
          <p:cNvPr id="26" name="qa-a-0">
            <a:extLst>
              <a:ext uri="{FF2B5EF4-FFF2-40B4-BE49-F238E27FC236}">
                <a16:creationId xmlns:a16="http://schemas.microsoft.com/office/drawing/2014/main" id="{B73C7D0E-C0E1-5DD0-FB48-2B7A4ABB88F7}"/>
              </a:ext>
            </a:extLst>
          </p:cNvPr>
          <p:cNvSpPr txBox="1"/>
          <p:nvPr/>
        </p:nvSpPr>
        <p:spPr>
          <a:xfrm>
            <a:off x="1295400" y="3987800"/>
            <a:ext cx="2413000" cy="276999"/>
          </a:xfrm>
          <a:prstGeom prst="rect">
            <a:avLst/>
          </a:prstGeom>
          <a:noFill/>
        </p:spPr>
        <p:txBody>
          <a:bodyPr vert="horz" wrap="square" lIns="0" tIns="0" rIns="0" bIns="0" rtlCol="0">
            <a:noAutofit/>
          </a:bodyPr>
          <a:lstStyle/>
          <a:p>
            <a:r>
              <a:rPr lang="en-US" altLang="zh-CN" sz="830">
                <a:solidFill>
                  <a:srgbClr val="071A3D"/>
                </a:solidFill>
                <a:latin typeface="Aptos" panose="020B0004020202020204" pitchFamily="34" charset="0"/>
              </a:rPr>
              <a:t>No. Different access models need different evidence objects.</a:t>
            </a:r>
            <a:endParaRPr lang="zh-CN" altLang="en-US" sz="830">
              <a:solidFill>
                <a:srgbClr val="071A3D"/>
              </a:solidFill>
              <a:latin typeface="Aptos" panose="020B0004020202020204" pitchFamily="34" charset="0"/>
            </a:endParaRPr>
          </a:p>
        </p:txBody>
      </p:sp>
      <p:cxnSp>
        <p:nvCxnSpPr>
          <p:cNvPr id="27" name="qa-line-0">
            <a:extLst>
              <a:ext uri="{FF2B5EF4-FFF2-40B4-BE49-F238E27FC236}">
                <a16:creationId xmlns:a16="http://schemas.microsoft.com/office/drawing/2014/main" id="{B268892E-3619-521A-2A6D-B8D9D5E6CE4E}"/>
              </a:ext>
            </a:extLst>
          </p:cNvPr>
          <p:cNvCxnSpPr/>
          <p:nvPr/>
        </p:nvCxnSpPr>
        <p:spPr>
          <a:xfrm>
            <a:off x="1295400" y="4419600"/>
            <a:ext cx="2387600" cy="0"/>
          </a:xfrm>
          <a:prstGeom prst="line">
            <a:avLst/>
          </a:prstGeom>
          <a:ln w="10160">
            <a:solidFill>
              <a:srgbClr val="D5E2F0"/>
            </a:solidFill>
          </a:ln>
        </p:spPr>
        <p:style>
          <a:lnRef idx="1">
            <a:schemeClr val="accent1"/>
          </a:lnRef>
          <a:fillRef idx="0">
            <a:schemeClr val="accent1"/>
          </a:fillRef>
          <a:effectRef idx="0">
            <a:schemeClr val="accent1"/>
          </a:effectRef>
          <a:fontRef idx="minor">
            <a:schemeClr val="tx1"/>
          </a:fontRef>
        </p:style>
      </p:cxnSp>
      <p:sp>
        <p:nvSpPr>
          <p:cNvPr id="28" name="qa-p-0">
            <a:extLst>
              <a:ext uri="{FF2B5EF4-FFF2-40B4-BE49-F238E27FC236}">
                <a16:creationId xmlns:a16="http://schemas.microsoft.com/office/drawing/2014/main" id="{E1BBEB54-F666-5767-73AB-1E4BCA830B40}"/>
              </a:ext>
            </a:extLst>
          </p:cNvPr>
          <p:cNvSpPr txBox="1"/>
          <p:nvPr/>
        </p:nvSpPr>
        <p:spPr>
          <a:xfrm>
            <a:off x="1295400" y="4546600"/>
            <a:ext cx="2159000" cy="276999"/>
          </a:xfrm>
          <a:prstGeom prst="rect">
            <a:avLst/>
          </a:prstGeom>
          <a:noFill/>
        </p:spPr>
        <p:txBody>
          <a:bodyPr vert="horz" wrap="square" lIns="0" tIns="0" rIns="0" bIns="0" rtlCol="0">
            <a:noAutofit/>
          </a:bodyPr>
          <a:lstStyle/>
          <a:p>
            <a:r>
              <a:rPr lang="en-US" altLang="zh-CN" sz="730" b="1">
                <a:solidFill>
                  <a:srgbClr val="4A5B78"/>
                </a:solidFill>
                <a:latin typeface="Aptos" panose="020B0004020202020204" pitchFamily="34" charset="0"/>
              </a:rPr>
              <a:t>Use slide 5</a:t>
            </a:r>
            <a:endParaRPr lang="zh-CN" altLang="en-US" sz="730" b="1">
              <a:solidFill>
                <a:srgbClr val="4A5B78"/>
              </a:solidFill>
              <a:latin typeface="Aptos" panose="020B0004020202020204" pitchFamily="34" charset="0"/>
            </a:endParaRPr>
          </a:p>
        </p:txBody>
      </p:sp>
      <p:sp>
        <p:nvSpPr>
          <p:cNvPr id="29" name="qa-card-1">
            <a:extLst>
              <a:ext uri="{FF2B5EF4-FFF2-40B4-BE49-F238E27FC236}">
                <a16:creationId xmlns:a16="http://schemas.microsoft.com/office/drawing/2014/main" id="{9903BBBF-EC26-BB48-9C63-F6C5AFDCA48F}"/>
              </a:ext>
            </a:extLst>
          </p:cNvPr>
          <p:cNvSpPr/>
          <p:nvPr/>
        </p:nvSpPr>
        <p:spPr>
          <a:xfrm>
            <a:off x="4622800" y="3149600"/>
            <a:ext cx="3073400" cy="15240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qa-card-top-1">
            <a:extLst>
              <a:ext uri="{FF2B5EF4-FFF2-40B4-BE49-F238E27FC236}">
                <a16:creationId xmlns:a16="http://schemas.microsoft.com/office/drawing/2014/main" id="{2EA2712D-BEBE-EDEF-57E7-DA7E58457D2D}"/>
              </a:ext>
            </a:extLst>
          </p:cNvPr>
          <p:cNvSpPr/>
          <p:nvPr/>
        </p:nvSpPr>
        <p:spPr>
          <a:xfrm>
            <a:off x="4622800" y="3149600"/>
            <a:ext cx="3073400" cy="889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qa-q-1">
            <a:extLst>
              <a:ext uri="{FF2B5EF4-FFF2-40B4-BE49-F238E27FC236}">
                <a16:creationId xmlns:a16="http://schemas.microsoft.com/office/drawing/2014/main" id="{B8C1BD92-6F91-75C2-887B-5E92C2844BF9}"/>
              </a:ext>
            </a:extLst>
          </p:cNvPr>
          <p:cNvSpPr txBox="1"/>
          <p:nvPr/>
        </p:nvSpPr>
        <p:spPr>
          <a:xfrm>
            <a:off x="4902200" y="3505200"/>
            <a:ext cx="2286000" cy="276999"/>
          </a:xfrm>
          <a:prstGeom prst="rect">
            <a:avLst/>
          </a:prstGeom>
          <a:noFill/>
        </p:spPr>
        <p:txBody>
          <a:bodyPr vert="horz" wrap="square" lIns="0" tIns="0" rIns="0" bIns="0" rtlCol="0">
            <a:noAutofit/>
          </a:bodyPr>
          <a:lstStyle/>
          <a:p>
            <a:r>
              <a:rPr lang="en-US" altLang="zh-CN" sz="1020" b="1">
                <a:solidFill>
                  <a:srgbClr val="B85C00"/>
                </a:solidFill>
                <a:latin typeface="Aptos" panose="020B0004020202020204" pitchFamily="34" charset="0"/>
              </a:rPr>
              <a:t>ProbeTrace 300/300?</a:t>
            </a:r>
            <a:endParaRPr lang="zh-CN" altLang="en-US" sz="1020" b="1">
              <a:solidFill>
                <a:srgbClr val="B85C00"/>
              </a:solidFill>
              <a:latin typeface="Aptos" panose="020B0004020202020204" pitchFamily="34" charset="0"/>
            </a:endParaRPr>
          </a:p>
        </p:txBody>
      </p:sp>
      <p:sp>
        <p:nvSpPr>
          <p:cNvPr id="32" name="qa-a-1">
            <a:extLst>
              <a:ext uri="{FF2B5EF4-FFF2-40B4-BE49-F238E27FC236}">
                <a16:creationId xmlns:a16="http://schemas.microsoft.com/office/drawing/2014/main" id="{06103FCA-6B24-BE44-81DF-E92C28AAC2D6}"/>
              </a:ext>
            </a:extLst>
          </p:cNvPr>
          <p:cNvSpPr txBox="1"/>
          <p:nvPr/>
        </p:nvSpPr>
        <p:spPr>
          <a:xfrm>
            <a:off x="4902200" y="3987800"/>
            <a:ext cx="2413000" cy="276999"/>
          </a:xfrm>
          <a:prstGeom prst="rect">
            <a:avLst/>
          </a:prstGeom>
          <a:noFill/>
        </p:spPr>
        <p:txBody>
          <a:bodyPr vert="horz" wrap="square" lIns="0" tIns="0" rIns="0" bIns="0" rtlCol="0">
            <a:noAutofit/>
          </a:bodyPr>
          <a:lstStyle/>
          <a:p>
            <a:r>
              <a:rPr lang="en-US" altLang="zh-CN" sz="830">
                <a:solidFill>
                  <a:srgbClr val="071A3D"/>
                </a:solidFill>
                <a:latin typeface="Aptos" panose="020B0004020202020204" pitchFamily="34" charset="0"/>
              </a:rPr>
              <a:t>Scoped owner attribution only; 0/1,200 false-owner controls.</a:t>
            </a:r>
            <a:endParaRPr lang="zh-CN" altLang="en-US" sz="830">
              <a:solidFill>
                <a:srgbClr val="071A3D"/>
              </a:solidFill>
              <a:latin typeface="Aptos" panose="020B0004020202020204" pitchFamily="34" charset="0"/>
            </a:endParaRPr>
          </a:p>
        </p:txBody>
      </p:sp>
      <p:cxnSp>
        <p:nvCxnSpPr>
          <p:cNvPr id="33" name="qa-line-1">
            <a:extLst>
              <a:ext uri="{FF2B5EF4-FFF2-40B4-BE49-F238E27FC236}">
                <a16:creationId xmlns:a16="http://schemas.microsoft.com/office/drawing/2014/main" id="{8E1D4918-3C10-CDDB-EDA1-A84E26FD35BC}"/>
              </a:ext>
            </a:extLst>
          </p:cNvPr>
          <p:cNvCxnSpPr/>
          <p:nvPr/>
        </p:nvCxnSpPr>
        <p:spPr>
          <a:xfrm>
            <a:off x="4902200" y="4419600"/>
            <a:ext cx="2387600" cy="0"/>
          </a:xfrm>
          <a:prstGeom prst="line">
            <a:avLst/>
          </a:prstGeom>
          <a:ln w="10160">
            <a:solidFill>
              <a:srgbClr val="D5E2F0"/>
            </a:solidFill>
          </a:ln>
        </p:spPr>
        <p:style>
          <a:lnRef idx="1">
            <a:schemeClr val="accent1"/>
          </a:lnRef>
          <a:fillRef idx="0">
            <a:schemeClr val="accent1"/>
          </a:fillRef>
          <a:effectRef idx="0">
            <a:schemeClr val="accent1"/>
          </a:effectRef>
          <a:fontRef idx="minor">
            <a:schemeClr val="tx1"/>
          </a:fontRef>
        </p:style>
      </p:cxnSp>
      <p:sp>
        <p:nvSpPr>
          <p:cNvPr id="34" name="qa-p-1">
            <a:extLst>
              <a:ext uri="{FF2B5EF4-FFF2-40B4-BE49-F238E27FC236}">
                <a16:creationId xmlns:a16="http://schemas.microsoft.com/office/drawing/2014/main" id="{0D98551B-EFC0-DDD1-3E17-33BC45CDA84D}"/>
              </a:ext>
            </a:extLst>
          </p:cNvPr>
          <p:cNvSpPr txBox="1"/>
          <p:nvPr/>
        </p:nvSpPr>
        <p:spPr>
          <a:xfrm>
            <a:off x="4902200" y="4546600"/>
            <a:ext cx="2159000" cy="276999"/>
          </a:xfrm>
          <a:prstGeom prst="rect">
            <a:avLst/>
          </a:prstGeom>
          <a:noFill/>
        </p:spPr>
        <p:txBody>
          <a:bodyPr vert="horz" wrap="square" lIns="0" tIns="0" rIns="0" bIns="0" rtlCol="0">
            <a:noAutofit/>
          </a:bodyPr>
          <a:lstStyle/>
          <a:p>
            <a:r>
              <a:rPr lang="en-US" altLang="zh-CN" sz="730" b="1">
                <a:solidFill>
                  <a:srgbClr val="4A5B78"/>
                </a:solidFill>
                <a:latin typeface="Aptos" panose="020B0004020202020204" pitchFamily="34" charset="0"/>
              </a:rPr>
              <a:t>Open claim file</a:t>
            </a:r>
            <a:endParaRPr lang="zh-CN" altLang="en-US" sz="730" b="1">
              <a:solidFill>
                <a:srgbClr val="4A5B78"/>
              </a:solidFill>
              <a:latin typeface="Aptos" panose="020B0004020202020204" pitchFamily="34" charset="0"/>
            </a:endParaRPr>
          </a:p>
        </p:txBody>
      </p:sp>
      <p:sp>
        <p:nvSpPr>
          <p:cNvPr id="35" name="qa-card-2">
            <a:extLst>
              <a:ext uri="{FF2B5EF4-FFF2-40B4-BE49-F238E27FC236}">
                <a16:creationId xmlns:a16="http://schemas.microsoft.com/office/drawing/2014/main" id="{E5874BC8-8C6D-9A42-C52D-D72F11904DC6}"/>
              </a:ext>
            </a:extLst>
          </p:cNvPr>
          <p:cNvSpPr/>
          <p:nvPr/>
        </p:nvSpPr>
        <p:spPr>
          <a:xfrm>
            <a:off x="8229600" y="3149600"/>
            <a:ext cx="3073400" cy="15240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qa-card-top-2">
            <a:extLst>
              <a:ext uri="{FF2B5EF4-FFF2-40B4-BE49-F238E27FC236}">
                <a16:creationId xmlns:a16="http://schemas.microsoft.com/office/drawing/2014/main" id="{978519C9-5B4A-C4D8-80D0-94D3FA0D81FF}"/>
              </a:ext>
            </a:extLst>
          </p:cNvPr>
          <p:cNvSpPr/>
          <p:nvPr/>
        </p:nvSpPr>
        <p:spPr>
          <a:xfrm>
            <a:off x="8229600" y="3149600"/>
            <a:ext cx="3073400" cy="889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qa-q-2">
            <a:extLst>
              <a:ext uri="{FF2B5EF4-FFF2-40B4-BE49-F238E27FC236}">
                <a16:creationId xmlns:a16="http://schemas.microsoft.com/office/drawing/2014/main" id="{BBACF81A-1EE0-C367-88D6-A13148A18B05}"/>
              </a:ext>
            </a:extLst>
          </p:cNvPr>
          <p:cNvSpPr txBox="1"/>
          <p:nvPr/>
        </p:nvSpPr>
        <p:spPr>
          <a:xfrm>
            <a:off x="8509000" y="3505200"/>
            <a:ext cx="2286000" cy="276999"/>
          </a:xfrm>
          <a:prstGeom prst="rect">
            <a:avLst/>
          </a:prstGeom>
          <a:noFill/>
        </p:spPr>
        <p:txBody>
          <a:bodyPr vert="horz" wrap="square" lIns="0" tIns="0" rIns="0" bIns="0" rtlCol="0">
            <a:noAutofit/>
          </a:bodyPr>
          <a:lstStyle/>
          <a:p>
            <a:r>
              <a:rPr lang="en-US" altLang="zh-CN" sz="1020" b="1">
                <a:solidFill>
                  <a:srgbClr val="1F7A4D"/>
                </a:solidFill>
                <a:latin typeface="Aptos" panose="020B0004020202020204" pitchFamily="34" charset="0"/>
              </a:rPr>
              <a:t>Repository proof?</a:t>
            </a:r>
            <a:endParaRPr lang="zh-CN" altLang="en-US" sz="1020" b="1">
              <a:solidFill>
                <a:srgbClr val="1F7A4D"/>
              </a:solidFill>
              <a:latin typeface="Aptos" panose="020B0004020202020204" pitchFamily="34" charset="0"/>
            </a:endParaRPr>
          </a:p>
        </p:txBody>
      </p:sp>
      <p:sp>
        <p:nvSpPr>
          <p:cNvPr id="38" name="qa-a-2">
            <a:extLst>
              <a:ext uri="{FF2B5EF4-FFF2-40B4-BE49-F238E27FC236}">
                <a16:creationId xmlns:a16="http://schemas.microsoft.com/office/drawing/2014/main" id="{1705898A-3E6C-061E-9453-B4C566034612}"/>
              </a:ext>
            </a:extLst>
          </p:cNvPr>
          <p:cNvSpPr txBox="1"/>
          <p:nvPr/>
        </p:nvSpPr>
        <p:spPr>
          <a:xfrm>
            <a:off x="8509000" y="3987800"/>
            <a:ext cx="2413000" cy="276999"/>
          </a:xfrm>
          <a:prstGeom prst="rect">
            <a:avLst/>
          </a:prstGeom>
          <a:noFill/>
        </p:spPr>
        <p:txBody>
          <a:bodyPr vert="horz" wrap="square" lIns="0" tIns="0" rIns="0" bIns="0" rtlCol="0">
            <a:noAutofit/>
          </a:bodyPr>
          <a:lstStyle/>
          <a:p>
            <a:r>
              <a:rPr lang="en-US" altLang="zh-CN" sz="830">
                <a:solidFill>
                  <a:srgbClr val="071A3D"/>
                </a:solidFill>
                <a:latin typeface="Aptos" panose="020B0004020202020204" pitchFamily="34" charset="0"/>
              </a:rPr>
              <a:t>It proves inspectability and consistency, not a full rerun.</a:t>
            </a:r>
            <a:endParaRPr lang="zh-CN" altLang="en-US" sz="830">
              <a:solidFill>
                <a:srgbClr val="071A3D"/>
              </a:solidFill>
              <a:latin typeface="Aptos" panose="020B0004020202020204" pitchFamily="34" charset="0"/>
            </a:endParaRPr>
          </a:p>
        </p:txBody>
      </p:sp>
      <p:cxnSp>
        <p:nvCxnSpPr>
          <p:cNvPr id="39" name="qa-line-2">
            <a:extLst>
              <a:ext uri="{FF2B5EF4-FFF2-40B4-BE49-F238E27FC236}">
                <a16:creationId xmlns:a16="http://schemas.microsoft.com/office/drawing/2014/main" id="{DDA895F1-739A-D045-C095-DFC70AF7B8B4}"/>
              </a:ext>
            </a:extLst>
          </p:cNvPr>
          <p:cNvCxnSpPr/>
          <p:nvPr/>
        </p:nvCxnSpPr>
        <p:spPr>
          <a:xfrm>
            <a:off x="8509000" y="4419600"/>
            <a:ext cx="2387600" cy="0"/>
          </a:xfrm>
          <a:prstGeom prst="line">
            <a:avLst/>
          </a:prstGeom>
          <a:ln w="10160">
            <a:solidFill>
              <a:srgbClr val="D5E2F0"/>
            </a:solidFill>
          </a:ln>
        </p:spPr>
        <p:style>
          <a:lnRef idx="1">
            <a:schemeClr val="accent1"/>
          </a:lnRef>
          <a:fillRef idx="0">
            <a:schemeClr val="accent1"/>
          </a:fillRef>
          <a:effectRef idx="0">
            <a:schemeClr val="accent1"/>
          </a:effectRef>
          <a:fontRef idx="minor">
            <a:schemeClr val="tx1"/>
          </a:fontRef>
        </p:style>
      </p:cxnSp>
      <p:sp>
        <p:nvSpPr>
          <p:cNvPr id="40" name="qa-p-2">
            <a:extLst>
              <a:ext uri="{FF2B5EF4-FFF2-40B4-BE49-F238E27FC236}">
                <a16:creationId xmlns:a16="http://schemas.microsoft.com/office/drawing/2014/main" id="{437DD241-F23F-9229-5550-E14B993CB277}"/>
              </a:ext>
            </a:extLst>
          </p:cNvPr>
          <p:cNvSpPr txBox="1"/>
          <p:nvPr/>
        </p:nvSpPr>
        <p:spPr>
          <a:xfrm>
            <a:off x="8509000" y="4546600"/>
            <a:ext cx="2159000" cy="276999"/>
          </a:xfrm>
          <a:prstGeom prst="rect">
            <a:avLst/>
          </a:prstGeom>
          <a:noFill/>
        </p:spPr>
        <p:txBody>
          <a:bodyPr vert="horz" wrap="square" lIns="0" tIns="0" rIns="0" bIns="0" rtlCol="0">
            <a:noAutofit/>
          </a:bodyPr>
          <a:lstStyle/>
          <a:p>
            <a:r>
              <a:rPr lang="en-US" altLang="zh-CN" sz="730" b="1">
                <a:solidFill>
                  <a:srgbClr val="4A5B78"/>
                </a:solidFill>
                <a:latin typeface="Aptos" panose="020B0004020202020204" pitchFamily="34" charset="0"/>
              </a:rPr>
              <a:t>Run viva_check.py</a:t>
            </a:r>
            <a:endParaRPr lang="zh-CN" altLang="en-US" sz="730" b="1">
              <a:solidFill>
                <a:srgbClr val="4A5B78"/>
              </a:solidFill>
              <a:latin typeface="Aptos" panose="020B0004020202020204" pitchFamily="34" charset="0"/>
            </a:endParaRPr>
          </a:p>
        </p:txBody>
      </p:sp>
      <p:sp>
        <p:nvSpPr>
          <p:cNvPr id="41" name="refuse">
            <a:extLst>
              <a:ext uri="{FF2B5EF4-FFF2-40B4-BE49-F238E27FC236}">
                <a16:creationId xmlns:a16="http://schemas.microsoft.com/office/drawing/2014/main" id="{F525B2E3-5497-FB66-F701-07882F096DB5}"/>
              </a:ext>
            </a:extLst>
          </p:cNvPr>
          <p:cNvSpPr/>
          <p:nvPr/>
        </p:nvSpPr>
        <p:spPr>
          <a:xfrm>
            <a:off x="1625600" y="5461000"/>
            <a:ext cx="8940800" cy="431800"/>
          </a:xfrm>
          <a:prstGeom prst="rect">
            <a:avLst/>
          </a:prstGeom>
          <a:solidFill>
            <a:srgbClr val="FFEFF2"/>
          </a:solidFill>
          <a:ln w="11430">
            <a:solidFill>
              <a:srgbClr val="EBA7B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refuse-t">
            <a:extLst>
              <a:ext uri="{FF2B5EF4-FFF2-40B4-BE49-F238E27FC236}">
                <a16:creationId xmlns:a16="http://schemas.microsoft.com/office/drawing/2014/main" id="{FA8F8253-0698-BA6B-9DC6-8A2CE6537C60}"/>
              </a:ext>
            </a:extLst>
          </p:cNvPr>
          <p:cNvSpPr txBox="1"/>
          <p:nvPr/>
        </p:nvSpPr>
        <p:spPr>
          <a:xfrm>
            <a:off x="2006600" y="5600700"/>
            <a:ext cx="8204200" cy="276999"/>
          </a:xfrm>
          <a:prstGeom prst="rect">
            <a:avLst/>
          </a:prstGeom>
          <a:noFill/>
        </p:spPr>
        <p:txBody>
          <a:bodyPr vert="horz" wrap="square" lIns="0" tIns="0" rIns="0" bIns="0" rtlCol="0">
            <a:noAutofit/>
          </a:bodyPr>
          <a:lstStyle/>
          <a:p>
            <a:r>
              <a:rPr lang="en-US" altLang="zh-CN" sz="780" b="1">
                <a:solidFill>
                  <a:srgbClr val="B8293C"/>
                </a:solidFill>
                <a:latin typeface="Aptos" panose="020B0004020202020204" pitchFamily="34" charset="0"/>
              </a:rPr>
              <a:t>Do not claim: legal authorship proof, provider accusation, universal watermarking, or safety certification.</a:t>
            </a:r>
            <a:endParaRPr lang="zh-CN" altLang="en-US" sz="780" b="1">
              <a:solidFill>
                <a:srgbClr val="B8293C"/>
              </a:solidFill>
              <a:latin typeface="Aptos" panose="020B0004020202020204" pitchFamily="34" charset="0"/>
            </a:endParaRPr>
          </a:p>
        </p:txBody>
      </p:sp>
      <p:sp>
        <p:nvSpPr>
          <p:cNvPr id="43" name="footer-hit-11">
            <a:hlinkClick r:id="rId4"/>
            <a:extLst>
              <a:ext uri="{FF2B5EF4-FFF2-40B4-BE49-F238E27FC236}">
                <a16:creationId xmlns:a16="http://schemas.microsoft.com/office/drawing/2014/main" id="{47889BF3-321B-54CD-0377-614AD1A44B75}"/>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743847701"/>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160"/>
                                        <p:tgtEl>
                                          <p:spTgt spid="40"/>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160"/>
                                        <p:tgtEl>
                                          <p:spTgt spid="41"/>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16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7" grpId="0"/>
      <p:bldP spid="18" grpId="0"/>
      <p:bldP spid="19" grpId="0"/>
      <p:bldP spid="20" grpId="0"/>
      <p:bldP spid="21" grpId="0"/>
      <p:bldP spid="22" grpId="0"/>
      <p:bldP spid="23" grpId="0" animBg="1"/>
      <p:bldP spid="24" grpId="0" animBg="1"/>
      <p:bldP spid="25" grpId="0"/>
      <p:bldP spid="26" grpId="0"/>
      <p:bldP spid="28" grpId="0"/>
      <p:bldP spid="29" grpId="0" animBg="1"/>
      <p:bldP spid="30" grpId="0" animBg="1"/>
      <p:bldP spid="31" grpId="0"/>
      <p:bldP spid="32" grpId="0"/>
      <p:bldP spid="34" grpId="0"/>
      <p:bldP spid="35" grpId="0" animBg="1"/>
      <p:bldP spid="36" grpId="0" animBg="1"/>
      <p:bldP spid="37" grpId="0"/>
      <p:bldP spid="38" grpId="0"/>
      <p:bldP spid="40" grpId="0"/>
      <p:bldP spid="41" grpId="0" animBg="1"/>
      <p:bldP spid="4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C8EA9B94-07A9-F835-4F02-947AAB115B03}"/>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07A0F7E8-E221-1B0B-F1AE-523383DBC227}"/>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D675CBED-BE21-283F-1F75-60327A801084}"/>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C76B8635-0E10-E4A0-D030-FC4541922D79}"/>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FUTURE WORK</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FE2CBEB0-85B6-3569-9EBE-B6670719B77C}"/>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12</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8A41146B-8D5D-246C-A13D-4E6927C8933A}"/>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006875F1-85DE-482F-3FB6-7F1367210C8D}"/>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5A2791C1-1FD8-A159-5CAC-C41DD127BA9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92765D27-F51F-AD0D-2FF8-20E02AE06EE0}"/>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submitted FYP is the artifact; papers are planned continuations.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4DB96809-CA4D-5EF2-4B64-1FB357F03580}"/>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viva should assess the submitted repository, dissertation, evidence files, and claim boundaries.</a:t>
            </a:r>
            <a:endParaRPr lang="zh-CN" altLang="en-US" sz="930">
              <a:solidFill>
                <a:srgbClr val="4A5B78"/>
              </a:solidFill>
              <a:latin typeface="Aptos" panose="020B0004020202020204" pitchFamily="34" charset="0"/>
            </a:endParaRPr>
          </a:p>
        </p:txBody>
      </p:sp>
      <p:sp>
        <p:nvSpPr>
          <p:cNvPr id="13" name="fyp-box">
            <a:extLst>
              <a:ext uri="{FF2B5EF4-FFF2-40B4-BE49-F238E27FC236}">
                <a16:creationId xmlns:a16="http://schemas.microsoft.com/office/drawing/2014/main" id="{3C157C44-B73B-3B70-1459-F8D6A8D453B2}"/>
              </a:ext>
            </a:extLst>
          </p:cNvPr>
          <p:cNvSpPr/>
          <p:nvPr/>
        </p:nvSpPr>
        <p:spPr>
          <a:xfrm>
            <a:off x="838200" y="2108200"/>
            <a:ext cx="3987800" cy="3022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yp-k">
            <a:extLst>
              <a:ext uri="{FF2B5EF4-FFF2-40B4-BE49-F238E27FC236}">
                <a16:creationId xmlns:a16="http://schemas.microsoft.com/office/drawing/2014/main" id="{297F1F20-3EE7-B8F6-ACEB-67F06410FDEF}"/>
              </a:ext>
            </a:extLst>
          </p:cNvPr>
          <p:cNvSpPr txBox="1"/>
          <p:nvPr/>
        </p:nvSpPr>
        <p:spPr>
          <a:xfrm>
            <a:off x="1219200" y="2463800"/>
            <a:ext cx="19050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SUBMITTED FYP ARTIFACT</a:t>
            </a:r>
            <a:endParaRPr lang="zh-CN" altLang="en-US" sz="770" b="1">
              <a:solidFill>
                <a:srgbClr val="CDE2FA"/>
              </a:solidFill>
              <a:latin typeface="Aptos" panose="020B0004020202020204" pitchFamily="34" charset="0"/>
            </a:endParaRPr>
          </a:p>
        </p:txBody>
      </p:sp>
      <p:sp>
        <p:nvSpPr>
          <p:cNvPr id="15" name="fyp-t">
            <a:extLst>
              <a:ext uri="{FF2B5EF4-FFF2-40B4-BE49-F238E27FC236}">
                <a16:creationId xmlns:a16="http://schemas.microsoft.com/office/drawing/2014/main" id="{42031FFA-9AA9-1E60-080C-6AD12F90AC21}"/>
              </a:ext>
            </a:extLst>
          </p:cNvPr>
          <p:cNvSpPr txBox="1"/>
          <p:nvPr/>
        </p:nvSpPr>
        <p:spPr>
          <a:xfrm>
            <a:off x="1219200" y="2946400"/>
            <a:ext cx="2844800" cy="276999"/>
          </a:xfrm>
          <a:prstGeom prst="rect">
            <a:avLst/>
          </a:prstGeom>
          <a:noFill/>
        </p:spPr>
        <p:txBody>
          <a:bodyPr vert="horz" wrap="square" lIns="0" tIns="0" rIns="0" bIns="0" rtlCol="0">
            <a:noAutofit/>
          </a:bodyPr>
          <a:lstStyle/>
          <a:p>
            <a:r>
              <a:rPr lang="en-US" altLang="zh-CN" sz="1750" b="1">
                <a:solidFill>
                  <a:srgbClr val="FFFFFF"/>
                </a:solidFill>
                <a:latin typeface="Aptos" panose="020B0004020202020204" pitchFamily="34" charset="0"/>
              </a:rPr>
              <a:t>Individual implementation, dissertation, and evidence package</a:t>
            </a:r>
            <a:endParaRPr lang="zh-CN" altLang="en-US" sz="1750" b="1">
              <a:solidFill>
                <a:srgbClr val="FFFFFF"/>
              </a:solidFill>
              <a:latin typeface="Aptos" panose="020B0004020202020204" pitchFamily="34" charset="0"/>
            </a:endParaRPr>
          </a:p>
        </p:txBody>
      </p:sp>
      <p:sp>
        <p:nvSpPr>
          <p:cNvPr id="16" name="fyp-s">
            <a:extLst>
              <a:ext uri="{FF2B5EF4-FFF2-40B4-BE49-F238E27FC236}">
                <a16:creationId xmlns:a16="http://schemas.microsoft.com/office/drawing/2014/main" id="{E38AC851-EC2F-27C9-3CE1-368954945BA8}"/>
              </a:ext>
            </a:extLst>
          </p:cNvPr>
          <p:cNvSpPr txBox="1"/>
          <p:nvPr/>
        </p:nvSpPr>
        <p:spPr>
          <a:xfrm>
            <a:off x="1219200" y="4038600"/>
            <a:ext cx="2844800" cy="276999"/>
          </a:xfrm>
          <a:prstGeom prst="rect">
            <a:avLst/>
          </a:prstGeom>
          <a:noFill/>
        </p:spPr>
        <p:txBody>
          <a:bodyPr vert="horz" wrap="square" lIns="0" tIns="0" rIns="0" bIns="0" rtlCol="0">
            <a:noAutofit/>
          </a:bodyPr>
          <a:lstStyle/>
          <a:p>
            <a:r>
              <a:rPr lang="en-US" altLang="zh-CN" sz="880">
                <a:solidFill>
                  <a:srgbClr val="DBE9FA"/>
                </a:solidFill>
                <a:latin typeface="Aptos" panose="020B0004020202020204" pitchFamily="34" charset="0"/>
              </a:rPr>
              <a:t>This is the work being defended: code, data references, manifests, claim boundaries, and the submitted PDF.</a:t>
            </a:r>
            <a:endParaRPr lang="zh-CN" altLang="en-US" sz="880">
              <a:solidFill>
                <a:srgbClr val="DBE9FA"/>
              </a:solidFill>
              <a:latin typeface="Aptos" panose="020B0004020202020204" pitchFamily="34" charset="0"/>
            </a:endParaRPr>
          </a:p>
        </p:txBody>
      </p:sp>
      <p:cxnSp>
        <p:nvCxnSpPr>
          <p:cNvPr id="17" name="future-arrow">
            <a:extLst>
              <a:ext uri="{FF2B5EF4-FFF2-40B4-BE49-F238E27FC236}">
                <a16:creationId xmlns:a16="http://schemas.microsoft.com/office/drawing/2014/main" id="{2A7CC32C-D8FA-FB88-AC63-6663C09B3725}"/>
              </a:ext>
            </a:extLst>
          </p:cNvPr>
          <p:cNvCxnSpPr/>
          <p:nvPr/>
        </p:nvCxnSpPr>
        <p:spPr>
          <a:xfrm>
            <a:off x="5130800" y="3632200"/>
            <a:ext cx="838200" cy="0"/>
          </a:xfrm>
          <a:prstGeom prst="line">
            <a:avLst/>
          </a:prstGeom>
          <a:ln w="2540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18" name="future-label">
            <a:extLst>
              <a:ext uri="{FF2B5EF4-FFF2-40B4-BE49-F238E27FC236}">
                <a16:creationId xmlns:a16="http://schemas.microsoft.com/office/drawing/2014/main" id="{814DEDDA-EEDD-FF7C-E4E8-501463B76941}"/>
              </a:ext>
            </a:extLst>
          </p:cNvPr>
          <p:cNvSpPr txBox="1"/>
          <p:nvPr/>
        </p:nvSpPr>
        <p:spPr>
          <a:xfrm>
            <a:off x="6172200" y="2057400"/>
            <a:ext cx="3378200" cy="276999"/>
          </a:xfrm>
          <a:prstGeom prst="rect">
            <a:avLst/>
          </a:prstGeom>
          <a:noFill/>
        </p:spPr>
        <p:txBody>
          <a:bodyPr vert="horz" wrap="square" lIns="0" tIns="0" rIns="0" bIns="0" rtlCol="0">
            <a:noAutofit/>
          </a:bodyPr>
          <a:lstStyle/>
          <a:p>
            <a:r>
              <a:rPr lang="en-US" altLang="zh-CN" sz="770" b="1">
                <a:solidFill>
                  <a:srgbClr val="4A5B78"/>
                </a:solidFill>
                <a:latin typeface="Aptos" panose="020B0004020202020204" pitchFamily="34" charset="0"/>
              </a:rPr>
              <a:t>PLANNED POST-FYP PAPER WORKSTREAMS</a:t>
            </a:r>
            <a:endParaRPr lang="zh-CN" altLang="en-US" sz="770" b="1">
              <a:solidFill>
                <a:srgbClr val="4A5B78"/>
              </a:solidFill>
              <a:latin typeface="Aptos" panose="020B0004020202020204" pitchFamily="34" charset="0"/>
            </a:endParaRPr>
          </a:p>
        </p:txBody>
      </p:sp>
      <p:sp>
        <p:nvSpPr>
          <p:cNvPr id="19" name="road-0">
            <a:extLst>
              <a:ext uri="{FF2B5EF4-FFF2-40B4-BE49-F238E27FC236}">
                <a16:creationId xmlns:a16="http://schemas.microsoft.com/office/drawing/2014/main" id="{9CECCF1F-FFAC-8D02-68F9-FE1EED2FB89A}"/>
              </a:ext>
            </a:extLst>
          </p:cNvPr>
          <p:cNvSpPr/>
          <p:nvPr/>
        </p:nvSpPr>
        <p:spPr>
          <a:xfrm>
            <a:off x="6172200" y="2489200"/>
            <a:ext cx="47752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road-band-0">
            <a:extLst>
              <a:ext uri="{FF2B5EF4-FFF2-40B4-BE49-F238E27FC236}">
                <a16:creationId xmlns:a16="http://schemas.microsoft.com/office/drawing/2014/main" id="{A2C23397-E69F-0987-7819-5E217CEA8837}"/>
              </a:ext>
            </a:extLst>
          </p:cNvPr>
          <p:cNvSpPr/>
          <p:nvPr/>
        </p:nvSpPr>
        <p:spPr>
          <a:xfrm>
            <a:off x="6172200" y="2489200"/>
            <a:ext cx="76200" cy="406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road-type-0">
            <a:extLst>
              <a:ext uri="{FF2B5EF4-FFF2-40B4-BE49-F238E27FC236}">
                <a16:creationId xmlns:a16="http://schemas.microsoft.com/office/drawing/2014/main" id="{A7A0F55A-B0BF-7F89-4F71-576AAFDE9DBD}"/>
              </a:ext>
            </a:extLst>
          </p:cNvPr>
          <p:cNvSpPr txBox="1"/>
          <p:nvPr/>
        </p:nvSpPr>
        <p:spPr>
          <a:xfrm>
            <a:off x="6426200" y="2603500"/>
            <a:ext cx="838200" cy="276999"/>
          </a:xfrm>
          <a:prstGeom prst="rect">
            <a:avLst/>
          </a:prstGeom>
          <a:noFill/>
        </p:spPr>
        <p:txBody>
          <a:bodyPr vert="horz" wrap="square" lIns="0" tIns="0" rIns="0" bIns="0" rtlCol="0">
            <a:noAutofit/>
          </a:bodyPr>
          <a:lstStyle/>
          <a:p>
            <a:r>
              <a:rPr lang="en-US" altLang="zh-CN" sz="680" b="1">
                <a:solidFill>
                  <a:srgbClr val="4A5B78"/>
                </a:solidFill>
                <a:latin typeface="Aptos" panose="020B0004020202020204" pitchFamily="34" charset="0"/>
              </a:rPr>
              <a:t>Benchmark</a:t>
            </a:r>
            <a:endParaRPr lang="zh-CN" altLang="en-US" sz="680" b="1">
              <a:solidFill>
                <a:srgbClr val="4A5B78"/>
              </a:solidFill>
              <a:latin typeface="Aptos" panose="020B0004020202020204" pitchFamily="34" charset="0"/>
            </a:endParaRPr>
          </a:p>
        </p:txBody>
      </p:sp>
      <p:sp>
        <p:nvSpPr>
          <p:cNvPr id="22" name="road-title-0">
            <a:extLst>
              <a:ext uri="{FF2B5EF4-FFF2-40B4-BE49-F238E27FC236}">
                <a16:creationId xmlns:a16="http://schemas.microsoft.com/office/drawing/2014/main" id="{5A95A43C-C40D-B640-D330-D6F0E21D1E2F}"/>
              </a:ext>
            </a:extLst>
          </p:cNvPr>
          <p:cNvSpPr txBox="1"/>
          <p:nvPr/>
        </p:nvSpPr>
        <p:spPr>
          <a:xfrm>
            <a:off x="7442200" y="2590800"/>
            <a:ext cx="1371600" cy="276999"/>
          </a:xfrm>
          <a:prstGeom prst="rect">
            <a:avLst/>
          </a:prstGeom>
          <a:noFill/>
        </p:spPr>
        <p:txBody>
          <a:bodyPr vert="horz" wrap="square" lIns="0" tIns="0" rIns="0" bIns="0" rtlCol="0">
            <a:noAutofit/>
          </a:bodyPr>
          <a:lstStyle/>
          <a:p>
            <a:r>
              <a:rPr lang="en-US" altLang="zh-CN" sz="770" b="1">
                <a:solidFill>
                  <a:srgbClr val="003B7A"/>
                </a:solidFill>
                <a:latin typeface="Aptos" panose="020B0004020202020204" pitchFamily="34" charset="0"/>
              </a:rPr>
              <a:t>CodeMarkBench</a:t>
            </a:r>
            <a:endParaRPr lang="zh-CN" altLang="en-US" sz="770" b="1">
              <a:solidFill>
                <a:srgbClr val="003B7A"/>
              </a:solidFill>
              <a:latin typeface="Aptos" panose="020B0004020202020204" pitchFamily="34" charset="0"/>
            </a:endParaRPr>
          </a:p>
        </p:txBody>
      </p:sp>
      <p:sp>
        <p:nvSpPr>
          <p:cNvPr id="23" name="road-target-0">
            <a:extLst>
              <a:ext uri="{FF2B5EF4-FFF2-40B4-BE49-F238E27FC236}">
                <a16:creationId xmlns:a16="http://schemas.microsoft.com/office/drawing/2014/main" id="{67835A5E-3B7B-37CA-50B6-ED3B2DEE7973}"/>
              </a:ext>
            </a:extLst>
          </p:cNvPr>
          <p:cNvSpPr/>
          <p:nvPr/>
        </p:nvSpPr>
        <p:spPr>
          <a:xfrm>
            <a:off x="8991600" y="25781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road-targett-0">
            <a:extLst>
              <a:ext uri="{FF2B5EF4-FFF2-40B4-BE49-F238E27FC236}">
                <a16:creationId xmlns:a16="http://schemas.microsoft.com/office/drawing/2014/main" id="{DA677D8F-05F3-6E7A-B07B-8B8A6A39CAA2}"/>
              </a:ext>
            </a:extLst>
          </p:cNvPr>
          <p:cNvSpPr txBox="1"/>
          <p:nvPr/>
        </p:nvSpPr>
        <p:spPr>
          <a:xfrm>
            <a:off x="9118600" y="2641600"/>
            <a:ext cx="431800" cy="276999"/>
          </a:xfrm>
          <a:prstGeom prst="rect">
            <a:avLst/>
          </a:prstGeom>
          <a:noFill/>
        </p:spPr>
        <p:txBody>
          <a:bodyPr vert="horz" wrap="square" lIns="0" tIns="0" rIns="0" bIns="0" rtlCol="0">
            <a:noAutofit/>
          </a:bodyPr>
          <a:lstStyle/>
          <a:p>
            <a:r>
              <a:rPr lang="en-US" altLang="zh-CN" sz="630" b="1">
                <a:solidFill>
                  <a:srgbClr val="003B7A"/>
                </a:solidFill>
                <a:latin typeface="Aptos" panose="020B0004020202020204" pitchFamily="34" charset="0"/>
              </a:rPr>
              <a:t>TOSEM</a:t>
            </a:r>
            <a:endParaRPr lang="zh-CN" altLang="en-US" sz="630" b="1">
              <a:solidFill>
                <a:srgbClr val="003B7A"/>
              </a:solidFill>
              <a:latin typeface="Aptos" panose="020B0004020202020204" pitchFamily="34" charset="0"/>
            </a:endParaRPr>
          </a:p>
        </p:txBody>
      </p:sp>
      <p:sp>
        <p:nvSpPr>
          <p:cNvPr id="25" name="road-sub-0">
            <a:extLst>
              <a:ext uri="{FF2B5EF4-FFF2-40B4-BE49-F238E27FC236}">
                <a16:creationId xmlns:a16="http://schemas.microsoft.com/office/drawing/2014/main" id="{59C4E263-68F7-B977-0449-9D0C2123B55A}"/>
              </a:ext>
            </a:extLst>
          </p:cNvPr>
          <p:cNvSpPr txBox="1"/>
          <p:nvPr/>
        </p:nvSpPr>
        <p:spPr>
          <a:xfrm>
            <a:off x="9855200" y="2603500"/>
            <a:ext cx="838200" cy="276999"/>
          </a:xfrm>
          <a:prstGeom prst="rect">
            <a:avLst/>
          </a:prstGeom>
          <a:noFill/>
        </p:spPr>
        <p:txBody>
          <a:bodyPr vert="horz" wrap="square" lIns="0" tIns="0" rIns="0" bIns="0" rtlCol="0">
            <a:noAutofit/>
          </a:bodyPr>
          <a:lstStyle/>
          <a:p>
            <a:r>
              <a:rPr lang="en-US" altLang="zh-CN" sz="650">
                <a:solidFill>
                  <a:srgbClr val="4A5B78"/>
                </a:solidFill>
                <a:latin typeface="Aptos" panose="020B0004020202020204" pitchFamily="34" charset="0"/>
              </a:rPr>
              <a:t>executability and adequacy</a:t>
            </a:r>
            <a:endParaRPr lang="zh-CN" altLang="en-US" sz="650">
              <a:solidFill>
                <a:srgbClr val="4A5B78"/>
              </a:solidFill>
              <a:latin typeface="Aptos" panose="020B0004020202020204" pitchFamily="34" charset="0"/>
            </a:endParaRPr>
          </a:p>
        </p:txBody>
      </p:sp>
      <p:sp>
        <p:nvSpPr>
          <p:cNvPr id="26" name="road-1">
            <a:extLst>
              <a:ext uri="{FF2B5EF4-FFF2-40B4-BE49-F238E27FC236}">
                <a16:creationId xmlns:a16="http://schemas.microsoft.com/office/drawing/2014/main" id="{8B746037-DD24-71EC-7BBA-C4B7E346A096}"/>
              </a:ext>
            </a:extLst>
          </p:cNvPr>
          <p:cNvSpPr/>
          <p:nvPr/>
        </p:nvSpPr>
        <p:spPr>
          <a:xfrm>
            <a:off x="6172200" y="3060700"/>
            <a:ext cx="47752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road-band-1">
            <a:extLst>
              <a:ext uri="{FF2B5EF4-FFF2-40B4-BE49-F238E27FC236}">
                <a16:creationId xmlns:a16="http://schemas.microsoft.com/office/drawing/2014/main" id="{8CBB363D-124B-A886-42DA-F300AAD3210C}"/>
              </a:ext>
            </a:extLst>
          </p:cNvPr>
          <p:cNvSpPr/>
          <p:nvPr/>
        </p:nvSpPr>
        <p:spPr>
          <a:xfrm>
            <a:off x="6172200" y="3060700"/>
            <a:ext cx="76200" cy="4064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road-type-1">
            <a:extLst>
              <a:ext uri="{FF2B5EF4-FFF2-40B4-BE49-F238E27FC236}">
                <a16:creationId xmlns:a16="http://schemas.microsoft.com/office/drawing/2014/main" id="{D718331A-0FFB-1E37-28D5-06AA3CF2F257}"/>
              </a:ext>
            </a:extLst>
          </p:cNvPr>
          <p:cNvSpPr txBox="1"/>
          <p:nvPr/>
        </p:nvSpPr>
        <p:spPr>
          <a:xfrm>
            <a:off x="6426200" y="3175000"/>
            <a:ext cx="838200" cy="276999"/>
          </a:xfrm>
          <a:prstGeom prst="rect">
            <a:avLst/>
          </a:prstGeom>
          <a:noFill/>
        </p:spPr>
        <p:txBody>
          <a:bodyPr vert="horz" wrap="square" lIns="0" tIns="0" rIns="0" bIns="0" rtlCol="0">
            <a:noAutofit/>
          </a:bodyPr>
          <a:lstStyle/>
          <a:p>
            <a:r>
              <a:rPr lang="en-US" altLang="zh-CN" sz="680" b="1">
                <a:solidFill>
                  <a:srgbClr val="4A5B78"/>
                </a:solidFill>
                <a:latin typeface="Aptos" panose="020B0004020202020204" pitchFamily="34" charset="0"/>
              </a:rPr>
              <a:t>White-box</a:t>
            </a:r>
            <a:endParaRPr lang="zh-CN" altLang="en-US" sz="680" b="1">
              <a:solidFill>
                <a:srgbClr val="4A5B78"/>
              </a:solidFill>
              <a:latin typeface="Aptos" panose="020B0004020202020204" pitchFamily="34" charset="0"/>
            </a:endParaRPr>
          </a:p>
        </p:txBody>
      </p:sp>
      <p:sp>
        <p:nvSpPr>
          <p:cNvPr id="29" name="road-title-1">
            <a:extLst>
              <a:ext uri="{FF2B5EF4-FFF2-40B4-BE49-F238E27FC236}">
                <a16:creationId xmlns:a16="http://schemas.microsoft.com/office/drawing/2014/main" id="{7A31EA25-9633-CB4E-6B3E-1FAA122E8E1A}"/>
              </a:ext>
            </a:extLst>
          </p:cNvPr>
          <p:cNvSpPr txBox="1"/>
          <p:nvPr/>
        </p:nvSpPr>
        <p:spPr>
          <a:xfrm>
            <a:off x="7442200" y="3162300"/>
            <a:ext cx="1371600" cy="276999"/>
          </a:xfrm>
          <a:prstGeom prst="rect">
            <a:avLst/>
          </a:prstGeom>
          <a:noFill/>
        </p:spPr>
        <p:txBody>
          <a:bodyPr vert="horz" wrap="square" lIns="0" tIns="0" rIns="0" bIns="0" rtlCol="0">
            <a:noAutofit/>
          </a:bodyPr>
          <a:lstStyle/>
          <a:p>
            <a:r>
              <a:rPr lang="en-US" altLang="zh-CN" sz="770" b="1">
                <a:solidFill>
                  <a:srgbClr val="168E8B"/>
                </a:solidFill>
                <a:latin typeface="Aptos" panose="020B0004020202020204" pitchFamily="34" charset="0"/>
              </a:rPr>
              <a:t>SemCodebook</a:t>
            </a:r>
            <a:endParaRPr lang="zh-CN" altLang="en-US" sz="770" b="1">
              <a:solidFill>
                <a:srgbClr val="168E8B"/>
              </a:solidFill>
              <a:latin typeface="Aptos" panose="020B0004020202020204" pitchFamily="34" charset="0"/>
            </a:endParaRPr>
          </a:p>
        </p:txBody>
      </p:sp>
      <p:sp>
        <p:nvSpPr>
          <p:cNvPr id="30" name="road-target-1">
            <a:extLst>
              <a:ext uri="{FF2B5EF4-FFF2-40B4-BE49-F238E27FC236}">
                <a16:creationId xmlns:a16="http://schemas.microsoft.com/office/drawing/2014/main" id="{7C75EEAF-B738-9CF5-2A7F-32138105F334}"/>
              </a:ext>
            </a:extLst>
          </p:cNvPr>
          <p:cNvSpPr/>
          <p:nvPr/>
        </p:nvSpPr>
        <p:spPr>
          <a:xfrm>
            <a:off x="8991600" y="31496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road-targett-1">
            <a:extLst>
              <a:ext uri="{FF2B5EF4-FFF2-40B4-BE49-F238E27FC236}">
                <a16:creationId xmlns:a16="http://schemas.microsoft.com/office/drawing/2014/main" id="{53388348-9342-24A5-094D-518427B67B43}"/>
              </a:ext>
            </a:extLst>
          </p:cNvPr>
          <p:cNvSpPr txBox="1"/>
          <p:nvPr/>
        </p:nvSpPr>
        <p:spPr>
          <a:xfrm>
            <a:off x="9118600" y="3213100"/>
            <a:ext cx="431800" cy="276999"/>
          </a:xfrm>
          <a:prstGeom prst="rect">
            <a:avLst/>
          </a:prstGeom>
          <a:noFill/>
        </p:spPr>
        <p:txBody>
          <a:bodyPr vert="horz" wrap="square" lIns="0" tIns="0" rIns="0" bIns="0" rtlCol="0">
            <a:noAutofit/>
          </a:bodyPr>
          <a:lstStyle/>
          <a:p>
            <a:r>
              <a:rPr lang="en-US" altLang="zh-CN" sz="630" b="1">
                <a:solidFill>
                  <a:srgbClr val="003B7A"/>
                </a:solidFill>
                <a:latin typeface="Aptos" panose="020B0004020202020204" pitchFamily="34" charset="0"/>
              </a:rPr>
              <a:t>EMNLP</a:t>
            </a:r>
            <a:endParaRPr lang="zh-CN" altLang="en-US" sz="630" b="1">
              <a:solidFill>
                <a:srgbClr val="003B7A"/>
              </a:solidFill>
              <a:latin typeface="Aptos" panose="020B0004020202020204" pitchFamily="34" charset="0"/>
            </a:endParaRPr>
          </a:p>
        </p:txBody>
      </p:sp>
      <p:sp>
        <p:nvSpPr>
          <p:cNvPr id="32" name="road-sub-1">
            <a:extLst>
              <a:ext uri="{FF2B5EF4-FFF2-40B4-BE49-F238E27FC236}">
                <a16:creationId xmlns:a16="http://schemas.microsoft.com/office/drawing/2014/main" id="{E4F19911-5A6C-B4E3-82EF-E11B32EB596B}"/>
              </a:ext>
            </a:extLst>
          </p:cNvPr>
          <p:cNvSpPr txBox="1"/>
          <p:nvPr/>
        </p:nvSpPr>
        <p:spPr>
          <a:xfrm>
            <a:off x="9855200" y="3175000"/>
            <a:ext cx="838200" cy="276999"/>
          </a:xfrm>
          <a:prstGeom prst="rect">
            <a:avLst/>
          </a:prstGeom>
          <a:noFill/>
        </p:spPr>
        <p:txBody>
          <a:bodyPr vert="horz" wrap="square" lIns="0" tIns="0" rIns="0" bIns="0" rtlCol="0">
            <a:noAutofit/>
          </a:bodyPr>
          <a:lstStyle/>
          <a:p>
            <a:r>
              <a:rPr lang="en-US" altLang="zh-CN" sz="650">
                <a:solidFill>
                  <a:srgbClr val="4A5B78"/>
                </a:solidFill>
                <a:latin typeface="Aptos" panose="020B0004020202020204" pitchFamily="34" charset="0"/>
              </a:rPr>
              <a:t>structured recovery</a:t>
            </a:r>
            <a:endParaRPr lang="zh-CN" altLang="en-US" sz="650">
              <a:solidFill>
                <a:srgbClr val="4A5B78"/>
              </a:solidFill>
              <a:latin typeface="Aptos" panose="020B0004020202020204" pitchFamily="34" charset="0"/>
            </a:endParaRPr>
          </a:p>
        </p:txBody>
      </p:sp>
      <p:sp>
        <p:nvSpPr>
          <p:cNvPr id="33" name="road-2">
            <a:extLst>
              <a:ext uri="{FF2B5EF4-FFF2-40B4-BE49-F238E27FC236}">
                <a16:creationId xmlns:a16="http://schemas.microsoft.com/office/drawing/2014/main" id="{2A4091D8-68C6-43B2-7B63-5CBA62D45B4D}"/>
              </a:ext>
            </a:extLst>
          </p:cNvPr>
          <p:cNvSpPr/>
          <p:nvPr/>
        </p:nvSpPr>
        <p:spPr>
          <a:xfrm>
            <a:off x="6172200" y="3632200"/>
            <a:ext cx="47752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road-band-2">
            <a:extLst>
              <a:ext uri="{FF2B5EF4-FFF2-40B4-BE49-F238E27FC236}">
                <a16:creationId xmlns:a16="http://schemas.microsoft.com/office/drawing/2014/main" id="{4263F8B2-A7C2-A8ED-3C28-8516D5AFC71F}"/>
              </a:ext>
            </a:extLst>
          </p:cNvPr>
          <p:cNvSpPr/>
          <p:nvPr/>
        </p:nvSpPr>
        <p:spPr>
          <a:xfrm>
            <a:off x="6172200" y="3632200"/>
            <a:ext cx="76200" cy="4064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road-type-2">
            <a:extLst>
              <a:ext uri="{FF2B5EF4-FFF2-40B4-BE49-F238E27FC236}">
                <a16:creationId xmlns:a16="http://schemas.microsoft.com/office/drawing/2014/main" id="{E70413FA-8CDD-0D33-9391-2564FA70C4BC}"/>
              </a:ext>
            </a:extLst>
          </p:cNvPr>
          <p:cNvSpPr txBox="1"/>
          <p:nvPr/>
        </p:nvSpPr>
        <p:spPr>
          <a:xfrm>
            <a:off x="6426200" y="3746500"/>
            <a:ext cx="838200" cy="276999"/>
          </a:xfrm>
          <a:prstGeom prst="rect">
            <a:avLst/>
          </a:prstGeom>
          <a:noFill/>
        </p:spPr>
        <p:txBody>
          <a:bodyPr vert="horz" wrap="square" lIns="0" tIns="0" rIns="0" bIns="0" rtlCol="0">
            <a:noAutofit/>
          </a:bodyPr>
          <a:lstStyle/>
          <a:p>
            <a:r>
              <a:rPr lang="en-US" altLang="zh-CN" sz="680" b="1">
                <a:solidFill>
                  <a:srgbClr val="4A5B78"/>
                </a:solidFill>
                <a:latin typeface="Aptos" panose="020B0004020202020204" pitchFamily="34" charset="0"/>
              </a:rPr>
              <a:t>Black-box</a:t>
            </a:r>
            <a:endParaRPr lang="zh-CN" altLang="en-US" sz="680" b="1">
              <a:solidFill>
                <a:srgbClr val="4A5B78"/>
              </a:solidFill>
              <a:latin typeface="Aptos" panose="020B0004020202020204" pitchFamily="34" charset="0"/>
            </a:endParaRPr>
          </a:p>
        </p:txBody>
      </p:sp>
      <p:sp>
        <p:nvSpPr>
          <p:cNvPr id="36" name="road-title-2">
            <a:extLst>
              <a:ext uri="{FF2B5EF4-FFF2-40B4-BE49-F238E27FC236}">
                <a16:creationId xmlns:a16="http://schemas.microsoft.com/office/drawing/2014/main" id="{C6EF64EF-1C47-048F-9A94-B46866F05176}"/>
              </a:ext>
            </a:extLst>
          </p:cNvPr>
          <p:cNvSpPr txBox="1"/>
          <p:nvPr/>
        </p:nvSpPr>
        <p:spPr>
          <a:xfrm>
            <a:off x="7442200" y="3733800"/>
            <a:ext cx="1371600" cy="276999"/>
          </a:xfrm>
          <a:prstGeom prst="rect">
            <a:avLst/>
          </a:prstGeom>
          <a:noFill/>
        </p:spPr>
        <p:txBody>
          <a:bodyPr vert="horz" wrap="square" lIns="0" tIns="0" rIns="0" bIns="0" rtlCol="0">
            <a:noAutofit/>
          </a:bodyPr>
          <a:lstStyle/>
          <a:p>
            <a:r>
              <a:rPr lang="en-US" altLang="zh-CN" sz="770" b="1">
                <a:solidFill>
                  <a:srgbClr val="5B45C8"/>
                </a:solidFill>
                <a:latin typeface="Aptos" panose="020B0004020202020204" pitchFamily="34" charset="0"/>
              </a:rPr>
              <a:t>CodeDye</a:t>
            </a:r>
            <a:endParaRPr lang="zh-CN" altLang="en-US" sz="770" b="1">
              <a:solidFill>
                <a:srgbClr val="5B45C8"/>
              </a:solidFill>
              <a:latin typeface="Aptos" panose="020B0004020202020204" pitchFamily="34" charset="0"/>
            </a:endParaRPr>
          </a:p>
        </p:txBody>
      </p:sp>
      <p:sp>
        <p:nvSpPr>
          <p:cNvPr id="37" name="road-target-2">
            <a:extLst>
              <a:ext uri="{FF2B5EF4-FFF2-40B4-BE49-F238E27FC236}">
                <a16:creationId xmlns:a16="http://schemas.microsoft.com/office/drawing/2014/main" id="{AF08A307-FA7A-716F-EAE6-68F0C38E2E05}"/>
              </a:ext>
            </a:extLst>
          </p:cNvPr>
          <p:cNvSpPr/>
          <p:nvPr/>
        </p:nvSpPr>
        <p:spPr>
          <a:xfrm>
            <a:off x="8991600" y="37211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road-targett-2">
            <a:extLst>
              <a:ext uri="{FF2B5EF4-FFF2-40B4-BE49-F238E27FC236}">
                <a16:creationId xmlns:a16="http://schemas.microsoft.com/office/drawing/2014/main" id="{3D9FA5F4-6DEC-5EFF-1263-A123B7AD0241}"/>
              </a:ext>
            </a:extLst>
          </p:cNvPr>
          <p:cNvSpPr txBox="1"/>
          <p:nvPr/>
        </p:nvSpPr>
        <p:spPr>
          <a:xfrm>
            <a:off x="9118600" y="3784600"/>
            <a:ext cx="431800" cy="276999"/>
          </a:xfrm>
          <a:prstGeom prst="rect">
            <a:avLst/>
          </a:prstGeom>
          <a:noFill/>
        </p:spPr>
        <p:txBody>
          <a:bodyPr vert="horz" wrap="square" lIns="0" tIns="0" rIns="0" bIns="0" rtlCol="0">
            <a:noAutofit/>
          </a:bodyPr>
          <a:lstStyle/>
          <a:p>
            <a:r>
              <a:rPr lang="en-US" altLang="zh-CN" sz="630" b="1">
                <a:solidFill>
                  <a:srgbClr val="003B7A"/>
                </a:solidFill>
                <a:latin typeface="Aptos" panose="020B0004020202020204" pitchFamily="34" charset="0"/>
              </a:rPr>
              <a:t>EMNLP</a:t>
            </a:r>
            <a:endParaRPr lang="zh-CN" altLang="en-US" sz="630" b="1">
              <a:solidFill>
                <a:srgbClr val="003B7A"/>
              </a:solidFill>
              <a:latin typeface="Aptos" panose="020B0004020202020204" pitchFamily="34" charset="0"/>
            </a:endParaRPr>
          </a:p>
        </p:txBody>
      </p:sp>
      <p:sp>
        <p:nvSpPr>
          <p:cNvPr id="39" name="road-sub-2">
            <a:extLst>
              <a:ext uri="{FF2B5EF4-FFF2-40B4-BE49-F238E27FC236}">
                <a16:creationId xmlns:a16="http://schemas.microsoft.com/office/drawing/2014/main" id="{A78D20D0-81AA-0635-5CA4-7EC96706E23C}"/>
              </a:ext>
            </a:extLst>
          </p:cNvPr>
          <p:cNvSpPr txBox="1"/>
          <p:nvPr/>
        </p:nvSpPr>
        <p:spPr>
          <a:xfrm>
            <a:off x="9855200" y="3746500"/>
            <a:ext cx="838200" cy="276999"/>
          </a:xfrm>
          <a:prstGeom prst="rect">
            <a:avLst/>
          </a:prstGeom>
          <a:noFill/>
        </p:spPr>
        <p:txBody>
          <a:bodyPr vert="horz" wrap="square" lIns="0" tIns="0" rIns="0" bIns="0" rtlCol="0">
            <a:noAutofit/>
          </a:bodyPr>
          <a:lstStyle/>
          <a:p>
            <a:r>
              <a:rPr lang="en-US" altLang="zh-CN" sz="650">
                <a:solidFill>
                  <a:srgbClr val="4A5B78"/>
                </a:solidFill>
                <a:latin typeface="Aptos" panose="020B0004020202020204" pitchFamily="34" charset="0"/>
              </a:rPr>
              <a:t>conservative audit</a:t>
            </a:r>
            <a:endParaRPr lang="zh-CN" altLang="en-US" sz="650">
              <a:solidFill>
                <a:srgbClr val="4A5B78"/>
              </a:solidFill>
              <a:latin typeface="Aptos" panose="020B0004020202020204" pitchFamily="34" charset="0"/>
            </a:endParaRPr>
          </a:p>
        </p:txBody>
      </p:sp>
      <p:sp>
        <p:nvSpPr>
          <p:cNvPr id="40" name="road-3">
            <a:extLst>
              <a:ext uri="{FF2B5EF4-FFF2-40B4-BE49-F238E27FC236}">
                <a16:creationId xmlns:a16="http://schemas.microsoft.com/office/drawing/2014/main" id="{521D6A91-8B96-4CDC-FF6C-51DD51D46BF9}"/>
              </a:ext>
            </a:extLst>
          </p:cNvPr>
          <p:cNvSpPr/>
          <p:nvPr/>
        </p:nvSpPr>
        <p:spPr>
          <a:xfrm>
            <a:off x="6172200" y="4203700"/>
            <a:ext cx="47752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road-band-3">
            <a:extLst>
              <a:ext uri="{FF2B5EF4-FFF2-40B4-BE49-F238E27FC236}">
                <a16:creationId xmlns:a16="http://schemas.microsoft.com/office/drawing/2014/main" id="{64722656-8A28-4EF5-7548-EE4302CA1279}"/>
              </a:ext>
            </a:extLst>
          </p:cNvPr>
          <p:cNvSpPr/>
          <p:nvPr/>
        </p:nvSpPr>
        <p:spPr>
          <a:xfrm>
            <a:off x="6172200" y="4203700"/>
            <a:ext cx="76200" cy="4064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road-type-3">
            <a:extLst>
              <a:ext uri="{FF2B5EF4-FFF2-40B4-BE49-F238E27FC236}">
                <a16:creationId xmlns:a16="http://schemas.microsoft.com/office/drawing/2014/main" id="{D963276D-750F-7377-7622-3D9D1BAF1293}"/>
              </a:ext>
            </a:extLst>
          </p:cNvPr>
          <p:cNvSpPr txBox="1"/>
          <p:nvPr/>
        </p:nvSpPr>
        <p:spPr>
          <a:xfrm>
            <a:off x="6426200" y="4318000"/>
            <a:ext cx="838200" cy="276999"/>
          </a:xfrm>
          <a:prstGeom prst="rect">
            <a:avLst/>
          </a:prstGeom>
          <a:noFill/>
        </p:spPr>
        <p:txBody>
          <a:bodyPr vert="horz" wrap="square" lIns="0" tIns="0" rIns="0" bIns="0" rtlCol="0">
            <a:noAutofit/>
          </a:bodyPr>
          <a:lstStyle/>
          <a:p>
            <a:r>
              <a:rPr lang="en-US" altLang="zh-CN" sz="680" b="1">
                <a:solidFill>
                  <a:srgbClr val="4A5B78"/>
                </a:solidFill>
                <a:latin typeface="Aptos" panose="020B0004020202020204" pitchFamily="34" charset="0"/>
              </a:rPr>
              <a:t>Attribution</a:t>
            </a:r>
            <a:endParaRPr lang="zh-CN" altLang="en-US" sz="680" b="1">
              <a:solidFill>
                <a:srgbClr val="4A5B78"/>
              </a:solidFill>
              <a:latin typeface="Aptos" panose="020B0004020202020204" pitchFamily="34" charset="0"/>
            </a:endParaRPr>
          </a:p>
        </p:txBody>
      </p:sp>
      <p:sp>
        <p:nvSpPr>
          <p:cNvPr id="43" name="road-title-3">
            <a:extLst>
              <a:ext uri="{FF2B5EF4-FFF2-40B4-BE49-F238E27FC236}">
                <a16:creationId xmlns:a16="http://schemas.microsoft.com/office/drawing/2014/main" id="{B0C3DE57-1F9E-C1C2-BBB5-EC98D7A0DB30}"/>
              </a:ext>
            </a:extLst>
          </p:cNvPr>
          <p:cNvSpPr txBox="1"/>
          <p:nvPr/>
        </p:nvSpPr>
        <p:spPr>
          <a:xfrm>
            <a:off x="7442200" y="4305300"/>
            <a:ext cx="1371600" cy="276999"/>
          </a:xfrm>
          <a:prstGeom prst="rect">
            <a:avLst/>
          </a:prstGeom>
          <a:noFill/>
        </p:spPr>
        <p:txBody>
          <a:bodyPr vert="horz" wrap="square" lIns="0" tIns="0" rIns="0" bIns="0" rtlCol="0">
            <a:noAutofit/>
          </a:bodyPr>
          <a:lstStyle/>
          <a:p>
            <a:r>
              <a:rPr lang="en-US" altLang="zh-CN" sz="770" b="1">
                <a:solidFill>
                  <a:srgbClr val="B85C00"/>
                </a:solidFill>
                <a:latin typeface="Aptos" panose="020B0004020202020204" pitchFamily="34" charset="0"/>
              </a:rPr>
              <a:t>ProbeTrace</a:t>
            </a:r>
            <a:endParaRPr lang="zh-CN" altLang="en-US" sz="770" b="1">
              <a:solidFill>
                <a:srgbClr val="B85C00"/>
              </a:solidFill>
              <a:latin typeface="Aptos" panose="020B0004020202020204" pitchFamily="34" charset="0"/>
            </a:endParaRPr>
          </a:p>
        </p:txBody>
      </p:sp>
      <p:sp>
        <p:nvSpPr>
          <p:cNvPr id="44" name="road-target-3">
            <a:extLst>
              <a:ext uri="{FF2B5EF4-FFF2-40B4-BE49-F238E27FC236}">
                <a16:creationId xmlns:a16="http://schemas.microsoft.com/office/drawing/2014/main" id="{9997C961-32C9-22A5-B99B-309FADE818EE}"/>
              </a:ext>
            </a:extLst>
          </p:cNvPr>
          <p:cNvSpPr/>
          <p:nvPr/>
        </p:nvSpPr>
        <p:spPr>
          <a:xfrm>
            <a:off x="8991600" y="42926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road-targett-3">
            <a:extLst>
              <a:ext uri="{FF2B5EF4-FFF2-40B4-BE49-F238E27FC236}">
                <a16:creationId xmlns:a16="http://schemas.microsoft.com/office/drawing/2014/main" id="{7E483AE3-D944-2B81-6144-EF4BE990E2E8}"/>
              </a:ext>
            </a:extLst>
          </p:cNvPr>
          <p:cNvSpPr txBox="1"/>
          <p:nvPr/>
        </p:nvSpPr>
        <p:spPr>
          <a:xfrm>
            <a:off x="9118600" y="4356100"/>
            <a:ext cx="431800" cy="276999"/>
          </a:xfrm>
          <a:prstGeom prst="rect">
            <a:avLst/>
          </a:prstGeom>
          <a:noFill/>
        </p:spPr>
        <p:txBody>
          <a:bodyPr vert="horz" wrap="square" lIns="0" tIns="0" rIns="0" bIns="0" rtlCol="0">
            <a:noAutofit/>
          </a:bodyPr>
          <a:lstStyle/>
          <a:p>
            <a:r>
              <a:rPr lang="en-US" altLang="zh-CN" sz="630" b="1">
                <a:solidFill>
                  <a:srgbClr val="003B7A"/>
                </a:solidFill>
                <a:latin typeface="Aptos" panose="020B0004020202020204" pitchFamily="34" charset="0"/>
              </a:rPr>
              <a:t>EMNLP</a:t>
            </a:r>
            <a:endParaRPr lang="zh-CN" altLang="en-US" sz="630" b="1">
              <a:solidFill>
                <a:srgbClr val="003B7A"/>
              </a:solidFill>
              <a:latin typeface="Aptos" panose="020B0004020202020204" pitchFamily="34" charset="0"/>
            </a:endParaRPr>
          </a:p>
        </p:txBody>
      </p:sp>
      <p:sp>
        <p:nvSpPr>
          <p:cNvPr id="46" name="road-sub-3">
            <a:extLst>
              <a:ext uri="{FF2B5EF4-FFF2-40B4-BE49-F238E27FC236}">
                <a16:creationId xmlns:a16="http://schemas.microsoft.com/office/drawing/2014/main" id="{26472AEE-E9EE-4784-7764-EFE012B96BAE}"/>
              </a:ext>
            </a:extLst>
          </p:cNvPr>
          <p:cNvSpPr txBox="1"/>
          <p:nvPr/>
        </p:nvSpPr>
        <p:spPr>
          <a:xfrm>
            <a:off x="9855200" y="4318000"/>
            <a:ext cx="838200" cy="276999"/>
          </a:xfrm>
          <a:prstGeom prst="rect">
            <a:avLst/>
          </a:prstGeom>
          <a:noFill/>
        </p:spPr>
        <p:txBody>
          <a:bodyPr vert="horz" wrap="square" lIns="0" tIns="0" rIns="0" bIns="0" rtlCol="0">
            <a:noAutofit/>
          </a:bodyPr>
          <a:lstStyle/>
          <a:p>
            <a:r>
              <a:rPr lang="en-US" altLang="zh-CN" sz="650">
                <a:solidFill>
                  <a:srgbClr val="4A5B78"/>
                </a:solidFill>
                <a:latin typeface="Aptos" panose="020B0004020202020204" pitchFamily="34" charset="0"/>
              </a:rPr>
              <a:t>owner evidence</a:t>
            </a:r>
            <a:endParaRPr lang="zh-CN" altLang="en-US" sz="650">
              <a:solidFill>
                <a:srgbClr val="4A5B78"/>
              </a:solidFill>
              <a:latin typeface="Aptos" panose="020B0004020202020204" pitchFamily="34" charset="0"/>
            </a:endParaRPr>
          </a:p>
        </p:txBody>
      </p:sp>
      <p:sp>
        <p:nvSpPr>
          <p:cNvPr id="47" name="road-4">
            <a:extLst>
              <a:ext uri="{FF2B5EF4-FFF2-40B4-BE49-F238E27FC236}">
                <a16:creationId xmlns:a16="http://schemas.microsoft.com/office/drawing/2014/main" id="{8FA2C5C6-6B73-7507-5DE7-AA47F7318742}"/>
              </a:ext>
            </a:extLst>
          </p:cNvPr>
          <p:cNvSpPr/>
          <p:nvPr/>
        </p:nvSpPr>
        <p:spPr>
          <a:xfrm>
            <a:off x="6172200" y="4775200"/>
            <a:ext cx="47752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road-band-4">
            <a:extLst>
              <a:ext uri="{FF2B5EF4-FFF2-40B4-BE49-F238E27FC236}">
                <a16:creationId xmlns:a16="http://schemas.microsoft.com/office/drawing/2014/main" id="{6DA3A561-F09A-BF43-8FEB-08E57E274BE1}"/>
              </a:ext>
            </a:extLst>
          </p:cNvPr>
          <p:cNvSpPr/>
          <p:nvPr/>
        </p:nvSpPr>
        <p:spPr>
          <a:xfrm>
            <a:off x="6172200" y="4775200"/>
            <a:ext cx="76200" cy="4064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road-type-4">
            <a:extLst>
              <a:ext uri="{FF2B5EF4-FFF2-40B4-BE49-F238E27FC236}">
                <a16:creationId xmlns:a16="http://schemas.microsoft.com/office/drawing/2014/main" id="{400A09D7-16F7-C648-7808-05CBA0BEF720}"/>
              </a:ext>
            </a:extLst>
          </p:cNvPr>
          <p:cNvSpPr txBox="1"/>
          <p:nvPr/>
        </p:nvSpPr>
        <p:spPr>
          <a:xfrm>
            <a:off x="6426200" y="4889500"/>
            <a:ext cx="838200" cy="276999"/>
          </a:xfrm>
          <a:prstGeom prst="rect">
            <a:avLst/>
          </a:prstGeom>
          <a:noFill/>
        </p:spPr>
        <p:txBody>
          <a:bodyPr vert="horz" wrap="square" lIns="0" tIns="0" rIns="0" bIns="0" rtlCol="0">
            <a:noAutofit/>
          </a:bodyPr>
          <a:lstStyle/>
          <a:p>
            <a:r>
              <a:rPr lang="en-US" altLang="zh-CN" sz="680" b="1">
                <a:solidFill>
                  <a:srgbClr val="4A5B78"/>
                </a:solidFill>
                <a:latin typeface="Aptos" panose="020B0004020202020204" pitchFamily="34" charset="0"/>
              </a:rPr>
              <a:t>Security</a:t>
            </a:r>
            <a:endParaRPr lang="zh-CN" altLang="en-US" sz="680" b="1">
              <a:solidFill>
                <a:srgbClr val="4A5B78"/>
              </a:solidFill>
              <a:latin typeface="Aptos" panose="020B0004020202020204" pitchFamily="34" charset="0"/>
            </a:endParaRPr>
          </a:p>
        </p:txBody>
      </p:sp>
      <p:sp>
        <p:nvSpPr>
          <p:cNvPr id="50" name="road-title-4">
            <a:extLst>
              <a:ext uri="{FF2B5EF4-FFF2-40B4-BE49-F238E27FC236}">
                <a16:creationId xmlns:a16="http://schemas.microsoft.com/office/drawing/2014/main" id="{BDDF9E93-C108-E495-1326-73F5C1CC889F}"/>
              </a:ext>
            </a:extLst>
          </p:cNvPr>
          <p:cNvSpPr txBox="1"/>
          <p:nvPr/>
        </p:nvSpPr>
        <p:spPr>
          <a:xfrm>
            <a:off x="7442200" y="4876800"/>
            <a:ext cx="1371600" cy="276999"/>
          </a:xfrm>
          <a:prstGeom prst="rect">
            <a:avLst/>
          </a:prstGeom>
          <a:noFill/>
        </p:spPr>
        <p:txBody>
          <a:bodyPr vert="horz" wrap="square" lIns="0" tIns="0" rIns="0" bIns="0" rtlCol="0">
            <a:noAutofit/>
          </a:bodyPr>
          <a:lstStyle/>
          <a:p>
            <a:r>
              <a:rPr lang="en-US" altLang="zh-CN" sz="770" b="1">
                <a:solidFill>
                  <a:srgbClr val="1F7A4D"/>
                </a:solidFill>
                <a:latin typeface="Aptos" panose="020B0004020202020204" pitchFamily="34" charset="0"/>
              </a:rPr>
              <a:t>SealAudit</a:t>
            </a:r>
            <a:endParaRPr lang="zh-CN" altLang="en-US" sz="770" b="1">
              <a:solidFill>
                <a:srgbClr val="1F7A4D"/>
              </a:solidFill>
              <a:latin typeface="Aptos" panose="020B0004020202020204" pitchFamily="34" charset="0"/>
            </a:endParaRPr>
          </a:p>
        </p:txBody>
      </p:sp>
      <p:sp>
        <p:nvSpPr>
          <p:cNvPr id="51" name="road-target-4">
            <a:extLst>
              <a:ext uri="{FF2B5EF4-FFF2-40B4-BE49-F238E27FC236}">
                <a16:creationId xmlns:a16="http://schemas.microsoft.com/office/drawing/2014/main" id="{CBF58104-42B2-CF61-B5A7-EBA20B973604}"/>
              </a:ext>
            </a:extLst>
          </p:cNvPr>
          <p:cNvSpPr/>
          <p:nvPr/>
        </p:nvSpPr>
        <p:spPr>
          <a:xfrm>
            <a:off x="8991600" y="48641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road-targett-4">
            <a:extLst>
              <a:ext uri="{FF2B5EF4-FFF2-40B4-BE49-F238E27FC236}">
                <a16:creationId xmlns:a16="http://schemas.microsoft.com/office/drawing/2014/main" id="{216AE32F-8DED-F4E4-45F4-A451BE1932FA}"/>
              </a:ext>
            </a:extLst>
          </p:cNvPr>
          <p:cNvSpPr txBox="1"/>
          <p:nvPr/>
        </p:nvSpPr>
        <p:spPr>
          <a:xfrm>
            <a:off x="9118600" y="4927600"/>
            <a:ext cx="431800" cy="276999"/>
          </a:xfrm>
          <a:prstGeom prst="rect">
            <a:avLst/>
          </a:prstGeom>
          <a:noFill/>
        </p:spPr>
        <p:txBody>
          <a:bodyPr vert="horz" wrap="square" lIns="0" tIns="0" rIns="0" bIns="0" rtlCol="0">
            <a:noAutofit/>
          </a:bodyPr>
          <a:lstStyle/>
          <a:p>
            <a:r>
              <a:rPr lang="en-US" altLang="zh-CN" sz="630" b="1">
                <a:solidFill>
                  <a:srgbClr val="003B7A"/>
                </a:solidFill>
                <a:latin typeface="Aptos" panose="020B0004020202020204" pitchFamily="34" charset="0"/>
              </a:rPr>
              <a:t>EMNLP</a:t>
            </a:r>
            <a:endParaRPr lang="zh-CN" altLang="en-US" sz="630" b="1">
              <a:solidFill>
                <a:srgbClr val="003B7A"/>
              </a:solidFill>
              <a:latin typeface="Aptos" panose="020B0004020202020204" pitchFamily="34" charset="0"/>
            </a:endParaRPr>
          </a:p>
        </p:txBody>
      </p:sp>
      <p:sp>
        <p:nvSpPr>
          <p:cNvPr id="53" name="road-sub-4">
            <a:extLst>
              <a:ext uri="{FF2B5EF4-FFF2-40B4-BE49-F238E27FC236}">
                <a16:creationId xmlns:a16="http://schemas.microsoft.com/office/drawing/2014/main" id="{2965067E-7096-0D7A-2A47-AEC5109F3DB4}"/>
              </a:ext>
            </a:extLst>
          </p:cNvPr>
          <p:cNvSpPr txBox="1"/>
          <p:nvPr/>
        </p:nvSpPr>
        <p:spPr>
          <a:xfrm>
            <a:off x="9855200" y="4889500"/>
            <a:ext cx="838200" cy="276999"/>
          </a:xfrm>
          <a:prstGeom prst="rect">
            <a:avLst/>
          </a:prstGeom>
          <a:noFill/>
        </p:spPr>
        <p:txBody>
          <a:bodyPr vert="horz" wrap="square" lIns="0" tIns="0" rIns="0" bIns="0" rtlCol="0">
            <a:noAutofit/>
          </a:bodyPr>
          <a:lstStyle/>
          <a:p>
            <a:r>
              <a:rPr lang="en-US" altLang="zh-CN" sz="650">
                <a:solidFill>
                  <a:srgbClr val="4A5B78"/>
                </a:solidFill>
                <a:latin typeface="Aptos" panose="020B0004020202020204" pitchFamily="34" charset="0"/>
              </a:rPr>
              <a:t>selective triage</a:t>
            </a:r>
            <a:endParaRPr lang="zh-CN" altLang="en-US" sz="650">
              <a:solidFill>
                <a:srgbClr val="4A5B78"/>
              </a:solidFill>
              <a:latin typeface="Aptos" panose="020B0004020202020204" pitchFamily="34" charset="0"/>
            </a:endParaRPr>
          </a:p>
        </p:txBody>
      </p:sp>
      <p:sp>
        <p:nvSpPr>
          <p:cNvPr id="54" name="own">
            <a:extLst>
              <a:ext uri="{FF2B5EF4-FFF2-40B4-BE49-F238E27FC236}">
                <a16:creationId xmlns:a16="http://schemas.microsoft.com/office/drawing/2014/main" id="{0AD987A5-0B02-1CAB-6596-8111C3AE2194}"/>
              </a:ext>
            </a:extLst>
          </p:cNvPr>
          <p:cNvSpPr/>
          <p:nvPr/>
        </p:nvSpPr>
        <p:spPr>
          <a:xfrm>
            <a:off x="1727200" y="5486400"/>
            <a:ext cx="8737600" cy="4064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own-t">
            <a:extLst>
              <a:ext uri="{FF2B5EF4-FFF2-40B4-BE49-F238E27FC236}">
                <a16:creationId xmlns:a16="http://schemas.microsoft.com/office/drawing/2014/main" id="{FE59AA14-60A0-94A8-5805-E7711F6D8177}"/>
              </a:ext>
            </a:extLst>
          </p:cNvPr>
          <p:cNvSpPr txBox="1"/>
          <p:nvPr/>
        </p:nvSpPr>
        <p:spPr>
          <a:xfrm>
            <a:off x="2108200" y="5600700"/>
            <a:ext cx="7975600" cy="276999"/>
          </a:xfrm>
          <a:prstGeom prst="rect">
            <a:avLst/>
          </a:prstGeom>
          <a:noFill/>
        </p:spPr>
        <p:txBody>
          <a:bodyPr vert="horz" wrap="square" lIns="0" tIns="0" rIns="0" bIns="0" rtlCol="0">
            <a:noAutofit/>
          </a:bodyPr>
          <a:lstStyle/>
          <a:p>
            <a:r>
              <a:rPr lang="en-US" altLang="zh-CN" sz="760" b="1">
                <a:solidFill>
                  <a:srgbClr val="071A3D"/>
                </a:solidFill>
                <a:latin typeface="Aptos" panose="020B0004020202020204" pitchFamily="34" charset="0"/>
              </a:rPr>
              <a:t>Boundary: submitted FYP work is individual; later writing collaborations are outside the submitted artifact.</a:t>
            </a:r>
            <a:endParaRPr lang="zh-CN" altLang="en-US" sz="760" b="1">
              <a:solidFill>
                <a:srgbClr val="071A3D"/>
              </a:solidFill>
              <a:latin typeface="Aptos" panose="020B0004020202020204" pitchFamily="34" charset="0"/>
            </a:endParaRPr>
          </a:p>
        </p:txBody>
      </p:sp>
      <p:sp>
        <p:nvSpPr>
          <p:cNvPr id="56" name="footer-hit-12">
            <a:hlinkClick r:id="rId4"/>
            <a:extLst>
              <a:ext uri="{FF2B5EF4-FFF2-40B4-BE49-F238E27FC236}">
                <a16:creationId xmlns:a16="http://schemas.microsoft.com/office/drawing/2014/main" id="{170E5199-700D-B1FB-8116-9608EE772F99}"/>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750435010"/>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60"/>
                                        <p:tgtEl>
                                          <p:spTgt spid="19"/>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60"/>
                                        <p:tgtEl>
                                          <p:spTgt spid="20"/>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160"/>
                                        <p:tgtEl>
                                          <p:spTgt spid="21"/>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160"/>
                                        <p:tgtEl>
                                          <p:spTgt spid="22"/>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160"/>
                                        <p:tgtEl>
                                          <p:spTgt spid="23"/>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160"/>
                                        <p:tgtEl>
                                          <p:spTgt spid="24"/>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160"/>
                                        <p:tgtEl>
                                          <p:spTgt spid="25"/>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160"/>
                                        <p:tgtEl>
                                          <p:spTgt spid="26"/>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160"/>
                                        <p:tgtEl>
                                          <p:spTgt spid="27"/>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160"/>
                                        <p:tgtEl>
                                          <p:spTgt spid="28"/>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160"/>
                                        <p:tgtEl>
                                          <p:spTgt spid="29"/>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160"/>
                                        <p:tgtEl>
                                          <p:spTgt spid="30"/>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160"/>
                                        <p:tgtEl>
                                          <p:spTgt spid="31"/>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160"/>
                                        <p:tgtEl>
                                          <p:spTgt spid="32"/>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160"/>
                                        <p:tgtEl>
                                          <p:spTgt spid="33"/>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160"/>
                                        <p:tgtEl>
                                          <p:spTgt spid="34"/>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160"/>
                                        <p:tgtEl>
                                          <p:spTgt spid="35"/>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160"/>
                                        <p:tgtEl>
                                          <p:spTgt spid="36"/>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fade">
                                      <p:cBhvr>
                                        <p:cTn id="79" dur="160"/>
                                        <p:tgtEl>
                                          <p:spTgt spid="37"/>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8"/>
                                        </p:tgtEl>
                                        <p:attrNameLst>
                                          <p:attrName>style.visibility</p:attrName>
                                        </p:attrNameLst>
                                      </p:cBhvr>
                                      <p:to>
                                        <p:strVal val="visible"/>
                                      </p:to>
                                    </p:set>
                                    <p:animEffect transition="in" filter="fade">
                                      <p:cBhvr>
                                        <p:cTn id="83" dur="160"/>
                                        <p:tgtEl>
                                          <p:spTgt spid="38"/>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9"/>
                                        </p:tgtEl>
                                        <p:attrNameLst>
                                          <p:attrName>style.visibility</p:attrName>
                                        </p:attrNameLst>
                                      </p:cBhvr>
                                      <p:to>
                                        <p:strVal val="visible"/>
                                      </p:to>
                                    </p:set>
                                    <p:animEffect transition="in" filter="fade">
                                      <p:cBhvr>
                                        <p:cTn id="87" dur="160"/>
                                        <p:tgtEl>
                                          <p:spTgt spid="39"/>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160"/>
                                        <p:tgtEl>
                                          <p:spTgt spid="40"/>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41"/>
                                        </p:tgtEl>
                                        <p:attrNameLst>
                                          <p:attrName>style.visibility</p:attrName>
                                        </p:attrNameLst>
                                      </p:cBhvr>
                                      <p:to>
                                        <p:strVal val="visible"/>
                                      </p:to>
                                    </p:set>
                                    <p:animEffect transition="in" filter="fade">
                                      <p:cBhvr>
                                        <p:cTn id="95" dur="160"/>
                                        <p:tgtEl>
                                          <p:spTgt spid="41"/>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42"/>
                                        </p:tgtEl>
                                        <p:attrNameLst>
                                          <p:attrName>style.visibility</p:attrName>
                                        </p:attrNameLst>
                                      </p:cBhvr>
                                      <p:to>
                                        <p:strVal val="visible"/>
                                      </p:to>
                                    </p:set>
                                    <p:animEffect transition="in" filter="fade">
                                      <p:cBhvr>
                                        <p:cTn id="99" dur="160"/>
                                        <p:tgtEl>
                                          <p:spTgt spid="42"/>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43"/>
                                        </p:tgtEl>
                                        <p:attrNameLst>
                                          <p:attrName>style.visibility</p:attrName>
                                        </p:attrNameLst>
                                      </p:cBhvr>
                                      <p:to>
                                        <p:strVal val="visible"/>
                                      </p:to>
                                    </p:set>
                                    <p:animEffect transition="in" filter="fade">
                                      <p:cBhvr>
                                        <p:cTn id="103" dur="160"/>
                                        <p:tgtEl>
                                          <p:spTgt spid="43"/>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44"/>
                                        </p:tgtEl>
                                        <p:attrNameLst>
                                          <p:attrName>style.visibility</p:attrName>
                                        </p:attrNameLst>
                                      </p:cBhvr>
                                      <p:to>
                                        <p:strVal val="visible"/>
                                      </p:to>
                                    </p:set>
                                    <p:animEffect transition="in" filter="fade">
                                      <p:cBhvr>
                                        <p:cTn id="107" dur="160"/>
                                        <p:tgtEl>
                                          <p:spTgt spid="44"/>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45"/>
                                        </p:tgtEl>
                                        <p:attrNameLst>
                                          <p:attrName>style.visibility</p:attrName>
                                        </p:attrNameLst>
                                      </p:cBhvr>
                                      <p:to>
                                        <p:strVal val="visible"/>
                                      </p:to>
                                    </p:set>
                                    <p:animEffect transition="in" filter="fade">
                                      <p:cBhvr>
                                        <p:cTn id="111" dur="160"/>
                                        <p:tgtEl>
                                          <p:spTgt spid="45"/>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160"/>
                                        <p:tgtEl>
                                          <p:spTgt spid="46"/>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7"/>
                                        </p:tgtEl>
                                        <p:attrNameLst>
                                          <p:attrName>style.visibility</p:attrName>
                                        </p:attrNameLst>
                                      </p:cBhvr>
                                      <p:to>
                                        <p:strVal val="visible"/>
                                      </p:to>
                                    </p:set>
                                    <p:animEffect transition="in" filter="fade">
                                      <p:cBhvr>
                                        <p:cTn id="119" dur="160"/>
                                        <p:tgtEl>
                                          <p:spTgt spid="47"/>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8"/>
                                        </p:tgtEl>
                                        <p:attrNameLst>
                                          <p:attrName>style.visibility</p:attrName>
                                        </p:attrNameLst>
                                      </p:cBhvr>
                                      <p:to>
                                        <p:strVal val="visible"/>
                                      </p:to>
                                    </p:set>
                                    <p:animEffect transition="in" filter="fade">
                                      <p:cBhvr>
                                        <p:cTn id="123" dur="160"/>
                                        <p:tgtEl>
                                          <p:spTgt spid="48"/>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9"/>
                                        </p:tgtEl>
                                        <p:attrNameLst>
                                          <p:attrName>style.visibility</p:attrName>
                                        </p:attrNameLst>
                                      </p:cBhvr>
                                      <p:to>
                                        <p:strVal val="visible"/>
                                      </p:to>
                                    </p:set>
                                    <p:animEffect transition="in" filter="fade">
                                      <p:cBhvr>
                                        <p:cTn id="127" dur="160"/>
                                        <p:tgtEl>
                                          <p:spTgt spid="49"/>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50"/>
                                        </p:tgtEl>
                                        <p:attrNameLst>
                                          <p:attrName>style.visibility</p:attrName>
                                        </p:attrNameLst>
                                      </p:cBhvr>
                                      <p:to>
                                        <p:strVal val="visible"/>
                                      </p:to>
                                    </p:set>
                                    <p:animEffect transition="in" filter="fade">
                                      <p:cBhvr>
                                        <p:cTn id="131" dur="160"/>
                                        <p:tgtEl>
                                          <p:spTgt spid="50"/>
                                        </p:tgtEl>
                                      </p:cBhvr>
                                    </p:animEffect>
                                  </p:childTnLst>
                                </p:cTn>
                              </p:par>
                            </p:childTnLst>
                          </p:cTn>
                        </p:par>
                        <p:par>
                          <p:cTn id="132" fill="hold">
                            <p:stCondLst>
                              <p:cond delay="5120"/>
                            </p:stCondLst>
                            <p:childTnLst>
                              <p:par>
                                <p:cTn id="133" presetID="10" presetClass="entr" presetSubtype="0" fill="hold" grpId="0" nodeType="afterEffect">
                                  <p:stCondLst>
                                    <p:cond delay="0"/>
                                  </p:stCondLst>
                                  <p:childTnLst>
                                    <p:set>
                                      <p:cBhvr>
                                        <p:cTn id="134" dur="1" fill="hold">
                                          <p:stCondLst>
                                            <p:cond delay="0"/>
                                          </p:stCondLst>
                                        </p:cTn>
                                        <p:tgtEl>
                                          <p:spTgt spid="51"/>
                                        </p:tgtEl>
                                        <p:attrNameLst>
                                          <p:attrName>style.visibility</p:attrName>
                                        </p:attrNameLst>
                                      </p:cBhvr>
                                      <p:to>
                                        <p:strVal val="visible"/>
                                      </p:to>
                                    </p:set>
                                    <p:animEffect transition="in" filter="fade">
                                      <p:cBhvr>
                                        <p:cTn id="135" dur="160"/>
                                        <p:tgtEl>
                                          <p:spTgt spid="51"/>
                                        </p:tgtEl>
                                      </p:cBhvr>
                                    </p:animEffect>
                                  </p:childTnLst>
                                </p:cTn>
                              </p:par>
                            </p:childTnLst>
                          </p:cTn>
                        </p:par>
                        <p:par>
                          <p:cTn id="136" fill="hold">
                            <p:stCondLst>
                              <p:cond delay="5280"/>
                            </p:stCondLst>
                            <p:childTnLst>
                              <p:par>
                                <p:cTn id="137" presetID="10" presetClass="entr" presetSubtype="0" fill="hold" grpId="0" nodeType="afterEffect">
                                  <p:stCondLst>
                                    <p:cond delay="0"/>
                                  </p:stCondLst>
                                  <p:childTnLst>
                                    <p:set>
                                      <p:cBhvr>
                                        <p:cTn id="138" dur="1" fill="hold">
                                          <p:stCondLst>
                                            <p:cond delay="0"/>
                                          </p:stCondLst>
                                        </p:cTn>
                                        <p:tgtEl>
                                          <p:spTgt spid="52"/>
                                        </p:tgtEl>
                                        <p:attrNameLst>
                                          <p:attrName>style.visibility</p:attrName>
                                        </p:attrNameLst>
                                      </p:cBhvr>
                                      <p:to>
                                        <p:strVal val="visible"/>
                                      </p:to>
                                    </p:set>
                                    <p:animEffect transition="in" filter="fade">
                                      <p:cBhvr>
                                        <p:cTn id="139" dur="160"/>
                                        <p:tgtEl>
                                          <p:spTgt spid="52"/>
                                        </p:tgtEl>
                                      </p:cBhvr>
                                    </p:animEffect>
                                  </p:childTnLst>
                                </p:cTn>
                              </p:par>
                            </p:childTnLst>
                          </p:cTn>
                        </p:par>
                        <p:par>
                          <p:cTn id="140" fill="hold">
                            <p:stCondLst>
                              <p:cond delay="5440"/>
                            </p:stCondLst>
                            <p:childTnLst>
                              <p:par>
                                <p:cTn id="141" presetID="10" presetClass="entr" presetSubtype="0" fill="hold" grpId="0" nodeType="afterEffect">
                                  <p:stCondLst>
                                    <p:cond delay="0"/>
                                  </p:stCondLst>
                                  <p:childTnLst>
                                    <p:set>
                                      <p:cBhvr>
                                        <p:cTn id="142" dur="1" fill="hold">
                                          <p:stCondLst>
                                            <p:cond delay="0"/>
                                          </p:stCondLst>
                                        </p:cTn>
                                        <p:tgtEl>
                                          <p:spTgt spid="53"/>
                                        </p:tgtEl>
                                        <p:attrNameLst>
                                          <p:attrName>style.visibility</p:attrName>
                                        </p:attrNameLst>
                                      </p:cBhvr>
                                      <p:to>
                                        <p:strVal val="visible"/>
                                      </p:to>
                                    </p:set>
                                    <p:animEffect transition="in" filter="fade">
                                      <p:cBhvr>
                                        <p:cTn id="143" dur="160"/>
                                        <p:tgtEl>
                                          <p:spTgt spid="53"/>
                                        </p:tgtEl>
                                      </p:cBhvr>
                                    </p:animEffect>
                                  </p:childTnLst>
                                </p:cTn>
                              </p:par>
                            </p:childTnLst>
                          </p:cTn>
                        </p:par>
                        <p:par>
                          <p:cTn id="144" fill="hold">
                            <p:stCondLst>
                              <p:cond delay="5600"/>
                            </p:stCondLst>
                            <p:childTnLst>
                              <p:par>
                                <p:cTn id="145" presetID="10" presetClass="entr" presetSubtype="0" fill="hold" grpId="0" nodeType="afterEffect">
                                  <p:stCondLst>
                                    <p:cond delay="0"/>
                                  </p:stCondLst>
                                  <p:childTnLst>
                                    <p:set>
                                      <p:cBhvr>
                                        <p:cTn id="146" dur="1" fill="hold">
                                          <p:stCondLst>
                                            <p:cond delay="0"/>
                                          </p:stCondLst>
                                        </p:cTn>
                                        <p:tgtEl>
                                          <p:spTgt spid="54"/>
                                        </p:tgtEl>
                                        <p:attrNameLst>
                                          <p:attrName>style.visibility</p:attrName>
                                        </p:attrNameLst>
                                      </p:cBhvr>
                                      <p:to>
                                        <p:strVal val="visible"/>
                                      </p:to>
                                    </p:set>
                                    <p:animEffect transition="in" filter="fade">
                                      <p:cBhvr>
                                        <p:cTn id="147" dur="160"/>
                                        <p:tgtEl>
                                          <p:spTgt spid="54"/>
                                        </p:tgtEl>
                                      </p:cBhvr>
                                    </p:animEffect>
                                  </p:childTnLst>
                                </p:cTn>
                              </p:par>
                            </p:childTnLst>
                          </p:cTn>
                        </p:par>
                        <p:par>
                          <p:cTn id="148" fill="hold">
                            <p:stCondLst>
                              <p:cond delay="5760"/>
                            </p:stCondLst>
                            <p:childTnLst>
                              <p:par>
                                <p:cTn id="149" presetID="10" presetClass="entr" presetSubtype="0" fill="hold" grpId="0" nodeType="afterEffect">
                                  <p:stCondLst>
                                    <p:cond delay="0"/>
                                  </p:stCondLst>
                                  <p:childTnLst>
                                    <p:set>
                                      <p:cBhvr>
                                        <p:cTn id="150" dur="1" fill="hold">
                                          <p:stCondLst>
                                            <p:cond delay="0"/>
                                          </p:stCondLst>
                                        </p:cTn>
                                        <p:tgtEl>
                                          <p:spTgt spid="55"/>
                                        </p:tgtEl>
                                        <p:attrNameLst>
                                          <p:attrName>style.visibility</p:attrName>
                                        </p:attrNameLst>
                                      </p:cBhvr>
                                      <p:to>
                                        <p:strVal val="visible"/>
                                      </p:to>
                                    </p:set>
                                    <p:animEffect transition="in" filter="fade">
                                      <p:cBhvr>
                                        <p:cTn id="151" dur="16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p:bldP spid="22" grpId="0"/>
      <p:bldP spid="23" grpId="0" animBg="1"/>
      <p:bldP spid="24" grpId="0"/>
      <p:bldP spid="25" grpId="0"/>
      <p:bldP spid="26" grpId="0" animBg="1"/>
      <p:bldP spid="27" grpId="0" animBg="1"/>
      <p:bldP spid="28" grpId="0"/>
      <p:bldP spid="29" grpId="0"/>
      <p:bldP spid="30" grpId="0" animBg="1"/>
      <p:bldP spid="31" grpId="0"/>
      <p:bldP spid="32" grpId="0"/>
      <p:bldP spid="33" grpId="0" animBg="1"/>
      <p:bldP spid="34" grpId="0" animBg="1"/>
      <p:bldP spid="35" grpId="0"/>
      <p:bldP spid="36" grpId="0"/>
      <p:bldP spid="37" grpId="0" animBg="1"/>
      <p:bldP spid="38" grpId="0"/>
      <p:bldP spid="39" grpId="0"/>
      <p:bldP spid="40" grpId="0" animBg="1"/>
      <p:bldP spid="41" grpId="0" animBg="1"/>
      <p:bldP spid="42" grpId="0"/>
      <p:bldP spid="43" grpId="0"/>
      <p:bldP spid="44" grpId="0" animBg="1"/>
      <p:bldP spid="45" grpId="0"/>
      <p:bldP spid="46" grpId="0"/>
      <p:bldP spid="47" grpId="0" animBg="1"/>
      <p:bldP spid="48" grpId="0" animBg="1"/>
      <p:bldP spid="49" grpId="0"/>
      <p:bldP spid="50" grpId="0"/>
      <p:bldP spid="51" grpId="0" animBg="1"/>
      <p:bldP spid="52" grpId="0"/>
      <p:bldP spid="53" grpId="0"/>
      <p:bldP spid="54" grpId="0" animBg="1"/>
      <p:bldP spid="5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A1A92793-E9B7-FFC6-51A5-7CA5432E2325}"/>
              </a:ext>
            </a:extLst>
          </p:cNvPr>
          <p:cNvSpPr/>
          <p:nvPr/>
        </p:nvSpPr>
        <p:spPr>
          <a:xfrm>
            <a:off x="0" y="0"/>
            <a:ext cx="121920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side-shade">
            <a:extLst>
              <a:ext uri="{FF2B5EF4-FFF2-40B4-BE49-F238E27FC236}">
                <a16:creationId xmlns:a16="http://schemas.microsoft.com/office/drawing/2014/main" id="{202A730F-32DA-40A1-D180-AB067F47BA4A}"/>
              </a:ext>
            </a:extLst>
          </p:cNvPr>
          <p:cNvSpPr/>
          <p:nvPr/>
        </p:nvSpPr>
        <p:spPr>
          <a:xfrm>
            <a:off x="0" y="0"/>
            <a:ext cx="4191000" cy="6858000"/>
          </a:xfrm>
          <a:prstGeom prst="rect">
            <a:avLst/>
          </a:prstGeom>
          <a:solidFill>
            <a:srgbClr val="002D6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cover-rule">
            <a:extLst>
              <a:ext uri="{FF2B5EF4-FFF2-40B4-BE49-F238E27FC236}">
                <a16:creationId xmlns:a16="http://schemas.microsoft.com/office/drawing/2014/main" id="{4656AA15-3039-AE67-B4EF-D83B0894D104}"/>
              </a:ext>
            </a:extLst>
          </p:cNvPr>
          <p:cNvCxnSpPr/>
          <p:nvPr/>
        </p:nvCxnSpPr>
        <p:spPr>
          <a:xfrm>
            <a:off x="4470400" y="0"/>
            <a:ext cx="0" cy="6858000"/>
          </a:xfrm>
          <a:prstGeom prst="line">
            <a:avLst/>
          </a:prstGeom>
          <a:ln w="13970">
            <a:solidFill>
              <a:srgbClr val="386FB0"/>
            </a:solidFill>
          </a:ln>
        </p:spPr>
        <p:style>
          <a:lnRef idx="1">
            <a:schemeClr val="accent1"/>
          </a:lnRef>
          <a:fillRef idx="0">
            <a:schemeClr val="accent1"/>
          </a:fillRef>
          <a:effectRef idx="0">
            <a:schemeClr val="accent1"/>
          </a:effectRef>
          <a:fontRef idx="minor">
            <a:schemeClr val="tx1"/>
          </a:fontRef>
        </p:style>
      </p:cxnSp>
      <p:pic>
        <p:nvPicPr>
          <p:cNvPr id="6" name="图片 5">
            <a:extLst>
              <a:ext uri="{FF2B5EF4-FFF2-40B4-BE49-F238E27FC236}">
                <a16:creationId xmlns:a16="http://schemas.microsoft.com/office/drawing/2014/main" id="{EF3D06A3-F405-2B71-C470-7F775898528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7" name="thanks">
            <a:extLst>
              <a:ext uri="{FF2B5EF4-FFF2-40B4-BE49-F238E27FC236}">
                <a16:creationId xmlns:a16="http://schemas.microsoft.com/office/drawing/2014/main" id="{2FE20F95-FACF-C810-90DB-4358B1DBA870}"/>
              </a:ext>
            </a:extLst>
          </p:cNvPr>
          <p:cNvSpPr txBox="1"/>
          <p:nvPr/>
        </p:nvSpPr>
        <p:spPr>
          <a:xfrm>
            <a:off x="5003800" y="1422400"/>
            <a:ext cx="4826000" cy="276999"/>
          </a:xfrm>
          <a:prstGeom prst="rect">
            <a:avLst/>
          </a:prstGeom>
          <a:noFill/>
        </p:spPr>
        <p:txBody>
          <a:bodyPr vert="horz" wrap="square" lIns="0" tIns="0" rIns="0" bIns="0" rtlCol="0">
            <a:noAutofit/>
          </a:bodyPr>
          <a:lstStyle/>
          <a:p>
            <a:r>
              <a:rPr lang="en-US" altLang="zh-CN" sz="4600" b="1">
                <a:solidFill>
                  <a:srgbClr val="FFFFFF"/>
                </a:solidFill>
                <a:latin typeface="Aptos" panose="020B0004020202020204" pitchFamily="34" charset="0"/>
              </a:rPr>
              <a:t>Thank you</a:t>
            </a:r>
            <a:endParaRPr lang="zh-CN" altLang="en-US" sz="4600" b="1">
              <a:solidFill>
                <a:srgbClr val="FFFFFF"/>
              </a:solidFill>
              <a:latin typeface="Aptos" panose="020B0004020202020204" pitchFamily="34" charset="0"/>
            </a:endParaRPr>
          </a:p>
        </p:txBody>
      </p:sp>
      <p:sp>
        <p:nvSpPr>
          <p:cNvPr id="8" name="q">
            <a:extLst>
              <a:ext uri="{FF2B5EF4-FFF2-40B4-BE49-F238E27FC236}">
                <a16:creationId xmlns:a16="http://schemas.microsoft.com/office/drawing/2014/main" id="{ACF6529C-4B86-1A72-79D5-399D60A33CC5}"/>
              </a:ext>
            </a:extLst>
          </p:cNvPr>
          <p:cNvSpPr txBox="1"/>
          <p:nvPr/>
        </p:nvSpPr>
        <p:spPr>
          <a:xfrm>
            <a:off x="5054600" y="2387600"/>
            <a:ext cx="2794000" cy="276999"/>
          </a:xfrm>
          <a:prstGeom prst="rect">
            <a:avLst/>
          </a:prstGeom>
          <a:noFill/>
        </p:spPr>
        <p:txBody>
          <a:bodyPr vert="horz" wrap="square" lIns="0" tIns="0" rIns="0" bIns="0" rtlCol="0">
            <a:noAutofit/>
          </a:bodyPr>
          <a:lstStyle/>
          <a:p>
            <a:r>
              <a:rPr lang="en-US" altLang="zh-CN" sz="2200" b="1">
                <a:solidFill>
                  <a:srgbClr val="DCEBFC"/>
                </a:solidFill>
                <a:latin typeface="Aptos" panose="020B0004020202020204" pitchFamily="34" charset="0"/>
              </a:rPr>
              <a:t>Questions?</a:t>
            </a:r>
            <a:endParaRPr lang="zh-CN" altLang="en-US" sz="2200" b="1">
              <a:solidFill>
                <a:srgbClr val="DCEBFC"/>
              </a:solidFill>
              <a:latin typeface="Aptos" panose="020B0004020202020204" pitchFamily="34" charset="0"/>
            </a:endParaRPr>
          </a:p>
        </p:txBody>
      </p:sp>
      <p:cxnSp>
        <p:nvCxnSpPr>
          <p:cNvPr id="9" name="qrule">
            <a:extLst>
              <a:ext uri="{FF2B5EF4-FFF2-40B4-BE49-F238E27FC236}">
                <a16:creationId xmlns:a16="http://schemas.microsoft.com/office/drawing/2014/main" id="{A02D1D23-2868-DE2D-1F77-6B8BB5075F44}"/>
              </a:ext>
            </a:extLst>
          </p:cNvPr>
          <p:cNvCxnSpPr/>
          <p:nvPr/>
        </p:nvCxnSpPr>
        <p:spPr>
          <a:xfrm>
            <a:off x="5054600" y="3149600"/>
            <a:ext cx="4978400" cy="0"/>
          </a:xfrm>
          <a:prstGeom prst="line">
            <a:avLst/>
          </a:prstGeom>
          <a:ln w="15240">
            <a:solidFill>
              <a:srgbClr val="B5D3F5"/>
            </a:solidFill>
          </a:ln>
        </p:spPr>
        <p:style>
          <a:lnRef idx="1">
            <a:schemeClr val="accent1"/>
          </a:lnRef>
          <a:fillRef idx="0">
            <a:schemeClr val="accent1"/>
          </a:fillRef>
          <a:effectRef idx="0">
            <a:schemeClr val="accent1"/>
          </a:effectRef>
          <a:fontRef idx="minor">
            <a:schemeClr val="tx1"/>
          </a:fontRef>
        </p:style>
      </p:cxnSp>
      <p:sp>
        <p:nvSpPr>
          <p:cNvPr id="10" name="anchor1">
            <a:extLst>
              <a:ext uri="{FF2B5EF4-FFF2-40B4-BE49-F238E27FC236}">
                <a16:creationId xmlns:a16="http://schemas.microsoft.com/office/drawing/2014/main" id="{F0389E79-CC62-6B92-AEF4-C1EDECE7E91D}"/>
              </a:ext>
            </a:extLst>
          </p:cNvPr>
          <p:cNvSpPr txBox="1"/>
          <p:nvPr/>
        </p:nvSpPr>
        <p:spPr>
          <a:xfrm>
            <a:off x="5054600" y="3632200"/>
            <a:ext cx="48260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1. Contribution: evidence contract for code watermarking</a:t>
            </a:r>
            <a:endParaRPr lang="zh-CN" altLang="en-US" sz="1050" b="1">
              <a:solidFill>
                <a:srgbClr val="FFFFFF"/>
              </a:solidFill>
              <a:latin typeface="Aptos" panose="020B0004020202020204" pitchFamily="34" charset="0"/>
            </a:endParaRPr>
          </a:p>
        </p:txBody>
      </p:sp>
      <p:sp>
        <p:nvSpPr>
          <p:cNvPr id="11" name="anchor2">
            <a:extLst>
              <a:ext uri="{FF2B5EF4-FFF2-40B4-BE49-F238E27FC236}">
                <a16:creationId xmlns:a16="http://schemas.microsoft.com/office/drawing/2014/main" id="{11620466-4DBF-6103-AE79-4D12A159162C}"/>
              </a:ext>
            </a:extLst>
          </p:cNvPr>
          <p:cNvSpPr txBox="1"/>
          <p:nvPr/>
        </p:nvSpPr>
        <p:spPr>
          <a:xfrm>
            <a:off x="5054600" y="4064000"/>
            <a:ext cx="48260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2. Evaluation: denominator + controls + boundary</a:t>
            </a:r>
            <a:endParaRPr lang="zh-CN" altLang="en-US" sz="1050" b="1">
              <a:solidFill>
                <a:srgbClr val="FFFFFF"/>
              </a:solidFill>
              <a:latin typeface="Aptos" panose="020B0004020202020204" pitchFamily="34" charset="0"/>
            </a:endParaRPr>
          </a:p>
        </p:txBody>
      </p:sp>
      <p:sp>
        <p:nvSpPr>
          <p:cNvPr id="12" name="anchor3">
            <a:extLst>
              <a:ext uri="{FF2B5EF4-FFF2-40B4-BE49-F238E27FC236}">
                <a16:creationId xmlns:a16="http://schemas.microsoft.com/office/drawing/2014/main" id="{1AB823D4-8C6A-87C5-4E4B-5AD67FB0545C}"/>
              </a:ext>
            </a:extLst>
          </p:cNvPr>
          <p:cNvSpPr txBox="1"/>
          <p:nvPr/>
        </p:nvSpPr>
        <p:spPr>
          <a:xfrm>
            <a:off x="5054600" y="4495800"/>
            <a:ext cx="48260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3. Demo: inspectable repository, not a full rerun</a:t>
            </a:r>
            <a:endParaRPr lang="zh-CN" altLang="en-US" sz="1050" b="1">
              <a:solidFill>
                <a:srgbClr val="FFFFFF"/>
              </a:solidFill>
              <a:latin typeface="Aptos" panose="020B0004020202020204" pitchFamily="34" charset="0"/>
            </a:endParaRPr>
          </a:p>
        </p:txBody>
      </p:sp>
      <p:pic>
        <p:nvPicPr>
          <p:cNvPr id="14" name="图片 13">
            <a:hlinkClick r:id="rId4"/>
            <a:extLst>
              <a:ext uri="{FF2B5EF4-FFF2-40B4-BE49-F238E27FC236}">
                <a16:creationId xmlns:a16="http://schemas.microsoft.com/office/drawing/2014/main" id="{3841B1FE-C076-6E1C-FA68-8560DA6F27D0}"/>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939800" y="1320800"/>
            <a:ext cx="1320800" cy="1320800"/>
          </a:xfrm>
          <a:prstGeom prst="rect">
            <a:avLst/>
          </a:prstGeom>
        </p:spPr>
      </p:pic>
      <p:sp>
        <p:nvSpPr>
          <p:cNvPr id="15" name="qrlab">
            <a:extLst>
              <a:ext uri="{FF2B5EF4-FFF2-40B4-BE49-F238E27FC236}">
                <a16:creationId xmlns:a16="http://schemas.microsoft.com/office/drawing/2014/main" id="{30222DCF-4079-4133-DBF9-B192A78C50EE}"/>
              </a:ext>
            </a:extLst>
          </p:cNvPr>
          <p:cNvSpPr txBox="1"/>
          <p:nvPr/>
        </p:nvSpPr>
        <p:spPr>
          <a:xfrm>
            <a:off x="939800" y="2895600"/>
            <a:ext cx="22352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Project page and repository</a:t>
            </a:r>
            <a:endParaRPr lang="zh-CN" altLang="en-US" sz="820" b="1">
              <a:solidFill>
                <a:srgbClr val="FFFFFF"/>
              </a:solidFill>
              <a:latin typeface="Aptos" panose="020B0004020202020204" pitchFamily="34" charset="0"/>
            </a:endParaRPr>
          </a:p>
        </p:txBody>
      </p:sp>
      <p:sp>
        <p:nvSpPr>
          <p:cNvPr id="16" name="close-page">
            <a:hlinkClick r:id="rId4"/>
            <a:extLst>
              <a:ext uri="{FF2B5EF4-FFF2-40B4-BE49-F238E27FC236}">
                <a16:creationId xmlns:a16="http://schemas.microsoft.com/office/drawing/2014/main" id="{2DE0D2B1-3F61-14A4-5910-13B784C5E37F}"/>
              </a:ext>
            </a:extLst>
          </p:cNvPr>
          <p:cNvSpPr/>
          <p:nvPr/>
        </p:nvSpPr>
        <p:spPr>
          <a:xfrm>
            <a:off x="939800" y="3352800"/>
            <a:ext cx="1168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Project page</a:t>
            </a:r>
            <a:endParaRPr lang="zh-CN" altLang="en-US" sz="760" b="1">
              <a:solidFill>
                <a:srgbClr val="003B7A"/>
              </a:solidFill>
              <a:latin typeface="Aptos" panose="020B0004020202020204" pitchFamily="34" charset="0"/>
            </a:endParaRPr>
          </a:p>
        </p:txBody>
      </p:sp>
      <p:sp>
        <p:nvSpPr>
          <p:cNvPr id="17" name="close-repo">
            <a:hlinkClick r:id="rId6"/>
            <a:extLst>
              <a:ext uri="{FF2B5EF4-FFF2-40B4-BE49-F238E27FC236}">
                <a16:creationId xmlns:a16="http://schemas.microsoft.com/office/drawing/2014/main" id="{6D811D20-40EC-E50F-8616-184BC4703155}"/>
              </a:ext>
            </a:extLst>
          </p:cNvPr>
          <p:cNvSpPr/>
          <p:nvPr/>
        </p:nvSpPr>
        <p:spPr>
          <a:xfrm>
            <a:off x="2184400" y="3352800"/>
            <a:ext cx="914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Repo</a:t>
            </a:r>
            <a:endParaRPr lang="zh-CN" altLang="en-US" sz="760" b="1">
              <a:solidFill>
                <a:srgbClr val="003B7A"/>
              </a:solidFill>
              <a:latin typeface="Aptos" panose="020B0004020202020204" pitchFamily="34" charset="0"/>
            </a:endParaRPr>
          </a:p>
        </p:txBody>
      </p:sp>
      <p:sp>
        <p:nvSpPr>
          <p:cNvPr id="18" name="footer-hit-13">
            <a:hlinkClick r:id="rId4"/>
            <a:extLst>
              <a:ext uri="{FF2B5EF4-FFF2-40B4-BE49-F238E27FC236}">
                <a16:creationId xmlns:a16="http://schemas.microsoft.com/office/drawing/2014/main" id="{5D328A25-B3A5-7CEB-F9A0-399DD5362355}"/>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85244818"/>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83DDFD7C-7A98-5968-D97E-82DB404E3A6B}"/>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89016F0F-045F-2620-597B-603508422449}"/>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38D32D63-E42D-4E08-DB06-99CC0D194E3B}"/>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A09875A7-3773-FC54-EFE7-965AC316A0DD}"/>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BACKUP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E8DA93B3-A67E-87E9-CD7E-5B9AEBC08919}"/>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14</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A03FEF7F-129C-C046-5299-E79E2F1E8257}"/>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E9C08B58-2B0F-9AA4-0E43-186C85F31006}"/>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EE61767B-73A4-B5E0-1B83-0DADFD60BD0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53AE8685-EBAB-2951-C0C2-3FB595953FCB}"/>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Formula and boundary reference.</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86E14FB6-9D34-2AF7-F159-A770E61590CF}"/>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Use this if the examiner asks how a result becomes a claim.</a:t>
            </a:r>
            <a:endParaRPr lang="zh-CN" altLang="en-US" sz="930">
              <a:solidFill>
                <a:srgbClr val="4A5B78"/>
              </a:solidFill>
              <a:latin typeface="Aptos" panose="020B0004020202020204" pitchFamily="34" charset="0"/>
            </a:endParaRPr>
          </a:p>
        </p:txBody>
      </p:sp>
      <p:sp>
        <p:nvSpPr>
          <p:cNvPr id="13" name="formula-left">
            <a:extLst>
              <a:ext uri="{FF2B5EF4-FFF2-40B4-BE49-F238E27FC236}">
                <a16:creationId xmlns:a16="http://schemas.microsoft.com/office/drawing/2014/main" id="{5D811C93-7CF2-1617-6468-FA465984A975}"/>
              </a:ext>
            </a:extLst>
          </p:cNvPr>
          <p:cNvSpPr/>
          <p:nvPr/>
        </p:nvSpPr>
        <p:spPr>
          <a:xfrm>
            <a:off x="889000" y="1879600"/>
            <a:ext cx="3657600" cy="3022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ormula-k">
            <a:extLst>
              <a:ext uri="{FF2B5EF4-FFF2-40B4-BE49-F238E27FC236}">
                <a16:creationId xmlns:a16="http://schemas.microsoft.com/office/drawing/2014/main" id="{0BB77583-74DC-C450-9235-20A00DB26104}"/>
              </a:ext>
            </a:extLst>
          </p:cNvPr>
          <p:cNvSpPr txBox="1"/>
          <p:nvPr/>
        </p:nvSpPr>
        <p:spPr>
          <a:xfrm>
            <a:off x="1219200" y="2235200"/>
            <a:ext cx="1498600" cy="276999"/>
          </a:xfrm>
          <a:prstGeom prst="rect">
            <a:avLst/>
          </a:prstGeom>
          <a:noFill/>
        </p:spPr>
        <p:txBody>
          <a:bodyPr vert="horz" wrap="square" lIns="0" tIns="0" rIns="0" bIns="0" rtlCol="0">
            <a:noAutofit/>
          </a:bodyPr>
          <a:lstStyle/>
          <a:p>
            <a:r>
              <a:rPr lang="en-US" altLang="zh-CN" sz="740" b="1">
                <a:solidFill>
                  <a:srgbClr val="CDE2FA"/>
                </a:solidFill>
                <a:latin typeface="Aptos" panose="020B0004020202020204" pitchFamily="34" charset="0"/>
              </a:rPr>
              <a:t>EVIDENCE OBJECT</a:t>
            </a:r>
            <a:endParaRPr lang="zh-CN" altLang="en-US" sz="740" b="1">
              <a:solidFill>
                <a:srgbClr val="CDE2FA"/>
              </a:solidFill>
              <a:latin typeface="Aptos" panose="020B0004020202020204" pitchFamily="34" charset="0"/>
            </a:endParaRPr>
          </a:p>
        </p:txBody>
      </p:sp>
      <p:sp>
        <p:nvSpPr>
          <p:cNvPr id="15" name="formula-main">
            <a:extLst>
              <a:ext uri="{FF2B5EF4-FFF2-40B4-BE49-F238E27FC236}">
                <a16:creationId xmlns:a16="http://schemas.microsoft.com/office/drawing/2014/main" id="{27BC41FA-AED5-2430-FA24-1C8B55BF4A8C}"/>
              </a:ext>
            </a:extLst>
          </p:cNvPr>
          <p:cNvSpPr txBox="1"/>
          <p:nvPr/>
        </p:nvSpPr>
        <p:spPr>
          <a:xfrm>
            <a:off x="1219200" y="2768600"/>
            <a:ext cx="2717800" cy="276999"/>
          </a:xfrm>
          <a:prstGeom prst="rect">
            <a:avLst/>
          </a:prstGeom>
          <a:noFill/>
        </p:spPr>
        <p:txBody>
          <a:bodyPr vert="horz" wrap="square" lIns="0" tIns="0" rIns="0" bIns="0" rtlCol="0">
            <a:noAutofit/>
          </a:bodyPr>
          <a:lstStyle/>
          <a:p>
            <a:r>
              <a:rPr lang="pt-BR" altLang="zh-CN" sz="2050" b="1">
                <a:solidFill>
                  <a:srgbClr val="FFFFFF"/>
                </a:solidFill>
                <a:latin typeface="Consolas" panose="020B0609020204030204" pitchFamily="49" charset="0"/>
              </a:rPr>
              <a:t>E = &lt;D, C, A, H, B&gt;</a:t>
            </a:r>
            <a:endParaRPr lang="zh-CN" altLang="en-US" sz="2050" b="1">
              <a:solidFill>
                <a:srgbClr val="FFFFFF"/>
              </a:solidFill>
              <a:latin typeface="Consolas" panose="020B0609020204030204" pitchFamily="49" charset="0"/>
            </a:endParaRPr>
          </a:p>
        </p:txBody>
      </p:sp>
      <p:cxnSp>
        <p:nvCxnSpPr>
          <p:cNvPr id="16" name="formula-rule">
            <a:extLst>
              <a:ext uri="{FF2B5EF4-FFF2-40B4-BE49-F238E27FC236}">
                <a16:creationId xmlns:a16="http://schemas.microsoft.com/office/drawing/2014/main" id="{94EE2373-D471-33E6-3032-EE9C9DA8460E}"/>
              </a:ext>
            </a:extLst>
          </p:cNvPr>
          <p:cNvCxnSpPr/>
          <p:nvPr/>
        </p:nvCxnSpPr>
        <p:spPr>
          <a:xfrm>
            <a:off x="1219200" y="3505200"/>
            <a:ext cx="2794000" cy="0"/>
          </a:xfrm>
          <a:prstGeom prst="line">
            <a:avLst/>
          </a:prstGeom>
          <a:ln w="12700">
            <a:solidFill>
              <a:srgbClr val="5F8FC6"/>
            </a:solidFill>
          </a:ln>
        </p:spPr>
        <p:style>
          <a:lnRef idx="1">
            <a:schemeClr val="accent1"/>
          </a:lnRef>
          <a:fillRef idx="0">
            <a:schemeClr val="accent1"/>
          </a:fillRef>
          <a:effectRef idx="0">
            <a:schemeClr val="accent1"/>
          </a:effectRef>
          <a:fontRef idx="minor">
            <a:schemeClr val="tx1"/>
          </a:fontRef>
        </p:style>
      </p:cxnSp>
      <p:sp>
        <p:nvSpPr>
          <p:cNvPr id="17" name="formula-sub">
            <a:extLst>
              <a:ext uri="{FF2B5EF4-FFF2-40B4-BE49-F238E27FC236}">
                <a16:creationId xmlns:a16="http://schemas.microsoft.com/office/drawing/2014/main" id="{41ABBB18-FED0-C333-9B28-F05B32F316DE}"/>
              </a:ext>
            </a:extLst>
          </p:cNvPr>
          <p:cNvSpPr txBox="1"/>
          <p:nvPr/>
        </p:nvSpPr>
        <p:spPr>
          <a:xfrm>
            <a:off x="1219200" y="3860800"/>
            <a:ext cx="2616200" cy="276999"/>
          </a:xfrm>
          <a:prstGeom prst="rect">
            <a:avLst/>
          </a:prstGeom>
          <a:noFill/>
        </p:spPr>
        <p:txBody>
          <a:bodyPr vert="horz" wrap="square" lIns="0" tIns="0" rIns="0" bIns="0" rtlCol="0">
            <a:noAutofit/>
          </a:bodyPr>
          <a:lstStyle/>
          <a:p>
            <a:r>
              <a:rPr lang="en-US" altLang="zh-CN" sz="950" b="1">
                <a:solidFill>
                  <a:srgbClr val="DAE8FA"/>
                </a:solidFill>
                <a:latin typeface="Aptos" panose="020B0004020202020204" pitchFamily="34" charset="0"/>
              </a:rPr>
              <a:t>A result is admitted only when its denominator, controls, artifact, hash, and boundary are all visible.</a:t>
            </a:r>
            <a:endParaRPr lang="zh-CN" altLang="en-US" sz="950" b="1">
              <a:solidFill>
                <a:srgbClr val="DAE8FA"/>
              </a:solidFill>
              <a:latin typeface="Aptos" panose="020B0004020202020204" pitchFamily="34" charset="0"/>
            </a:endParaRPr>
          </a:p>
        </p:txBody>
      </p:sp>
      <p:sp>
        <p:nvSpPr>
          <p:cNvPr id="18" name="claim-box">
            <a:extLst>
              <a:ext uri="{FF2B5EF4-FFF2-40B4-BE49-F238E27FC236}">
                <a16:creationId xmlns:a16="http://schemas.microsoft.com/office/drawing/2014/main" id="{E0908C41-F3B2-8595-7705-39F401E862C5}"/>
              </a:ext>
            </a:extLst>
          </p:cNvPr>
          <p:cNvSpPr/>
          <p:nvPr/>
        </p:nvSpPr>
        <p:spPr>
          <a:xfrm>
            <a:off x="5130800" y="1879600"/>
            <a:ext cx="6172200" cy="939800"/>
          </a:xfrm>
          <a:prstGeom prst="rect">
            <a:avLst/>
          </a:prstGeom>
          <a:solidFill>
            <a:srgbClr val="F8FB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claim-k">
            <a:extLst>
              <a:ext uri="{FF2B5EF4-FFF2-40B4-BE49-F238E27FC236}">
                <a16:creationId xmlns:a16="http://schemas.microsoft.com/office/drawing/2014/main" id="{2801E65C-9E30-64C2-89C6-9DD7C7F0A0F0}"/>
              </a:ext>
            </a:extLst>
          </p:cNvPr>
          <p:cNvSpPr txBox="1"/>
          <p:nvPr/>
        </p:nvSpPr>
        <p:spPr>
          <a:xfrm>
            <a:off x="5486400" y="2133600"/>
            <a:ext cx="1422400" cy="276999"/>
          </a:xfrm>
          <a:prstGeom prst="rect">
            <a:avLst/>
          </a:prstGeom>
          <a:noFill/>
        </p:spPr>
        <p:txBody>
          <a:bodyPr vert="horz" wrap="square" lIns="0" tIns="0" rIns="0" bIns="0" rtlCol="0">
            <a:noAutofit/>
          </a:bodyPr>
          <a:lstStyle/>
          <a:p>
            <a:r>
              <a:rPr lang="en-US" altLang="zh-CN" sz="720" b="1">
                <a:solidFill>
                  <a:srgbClr val="4A5B78"/>
                </a:solidFill>
                <a:latin typeface="Aptos" panose="020B0004020202020204" pitchFamily="34" charset="0"/>
              </a:rPr>
              <a:t>PROMOTION RULE</a:t>
            </a:r>
            <a:endParaRPr lang="zh-CN" altLang="en-US" sz="720" b="1">
              <a:solidFill>
                <a:srgbClr val="4A5B78"/>
              </a:solidFill>
              <a:latin typeface="Aptos" panose="020B0004020202020204" pitchFamily="34" charset="0"/>
            </a:endParaRPr>
          </a:p>
        </p:txBody>
      </p:sp>
      <p:sp>
        <p:nvSpPr>
          <p:cNvPr id="20" name="claim-t">
            <a:extLst>
              <a:ext uri="{FF2B5EF4-FFF2-40B4-BE49-F238E27FC236}">
                <a16:creationId xmlns:a16="http://schemas.microsoft.com/office/drawing/2014/main" id="{C3D3221A-E8E6-2715-6D02-E429F97B8992}"/>
              </a:ext>
            </a:extLst>
          </p:cNvPr>
          <p:cNvSpPr txBox="1"/>
          <p:nvPr/>
        </p:nvSpPr>
        <p:spPr>
          <a:xfrm>
            <a:off x="5486400" y="2438400"/>
            <a:ext cx="5029200" cy="276999"/>
          </a:xfrm>
          <a:prstGeom prst="rect">
            <a:avLst/>
          </a:prstGeom>
          <a:noFill/>
        </p:spPr>
        <p:txBody>
          <a:bodyPr vert="horz" wrap="square" lIns="0" tIns="0" rIns="0" bIns="0" rtlCol="0">
            <a:noAutofit/>
          </a:bodyPr>
          <a:lstStyle/>
          <a:p>
            <a:r>
              <a:rPr lang="en-US" altLang="zh-CN" sz="1340" b="1">
                <a:solidFill>
                  <a:srgbClr val="071A3D"/>
                </a:solidFill>
                <a:latin typeface="Consolas" panose="020B0609020204030204" pitchFamily="49" charset="0"/>
              </a:rPr>
              <a:t>claim := f(E, controls, access, boundary)</a:t>
            </a:r>
            <a:endParaRPr lang="zh-CN" altLang="en-US" sz="1340" b="1">
              <a:solidFill>
                <a:srgbClr val="071A3D"/>
              </a:solidFill>
              <a:latin typeface="Consolas" panose="020B0609020204030204" pitchFamily="49" charset="0"/>
            </a:endParaRPr>
          </a:p>
        </p:txBody>
      </p:sp>
      <p:sp>
        <p:nvSpPr>
          <p:cNvPr id="21" name="it-card-0">
            <a:extLst>
              <a:ext uri="{FF2B5EF4-FFF2-40B4-BE49-F238E27FC236}">
                <a16:creationId xmlns:a16="http://schemas.microsoft.com/office/drawing/2014/main" id="{4E1F7D29-E3CF-30E0-DF48-A1AF69396957}"/>
              </a:ext>
            </a:extLst>
          </p:cNvPr>
          <p:cNvSpPr/>
          <p:nvPr/>
        </p:nvSpPr>
        <p:spPr>
          <a:xfrm>
            <a:off x="5130800" y="3200400"/>
            <a:ext cx="2819400" cy="3048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it-band-0">
            <a:extLst>
              <a:ext uri="{FF2B5EF4-FFF2-40B4-BE49-F238E27FC236}">
                <a16:creationId xmlns:a16="http://schemas.microsoft.com/office/drawing/2014/main" id="{4A5FA57F-C1D0-E2B2-A1D7-1D32D9B36E80}"/>
              </a:ext>
            </a:extLst>
          </p:cNvPr>
          <p:cNvSpPr/>
          <p:nvPr/>
        </p:nvSpPr>
        <p:spPr>
          <a:xfrm>
            <a:off x="5130800" y="3200400"/>
            <a:ext cx="63500" cy="3048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it-0">
            <a:extLst>
              <a:ext uri="{FF2B5EF4-FFF2-40B4-BE49-F238E27FC236}">
                <a16:creationId xmlns:a16="http://schemas.microsoft.com/office/drawing/2014/main" id="{45AC195B-1EB9-BCAE-12FA-1B7335459F4D}"/>
              </a:ext>
            </a:extLst>
          </p:cNvPr>
          <p:cNvSpPr txBox="1"/>
          <p:nvPr/>
        </p:nvSpPr>
        <p:spPr>
          <a:xfrm>
            <a:off x="5384800" y="3289300"/>
            <a:ext cx="304800" cy="276999"/>
          </a:xfrm>
          <a:prstGeom prst="rect">
            <a:avLst/>
          </a:prstGeom>
          <a:noFill/>
        </p:spPr>
        <p:txBody>
          <a:bodyPr vert="horz" wrap="square" lIns="0" tIns="0" rIns="0" bIns="0" rtlCol="0">
            <a:noAutofit/>
          </a:bodyPr>
          <a:lstStyle/>
          <a:p>
            <a:r>
              <a:rPr lang="en-US" altLang="zh-CN" sz="780" b="1">
                <a:solidFill>
                  <a:srgbClr val="003B7A"/>
                </a:solidFill>
                <a:latin typeface="Consolas" panose="020B0609020204030204" pitchFamily="49" charset="0"/>
              </a:rPr>
              <a:t>D</a:t>
            </a:r>
            <a:endParaRPr lang="zh-CN" altLang="en-US" sz="780" b="1">
              <a:solidFill>
                <a:srgbClr val="003B7A"/>
              </a:solidFill>
              <a:latin typeface="Consolas" panose="020B0609020204030204" pitchFamily="49" charset="0"/>
            </a:endParaRPr>
          </a:p>
        </p:txBody>
      </p:sp>
      <p:sp>
        <p:nvSpPr>
          <p:cNvPr id="24" name="it2-0">
            <a:extLst>
              <a:ext uri="{FF2B5EF4-FFF2-40B4-BE49-F238E27FC236}">
                <a16:creationId xmlns:a16="http://schemas.microsoft.com/office/drawing/2014/main" id="{341DF21C-CC3A-3779-EF8B-5B29CB8182AA}"/>
              </a:ext>
            </a:extLst>
          </p:cNvPr>
          <p:cNvSpPr txBox="1"/>
          <p:nvPr/>
        </p:nvSpPr>
        <p:spPr>
          <a:xfrm>
            <a:off x="5867400" y="3289300"/>
            <a:ext cx="1651000" cy="276999"/>
          </a:xfrm>
          <a:prstGeom prst="rect">
            <a:avLst/>
          </a:prstGeom>
          <a:noFill/>
        </p:spPr>
        <p:txBody>
          <a:bodyPr vert="horz" wrap="square" lIns="0" tIns="0" rIns="0" bIns="0" rtlCol="0">
            <a:noAutofit/>
          </a:bodyPr>
          <a:lstStyle/>
          <a:p>
            <a:r>
              <a:rPr lang="en-US" altLang="zh-CN" sz="690">
                <a:solidFill>
                  <a:srgbClr val="071A3D"/>
                </a:solidFill>
                <a:latin typeface="Aptos" panose="020B0004020202020204" pitchFamily="34" charset="0"/>
              </a:rPr>
              <a:t>denominator fixed before results</a:t>
            </a:r>
            <a:endParaRPr lang="zh-CN" altLang="en-US" sz="690">
              <a:solidFill>
                <a:srgbClr val="071A3D"/>
              </a:solidFill>
              <a:latin typeface="Aptos" panose="020B0004020202020204" pitchFamily="34" charset="0"/>
            </a:endParaRPr>
          </a:p>
        </p:txBody>
      </p:sp>
      <p:sp>
        <p:nvSpPr>
          <p:cNvPr id="25" name="it-card-1">
            <a:extLst>
              <a:ext uri="{FF2B5EF4-FFF2-40B4-BE49-F238E27FC236}">
                <a16:creationId xmlns:a16="http://schemas.microsoft.com/office/drawing/2014/main" id="{824BF33E-51BE-B375-8603-643BBAC4CE14}"/>
              </a:ext>
            </a:extLst>
          </p:cNvPr>
          <p:cNvSpPr/>
          <p:nvPr/>
        </p:nvSpPr>
        <p:spPr>
          <a:xfrm>
            <a:off x="5130800" y="3632200"/>
            <a:ext cx="2819400" cy="3048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it-band-1">
            <a:extLst>
              <a:ext uri="{FF2B5EF4-FFF2-40B4-BE49-F238E27FC236}">
                <a16:creationId xmlns:a16="http://schemas.microsoft.com/office/drawing/2014/main" id="{9E4D53E1-B342-CC37-9B59-70BB6DB618D6}"/>
              </a:ext>
            </a:extLst>
          </p:cNvPr>
          <p:cNvSpPr/>
          <p:nvPr/>
        </p:nvSpPr>
        <p:spPr>
          <a:xfrm>
            <a:off x="5130800" y="3632200"/>
            <a:ext cx="63500" cy="3048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it-1">
            <a:extLst>
              <a:ext uri="{FF2B5EF4-FFF2-40B4-BE49-F238E27FC236}">
                <a16:creationId xmlns:a16="http://schemas.microsoft.com/office/drawing/2014/main" id="{5BCDB4E2-1FD8-2332-B0DA-652056BA8690}"/>
              </a:ext>
            </a:extLst>
          </p:cNvPr>
          <p:cNvSpPr txBox="1"/>
          <p:nvPr/>
        </p:nvSpPr>
        <p:spPr>
          <a:xfrm>
            <a:off x="5384800" y="3721100"/>
            <a:ext cx="304800" cy="276999"/>
          </a:xfrm>
          <a:prstGeom prst="rect">
            <a:avLst/>
          </a:prstGeom>
          <a:noFill/>
        </p:spPr>
        <p:txBody>
          <a:bodyPr vert="horz" wrap="square" lIns="0" tIns="0" rIns="0" bIns="0" rtlCol="0">
            <a:noAutofit/>
          </a:bodyPr>
          <a:lstStyle/>
          <a:p>
            <a:r>
              <a:rPr lang="en-US" altLang="zh-CN" sz="780" b="1">
                <a:solidFill>
                  <a:srgbClr val="5B45C8"/>
                </a:solidFill>
                <a:latin typeface="Consolas" panose="020B0609020204030204" pitchFamily="49" charset="0"/>
              </a:rPr>
              <a:t>C</a:t>
            </a:r>
            <a:endParaRPr lang="zh-CN" altLang="en-US" sz="780" b="1">
              <a:solidFill>
                <a:srgbClr val="5B45C8"/>
              </a:solidFill>
              <a:latin typeface="Consolas" panose="020B0609020204030204" pitchFamily="49" charset="0"/>
            </a:endParaRPr>
          </a:p>
        </p:txBody>
      </p:sp>
      <p:sp>
        <p:nvSpPr>
          <p:cNvPr id="28" name="it2-1">
            <a:extLst>
              <a:ext uri="{FF2B5EF4-FFF2-40B4-BE49-F238E27FC236}">
                <a16:creationId xmlns:a16="http://schemas.microsoft.com/office/drawing/2014/main" id="{B410EE2D-7946-3CFB-3A6F-531546B1FA76}"/>
              </a:ext>
            </a:extLst>
          </p:cNvPr>
          <p:cNvSpPr txBox="1"/>
          <p:nvPr/>
        </p:nvSpPr>
        <p:spPr>
          <a:xfrm>
            <a:off x="5867400" y="3721100"/>
            <a:ext cx="1651000" cy="276999"/>
          </a:xfrm>
          <a:prstGeom prst="rect">
            <a:avLst/>
          </a:prstGeom>
          <a:noFill/>
        </p:spPr>
        <p:txBody>
          <a:bodyPr vert="horz" wrap="square" lIns="0" tIns="0" rIns="0" bIns="0" rtlCol="0">
            <a:noAutofit/>
          </a:bodyPr>
          <a:lstStyle/>
          <a:p>
            <a:r>
              <a:rPr lang="en-US" altLang="zh-CN" sz="690">
                <a:solidFill>
                  <a:srgbClr val="071A3D"/>
                </a:solidFill>
                <a:latin typeface="Aptos" panose="020B0004020202020204" pitchFamily="34" charset="0"/>
              </a:rPr>
              <a:t>positive and negative controls</a:t>
            </a:r>
            <a:endParaRPr lang="zh-CN" altLang="en-US" sz="690">
              <a:solidFill>
                <a:srgbClr val="071A3D"/>
              </a:solidFill>
              <a:latin typeface="Aptos" panose="020B0004020202020204" pitchFamily="34" charset="0"/>
            </a:endParaRPr>
          </a:p>
        </p:txBody>
      </p:sp>
      <p:sp>
        <p:nvSpPr>
          <p:cNvPr id="29" name="it-card-2">
            <a:extLst>
              <a:ext uri="{FF2B5EF4-FFF2-40B4-BE49-F238E27FC236}">
                <a16:creationId xmlns:a16="http://schemas.microsoft.com/office/drawing/2014/main" id="{3EEFB2F7-4602-B955-3692-D329658D3440}"/>
              </a:ext>
            </a:extLst>
          </p:cNvPr>
          <p:cNvSpPr/>
          <p:nvPr/>
        </p:nvSpPr>
        <p:spPr>
          <a:xfrm>
            <a:off x="5130800" y="4064000"/>
            <a:ext cx="2819400" cy="3048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it-band-2">
            <a:extLst>
              <a:ext uri="{FF2B5EF4-FFF2-40B4-BE49-F238E27FC236}">
                <a16:creationId xmlns:a16="http://schemas.microsoft.com/office/drawing/2014/main" id="{A0D2087B-E2E5-7D0E-D3CD-D55F2F7E91D5}"/>
              </a:ext>
            </a:extLst>
          </p:cNvPr>
          <p:cNvSpPr/>
          <p:nvPr/>
        </p:nvSpPr>
        <p:spPr>
          <a:xfrm>
            <a:off x="5130800" y="4064000"/>
            <a:ext cx="63500" cy="3048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it-2">
            <a:extLst>
              <a:ext uri="{FF2B5EF4-FFF2-40B4-BE49-F238E27FC236}">
                <a16:creationId xmlns:a16="http://schemas.microsoft.com/office/drawing/2014/main" id="{41820EB5-1051-8673-A4CF-6530FD730F72}"/>
              </a:ext>
            </a:extLst>
          </p:cNvPr>
          <p:cNvSpPr txBox="1"/>
          <p:nvPr/>
        </p:nvSpPr>
        <p:spPr>
          <a:xfrm>
            <a:off x="5384800" y="4152900"/>
            <a:ext cx="304800" cy="276999"/>
          </a:xfrm>
          <a:prstGeom prst="rect">
            <a:avLst/>
          </a:prstGeom>
          <a:noFill/>
        </p:spPr>
        <p:txBody>
          <a:bodyPr vert="horz" wrap="square" lIns="0" tIns="0" rIns="0" bIns="0" rtlCol="0">
            <a:noAutofit/>
          </a:bodyPr>
          <a:lstStyle/>
          <a:p>
            <a:r>
              <a:rPr lang="en-US" altLang="zh-CN" sz="780" b="1">
                <a:solidFill>
                  <a:srgbClr val="168E8B"/>
                </a:solidFill>
                <a:latin typeface="Consolas" panose="020B0609020204030204" pitchFamily="49" charset="0"/>
              </a:rPr>
              <a:t>A</a:t>
            </a:r>
            <a:endParaRPr lang="zh-CN" altLang="en-US" sz="780" b="1">
              <a:solidFill>
                <a:srgbClr val="168E8B"/>
              </a:solidFill>
              <a:latin typeface="Consolas" panose="020B0609020204030204" pitchFamily="49" charset="0"/>
            </a:endParaRPr>
          </a:p>
        </p:txBody>
      </p:sp>
      <p:sp>
        <p:nvSpPr>
          <p:cNvPr id="32" name="it2-2">
            <a:extLst>
              <a:ext uri="{FF2B5EF4-FFF2-40B4-BE49-F238E27FC236}">
                <a16:creationId xmlns:a16="http://schemas.microsoft.com/office/drawing/2014/main" id="{374E3CE9-B551-EB8C-A5B8-73A32BF0D052}"/>
              </a:ext>
            </a:extLst>
          </p:cNvPr>
          <p:cNvSpPr txBox="1"/>
          <p:nvPr/>
        </p:nvSpPr>
        <p:spPr>
          <a:xfrm>
            <a:off x="5867400" y="4152900"/>
            <a:ext cx="1651000" cy="276999"/>
          </a:xfrm>
          <a:prstGeom prst="rect">
            <a:avLst/>
          </a:prstGeom>
          <a:noFill/>
        </p:spPr>
        <p:txBody>
          <a:bodyPr vert="horz" wrap="square" lIns="0" tIns="0" rIns="0" bIns="0" rtlCol="0">
            <a:noAutofit/>
          </a:bodyPr>
          <a:lstStyle/>
          <a:p>
            <a:r>
              <a:rPr lang="en-US" altLang="zh-CN" sz="690">
                <a:solidFill>
                  <a:srgbClr val="071A3D"/>
                </a:solidFill>
                <a:latin typeface="Aptos" panose="020B0004020202020204" pitchFamily="34" charset="0"/>
              </a:rPr>
              <a:t>artifact, model access, and protocol</a:t>
            </a:r>
            <a:endParaRPr lang="zh-CN" altLang="en-US" sz="690">
              <a:solidFill>
                <a:srgbClr val="071A3D"/>
              </a:solidFill>
              <a:latin typeface="Aptos" panose="020B0004020202020204" pitchFamily="34" charset="0"/>
            </a:endParaRPr>
          </a:p>
        </p:txBody>
      </p:sp>
      <p:sp>
        <p:nvSpPr>
          <p:cNvPr id="33" name="it-card-3">
            <a:extLst>
              <a:ext uri="{FF2B5EF4-FFF2-40B4-BE49-F238E27FC236}">
                <a16:creationId xmlns:a16="http://schemas.microsoft.com/office/drawing/2014/main" id="{B7C8B16F-6929-FCEC-5C29-107D79A9B2B4}"/>
              </a:ext>
            </a:extLst>
          </p:cNvPr>
          <p:cNvSpPr/>
          <p:nvPr/>
        </p:nvSpPr>
        <p:spPr>
          <a:xfrm>
            <a:off x="5130800" y="4495800"/>
            <a:ext cx="2819400" cy="3048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it-band-3">
            <a:extLst>
              <a:ext uri="{FF2B5EF4-FFF2-40B4-BE49-F238E27FC236}">
                <a16:creationId xmlns:a16="http://schemas.microsoft.com/office/drawing/2014/main" id="{14AB5D0C-F3E2-F296-8DA3-3CB265D3E702}"/>
              </a:ext>
            </a:extLst>
          </p:cNvPr>
          <p:cNvSpPr/>
          <p:nvPr/>
        </p:nvSpPr>
        <p:spPr>
          <a:xfrm>
            <a:off x="5130800" y="4495800"/>
            <a:ext cx="63500" cy="3048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it-3">
            <a:extLst>
              <a:ext uri="{FF2B5EF4-FFF2-40B4-BE49-F238E27FC236}">
                <a16:creationId xmlns:a16="http://schemas.microsoft.com/office/drawing/2014/main" id="{DE646A66-1805-066B-B0D7-90B9E0865E32}"/>
              </a:ext>
            </a:extLst>
          </p:cNvPr>
          <p:cNvSpPr txBox="1"/>
          <p:nvPr/>
        </p:nvSpPr>
        <p:spPr>
          <a:xfrm>
            <a:off x="5384800" y="4584700"/>
            <a:ext cx="304800" cy="276999"/>
          </a:xfrm>
          <a:prstGeom prst="rect">
            <a:avLst/>
          </a:prstGeom>
          <a:noFill/>
        </p:spPr>
        <p:txBody>
          <a:bodyPr vert="horz" wrap="square" lIns="0" tIns="0" rIns="0" bIns="0" rtlCol="0">
            <a:noAutofit/>
          </a:bodyPr>
          <a:lstStyle/>
          <a:p>
            <a:r>
              <a:rPr lang="en-US" altLang="zh-CN" sz="780" b="1">
                <a:solidFill>
                  <a:srgbClr val="B85C00"/>
                </a:solidFill>
                <a:latin typeface="Consolas" panose="020B0609020204030204" pitchFamily="49" charset="0"/>
              </a:rPr>
              <a:t>H</a:t>
            </a:r>
            <a:endParaRPr lang="zh-CN" altLang="en-US" sz="780" b="1">
              <a:solidFill>
                <a:srgbClr val="B85C00"/>
              </a:solidFill>
              <a:latin typeface="Consolas" panose="020B0609020204030204" pitchFamily="49" charset="0"/>
            </a:endParaRPr>
          </a:p>
        </p:txBody>
      </p:sp>
      <p:sp>
        <p:nvSpPr>
          <p:cNvPr id="36" name="it2-3">
            <a:extLst>
              <a:ext uri="{FF2B5EF4-FFF2-40B4-BE49-F238E27FC236}">
                <a16:creationId xmlns:a16="http://schemas.microsoft.com/office/drawing/2014/main" id="{45D6B0E0-D070-F1B1-8663-52DEDFFFE7E1}"/>
              </a:ext>
            </a:extLst>
          </p:cNvPr>
          <p:cNvSpPr txBox="1"/>
          <p:nvPr/>
        </p:nvSpPr>
        <p:spPr>
          <a:xfrm>
            <a:off x="5867400" y="4584700"/>
            <a:ext cx="1651000" cy="276999"/>
          </a:xfrm>
          <a:prstGeom prst="rect">
            <a:avLst/>
          </a:prstGeom>
          <a:noFill/>
        </p:spPr>
        <p:txBody>
          <a:bodyPr vert="horz" wrap="square" lIns="0" tIns="0" rIns="0" bIns="0" rtlCol="0">
            <a:noAutofit/>
          </a:bodyPr>
          <a:lstStyle/>
          <a:p>
            <a:r>
              <a:rPr lang="en-US" altLang="zh-CN" sz="690">
                <a:solidFill>
                  <a:srgbClr val="071A3D"/>
                </a:solidFill>
                <a:latin typeface="Aptos" panose="020B0004020202020204" pitchFamily="34" charset="0"/>
              </a:rPr>
              <a:t>hash or integrity identifier</a:t>
            </a:r>
            <a:endParaRPr lang="zh-CN" altLang="en-US" sz="690">
              <a:solidFill>
                <a:srgbClr val="071A3D"/>
              </a:solidFill>
              <a:latin typeface="Aptos" panose="020B0004020202020204" pitchFamily="34" charset="0"/>
            </a:endParaRPr>
          </a:p>
        </p:txBody>
      </p:sp>
      <p:sp>
        <p:nvSpPr>
          <p:cNvPr id="37" name="it-card-4">
            <a:extLst>
              <a:ext uri="{FF2B5EF4-FFF2-40B4-BE49-F238E27FC236}">
                <a16:creationId xmlns:a16="http://schemas.microsoft.com/office/drawing/2014/main" id="{BFC3C1D8-5870-F6D5-0BC5-1A2D7AA56683}"/>
              </a:ext>
            </a:extLst>
          </p:cNvPr>
          <p:cNvSpPr/>
          <p:nvPr/>
        </p:nvSpPr>
        <p:spPr>
          <a:xfrm>
            <a:off x="5130800" y="4927600"/>
            <a:ext cx="2819400" cy="3048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it-band-4">
            <a:extLst>
              <a:ext uri="{FF2B5EF4-FFF2-40B4-BE49-F238E27FC236}">
                <a16:creationId xmlns:a16="http://schemas.microsoft.com/office/drawing/2014/main" id="{A32D5B52-0D74-F49B-4FC1-885178B1033F}"/>
              </a:ext>
            </a:extLst>
          </p:cNvPr>
          <p:cNvSpPr/>
          <p:nvPr/>
        </p:nvSpPr>
        <p:spPr>
          <a:xfrm>
            <a:off x="5130800" y="4927600"/>
            <a:ext cx="63500" cy="3048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it-4">
            <a:extLst>
              <a:ext uri="{FF2B5EF4-FFF2-40B4-BE49-F238E27FC236}">
                <a16:creationId xmlns:a16="http://schemas.microsoft.com/office/drawing/2014/main" id="{B5C5FAF3-4CAB-E586-CCB1-057F7D14644C}"/>
              </a:ext>
            </a:extLst>
          </p:cNvPr>
          <p:cNvSpPr txBox="1"/>
          <p:nvPr/>
        </p:nvSpPr>
        <p:spPr>
          <a:xfrm>
            <a:off x="5384800" y="5016500"/>
            <a:ext cx="304800" cy="276999"/>
          </a:xfrm>
          <a:prstGeom prst="rect">
            <a:avLst/>
          </a:prstGeom>
          <a:noFill/>
        </p:spPr>
        <p:txBody>
          <a:bodyPr vert="horz" wrap="square" lIns="0" tIns="0" rIns="0" bIns="0" rtlCol="0">
            <a:noAutofit/>
          </a:bodyPr>
          <a:lstStyle/>
          <a:p>
            <a:r>
              <a:rPr lang="en-US" altLang="zh-CN" sz="780" b="1">
                <a:solidFill>
                  <a:srgbClr val="1F7A4D"/>
                </a:solidFill>
                <a:latin typeface="Consolas" panose="020B0609020204030204" pitchFamily="49" charset="0"/>
              </a:rPr>
              <a:t>B</a:t>
            </a:r>
            <a:endParaRPr lang="zh-CN" altLang="en-US" sz="780" b="1">
              <a:solidFill>
                <a:srgbClr val="1F7A4D"/>
              </a:solidFill>
              <a:latin typeface="Consolas" panose="020B0609020204030204" pitchFamily="49" charset="0"/>
            </a:endParaRPr>
          </a:p>
        </p:txBody>
      </p:sp>
      <p:sp>
        <p:nvSpPr>
          <p:cNvPr id="40" name="it2-4">
            <a:extLst>
              <a:ext uri="{FF2B5EF4-FFF2-40B4-BE49-F238E27FC236}">
                <a16:creationId xmlns:a16="http://schemas.microsoft.com/office/drawing/2014/main" id="{C75ECA88-B46F-20CF-7A0B-9A8445109CC6}"/>
              </a:ext>
            </a:extLst>
          </p:cNvPr>
          <p:cNvSpPr txBox="1"/>
          <p:nvPr/>
        </p:nvSpPr>
        <p:spPr>
          <a:xfrm>
            <a:off x="5867400" y="5016500"/>
            <a:ext cx="1651000" cy="276999"/>
          </a:xfrm>
          <a:prstGeom prst="rect">
            <a:avLst/>
          </a:prstGeom>
          <a:noFill/>
        </p:spPr>
        <p:txBody>
          <a:bodyPr vert="horz" wrap="square" lIns="0" tIns="0" rIns="0" bIns="0" rtlCol="0">
            <a:noAutofit/>
          </a:bodyPr>
          <a:lstStyle/>
          <a:p>
            <a:r>
              <a:rPr lang="en-US" altLang="zh-CN" sz="690">
                <a:solidFill>
                  <a:srgbClr val="071A3D"/>
                </a:solidFill>
                <a:latin typeface="Aptos" panose="020B0004020202020204" pitchFamily="34" charset="0"/>
              </a:rPr>
              <a:t>allowed and forbidden interpretation</a:t>
            </a:r>
            <a:endParaRPr lang="zh-CN" altLang="en-US" sz="690">
              <a:solidFill>
                <a:srgbClr val="071A3D"/>
              </a:solidFill>
              <a:latin typeface="Aptos" panose="020B0004020202020204" pitchFamily="34" charset="0"/>
            </a:endParaRPr>
          </a:p>
        </p:txBody>
      </p:sp>
      <p:sp>
        <p:nvSpPr>
          <p:cNvPr id="41" name="example">
            <a:extLst>
              <a:ext uri="{FF2B5EF4-FFF2-40B4-BE49-F238E27FC236}">
                <a16:creationId xmlns:a16="http://schemas.microsoft.com/office/drawing/2014/main" id="{8D1D093A-58CF-E48E-7C06-E242D761DFDB}"/>
              </a:ext>
            </a:extLst>
          </p:cNvPr>
          <p:cNvSpPr/>
          <p:nvPr/>
        </p:nvSpPr>
        <p:spPr>
          <a:xfrm>
            <a:off x="8407400" y="3200400"/>
            <a:ext cx="2895600" cy="20320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example-k">
            <a:extLst>
              <a:ext uri="{FF2B5EF4-FFF2-40B4-BE49-F238E27FC236}">
                <a16:creationId xmlns:a16="http://schemas.microsoft.com/office/drawing/2014/main" id="{6E03B00F-5E9D-D8E2-50DE-94D05D873AE0}"/>
              </a:ext>
            </a:extLst>
          </p:cNvPr>
          <p:cNvSpPr txBox="1"/>
          <p:nvPr/>
        </p:nvSpPr>
        <p:spPr>
          <a:xfrm>
            <a:off x="8737600" y="3479800"/>
            <a:ext cx="1168400" cy="276999"/>
          </a:xfrm>
          <a:prstGeom prst="rect">
            <a:avLst/>
          </a:prstGeom>
          <a:noFill/>
        </p:spPr>
        <p:txBody>
          <a:bodyPr vert="horz" wrap="square" lIns="0" tIns="0" rIns="0" bIns="0" rtlCol="0">
            <a:noAutofit/>
          </a:bodyPr>
          <a:lstStyle/>
          <a:p>
            <a:r>
              <a:rPr lang="en-US" altLang="zh-CN" sz="710" b="1">
                <a:solidFill>
                  <a:srgbClr val="B85C00"/>
                </a:solidFill>
                <a:latin typeface="Aptos" panose="020B0004020202020204" pitchFamily="34" charset="0"/>
              </a:rPr>
              <a:t>VIVA ANSWER</a:t>
            </a:r>
            <a:endParaRPr lang="zh-CN" altLang="en-US" sz="710" b="1">
              <a:solidFill>
                <a:srgbClr val="B85C00"/>
              </a:solidFill>
              <a:latin typeface="Aptos" panose="020B0004020202020204" pitchFamily="34" charset="0"/>
            </a:endParaRPr>
          </a:p>
        </p:txBody>
      </p:sp>
      <p:sp>
        <p:nvSpPr>
          <p:cNvPr id="43" name="example-t">
            <a:extLst>
              <a:ext uri="{FF2B5EF4-FFF2-40B4-BE49-F238E27FC236}">
                <a16:creationId xmlns:a16="http://schemas.microsoft.com/office/drawing/2014/main" id="{4B0B9D26-C640-AEF2-6280-7F954DD78737}"/>
              </a:ext>
            </a:extLst>
          </p:cNvPr>
          <p:cNvSpPr txBox="1"/>
          <p:nvPr/>
        </p:nvSpPr>
        <p:spPr>
          <a:xfrm>
            <a:off x="8737600" y="3886200"/>
            <a:ext cx="2133600" cy="276999"/>
          </a:xfrm>
          <a:prstGeom prst="rect">
            <a:avLst/>
          </a:prstGeom>
          <a:noFill/>
        </p:spPr>
        <p:txBody>
          <a:bodyPr vert="horz" wrap="square" lIns="0" tIns="0" rIns="0" bIns="0" rtlCol="0">
            <a:noAutofit/>
          </a:bodyPr>
          <a:lstStyle/>
          <a:p>
            <a:r>
              <a:rPr lang="en-US" altLang="zh-CN" sz="840" b="1">
                <a:solidFill>
                  <a:srgbClr val="071A3D"/>
                </a:solidFill>
                <a:latin typeface="Aptos" panose="020B0004020202020204" pitchFamily="34" charset="0"/>
              </a:rPr>
              <a:t>Example: ProbeTrace supports scoped owner attribution inside this registry and split. It is not general authorship proof.</a:t>
            </a:r>
            <a:endParaRPr lang="zh-CN" altLang="en-US" sz="840" b="1">
              <a:solidFill>
                <a:srgbClr val="071A3D"/>
              </a:solidFill>
              <a:latin typeface="Aptos" panose="020B0004020202020204" pitchFamily="34" charset="0"/>
            </a:endParaRPr>
          </a:p>
        </p:txBody>
      </p:sp>
      <p:sp>
        <p:nvSpPr>
          <p:cNvPr id="44" name="example-p">
            <a:extLst>
              <a:ext uri="{FF2B5EF4-FFF2-40B4-BE49-F238E27FC236}">
                <a16:creationId xmlns:a16="http://schemas.microsoft.com/office/drawing/2014/main" id="{F1D0FA97-8218-DDAD-457F-B8215D5DD8F7}"/>
              </a:ext>
            </a:extLst>
          </p:cNvPr>
          <p:cNvSpPr txBox="1"/>
          <p:nvPr/>
        </p:nvSpPr>
        <p:spPr>
          <a:xfrm>
            <a:off x="8737600" y="4749800"/>
            <a:ext cx="1854200" cy="276999"/>
          </a:xfrm>
          <a:prstGeom prst="rect">
            <a:avLst/>
          </a:prstGeom>
          <a:noFill/>
        </p:spPr>
        <p:txBody>
          <a:bodyPr vert="horz" wrap="square" lIns="0" tIns="0" rIns="0" bIns="0" rtlCol="0">
            <a:noAutofit/>
          </a:bodyPr>
          <a:lstStyle/>
          <a:p>
            <a:r>
              <a:rPr lang="en-US" altLang="zh-CN" sz="700" b="1">
                <a:solidFill>
                  <a:srgbClr val="4A5B78"/>
                </a:solidFill>
                <a:latin typeface="Aptos" panose="020B0004020202020204" pitchFamily="34" charset="0"/>
              </a:rPr>
              <a:t>Point to: CLAIM_BOUNDARIES.md</a:t>
            </a:r>
            <a:endParaRPr lang="zh-CN" altLang="en-US" sz="700" b="1">
              <a:solidFill>
                <a:srgbClr val="4A5B78"/>
              </a:solidFill>
              <a:latin typeface="Aptos" panose="020B0004020202020204" pitchFamily="34" charset="0"/>
            </a:endParaRPr>
          </a:p>
        </p:txBody>
      </p:sp>
      <p:sp>
        <p:nvSpPr>
          <p:cNvPr id="45" name="footer-hit-14">
            <a:hlinkClick r:id="rId4"/>
            <a:extLst>
              <a:ext uri="{FF2B5EF4-FFF2-40B4-BE49-F238E27FC236}">
                <a16:creationId xmlns:a16="http://schemas.microsoft.com/office/drawing/2014/main" id="{554B731E-C245-372F-65E5-5504015144B2}"/>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852643196"/>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160"/>
                                        <p:tgtEl>
                                          <p:spTgt spid="40"/>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160"/>
                                        <p:tgtEl>
                                          <p:spTgt spid="41"/>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160"/>
                                        <p:tgtEl>
                                          <p:spTgt spid="42"/>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160"/>
                                        <p:tgtEl>
                                          <p:spTgt spid="43"/>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16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7" grpId="0"/>
      <p:bldP spid="18" grpId="0" animBg="1"/>
      <p:bldP spid="19" grpId="0"/>
      <p:bldP spid="20" grpId="0"/>
      <p:bldP spid="21" grpId="0" animBg="1"/>
      <p:bldP spid="22" grpId="0" animBg="1"/>
      <p:bldP spid="23" grpId="0"/>
      <p:bldP spid="24" grpId="0"/>
      <p:bldP spid="25" grpId="0" animBg="1"/>
      <p:bldP spid="26" grpId="0" animBg="1"/>
      <p:bldP spid="27" grpId="0"/>
      <p:bldP spid="28" grpId="0"/>
      <p:bldP spid="29" grpId="0" animBg="1"/>
      <p:bldP spid="30" grpId="0" animBg="1"/>
      <p:bldP spid="31" grpId="0"/>
      <p:bldP spid="32" grpId="0"/>
      <p:bldP spid="33" grpId="0" animBg="1"/>
      <p:bldP spid="34" grpId="0" animBg="1"/>
      <p:bldP spid="35" grpId="0"/>
      <p:bldP spid="36" grpId="0"/>
      <p:bldP spid="37" grpId="0" animBg="1"/>
      <p:bldP spid="38" grpId="0" animBg="1"/>
      <p:bldP spid="39" grpId="0"/>
      <p:bldP spid="40" grpId="0"/>
      <p:bldP spid="41" grpId="0" animBg="1"/>
      <p:bldP spid="42" grpId="0"/>
      <p:bldP spid="43" grpId="0"/>
      <p:bldP spid="4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9BAA419B-0784-AE71-D428-3C08AFA1D49B}"/>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6E9B38BD-84B6-CE50-9185-6753F81C8165}"/>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90589582-D22B-56C9-BBC8-977ECAB4AC99}"/>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3AE9DC83-88C6-FDEB-73BB-B9FA18A9A8AF}"/>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BACKUP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8E0F9838-3492-523A-3D5E-DF372CDAF852}"/>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15</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7CD788F2-A439-1B85-6FFF-4258391E582C}"/>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9C359A40-AFDE-BC65-7821-9781A8692E8B}"/>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2F92CB1A-BC9D-BD90-EACE-D187A27145E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0CC1BCD5-8BD8-5D98-A4B5-973C875D061F}"/>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Likely viva questions: short answers.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8FAD59E7-649C-F5CC-A66B-734348EA347A}"/>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Use these as memory anchors during Q&amp;A.</a:t>
            </a:r>
            <a:endParaRPr lang="zh-CN" altLang="en-US" sz="930">
              <a:solidFill>
                <a:srgbClr val="4A5B78"/>
              </a:solidFill>
              <a:latin typeface="Aptos" panose="020B0004020202020204" pitchFamily="34" charset="0"/>
            </a:endParaRPr>
          </a:p>
        </p:txBody>
      </p:sp>
      <p:sp>
        <p:nvSpPr>
          <p:cNvPr id="13" name="pattern">
            <a:extLst>
              <a:ext uri="{FF2B5EF4-FFF2-40B4-BE49-F238E27FC236}">
                <a16:creationId xmlns:a16="http://schemas.microsoft.com/office/drawing/2014/main" id="{6BA30977-12B2-607C-8D7B-2D2AEEDA88EB}"/>
              </a:ext>
            </a:extLst>
          </p:cNvPr>
          <p:cNvSpPr/>
          <p:nvPr/>
        </p:nvSpPr>
        <p:spPr>
          <a:xfrm>
            <a:off x="863600" y="1828800"/>
            <a:ext cx="3302000" cy="34798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pattern-k">
            <a:extLst>
              <a:ext uri="{FF2B5EF4-FFF2-40B4-BE49-F238E27FC236}">
                <a16:creationId xmlns:a16="http://schemas.microsoft.com/office/drawing/2014/main" id="{46D400E7-11BD-3AA1-8807-E9CF6F244314}"/>
              </a:ext>
            </a:extLst>
          </p:cNvPr>
          <p:cNvSpPr txBox="1"/>
          <p:nvPr/>
        </p:nvSpPr>
        <p:spPr>
          <a:xfrm>
            <a:off x="1219200" y="2184400"/>
            <a:ext cx="1320800" cy="276999"/>
          </a:xfrm>
          <a:prstGeom prst="rect">
            <a:avLst/>
          </a:prstGeom>
          <a:noFill/>
        </p:spPr>
        <p:txBody>
          <a:bodyPr vert="horz" wrap="square" lIns="0" tIns="0" rIns="0" bIns="0" rtlCol="0">
            <a:noAutofit/>
          </a:bodyPr>
          <a:lstStyle/>
          <a:p>
            <a:r>
              <a:rPr lang="en-US" altLang="zh-CN" sz="760" b="1">
                <a:solidFill>
                  <a:srgbClr val="CDE2FA"/>
                </a:solidFill>
                <a:latin typeface="Aptos" panose="020B0004020202020204" pitchFamily="34" charset="0"/>
              </a:rPr>
              <a:t>ANSWER PATTERN</a:t>
            </a:r>
            <a:endParaRPr lang="zh-CN" altLang="en-US" sz="760" b="1">
              <a:solidFill>
                <a:srgbClr val="CDE2FA"/>
              </a:solidFill>
              <a:latin typeface="Aptos" panose="020B0004020202020204" pitchFamily="34" charset="0"/>
            </a:endParaRPr>
          </a:p>
        </p:txBody>
      </p:sp>
      <p:sp>
        <p:nvSpPr>
          <p:cNvPr id="15" name="pattern-t">
            <a:extLst>
              <a:ext uri="{FF2B5EF4-FFF2-40B4-BE49-F238E27FC236}">
                <a16:creationId xmlns:a16="http://schemas.microsoft.com/office/drawing/2014/main" id="{36429375-82AE-273D-8357-ADA5000853FB}"/>
              </a:ext>
            </a:extLst>
          </p:cNvPr>
          <p:cNvSpPr txBox="1"/>
          <p:nvPr/>
        </p:nvSpPr>
        <p:spPr>
          <a:xfrm>
            <a:off x="1219200" y="2667000"/>
            <a:ext cx="2159000" cy="276999"/>
          </a:xfrm>
          <a:prstGeom prst="rect">
            <a:avLst/>
          </a:prstGeom>
          <a:noFill/>
        </p:spPr>
        <p:txBody>
          <a:bodyPr vert="horz" wrap="square" lIns="0" tIns="0" rIns="0" bIns="0" rtlCol="0">
            <a:noAutofit/>
          </a:bodyPr>
          <a:lstStyle/>
          <a:p>
            <a:r>
              <a:rPr lang="en-US" altLang="zh-CN" sz="2600" b="1">
                <a:solidFill>
                  <a:srgbClr val="FFFFFF"/>
                </a:solidFill>
                <a:latin typeface="Aptos" panose="020B0004020202020204" pitchFamily="34" charset="0"/>
              </a:rPr>
              <a:t>Answer.
Bound.
Point.</a:t>
            </a:r>
            <a:endParaRPr lang="zh-CN" altLang="en-US" sz="2600" b="1">
              <a:solidFill>
                <a:srgbClr val="FFFFFF"/>
              </a:solidFill>
              <a:latin typeface="Aptos" panose="020B0004020202020204" pitchFamily="34" charset="0"/>
            </a:endParaRPr>
          </a:p>
        </p:txBody>
      </p:sp>
      <p:cxnSp>
        <p:nvCxnSpPr>
          <p:cNvPr id="16" name="pattern-line">
            <a:extLst>
              <a:ext uri="{FF2B5EF4-FFF2-40B4-BE49-F238E27FC236}">
                <a16:creationId xmlns:a16="http://schemas.microsoft.com/office/drawing/2014/main" id="{6EB612DE-4557-7891-E901-EBDD70C0D2AE}"/>
              </a:ext>
            </a:extLst>
          </p:cNvPr>
          <p:cNvCxnSpPr/>
          <p:nvPr/>
        </p:nvCxnSpPr>
        <p:spPr>
          <a:xfrm>
            <a:off x="1219200" y="3886200"/>
            <a:ext cx="2438400" cy="0"/>
          </a:xfrm>
          <a:prstGeom prst="line">
            <a:avLst/>
          </a:prstGeom>
          <a:ln w="12700">
            <a:solidFill>
              <a:srgbClr val="5F8FC6"/>
            </a:solidFill>
          </a:ln>
        </p:spPr>
        <p:style>
          <a:lnRef idx="1">
            <a:schemeClr val="accent1"/>
          </a:lnRef>
          <a:fillRef idx="0">
            <a:schemeClr val="accent1"/>
          </a:fillRef>
          <a:effectRef idx="0">
            <a:schemeClr val="accent1"/>
          </a:effectRef>
          <a:fontRef idx="minor">
            <a:schemeClr val="tx1"/>
          </a:fontRef>
        </p:style>
      </p:cxnSp>
      <p:sp>
        <p:nvSpPr>
          <p:cNvPr id="17" name="pattern-s">
            <a:extLst>
              <a:ext uri="{FF2B5EF4-FFF2-40B4-BE49-F238E27FC236}">
                <a16:creationId xmlns:a16="http://schemas.microsoft.com/office/drawing/2014/main" id="{460C23DC-9437-D11A-6D60-8561917E4950}"/>
              </a:ext>
            </a:extLst>
          </p:cNvPr>
          <p:cNvSpPr txBox="1"/>
          <p:nvPr/>
        </p:nvSpPr>
        <p:spPr>
          <a:xfrm>
            <a:off x="1219200" y="4216400"/>
            <a:ext cx="2260600" cy="276999"/>
          </a:xfrm>
          <a:prstGeom prst="rect">
            <a:avLst/>
          </a:prstGeom>
          <a:noFill/>
        </p:spPr>
        <p:txBody>
          <a:bodyPr vert="horz" wrap="square" lIns="0" tIns="0" rIns="0" bIns="0" rtlCol="0">
            <a:noAutofit/>
          </a:bodyPr>
          <a:lstStyle/>
          <a:p>
            <a:r>
              <a:rPr lang="en-US" altLang="zh-CN" sz="1050" b="1">
                <a:solidFill>
                  <a:srgbClr val="DAE8FA"/>
                </a:solidFill>
                <a:latin typeface="Aptos" panose="020B0004020202020204" pitchFamily="34" charset="0"/>
              </a:rPr>
              <a:t>Do not defend a broader claim than the submitted evidence supports.</a:t>
            </a:r>
            <a:endParaRPr lang="zh-CN" altLang="en-US" sz="1050" b="1">
              <a:solidFill>
                <a:srgbClr val="DAE8FA"/>
              </a:solidFill>
              <a:latin typeface="Aptos" panose="020B0004020202020204" pitchFamily="34" charset="0"/>
            </a:endParaRPr>
          </a:p>
        </p:txBody>
      </p:sp>
      <p:sp>
        <p:nvSpPr>
          <p:cNvPr id="18" name="qa-0">
            <a:extLst>
              <a:ext uri="{FF2B5EF4-FFF2-40B4-BE49-F238E27FC236}">
                <a16:creationId xmlns:a16="http://schemas.microsoft.com/office/drawing/2014/main" id="{4F2615A2-F852-E2BC-0DD8-C112FC7D9514}"/>
              </a:ext>
            </a:extLst>
          </p:cNvPr>
          <p:cNvSpPr/>
          <p:nvPr/>
        </p:nvSpPr>
        <p:spPr>
          <a:xfrm>
            <a:off x="4572000" y="1854200"/>
            <a:ext cx="2794000" cy="914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qa-band-0">
            <a:extLst>
              <a:ext uri="{FF2B5EF4-FFF2-40B4-BE49-F238E27FC236}">
                <a16:creationId xmlns:a16="http://schemas.microsoft.com/office/drawing/2014/main" id="{8C8A9E6C-91CB-1B64-F148-17CF5AE1C06A}"/>
              </a:ext>
            </a:extLst>
          </p:cNvPr>
          <p:cNvSpPr/>
          <p:nvPr/>
        </p:nvSpPr>
        <p:spPr>
          <a:xfrm>
            <a:off x="4572000" y="1854200"/>
            <a:ext cx="88900" cy="914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q-0">
            <a:extLst>
              <a:ext uri="{FF2B5EF4-FFF2-40B4-BE49-F238E27FC236}">
                <a16:creationId xmlns:a16="http://schemas.microsoft.com/office/drawing/2014/main" id="{E0E170C2-0467-EC66-A92F-D5470D4C8862}"/>
              </a:ext>
            </a:extLst>
          </p:cNvPr>
          <p:cNvSpPr txBox="1"/>
          <p:nvPr/>
        </p:nvSpPr>
        <p:spPr>
          <a:xfrm>
            <a:off x="4851400" y="2032000"/>
            <a:ext cx="2133600" cy="276999"/>
          </a:xfrm>
          <a:prstGeom prst="rect">
            <a:avLst/>
          </a:prstGeom>
          <a:noFill/>
        </p:spPr>
        <p:txBody>
          <a:bodyPr vert="horz" wrap="square" lIns="0" tIns="0" rIns="0" bIns="0" rtlCol="0">
            <a:noAutofit/>
          </a:bodyPr>
          <a:lstStyle/>
          <a:p>
            <a:r>
              <a:rPr lang="en-US" altLang="zh-CN" sz="860" b="1">
                <a:solidFill>
                  <a:srgbClr val="003B7A"/>
                </a:solidFill>
                <a:latin typeface="Aptos" panose="020B0004020202020204" pitchFamily="34" charset="0"/>
              </a:rPr>
              <a:t>One detector score?</a:t>
            </a:r>
            <a:endParaRPr lang="zh-CN" altLang="en-US" sz="860" b="1">
              <a:solidFill>
                <a:srgbClr val="003B7A"/>
              </a:solidFill>
              <a:latin typeface="Aptos" panose="020B0004020202020204" pitchFamily="34" charset="0"/>
            </a:endParaRPr>
          </a:p>
        </p:txBody>
      </p:sp>
      <p:sp>
        <p:nvSpPr>
          <p:cNvPr id="21" name="a-0">
            <a:extLst>
              <a:ext uri="{FF2B5EF4-FFF2-40B4-BE49-F238E27FC236}">
                <a16:creationId xmlns:a16="http://schemas.microsoft.com/office/drawing/2014/main" id="{C75C617F-8B66-FBBB-A7F2-66810FFAD2D3}"/>
              </a:ext>
            </a:extLst>
          </p:cNvPr>
          <p:cNvSpPr txBox="1"/>
          <p:nvPr/>
        </p:nvSpPr>
        <p:spPr>
          <a:xfrm>
            <a:off x="4851400" y="2311400"/>
            <a:ext cx="2108200" cy="276999"/>
          </a:xfrm>
          <a:prstGeom prst="rect">
            <a:avLst/>
          </a:prstGeom>
          <a:noFill/>
        </p:spPr>
        <p:txBody>
          <a:bodyPr vert="horz" wrap="square" lIns="0" tIns="0" rIns="0" bIns="0" rtlCol="0">
            <a:noAutofit/>
          </a:bodyPr>
          <a:lstStyle/>
          <a:p>
            <a:r>
              <a:rPr lang="en-US" altLang="zh-CN" sz="770">
                <a:solidFill>
                  <a:srgbClr val="071A3D"/>
                </a:solidFill>
                <a:latin typeface="Aptos" panose="020B0004020202020204" pitchFamily="34" charset="0"/>
              </a:rPr>
              <a:t>No. It would mix incompatible access models.</a:t>
            </a:r>
            <a:endParaRPr lang="zh-CN" altLang="en-US" sz="770">
              <a:solidFill>
                <a:srgbClr val="071A3D"/>
              </a:solidFill>
              <a:latin typeface="Aptos" panose="020B0004020202020204" pitchFamily="34" charset="0"/>
            </a:endParaRPr>
          </a:p>
        </p:txBody>
      </p:sp>
      <p:sp>
        <p:nvSpPr>
          <p:cNvPr id="22" name="ptr-0">
            <a:extLst>
              <a:ext uri="{FF2B5EF4-FFF2-40B4-BE49-F238E27FC236}">
                <a16:creationId xmlns:a16="http://schemas.microsoft.com/office/drawing/2014/main" id="{3A979B73-CE1E-2EC3-2AA4-F251423C29CA}"/>
              </a:ext>
            </a:extLst>
          </p:cNvPr>
          <p:cNvSpPr txBox="1"/>
          <p:nvPr/>
        </p:nvSpPr>
        <p:spPr>
          <a:xfrm>
            <a:off x="4851400" y="2590800"/>
            <a:ext cx="1219200" cy="276999"/>
          </a:xfrm>
          <a:prstGeom prst="rect">
            <a:avLst/>
          </a:prstGeom>
          <a:noFill/>
        </p:spPr>
        <p:txBody>
          <a:bodyPr vert="horz" wrap="square" lIns="0" tIns="0" rIns="0" bIns="0" rtlCol="0">
            <a:noAutofit/>
          </a:bodyPr>
          <a:lstStyle/>
          <a:p>
            <a:r>
              <a:rPr lang="en-US" altLang="zh-CN" sz="640" b="1">
                <a:solidFill>
                  <a:srgbClr val="4A5B78"/>
                </a:solidFill>
                <a:latin typeface="Aptos" panose="020B0004020202020204" pitchFamily="34" charset="0"/>
              </a:rPr>
              <a:t>point: slide 5</a:t>
            </a:r>
            <a:endParaRPr lang="zh-CN" altLang="en-US" sz="640" b="1">
              <a:solidFill>
                <a:srgbClr val="4A5B78"/>
              </a:solidFill>
              <a:latin typeface="Aptos" panose="020B0004020202020204" pitchFamily="34" charset="0"/>
            </a:endParaRPr>
          </a:p>
        </p:txBody>
      </p:sp>
      <p:sp>
        <p:nvSpPr>
          <p:cNvPr id="23" name="qa-1">
            <a:extLst>
              <a:ext uri="{FF2B5EF4-FFF2-40B4-BE49-F238E27FC236}">
                <a16:creationId xmlns:a16="http://schemas.microsoft.com/office/drawing/2014/main" id="{43027D4F-5DAD-D81E-685E-7E592E0D0591}"/>
              </a:ext>
            </a:extLst>
          </p:cNvPr>
          <p:cNvSpPr/>
          <p:nvPr/>
        </p:nvSpPr>
        <p:spPr>
          <a:xfrm>
            <a:off x="7747000" y="1854200"/>
            <a:ext cx="2794000" cy="914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qa-band-1">
            <a:extLst>
              <a:ext uri="{FF2B5EF4-FFF2-40B4-BE49-F238E27FC236}">
                <a16:creationId xmlns:a16="http://schemas.microsoft.com/office/drawing/2014/main" id="{40E00DDD-DB66-BDC9-D6F0-E801E80B1427}"/>
              </a:ext>
            </a:extLst>
          </p:cNvPr>
          <p:cNvSpPr/>
          <p:nvPr/>
        </p:nvSpPr>
        <p:spPr>
          <a:xfrm>
            <a:off x="7747000" y="1854200"/>
            <a:ext cx="88900" cy="9144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q-1">
            <a:extLst>
              <a:ext uri="{FF2B5EF4-FFF2-40B4-BE49-F238E27FC236}">
                <a16:creationId xmlns:a16="http://schemas.microsoft.com/office/drawing/2014/main" id="{FD2C0C31-247E-0615-5845-3D9201E9E44F}"/>
              </a:ext>
            </a:extLst>
          </p:cNvPr>
          <p:cNvSpPr txBox="1"/>
          <p:nvPr/>
        </p:nvSpPr>
        <p:spPr>
          <a:xfrm>
            <a:off x="8026400" y="2032000"/>
            <a:ext cx="2133600" cy="276999"/>
          </a:xfrm>
          <a:prstGeom prst="rect">
            <a:avLst/>
          </a:prstGeom>
          <a:noFill/>
        </p:spPr>
        <p:txBody>
          <a:bodyPr vert="horz" wrap="square" lIns="0" tIns="0" rIns="0" bIns="0" rtlCol="0">
            <a:noAutofit/>
          </a:bodyPr>
          <a:lstStyle/>
          <a:p>
            <a:r>
              <a:rPr lang="en-US" altLang="zh-CN" sz="860" b="1">
                <a:solidFill>
                  <a:srgbClr val="5B45C8"/>
                </a:solidFill>
                <a:latin typeface="Aptos" panose="020B0004020202020204" pitchFamily="34" charset="0"/>
              </a:rPr>
              <a:t>CodeDye contamination?</a:t>
            </a:r>
            <a:endParaRPr lang="zh-CN" altLang="en-US" sz="860" b="1">
              <a:solidFill>
                <a:srgbClr val="5B45C8"/>
              </a:solidFill>
              <a:latin typeface="Aptos" panose="020B0004020202020204" pitchFamily="34" charset="0"/>
            </a:endParaRPr>
          </a:p>
        </p:txBody>
      </p:sp>
      <p:sp>
        <p:nvSpPr>
          <p:cNvPr id="26" name="a-1">
            <a:extLst>
              <a:ext uri="{FF2B5EF4-FFF2-40B4-BE49-F238E27FC236}">
                <a16:creationId xmlns:a16="http://schemas.microsoft.com/office/drawing/2014/main" id="{5765D75E-4D6E-216D-89C6-BD8BE80EF772}"/>
              </a:ext>
            </a:extLst>
          </p:cNvPr>
          <p:cNvSpPr txBox="1"/>
          <p:nvPr/>
        </p:nvSpPr>
        <p:spPr>
          <a:xfrm>
            <a:off x="8026400" y="2311400"/>
            <a:ext cx="2108200" cy="276999"/>
          </a:xfrm>
          <a:prstGeom prst="rect">
            <a:avLst/>
          </a:prstGeom>
          <a:noFill/>
        </p:spPr>
        <p:txBody>
          <a:bodyPr vert="horz" wrap="square" lIns="0" tIns="0" rIns="0" bIns="0" rtlCol="0">
            <a:noAutofit/>
          </a:bodyPr>
          <a:lstStyle/>
          <a:p>
            <a:r>
              <a:rPr lang="en-US" altLang="zh-CN" sz="770">
                <a:solidFill>
                  <a:srgbClr val="071A3D"/>
                </a:solidFill>
                <a:latin typeface="Aptos" panose="020B0004020202020204" pitchFamily="34" charset="0"/>
              </a:rPr>
              <a:t>No. 6/300 is sparse signal under controls, not accusation.</a:t>
            </a:r>
            <a:endParaRPr lang="zh-CN" altLang="en-US" sz="770">
              <a:solidFill>
                <a:srgbClr val="071A3D"/>
              </a:solidFill>
              <a:latin typeface="Aptos" panose="020B0004020202020204" pitchFamily="34" charset="0"/>
            </a:endParaRPr>
          </a:p>
        </p:txBody>
      </p:sp>
      <p:sp>
        <p:nvSpPr>
          <p:cNvPr id="27" name="ptr-1">
            <a:extLst>
              <a:ext uri="{FF2B5EF4-FFF2-40B4-BE49-F238E27FC236}">
                <a16:creationId xmlns:a16="http://schemas.microsoft.com/office/drawing/2014/main" id="{3B077429-EA59-E2BC-3564-3D9C8B591868}"/>
              </a:ext>
            </a:extLst>
          </p:cNvPr>
          <p:cNvSpPr txBox="1"/>
          <p:nvPr/>
        </p:nvSpPr>
        <p:spPr>
          <a:xfrm>
            <a:off x="8026400" y="2590800"/>
            <a:ext cx="1219200" cy="276999"/>
          </a:xfrm>
          <a:prstGeom prst="rect">
            <a:avLst/>
          </a:prstGeom>
          <a:noFill/>
        </p:spPr>
        <p:txBody>
          <a:bodyPr vert="horz" wrap="square" lIns="0" tIns="0" rIns="0" bIns="0" rtlCol="0">
            <a:noAutofit/>
          </a:bodyPr>
          <a:lstStyle/>
          <a:p>
            <a:r>
              <a:rPr lang="en-US" altLang="zh-CN" sz="640" b="1">
                <a:solidFill>
                  <a:srgbClr val="4A5B78"/>
                </a:solidFill>
                <a:latin typeface="Aptos" panose="020B0004020202020204" pitchFamily="34" charset="0"/>
              </a:rPr>
              <a:t>point: slide 8</a:t>
            </a:r>
            <a:endParaRPr lang="zh-CN" altLang="en-US" sz="640" b="1">
              <a:solidFill>
                <a:srgbClr val="4A5B78"/>
              </a:solidFill>
              <a:latin typeface="Aptos" panose="020B0004020202020204" pitchFamily="34" charset="0"/>
            </a:endParaRPr>
          </a:p>
        </p:txBody>
      </p:sp>
      <p:sp>
        <p:nvSpPr>
          <p:cNvPr id="28" name="qa-2">
            <a:extLst>
              <a:ext uri="{FF2B5EF4-FFF2-40B4-BE49-F238E27FC236}">
                <a16:creationId xmlns:a16="http://schemas.microsoft.com/office/drawing/2014/main" id="{9980D969-568E-AA25-F0E1-5B1F821F2513}"/>
              </a:ext>
            </a:extLst>
          </p:cNvPr>
          <p:cNvSpPr/>
          <p:nvPr/>
        </p:nvSpPr>
        <p:spPr>
          <a:xfrm>
            <a:off x="4572000" y="3022600"/>
            <a:ext cx="2794000" cy="914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qa-band-2">
            <a:extLst>
              <a:ext uri="{FF2B5EF4-FFF2-40B4-BE49-F238E27FC236}">
                <a16:creationId xmlns:a16="http://schemas.microsoft.com/office/drawing/2014/main" id="{076DB013-7C03-375E-ADC0-4F32D9C7CB37}"/>
              </a:ext>
            </a:extLst>
          </p:cNvPr>
          <p:cNvSpPr/>
          <p:nvPr/>
        </p:nvSpPr>
        <p:spPr>
          <a:xfrm>
            <a:off x="4572000" y="3022600"/>
            <a:ext cx="88900" cy="9144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q-2">
            <a:extLst>
              <a:ext uri="{FF2B5EF4-FFF2-40B4-BE49-F238E27FC236}">
                <a16:creationId xmlns:a16="http://schemas.microsoft.com/office/drawing/2014/main" id="{3F8094C4-3EB2-F5E9-92E5-9A48092A9DB2}"/>
              </a:ext>
            </a:extLst>
          </p:cNvPr>
          <p:cNvSpPr txBox="1"/>
          <p:nvPr/>
        </p:nvSpPr>
        <p:spPr>
          <a:xfrm>
            <a:off x="4851400" y="3200400"/>
            <a:ext cx="2133600" cy="276999"/>
          </a:xfrm>
          <a:prstGeom prst="rect">
            <a:avLst/>
          </a:prstGeom>
          <a:noFill/>
        </p:spPr>
        <p:txBody>
          <a:bodyPr vert="horz" wrap="square" lIns="0" tIns="0" rIns="0" bIns="0" rtlCol="0">
            <a:noAutofit/>
          </a:bodyPr>
          <a:lstStyle/>
          <a:p>
            <a:r>
              <a:rPr lang="en-US" altLang="zh-CN" sz="860" b="1">
                <a:solidFill>
                  <a:srgbClr val="B85C00"/>
                </a:solidFill>
                <a:latin typeface="Aptos" panose="020B0004020202020204" pitchFamily="34" charset="0"/>
              </a:rPr>
              <a:t>ProbeTrace 300/300?</a:t>
            </a:r>
            <a:endParaRPr lang="zh-CN" altLang="en-US" sz="860" b="1">
              <a:solidFill>
                <a:srgbClr val="B85C00"/>
              </a:solidFill>
              <a:latin typeface="Aptos" panose="020B0004020202020204" pitchFamily="34" charset="0"/>
            </a:endParaRPr>
          </a:p>
        </p:txBody>
      </p:sp>
      <p:sp>
        <p:nvSpPr>
          <p:cNvPr id="31" name="a-2">
            <a:extLst>
              <a:ext uri="{FF2B5EF4-FFF2-40B4-BE49-F238E27FC236}">
                <a16:creationId xmlns:a16="http://schemas.microsoft.com/office/drawing/2014/main" id="{4E5AE547-AC1B-914E-2903-FBB48864B5B9}"/>
              </a:ext>
            </a:extLst>
          </p:cNvPr>
          <p:cNvSpPr txBox="1"/>
          <p:nvPr/>
        </p:nvSpPr>
        <p:spPr>
          <a:xfrm>
            <a:off x="4851400" y="3479800"/>
            <a:ext cx="2108200" cy="276999"/>
          </a:xfrm>
          <a:prstGeom prst="rect">
            <a:avLst/>
          </a:prstGeom>
          <a:noFill/>
        </p:spPr>
        <p:txBody>
          <a:bodyPr vert="horz" wrap="square" lIns="0" tIns="0" rIns="0" bIns="0" rtlCol="0">
            <a:noAutofit/>
          </a:bodyPr>
          <a:lstStyle/>
          <a:p>
            <a:r>
              <a:rPr lang="en-US" altLang="zh-CN" sz="770">
                <a:solidFill>
                  <a:srgbClr val="071A3D"/>
                </a:solidFill>
                <a:latin typeface="Aptos" panose="020B0004020202020204" pitchFamily="34" charset="0"/>
              </a:rPr>
              <a:t>Scoped registry and split; 0/1,200 false-owner controls.</a:t>
            </a:r>
            <a:endParaRPr lang="zh-CN" altLang="en-US" sz="770">
              <a:solidFill>
                <a:srgbClr val="071A3D"/>
              </a:solidFill>
              <a:latin typeface="Aptos" panose="020B0004020202020204" pitchFamily="34" charset="0"/>
            </a:endParaRPr>
          </a:p>
        </p:txBody>
      </p:sp>
      <p:sp>
        <p:nvSpPr>
          <p:cNvPr id="32" name="ptr-2">
            <a:extLst>
              <a:ext uri="{FF2B5EF4-FFF2-40B4-BE49-F238E27FC236}">
                <a16:creationId xmlns:a16="http://schemas.microsoft.com/office/drawing/2014/main" id="{B065D332-5E71-A000-1A31-478B53FE663F}"/>
              </a:ext>
            </a:extLst>
          </p:cNvPr>
          <p:cNvSpPr txBox="1"/>
          <p:nvPr/>
        </p:nvSpPr>
        <p:spPr>
          <a:xfrm>
            <a:off x="4851400" y="3759200"/>
            <a:ext cx="1219200" cy="276999"/>
          </a:xfrm>
          <a:prstGeom prst="rect">
            <a:avLst/>
          </a:prstGeom>
          <a:noFill/>
        </p:spPr>
        <p:txBody>
          <a:bodyPr vert="horz" wrap="square" lIns="0" tIns="0" rIns="0" bIns="0" rtlCol="0">
            <a:noAutofit/>
          </a:bodyPr>
          <a:lstStyle/>
          <a:p>
            <a:r>
              <a:rPr lang="en-US" altLang="zh-CN" sz="640" b="1">
                <a:solidFill>
                  <a:srgbClr val="4A5B78"/>
                </a:solidFill>
                <a:latin typeface="Aptos" panose="020B0004020202020204" pitchFamily="34" charset="0"/>
              </a:rPr>
              <a:t>point: claim file</a:t>
            </a:r>
            <a:endParaRPr lang="zh-CN" altLang="en-US" sz="640" b="1">
              <a:solidFill>
                <a:srgbClr val="4A5B78"/>
              </a:solidFill>
              <a:latin typeface="Aptos" panose="020B0004020202020204" pitchFamily="34" charset="0"/>
            </a:endParaRPr>
          </a:p>
        </p:txBody>
      </p:sp>
      <p:sp>
        <p:nvSpPr>
          <p:cNvPr id="33" name="qa-3">
            <a:extLst>
              <a:ext uri="{FF2B5EF4-FFF2-40B4-BE49-F238E27FC236}">
                <a16:creationId xmlns:a16="http://schemas.microsoft.com/office/drawing/2014/main" id="{750E0F05-32BD-E861-BB8D-A84B4A0A6660}"/>
              </a:ext>
            </a:extLst>
          </p:cNvPr>
          <p:cNvSpPr/>
          <p:nvPr/>
        </p:nvSpPr>
        <p:spPr>
          <a:xfrm>
            <a:off x="7747000" y="3022600"/>
            <a:ext cx="2794000" cy="914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qa-band-3">
            <a:extLst>
              <a:ext uri="{FF2B5EF4-FFF2-40B4-BE49-F238E27FC236}">
                <a16:creationId xmlns:a16="http://schemas.microsoft.com/office/drawing/2014/main" id="{372E8EA7-4DEF-30A8-5E90-3567C69CA545}"/>
              </a:ext>
            </a:extLst>
          </p:cNvPr>
          <p:cNvSpPr/>
          <p:nvPr/>
        </p:nvSpPr>
        <p:spPr>
          <a:xfrm>
            <a:off x="7747000" y="3022600"/>
            <a:ext cx="88900" cy="9144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q-3">
            <a:extLst>
              <a:ext uri="{FF2B5EF4-FFF2-40B4-BE49-F238E27FC236}">
                <a16:creationId xmlns:a16="http://schemas.microsoft.com/office/drawing/2014/main" id="{55946B24-CA97-A9CE-DC87-DC4F8E318CD8}"/>
              </a:ext>
            </a:extLst>
          </p:cNvPr>
          <p:cNvSpPr txBox="1"/>
          <p:nvPr/>
        </p:nvSpPr>
        <p:spPr>
          <a:xfrm>
            <a:off x="8026400" y="3200400"/>
            <a:ext cx="2133600" cy="276999"/>
          </a:xfrm>
          <a:prstGeom prst="rect">
            <a:avLst/>
          </a:prstGeom>
          <a:noFill/>
        </p:spPr>
        <p:txBody>
          <a:bodyPr vert="horz" wrap="square" lIns="0" tIns="0" rIns="0" bIns="0" rtlCol="0">
            <a:noAutofit/>
          </a:bodyPr>
          <a:lstStyle/>
          <a:p>
            <a:r>
              <a:rPr lang="en-US" altLang="zh-CN" sz="860" b="1">
                <a:solidFill>
                  <a:srgbClr val="1F7A4D"/>
                </a:solidFill>
                <a:latin typeface="Aptos" panose="020B0004020202020204" pitchFamily="34" charset="0"/>
              </a:rPr>
              <a:t>Demo proof?</a:t>
            </a:r>
            <a:endParaRPr lang="zh-CN" altLang="en-US" sz="860" b="1">
              <a:solidFill>
                <a:srgbClr val="1F7A4D"/>
              </a:solidFill>
              <a:latin typeface="Aptos" panose="020B0004020202020204" pitchFamily="34" charset="0"/>
            </a:endParaRPr>
          </a:p>
        </p:txBody>
      </p:sp>
      <p:sp>
        <p:nvSpPr>
          <p:cNvPr id="36" name="a-3">
            <a:extLst>
              <a:ext uri="{FF2B5EF4-FFF2-40B4-BE49-F238E27FC236}">
                <a16:creationId xmlns:a16="http://schemas.microsoft.com/office/drawing/2014/main" id="{85E85E14-509C-5288-C458-FBE73FCFC649}"/>
              </a:ext>
            </a:extLst>
          </p:cNvPr>
          <p:cNvSpPr txBox="1"/>
          <p:nvPr/>
        </p:nvSpPr>
        <p:spPr>
          <a:xfrm>
            <a:off x="8026400" y="3479800"/>
            <a:ext cx="2108200" cy="276999"/>
          </a:xfrm>
          <a:prstGeom prst="rect">
            <a:avLst/>
          </a:prstGeom>
          <a:noFill/>
        </p:spPr>
        <p:txBody>
          <a:bodyPr vert="horz" wrap="square" lIns="0" tIns="0" rIns="0" bIns="0" rtlCol="0">
            <a:noAutofit/>
          </a:bodyPr>
          <a:lstStyle/>
          <a:p>
            <a:r>
              <a:rPr lang="en-US" altLang="zh-CN" sz="770">
                <a:solidFill>
                  <a:srgbClr val="071A3D"/>
                </a:solidFill>
                <a:latin typeface="Aptos" panose="020B0004020202020204" pitchFamily="34" charset="0"/>
              </a:rPr>
              <a:t>Inspectable files, hashes, manifest rows, and boundaries.</a:t>
            </a:r>
            <a:endParaRPr lang="zh-CN" altLang="en-US" sz="770">
              <a:solidFill>
                <a:srgbClr val="071A3D"/>
              </a:solidFill>
              <a:latin typeface="Aptos" panose="020B0004020202020204" pitchFamily="34" charset="0"/>
            </a:endParaRPr>
          </a:p>
        </p:txBody>
      </p:sp>
      <p:sp>
        <p:nvSpPr>
          <p:cNvPr id="37" name="ptr-3">
            <a:extLst>
              <a:ext uri="{FF2B5EF4-FFF2-40B4-BE49-F238E27FC236}">
                <a16:creationId xmlns:a16="http://schemas.microsoft.com/office/drawing/2014/main" id="{0E1AD367-858D-CEE3-CD95-BA06B3E70D19}"/>
              </a:ext>
            </a:extLst>
          </p:cNvPr>
          <p:cNvSpPr txBox="1"/>
          <p:nvPr/>
        </p:nvSpPr>
        <p:spPr>
          <a:xfrm>
            <a:off x="8026400" y="3759200"/>
            <a:ext cx="1219200" cy="276999"/>
          </a:xfrm>
          <a:prstGeom prst="rect">
            <a:avLst/>
          </a:prstGeom>
          <a:noFill/>
        </p:spPr>
        <p:txBody>
          <a:bodyPr vert="horz" wrap="square" lIns="0" tIns="0" rIns="0" bIns="0" rtlCol="0">
            <a:noAutofit/>
          </a:bodyPr>
          <a:lstStyle/>
          <a:p>
            <a:r>
              <a:rPr lang="en-US" altLang="zh-CN" sz="640" b="1">
                <a:solidFill>
                  <a:srgbClr val="4A5B78"/>
                </a:solidFill>
                <a:latin typeface="Aptos" panose="020B0004020202020204" pitchFamily="34" charset="0"/>
              </a:rPr>
              <a:t>point: viva_check.py</a:t>
            </a:r>
            <a:endParaRPr lang="zh-CN" altLang="en-US" sz="640" b="1">
              <a:solidFill>
                <a:srgbClr val="4A5B78"/>
              </a:solidFill>
              <a:latin typeface="Aptos" panose="020B0004020202020204" pitchFamily="34" charset="0"/>
            </a:endParaRPr>
          </a:p>
        </p:txBody>
      </p:sp>
      <p:sp>
        <p:nvSpPr>
          <p:cNvPr id="38" name="qa-4">
            <a:extLst>
              <a:ext uri="{FF2B5EF4-FFF2-40B4-BE49-F238E27FC236}">
                <a16:creationId xmlns:a16="http://schemas.microsoft.com/office/drawing/2014/main" id="{A407F175-852E-23B7-F9A8-AD3DBB789308}"/>
              </a:ext>
            </a:extLst>
          </p:cNvPr>
          <p:cNvSpPr/>
          <p:nvPr/>
        </p:nvSpPr>
        <p:spPr>
          <a:xfrm>
            <a:off x="4572000" y="4191000"/>
            <a:ext cx="6350000" cy="914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qa-band-4">
            <a:extLst>
              <a:ext uri="{FF2B5EF4-FFF2-40B4-BE49-F238E27FC236}">
                <a16:creationId xmlns:a16="http://schemas.microsoft.com/office/drawing/2014/main" id="{2562EA4C-1E58-18B8-6F4C-C21EE56CEC0F}"/>
              </a:ext>
            </a:extLst>
          </p:cNvPr>
          <p:cNvSpPr/>
          <p:nvPr/>
        </p:nvSpPr>
        <p:spPr>
          <a:xfrm>
            <a:off x="4572000" y="4191000"/>
            <a:ext cx="88900" cy="914400"/>
          </a:xfrm>
          <a:prstGeom prst="rect">
            <a:avLst/>
          </a:prstGeom>
          <a:solidFill>
            <a:srgbClr val="B8293C"/>
          </a:solidFill>
          <a:ln w="11430">
            <a:solidFill>
              <a:srgbClr val="B8293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q-4">
            <a:extLst>
              <a:ext uri="{FF2B5EF4-FFF2-40B4-BE49-F238E27FC236}">
                <a16:creationId xmlns:a16="http://schemas.microsoft.com/office/drawing/2014/main" id="{3B68DA7E-D78E-A474-EE87-1825CA07FE03}"/>
              </a:ext>
            </a:extLst>
          </p:cNvPr>
          <p:cNvSpPr txBox="1"/>
          <p:nvPr/>
        </p:nvSpPr>
        <p:spPr>
          <a:xfrm>
            <a:off x="4851400" y="4368800"/>
            <a:ext cx="2133600" cy="276999"/>
          </a:xfrm>
          <a:prstGeom prst="rect">
            <a:avLst/>
          </a:prstGeom>
          <a:noFill/>
        </p:spPr>
        <p:txBody>
          <a:bodyPr vert="horz" wrap="square" lIns="0" tIns="0" rIns="0" bIns="0" rtlCol="0">
            <a:noAutofit/>
          </a:bodyPr>
          <a:lstStyle/>
          <a:p>
            <a:r>
              <a:rPr lang="en-US" altLang="zh-CN" sz="860" b="1">
                <a:solidFill>
                  <a:srgbClr val="B8293C"/>
                </a:solidFill>
                <a:latin typeface="Aptos" panose="020B0004020202020204" pitchFamily="34" charset="0"/>
              </a:rPr>
              <a:t>Biggest limitation?</a:t>
            </a:r>
            <a:endParaRPr lang="zh-CN" altLang="en-US" sz="860" b="1">
              <a:solidFill>
                <a:srgbClr val="B8293C"/>
              </a:solidFill>
              <a:latin typeface="Aptos" panose="020B0004020202020204" pitchFamily="34" charset="0"/>
            </a:endParaRPr>
          </a:p>
        </p:txBody>
      </p:sp>
      <p:sp>
        <p:nvSpPr>
          <p:cNvPr id="41" name="a-4">
            <a:extLst>
              <a:ext uri="{FF2B5EF4-FFF2-40B4-BE49-F238E27FC236}">
                <a16:creationId xmlns:a16="http://schemas.microsoft.com/office/drawing/2014/main" id="{7ED0D6C1-97BC-30E8-F409-A6D7C684ED09}"/>
              </a:ext>
            </a:extLst>
          </p:cNvPr>
          <p:cNvSpPr txBox="1"/>
          <p:nvPr/>
        </p:nvSpPr>
        <p:spPr>
          <a:xfrm>
            <a:off x="4851400" y="4648200"/>
            <a:ext cx="5664200" cy="276999"/>
          </a:xfrm>
          <a:prstGeom prst="rect">
            <a:avLst/>
          </a:prstGeom>
          <a:noFill/>
        </p:spPr>
        <p:txBody>
          <a:bodyPr vert="horz" wrap="square" lIns="0" tIns="0" rIns="0" bIns="0" rtlCol="0">
            <a:noAutofit/>
          </a:bodyPr>
          <a:lstStyle/>
          <a:p>
            <a:r>
              <a:rPr lang="en-US" altLang="zh-CN" sz="770">
                <a:solidFill>
                  <a:srgbClr val="071A3D"/>
                </a:solidFill>
                <a:latin typeface="Aptos" panose="020B0004020202020204" pitchFamily="34" charset="0"/>
              </a:rPr>
              <a:t>Finite denominators; broader claims need new evidence.</a:t>
            </a:r>
            <a:endParaRPr lang="zh-CN" altLang="en-US" sz="770">
              <a:solidFill>
                <a:srgbClr val="071A3D"/>
              </a:solidFill>
              <a:latin typeface="Aptos" panose="020B0004020202020204" pitchFamily="34" charset="0"/>
            </a:endParaRPr>
          </a:p>
        </p:txBody>
      </p:sp>
      <p:sp>
        <p:nvSpPr>
          <p:cNvPr id="42" name="ptr-4">
            <a:extLst>
              <a:ext uri="{FF2B5EF4-FFF2-40B4-BE49-F238E27FC236}">
                <a16:creationId xmlns:a16="http://schemas.microsoft.com/office/drawing/2014/main" id="{8D6F2A9A-9057-6144-2949-17F75BB6AF46}"/>
              </a:ext>
            </a:extLst>
          </p:cNvPr>
          <p:cNvSpPr txBox="1"/>
          <p:nvPr/>
        </p:nvSpPr>
        <p:spPr>
          <a:xfrm>
            <a:off x="4851400" y="4927600"/>
            <a:ext cx="1219200" cy="276999"/>
          </a:xfrm>
          <a:prstGeom prst="rect">
            <a:avLst/>
          </a:prstGeom>
          <a:noFill/>
        </p:spPr>
        <p:txBody>
          <a:bodyPr vert="horz" wrap="square" lIns="0" tIns="0" rIns="0" bIns="0" rtlCol="0">
            <a:noAutofit/>
          </a:bodyPr>
          <a:lstStyle/>
          <a:p>
            <a:r>
              <a:rPr lang="en-US" altLang="zh-CN" sz="640" b="1">
                <a:solidFill>
                  <a:srgbClr val="4A5B78"/>
                </a:solidFill>
                <a:latin typeface="Aptos" panose="020B0004020202020204" pitchFamily="34" charset="0"/>
              </a:rPr>
              <a:t>point: boundary</a:t>
            </a:r>
            <a:endParaRPr lang="zh-CN" altLang="en-US" sz="640" b="1">
              <a:solidFill>
                <a:srgbClr val="4A5B78"/>
              </a:solidFill>
              <a:latin typeface="Aptos" panose="020B0004020202020204" pitchFamily="34" charset="0"/>
            </a:endParaRPr>
          </a:p>
        </p:txBody>
      </p:sp>
      <p:sp>
        <p:nvSpPr>
          <p:cNvPr id="43" name="qa-rule">
            <a:extLst>
              <a:ext uri="{FF2B5EF4-FFF2-40B4-BE49-F238E27FC236}">
                <a16:creationId xmlns:a16="http://schemas.microsoft.com/office/drawing/2014/main" id="{E37AC809-DC51-2C6D-C645-E699CA8EFA96}"/>
              </a:ext>
            </a:extLst>
          </p:cNvPr>
          <p:cNvSpPr/>
          <p:nvPr/>
        </p:nvSpPr>
        <p:spPr>
          <a:xfrm>
            <a:off x="2641600" y="5816600"/>
            <a:ext cx="6908800" cy="304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qa-rule-t">
            <a:extLst>
              <a:ext uri="{FF2B5EF4-FFF2-40B4-BE49-F238E27FC236}">
                <a16:creationId xmlns:a16="http://schemas.microsoft.com/office/drawing/2014/main" id="{DF1C42A0-44AB-6BCA-B8E8-A5A8204C70A3}"/>
              </a:ext>
            </a:extLst>
          </p:cNvPr>
          <p:cNvSpPr txBox="1"/>
          <p:nvPr/>
        </p:nvSpPr>
        <p:spPr>
          <a:xfrm>
            <a:off x="3022600" y="5905500"/>
            <a:ext cx="6146800" cy="276999"/>
          </a:xfrm>
          <a:prstGeom prst="rect">
            <a:avLst/>
          </a:prstGeom>
          <a:noFill/>
        </p:spPr>
        <p:txBody>
          <a:bodyPr vert="horz" wrap="square" lIns="0" tIns="0" rIns="0" bIns="0" rtlCol="0">
            <a:noAutofit/>
          </a:bodyPr>
          <a:lstStyle/>
          <a:p>
            <a:r>
              <a:rPr lang="en-US" altLang="zh-CN" sz="710" b="1">
                <a:solidFill>
                  <a:srgbClr val="071A3D"/>
                </a:solidFill>
                <a:latin typeface="Aptos" panose="020B0004020202020204" pitchFamily="34" charset="0"/>
              </a:rPr>
              <a:t>If unsure: state the boundary first, then offer to open the artifact.</a:t>
            </a:r>
            <a:endParaRPr lang="zh-CN" altLang="en-US" sz="710" b="1">
              <a:solidFill>
                <a:srgbClr val="071A3D"/>
              </a:solidFill>
              <a:latin typeface="Aptos" panose="020B0004020202020204" pitchFamily="34" charset="0"/>
            </a:endParaRPr>
          </a:p>
        </p:txBody>
      </p:sp>
      <p:sp>
        <p:nvSpPr>
          <p:cNvPr id="45" name="footer-hit-15">
            <a:hlinkClick r:id="rId4"/>
            <a:extLst>
              <a:ext uri="{FF2B5EF4-FFF2-40B4-BE49-F238E27FC236}">
                <a16:creationId xmlns:a16="http://schemas.microsoft.com/office/drawing/2014/main" id="{130F25E1-5FB4-9807-84BF-FAA0CBAE36E9}"/>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87173004"/>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160"/>
                                        <p:tgtEl>
                                          <p:spTgt spid="40"/>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160"/>
                                        <p:tgtEl>
                                          <p:spTgt spid="41"/>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160"/>
                                        <p:tgtEl>
                                          <p:spTgt spid="42"/>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160"/>
                                        <p:tgtEl>
                                          <p:spTgt spid="43"/>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16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7" grpId="0"/>
      <p:bldP spid="18" grpId="0" animBg="1"/>
      <p:bldP spid="19" grpId="0" animBg="1"/>
      <p:bldP spid="20" grpId="0"/>
      <p:bldP spid="21" grpId="0"/>
      <p:bldP spid="22" grpId="0"/>
      <p:bldP spid="23" grpId="0" animBg="1"/>
      <p:bldP spid="24" grpId="0" animBg="1"/>
      <p:bldP spid="25" grpId="0"/>
      <p:bldP spid="26" grpId="0"/>
      <p:bldP spid="27" grpId="0"/>
      <p:bldP spid="28" grpId="0" animBg="1"/>
      <p:bldP spid="29" grpId="0" animBg="1"/>
      <p:bldP spid="30" grpId="0"/>
      <p:bldP spid="31" grpId="0"/>
      <p:bldP spid="32" grpId="0"/>
      <p:bldP spid="33" grpId="0" animBg="1"/>
      <p:bldP spid="34" grpId="0" animBg="1"/>
      <p:bldP spid="35" grpId="0"/>
      <p:bldP spid="36" grpId="0"/>
      <p:bldP spid="37" grpId="0"/>
      <p:bldP spid="38" grpId="0" animBg="1"/>
      <p:bldP spid="39" grpId="0" animBg="1"/>
      <p:bldP spid="40" grpId="0"/>
      <p:bldP spid="41" grpId="0"/>
      <p:bldP spid="42" grpId="0"/>
      <p:bldP spid="43" grpId="0" animBg="1"/>
      <p:bldP spid="4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22D9B619-6CCD-FAA2-A1E2-E94B4632CEF4}"/>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5DFABD51-3AC5-8018-035C-344D04195CE8}"/>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BCBFF594-FD7F-CEB0-7253-F80766AE8315}"/>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6E7E0814-3EA6-CF92-6AC7-3C763FB86876}"/>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BACKUP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94FA2668-D1FA-9CFA-E113-A9A2E0BDA92D}"/>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16</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7F1B7EA3-271F-C691-F0FE-3A13B795337F}"/>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E3C76770-8C68-0F43-0AC3-BF7557515182}"/>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D735AAAC-3840-46EC-CBA8-4B01EEC0F03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F1FB74C6-A5AB-6D6F-856C-5F5A47A90454}"/>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Demo storyboard and fallback.</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A352360D-815B-FE93-B917-86484BC93894}"/>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Use this if the live demo fails or the examiner asks what the video shows.</a:t>
            </a:r>
            <a:endParaRPr lang="zh-CN" altLang="en-US" sz="930">
              <a:solidFill>
                <a:srgbClr val="4A5B78"/>
              </a:solidFill>
              <a:latin typeface="Aptos" panose="020B0004020202020204" pitchFamily="34" charset="0"/>
            </a:endParaRPr>
          </a:p>
        </p:txBody>
      </p:sp>
      <p:sp>
        <p:nvSpPr>
          <p:cNvPr id="13" name="live">
            <a:extLst>
              <a:ext uri="{FF2B5EF4-FFF2-40B4-BE49-F238E27FC236}">
                <a16:creationId xmlns:a16="http://schemas.microsoft.com/office/drawing/2014/main" id="{77017413-FBA1-432B-138A-7A0DAE1C4E2E}"/>
              </a:ext>
            </a:extLst>
          </p:cNvPr>
          <p:cNvSpPr/>
          <p:nvPr/>
        </p:nvSpPr>
        <p:spPr>
          <a:xfrm>
            <a:off x="863600" y="1854200"/>
            <a:ext cx="3810000" cy="31242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ive-k">
            <a:extLst>
              <a:ext uri="{FF2B5EF4-FFF2-40B4-BE49-F238E27FC236}">
                <a16:creationId xmlns:a16="http://schemas.microsoft.com/office/drawing/2014/main" id="{EC5F61F2-0FCC-3282-EE1B-D68D6B8B64B4}"/>
              </a:ext>
            </a:extLst>
          </p:cNvPr>
          <p:cNvSpPr txBox="1"/>
          <p:nvPr/>
        </p:nvSpPr>
        <p:spPr>
          <a:xfrm>
            <a:off x="1219200" y="2209800"/>
            <a:ext cx="1524000" cy="276999"/>
          </a:xfrm>
          <a:prstGeom prst="rect">
            <a:avLst/>
          </a:prstGeom>
          <a:noFill/>
        </p:spPr>
        <p:txBody>
          <a:bodyPr vert="horz" wrap="square" lIns="0" tIns="0" rIns="0" bIns="0" rtlCol="0">
            <a:noAutofit/>
          </a:bodyPr>
          <a:lstStyle/>
          <a:p>
            <a:r>
              <a:rPr lang="en-US" altLang="zh-CN" sz="760" b="1">
                <a:solidFill>
                  <a:srgbClr val="CDE2FA"/>
                </a:solidFill>
                <a:latin typeface="Aptos" panose="020B0004020202020204" pitchFamily="34" charset="0"/>
              </a:rPr>
              <a:t>LIVE ROUTE</a:t>
            </a:r>
            <a:endParaRPr lang="zh-CN" altLang="en-US" sz="760" b="1">
              <a:solidFill>
                <a:srgbClr val="CDE2FA"/>
              </a:solidFill>
              <a:latin typeface="Aptos" panose="020B0004020202020204" pitchFamily="34" charset="0"/>
            </a:endParaRPr>
          </a:p>
        </p:txBody>
      </p:sp>
      <p:sp>
        <p:nvSpPr>
          <p:cNvPr id="15" name="live-t">
            <a:extLst>
              <a:ext uri="{FF2B5EF4-FFF2-40B4-BE49-F238E27FC236}">
                <a16:creationId xmlns:a16="http://schemas.microsoft.com/office/drawing/2014/main" id="{120D809F-789B-35A9-DD7F-A86BBB5F9669}"/>
              </a:ext>
            </a:extLst>
          </p:cNvPr>
          <p:cNvSpPr txBox="1"/>
          <p:nvPr/>
        </p:nvSpPr>
        <p:spPr>
          <a:xfrm>
            <a:off x="1219200" y="2717800"/>
            <a:ext cx="2514600" cy="276999"/>
          </a:xfrm>
          <a:prstGeom prst="rect">
            <a:avLst/>
          </a:prstGeom>
          <a:noFill/>
        </p:spPr>
        <p:txBody>
          <a:bodyPr vert="horz" wrap="square" lIns="0" tIns="0" rIns="0" bIns="0" rtlCol="0">
            <a:noAutofit/>
          </a:bodyPr>
          <a:lstStyle/>
          <a:p>
            <a:r>
              <a:rPr lang="en-US" altLang="zh-CN" sz="1850" b="1">
                <a:solidFill>
                  <a:srgbClr val="FFFFFF"/>
                </a:solidFill>
                <a:latin typeface="Aptos" panose="020B0004020202020204" pitchFamily="34" charset="0"/>
              </a:rPr>
              <a:t>show the same inspection path every time</a:t>
            </a:r>
            <a:endParaRPr lang="zh-CN" altLang="en-US" sz="1850" b="1">
              <a:solidFill>
                <a:srgbClr val="FFFFFF"/>
              </a:solidFill>
              <a:latin typeface="Aptos" panose="020B0004020202020204" pitchFamily="34" charset="0"/>
            </a:endParaRPr>
          </a:p>
        </p:txBody>
      </p:sp>
      <p:sp>
        <p:nvSpPr>
          <p:cNvPr id="16" name="live-s">
            <a:extLst>
              <a:ext uri="{FF2B5EF4-FFF2-40B4-BE49-F238E27FC236}">
                <a16:creationId xmlns:a16="http://schemas.microsoft.com/office/drawing/2014/main" id="{D419367C-921D-599D-8F1D-35D56CFA9D20}"/>
              </a:ext>
            </a:extLst>
          </p:cNvPr>
          <p:cNvSpPr txBox="1"/>
          <p:nvPr/>
        </p:nvSpPr>
        <p:spPr>
          <a:xfrm>
            <a:off x="1219200" y="3860800"/>
            <a:ext cx="2641600" cy="276999"/>
          </a:xfrm>
          <a:prstGeom prst="rect">
            <a:avLst/>
          </a:prstGeom>
          <a:noFill/>
        </p:spPr>
        <p:txBody>
          <a:bodyPr vert="horz" wrap="square" lIns="0" tIns="0" rIns="0" bIns="0" rtlCol="0">
            <a:noAutofit/>
          </a:bodyPr>
          <a:lstStyle/>
          <a:p>
            <a:r>
              <a:rPr lang="en-US" altLang="zh-CN" sz="870">
                <a:solidFill>
                  <a:srgbClr val="DAE8FA"/>
                </a:solidFill>
                <a:latin typeface="Aptos" panose="020B0004020202020204" pitchFamily="34" charset="0"/>
              </a:rPr>
              <a:t>Keep it under two minutes: open, point, close. Do not rerun large experiments.</a:t>
            </a:r>
            <a:endParaRPr lang="zh-CN" altLang="en-US" sz="870">
              <a:solidFill>
                <a:srgbClr val="DAE8FA"/>
              </a:solidFill>
              <a:latin typeface="Aptos" panose="020B0004020202020204" pitchFamily="34" charset="0"/>
            </a:endParaRPr>
          </a:p>
        </p:txBody>
      </p:sp>
      <p:sp>
        <p:nvSpPr>
          <p:cNvPr id="17" name="live-page">
            <a:hlinkClick r:id="rId4"/>
            <a:extLst>
              <a:ext uri="{FF2B5EF4-FFF2-40B4-BE49-F238E27FC236}">
                <a16:creationId xmlns:a16="http://schemas.microsoft.com/office/drawing/2014/main" id="{985AD3BD-8C5B-0775-BC56-EBFFA603C182}"/>
              </a:ext>
            </a:extLst>
          </p:cNvPr>
          <p:cNvSpPr/>
          <p:nvPr/>
        </p:nvSpPr>
        <p:spPr>
          <a:xfrm>
            <a:off x="1219200" y="4495800"/>
            <a:ext cx="1168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Project page</a:t>
            </a:r>
            <a:endParaRPr lang="zh-CN" altLang="en-US" sz="760" b="1">
              <a:solidFill>
                <a:srgbClr val="003B7A"/>
              </a:solidFill>
              <a:latin typeface="Aptos" panose="020B0004020202020204" pitchFamily="34" charset="0"/>
            </a:endParaRPr>
          </a:p>
        </p:txBody>
      </p:sp>
      <p:sp>
        <p:nvSpPr>
          <p:cNvPr id="18" name="live-check">
            <a:hlinkClick r:id="rId5"/>
            <a:extLst>
              <a:ext uri="{FF2B5EF4-FFF2-40B4-BE49-F238E27FC236}">
                <a16:creationId xmlns:a16="http://schemas.microsoft.com/office/drawing/2014/main" id="{7B2D9046-7F16-D69A-0A49-D7C6C139B7C1}"/>
              </a:ext>
            </a:extLst>
          </p:cNvPr>
          <p:cNvSpPr/>
          <p:nvPr/>
        </p:nvSpPr>
        <p:spPr>
          <a:xfrm>
            <a:off x="2489200" y="4495800"/>
            <a:ext cx="12700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Check script</a:t>
            </a:r>
            <a:endParaRPr lang="zh-CN" altLang="en-US" sz="760" b="1">
              <a:solidFill>
                <a:srgbClr val="003B7A"/>
              </a:solidFill>
              <a:latin typeface="Aptos" panose="020B0004020202020204" pitchFamily="34" charset="0"/>
            </a:endParaRPr>
          </a:p>
        </p:txBody>
      </p:sp>
      <p:cxnSp>
        <p:nvCxnSpPr>
          <p:cNvPr id="19" name="demo-spine">
            <a:extLst>
              <a:ext uri="{FF2B5EF4-FFF2-40B4-BE49-F238E27FC236}">
                <a16:creationId xmlns:a16="http://schemas.microsoft.com/office/drawing/2014/main" id="{051DE732-12AE-3F53-9B0D-53FEBA2FEFB7}"/>
              </a:ext>
            </a:extLst>
          </p:cNvPr>
          <p:cNvCxnSpPr/>
          <p:nvPr/>
        </p:nvCxnSpPr>
        <p:spPr>
          <a:xfrm>
            <a:off x="5384800" y="3327400"/>
            <a:ext cx="5308600" cy="0"/>
          </a:xfrm>
          <a:prstGeom prst="line">
            <a:avLst/>
          </a:prstGeom>
          <a:ln w="25400">
            <a:solidFill>
              <a:srgbClr val="D5E2F0"/>
            </a:solidFill>
          </a:ln>
        </p:spPr>
        <p:style>
          <a:lnRef idx="1">
            <a:schemeClr val="accent1"/>
          </a:lnRef>
          <a:fillRef idx="0">
            <a:schemeClr val="accent1"/>
          </a:fillRef>
          <a:effectRef idx="0">
            <a:schemeClr val="accent1"/>
          </a:effectRef>
          <a:fontRef idx="minor">
            <a:schemeClr val="tx1"/>
          </a:fontRef>
        </p:style>
      </p:cxnSp>
      <p:sp>
        <p:nvSpPr>
          <p:cNvPr id="20" name="story-dot-0">
            <a:extLst>
              <a:ext uri="{FF2B5EF4-FFF2-40B4-BE49-F238E27FC236}">
                <a16:creationId xmlns:a16="http://schemas.microsoft.com/office/drawing/2014/main" id="{BB65C22B-598D-8808-AABB-666313582704}"/>
              </a:ext>
            </a:extLst>
          </p:cNvPr>
          <p:cNvSpPr/>
          <p:nvPr/>
        </p:nvSpPr>
        <p:spPr>
          <a:xfrm>
            <a:off x="4978400" y="3022600"/>
            <a:ext cx="635000" cy="635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story-num-0">
            <a:extLst>
              <a:ext uri="{FF2B5EF4-FFF2-40B4-BE49-F238E27FC236}">
                <a16:creationId xmlns:a16="http://schemas.microsoft.com/office/drawing/2014/main" id="{1DD831FB-FA62-18E7-B936-48B3C56E092C}"/>
              </a:ext>
            </a:extLst>
          </p:cNvPr>
          <p:cNvSpPr txBox="1"/>
          <p:nvPr/>
        </p:nvSpPr>
        <p:spPr>
          <a:xfrm>
            <a:off x="5181600" y="3238500"/>
            <a:ext cx="203200" cy="276999"/>
          </a:xfrm>
          <a:prstGeom prst="rect">
            <a:avLst/>
          </a:prstGeom>
          <a:noFill/>
        </p:spPr>
        <p:txBody>
          <a:bodyPr vert="horz" wrap="square" lIns="0" tIns="0" rIns="0" bIns="0" rtlCol="0">
            <a:noAutofit/>
          </a:bodyPr>
          <a:lstStyle/>
          <a:p>
            <a:r>
              <a:rPr lang="en-US" altLang="zh-CN" sz="740" b="1">
                <a:solidFill>
                  <a:srgbClr val="FFFFFF"/>
                </a:solidFill>
                <a:latin typeface="Aptos" panose="020B0004020202020204" pitchFamily="34" charset="0"/>
              </a:rPr>
              <a:t>01</a:t>
            </a:r>
            <a:endParaRPr lang="zh-CN" altLang="en-US" sz="740" b="1">
              <a:solidFill>
                <a:srgbClr val="FFFFFF"/>
              </a:solidFill>
              <a:latin typeface="Aptos" panose="020B0004020202020204" pitchFamily="34" charset="0"/>
            </a:endParaRPr>
          </a:p>
        </p:txBody>
      </p:sp>
      <p:sp>
        <p:nvSpPr>
          <p:cNvPr id="22" name="story-title-0">
            <a:extLst>
              <a:ext uri="{FF2B5EF4-FFF2-40B4-BE49-F238E27FC236}">
                <a16:creationId xmlns:a16="http://schemas.microsoft.com/office/drawing/2014/main" id="{CF323F15-27FC-2357-76A2-F6AC1E949392}"/>
              </a:ext>
            </a:extLst>
          </p:cNvPr>
          <p:cNvSpPr txBox="1"/>
          <p:nvPr/>
        </p:nvSpPr>
        <p:spPr>
          <a:xfrm>
            <a:off x="4749800" y="3987800"/>
            <a:ext cx="10922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Project page</a:t>
            </a:r>
            <a:endParaRPr lang="zh-CN" altLang="en-US" sz="820" b="1">
              <a:solidFill>
                <a:srgbClr val="071A3D"/>
              </a:solidFill>
              <a:latin typeface="Aptos" panose="020B0004020202020204" pitchFamily="34" charset="0"/>
            </a:endParaRPr>
          </a:p>
        </p:txBody>
      </p:sp>
      <p:sp>
        <p:nvSpPr>
          <p:cNvPr id="23" name="story-sub-0">
            <a:extLst>
              <a:ext uri="{FF2B5EF4-FFF2-40B4-BE49-F238E27FC236}">
                <a16:creationId xmlns:a16="http://schemas.microsoft.com/office/drawing/2014/main" id="{F375DCF9-18FA-F34B-AC6F-D664A7649FCE}"/>
              </a:ext>
            </a:extLst>
          </p:cNvPr>
          <p:cNvSpPr txBox="1"/>
          <p:nvPr/>
        </p:nvSpPr>
        <p:spPr>
          <a:xfrm>
            <a:off x="4749800" y="4292600"/>
            <a:ext cx="1092200" cy="276999"/>
          </a:xfrm>
          <a:prstGeom prst="rect">
            <a:avLst/>
          </a:prstGeom>
          <a:noFill/>
        </p:spPr>
        <p:txBody>
          <a:bodyPr vert="horz" wrap="square" lIns="0" tIns="0" rIns="0" bIns="0" rtlCol="0">
            <a:noAutofit/>
          </a:bodyPr>
          <a:lstStyle/>
          <a:p>
            <a:r>
              <a:rPr lang="en-US" altLang="zh-CN" sz="680">
                <a:solidFill>
                  <a:srgbClr val="4A5B78"/>
                </a:solidFill>
                <a:latin typeface="Aptos" panose="020B0004020202020204" pitchFamily="34" charset="0"/>
              </a:rPr>
              <a:t>entry + deck</a:t>
            </a:r>
            <a:endParaRPr lang="zh-CN" altLang="en-US" sz="680">
              <a:solidFill>
                <a:srgbClr val="4A5B78"/>
              </a:solidFill>
              <a:latin typeface="Aptos" panose="020B0004020202020204" pitchFamily="34" charset="0"/>
            </a:endParaRPr>
          </a:p>
        </p:txBody>
      </p:sp>
      <p:cxnSp>
        <p:nvCxnSpPr>
          <p:cNvPr id="24" name="story-arr-0">
            <a:extLst>
              <a:ext uri="{FF2B5EF4-FFF2-40B4-BE49-F238E27FC236}">
                <a16:creationId xmlns:a16="http://schemas.microsoft.com/office/drawing/2014/main" id="{7E04C124-329D-0657-8396-FE0B82DF6E35}"/>
              </a:ext>
            </a:extLst>
          </p:cNvPr>
          <p:cNvCxnSpPr/>
          <p:nvPr/>
        </p:nvCxnSpPr>
        <p:spPr>
          <a:xfrm>
            <a:off x="5664200" y="3340100"/>
            <a:ext cx="431800" cy="0"/>
          </a:xfrm>
          <a:prstGeom prst="line">
            <a:avLst/>
          </a:prstGeom>
          <a:ln w="15240">
            <a:solidFill>
              <a:srgbClr val="D5E2F0"/>
            </a:solidFill>
            <a:tailEnd type="arrow"/>
          </a:ln>
        </p:spPr>
        <p:style>
          <a:lnRef idx="1">
            <a:schemeClr val="accent1"/>
          </a:lnRef>
          <a:fillRef idx="0">
            <a:schemeClr val="accent1"/>
          </a:fillRef>
          <a:effectRef idx="0">
            <a:schemeClr val="accent1"/>
          </a:effectRef>
          <a:fontRef idx="minor">
            <a:schemeClr val="tx1"/>
          </a:fontRef>
        </p:style>
      </p:cxnSp>
      <p:sp>
        <p:nvSpPr>
          <p:cNvPr id="25" name="story-hit-0">
            <a:hlinkClick r:id="rId4"/>
            <a:extLst>
              <a:ext uri="{FF2B5EF4-FFF2-40B4-BE49-F238E27FC236}">
                <a16:creationId xmlns:a16="http://schemas.microsoft.com/office/drawing/2014/main" id="{F19CEA9A-7D5F-FB27-EF4A-FF1B4E932F4C}"/>
              </a:ext>
            </a:extLst>
          </p:cNvPr>
          <p:cNvSpPr/>
          <p:nvPr/>
        </p:nvSpPr>
        <p:spPr>
          <a:xfrm>
            <a:off x="4749800" y="2844800"/>
            <a:ext cx="10922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story-dot-1">
            <a:extLst>
              <a:ext uri="{FF2B5EF4-FFF2-40B4-BE49-F238E27FC236}">
                <a16:creationId xmlns:a16="http://schemas.microsoft.com/office/drawing/2014/main" id="{2E43DF3B-CE46-70DB-4639-0CB58AE2E2BF}"/>
              </a:ext>
            </a:extLst>
          </p:cNvPr>
          <p:cNvSpPr/>
          <p:nvPr/>
        </p:nvSpPr>
        <p:spPr>
          <a:xfrm>
            <a:off x="6172200" y="3022600"/>
            <a:ext cx="635000" cy="6350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story-num-1">
            <a:extLst>
              <a:ext uri="{FF2B5EF4-FFF2-40B4-BE49-F238E27FC236}">
                <a16:creationId xmlns:a16="http://schemas.microsoft.com/office/drawing/2014/main" id="{B3EAF745-32DD-7F76-2277-446CACE7CECC}"/>
              </a:ext>
            </a:extLst>
          </p:cNvPr>
          <p:cNvSpPr txBox="1"/>
          <p:nvPr/>
        </p:nvSpPr>
        <p:spPr>
          <a:xfrm>
            <a:off x="6375400" y="3238500"/>
            <a:ext cx="203200" cy="276999"/>
          </a:xfrm>
          <a:prstGeom prst="rect">
            <a:avLst/>
          </a:prstGeom>
          <a:noFill/>
        </p:spPr>
        <p:txBody>
          <a:bodyPr vert="horz" wrap="square" lIns="0" tIns="0" rIns="0" bIns="0" rtlCol="0">
            <a:noAutofit/>
          </a:bodyPr>
          <a:lstStyle/>
          <a:p>
            <a:r>
              <a:rPr lang="en-US" altLang="zh-CN" sz="740" b="1">
                <a:solidFill>
                  <a:srgbClr val="FFFFFF"/>
                </a:solidFill>
                <a:latin typeface="Aptos" panose="020B0004020202020204" pitchFamily="34" charset="0"/>
              </a:rPr>
              <a:t>02</a:t>
            </a:r>
            <a:endParaRPr lang="zh-CN" altLang="en-US" sz="740" b="1">
              <a:solidFill>
                <a:srgbClr val="FFFFFF"/>
              </a:solidFill>
              <a:latin typeface="Aptos" panose="020B0004020202020204" pitchFamily="34" charset="0"/>
            </a:endParaRPr>
          </a:p>
        </p:txBody>
      </p:sp>
      <p:sp>
        <p:nvSpPr>
          <p:cNvPr id="28" name="story-title-1">
            <a:extLst>
              <a:ext uri="{FF2B5EF4-FFF2-40B4-BE49-F238E27FC236}">
                <a16:creationId xmlns:a16="http://schemas.microsoft.com/office/drawing/2014/main" id="{B312D5E4-2739-5661-5A72-2191018F379C}"/>
              </a:ext>
            </a:extLst>
          </p:cNvPr>
          <p:cNvSpPr txBox="1"/>
          <p:nvPr/>
        </p:nvSpPr>
        <p:spPr>
          <a:xfrm>
            <a:off x="5943600" y="3987800"/>
            <a:ext cx="10922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Claim file</a:t>
            </a:r>
            <a:endParaRPr lang="zh-CN" altLang="en-US" sz="820" b="1">
              <a:solidFill>
                <a:srgbClr val="071A3D"/>
              </a:solidFill>
              <a:latin typeface="Aptos" panose="020B0004020202020204" pitchFamily="34" charset="0"/>
            </a:endParaRPr>
          </a:p>
        </p:txBody>
      </p:sp>
      <p:sp>
        <p:nvSpPr>
          <p:cNvPr id="29" name="story-sub-1">
            <a:extLst>
              <a:ext uri="{FF2B5EF4-FFF2-40B4-BE49-F238E27FC236}">
                <a16:creationId xmlns:a16="http://schemas.microsoft.com/office/drawing/2014/main" id="{F9338D83-6B55-0EA6-920D-F384F0D14465}"/>
              </a:ext>
            </a:extLst>
          </p:cNvPr>
          <p:cNvSpPr txBox="1"/>
          <p:nvPr/>
        </p:nvSpPr>
        <p:spPr>
          <a:xfrm>
            <a:off x="5943600" y="4292600"/>
            <a:ext cx="1092200" cy="276999"/>
          </a:xfrm>
          <a:prstGeom prst="rect">
            <a:avLst/>
          </a:prstGeom>
          <a:noFill/>
        </p:spPr>
        <p:txBody>
          <a:bodyPr vert="horz" wrap="square" lIns="0" tIns="0" rIns="0" bIns="0" rtlCol="0">
            <a:noAutofit/>
          </a:bodyPr>
          <a:lstStyle/>
          <a:p>
            <a:r>
              <a:rPr lang="en-US" altLang="zh-CN" sz="680">
                <a:solidFill>
                  <a:srgbClr val="4A5B78"/>
                </a:solidFill>
                <a:latin typeface="Aptos" panose="020B0004020202020204" pitchFamily="34" charset="0"/>
              </a:rPr>
              <a:t>allowed / blocked</a:t>
            </a:r>
            <a:endParaRPr lang="zh-CN" altLang="en-US" sz="680">
              <a:solidFill>
                <a:srgbClr val="4A5B78"/>
              </a:solidFill>
              <a:latin typeface="Aptos" panose="020B0004020202020204" pitchFamily="34" charset="0"/>
            </a:endParaRPr>
          </a:p>
        </p:txBody>
      </p:sp>
      <p:cxnSp>
        <p:nvCxnSpPr>
          <p:cNvPr id="30" name="story-arr-1">
            <a:extLst>
              <a:ext uri="{FF2B5EF4-FFF2-40B4-BE49-F238E27FC236}">
                <a16:creationId xmlns:a16="http://schemas.microsoft.com/office/drawing/2014/main" id="{42A56FA0-F756-B709-07B9-FC55D2667D30}"/>
              </a:ext>
            </a:extLst>
          </p:cNvPr>
          <p:cNvCxnSpPr/>
          <p:nvPr/>
        </p:nvCxnSpPr>
        <p:spPr>
          <a:xfrm>
            <a:off x="6858000" y="3340100"/>
            <a:ext cx="431800" cy="0"/>
          </a:xfrm>
          <a:prstGeom prst="line">
            <a:avLst/>
          </a:prstGeom>
          <a:ln w="15240">
            <a:solidFill>
              <a:srgbClr val="D5E2F0"/>
            </a:solidFill>
            <a:tailEnd type="arrow"/>
          </a:ln>
        </p:spPr>
        <p:style>
          <a:lnRef idx="1">
            <a:schemeClr val="accent1"/>
          </a:lnRef>
          <a:fillRef idx="0">
            <a:schemeClr val="accent1"/>
          </a:fillRef>
          <a:effectRef idx="0">
            <a:schemeClr val="accent1"/>
          </a:effectRef>
          <a:fontRef idx="minor">
            <a:schemeClr val="tx1"/>
          </a:fontRef>
        </p:style>
      </p:cxnSp>
      <p:sp>
        <p:nvSpPr>
          <p:cNvPr id="31" name="story-hit-1">
            <a:hlinkClick r:id="rId6"/>
            <a:extLst>
              <a:ext uri="{FF2B5EF4-FFF2-40B4-BE49-F238E27FC236}">
                <a16:creationId xmlns:a16="http://schemas.microsoft.com/office/drawing/2014/main" id="{EA283DDB-13D2-C85A-039B-20C0D5669A0E}"/>
              </a:ext>
            </a:extLst>
          </p:cNvPr>
          <p:cNvSpPr/>
          <p:nvPr/>
        </p:nvSpPr>
        <p:spPr>
          <a:xfrm>
            <a:off x="5943600" y="2844800"/>
            <a:ext cx="10922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story-dot-2">
            <a:extLst>
              <a:ext uri="{FF2B5EF4-FFF2-40B4-BE49-F238E27FC236}">
                <a16:creationId xmlns:a16="http://schemas.microsoft.com/office/drawing/2014/main" id="{9168C0EC-A798-51B8-D66C-D3B92DE3F399}"/>
              </a:ext>
            </a:extLst>
          </p:cNvPr>
          <p:cNvSpPr/>
          <p:nvPr/>
        </p:nvSpPr>
        <p:spPr>
          <a:xfrm>
            <a:off x="7366000" y="3022600"/>
            <a:ext cx="635000" cy="6350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story-num-2">
            <a:extLst>
              <a:ext uri="{FF2B5EF4-FFF2-40B4-BE49-F238E27FC236}">
                <a16:creationId xmlns:a16="http://schemas.microsoft.com/office/drawing/2014/main" id="{D6F4A7F8-CC47-FB08-7F3F-9A8528CC15FB}"/>
              </a:ext>
            </a:extLst>
          </p:cNvPr>
          <p:cNvSpPr txBox="1"/>
          <p:nvPr/>
        </p:nvSpPr>
        <p:spPr>
          <a:xfrm>
            <a:off x="7569200" y="3238500"/>
            <a:ext cx="203200" cy="276999"/>
          </a:xfrm>
          <a:prstGeom prst="rect">
            <a:avLst/>
          </a:prstGeom>
          <a:noFill/>
        </p:spPr>
        <p:txBody>
          <a:bodyPr vert="horz" wrap="square" lIns="0" tIns="0" rIns="0" bIns="0" rtlCol="0">
            <a:noAutofit/>
          </a:bodyPr>
          <a:lstStyle/>
          <a:p>
            <a:r>
              <a:rPr lang="en-US" altLang="zh-CN" sz="740" b="1">
                <a:solidFill>
                  <a:srgbClr val="FFFFFF"/>
                </a:solidFill>
                <a:latin typeface="Aptos" panose="020B0004020202020204" pitchFamily="34" charset="0"/>
              </a:rPr>
              <a:t>03</a:t>
            </a:r>
            <a:endParaRPr lang="zh-CN" altLang="en-US" sz="740" b="1">
              <a:solidFill>
                <a:srgbClr val="FFFFFF"/>
              </a:solidFill>
              <a:latin typeface="Aptos" panose="020B0004020202020204" pitchFamily="34" charset="0"/>
            </a:endParaRPr>
          </a:p>
        </p:txBody>
      </p:sp>
      <p:sp>
        <p:nvSpPr>
          <p:cNvPr id="34" name="story-title-2">
            <a:extLst>
              <a:ext uri="{FF2B5EF4-FFF2-40B4-BE49-F238E27FC236}">
                <a16:creationId xmlns:a16="http://schemas.microsoft.com/office/drawing/2014/main" id="{AE9C1D5A-1DF5-8413-DB7E-6A7BFA7EC6EB}"/>
              </a:ext>
            </a:extLst>
          </p:cNvPr>
          <p:cNvSpPr txBox="1"/>
          <p:nvPr/>
        </p:nvSpPr>
        <p:spPr>
          <a:xfrm>
            <a:off x="7137400" y="3987800"/>
            <a:ext cx="10922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Traceability</a:t>
            </a:r>
            <a:endParaRPr lang="zh-CN" altLang="en-US" sz="820" b="1">
              <a:solidFill>
                <a:srgbClr val="071A3D"/>
              </a:solidFill>
              <a:latin typeface="Aptos" panose="020B0004020202020204" pitchFamily="34" charset="0"/>
            </a:endParaRPr>
          </a:p>
        </p:txBody>
      </p:sp>
      <p:sp>
        <p:nvSpPr>
          <p:cNvPr id="35" name="story-sub-2">
            <a:extLst>
              <a:ext uri="{FF2B5EF4-FFF2-40B4-BE49-F238E27FC236}">
                <a16:creationId xmlns:a16="http://schemas.microsoft.com/office/drawing/2014/main" id="{B2264702-6677-872C-8999-05FEA509E95D}"/>
              </a:ext>
            </a:extLst>
          </p:cNvPr>
          <p:cNvSpPr txBox="1"/>
          <p:nvPr/>
        </p:nvSpPr>
        <p:spPr>
          <a:xfrm>
            <a:off x="7137400" y="4292600"/>
            <a:ext cx="1092200" cy="276999"/>
          </a:xfrm>
          <a:prstGeom prst="rect">
            <a:avLst/>
          </a:prstGeom>
          <a:noFill/>
        </p:spPr>
        <p:txBody>
          <a:bodyPr vert="horz" wrap="square" lIns="0" tIns="0" rIns="0" bIns="0" rtlCol="0">
            <a:noAutofit/>
          </a:bodyPr>
          <a:lstStyle/>
          <a:p>
            <a:r>
              <a:rPr lang="en-US" altLang="zh-CN" sz="680">
                <a:solidFill>
                  <a:srgbClr val="4A5B78"/>
                </a:solidFill>
                <a:latin typeface="Aptos" panose="020B0004020202020204" pitchFamily="34" charset="0"/>
              </a:rPr>
              <a:t>claim -&gt; artifact</a:t>
            </a:r>
            <a:endParaRPr lang="zh-CN" altLang="en-US" sz="680">
              <a:solidFill>
                <a:srgbClr val="4A5B78"/>
              </a:solidFill>
              <a:latin typeface="Aptos" panose="020B0004020202020204" pitchFamily="34" charset="0"/>
            </a:endParaRPr>
          </a:p>
        </p:txBody>
      </p:sp>
      <p:cxnSp>
        <p:nvCxnSpPr>
          <p:cNvPr id="36" name="story-arr-2">
            <a:extLst>
              <a:ext uri="{FF2B5EF4-FFF2-40B4-BE49-F238E27FC236}">
                <a16:creationId xmlns:a16="http://schemas.microsoft.com/office/drawing/2014/main" id="{759777E0-5A33-2122-CF15-747421DBE801}"/>
              </a:ext>
            </a:extLst>
          </p:cNvPr>
          <p:cNvCxnSpPr/>
          <p:nvPr/>
        </p:nvCxnSpPr>
        <p:spPr>
          <a:xfrm>
            <a:off x="8051800" y="3340100"/>
            <a:ext cx="431800" cy="0"/>
          </a:xfrm>
          <a:prstGeom prst="line">
            <a:avLst/>
          </a:prstGeom>
          <a:ln w="15240">
            <a:solidFill>
              <a:srgbClr val="D5E2F0"/>
            </a:solidFill>
            <a:tailEnd type="arrow"/>
          </a:ln>
        </p:spPr>
        <p:style>
          <a:lnRef idx="1">
            <a:schemeClr val="accent1"/>
          </a:lnRef>
          <a:fillRef idx="0">
            <a:schemeClr val="accent1"/>
          </a:fillRef>
          <a:effectRef idx="0">
            <a:schemeClr val="accent1"/>
          </a:effectRef>
          <a:fontRef idx="minor">
            <a:schemeClr val="tx1"/>
          </a:fontRef>
        </p:style>
      </p:cxnSp>
      <p:sp>
        <p:nvSpPr>
          <p:cNvPr id="37" name="story-hit-2">
            <a:hlinkClick r:id="rId7"/>
            <a:extLst>
              <a:ext uri="{FF2B5EF4-FFF2-40B4-BE49-F238E27FC236}">
                <a16:creationId xmlns:a16="http://schemas.microsoft.com/office/drawing/2014/main" id="{AE60D3E9-1B0D-ACA7-11DE-731638D4CF31}"/>
              </a:ext>
            </a:extLst>
          </p:cNvPr>
          <p:cNvSpPr/>
          <p:nvPr/>
        </p:nvSpPr>
        <p:spPr>
          <a:xfrm>
            <a:off x="7137400" y="2844800"/>
            <a:ext cx="10922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story-dot-3">
            <a:extLst>
              <a:ext uri="{FF2B5EF4-FFF2-40B4-BE49-F238E27FC236}">
                <a16:creationId xmlns:a16="http://schemas.microsoft.com/office/drawing/2014/main" id="{95BE87C7-2290-D3B9-A90D-C082B3B9A751}"/>
              </a:ext>
            </a:extLst>
          </p:cNvPr>
          <p:cNvSpPr/>
          <p:nvPr/>
        </p:nvSpPr>
        <p:spPr>
          <a:xfrm>
            <a:off x="8559800" y="3022600"/>
            <a:ext cx="635000" cy="6350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story-num-3">
            <a:extLst>
              <a:ext uri="{FF2B5EF4-FFF2-40B4-BE49-F238E27FC236}">
                <a16:creationId xmlns:a16="http://schemas.microsoft.com/office/drawing/2014/main" id="{037720B6-7DEB-281F-073B-E5F7BB809264}"/>
              </a:ext>
            </a:extLst>
          </p:cNvPr>
          <p:cNvSpPr txBox="1"/>
          <p:nvPr/>
        </p:nvSpPr>
        <p:spPr>
          <a:xfrm>
            <a:off x="8763000" y="3238500"/>
            <a:ext cx="203200" cy="276999"/>
          </a:xfrm>
          <a:prstGeom prst="rect">
            <a:avLst/>
          </a:prstGeom>
          <a:noFill/>
        </p:spPr>
        <p:txBody>
          <a:bodyPr vert="horz" wrap="square" lIns="0" tIns="0" rIns="0" bIns="0" rtlCol="0">
            <a:noAutofit/>
          </a:bodyPr>
          <a:lstStyle/>
          <a:p>
            <a:r>
              <a:rPr lang="en-US" altLang="zh-CN" sz="740" b="1">
                <a:solidFill>
                  <a:srgbClr val="FFFFFF"/>
                </a:solidFill>
                <a:latin typeface="Aptos" panose="020B0004020202020204" pitchFamily="34" charset="0"/>
              </a:rPr>
              <a:t>04</a:t>
            </a:r>
            <a:endParaRPr lang="zh-CN" altLang="en-US" sz="740" b="1">
              <a:solidFill>
                <a:srgbClr val="FFFFFF"/>
              </a:solidFill>
              <a:latin typeface="Aptos" panose="020B0004020202020204" pitchFamily="34" charset="0"/>
            </a:endParaRPr>
          </a:p>
        </p:txBody>
      </p:sp>
      <p:sp>
        <p:nvSpPr>
          <p:cNvPr id="40" name="story-title-3">
            <a:extLst>
              <a:ext uri="{FF2B5EF4-FFF2-40B4-BE49-F238E27FC236}">
                <a16:creationId xmlns:a16="http://schemas.microsoft.com/office/drawing/2014/main" id="{641956D2-8416-A389-F5A4-58476654672C}"/>
              </a:ext>
            </a:extLst>
          </p:cNvPr>
          <p:cNvSpPr txBox="1"/>
          <p:nvPr/>
        </p:nvSpPr>
        <p:spPr>
          <a:xfrm>
            <a:off x="8331200" y="3987800"/>
            <a:ext cx="10922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Manifest</a:t>
            </a:r>
            <a:endParaRPr lang="zh-CN" altLang="en-US" sz="820" b="1">
              <a:solidFill>
                <a:srgbClr val="071A3D"/>
              </a:solidFill>
              <a:latin typeface="Aptos" panose="020B0004020202020204" pitchFamily="34" charset="0"/>
            </a:endParaRPr>
          </a:p>
        </p:txBody>
      </p:sp>
      <p:sp>
        <p:nvSpPr>
          <p:cNvPr id="41" name="story-sub-3">
            <a:extLst>
              <a:ext uri="{FF2B5EF4-FFF2-40B4-BE49-F238E27FC236}">
                <a16:creationId xmlns:a16="http://schemas.microsoft.com/office/drawing/2014/main" id="{2228BC95-8A63-EB2A-88D6-8CFC73C68F4D}"/>
              </a:ext>
            </a:extLst>
          </p:cNvPr>
          <p:cNvSpPr txBox="1"/>
          <p:nvPr/>
        </p:nvSpPr>
        <p:spPr>
          <a:xfrm>
            <a:off x="8331200" y="4292600"/>
            <a:ext cx="1092200" cy="276999"/>
          </a:xfrm>
          <a:prstGeom prst="rect">
            <a:avLst/>
          </a:prstGeom>
          <a:noFill/>
        </p:spPr>
        <p:txBody>
          <a:bodyPr vert="horz" wrap="square" lIns="0" tIns="0" rIns="0" bIns="0" rtlCol="0">
            <a:noAutofit/>
          </a:bodyPr>
          <a:lstStyle/>
          <a:p>
            <a:r>
              <a:rPr lang="en-US" altLang="zh-CN" sz="680">
                <a:solidFill>
                  <a:srgbClr val="4A5B78"/>
                </a:solidFill>
                <a:latin typeface="Aptos" panose="020B0004020202020204" pitchFamily="34" charset="0"/>
              </a:rPr>
              <a:t>hash + denominator</a:t>
            </a:r>
            <a:endParaRPr lang="zh-CN" altLang="en-US" sz="680">
              <a:solidFill>
                <a:srgbClr val="4A5B78"/>
              </a:solidFill>
              <a:latin typeface="Aptos" panose="020B0004020202020204" pitchFamily="34" charset="0"/>
            </a:endParaRPr>
          </a:p>
        </p:txBody>
      </p:sp>
      <p:cxnSp>
        <p:nvCxnSpPr>
          <p:cNvPr id="42" name="story-arr-3">
            <a:extLst>
              <a:ext uri="{FF2B5EF4-FFF2-40B4-BE49-F238E27FC236}">
                <a16:creationId xmlns:a16="http://schemas.microsoft.com/office/drawing/2014/main" id="{C3B6A513-A238-8B65-B0A3-17C12168FF54}"/>
              </a:ext>
            </a:extLst>
          </p:cNvPr>
          <p:cNvCxnSpPr/>
          <p:nvPr/>
        </p:nvCxnSpPr>
        <p:spPr>
          <a:xfrm>
            <a:off x="9245600" y="3340100"/>
            <a:ext cx="431800" cy="0"/>
          </a:xfrm>
          <a:prstGeom prst="line">
            <a:avLst/>
          </a:prstGeom>
          <a:ln w="15240">
            <a:solidFill>
              <a:srgbClr val="D5E2F0"/>
            </a:solidFill>
            <a:tailEnd type="arrow"/>
          </a:ln>
        </p:spPr>
        <p:style>
          <a:lnRef idx="1">
            <a:schemeClr val="accent1"/>
          </a:lnRef>
          <a:fillRef idx="0">
            <a:schemeClr val="accent1"/>
          </a:fillRef>
          <a:effectRef idx="0">
            <a:schemeClr val="accent1"/>
          </a:effectRef>
          <a:fontRef idx="minor">
            <a:schemeClr val="tx1"/>
          </a:fontRef>
        </p:style>
      </p:cxnSp>
      <p:sp>
        <p:nvSpPr>
          <p:cNvPr id="43" name="story-hit-3">
            <a:hlinkClick r:id="rId8"/>
            <a:extLst>
              <a:ext uri="{FF2B5EF4-FFF2-40B4-BE49-F238E27FC236}">
                <a16:creationId xmlns:a16="http://schemas.microsoft.com/office/drawing/2014/main" id="{1A1BB0FC-DB61-E11D-83CD-4EE511CDB287}"/>
              </a:ext>
            </a:extLst>
          </p:cNvPr>
          <p:cNvSpPr/>
          <p:nvPr/>
        </p:nvSpPr>
        <p:spPr>
          <a:xfrm>
            <a:off x="8331200" y="2844800"/>
            <a:ext cx="10922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story-dot-4">
            <a:extLst>
              <a:ext uri="{FF2B5EF4-FFF2-40B4-BE49-F238E27FC236}">
                <a16:creationId xmlns:a16="http://schemas.microsoft.com/office/drawing/2014/main" id="{2ED177E8-DECD-45C8-E28D-CC1FB3B68D59}"/>
              </a:ext>
            </a:extLst>
          </p:cNvPr>
          <p:cNvSpPr/>
          <p:nvPr/>
        </p:nvSpPr>
        <p:spPr>
          <a:xfrm>
            <a:off x="9753600" y="3022600"/>
            <a:ext cx="635000" cy="6350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story-num-4">
            <a:extLst>
              <a:ext uri="{FF2B5EF4-FFF2-40B4-BE49-F238E27FC236}">
                <a16:creationId xmlns:a16="http://schemas.microsoft.com/office/drawing/2014/main" id="{2451EDA0-C4E4-AB06-9593-3A75DCC503F2}"/>
              </a:ext>
            </a:extLst>
          </p:cNvPr>
          <p:cNvSpPr txBox="1"/>
          <p:nvPr/>
        </p:nvSpPr>
        <p:spPr>
          <a:xfrm>
            <a:off x="9956800" y="3238500"/>
            <a:ext cx="203200" cy="276999"/>
          </a:xfrm>
          <a:prstGeom prst="rect">
            <a:avLst/>
          </a:prstGeom>
          <a:noFill/>
        </p:spPr>
        <p:txBody>
          <a:bodyPr vert="horz" wrap="square" lIns="0" tIns="0" rIns="0" bIns="0" rtlCol="0">
            <a:noAutofit/>
          </a:bodyPr>
          <a:lstStyle/>
          <a:p>
            <a:r>
              <a:rPr lang="en-US" altLang="zh-CN" sz="740" b="1">
                <a:solidFill>
                  <a:srgbClr val="FFFFFF"/>
                </a:solidFill>
                <a:latin typeface="Aptos" panose="020B0004020202020204" pitchFamily="34" charset="0"/>
              </a:rPr>
              <a:t>05</a:t>
            </a:r>
            <a:endParaRPr lang="zh-CN" altLang="en-US" sz="740" b="1">
              <a:solidFill>
                <a:srgbClr val="FFFFFF"/>
              </a:solidFill>
              <a:latin typeface="Aptos" panose="020B0004020202020204" pitchFamily="34" charset="0"/>
            </a:endParaRPr>
          </a:p>
        </p:txBody>
      </p:sp>
      <p:sp>
        <p:nvSpPr>
          <p:cNvPr id="46" name="story-title-4">
            <a:extLst>
              <a:ext uri="{FF2B5EF4-FFF2-40B4-BE49-F238E27FC236}">
                <a16:creationId xmlns:a16="http://schemas.microsoft.com/office/drawing/2014/main" id="{8DBF1C83-79A2-52B3-8B3F-CF5E3926600A}"/>
              </a:ext>
            </a:extLst>
          </p:cNvPr>
          <p:cNvSpPr txBox="1"/>
          <p:nvPr/>
        </p:nvSpPr>
        <p:spPr>
          <a:xfrm>
            <a:off x="9525000" y="3987800"/>
            <a:ext cx="10922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Local check</a:t>
            </a:r>
            <a:endParaRPr lang="zh-CN" altLang="en-US" sz="820" b="1">
              <a:solidFill>
                <a:srgbClr val="071A3D"/>
              </a:solidFill>
              <a:latin typeface="Aptos" panose="020B0004020202020204" pitchFamily="34" charset="0"/>
            </a:endParaRPr>
          </a:p>
        </p:txBody>
      </p:sp>
      <p:sp>
        <p:nvSpPr>
          <p:cNvPr id="47" name="story-sub-4">
            <a:extLst>
              <a:ext uri="{FF2B5EF4-FFF2-40B4-BE49-F238E27FC236}">
                <a16:creationId xmlns:a16="http://schemas.microsoft.com/office/drawing/2014/main" id="{40AA2A21-0F07-5542-D8B4-A9869FD3C5FE}"/>
              </a:ext>
            </a:extLst>
          </p:cNvPr>
          <p:cNvSpPr txBox="1"/>
          <p:nvPr/>
        </p:nvSpPr>
        <p:spPr>
          <a:xfrm>
            <a:off x="9525000" y="4292600"/>
            <a:ext cx="1092200" cy="276999"/>
          </a:xfrm>
          <a:prstGeom prst="rect">
            <a:avLst/>
          </a:prstGeom>
          <a:noFill/>
        </p:spPr>
        <p:txBody>
          <a:bodyPr vert="horz" wrap="square" lIns="0" tIns="0" rIns="0" bIns="0" rtlCol="0">
            <a:noAutofit/>
          </a:bodyPr>
          <a:lstStyle/>
          <a:p>
            <a:r>
              <a:rPr lang="en-US" altLang="zh-CN" sz="680">
                <a:solidFill>
                  <a:srgbClr val="4A5B78"/>
                </a:solidFill>
                <a:latin typeface="Aptos" panose="020B0004020202020204" pitchFamily="34" charset="0"/>
              </a:rPr>
              <a:t>bounded OK output</a:t>
            </a:r>
            <a:endParaRPr lang="zh-CN" altLang="en-US" sz="680">
              <a:solidFill>
                <a:srgbClr val="4A5B78"/>
              </a:solidFill>
              <a:latin typeface="Aptos" panose="020B0004020202020204" pitchFamily="34" charset="0"/>
            </a:endParaRPr>
          </a:p>
        </p:txBody>
      </p:sp>
      <p:sp>
        <p:nvSpPr>
          <p:cNvPr id="48" name="story-hit-4">
            <a:hlinkClick r:id="rId5"/>
            <a:extLst>
              <a:ext uri="{FF2B5EF4-FFF2-40B4-BE49-F238E27FC236}">
                <a16:creationId xmlns:a16="http://schemas.microsoft.com/office/drawing/2014/main" id="{005812B1-84D8-016D-EE0A-22887885FAB7}"/>
              </a:ext>
            </a:extLst>
          </p:cNvPr>
          <p:cNvSpPr/>
          <p:nvPr/>
        </p:nvSpPr>
        <p:spPr>
          <a:xfrm>
            <a:off x="9525000" y="2844800"/>
            <a:ext cx="10922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fallback-note">
            <a:extLst>
              <a:ext uri="{FF2B5EF4-FFF2-40B4-BE49-F238E27FC236}">
                <a16:creationId xmlns:a16="http://schemas.microsoft.com/office/drawing/2014/main" id="{5E68FE2F-DCD6-C579-CA49-40FF7C247A84}"/>
              </a:ext>
            </a:extLst>
          </p:cNvPr>
          <p:cNvSpPr/>
          <p:nvPr/>
        </p:nvSpPr>
        <p:spPr>
          <a:xfrm>
            <a:off x="5257800" y="5384800"/>
            <a:ext cx="5461000" cy="6096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fallback-k">
            <a:extLst>
              <a:ext uri="{FF2B5EF4-FFF2-40B4-BE49-F238E27FC236}">
                <a16:creationId xmlns:a16="http://schemas.microsoft.com/office/drawing/2014/main" id="{C3BB9092-E09A-2084-B977-A31D301F0940}"/>
              </a:ext>
            </a:extLst>
          </p:cNvPr>
          <p:cNvSpPr txBox="1"/>
          <p:nvPr/>
        </p:nvSpPr>
        <p:spPr>
          <a:xfrm>
            <a:off x="5588000" y="5524500"/>
            <a:ext cx="1168400" cy="276999"/>
          </a:xfrm>
          <a:prstGeom prst="rect">
            <a:avLst/>
          </a:prstGeom>
          <a:noFill/>
        </p:spPr>
        <p:txBody>
          <a:bodyPr vert="horz" wrap="square" lIns="0" tIns="0" rIns="0" bIns="0" rtlCol="0">
            <a:noAutofit/>
          </a:bodyPr>
          <a:lstStyle/>
          <a:p>
            <a:r>
              <a:rPr lang="en-US" altLang="zh-CN" sz="680" b="1">
                <a:solidFill>
                  <a:srgbClr val="B85C00"/>
                </a:solidFill>
                <a:latin typeface="Aptos" panose="020B0004020202020204" pitchFamily="34" charset="0"/>
              </a:rPr>
              <a:t>FALLBACK</a:t>
            </a:r>
            <a:endParaRPr lang="zh-CN" altLang="en-US" sz="680" b="1">
              <a:solidFill>
                <a:srgbClr val="B85C00"/>
              </a:solidFill>
              <a:latin typeface="Aptos" panose="020B0004020202020204" pitchFamily="34" charset="0"/>
            </a:endParaRPr>
          </a:p>
        </p:txBody>
      </p:sp>
      <p:sp>
        <p:nvSpPr>
          <p:cNvPr id="51" name="fallback-t">
            <a:extLst>
              <a:ext uri="{FF2B5EF4-FFF2-40B4-BE49-F238E27FC236}">
                <a16:creationId xmlns:a16="http://schemas.microsoft.com/office/drawing/2014/main" id="{E1752C7C-BEC2-B839-4210-75CCE31991D4}"/>
              </a:ext>
            </a:extLst>
          </p:cNvPr>
          <p:cNvSpPr txBox="1"/>
          <p:nvPr/>
        </p:nvSpPr>
        <p:spPr>
          <a:xfrm>
            <a:off x="5588000" y="5740400"/>
            <a:ext cx="4622800" cy="276999"/>
          </a:xfrm>
          <a:prstGeom prst="rect">
            <a:avLst/>
          </a:prstGeom>
          <a:noFill/>
        </p:spPr>
        <p:txBody>
          <a:bodyPr vert="horz" wrap="square" lIns="0" tIns="0" rIns="0" bIns="0" rtlCol="0">
            <a:noAutofit/>
          </a:bodyPr>
          <a:lstStyle/>
          <a:p>
            <a:r>
              <a:rPr lang="en-US" altLang="zh-CN" sz="720" b="1">
                <a:solidFill>
                  <a:srgbClr val="071A3D"/>
                </a:solidFill>
                <a:latin typeface="Aptos" panose="020B0004020202020204" pitchFamily="34" charset="0"/>
              </a:rPr>
              <a:t>Play the recorded demo, then answer from the repository files using the same route.</a:t>
            </a:r>
            <a:endParaRPr lang="zh-CN" altLang="en-US" sz="720" b="1">
              <a:solidFill>
                <a:srgbClr val="071A3D"/>
              </a:solidFill>
              <a:latin typeface="Aptos" panose="020B0004020202020204" pitchFamily="34" charset="0"/>
            </a:endParaRPr>
          </a:p>
        </p:txBody>
      </p:sp>
      <p:sp>
        <p:nvSpPr>
          <p:cNvPr id="52" name="footer-hit-16">
            <a:hlinkClick r:id="rId4"/>
            <a:extLst>
              <a:ext uri="{FF2B5EF4-FFF2-40B4-BE49-F238E27FC236}">
                <a16:creationId xmlns:a16="http://schemas.microsoft.com/office/drawing/2014/main" id="{A66C7953-0168-2BCC-42D3-5FF1BC286A4B}"/>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830561955"/>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160"/>
                                        <p:tgtEl>
                                          <p:spTgt spid="20"/>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160"/>
                                        <p:tgtEl>
                                          <p:spTgt spid="21"/>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160"/>
                                        <p:tgtEl>
                                          <p:spTgt spid="22"/>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160"/>
                                        <p:tgtEl>
                                          <p:spTgt spid="23"/>
                                        </p:tgtEl>
                                      </p:cBhvr>
                                    </p:animEffect>
                                  </p:childTnLst>
                                </p:cTn>
                              </p:par>
                            </p:childTnLst>
                          </p:cTn>
                        </p:par>
                        <p:par>
                          <p:cTn id="44" fill="hold">
                            <p:stCondLst>
                              <p:cond delay="1600"/>
                            </p:stCondLst>
                            <p:childTnLst>
                              <p:par>
                                <p:cTn id="45" presetID="10" presetClass="entr" presetSubtype="0" fill="hold" nodeType="after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160"/>
                                        <p:tgtEl>
                                          <p:spTgt spid="24"/>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160"/>
                                        <p:tgtEl>
                                          <p:spTgt spid="25"/>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160"/>
                                        <p:tgtEl>
                                          <p:spTgt spid="26"/>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160"/>
                                        <p:tgtEl>
                                          <p:spTgt spid="27"/>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160"/>
                                        <p:tgtEl>
                                          <p:spTgt spid="28"/>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160"/>
                                        <p:tgtEl>
                                          <p:spTgt spid="29"/>
                                        </p:tgtEl>
                                      </p:cBhvr>
                                    </p:animEffect>
                                  </p:childTnLst>
                                </p:cTn>
                              </p:par>
                            </p:childTnLst>
                          </p:cTn>
                        </p:par>
                        <p:par>
                          <p:cTn id="68" fill="hold">
                            <p:stCondLst>
                              <p:cond delay="2560"/>
                            </p:stCondLst>
                            <p:childTnLst>
                              <p:par>
                                <p:cTn id="69" presetID="10" presetClass="entr" presetSubtype="0" fill="hold" nodeType="after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160"/>
                                        <p:tgtEl>
                                          <p:spTgt spid="30"/>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160"/>
                                        <p:tgtEl>
                                          <p:spTgt spid="31"/>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160"/>
                                        <p:tgtEl>
                                          <p:spTgt spid="32"/>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160"/>
                                        <p:tgtEl>
                                          <p:spTgt spid="33"/>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160"/>
                                        <p:tgtEl>
                                          <p:spTgt spid="34"/>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160"/>
                                        <p:tgtEl>
                                          <p:spTgt spid="35"/>
                                        </p:tgtEl>
                                      </p:cBhvr>
                                    </p:animEffect>
                                  </p:childTnLst>
                                </p:cTn>
                              </p:par>
                            </p:childTnLst>
                          </p:cTn>
                        </p:par>
                        <p:par>
                          <p:cTn id="92" fill="hold">
                            <p:stCondLst>
                              <p:cond delay="3520"/>
                            </p:stCondLst>
                            <p:childTnLst>
                              <p:par>
                                <p:cTn id="93" presetID="10" presetClass="entr" presetSubtype="0" fill="hold" nodeType="after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160"/>
                                        <p:tgtEl>
                                          <p:spTgt spid="36"/>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160"/>
                                        <p:tgtEl>
                                          <p:spTgt spid="37"/>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8"/>
                                        </p:tgtEl>
                                        <p:attrNameLst>
                                          <p:attrName>style.visibility</p:attrName>
                                        </p:attrNameLst>
                                      </p:cBhvr>
                                      <p:to>
                                        <p:strVal val="visible"/>
                                      </p:to>
                                    </p:set>
                                    <p:animEffect transition="in" filter="fade">
                                      <p:cBhvr>
                                        <p:cTn id="103" dur="160"/>
                                        <p:tgtEl>
                                          <p:spTgt spid="38"/>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9"/>
                                        </p:tgtEl>
                                        <p:attrNameLst>
                                          <p:attrName>style.visibility</p:attrName>
                                        </p:attrNameLst>
                                      </p:cBhvr>
                                      <p:to>
                                        <p:strVal val="visible"/>
                                      </p:to>
                                    </p:set>
                                    <p:animEffect transition="in" filter="fade">
                                      <p:cBhvr>
                                        <p:cTn id="107" dur="160"/>
                                        <p:tgtEl>
                                          <p:spTgt spid="39"/>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160"/>
                                        <p:tgtEl>
                                          <p:spTgt spid="40"/>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1"/>
                                        </p:tgtEl>
                                        <p:attrNameLst>
                                          <p:attrName>style.visibility</p:attrName>
                                        </p:attrNameLst>
                                      </p:cBhvr>
                                      <p:to>
                                        <p:strVal val="visible"/>
                                      </p:to>
                                    </p:set>
                                    <p:animEffect transition="in" filter="fade">
                                      <p:cBhvr>
                                        <p:cTn id="115" dur="160"/>
                                        <p:tgtEl>
                                          <p:spTgt spid="41"/>
                                        </p:tgtEl>
                                      </p:cBhvr>
                                    </p:animEffect>
                                  </p:childTnLst>
                                </p:cTn>
                              </p:par>
                            </p:childTnLst>
                          </p:cTn>
                        </p:par>
                        <p:par>
                          <p:cTn id="116" fill="hold">
                            <p:stCondLst>
                              <p:cond delay="4480"/>
                            </p:stCondLst>
                            <p:childTnLst>
                              <p:par>
                                <p:cTn id="117" presetID="10" presetClass="entr" presetSubtype="0" fill="hold" nodeType="afterEffect">
                                  <p:stCondLst>
                                    <p:cond delay="0"/>
                                  </p:stCondLst>
                                  <p:childTnLst>
                                    <p:set>
                                      <p:cBhvr>
                                        <p:cTn id="118" dur="1" fill="hold">
                                          <p:stCondLst>
                                            <p:cond delay="0"/>
                                          </p:stCondLst>
                                        </p:cTn>
                                        <p:tgtEl>
                                          <p:spTgt spid="42"/>
                                        </p:tgtEl>
                                        <p:attrNameLst>
                                          <p:attrName>style.visibility</p:attrName>
                                        </p:attrNameLst>
                                      </p:cBhvr>
                                      <p:to>
                                        <p:strVal val="visible"/>
                                      </p:to>
                                    </p:set>
                                    <p:animEffect transition="in" filter="fade">
                                      <p:cBhvr>
                                        <p:cTn id="119" dur="160"/>
                                        <p:tgtEl>
                                          <p:spTgt spid="42"/>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3"/>
                                        </p:tgtEl>
                                        <p:attrNameLst>
                                          <p:attrName>style.visibility</p:attrName>
                                        </p:attrNameLst>
                                      </p:cBhvr>
                                      <p:to>
                                        <p:strVal val="visible"/>
                                      </p:to>
                                    </p:set>
                                    <p:animEffect transition="in" filter="fade">
                                      <p:cBhvr>
                                        <p:cTn id="123" dur="160"/>
                                        <p:tgtEl>
                                          <p:spTgt spid="43"/>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4"/>
                                        </p:tgtEl>
                                        <p:attrNameLst>
                                          <p:attrName>style.visibility</p:attrName>
                                        </p:attrNameLst>
                                      </p:cBhvr>
                                      <p:to>
                                        <p:strVal val="visible"/>
                                      </p:to>
                                    </p:set>
                                    <p:animEffect transition="in" filter="fade">
                                      <p:cBhvr>
                                        <p:cTn id="127" dur="160"/>
                                        <p:tgtEl>
                                          <p:spTgt spid="44"/>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5"/>
                                        </p:tgtEl>
                                        <p:attrNameLst>
                                          <p:attrName>style.visibility</p:attrName>
                                        </p:attrNameLst>
                                      </p:cBhvr>
                                      <p:to>
                                        <p:strVal val="visible"/>
                                      </p:to>
                                    </p:set>
                                    <p:animEffect transition="in" filter="fade">
                                      <p:cBhvr>
                                        <p:cTn id="131" dur="160"/>
                                        <p:tgtEl>
                                          <p:spTgt spid="45"/>
                                        </p:tgtEl>
                                      </p:cBhvr>
                                    </p:animEffect>
                                  </p:childTnLst>
                                </p:cTn>
                              </p:par>
                            </p:childTnLst>
                          </p:cTn>
                        </p:par>
                        <p:par>
                          <p:cTn id="132" fill="hold">
                            <p:stCondLst>
                              <p:cond delay="5120"/>
                            </p:stCondLst>
                            <p:childTnLst>
                              <p:par>
                                <p:cTn id="133" presetID="10" presetClass="entr" presetSubtype="0" fill="hold" grpId="0" nodeType="afterEffect">
                                  <p:stCondLst>
                                    <p:cond delay="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160"/>
                                        <p:tgtEl>
                                          <p:spTgt spid="46"/>
                                        </p:tgtEl>
                                      </p:cBhvr>
                                    </p:animEffect>
                                  </p:childTnLst>
                                </p:cTn>
                              </p:par>
                            </p:childTnLst>
                          </p:cTn>
                        </p:par>
                        <p:par>
                          <p:cTn id="136" fill="hold">
                            <p:stCondLst>
                              <p:cond delay="5280"/>
                            </p:stCondLst>
                            <p:childTnLst>
                              <p:par>
                                <p:cTn id="137" presetID="10" presetClass="entr" presetSubtype="0" fill="hold" grpId="0" nodeType="afterEffect">
                                  <p:stCondLst>
                                    <p:cond delay="0"/>
                                  </p:stCondLst>
                                  <p:childTnLst>
                                    <p:set>
                                      <p:cBhvr>
                                        <p:cTn id="138" dur="1" fill="hold">
                                          <p:stCondLst>
                                            <p:cond delay="0"/>
                                          </p:stCondLst>
                                        </p:cTn>
                                        <p:tgtEl>
                                          <p:spTgt spid="47"/>
                                        </p:tgtEl>
                                        <p:attrNameLst>
                                          <p:attrName>style.visibility</p:attrName>
                                        </p:attrNameLst>
                                      </p:cBhvr>
                                      <p:to>
                                        <p:strVal val="visible"/>
                                      </p:to>
                                    </p:set>
                                    <p:animEffect transition="in" filter="fade">
                                      <p:cBhvr>
                                        <p:cTn id="139" dur="160"/>
                                        <p:tgtEl>
                                          <p:spTgt spid="47"/>
                                        </p:tgtEl>
                                      </p:cBhvr>
                                    </p:animEffect>
                                  </p:childTnLst>
                                </p:cTn>
                              </p:par>
                            </p:childTnLst>
                          </p:cTn>
                        </p:par>
                        <p:par>
                          <p:cTn id="140" fill="hold">
                            <p:stCondLst>
                              <p:cond delay="5440"/>
                            </p:stCondLst>
                            <p:childTnLst>
                              <p:par>
                                <p:cTn id="141" presetID="10" presetClass="entr" presetSubtype="0" fill="hold" grpId="0" nodeType="afterEffect">
                                  <p:stCondLst>
                                    <p:cond delay="0"/>
                                  </p:stCondLst>
                                  <p:childTnLst>
                                    <p:set>
                                      <p:cBhvr>
                                        <p:cTn id="142" dur="1" fill="hold">
                                          <p:stCondLst>
                                            <p:cond delay="0"/>
                                          </p:stCondLst>
                                        </p:cTn>
                                        <p:tgtEl>
                                          <p:spTgt spid="48"/>
                                        </p:tgtEl>
                                        <p:attrNameLst>
                                          <p:attrName>style.visibility</p:attrName>
                                        </p:attrNameLst>
                                      </p:cBhvr>
                                      <p:to>
                                        <p:strVal val="visible"/>
                                      </p:to>
                                    </p:set>
                                    <p:animEffect transition="in" filter="fade">
                                      <p:cBhvr>
                                        <p:cTn id="143" dur="160"/>
                                        <p:tgtEl>
                                          <p:spTgt spid="48"/>
                                        </p:tgtEl>
                                      </p:cBhvr>
                                    </p:animEffect>
                                  </p:childTnLst>
                                </p:cTn>
                              </p:par>
                            </p:childTnLst>
                          </p:cTn>
                        </p:par>
                        <p:par>
                          <p:cTn id="144" fill="hold">
                            <p:stCondLst>
                              <p:cond delay="5600"/>
                            </p:stCondLst>
                            <p:childTnLst>
                              <p:par>
                                <p:cTn id="145" presetID="10" presetClass="entr" presetSubtype="0" fill="hold" grpId="0" nodeType="afterEffect">
                                  <p:stCondLst>
                                    <p:cond delay="0"/>
                                  </p:stCondLst>
                                  <p:childTnLst>
                                    <p:set>
                                      <p:cBhvr>
                                        <p:cTn id="146" dur="1" fill="hold">
                                          <p:stCondLst>
                                            <p:cond delay="0"/>
                                          </p:stCondLst>
                                        </p:cTn>
                                        <p:tgtEl>
                                          <p:spTgt spid="49"/>
                                        </p:tgtEl>
                                        <p:attrNameLst>
                                          <p:attrName>style.visibility</p:attrName>
                                        </p:attrNameLst>
                                      </p:cBhvr>
                                      <p:to>
                                        <p:strVal val="visible"/>
                                      </p:to>
                                    </p:set>
                                    <p:animEffect transition="in" filter="fade">
                                      <p:cBhvr>
                                        <p:cTn id="147" dur="160"/>
                                        <p:tgtEl>
                                          <p:spTgt spid="49"/>
                                        </p:tgtEl>
                                      </p:cBhvr>
                                    </p:animEffect>
                                  </p:childTnLst>
                                </p:cTn>
                              </p:par>
                            </p:childTnLst>
                          </p:cTn>
                        </p:par>
                        <p:par>
                          <p:cTn id="148" fill="hold">
                            <p:stCondLst>
                              <p:cond delay="5760"/>
                            </p:stCondLst>
                            <p:childTnLst>
                              <p:par>
                                <p:cTn id="149" presetID="10" presetClass="entr" presetSubtype="0" fill="hold" grpId="0" nodeType="afterEffect">
                                  <p:stCondLst>
                                    <p:cond delay="0"/>
                                  </p:stCondLst>
                                  <p:childTnLst>
                                    <p:set>
                                      <p:cBhvr>
                                        <p:cTn id="150" dur="1" fill="hold">
                                          <p:stCondLst>
                                            <p:cond delay="0"/>
                                          </p:stCondLst>
                                        </p:cTn>
                                        <p:tgtEl>
                                          <p:spTgt spid="50"/>
                                        </p:tgtEl>
                                        <p:attrNameLst>
                                          <p:attrName>style.visibility</p:attrName>
                                        </p:attrNameLst>
                                      </p:cBhvr>
                                      <p:to>
                                        <p:strVal val="visible"/>
                                      </p:to>
                                    </p:set>
                                    <p:animEffect transition="in" filter="fade">
                                      <p:cBhvr>
                                        <p:cTn id="151" dur="160"/>
                                        <p:tgtEl>
                                          <p:spTgt spid="50"/>
                                        </p:tgtEl>
                                      </p:cBhvr>
                                    </p:animEffect>
                                  </p:childTnLst>
                                </p:cTn>
                              </p:par>
                            </p:childTnLst>
                          </p:cTn>
                        </p:par>
                        <p:par>
                          <p:cTn id="152" fill="hold">
                            <p:stCondLst>
                              <p:cond delay="5920"/>
                            </p:stCondLst>
                            <p:childTnLst>
                              <p:par>
                                <p:cTn id="153" presetID="10" presetClass="entr" presetSubtype="0" fill="hold" grpId="0" nodeType="afterEffect">
                                  <p:stCondLst>
                                    <p:cond delay="0"/>
                                  </p:stCondLst>
                                  <p:childTnLst>
                                    <p:set>
                                      <p:cBhvr>
                                        <p:cTn id="154" dur="1" fill="hold">
                                          <p:stCondLst>
                                            <p:cond delay="0"/>
                                          </p:stCondLst>
                                        </p:cTn>
                                        <p:tgtEl>
                                          <p:spTgt spid="51"/>
                                        </p:tgtEl>
                                        <p:attrNameLst>
                                          <p:attrName>style.visibility</p:attrName>
                                        </p:attrNameLst>
                                      </p:cBhvr>
                                      <p:to>
                                        <p:strVal val="visible"/>
                                      </p:to>
                                    </p:set>
                                    <p:animEffect transition="in" filter="fade">
                                      <p:cBhvr>
                                        <p:cTn id="155" dur="16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7" grpId="0" animBg="1"/>
      <p:bldP spid="18" grpId="0" animBg="1"/>
      <p:bldP spid="20" grpId="0" animBg="1"/>
      <p:bldP spid="21" grpId="0"/>
      <p:bldP spid="22" grpId="0"/>
      <p:bldP spid="23" grpId="0"/>
      <p:bldP spid="25" grpId="0" animBg="1"/>
      <p:bldP spid="26" grpId="0" animBg="1"/>
      <p:bldP spid="27" grpId="0"/>
      <p:bldP spid="28" grpId="0"/>
      <p:bldP spid="29" grpId="0"/>
      <p:bldP spid="31" grpId="0" animBg="1"/>
      <p:bldP spid="32" grpId="0" animBg="1"/>
      <p:bldP spid="33" grpId="0"/>
      <p:bldP spid="34" grpId="0"/>
      <p:bldP spid="35" grpId="0"/>
      <p:bldP spid="37" grpId="0" animBg="1"/>
      <p:bldP spid="38" grpId="0" animBg="1"/>
      <p:bldP spid="39" grpId="0"/>
      <p:bldP spid="40" grpId="0"/>
      <p:bldP spid="41" grpId="0"/>
      <p:bldP spid="43" grpId="0" animBg="1"/>
      <p:bldP spid="44" grpId="0" animBg="1"/>
      <p:bldP spid="45" grpId="0"/>
      <p:bldP spid="46" grpId="0"/>
      <p:bldP spid="47" grpId="0"/>
      <p:bldP spid="48" grpId="0" animBg="1"/>
      <p:bldP spid="49" grpId="0" animBg="1"/>
      <p:bldP spid="50" grpId="0"/>
      <p:bldP spid="51" grpId="0"/>
    </p:bld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2353</Words>
  <Application>Microsoft Office PowerPoint</Application>
  <PresentationFormat>自定义</PresentationFormat>
  <Paragraphs>386</Paragraphs>
  <Slides>16</Slides>
  <Notes>16</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16</vt:i4>
      </vt:variant>
    </vt:vector>
  </HeadingPairs>
  <TitlesOfParts>
    <vt:vector size="22" baseType="lpstr">
      <vt:lpstr>等线</vt:lpstr>
      <vt:lpstr>等线 Light</vt:lpstr>
      <vt:lpstr>Aptos</vt:lpstr>
      <vt:lpstr>Arial</vt:lpstr>
      <vt:lpstr>Consolas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周率 圆</dc:creator>
  <cp:lastModifiedBy>周率 圆</cp:lastModifiedBy>
  <cp:revision>1</cp:revision>
  <dcterms:created xsi:type="dcterms:W3CDTF">2026-05-14T20:37:05Z</dcterms:created>
  <dcterms:modified xsi:type="dcterms:W3CDTF">2026-05-14T20:37:05Z</dcterms:modified>
</cp:coreProperties>
</file>