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BE9077-09E9-44C6-AC7A-6C0347E82C42}" type="datetimeFigureOut">
              <a:rPr lang="zh-CN" altLang="en-US" smtClean="0"/>
              <a:t>2026/5/14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4CFD40-5120-4F1D-A4D7-45A58DB44D50}" type="slidenum">
              <a:rPr lang="zh-CN" altLang="en-US" smtClean="0"/>
              <a:t>‹#›</a:t>
            </a:fld>
            <a:endParaRPr lang="zh-CN" altLang="en-US"/>
          </a:p>
        </p:txBody>
      </p:sp>
    </p:spTree>
    <p:extLst>
      <p:ext uri="{BB962C8B-B14F-4D97-AF65-F5344CB8AC3E}">
        <p14:creationId xmlns:p14="http://schemas.microsoft.com/office/powerpoint/2010/main" val="3870856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My central message is simple: watermark evidence needs a claim boundary before it can support a claim.</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a:t>
            </a:fld>
            <a:endParaRPr lang="zh-CN" altLang="en-US"/>
          </a:p>
        </p:txBody>
      </p:sp>
    </p:spTree>
    <p:extLst>
      <p:ext uri="{BB962C8B-B14F-4D97-AF65-F5344CB8AC3E}">
        <p14:creationId xmlns:p14="http://schemas.microsoft.com/office/powerpoint/2010/main" val="14348114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problem is that generated code does not stay in a clean generation session. It moves into new files and larger repositories. So the question is not just whether a detector fires. The question is what evidence survives, and what claim that evidence can support.</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2</a:t>
            </a:fld>
            <a:endParaRPr lang="zh-CN" altLang="en-US"/>
          </a:p>
        </p:txBody>
      </p:sp>
    </p:spTree>
    <p:extLst>
      <p:ext uri="{BB962C8B-B14F-4D97-AF65-F5344CB8AC3E}">
        <p14:creationId xmlns:p14="http://schemas.microsoft.com/office/powerpoint/2010/main" val="31890136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gap I focused on. A score can be useful, but it does not tell us what is being claimed. I treat a claim as a function of admitted evidence, controls, the access model, and a boundary.</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3</a:t>
            </a:fld>
            <a:endParaRPr lang="zh-CN" altLang="en-US"/>
          </a:p>
        </p:txBody>
      </p:sp>
    </p:spTree>
    <p:extLst>
      <p:ext uri="{BB962C8B-B14F-4D97-AF65-F5344CB8AC3E}">
        <p14:creationId xmlns:p14="http://schemas.microsoft.com/office/powerpoint/2010/main" val="265778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benchmark layer is not just a dataset table. It is a denominator discipline. Before interpreting results, the framework fixes the task, transformation, executable oracle, controls, and artifact identity.</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4</a:t>
            </a:fld>
            <a:endParaRPr lang="zh-CN" altLang="en-US"/>
          </a:p>
        </p:txBody>
      </p:sp>
    </p:spTree>
    <p:extLst>
      <p:ext uri="{BB962C8B-B14F-4D97-AF65-F5344CB8AC3E}">
        <p14:creationId xmlns:p14="http://schemas.microsoft.com/office/powerpoint/2010/main" val="42655079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full framework. The five stages look at different kinds of watermark evidence. What connects them is one evidence contract. Each stage must state what it can claim, and what it cannot claim.</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5</a:t>
            </a:fld>
            <a:endParaRPr lang="zh-CN" altLang="en-US"/>
          </a:p>
        </p:txBody>
      </p:sp>
    </p:spTree>
    <p:extLst>
      <p:ext uri="{BB962C8B-B14F-4D97-AF65-F5344CB8AC3E}">
        <p14:creationId xmlns:p14="http://schemas.microsoft.com/office/powerpoint/2010/main" val="29060447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evidence object has five parts. I freeze the denominator, controls, artifact and hash, then I state the boundary. If the evidence is not enough, the correct answer is abstention, not a stronger claim.</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6</a:t>
            </a:fld>
            <a:endParaRPr lang="zh-CN" altLang="en-US"/>
          </a:p>
        </p:txBody>
      </p:sp>
    </p:spTree>
    <p:extLst>
      <p:ext uri="{BB962C8B-B14F-4D97-AF65-F5344CB8AC3E}">
        <p14:creationId xmlns:p14="http://schemas.microsoft.com/office/powerpoint/2010/main" val="22714789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key results slide. I report each result with its denominator and control surface. The important point is not a single overall score. It is that every promoted claim has a bounded evidence object.</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7</a:t>
            </a:fld>
            <a:endParaRPr lang="zh-CN" altLang="en-US"/>
          </a:p>
        </p:txBody>
      </p:sp>
    </p:spTree>
    <p:extLst>
      <p:ext uri="{BB962C8B-B14F-4D97-AF65-F5344CB8AC3E}">
        <p14:creationId xmlns:p14="http://schemas.microsoft.com/office/powerpoint/2010/main" val="1880081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Two modules are intentionally conservative. CodeDye has sparse black-box signal, and SealAudit is selective. I do not hide that. The framework uses these results to show where we should abstain.</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8</a:t>
            </a:fld>
            <a:endParaRPr lang="zh-CN" altLang="en-US"/>
          </a:p>
        </p:txBody>
      </p:sp>
    </p:spTree>
    <p:extLst>
      <p:ext uri="{BB962C8B-B14F-4D97-AF65-F5344CB8AC3E}">
        <p14:creationId xmlns:p14="http://schemas.microsoft.com/office/powerpoint/2010/main" val="2654446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first demo, I will not rerun the whole experiment. I will show inspectability. I will open the project page, then the claim boundary, the traceability matrix, the manifest, and one evidence folder.</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9</a:t>
            </a:fld>
            <a:endParaRPr lang="zh-CN" altLang="en-US"/>
          </a:p>
        </p:txBody>
      </p:sp>
    </p:spTree>
    <p:extLst>
      <p:ext uri="{BB962C8B-B14F-4D97-AF65-F5344CB8AC3E}">
        <p14:creationId xmlns:p14="http://schemas.microsoft.com/office/powerpoint/2010/main" val="3907000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second demo is a quick local check. I will be explicit about its boundary. It checks repository consistency and key artifacts. It does not claim to rerun all large experiments during the viva.</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10</a:t>
            </a:fld>
            <a:endParaRPr lang="zh-CN" altLang="en-US"/>
          </a:p>
        </p:txBody>
      </p:sp>
    </p:spTree>
    <p:extLst>
      <p:ext uri="{BB962C8B-B14F-4D97-AF65-F5344CB8AC3E}">
        <p14:creationId xmlns:p14="http://schemas.microsoft.com/office/powerpoint/2010/main" val="1924623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In Q&amp;A, I should keep answers short. First I answer directly. Then I state the boundary, such as denominator, control, or access model. If needed, I point to the claim boundary file, manifest, or viva check script.</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11</a:t>
            </a:fld>
            <a:endParaRPr lang="zh-CN" altLang="en-US"/>
          </a:p>
        </p:txBody>
      </p:sp>
    </p:spTree>
    <p:extLst>
      <p:ext uri="{BB962C8B-B14F-4D97-AF65-F5344CB8AC3E}">
        <p14:creationId xmlns:p14="http://schemas.microsoft.com/office/powerpoint/2010/main" val="32871074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FYP artifact is the base. The benchmark work can be developed toward TOSEM, and the other four workstreams can be developed toward EMNLP-style papers. These are planned continuations. They are not extra claims added to the submitted dissertation.</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12</a:t>
            </a:fld>
            <a:endParaRPr lang="zh-CN" altLang="en-US"/>
          </a:p>
        </p:txBody>
      </p:sp>
    </p:spTree>
    <p:extLst>
      <p:ext uri="{BB962C8B-B14F-4D97-AF65-F5344CB8AC3E}">
        <p14:creationId xmlns:p14="http://schemas.microsoft.com/office/powerpoint/2010/main" val="13679023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If needed, I can open the project page, the repository, or the claim boundary document.</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13</a:t>
            </a:fld>
            <a:endParaRPr lang="zh-CN" altLang="en-US"/>
          </a:p>
        </p:txBody>
      </p:sp>
    </p:spTree>
    <p:extLst>
      <p:ext uri="{BB962C8B-B14F-4D97-AF65-F5344CB8AC3E}">
        <p14:creationId xmlns:p14="http://schemas.microsoft.com/office/powerpoint/2010/main" val="895223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backup slide defines the notation. It is only for Q&amp;A.</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14</a:t>
            </a:fld>
            <a:endParaRPr lang="zh-CN" altLang="en-US"/>
          </a:p>
        </p:txBody>
      </p:sp>
    </p:spTree>
    <p:extLst>
      <p:ext uri="{BB962C8B-B14F-4D97-AF65-F5344CB8AC3E}">
        <p14:creationId xmlns:p14="http://schemas.microsoft.com/office/powerpoint/2010/main" val="33927959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a backup Q&amp;A page. I should keep answers short and specific.</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15</a:t>
            </a:fld>
            <a:endParaRPr lang="zh-CN" altLang="en-US"/>
          </a:p>
        </p:txBody>
      </p:sp>
    </p:spTree>
    <p:extLst>
      <p:ext uri="{BB962C8B-B14F-4D97-AF65-F5344CB8AC3E}">
        <p14:creationId xmlns:p14="http://schemas.microsoft.com/office/powerpoint/2010/main" val="4323480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backup storyboard. If the live demo has a problem, I can describe the route and use the saved video.</a:t>
            </a:r>
            <a:endParaRPr lang="zh-CN" altLang="en-US"/>
          </a:p>
        </p:txBody>
      </p:sp>
      <p:sp>
        <p:nvSpPr>
          <p:cNvPr id="4" name="灯片编号占位符 3"/>
          <p:cNvSpPr>
            <a:spLocks noGrp="1"/>
          </p:cNvSpPr>
          <p:nvPr>
            <p:ph type="sldNum" sz="quarter" idx="5"/>
          </p:nvPr>
        </p:nvSpPr>
        <p:spPr/>
        <p:txBody>
          <a:bodyPr/>
          <a:lstStyle/>
          <a:p>
            <a:fld id="{714CFD40-5120-4F1D-A4D7-45A58DB44D50}" type="slidenum">
              <a:rPr lang="zh-CN" altLang="en-US" smtClean="0"/>
              <a:t>16</a:t>
            </a:fld>
            <a:endParaRPr lang="zh-CN" altLang="en-US"/>
          </a:p>
        </p:txBody>
      </p:sp>
    </p:spTree>
    <p:extLst>
      <p:ext uri="{BB962C8B-B14F-4D97-AF65-F5344CB8AC3E}">
        <p14:creationId xmlns:p14="http://schemas.microsoft.com/office/powerpoint/2010/main" val="8682358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3F3102D-584C-C996-12F2-C8BE3F063FF7}"/>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68D06C39-1422-36F1-5FAD-8F1214751D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D29308C1-0E55-B9F3-63ED-21C5D6057849}"/>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FB5362F5-BD1C-7DB8-D255-C009D5DAB4D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56B47F-FCDA-8B11-72F4-2530986DE169}"/>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2890925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400147-5FDE-38B9-8183-1498267B749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32E4414-7E51-38B4-298F-A32A9F919C72}"/>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21775B6-2CA9-79C0-2F1A-794F235340CE}"/>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0844E6C0-8803-29EB-518D-047AA955330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54B9130-926D-2918-7B08-6710EC30A09E}"/>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1107270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DB74CE-9B74-6C33-0F40-87B48A234D24}"/>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264A9F92-1E31-86F2-7CA6-F01E6F70152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6A22B957-83CA-A596-4095-9344AEFF2379}"/>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EC908DC5-9733-1958-4764-017F9A6C862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773B9BA-64B4-344D-A3E9-86C71F184BDF}"/>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24476813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F5D679D-95C5-4815-FD8B-7D0951CA17C3}"/>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EE06D68B-69D6-613D-7F1F-A85C74AEA411}"/>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604B389-57E4-108D-68A1-71D3F3533F26}"/>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3E05A71C-B6F5-CC5A-39DC-10BF4174D4B0}"/>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0295F8DF-FDCB-25C8-8122-946C13B44806}"/>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26E6965-4924-84DB-396A-80147054DC2C}"/>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290252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EBED80-DCAE-4CC6-1233-18225FC37753}"/>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5A90067D-13EA-5AD1-4013-38A21050AFF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44C3B4F8-9C65-9EEA-12E2-625F0751FEA7}"/>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23E25780-541E-F0BC-A976-1221073F5B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2DA85929-7189-53B5-0B49-10C662A034CB}"/>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B3F4DC3F-B75A-5B42-CC93-8B0CABD90AB7}"/>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8" name="页脚占位符 7">
            <a:extLst>
              <a:ext uri="{FF2B5EF4-FFF2-40B4-BE49-F238E27FC236}">
                <a16:creationId xmlns:a16="http://schemas.microsoft.com/office/drawing/2014/main" id="{5F48DA6D-A767-6C8C-01C9-4E32F66356E9}"/>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6A2FF778-FB00-BBB9-D665-082EEB1D2C53}"/>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2341786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532382-554B-560E-CF4A-A7D596C50C93}"/>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578FED0E-448E-1332-E69D-C7450F9011A8}"/>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4" name="页脚占位符 3">
            <a:extLst>
              <a:ext uri="{FF2B5EF4-FFF2-40B4-BE49-F238E27FC236}">
                <a16:creationId xmlns:a16="http://schemas.microsoft.com/office/drawing/2014/main" id="{C04B7F65-3E78-AD18-D479-6EDB777FCFD6}"/>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E55C09BC-AAC6-2FF0-3077-96423F6E6E92}"/>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268865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EEBEE6A-6601-95D8-1A9B-B5B7D3720220}"/>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3" name="页脚占位符 2">
            <a:extLst>
              <a:ext uri="{FF2B5EF4-FFF2-40B4-BE49-F238E27FC236}">
                <a16:creationId xmlns:a16="http://schemas.microsoft.com/office/drawing/2014/main" id="{65330B17-FBA3-DE26-19CE-82125A75B474}"/>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E3A24C75-6CA4-DB5A-F3ED-D9C7CF2371E1}"/>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30771183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99BD1C-D8F7-F469-DBD4-D47E3DF0D8CE}"/>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110D2193-055D-AA50-454F-4D547D86D1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43BC6A69-0715-A3A6-88E0-ABB6CADD45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F12C6328-E55D-0885-52E2-B7BBB39DA598}"/>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0139B316-8CB1-4673-B6DF-915254AA75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578EF2-EE17-643C-6867-D35F54EC3D6C}"/>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1686771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3110EE0-BDDD-F421-57E7-E7BEA922E61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E04C7898-DE9C-BA52-3117-EEF200D600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2BB950C3-63FC-F9A1-8451-69A75814A2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B2DC974-56E6-8FB4-3DE1-FFC62A2DB0FA}"/>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43125206-7494-B872-3007-C34B5672502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5473DD9-2379-BEB3-D923-27FE1AF43989}"/>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3325687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039DCC-BDED-0DE6-32AC-CAF8950FAACB}"/>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E2B4E459-2D77-3289-B0CC-047E00FE284B}"/>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29E210F-3087-58B9-55BF-9B158BBD60C4}"/>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F4BB797E-20F1-1814-75B7-0AE06293F19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D0A0D06-AE94-74C6-8CB5-42C80FEA3B6B}"/>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18546847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385AC17-AB61-DD57-04B4-481EC3C41EFC}"/>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5ABB3B6C-032C-9870-7DB2-A87115FD719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9042959-765C-BCCD-905F-73E73C9AF794}"/>
              </a:ext>
            </a:extLst>
          </p:cNvPr>
          <p:cNvSpPr>
            <a:spLocks noGrp="1"/>
          </p:cNvSpPr>
          <p:nvPr>
            <p:ph type="dt" sz="half" idx="10"/>
          </p:nvPr>
        </p:nvSpPr>
        <p:spPr/>
        <p:txBody>
          <a:bodyPr/>
          <a:lstStyle/>
          <a:p>
            <a:fld id="{D3B1AC3E-8B82-41EE-A0A8-5237A984D2A4}"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26E01A3D-D8BB-CE44-32C0-631A735984B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070299F-395A-7B14-4F38-4A1EF2F494E1}"/>
              </a:ext>
            </a:extLst>
          </p:cNvPr>
          <p:cNvSpPr>
            <a:spLocks noGrp="1"/>
          </p:cNvSpPr>
          <p:nvPr>
            <p:ph type="sldNum" sz="quarter" idx="12"/>
          </p:nvPr>
        </p:nvSpPr>
        <p:spPr/>
        <p:txBody>
          <a:body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5209108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2F9AEB6E-2A97-254B-6009-574195A7506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9B7BF60-8A97-1239-8922-BED28212C1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2ADC3E1-6658-AD5E-03BE-EA85384EEAE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B1AC3E-8B82-41EE-A0A8-5237A984D2A4}"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78E2EEC1-A606-3704-A333-7555C1B867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B266E6B9-CA06-DEAE-93CE-6BC0A3670B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57623-5CDA-44D9-88A2-506647CDCE2F}" type="slidenum">
              <a:rPr lang="zh-CN" altLang="en-US" smtClean="0"/>
              <a:t>‹#›</a:t>
            </a:fld>
            <a:endParaRPr lang="zh-CN" altLang="en-US"/>
          </a:p>
        </p:txBody>
      </p:sp>
    </p:spTree>
    <p:extLst>
      <p:ext uri="{BB962C8B-B14F-4D97-AF65-F5344CB8AC3E}">
        <p14:creationId xmlns:p14="http://schemas.microsoft.com/office/powerpoint/2010/main" val="1901412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viva_check.p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github.com/Haoyi-Zhang/WatermarkScope/blob/main/scripts/viva_check.py" TargetMode="External"/><Relationship Id="rId3" Type="http://schemas.openxmlformats.org/officeDocument/2006/relationships/image" Target="../media/image3.jpeg"/><Relationship Id="rId7" Type="http://schemas.openxmlformats.org/officeDocument/2006/relationships/hyperlink" Target="https://github.com/Haoyi-Zhang/WatermarkScope/blob/main/RESULT_MANIFEST.jsonl"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github.com/Haoyi-Zhang/WatermarkScope/blob/main/docs/TRACEABILITY_MATRIX.md" TargetMode="External"/><Relationship Id="rId5" Type="http://schemas.openxmlformats.org/officeDocument/2006/relationships/hyperlink" Target="https://github.com/Haoyi-Zhang/WatermarkScope/blob/main/CLAIM_BOUNDARIES.md" TargetMode="External"/><Relationship Id="rId4" Type="http://schemas.openxmlformats.org/officeDocument/2006/relationships/hyperlink" Target="https://haoyi-zhang.github.io/WatermarkScop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64F4342-EE8E-844A-21A5-005267C03610}"/>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974D8439-5F48-99CA-3580-EA603FFE808E}"/>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8587F4DC-100E-648F-2479-37707C451E30}"/>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F1A152EE-38B3-9E90-D7D5-418045A5A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kicker">
            <a:extLst>
              <a:ext uri="{FF2B5EF4-FFF2-40B4-BE49-F238E27FC236}">
                <a16:creationId xmlns:a16="http://schemas.microsoft.com/office/drawing/2014/main" id="{DF1C96E3-0F48-97D1-AFF7-9D5C0E4AEE23}"/>
              </a:ext>
            </a:extLst>
          </p:cNvPr>
          <p:cNvSpPr txBox="1"/>
          <p:nvPr/>
        </p:nvSpPr>
        <p:spPr>
          <a:xfrm>
            <a:off x="5003800" y="990600"/>
            <a:ext cx="4572000" cy="276999"/>
          </a:xfrm>
          <a:prstGeom prst="rect">
            <a:avLst/>
          </a:prstGeom>
          <a:noFill/>
        </p:spPr>
        <p:txBody>
          <a:bodyPr vert="horz" wrap="square" lIns="0" tIns="0" rIns="0" bIns="0" rtlCol="0">
            <a:noAutofit/>
          </a:bodyPr>
          <a:lstStyle/>
          <a:p>
            <a:r>
              <a:rPr lang="en-US" altLang="zh-CN" sz="800" b="1">
                <a:solidFill>
                  <a:srgbClr val="C2DCFA"/>
                </a:solidFill>
                <a:latin typeface="Aptos" panose="020B0004020202020204" pitchFamily="34" charset="0"/>
              </a:rPr>
              <a:t>FINAL YEAR PROJECT VIVA</a:t>
            </a:r>
            <a:endParaRPr lang="zh-CN" altLang="en-US" sz="800" b="1">
              <a:solidFill>
                <a:srgbClr val="C2DCFA"/>
              </a:solidFill>
              <a:latin typeface="Aptos" panose="020B0004020202020204" pitchFamily="34" charset="0"/>
            </a:endParaRPr>
          </a:p>
        </p:txBody>
      </p:sp>
      <p:sp>
        <p:nvSpPr>
          <p:cNvPr id="8" name="h1">
            <a:extLst>
              <a:ext uri="{FF2B5EF4-FFF2-40B4-BE49-F238E27FC236}">
                <a16:creationId xmlns:a16="http://schemas.microsoft.com/office/drawing/2014/main" id="{3DBDBD4D-FF65-5148-74DF-9AB19BFEF4FA}"/>
              </a:ext>
            </a:extLst>
          </p:cNvPr>
          <p:cNvSpPr txBox="1"/>
          <p:nvPr/>
        </p:nvSpPr>
        <p:spPr>
          <a:xfrm>
            <a:off x="5003800" y="1371600"/>
            <a:ext cx="6223000" cy="276999"/>
          </a:xfrm>
          <a:prstGeom prst="rect">
            <a:avLst/>
          </a:prstGeom>
          <a:noFill/>
        </p:spPr>
        <p:txBody>
          <a:bodyPr vert="horz" wrap="square" lIns="0" tIns="0" rIns="0" bIns="0" rtlCol="0">
            <a:noAutofit/>
          </a:bodyPr>
          <a:lstStyle/>
          <a:p>
            <a:r>
              <a:rPr lang="en-US" altLang="zh-CN" sz="4800" b="1">
                <a:solidFill>
                  <a:srgbClr val="FFFFFF"/>
                </a:solidFill>
                <a:latin typeface="Aptos" panose="020B0004020202020204" pitchFamily="34" charset="0"/>
              </a:rPr>
              <a:t>WatermarkScope</a:t>
            </a:r>
            <a:endParaRPr lang="zh-CN" altLang="en-US" sz="4800" b="1">
              <a:solidFill>
                <a:srgbClr val="FFFFFF"/>
              </a:solidFill>
              <a:latin typeface="Aptos" panose="020B0004020202020204" pitchFamily="34" charset="0"/>
            </a:endParaRPr>
          </a:p>
        </p:txBody>
      </p:sp>
      <p:sp>
        <p:nvSpPr>
          <p:cNvPr id="9" name="sub">
            <a:extLst>
              <a:ext uri="{FF2B5EF4-FFF2-40B4-BE49-F238E27FC236}">
                <a16:creationId xmlns:a16="http://schemas.microsoft.com/office/drawing/2014/main" id="{BA86DC17-F8D0-ECC4-D34C-C4FF0B31552E}"/>
              </a:ext>
            </a:extLst>
          </p:cNvPr>
          <p:cNvSpPr txBox="1"/>
          <p:nvPr/>
        </p:nvSpPr>
        <p:spPr>
          <a:xfrm>
            <a:off x="5054600" y="2387600"/>
            <a:ext cx="57785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A benchmark-to-audit framework for source-code watermarking in code generation models.</a:t>
            </a:r>
            <a:endParaRPr lang="zh-CN" altLang="en-US" sz="1850" b="1">
              <a:solidFill>
                <a:srgbClr val="FFFFFF"/>
              </a:solidFill>
              <a:latin typeface="Aptos" panose="020B0004020202020204" pitchFamily="34" charset="0"/>
            </a:endParaRPr>
          </a:p>
        </p:txBody>
      </p:sp>
      <p:cxnSp>
        <p:nvCxnSpPr>
          <p:cNvPr id="10" name="rule">
            <a:extLst>
              <a:ext uri="{FF2B5EF4-FFF2-40B4-BE49-F238E27FC236}">
                <a16:creationId xmlns:a16="http://schemas.microsoft.com/office/drawing/2014/main" id="{CAF9628F-49A7-B11F-9FD2-F1FE29346F4B}"/>
              </a:ext>
            </a:extLst>
          </p:cNvPr>
          <p:cNvCxnSpPr/>
          <p:nvPr/>
        </p:nvCxnSpPr>
        <p:spPr>
          <a:xfrm>
            <a:off x="5054600" y="3327400"/>
            <a:ext cx="56388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1" name="thesis">
            <a:extLst>
              <a:ext uri="{FF2B5EF4-FFF2-40B4-BE49-F238E27FC236}">
                <a16:creationId xmlns:a16="http://schemas.microsoft.com/office/drawing/2014/main" id="{11C875D7-E4B9-E416-37DD-E0AA755075DF}"/>
              </a:ext>
            </a:extLst>
          </p:cNvPr>
          <p:cNvSpPr txBox="1"/>
          <p:nvPr/>
        </p:nvSpPr>
        <p:spPr>
          <a:xfrm>
            <a:off x="5054600" y="3810000"/>
            <a:ext cx="54610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Watermark evidence needs a claim boundary before it can support a claim.</a:t>
            </a:r>
            <a:endParaRPr lang="zh-CN" altLang="en-US" sz="1850" b="1">
              <a:solidFill>
                <a:srgbClr val="FFFFFF"/>
              </a:solidFill>
              <a:latin typeface="Aptos" panose="020B0004020202020204" pitchFamily="34" charset="0"/>
            </a:endParaRPr>
          </a:p>
        </p:txBody>
      </p:sp>
      <p:sp>
        <p:nvSpPr>
          <p:cNvPr id="12" name="meta">
            <a:extLst>
              <a:ext uri="{FF2B5EF4-FFF2-40B4-BE49-F238E27FC236}">
                <a16:creationId xmlns:a16="http://schemas.microsoft.com/office/drawing/2014/main" id="{1BCF4507-6FD1-9324-3DA2-64FAB04DF9F3}"/>
              </a:ext>
            </a:extLst>
          </p:cNvPr>
          <p:cNvSpPr txBox="1"/>
          <p:nvPr/>
        </p:nvSpPr>
        <p:spPr>
          <a:xfrm>
            <a:off x="5054600" y="5029200"/>
            <a:ext cx="4953000" cy="276999"/>
          </a:xfrm>
          <a:prstGeom prst="rect">
            <a:avLst/>
          </a:prstGeom>
          <a:noFill/>
        </p:spPr>
        <p:txBody>
          <a:bodyPr vert="horz" wrap="square" lIns="0" tIns="0" rIns="0" bIns="0" rtlCol="0">
            <a:noAutofit/>
          </a:bodyPr>
          <a:lstStyle/>
          <a:p>
            <a:r>
              <a:rPr lang="en-US" altLang="zh-CN" sz="920">
                <a:solidFill>
                  <a:srgbClr val="D6E5FA"/>
                </a:solidFill>
                <a:latin typeface="Aptos" panose="020B0004020202020204" pitchFamily="34" charset="0"/>
              </a:rPr>
              <a:t>Haoyi Zhang | 2254912
Supervisor: Md Maruf Hasan
Viva: 21 May 2026</a:t>
            </a:r>
            <a:endParaRPr lang="zh-CN" altLang="en-US" sz="920">
              <a:solidFill>
                <a:srgbClr val="D6E5FA"/>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95331154-91D8-DD6B-087E-ADC6141D6A64}"/>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 y="1168400"/>
            <a:ext cx="1219200" cy="1219200"/>
          </a:xfrm>
          <a:prstGeom prst="rect">
            <a:avLst/>
          </a:prstGeom>
        </p:spPr>
      </p:pic>
      <p:sp>
        <p:nvSpPr>
          <p:cNvPr id="15" name="artifact">
            <a:extLst>
              <a:ext uri="{FF2B5EF4-FFF2-40B4-BE49-F238E27FC236}">
                <a16:creationId xmlns:a16="http://schemas.microsoft.com/office/drawing/2014/main" id="{5707BC06-524D-144A-032F-896BACE49BEE}"/>
              </a:ext>
            </a:extLst>
          </p:cNvPr>
          <p:cNvSpPr txBox="1"/>
          <p:nvPr/>
        </p:nvSpPr>
        <p:spPr>
          <a:xfrm>
            <a:off x="914400" y="2667000"/>
            <a:ext cx="2133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Artifact access</a:t>
            </a:r>
            <a:endParaRPr lang="zh-CN" altLang="en-US" sz="820" b="1">
              <a:solidFill>
                <a:srgbClr val="FFFFFF"/>
              </a:solidFill>
              <a:latin typeface="Aptos" panose="020B0004020202020204" pitchFamily="34" charset="0"/>
            </a:endParaRPr>
          </a:p>
        </p:txBody>
      </p:sp>
      <p:sp>
        <p:nvSpPr>
          <p:cNvPr id="16" name="artifact2">
            <a:extLst>
              <a:ext uri="{FF2B5EF4-FFF2-40B4-BE49-F238E27FC236}">
                <a16:creationId xmlns:a16="http://schemas.microsoft.com/office/drawing/2014/main" id="{6190C1D1-2702-6491-BE39-217BDB7C8B7A}"/>
              </a:ext>
            </a:extLst>
          </p:cNvPr>
          <p:cNvSpPr txBox="1"/>
          <p:nvPr/>
        </p:nvSpPr>
        <p:spPr>
          <a:xfrm>
            <a:off x="914400" y="2984500"/>
            <a:ext cx="2336800" cy="276999"/>
          </a:xfrm>
          <a:prstGeom prst="rect">
            <a:avLst/>
          </a:prstGeom>
          <a:noFill/>
        </p:spPr>
        <p:txBody>
          <a:bodyPr vert="horz" wrap="square" lIns="0" tIns="0" rIns="0" bIns="0" rtlCol="0">
            <a:noAutofit/>
          </a:bodyPr>
          <a:lstStyle/>
          <a:p>
            <a:r>
              <a:rPr lang="en-US" altLang="zh-CN" sz="810">
                <a:solidFill>
                  <a:srgbClr val="D6E5FA"/>
                </a:solidFill>
                <a:latin typeface="Aptos" panose="020B0004020202020204" pitchFamily="34" charset="0"/>
              </a:rPr>
              <a:t>Project page, repository, claim boundaries, and viva materials.</a:t>
            </a:r>
            <a:endParaRPr lang="zh-CN" altLang="en-US" sz="810">
              <a:solidFill>
                <a:srgbClr val="D6E5FA"/>
              </a:solidFill>
              <a:latin typeface="Aptos" panose="020B0004020202020204" pitchFamily="34" charset="0"/>
            </a:endParaRPr>
          </a:p>
        </p:txBody>
      </p:sp>
      <p:sp>
        <p:nvSpPr>
          <p:cNvPr id="17" name="cover-page">
            <a:hlinkClick r:id="rId4"/>
            <a:extLst>
              <a:ext uri="{FF2B5EF4-FFF2-40B4-BE49-F238E27FC236}">
                <a16:creationId xmlns:a16="http://schemas.microsoft.com/office/drawing/2014/main" id="{5C76BD5A-8BF7-1D05-2AC0-31F987DA3781}"/>
              </a:ext>
            </a:extLst>
          </p:cNvPr>
          <p:cNvSpPr/>
          <p:nvPr/>
        </p:nvSpPr>
        <p:spPr>
          <a:xfrm>
            <a:off x="914400" y="37846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cover-repo">
            <a:hlinkClick r:id="rId6"/>
            <a:extLst>
              <a:ext uri="{FF2B5EF4-FFF2-40B4-BE49-F238E27FC236}">
                <a16:creationId xmlns:a16="http://schemas.microsoft.com/office/drawing/2014/main" id="{35A6AB15-E19F-9F97-ED9C-D8EEE1FD687B}"/>
              </a:ext>
            </a:extLst>
          </p:cNvPr>
          <p:cNvSpPr/>
          <p:nvPr/>
        </p:nvSpPr>
        <p:spPr>
          <a:xfrm>
            <a:off x="2159000" y="37846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9" name="cover-flow-0">
            <a:extLst>
              <a:ext uri="{FF2B5EF4-FFF2-40B4-BE49-F238E27FC236}">
                <a16:creationId xmlns:a16="http://schemas.microsoft.com/office/drawing/2014/main" id="{FA250061-CFEF-0BD3-DA78-B5BD6024CE0D}"/>
              </a:ext>
            </a:extLst>
          </p:cNvPr>
          <p:cNvSpPr/>
          <p:nvPr/>
        </p:nvSpPr>
        <p:spPr>
          <a:xfrm>
            <a:off x="914400" y="4724400"/>
            <a:ext cx="5842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over-flow-n-0">
            <a:extLst>
              <a:ext uri="{FF2B5EF4-FFF2-40B4-BE49-F238E27FC236}">
                <a16:creationId xmlns:a16="http://schemas.microsoft.com/office/drawing/2014/main" id="{0CBFAAE5-A7FA-C217-2D97-9AD05B2EBA3B}"/>
              </a:ext>
            </a:extLst>
          </p:cNvPr>
          <p:cNvSpPr txBox="1"/>
          <p:nvPr/>
        </p:nvSpPr>
        <p:spPr>
          <a:xfrm>
            <a:off x="11049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01</a:t>
            </a:r>
            <a:endParaRPr lang="zh-CN" altLang="en-US" sz="700" b="1">
              <a:solidFill>
                <a:srgbClr val="FFFFFF"/>
              </a:solidFill>
              <a:latin typeface="Aptos" panose="020B0004020202020204" pitchFamily="34" charset="0"/>
            </a:endParaRPr>
          </a:p>
        </p:txBody>
      </p:sp>
      <p:sp>
        <p:nvSpPr>
          <p:cNvPr id="21" name="cover-flow-t-0">
            <a:extLst>
              <a:ext uri="{FF2B5EF4-FFF2-40B4-BE49-F238E27FC236}">
                <a16:creationId xmlns:a16="http://schemas.microsoft.com/office/drawing/2014/main" id="{DC432948-D5FF-5986-D236-F7D6A7AB935A}"/>
              </a:ext>
            </a:extLst>
          </p:cNvPr>
          <p:cNvSpPr txBox="1"/>
          <p:nvPr/>
        </p:nvSpPr>
        <p:spPr>
          <a:xfrm>
            <a:off x="8890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Admit</a:t>
            </a:r>
            <a:endParaRPr lang="zh-CN" altLang="en-US" sz="620" b="1">
              <a:solidFill>
                <a:srgbClr val="D6E5FA"/>
              </a:solidFill>
              <a:latin typeface="Aptos" panose="020B0004020202020204" pitchFamily="34" charset="0"/>
            </a:endParaRPr>
          </a:p>
        </p:txBody>
      </p:sp>
      <p:cxnSp>
        <p:nvCxnSpPr>
          <p:cNvPr id="22" name="cover-flow-a-0">
            <a:extLst>
              <a:ext uri="{FF2B5EF4-FFF2-40B4-BE49-F238E27FC236}">
                <a16:creationId xmlns:a16="http://schemas.microsoft.com/office/drawing/2014/main" id="{88C37181-5104-5C4D-62BB-3A4B0834A075}"/>
              </a:ext>
            </a:extLst>
          </p:cNvPr>
          <p:cNvCxnSpPr/>
          <p:nvPr/>
        </p:nvCxnSpPr>
        <p:spPr>
          <a:xfrm>
            <a:off x="15240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3" name="cover-flow-1">
            <a:extLst>
              <a:ext uri="{FF2B5EF4-FFF2-40B4-BE49-F238E27FC236}">
                <a16:creationId xmlns:a16="http://schemas.microsoft.com/office/drawing/2014/main" id="{B6547C8B-301F-F52E-B928-1FFECE4D6A52}"/>
              </a:ext>
            </a:extLst>
          </p:cNvPr>
          <p:cNvSpPr/>
          <p:nvPr/>
        </p:nvSpPr>
        <p:spPr>
          <a:xfrm>
            <a:off x="1727200" y="4724400"/>
            <a:ext cx="584200" cy="5842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over-flow-n-1">
            <a:extLst>
              <a:ext uri="{FF2B5EF4-FFF2-40B4-BE49-F238E27FC236}">
                <a16:creationId xmlns:a16="http://schemas.microsoft.com/office/drawing/2014/main" id="{2AFB3CCC-4E58-C9F1-073A-4BAF94F2AE7D}"/>
              </a:ext>
            </a:extLst>
          </p:cNvPr>
          <p:cNvSpPr txBox="1"/>
          <p:nvPr/>
        </p:nvSpPr>
        <p:spPr>
          <a:xfrm>
            <a:off x="19177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02</a:t>
            </a:r>
            <a:endParaRPr lang="zh-CN" altLang="en-US" sz="700" b="1">
              <a:solidFill>
                <a:srgbClr val="FFFFFF"/>
              </a:solidFill>
              <a:latin typeface="Aptos" panose="020B0004020202020204" pitchFamily="34" charset="0"/>
            </a:endParaRPr>
          </a:p>
        </p:txBody>
      </p:sp>
      <p:sp>
        <p:nvSpPr>
          <p:cNvPr id="25" name="cover-flow-t-1">
            <a:extLst>
              <a:ext uri="{FF2B5EF4-FFF2-40B4-BE49-F238E27FC236}">
                <a16:creationId xmlns:a16="http://schemas.microsoft.com/office/drawing/2014/main" id="{9DD24CD1-27CD-8C90-01A5-E056857FC6CA}"/>
              </a:ext>
            </a:extLst>
          </p:cNvPr>
          <p:cNvSpPr txBox="1"/>
          <p:nvPr/>
        </p:nvSpPr>
        <p:spPr>
          <a:xfrm>
            <a:off x="17018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Control</a:t>
            </a:r>
            <a:endParaRPr lang="zh-CN" altLang="en-US" sz="620" b="1">
              <a:solidFill>
                <a:srgbClr val="D6E5FA"/>
              </a:solidFill>
              <a:latin typeface="Aptos" panose="020B0004020202020204" pitchFamily="34" charset="0"/>
            </a:endParaRPr>
          </a:p>
        </p:txBody>
      </p:sp>
      <p:cxnSp>
        <p:nvCxnSpPr>
          <p:cNvPr id="26" name="cover-flow-a-1">
            <a:extLst>
              <a:ext uri="{FF2B5EF4-FFF2-40B4-BE49-F238E27FC236}">
                <a16:creationId xmlns:a16="http://schemas.microsoft.com/office/drawing/2014/main" id="{0091B13F-2587-9F53-20B3-305ADC80ADA5}"/>
              </a:ext>
            </a:extLst>
          </p:cNvPr>
          <p:cNvCxnSpPr/>
          <p:nvPr/>
        </p:nvCxnSpPr>
        <p:spPr>
          <a:xfrm>
            <a:off x="23368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7" name="cover-flow-2">
            <a:extLst>
              <a:ext uri="{FF2B5EF4-FFF2-40B4-BE49-F238E27FC236}">
                <a16:creationId xmlns:a16="http://schemas.microsoft.com/office/drawing/2014/main" id="{3EE0A4B1-3787-BECC-73B5-9EE37144D897}"/>
              </a:ext>
            </a:extLst>
          </p:cNvPr>
          <p:cNvSpPr/>
          <p:nvPr/>
        </p:nvSpPr>
        <p:spPr>
          <a:xfrm>
            <a:off x="2540000" y="4724400"/>
            <a:ext cx="5842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over-flow-n-2">
            <a:extLst>
              <a:ext uri="{FF2B5EF4-FFF2-40B4-BE49-F238E27FC236}">
                <a16:creationId xmlns:a16="http://schemas.microsoft.com/office/drawing/2014/main" id="{F18612C3-DF02-869A-D35B-A19B75C2BD00}"/>
              </a:ext>
            </a:extLst>
          </p:cNvPr>
          <p:cNvSpPr txBox="1"/>
          <p:nvPr/>
        </p:nvSpPr>
        <p:spPr>
          <a:xfrm>
            <a:off x="27305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03</a:t>
            </a:r>
            <a:endParaRPr lang="zh-CN" altLang="en-US" sz="700" b="1">
              <a:solidFill>
                <a:srgbClr val="FFFFFF"/>
              </a:solidFill>
              <a:latin typeface="Aptos" panose="020B0004020202020204" pitchFamily="34" charset="0"/>
            </a:endParaRPr>
          </a:p>
        </p:txBody>
      </p:sp>
      <p:sp>
        <p:nvSpPr>
          <p:cNvPr id="29" name="cover-flow-t-2">
            <a:extLst>
              <a:ext uri="{FF2B5EF4-FFF2-40B4-BE49-F238E27FC236}">
                <a16:creationId xmlns:a16="http://schemas.microsoft.com/office/drawing/2014/main" id="{D6FAEAFB-E599-179C-0431-60414243A981}"/>
              </a:ext>
            </a:extLst>
          </p:cNvPr>
          <p:cNvSpPr txBox="1"/>
          <p:nvPr/>
        </p:nvSpPr>
        <p:spPr>
          <a:xfrm>
            <a:off x="25146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Hash</a:t>
            </a:r>
            <a:endParaRPr lang="zh-CN" altLang="en-US" sz="620" b="1">
              <a:solidFill>
                <a:srgbClr val="D6E5FA"/>
              </a:solidFill>
              <a:latin typeface="Aptos" panose="020B0004020202020204" pitchFamily="34" charset="0"/>
            </a:endParaRPr>
          </a:p>
        </p:txBody>
      </p:sp>
      <p:cxnSp>
        <p:nvCxnSpPr>
          <p:cNvPr id="30" name="cover-flow-a-2">
            <a:extLst>
              <a:ext uri="{FF2B5EF4-FFF2-40B4-BE49-F238E27FC236}">
                <a16:creationId xmlns:a16="http://schemas.microsoft.com/office/drawing/2014/main" id="{623E59A8-5177-1EA6-85A8-8D1C92E2A577}"/>
              </a:ext>
            </a:extLst>
          </p:cNvPr>
          <p:cNvCxnSpPr/>
          <p:nvPr/>
        </p:nvCxnSpPr>
        <p:spPr>
          <a:xfrm>
            <a:off x="31496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31" name="cover-flow-3">
            <a:extLst>
              <a:ext uri="{FF2B5EF4-FFF2-40B4-BE49-F238E27FC236}">
                <a16:creationId xmlns:a16="http://schemas.microsoft.com/office/drawing/2014/main" id="{C1DB442F-A212-4A51-1AAE-BDDD2DB20443}"/>
              </a:ext>
            </a:extLst>
          </p:cNvPr>
          <p:cNvSpPr/>
          <p:nvPr/>
        </p:nvSpPr>
        <p:spPr>
          <a:xfrm>
            <a:off x="3352800" y="4724400"/>
            <a:ext cx="5842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cover-flow-n-3">
            <a:extLst>
              <a:ext uri="{FF2B5EF4-FFF2-40B4-BE49-F238E27FC236}">
                <a16:creationId xmlns:a16="http://schemas.microsoft.com/office/drawing/2014/main" id="{44422A6A-3088-4623-BF64-0AD447FD693B}"/>
              </a:ext>
            </a:extLst>
          </p:cNvPr>
          <p:cNvSpPr txBox="1"/>
          <p:nvPr/>
        </p:nvSpPr>
        <p:spPr>
          <a:xfrm>
            <a:off x="35433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04</a:t>
            </a:r>
            <a:endParaRPr lang="zh-CN" altLang="en-US" sz="700" b="1">
              <a:solidFill>
                <a:srgbClr val="FFFFFF"/>
              </a:solidFill>
              <a:latin typeface="Aptos" panose="020B0004020202020204" pitchFamily="34" charset="0"/>
            </a:endParaRPr>
          </a:p>
        </p:txBody>
      </p:sp>
      <p:sp>
        <p:nvSpPr>
          <p:cNvPr id="33" name="cover-flow-t-3">
            <a:extLst>
              <a:ext uri="{FF2B5EF4-FFF2-40B4-BE49-F238E27FC236}">
                <a16:creationId xmlns:a16="http://schemas.microsoft.com/office/drawing/2014/main" id="{E361D5C6-2AB7-DED0-3BB5-854A3B810102}"/>
              </a:ext>
            </a:extLst>
          </p:cNvPr>
          <p:cNvSpPr txBox="1"/>
          <p:nvPr/>
        </p:nvSpPr>
        <p:spPr>
          <a:xfrm>
            <a:off x="33274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Claim</a:t>
            </a:r>
            <a:endParaRPr lang="zh-CN" altLang="en-US" sz="620" b="1">
              <a:solidFill>
                <a:srgbClr val="D6E5FA"/>
              </a:solidFill>
              <a:latin typeface="Aptos" panose="020B0004020202020204" pitchFamily="34" charset="0"/>
            </a:endParaRPr>
          </a:p>
        </p:txBody>
      </p:sp>
      <p:sp>
        <p:nvSpPr>
          <p:cNvPr id="34" name="footer-hit-1">
            <a:hlinkClick r:id="rId4"/>
            <a:extLst>
              <a:ext uri="{FF2B5EF4-FFF2-40B4-BE49-F238E27FC236}">
                <a16:creationId xmlns:a16="http://schemas.microsoft.com/office/drawing/2014/main" id="{DB5D40F9-DD1D-BD8B-256F-E97B29619CA3}"/>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2675553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P spid="21" grpId="0"/>
      <p:bldP spid="23" grpId="0" animBg="1"/>
      <p:bldP spid="24" grpId="0"/>
      <p:bldP spid="25" grpId="0"/>
      <p:bldP spid="27" grpId="0" animBg="1"/>
      <p:bldP spid="28" grpId="0"/>
      <p:bldP spid="29" grpId="0"/>
      <p:bldP spid="31" grpId="0" animBg="1"/>
      <p:bldP spid="32" grpId="0"/>
      <p:bldP spid="3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CDD37A8-206E-3735-B923-A2B3DF1FA0B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8081185-7A1A-2CB8-389F-018DF4D67AF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B7427FC0-F416-29CB-25D0-5B6E838B07DD}"/>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03221622-8B7F-DE2D-BB5B-89BD44B6FDD0}"/>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PROBLEM</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7D1F4360-5380-B880-C42A-FBA2A084B233}"/>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15FEF02B-9249-6287-C062-95379BFED7C5}"/>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3829EE7-DBEF-BC3D-A2F3-66CBDF94022B}"/>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F2F7DA83-291F-742B-88A5-3FF7E0643E2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242E5FD9-1695-438A-62F5-05E68DA4D918}"/>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Generated code leaves the clean lab setting.</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2B9D5B6D-3B32-8D87-CDFD-E400B8BE3C6F}"/>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useful question is not whether a detector fires, but what evidence survives after code movement.</a:t>
            </a:r>
            <a:endParaRPr lang="zh-CN" altLang="en-US" sz="930">
              <a:solidFill>
                <a:srgbClr val="4A5B78"/>
              </a:solidFill>
              <a:latin typeface="Aptos" panose="020B0004020202020204" pitchFamily="34" charset="0"/>
            </a:endParaRPr>
          </a:p>
        </p:txBody>
      </p:sp>
      <p:sp>
        <p:nvSpPr>
          <p:cNvPr id="13" name="lab">
            <a:extLst>
              <a:ext uri="{FF2B5EF4-FFF2-40B4-BE49-F238E27FC236}">
                <a16:creationId xmlns:a16="http://schemas.microsoft.com/office/drawing/2014/main" id="{2CF5C197-CBAD-CED6-F0DA-9E51D6316162}"/>
              </a:ext>
            </a:extLst>
          </p:cNvPr>
          <p:cNvSpPr/>
          <p:nvPr/>
        </p:nvSpPr>
        <p:spPr>
          <a:xfrm>
            <a:off x="838200" y="1955800"/>
            <a:ext cx="3175000" cy="32766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k">
            <a:extLst>
              <a:ext uri="{FF2B5EF4-FFF2-40B4-BE49-F238E27FC236}">
                <a16:creationId xmlns:a16="http://schemas.microsoft.com/office/drawing/2014/main" id="{0CFA04CC-B210-686B-C733-AAC1171FDB10}"/>
              </a:ext>
            </a:extLst>
          </p:cNvPr>
          <p:cNvSpPr txBox="1"/>
          <p:nvPr/>
        </p:nvSpPr>
        <p:spPr>
          <a:xfrm>
            <a:off x="1168400" y="2286000"/>
            <a:ext cx="1905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clean generation session</a:t>
            </a:r>
            <a:endParaRPr lang="zh-CN" altLang="en-US" sz="780" b="1">
              <a:solidFill>
                <a:srgbClr val="A5C6EB"/>
              </a:solidFill>
              <a:latin typeface="Aptos" panose="020B0004020202020204" pitchFamily="34" charset="0"/>
            </a:endParaRPr>
          </a:p>
        </p:txBody>
      </p:sp>
      <p:sp>
        <p:nvSpPr>
          <p:cNvPr id="15" name="lab-code">
            <a:extLst>
              <a:ext uri="{FF2B5EF4-FFF2-40B4-BE49-F238E27FC236}">
                <a16:creationId xmlns:a16="http://schemas.microsoft.com/office/drawing/2014/main" id="{64F5567D-88AD-C31D-5AEE-05CD88C7605A}"/>
              </a:ext>
            </a:extLst>
          </p:cNvPr>
          <p:cNvSpPr txBox="1"/>
          <p:nvPr/>
        </p:nvSpPr>
        <p:spPr>
          <a:xfrm>
            <a:off x="1168400" y="2794000"/>
            <a:ext cx="2311400" cy="276999"/>
          </a:xfrm>
          <a:prstGeom prst="rect">
            <a:avLst/>
          </a:prstGeom>
          <a:noFill/>
        </p:spPr>
        <p:txBody>
          <a:bodyPr vert="horz" wrap="square" lIns="0" tIns="0" rIns="0" bIns="0" rtlCol="0">
            <a:noAutofit/>
          </a:bodyPr>
          <a:lstStyle/>
          <a:p>
            <a:r>
              <a:rPr lang="en-US" altLang="zh-CN" sz="1250">
                <a:solidFill>
                  <a:srgbClr val="FFFFFF"/>
                </a:solidFill>
                <a:latin typeface="Consolas" panose="020B0609020204030204" pitchFamily="49" charset="0"/>
              </a:rPr>
              <a:t>def normalize_name(s):
    y = s.strip().lower()
    return y.replace('_', '-')</a:t>
            </a:r>
            <a:endParaRPr lang="zh-CN" altLang="en-US" sz="1250">
              <a:solidFill>
                <a:srgbClr val="FFFFFF"/>
              </a:solidFill>
              <a:latin typeface="Consolas" panose="020B0609020204030204" pitchFamily="49" charset="0"/>
            </a:endParaRPr>
          </a:p>
        </p:txBody>
      </p:sp>
      <p:cxnSp>
        <p:nvCxnSpPr>
          <p:cNvPr id="16" name="lab-rule">
            <a:extLst>
              <a:ext uri="{FF2B5EF4-FFF2-40B4-BE49-F238E27FC236}">
                <a16:creationId xmlns:a16="http://schemas.microsoft.com/office/drawing/2014/main" id="{31FA358C-C3C0-A887-6A8E-29C50F915F32}"/>
              </a:ext>
            </a:extLst>
          </p:cNvPr>
          <p:cNvCxnSpPr/>
          <p:nvPr/>
        </p:nvCxnSpPr>
        <p:spPr>
          <a:xfrm>
            <a:off x="1168400" y="4038600"/>
            <a:ext cx="22860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7" name="lab-note">
            <a:extLst>
              <a:ext uri="{FF2B5EF4-FFF2-40B4-BE49-F238E27FC236}">
                <a16:creationId xmlns:a16="http://schemas.microsoft.com/office/drawing/2014/main" id="{FF207733-1430-8D8F-D507-D114A695AB69}"/>
              </a:ext>
            </a:extLst>
          </p:cNvPr>
          <p:cNvSpPr txBox="1"/>
          <p:nvPr/>
        </p:nvSpPr>
        <p:spPr>
          <a:xfrm>
            <a:off x="1168400" y="4318000"/>
            <a:ext cx="2336800" cy="276999"/>
          </a:xfrm>
          <a:prstGeom prst="rect">
            <a:avLst/>
          </a:prstGeom>
          <a:noFill/>
        </p:spPr>
        <p:txBody>
          <a:bodyPr vert="horz" wrap="square" lIns="0" tIns="0" rIns="0" bIns="0" rtlCol="0">
            <a:noAutofit/>
          </a:bodyPr>
          <a:lstStyle/>
          <a:p>
            <a:r>
              <a:rPr lang="en-US" altLang="zh-CN" sz="820">
                <a:solidFill>
                  <a:srgbClr val="C4D4E8"/>
                </a:solidFill>
                <a:latin typeface="Aptos" panose="020B0004020202020204" pitchFamily="34" charset="0"/>
              </a:rPr>
              <a:t>Watermark context, prompt context, and original model session are still close to the code.</a:t>
            </a:r>
            <a:endParaRPr lang="zh-CN" altLang="en-US" sz="820">
              <a:solidFill>
                <a:srgbClr val="C4D4E8"/>
              </a:solidFill>
              <a:latin typeface="Aptos" panose="020B0004020202020204" pitchFamily="34" charset="0"/>
            </a:endParaRPr>
          </a:p>
        </p:txBody>
      </p:sp>
      <p:cxnSp>
        <p:nvCxnSpPr>
          <p:cNvPr id="18" name="move-spine">
            <a:extLst>
              <a:ext uri="{FF2B5EF4-FFF2-40B4-BE49-F238E27FC236}">
                <a16:creationId xmlns:a16="http://schemas.microsoft.com/office/drawing/2014/main" id="{C821D0EA-52C9-D8EB-131F-4349EBF35263}"/>
              </a:ext>
            </a:extLst>
          </p:cNvPr>
          <p:cNvCxnSpPr/>
          <p:nvPr/>
        </p:nvCxnSpPr>
        <p:spPr>
          <a:xfrm>
            <a:off x="4394200" y="3238500"/>
            <a:ext cx="3581400" cy="0"/>
          </a:xfrm>
          <a:prstGeom prst="line">
            <a:avLst/>
          </a:prstGeom>
          <a:ln w="3048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move-0">
            <a:extLst>
              <a:ext uri="{FF2B5EF4-FFF2-40B4-BE49-F238E27FC236}">
                <a16:creationId xmlns:a16="http://schemas.microsoft.com/office/drawing/2014/main" id="{AF6C490D-870F-5CF8-7C30-027445B990B0}"/>
              </a:ext>
            </a:extLst>
          </p:cNvPr>
          <p:cNvSpPr/>
          <p:nvPr/>
        </p:nvSpPr>
        <p:spPr>
          <a:xfrm>
            <a:off x="44958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move-top-0">
            <a:extLst>
              <a:ext uri="{FF2B5EF4-FFF2-40B4-BE49-F238E27FC236}">
                <a16:creationId xmlns:a16="http://schemas.microsoft.com/office/drawing/2014/main" id="{C078FF65-A698-EF01-8E8D-7CA7EB2B7761}"/>
              </a:ext>
            </a:extLst>
          </p:cNvPr>
          <p:cNvSpPr/>
          <p:nvPr/>
        </p:nvSpPr>
        <p:spPr>
          <a:xfrm>
            <a:off x="4495800" y="2667000"/>
            <a:ext cx="96520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move-t-0">
            <a:extLst>
              <a:ext uri="{FF2B5EF4-FFF2-40B4-BE49-F238E27FC236}">
                <a16:creationId xmlns:a16="http://schemas.microsoft.com/office/drawing/2014/main" id="{1C4A8E43-6B77-E422-91FA-67D8F2B36F77}"/>
              </a:ext>
            </a:extLst>
          </p:cNvPr>
          <p:cNvSpPr txBox="1"/>
          <p:nvPr/>
        </p:nvSpPr>
        <p:spPr>
          <a:xfrm>
            <a:off x="46736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copy</a:t>
            </a:r>
            <a:endParaRPr lang="zh-CN" altLang="en-US" sz="1080" b="1">
              <a:solidFill>
                <a:srgbClr val="071A3D"/>
              </a:solidFill>
              <a:latin typeface="Aptos" panose="020B0004020202020204" pitchFamily="34" charset="0"/>
            </a:endParaRPr>
          </a:p>
        </p:txBody>
      </p:sp>
      <p:sp>
        <p:nvSpPr>
          <p:cNvPr id="22" name="move-s-0">
            <a:extLst>
              <a:ext uri="{FF2B5EF4-FFF2-40B4-BE49-F238E27FC236}">
                <a16:creationId xmlns:a16="http://schemas.microsoft.com/office/drawing/2014/main" id="{9DA26E5D-0D92-E416-6908-A66A6907D17E}"/>
              </a:ext>
            </a:extLst>
          </p:cNvPr>
          <p:cNvSpPr txBox="1"/>
          <p:nvPr/>
        </p:nvSpPr>
        <p:spPr>
          <a:xfrm>
            <a:off x="46736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new file</a:t>
            </a:r>
            <a:endParaRPr lang="zh-CN" altLang="en-US" sz="760">
              <a:solidFill>
                <a:srgbClr val="4A5B78"/>
              </a:solidFill>
              <a:latin typeface="Aptos" panose="020B0004020202020204" pitchFamily="34" charset="0"/>
            </a:endParaRPr>
          </a:p>
        </p:txBody>
      </p:sp>
      <p:cxnSp>
        <p:nvCxnSpPr>
          <p:cNvPr id="23" name="move-a-0">
            <a:extLst>
              <a:ext uri="{FF2B5EF4-FFF2-40B4-BE49-F238E27FC236}">
                <a16:creationId xmlns:a16="http://schemas.microsoft.com/office/drawing/2014/main" id="{FDE49773-44F4-8CBF-CD59-9AB6924D43E8}"/>
              </a:ext>
            </a:extLst>
          </p:cNvPr>
          <p:cNvCxnSpPr/>
          <p:nvPr/>
        </p:nvCxnSpPr>
        <p:spPr>
          <a:xfrm>
            <a:off x="55118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4" name="move-1">
            <a:extLst>
              <a:ext uri="{FF2B5EF4-FFF2-40B4-BE49-F238E27FC236}">
                <a16:creationId xmlns:a16="http://schemas.microsoft.com/office/drawing/2014/main" id="{0266BBBC-32BB-AF92-BC28-53623128847A}"/>
              </a:ext>
            </a:extLst>
          </p:cNvPr>
          <p:cNvSpPr/>
          <p:nvPr/>
        </p:nvSpPr>
        <p:spPr>
          <a:xfrm>
            <a:off x="57912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move-top-1">
            <a:extLst>
              <a:ext uri="{FF2B5EF4-FFF2-40B4-BE49-F238E27FC236}">
                <a16:creationId xmlns:a16="http://schemas.microsoft.com/office/drawing/2014/main" id="{B3B89DDB-A55D-4AA4-C296-CDFB95E8CE06}"/>
              </a:ext>
            </a:extLst>
          </p:cNvPr>
          <p:cNvSpPr/>
          <p:nvPr/>
        </p:nvSpPr>
        <p:spPr>
          <a:xfrm>
            <a:off x="5791200" y="2667000"/>
            <a:ext cx="965200"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move-t-1">
            <a:extLst>
              <a:ext uri="{FF2B5EF4-FFF2-40B4-BE49-F238E27FC236}">
                <a16:creationId xmlns:a16="http://schemas.microsoft.com/office/drawing/2014/main" id="{75F4857E-A7EC-B686-807D-B9EE88C77577}"/>
              </a:ext>
            </a:extLst>
          </p:cNvPr>
          <p:cNvSpPr txBox="1"/>
          <p:nvPr/>
        </p:nvSpPr>
        <p:spPr>
          <a:xfrm>
            <a:off x="59690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edit</a:t>
            </a:r>
            <a:endParaRPr lang="zh-CN" altLang="en-US" sz="1080" b="1">
              <a:solidFill>
                <a:srgbClr val="071A3D"/>
              </a:solidFill>
              <a:latin typeface="Aptos" panose="020B0004020202020204" pitchFamily="34" charset="0"/>
            </a:endParaRPr>
          </a:p>
        </p:txBody>
      </p:sp>
      <p:sp>
        <p:nvSpPr>
          <p:cNvPr id="27" name="move-s-1">
            <a:extLst>
              <a:ext uri="{FF2B5EF4-FFF2-40B4-BE49-F238E27FC236}">
                <a16:creationId xmlns:a16="http://schemas.microsoft.com/office/drawing/2014/main" id="{69C8403C-682B-C08D-8086-F04904A7897D}"/>
              </a:ext>
            </a:extLst>
          </p:cNvPr>
          <p:cNvSpPr txBox="1"/>
          <p:nvPr/>
        </p:nvSpPr>
        <p:spPr>
          <a:xfrm>
            <a:off x="59690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human rewrite</a:t>
            </a:r>
            <a:endParaRPr lang="zh-CN" altLang="en-US" sz="760">
              <a:solidFill>
                <a:srgbClr val="4A5B78"/>
              </a:solidFill>
              <a:latin typeface="Aptos" panose="020B0004020202020204" pitchFamily="34" charset="0"/>
            </a:endParaRPr>
          </a:p>
        </p:txBody>
      </p:sp>
      <p:cxnSp>
        <p:nvCxnSpPr>
          <p:cNvPr id="28" name="move-a-1">
            <a:extLst>
              <a:ext uri="{FF2B5EF4-FFF2-40B4-BE49-F238E27FC236}">
                <a16:creationId xmlns:a16="http://schemas.microsoft.com/office/drawing/2014/main" id="{75832B92-1969-2D1D-7BE3-E2A8EE87D60B}"/>
              </a:ext>
            </a:extLst>
          </p:cNvPr>
          <p:cNvCxnSpPr/>
          <p:nvPr/>
        </p:nvCxnSpPr>
        <p:spPr>
          <a:xfrm>
            <a:off x="68072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9" name="move-2">
            <a:extLst>
              <a:ext uri="{FF2B5EF4-FFF2-40B4-BE49-F238E27FC236}">
                <a16:creationId xmlns:a16="http://schemas.microsoft.com/office/drawing/2014/main" id="{3EE9616E-27AB-1978-CD4F-B9B85B702C06}"/>
              </a:ext>
            </a:extLst>
          </p:cNvPr>
          <p:cNvSpPr/>
          <p:nvPr/>
        </p:nvSpPr>
        <p:spPr>
          <a:xfrm>
            <a:off x="70866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move-top-2">
            <a:extLst>
              <a:ext uri="{FF2B5EF4-FFF2-40B4-BE49-F238E27FC236}">
                <a16:creationId xmlns:a16="http://schemas.microsoft.com/office/drawing/2014/main" id="{19185891-2045-4E46-839B-50C93549263B}"/>
              </a:ext>
            </a:extLst>
          </p:cNvPr>
          <p:cNvSpPr/>
          <p:nvPr/>
        </p:nvSpPr>
        <p:spPr>
          <a:xfrm>
            <a:off x="7086600" y="2667000"/>
            <a:ext cx="96520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move-t-2">
            <a:extLst>
              <a:ext uri="{FF2B5EF4-FFF2-40B4-BE49-F238E27FC236}">
                <a16:creationId xmlns:a16="http://schemas.microsoft.com/office/drawing/2014/main" id="{C13E76B1-25E0-3DB7-8624-DEF42A6FB7D0}"/>
              </a:ext>
            </a:extLst>
          </p:cNvPr>
          <p:cNvSpPr txBox="1"/>
          <p:nvPr/>
        </p:nvSpPr>
        <p:spPr>
          <a:xfrm>
            <a:off x="72644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reuse</a:t>
            </a:r>
            <a:endParaRPr lang="zh-CN" altLang="en-US" sz="1080" b="1">
              <a:solidFill>
                <a:srgbClr val="071A3D"/>
              </a:solidFill>
              <a:latin typeface="Aptos" panose="020B0004020202020204" pitchFamily="34" charset="0"/>
            </a:endParaRPr>
          </a:p>
        </p:txBody>
      </p:sp>
      <p:sp>
        <p:nvSpPr>
          <p:cNvPr id="32" name="move-s-2">
            <a:extLst>
              <a:ext uri="{FF2B5EF4-FFF2-40B4-BE49-F238E27FC236}">
                <a16:creationId xmlns:a16="http://schemas.microsoft.com/office/drawing/2014/main" id="{2C405AA9-1E3C-D931-F3B9-D46B1D3CC3A8}"/>
              </a:ext>
            </a:extLst>
          </p:cNvPr>
          <p:cNvSpPr txBox="1"/>
          <p:nvPr/>
        </p:nvSpPr>
        <p:spPr>
          <a:xfrm>
            <a:off x="72644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larger repo</a:t>
            </a:r>
            <a:endParaRPr lang="zh-CN" altLang="en-US" sz="760">
              <a:solidFill>
                <a:srgbClr val="4A5B78"/>
              </a:solidFill>
              <a:latin typeface="Aptos" panose="020B0004020202020204" pitchFamily="34" charset="0"/>
            </a:endParaRPr>
          </a:p>
        </p:txBody>
      </p:sp>
      <p:cxnSp>
        <p:nvCxnSpPr>
          <p:cNvPr id="33" name="audit-a">
            <a:extLst>
              <a:ext uri="{FF2B5EF4-FFF2-40B4-BE49-F238E27FC236}">
                <a16:creationId xmlns:a16="http://schemas.microsoft.com/office/drawing/2014/main" id="{4AE3432C-8565-DDC7-575B-BEFDB5715762}"/>
              </a:ext>
            </a:extLst>
          </p:cNvPr>
          <p:cNvCxnSpPr/>
          <p:nvPr/>
        </p:nvCxnSpPr>
        <p:spPr>
          <a:xfrm>
            <a:off x="8255000" y="3238500"/>
            <a:ext cx="6350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34" name="audit">
            <a:extLst>
              <a:ext uri="{FF2B5EF4-FFF2-40B4-BE49-F238E27FC236}">
                <a16:creationId xmlns:a16="http://schemas.microsoft.com/office/drawing/2014/main" id="{4A88956D-081D-7C21-E397-C1AF32A51841}"/>
              </a:ext>
            </a:extLst>
          </p:cNvPr>
          <p:cNvSpPr/>
          <p:nvPr/>
        </p:nvSpPr>
        <p:spPr>
          <a:xfrm>
            <a:off x="9093200" y="1955800"/>
            <a:ext cx="2260600" cy="3276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audit-k">
            <a:extLst>
              <a:ext uri="{FF2B5EF4-FFF2-40B4-BE49-F238E27FC236}">
                <a16:creationId xmlns:a16="http://schemas.microsoft.com/office/drawing/2014/main" id="{FD990ADA-F93E-E12E-376C-3521AAF7CF59}"/>
              </a:ext>
            </a:extLst>
          </p:cNvPr>
          <p:cNvSpPr txBox="1"/>
          <p:nvPr/>
        </p:nvSpPr>
        <p:spPr>
          <a:xfrm>
            <a:off x="9423400" y="2336800"/>
            <a:ext cx="1397000" cy="276999"/>
          </a:xfrm>
          <a:prstGeom prst="rect">
            <a:avLst/>
          </a:prstGeom>
          <a:noFill/>
        </p:spPr>
        <p:txBody>
          <a:bodyPr vert="horz" wrap="square" lIns="0" tIns="0" rIns="0" bIns="0" rtlCol="0">
            <a:noAutofit/>
          </a:bodyPr>
          <a:lstStyle/>
          <a:p>
            <a:r>
              <a:rPr lang="en-US" altLang="zh-CN" sz="760" b="1">
                <a:solidFill>
                  <a:srgbClr val="003B7A"/>
                </a:solidFill>
                <a:latin typeface="Aptos" panose="020B0004020202020204" pitchFamily="34" charset="0"/>
              </a:rPr>
              <a:t>audit question</a:t>
            </a:r>
            <a:endParaRPr lang="zh-CN" altLang="en-US" sz="760" b="1">
              <a:solidFill>
                <a:srgbClr val="003B7A"/>
              </a:solidFill>
              <a:latin typeface="Aptos" panose="020B0004020202020204" pitchFamily="34" charset="0"/>
            </a:endParaRPr>
          </a:p>
        </p:txBody>
      </p:sp>
      <p:sp>
        <p:nvSpPr>
          <p:cNvPr id="36" name="audit-main">
            <a:extLst>
              <a:ext uri="{FF2B5EF4-FFF2-40B4-BE49-F238E27FC236}">
                <a16:creationId xmlns:a16="http://schemas.microsoft.com/office/drawing/2014/main" id="{05BBDE2D-B214-C266-9A25-F2E31F2062C2}"/>
              </a:ext>
            </a:extLst>
          </p:cNvPr>
          <p:cNvSpPr txBox="1"/>
          <p:nvPr/>
        </p:nvSpPr>
        <p:spPr>
          <a:xfrm>
            <a:off x="9423400" y="2794000"/>
            <a:ext cx="14732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What can still be claimed?</a:t>
            </a:r>
            <a:endParaRPr lang="zh-CN" altLang="en-US" sz="1900" b="1">
              <a:solidFill>
                <a:srgbClr val="071A3D"/>
              </a:solidFill>
              <a:latin typeface="Aptos" panose="020B0004020202020204" pitchFamily="34" charset="0"/>
            </a:endParaRPr>
          </a:p>
        </p:txBody>
      </p:sp>
      <p:sp>
        <p:nvSpPr>
          <p:cNvPr id="37" name="audit-dot-0">
            <a:extLst>
              <a:ext uri="{FF2B5EF4-FFF2-40B4-BE49-F238E27FC236}">
                <a16:creationId xmlns:a16="http://schemas.microsoft.com/office/drawing/2014/main" id="{9DCF87C9-2D91-8DA1-D330-88A29D6B59CB}"/>
              </a:ext>
            </a:extLst>
          </p:cNvPr>
          <p:cNvSpPr/>
          <p:nvPr/>
        </p:nvSpPr>
        <p:spPr>
          <a:xfrm>
            <a:off x="9423400" y="3886200"/>
            <a:ext cx="127000" cy="127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audit-q-0">
            <a:extLst>
              <a:ext uri="{FF2B5EF4-FFF2-40B4-BE49-F238E27FC236}">
                <a16:creationId xmlns:a16="http://schemas.microsoft.com/office/drawing/2014/main" id="{7351A2DF-2E25-CBF8-FC15-6A2AA69E6691}"/>
              </a:ext>
            </a:extLst>
          </p:cNvPr>
          <p:cNvSpPr txBox="1"/>
          <p:nvPr/>
        </p:nvSpPr>
        <p:spPr>
          <a:xfrm>
            <a:off x="9702800" y="3873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denominator?</a:t>
            </a:r>
            <a:endParaRPr lang="zh-CN" altLang="en-US" sz="810" b="1">
              <a:solidFill>
                <a:srgbClr val="071A3D"/>
              </a:solidFill>
              <a:latin typeface="Aptos" panose="020B0004020202020204" pitchFamily="34" charset="0"/>
            </a:endParaRPr>
          </a:p>
        </p:txBody>
      </p:sp>
      <p:sp>
        <p:nvSpPr>
          <p:cNvPr id="39" name="audit-dot-1">
            <a:extLst>
              <a:ext uri="{FF2B5EF4-FFF2-40B4-BE49-F238E27FC236}">
                <a16:creationId xmlns:a16="http://schemas.microsoft.com/office/drawing/2014/main" id="{23B194C5-9972-FADB-F340-E0E0CA28A156}"/>
              </a:ext>
            </a:extLst>
          </p:cNvPr>
          <p:cNvSpPr/>
          <p:nvPr/>
        </p:nvSpPr>
        <p:spPr>
          <a:xfrm>
            <a:off x="9423400" y="4267200"/>
            <a:ext cx="127000" cy="127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audit-q-1">
            <a:extLst>
              <a:ext uri="{FF2B5EF4-FFF2-40B4-BE49-F238E27FC236}">
                <a16:creationId xmlns:a16="http://schemas.microsoft.com/office/drawing/2014/main" id="{D97AD926-61DC-A49E-F7FC-B6BBF3011901}"/>
              </a:ext>
            </a:extLst>
          </p:cNvPr>
          <p:cNvSpPr txBox="1"/>
          <p:nvPr/>
        </p:nvSpPr>
        <p:spPr>
          <a:xfrm>
            <a:off x="9702800" y="4254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controls?</a:t>
            </a:r>
            <a:endParaRPr lang="zh-CN" altLang="en-US" sz="810" b="1">
              <a:solidFill>
                <a:srgbClr val="071A3D"/>
              </a:solidFill>
              <a:latin typeface="Aptos" panose="020B0004020202020204" pitchFamily="34" charset="0"/>
            </a:endParaRPr>
          </a:p>
        </p:txBody>
      </p:sp>
      <p:sp>
        <p:nvSpPr>
          <p:cNvPr id="41" name="audit-dot-2">
            <a:extLst>
              <a:ext uri="{FF2B5EF4-FFF2-40B4-BE49-F238E27FC236}">
                <a16:creationId xmlns:a16="http://schemas.microsoft.com/office/drawing/2014/main" id="{591F4BDA-A312-C435-B5D7-6FA78D11C8F3}"/>
              </a:ext>
            </a:extLst>
          </p:cNvPr>
          <p:cNvSpPr/>
          <p:nvPr/>
        </p:nvSpPr>
        <p:spPr>
          <a:xfrm>
            <a:off x="9423400" y="4648200"/>
            <a:ext cx="127000" cy="127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audit-q-2">
            <a:extLst>
              <a:ext uri="{FF2B5EF4-FFF2-40B4-BE49-F238E27FC236}">
                <a16:creationId xmlns:a16="http://schemas.microsoft.com/office/drawing/2014/main" id="{9F72DFFE-36C5-7185-80D9-EEFEBBCF18CB}"/>
              </a:ext>
            </a:extLst>
          </p:cNvPr>
          <p:cNvSpPr txBox="1"/>
          <p:nvPr/>
        </p:nvSpPr>
        <p:spPr>
          <a:xfrm>
            <a:off x="9702800" y="4635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boundary?</a:t>
            </a:r>
            <a:endParaRPr lang="zh-CN" altLang="en-US" sz="810" b="1">
              <a:solidFill>
                <a:srgbClr val="071A3D"/>
              </a:solidFill>
              <a:latin typeface="Aptos" panose="020B0004020202020204" pitchFamily="34" charset="0"/>
            </a:endParaRPr>
          </a:p>
        </p:txBody>
      </p:sp>
      <p:sp>
        <p:nvSpPr>
          <p:cNvPr id="43" name="question">
            <a:extLst>
              <a:ext uri="{FF2B5EF4-FFF2-40B4-BE49-F238E27FC236}">
                <a16:creationId xmlns:a16="http://schemas.microsoft.com/office/drawing/2014/main" id="{768AA222-13D3-0DA9-730D-3F7CB66E23F3}"/>
              </a:ext>
            </a:extLst>
          </p:cNvPr>
          <p:cNvSpPr/>
          <p:nvPr/>
        </p:nvSpPr>
        <p:spPr>
          <a:xfrm>
            <a:off x="1854200" y="5486400"/>
            <a:ext cx="8483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question-t">
            <a:extLst>
              <a:ext uri="{FF2B5EF4-FFF2-40B4-BE49-F238E27FC236}">
                <a16:creationId xmlns:a16="http://schemas.microsoft.com/office/drawing/2014/main" id="{C9909FA4-6C90-DEC2-7900-8D5548BB776E}"/>
              </a:ext>
            </a:extLst>
          </p:cNvPr>
          <p:cNvSpPr txBox="1"/>
          <p:nvPr/>
        </p:nvSpPr>
        <p:spPr>
          <a:xfrm>
            <a:off x="2235200" y="5613400"/>
            <a:ext cx="7721600" cy="276999"/>
          </a:xfrm>
          <a:prstGeom prst="rect">
            <a:avLst/>
          </a:prstGeom>
          <a:noFill/>
        </p:spPr>
        <p:txBody>
          <a:bodyPr vert="horz" wrap="square" lIns="0" tIns="0" rIns="0" bIns="0" rtlCol="0">
            <a:noAutofit/>
          </a:bodyPr>
          <a:lstStyle/>
          <a:p>
            <a:r>
              <a:rPr lang="en-US" altLang="zh-CN" sz="840" b="1">
                <a:solidFill>
                  <a:srgbClr val="071A3D"/>
                </a:solidFill>
                <a:latin typeface="Aptos" panose="020B0004020202020204" pitchFamily="34" charset="0"/>
              </a:rPr>
              <a:t>A watermark result becomes useful only after the surviving evidence is admitted.</a:t>
            </a:r>
            <a:endParaRPr lang="zh-CN" altLang="en-US" sz="840" b="1">
              <a:solidFill>
                <a:srgbClr val="071A3D"/>
              </a:solidFill>
              <a:latin typeface="Aptos" panose="020B0004020202020204" pitchFamily="34" charset="0"/>
            </a:endParaRPr>
          </a:p>
        </p:txBody>
      </p:sp>
      <p:sp>
        <p:nvSpPr>
          <p:cNvPr id="45" name="footer-hit-2">
            <a:hlinkClick r:id="rId4"/>
            <a:extLst>
              <a:ext uri="{FF2B5EF4-FFF2-40B4-BE49-F238E27FC236}">
                <a16:creationId xmlns:a16="http://schemas.microsoft.com/office/drawing/2014/main" id="{8C47F439-68F0-41F7-BD37-31E486EC700F}"/>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9312848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9" grpId="0" animBg="1"/>
      <p:bldP spid="20" grpId="0" animBg="1"/>
      <p:bldP spid="21" grpId="0"/>
      <p:bldP spid="22" grpId="0"/>
      <p:bldP spid="24" grpId="0" animBg="1"/>
      <p:bldP spid="25" grpId="0" animBg="1"/>
      <p:bldP spid="26" grpId="0"/>
      <p:bldP spid="27" grpId="0"/>
      <p:bldP spid="29" grpId="0" animBg="1"/>
      <p:bldP spid="30" grpId="0" animBg="1"/>
      <p:bldP spid="31" grpId="0"/>
      <p:bldP spid="32" grpId="0"/>
      <p:bldP spid="34" grpId="0" animBg="1"/>
      <p:bldP spid="35" grpId="0"/>
      <p:bldP spid="36" grpId="0"/>
      <p:bldP spid="37" grpId="0" animBg="1"/>
      <p:bldP spid="38" grpId="0"/>
      <p:bldP spid="39" grpId="0" animBg="1"/>
      <p:bldP spid="40" grpId="0"/>
      <p:bldP spid="41" grpId="0" animBg="1"/>
      <p:bldP spid="42" grpId="0"/>
      <p:bldP spid="43" grpId="0" animBg="1"/>
      <p:bldP spid="4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1F86B58-8D84-CCC0-8174-BA2B6603E558}"/>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80A44925-5B92-FD1D-7072-50AA6ECEE425}"/>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05AC055F-10F4-7885-41B5-EDAD6D658EA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3F24199B-5E37-5604-7887-8167B2B81DDF}"/>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RESEARCH GAP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381A896-3612-2DE2-875D-537B19AF24EB}"/>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03</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E202BD29-BDEF-9568-E1DE-5B681E9C003F}"/>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D2FB1BAF-5FC8-D06D-FF3A-8E24EE7D8AB1}"/>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F466F06-7CD5-07E7-D49E-20ABC20D6A5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06CC1A5B-E538-A2A1-E460-D949E424F9A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 score is not a claim until evidence is admitted.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4E4ED84B-2238-F637-1B78-6EC4AE469552}"/>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WatermarkScope separates detector output from what the evaluator is allowed to conclude.</a:t>
            </a:r>
            <a:endParaRPr lang="zh-CN" altLang="en-US" sz="930">
              <a:solidFill>
                <a:srgbClr val="4A5B78"/>
              </a:solidFill>
              <a:latin typeface="Aptos" panose="020B0004020202020204" pitchFamily="34" charset="0"/>
            </a:endParaRPr>
          </a:p>
        </p:txBody>
      </p:sp>
      <p:sp>
        <p:nvSpPr>
          <p:cNvPr id="13" name="scorebox">
            <a:extLst>
              <a:ext uri="{FF2B5EF4-FFF2-40B4-BE49-F238E27FC236}">
                <a16:creationId xmlns:a16="http://schemas.microsoft.com/office/drawing/2014/main" id="{9A4F2AF3-E062-B728-4D03-4CB724B60B54}"/>
              </a:ext>
            </a:extLst>
          </p:cNvPr>
          <p:cNvSpPr/>
          <p:nvPr/>
        </p:nvSpPr>
        <p:spPr>
          <a:xfrm>
            <a:off x="1041400" y="2159000"/>
            <a:ext cx="3276600" cy="17526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core-k">
            <a:extLst>
              <a:ext uri="{FF2B5EF4-FFF2-40B4-BE49-F238E27FC236}">
                <a16:creationId xmlns:a16="http://schemas.microsoft.com/office/drawing/2014/main" id="{DF09970A-6910-F8B2-268B-4E2898F53544}"/>
              </a:ext>
            </a:extLst>
          </p:cNvPr>
          <p:cNvSpPr txBox="1"/>
          <p:nvPr/>
        </p:nvSpPr>
        <p:spPr>
          <a:xfrm>
            <a:off x="1422400" y="2463800"/>
            <a:ext cx="1397000" cy="276999"/>
          </a:xfrm>
          <a:prstGeom prst="rect">
            <a:avLst/>
          </a:prstGeom>
          <a:noFill/>
        </p:spPr>
        <p:txBody>
          <a:bodyPr vert="horz" wrap="square" lIns="0" tIns="0" rIns="0" bIns="0" rtlCol="0">
            <a:noAutofit/>
          </a:bodyPr>
          <a:lstStyle/>
          <a:p>
            <a:r>
              <a:rPr lang="en-US" altLang="zh-CN" sz="750" b="1">
                <a:solidFill>
                  <a:srgbClr val="B8293C"/>
                </a:solidFill>
                <a:latin typeface="Aptos" panose="020B0004020202020204" pitchFamily="34" charset="0"/>
              </a:rPr>
              <a:t>shortcut</a:t>
            </a:r>
            <a:endParaRPr lang="zh-CN" altLang="en-US" sz="750" b="1">
              <a:solidFill>
                <a:srgbClr val="B8293C"/>
              </a:solidFill>
              <a:latin typeface="Aptos" panose="020B0004020202020204" pitchFamily="34" charset="0"/>
            </a:endParaRPr>
          </a:p>
        </p:txBody>
      </p:sp>
      <p:sp>
        <p:nvSpPr>
          <p:cNvPr id="15" name="score-big">
            <a:extLst>
              <a:ext uri="{FF2B5EF4-FFF2-40B4-BE49-F238E27FC236}">
                <a16:creationId xmlns:a16="http://schemas.microsoft.com/office/drawing/2014/main" id="{99FE3DC1-B189-C7C1-1880-885E75D2EC54}"/>
              </a:ext>
            </a:extLst>
          </p:cNvPr>
          <p:cNvSpPr txBox="1"/>
          <p:nvPr/>
        </p:nvSpPr>
        <p:spPr>
          <a:xfrm>
            <a:off x="1422400" y="2921000"/>
            <a:ext cx="2108200" cy="276999"/>
          </a:xfrm>
          <a:prstGeom prst="rect">
            <a:avLst/>
          </a:prstGeom>
          <a:noFill/>
        </p:spPr>
        <p:txBody>
          <a:bodyPr vert="horz" wrap="square" lIns="0" tIns="0" rIns="0" bIns="0" rtlCol="0">
            <a:noAutofit/>
          </a:bodyPr>
          <a:lstStyle/>
          <a:p>
            <a:r>
              <a:rPr lang="en-US" altLang="zh-CN" sz="2300" b="1">
                <a:solidFill>
                  <a:srgbClr val="B8293C"/>
                </a:solidFill>
                <a:latin typeface="Consolas" panose="020B0609020204030204" pitchFamily="49" charset="0"/>
              </a:rPr>
              <a:t>score = 0.93</a:t>
            </a:r>
            <a:endParaRPr lang="zh-CN" altLang="en-US" sz="2300" b="1">
              <a:solidFill>
                <a:srgbClr val="B8293C"/>
              </a:solidFill>
              <a:latin typeface="Consolas" panose="020B0609020204030204" pitchFamily="49" charset="0"/>
            </a:endParaRPr>
          </a:p>
        </p:txBody>
      </p:sp>
      <p:sp>
        <p:nvSpPr>
          <p:cNvPr id="16" name="score-small">
            <a:extLst>
              <a:ext uri="{FF2B5EF4-FFF2-40B4-BE49-F238E27FC236}">
                <a16:creationId xmlns:a16="http://schemas.microsoft.com/office/drawing/2014/main" id="{B6F5B4A8-181B-3DA9-7C06-ED986F99F0F8}"/>
              </a:ext>
            </a:extLst>
          </p:cNvPr>
          <p:cNvSpPr txBox="1"/>
          <p:nvPr/>
        </p:nvSpPr>
        <p:spPr>
          <a:xfrm>
            <a:off x="1422400" y="3505200"/>
            <a:ext cx="2387600" cy="276999"/>
          </a:xfrm>
          <a:prstGeom prst="rect">
            <a:avLst/>
          </a:prstGeom>
          <a:noFill/>
        </p:spPr>
        <p:txBody>
          <a:bodyPr vert="horz" wrap="square" lIns="0" tIns="0" rIns="0" bIns="0" rtlCol="0">
            <a:noAutofit/>
          </a:bodyPr>
          <a:lstStyle/>
          <a:p>
            <a:r>
              <a:rPr lang="en-US" altLang="zh-CN" sz="780">
                <a:solidFill>
                  <a:srgbClr val="4A5B78"/>
                </a:solidFill>
                <a:latin typeface="Aptos" panose="020B0004020202020204" pitchFamily="34" charset="0"/>
              </a:rPr>
              <a:t>unclear denominator, controls, or boundary</a:t>
            </a:r>
            <a:endParaRPr lang="zh-CN" altLang="en-US" sz="780">
              <a:solidFill>
                <a:srgbClr val="4A5B78"/>
              </a:solidFill>
              <a:latin typeface="Aptos" panose="020B0004020202020204" pitchFamily="34" charset="0"/>
            </a:endParaRPr>
          </a:p>
        </p:txBody>
      </p:sp>
      <p:cxnSp>
        <p:nvCxnSpPr>
          <p:cNvPr id="17" name="gap-arrow">
            <a:extLst>
              <a:ext uri="{FF2B5EF4-FFF2-40B4-BE49-F238E27FC236}">
                <a16:creationId xmlns:a16="http://schemas.microsoft.com/office/drawing/2014/main" id="{E202D50A-BFB4-3668-AEF7-ADA4CE65A284}"/>
              </a:ext>
            </a:extLst>
          </p:cNvPr>
          <p:cNvCxnSpPr/>
          <p:nvPr/>
        </p:nvCxnSpPr>
        <p:spPr>
          <a:xfrm>
            <a:off x="4851400" y="3048000"/>
            <a:ext cx="13970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claimbox">
            <a:extLst>
              <a:ext uri="{FF2B5EF4-FFF2-40B4-BE49-F238E27FC236}">
                <a16:creationId xmlns:a16="http://schemas.microsoft.com/office/drawing/2014/main" id="{3C291CE5-C699-59A1-7B8D-CAFDA1A0559E}"/>
              </a:ext>
            </a:extLst>
          </p:cNvPr>
          <p:cNvSpPr/>
          <p:nvPr/>
        </p:nvSpPr>
        <p:spPr>
          <a:xfrm>
            <a:off x="6756400" y="1841500"/>
            <a:ext cx="44196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laim-k">
            <a:extLst>
              <a:ext uri="{FF2B5EF4-FFF2-40B4-BE49-F238E27FC236}">
                <a16:creationId xmlns:a16="http://schemas.microsoft.com/office/drawing/2014/main" id="{5ADC8324-79D1-C972-6F59-AFA5D4D4220A}"/>
              </a:ext>
            </a:extLst>
          </p:cNvPr>
          <p:cNvSpPr txBox="1"/>
          <p:nvPr/>
        </p:nvSpPr>
        <p:spPr>
          <a:xfrm>
            <a:off x="7137400" y="2184400"/>
            <a:ext cx="2032000" cy="276999"/>
          </a:xfrm>
          <a:prstGeom prst="rect">
            <a:avLst/>
          </a:prstGeom>
          <a:noFill/>
        </p:spPr>
        <p:txBody>
          <a:bodyPr vert="horz" wrap="square" lIns="0" tIns="0" rIns="0" bIns="0" rtlCol="0">
            <a:noAutofit/>
          </a:bodyPr>
          <a:lstStyle/>
          <a:p>
            <a:r>
              <a:rPr lang="en-US" altLang="zh-CN" sz="760" b="1">
                <a:solidFill>
                  <a:srgbClr val="CBE1FA"/>
                </a:solidFill>
                <a:latin typeface="Aptos" panose="020B0004020202020204" pitchFamily="34" charset="0"/>
              </a:rPr>
              <a:t>evidence contract</a:t>
            </a:r>
            <a:endParaRPr lang="zh-CN" altLang="en-US" sz="760" b="1">
              <a:solidFill>
                <a:srgbClr val="CBE1FA"/>
              </a:solidFill>
              <a:latin typeface="Aptos" panose="020B0004020202020204" pitchFamily="34" charset="0"/>
            </a:endParaRPr>
          </a:p>
        </p:txBody>
      </p:sp>
      <p:sp>
        <p:nvSpPr>
          <p:cNvPr id="20" name="claim-f">
            <a:extLst>
              <a:ext uri="{FF2B5EF4-FFF2-40B4-BE49-F238E27FC236}">
                <a16:creationId xmlns:a16="http://schemas.microsoft.com/office/drawing/2014/main" id="{8201747C-229F-5F9E-5BAC-13B770AB11BE}"/>
              </a:ext>
            </a:extLst>
          </p:cNvPr>
          <p:cNvSpPr txBox="1"/>
          <p:nvPr/>
        </p:nvSpPr>
        <p:spPr>
          <a:xfrm>
            <a:off x="7137400" y="2717800"/>
            <a:ext cx="35052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claim := f(E, C, A, B)</a:t>
            </a:r>
            <a:endParaRPr lang="zh-CN" altLang="en-US" sz="2200" b="1">
              <a:solidFill>
                <a:srgbClr val="FFFFFF"/>
              </a:solidFill>
              <a:latin typeface="Consolas" panose="020B0609020204030204" pitchFamily="49" charset="0"/>
            </a:endParaRPr>
          </a:p>
        </p:txBody>
      </p:sp>
      <p:sp>
        <p:nvSpPr>
          <p:cNvPr id="21" name="claim-e">
            <a:extLst>
              <a:ext uri="{FF2B5EF4-FFF2-40B4-BE49-F238E27FC236}">
                <a16:creationId xmlns:a16="http://schemas.microsoft.com/office/drawing/2014/main" id="{CFD38898-2E45-EE01-AAD1-908BF8CB4D2F}"/>
              </a:ext>
            </a:extLst>
          </p:cNvPr>
          <p:cNvSpPr txBox="1"/>
          <p:nvPr/>
        </p:nvSpPr>
        <p:spPr>
          <a:xfrm>
            <a:off x="7137400" y="3530600"/>
            <a:ext cx="3200400" cy="276999"/>
          </a:xfrm>
          <a:prstGeom prst="rect">
            <a:avLst/>
          </a:prstGeom>
          <a:noFill/>
        </p:spPr>
        <p:txBody>
          <a:bodyPr vert="horz" wrap="square" lIns="0" tIns="0" rIns="0" bIns="0" rtlCol="0">
            <a:noAutofit/>
          </a:bodyPr>
          <a:lstStyle/>
          <a:p>
            <a:r>
              <a:rPr lang="en-US" altLang="zh-CN" sz="920">
                <a:solidFill>
                  <a:srgbClr val="DBE9FA"/>
                </a:solidFill>
                <a:latin typeface="Aptos" panose="020B0004020202020204" pitchFamily="34" charset="0"/>
              </a:rPr>
              <a:t>E evidence object
C controls | A access model | B boundary</a:t>
            </a:r>
            <a:endParaRPr lang="zh-CN" altLang="en-US" sz="920">
              <a:solidFill>
                <a:srgbClr val="DBE9FA"/>
              </a:solidFill>
              <a:latin typeface="Aptos" panose="020B0004020202020204" pitchFamily="34" charset="0"/>
            </a:endParaRPr>
          </a:p>
        </p:txBody>
      </p:sp>
      <p:sp>
        <p:nvSpPr>
          <p:cNvPr id="22" name="tag-0">
            <a:extLst>
              <a:ext uri="{FF2B5EF4-FFF2-40B4-BE49-F238E27FC236}">
                <a16:creationId xmlns:a16="http://schemas.microsoft.com/office/drawing/2014/main" id="{32F6FE1D-18B5-2B0A-E080-595FA5415AEA}"/>
              </a:ext>
            </a:extLst>
          </p:cNvPr>
          <p:cNvSpPr/>
          <p:nvPr/>
        </p:nvSpPr>
        <p:spPr>
          <a:xfrm>
            <a:off x="19558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fixed denominator</a:t>
            </a:r>
            <a:endParaRPr lang="zh-CN" altLang="en-US" sz="750" b="1">
              <a:solidFill>
                <a:srgbClr val="003B7A"/>
              </a:solidFill>
              <a:latin typeface="Aptos" panose="020B0004020202020204" pitchFamily="34" charset="0"/>
            </a:endParaRPr>
          </a:p>
        </p:txBody>
      </p:sp>
      <p:sp>
        <p:nvSpPr>
          <p:cNvPr id="23" name="tag-1">
            <a:extLst>
              <a:ext uri="{FF2B5EF4-FFF2-40B4-BE49-F238E27FC236}">
                <a16:creationId xmlns:a16="http://schemas.microsoft.com/office/drawing/2014/main" id="{1659157F-8273-39B1-E6AE-B583E1258C86}"/>
              </a:ext>
            </a:extLst>
          </p:cNvPr>
          <p:cNvSpPr/>
          <p:nvPr/>
        </p:nvSpPr>
        <p:spPr>
          <a:xfrm>
            <a:off x="40640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control rows</a:t>
            </a:r>
            <a:endParaRPr lang="zh-CN" altLang="en-US" sz="750" b="1">
              <a:solidFill>
                <a:srgbClr val="003B7A"/>
              </a:solidFill>
              <a:latin typeface="Aptos" panose="020B0004020202020204" pitchFamily="34" charset="0"/>
            </a:endParaRPr>
          </a:p>
        </p:txBody>
      </p:sp>
      <p:sp>
        <p:nvSpPr>
          <p:cNvPr id="24" name="tag-2">
            <a:extLst>
              <a:ext uri="{FF2B5EF4-FFF2-40B4-BE49-F238E27FC236}">
                <a16:creationId xmlns:a16="http://schemas.microsoft.com/office/drawing/2014/main" id="{DA8C0301-C0C2-3908-A49F-E2BDB0BA67FF}"/>
              </a:ext>
            </a:extLst>
          </p:cNvPr>
          <p:cNvSpPr/>
          <p:nvPr/>
        </p:nvSpPr>
        <p:spPr>
          <a:xfrm>
            <a:off x="61722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artifact hash</a:t>
            </a:r>
            <a:endParaRPr lang="zh-CN" altLang="en-US" sz="750" b="1">
              <a:solidFill>
                <a:srgbClr val="003B7A"/>
              </a:solidFill>
              <a:latin typeface="Aptos" panose="020B0004020202020204" pitchFamily="34" charset="0"/>
            </a:endParaRPr>
          </a:p>
        </p:txBody>
      </p:sp>
      <p:sp>
        <p:nvSpPr>
          <p:cNvPr id="25" name="tag-3">
            <a:extLst>
              <a:ext uri="{FF2B5EF4-FFF2-40B4-BE49-F238E27FC236}">
                <a16:creationId xmlns:a16="http://schemas.microsoft.com/office/drawing/2014/main" id="{7E7D6DD1-7DAF-0ADD-BAAC-FB15E2CECEC4}"/>
              </a:ext>
            </a:extLst>
          </p:cNvPr>
          <p:cNvSpPr/>
          <p:nvPr/>
        </p:nvSpPr>
        <p:spPr>
          <a:xfrm>
            <a:off x="82804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access boundary</a:t>
            </a:r>
            <a:endParaRPr lang="zh-CN" altLang="en-US" sz="750" b="1">
              <a:solidFill>
                <a:srgbClr val="003B7A"/>
              </a:solidFill>
              <a:latin typeface="Aptos" panose="020B0004020202020204" pitchFamily="34" charset="0"/>
            </a:endParaRPr>
          </a:p>
        </p:txBody>
      </p:sp>
      <p:sp>
        <p:nvSpPr>
          <p:cNvPr id="26" name="footer-hit-3">
            <a:hlinkClick r:id="rId4"/>
            <a:extLst>
              <a:ext uri="{FF2B5EF4-FFF2-40B4-BE49-F238E27FC236}">
                <a16:creationId xmlns:a16="http://schemas.microsoft.com/office/drawing/2014/main" id="{FA535D2D-AD49-E63B-084F-033363AF1243}"/>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4281576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8CE09BE-35DD-F437-AD25-8CA91B0FFEE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209FCF22-ACEF-D8AB-2859-89D6ADE5B8F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38720E6-8223-BB31-9B9C-189992782C77}"/>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0866EFE7-4B1A-150B-55A5-1DE7F5F5D9D4}"/>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BENCHMARK FOUNDATION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011B7C95-992E-DF82-7ED4-3411F21ACE68}"/>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40ACB471-112D-3C6C-F0E7-BF78763A3A67}"/>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B106733-054D-4308-829F-1A47AC0B55C9}"/>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D06C5206-2F4B-7D08-C5CB-8C72CA6C22C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AE20A773-28B9-636A-73D6-0E2152CF95F5}"/>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denominator is fixed before interpretation.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C20B531D-8071-BF53-374A-0CC8B4026180}"/>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CodeMarkBench is the executable base layer: each run has a task, a transformation, a control, and an artifact identity.</a:t>
            </a:r>
            <a:endParaRPr lang="zh-CN" altLang="en-US" sz="930">
              <a:solidFill>
                <a:srgbClr val="4A5B78"/>
              </a:solidFill>
              <a:latin typeface="Aptos" panose="020B0004020202020204" pitchFamily="34" charset="0"/>
            </a:endParaRPr>
          </a:p>
        </p:txBody>
      </p:sp>
      <p:sp>
        <p:nvSpPr>
          <p:cNvPr id="13" name="big">
            <a:extLst>
              <a:ext uri="{FF2B5EF4-FFF2-40B4-BE49-F238E27FC236}">
                <a16:creationId xmlns:a16="http://schemas.microsoft.com/office/drawing/2014/main" id="{35F22DE7-9071-3ABC-5D10-63404B2C37A1}"/>
              </a:ext>
            </a:extLst>
          </p:cNvPr>
          <p:cNvSpPr txBox="1"/>
          <p:nvPr/>
        </p:nvSpPr>
        <p:spPr>
          <a:xfrm>
            <a:off x="914400" y="1955800"/>
            <a:ext cx="2006600" cy="276999"/>
          </a:xfrm>
          <a:prstGeom prst="rect">
            <a:avLst/>
          </a:prstGeom>
          <a:noFill/>
        </p:spPr>
        <p:txBody>
          <a:bodyPr vert="horz" wrap="square" lIns="0" tIns="0" rIns="0" bIns="0" rtlCol="0">
            <a:noAutofit/>
          </a:bodyPr>
          <a:lstStyle/>
          <a:p>
            <a:r>
              <a:rPr lang="en-US" altLang="zh-CN" sz="3400" b="1">
                <a:solidFill>
                  <a:srgbClr val="003B7A"/>
                </a:solidFill>
                <a:latin typeface="Aptos" panose="020B0004020202020204" pitchFamily="34" charset="0"/>
              </a:rPr>
              <a:t>140/140</a:t>
            </a:r>
            <a:endParaRPr lang="zh-CN" altLang="en-US" sz="3400" b="1">
              <a:solidFill>
                <a:srgbClr val="003B7A"/>
              </a:solidFill>
              <a:latin typeface="Aptos" panose="020B0004020202020204" pitchFamily="34" charset="0"/>
            </a:endParaRPr>
          </a:p>
        </p:txBody>
      </p:sp>
      <p:sp>
        <p:nvSpPr>
          <p:cNvPr id="14" name="big-sub">
            <a:extLst>
              <a:ext uri="{FF2B5EF4-FFF2-40B4-BE49-F238E27FC236}">
                <a16:creationId xmlns:a16="http://schemas.microsoft.com/office/drawing/2014/main" id="{C1A5C067-0F61-ED51-0A71-273FC6F1CD16}"/>
              </a:ext>
            </a:extLst>
          </p:cNvPr>
          <p:cNvSpPr txBox="1"/>
          <p:nvPr/>
        </p:nvSpPr>
        <p:spPr>
          <a:xfrm>
            <a:off x="965200" y="2768600"/>
            <a:ext cx="1955800" cy="276999"/>
          </a:xfrm>
          <a:prstGeom prst="rect">
            <a:avLst/>
          </a:prstGeom>
          <a:noFill/>
        </p:spPr>
        <p:txBody>
          <a:bodyPr vert="horz" wrap="square" lIns="0" tIns="0" rIns="0" bIns="0" rtlCol="0">
            <a:noAutofit/>
          </a:bodyPr>
          <a:lstStyle/>
          <a:p>
            <a:r>
              <a:rPr lang="en-US" altLang="zh-CN" sz="850">
                <a:solidFill>
                  <a:srgbClr val="4A5B78"/>
                </a:solidFill>
                <a:latin typeface="Aptos" panose="020B0004020202020204" pitchFamily="34" charset="0"/>
              </a:rPr>
              <a:t>canonical benchmark runs in the submitted FYP snapshot</a:t>
            </a:r>
            <a:endParaRPr lang="zh-CN" altLang="en-US" sz="850">
              <a:solidFill>
                <a:srgbClr val="4A5B78"/>
              </a:solidFill>
              <a:latin typeface="Aptos" panose="020B0004020202020204" pitchFamily="34" charset="0"/>
            </a:endParaRPr>
          </a:p>
        </p:txBody>
      </p:sp>
      <p:sp>
        <p:nvSpPr>
          <p:cNvPr id="15" name="h-0">
            <a:extLst>
              <a:ext uri="{FF2B5EF4-FFF2-40B4-BE49-F238E27FC236}">
                <a16:creationId xmlns:a16="http://schemas.microsoft.com/office/drawing/2014/main" id="{104AAFDA-F0B1-BD70-DE95-21AD203E6198}"/>
              </a:ext>
            </a:extLst>
          </p:cNvPr>
          <p:cNvSpPr/>
          <p:nvPr/>
        </p:nvSpPr>
        <p:spPr>
          <a:xfrm>
            <a:off x="3352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language</a:t>
            </a:r>
            <a:endParaRPr lang="zh-CN" altLang="en-US" sz="830" b="1">
              <a:solidFill>
                <a:srgbClr val="003B7A"/>
              </a:solidFill>
              <a:latin typeface="Aptos" panose="020B0004020202020204" pitchFamily="34" charset="0"/>
            </a:endParaRPr>
          </a:p>
        </p:txBody>
      </p:sp>
      <p:sp>
        <p:nvSpPr>
          <p:cNvPr id="16" name="v-0">
            <a:extLst>
              <a:ext uri="{FF2B5EF4-FFF2-40B4-BE49-F238E27FC236}">
                <a16:creationId xmlns:a16="http://schemas.microsoft.com/office/drawing/2014/main" id="{C3A34264-9695-4771-13D2-6898DA52D2CC}"/>
              </a:ext>
            </a:extLst>
          </p:cNvPr>
          <p:cNvSpPr/>
          <p:nvPr/>
        </p:nvSpPr>
        <p:spPr>
          <a:xfrm>
            <a:off x="3352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Python</a:t>
            </a:r>
            <a:endParaRPr lang="zh-CN" altLang="en-US" sz="940">
              <a:solidFill>
                <a:srgbClr val="071A3D"/>
              </a:solidFill>
              <a:latin typeface="Aptos" panose="020B0004020202020204" pitchFamily="34" charset="0"/>
            </a:endParaRPr>
          </a:p>
        </p:txBody>
      </p:sp>
      <p:sp>
        <p:nvSpPr>
          <p:cNvPr id="17" name="h-1">
            <a:extLst>
              <a:ext uri="{FF2B5EF4-FFF2-40B4-BE49-F238E27FC236}">
                <a16:creationId xmlns:a16="http://schemas.microsoft.com/office/drawing/2014/main" id="{51A9CE63-1ADC-E4BA-F651-4C7D3519BEB2}"/>
              </a:ext>
            </a:extLst>
          </p:cNvPr>
          <p:cNvSpPr/>
          <p:nvPr/>
        </p:nvSpPr>
        <p:spPr>
          <a:xfrm>
            <a:off x="46482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task</a:t>
            </a:r>
            <a:endParaRPr lang="zh-CN" altLang="en-US" sz="830" b="1">
              <a:solidFill>
                <a:srgbClr val="003B7A"/>
              </a:solidFill>
              <a:latin typeface="Aptos" panose="020B0004020202020204" pitchFamily="34" charset="0"/>
            </a:endParaRPr>
          </a:p>
        </p:txBody>
      </p:sp>
      <p:sp>
        <p:nvSpPr>
          <p:cNvPr id="18" name="v-1">
            <a:extLst>
              <a:ext uri="{FF2B5EF4-FFF2-40B4-BE49-F238E27FC236}">
                <a16:creationId xmlns:a16="http://schemas.microsoft.com/office/drawing/2014/main" id="{DE809314-88BB-B006-4EE3-1304F7899F5D}"/>
              </a:ext>
            </a:extLst>
          </p:cNvPr>
          <p:cNvSpPr/>
          <p:nvPr/>
        </p:nvSpPr>
        <p:spPr>
          <a:xfrm>
            <a:off x="46482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string normalization</a:t>
            </a:r>
            <a:endParaRPr lang="zh-CN" altLang="en-US" sz="940">
              <a:solidFill>
                <a:srgbClr val="071A3D"/>
              </a:solidFill>
              <a:latin typeface="Aptos" panose="020B0004020202020204" pitchFamily="34" charset="0"/>
            </a:endParaRPr>
          </a:p>
        </p:txBody>
      </p:sp>
      <p:sp>
        <p:nvSpPr>
          <p:cNvPr id="19" name="h-2">
            <a:extLst>
              <a:ext uri="{FF2B5EF4-FFF2-40B4-BE49-F238E27FC236}">
                <a16:creationId xmlns:a16="http://schemas.microsoft.com/office/drawing/2014/main" id="{28668210-44EA-CF97-E380-A435BE3E4EE5}"/>
              </a:ext>
            </a:extLst>
          </p:cNvPr>
          <p:cNvSpPr/>
          <p:nvPr/>
        </p:nvSpPr>
        <p:spPr>
          <a:xfrm>
            <a:off x="59436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transform</a:t>
            </a:r>
            <a:endParaRPr lang="zh-CN" altLang="en-US" sz="830" b="1">
              <a:solidFill>
                <a:srgbClr val="003B7A"/>
              </a:solidFill>
              <a:latin typeface="Aptos" panose="020B0004020202020204" pitchFamily="34" charset="0"/>
            </a:endParaRPr>
          </a:p>
        </p:txBody>
      </p:sp>
      <p:sp>
        <p:nvSpPr>
          <p:cNvPr id="20" name="v-2">
            <a:extLst>
              <a:ext uri="{FF2B5EF4-FFF2-40B4-BE49-F238E27FC236}">
                <a16:creationId xmlns:a16="http://schemas.microsoft.com/office/drawing/2014/main" id="{AEBBFF07-00D0-7603-2403-182E33903513}"/>
              </a:ext>
            </a:extLst>
          </p:cNvPr>
          <p:cNvSpPr/>
          <p:nvPr/>
        </p:nvSpPr>
        <p:spPr>
          <a:xfrm>
            <a:off x="59436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semantic rewrite</a:t>
            </a:r>
            <a:endParaRPr lang="zh-CN" altLang="en-US" sz="940">
              <a:solidFill>
                <a:srgbClr val="071A3D"/>
              </a:solidFill>
              <a:latin typeface="Aptos" panose="020B0004020202020204" pitchFamily="34" charset="0"/>
            </a:endParaRPr>
          </a:p>
        </p:txBody>
      </p:sp>
      <p:sp>
        <p:nvSpPr>
          <p:cNvPr id="21" name="h-3">
            <a:extLst>
              <a:ext uri="{FF2B5EF4-FFF2-40B4-BE49-F238E27FC236}">
                <a16:creationId xmlns:a16="http://schemas.microsoft.com/office/drawing/2014/main" id="{4260EF70-4CE1-ED61-AC88-BA604F608E4B}"/>
              </a:ext>
            </a:extLst>
          </p:cNvPr>
          <p:cNvSpPr/>
          <p:nvPr/>
        </p:nvSpPr>
        <p:spPr>
          <a:xfrm>
            <a:off x="72390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oracle</a:t>
            </a:r>
            <a:endParaRPr lang="zh-CN" altLang="en-US" sz="830" b="1">
              <a:solidFill>
                <a:srgbClr val="003B7A"/>
              </a:solidFill>
              <a:latin typeface="Aptos" panose="020B0004020202020204" pitchFamily="34" charset="0"/>
            </a:endParaRPr>
          </a:p>
        </p:txBody>
      </p:sp>
      <p:sp>
        <p:nvSpPr>
          <p:cNvPr id="22" name="v-3">
            <a:extLst>
              <a:ext uri="{FF2B5EF4-FFF2-40B4-BE49-F238E27FC236}">
                <a16:creationId xmlns:a16="http://schemas.microsoft.com/office/drawing/2014/main" id="{8E1DD485-3446-4634-1679-D7DA1684630E}"/>
              </a:ext>
            </a:extLst>
          </p:cNvPr>
          <p:cNvSpPr/>
          <p:nvPr/>
        </p:nvSpPr>
        <p:spPr>
          <a:xfrm>
            <a:off x="72390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executable pass/fail</a:t>
            </a:r>
            <a:endParaRPr lang="zh-CN" altLang="en-US" sz="940">
              <a:solidFill>
                <a:srgbClr val="071A3D"/>
              </a:solidFill>
              <a:latin typeface="Aptos" panose="020B0004020202020204" pitchFamily="34" charset="0"/>
            </a:endParaRPr>
          </a:p>
        </p:txBody>
      </p:sp>
      <p:sp>
        <p:nvSpPr>
          <p:cNvPr id="23" name="h-4">
            <a:extLst>
              <a:ext uri="{FF2B5EF4-FFF2-40B4-BE49-F238E27FC236}">
                <a16:creationId xmlns:a16="http://schemas.microsoft.com/office/drawing/2014/main" id="{A8004D2A-9C7A-0393-9287-2351ED705F7F}"/>
              </a:ext>
            </a:extLst>
          </p:cNvPr>
          <p:cNvSpPr/>
          <p:nvPr/>
        </p:nvSpPr>
        <p:spPr>
          <a:xfrm>
            <a:off x="85344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control</a:t>
            </a:r>
            <a:endParaRPr lang="zh-CN" altLang="en-US" sz="830" b="1">
              <a:solidFill>
                <a:srgbClr val="003B7A"/>
              </a:solidFill>
              <a:latin typeface="Aptos" panose="020B0004020202020204" pitchFamily="34" charset="0"/>
            </a:endParaRPr>
          </a:p>
        </p:txBody>
      </p:sp>
      <p:sp>
        <p:nvSpPr>
          <p:cNvPr id="24" name="v-4">
            <a:extLst>
              <a:ext uri="{FF2B5EF4-FFF2-40B4-BE49-F238E27FC236}">
                <a16:creationId xmlns:a16="http://schemas.microsoft.com/office/drawing/2014/main" id="{3B9097B2-1D63-AAED-86E2-67E1F86C34B7}"/>
              </a:ext>
            </a:extLst>
          </p:cNvPr>
          <p:cNvSpPr/>
          <p:nvPr/>
        </p:nvSpPr>
        <p:spPr>
          <a:xfrm>
            <a:off x="85344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negative row</a:t>
            </a:r>
            <a:endParaRPr lang="zh-CN" altLang="en-US" sz="940">
              <a:solidFill>
                <a:srgbClr val="071A3D"/>
              </a:solidFill>
              <a:latin typeface="Aptos" panose="020B0004020202020204" pitchFamily="34" charset="0"/>
            </a:endParaRPr>
          </a:p>
        </p:txBody>
      </p:sp>
      <p:sp>
        <p:nvSpPr>
          <p:cNvPr id="25" name="h-5">
            <a:extLst>
              <a:ext uri="{FF2B5EF4-FFF2-40B4-BE49-F238E27FC236}">
                <a16:creationId xmlns:a16="http://schemas.microsoft.com/office/drawing/2014/main" id="{29C30374-33E1-0A03-A9A0-6ADAC5734B82}"/>
              </a:ext>
            </a:extLst>
          </p:cNvPr>
          <p:cNvSpPr/>
          <p:nvPr/>
        </p:nvSpPr>
        <p:spPr>
          <a:xfrm>
            <a:off x="9829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artifact</a:t>
            </a:r>
            <a:endParaRPr lang="zh-CN" altLang="en-US" sz="830" b="1">
              <a:solidFill>
                <a:srgbClr val="003B7A"/>
              </a:solidFill>
              <a:latin typeface="Aptos" panose="020B0004020202020204" pitchFamily="34" charset="0"/>
            </a:endParaRPr>
          </a:p>
        </p:txBody>
      </p:sp>
      <p:sp>
        <p:nvSpPr>
          <p:cNvPr id="26" name="v-5">
            <a:extLst>
              <a:ext uri="{FF2B5EF4-FFF2-40B4-BE49-F238E27FC236}">
                <a16:creationId xmlns:a16="http://schemas.microsoft.com/office/drawing/2014/main" id="{AE6806ED-2507-CEB1-B3A1-7A116CAF4DA2}"/>
              </a:ext>
            </a:extLst>
          </p:cNvPr>
          <p:cNvSpPr/>
          <p:nvPr/>
        </p:nvSpPr>
        <p:spPr>
          <a:xfrm>
            <a:off x="9829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hash-bound JSON</a:t>
            </a:r>
            <a:endParaRPr lang="zh-CN" altLang="en-US" sz="940">
              <a:solidFill>
                <a:srgbClr val="071A3D"/>
              </a:solidFill>
              <a:latin typeface="Aptos" panose="020B0004020202020204" pitchFamily="34" charset="0"/>
            </a:endParaRPr>
          </a:p>
        </p:txBody>
      </p:sp>
      <p:sp>
        <p:nvSpPr>
          <p:cNvPr id="27" name="path">
            <a:extLst>
              <a:ext uri="{FF2B5EF4-FFF2-40B4-BE49-F238E27FC236}">
                <a16:creationId xmlns:a16="http://schemas.microsoft.com/office/drawing/2014/main" id="{5F59D141-CE6D-D372-E490-6D2D23920114}"/>
              </a:ext>
            </a:extLst>
          </p:cNvPr>
          <p:cNvSpPr/>
          <p:nvPr/>
        </p:nvSpPr>
        <p:spPr>
          <a:xfrm>
            <a:off x="3352800" y="3581400"/>
            <a:ext cx="7772400" cy="10922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ath-title">
            <a:extLst>
              <a:ext uri="{FF2B5EF4-FFF2-40B4-BE49-F238E27FC236}">
                <a16:creationId xmlns:a16="http://schemas.microsoft.com/office/drawing/2014/main" id="{BF34DC6E-A32A-D527-9C9A-628A88E1F5E5}"/>
              </a:ext>
            </a:extLst>
          </p:cNvPr>
          <p:cNvSpPr txBox="1"/>
          <p:nvPr/>
        </p:nvSpPr>
        <p:spPr>
          <a:xfrm>
            <a:off x="3708400" y="3886200"/>
            <a:ext cx="1498600" cy="276999"/>
          </a:xfrm>
          <a:prstGeom prst="rect">
            <a:avLst/>
          </a:prstGeom>
          <a:noFill/>
        </p:spPr>
        <p:txBody>
          <a:bodyPr vert="horz" wrap="square" lIns="0" tIns="0" rIns="0" bIns="0" rtlCol="0">
            <a:noAutofit/>
          </a:bodyPr>
          <a:lstStyle/>
          <a:p>
            <a:r>
              <a:rPr lang="en-US" altLang="zh-CN" sz="760" b="1">
                <a:solidFill>
                  <a:srgbClr val="4A5B78"/>
                </a:solidFill>
                <a:latin typeface="Aptos" panose="020B0004020202020204" pitchFamily="34" charset="0"/>
              </a:rPr>
              <a:t>admission path</a:t>
            </a:r>
            <a:endParaRPr lang="zh-CN" altLang="en-US" sz="760" b="1">
              <a:solidFill>
                <a:srgbClr val="4A5B78"/>
              </a:solidFill>
              <a:latin typeface="Aptos" panose="020B0004020202020204" pitchFamily="34" charset="0"/>
            </a:endParaRPr>
          </a:p>
        </p:txBody>
      </p:sp>
      <p:sp>
        <p:nvSpPr>
          <p:cNvPr id="29" name="path-text">
            <a:extLst>
              <a:ext uri="{FF2B5EF4-FFF2-40B4-BE49-F238E27FC236}">
                <a16:creationId xmlns:a16="http://schemas.microsoft.com/office/drawing/2014/main" id="{6D7D1B05-8CF7-7413-8055-B235A8E74D15}"/>
              </a:ext>
            </a:extLst>
          </p:cNvPr>
          <p:cNvSpPr txBox="1"/>
          <p:nvPr/>
        </p:nvSpPr>
        <p:spPr>
          <a:xfrm>
            <a:off x="3708400" y="4241800"/>
            <a:ext cx="68072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benchmark row -&gt; executable result -&gt; control status -&gt; preserved artifact -&gt; bounded claim</a:t>
            </a:r>
            <a:endParaRPr lang="zh-CN" altLang="en-US" sz="1180" b="1">
              <a:solidFill>
                <a:srgbClr val="071A3D"/>
              </a:solidFill>
              <a:latin typeface="Aptos" panose="020B0004020202020204" pitchFamily="34" charset="0"/>
            </a:endParaRPr>
          </a:p>
        </p:txBody>
      </p:sp>
      <p:sp>
        <p:nvSpPr>
          <p:cNvPr id="30" name="why">
            <a:extLst>
              <a:ext uri="{FF2B5EF4-FFF2-40B4-BE49-F238E27FC236}">
                <a16:creationId xmlns:a16="http://schemas.microsoft.com/office/drawing/2014/main" id="{B37592E3-A2AB-1096-F095-F2E959B57BFE}"/>
              </a:ext>
            </a:extLst>
          </p:cNvPr>
          <p:cNvSpPr/>
          <p:nvPr/>
        </p:nvSpPr>
        <p:spPr>
          <a:xfrm>
            <a:off x="1549400" y="5384800"/>
            <a:ext cx="9093200" cy="457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why-t">
            <a:extLst>
              <a:ext uri="{FF2B5EF4-FFF2-40B4-BE49-F238E27FC236}">
                <a16:creationId xmlns:a16="http://schemas.microsoft.com/office/drawing/2014/main" id="{823B1CD5-F390-9705-9059-785E58B79EB6}"/>
              </a:ext>
            </a:extLst>
          </p:cNvPr>
          <p:cNvSpPr txBox="1"/>
          <p:nvPr/>
        </p:nvSpPr>
        <p:spPr>
          <a:xfrm>
            <a:off x="1955800" y="5524500"/>
            <a:ext cx="81280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This prevents a later result from quietly changing its denominator.</a:t>
            </a:r>
            <a:endParaRPr lang="zh-CN" altLang="en-US" sz="820" b="1">
              <a:solidFill>
                <a:srgbClr val="FFFFFF"/>
              </a:solidFill>
              <a:latin typeface="Aptos" panose="020B0004020202020204" pitchFamily="34" charset="0"/>
            </a:endParaRPr>
          </a:p>
        </p:txBody>
      </p:sp>
      <p:sp>
        <p:nvSpPr>
          <p:cNvPr id="32" name="footer-hit-4">
            <a:hlinkClick r:id="rId4"/>
            <a:extLst>
              <a:ext uri="{FF2B5EF4-FFF2-40B4-BE49-F238E27FC236}">
                <a16:creationId xmlns:a16="http://schemas.microsoft.com/office/drawing/2014/main" id="{B8A8DC1F-44F5-3AB9-6786-0CC40434C84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7707237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2BF47D3-F7CA-4808-82C3-15C217F9DD0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CD3A1F8A-DB83-72DB-2152-6661BC4C858C}"/>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9BC8E531-9783-249D-643E-E0AD7CAD069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B7F68700-21A1-0CE0-C064-2AA8883BB6B2}"/>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FRAMEWORK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E688386F-4170-94D3-4D19-16D4CB2B4469}"/>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0969C212-665D-74A3-9D2A-5034CCEB77C7}"/>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692EDA8-283F-7F4B-001A-CA0E670417A7}"/>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BA2D2E3E-D882-3FBD-BF78-003347E5866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45706D03-32FC-30CB-F4A6-E037428DB48B}"/>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Five stages share one evidence contract.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079A16EE-CFF6-B866-BEA1-FB167D81DEC3}"/>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Each stage admits a different evidence object, then blocks one common overclaim.</a:t>
            </a:r>
            <a:endParaRPr lang="zh-CN" altLang="en-US" sz="930">
              <a:solidFill>
                <a:srgbClr val="4A5B78"/>
              </a:solidFill>
              <a:latin typeface="Aptos" panose="020B0004020202020204" pitchFamily="34" charset="0"/>
            </a:endParaRPr>
          </a:p>
        </p:txBody>
      </p:sp>
      <p:sp>
        <p:nvSpPr>
          <p:cNvPr id="13" name="contract-core">
            <a:extLst>
              <a:ext uri="{FF2B5EF4-FFF2-40B4-BE49-F238E27FC236}">
                <a16:creationId xmlns:a16="http://schemas.microsoft.com/office/drawing/2014/main" id="{6F386AA8-8681-2C29-C04E-D5022C584A0F}"/>
              </a:ext>
            </a:extLst>
          </p:cNvPr>
          <p:cNvSpPr/>
          <p:nvPr/>
        </p:nvSpPr>
        <p:spPr>
          <a:xfrm>
            <a:off x="838200" y="2260600"/>
            <a:ext cx="10515600" cy="1498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ntract-k">
            <a:extLst>
              <a:ext uri="{FF2B5EF4-FFF2-40B4-BE49-F238E27FC236}">
                <a16:creationId xmlns:a16="http://schemas.microsoft.com/office/drawing/2014/main" id="{11A74510-AB5A-F032-1307-03C88D3071EA}"/>
              </a:ext>
            </a:extLst>
          </p:cNvPr>
          <p:cNvSpPr txBox="1"/>
          <p:nvPr/>
        </p:nvSpPr>
        <p:spPr>
          <a:xfrm>
            <a:off x="1244600" y="2565400"/>
            <a:ext cx="18796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SHARED EVIDENCE CONTRACT</a:t>
            </a:r>
            <a:endParaRPr lang="zh-CN" altLang="en-US" sz="770" b="1">
              <a:solidFill>
                <a:srgbClr val="CDE2FA"/>
              </a:solidFill>
              <a:latin typeface="Aptos" panose="020B0004020202020204" pitchFamily="34" charset="0"/>
            </a:endParaRPr>
          </a:p>
        </p:txBody>
      </p:sp>
      <p:sp>
        <p:nvSpPr>
          <p:cNvPr id="15" name="contract-f">
            <a:extLst>
              <a:ext uri="{FF2B5EF4-FFF2-40B4-BE49-F238E27FC236}">
                <a16:creationId xmlns:a16="http://schemas.microsoft.com/office/drawing/2014/main" id="{E0724817-5E4D-BBC5-61C0-557AFB828F18}"/>
              </a:ext>
            </a:extLst>
          </p:cNvPr>
          <p:cNvSpPr txBox="1"/>
          <p:nvPr/>
        </p:nvSpPr>
        <p:spPr>
          <a:xfrm>
            <a:off x="1244600" y="2997200"/>
            <a:ext cx="3911600" cy="276999"/>
          </a:xfrm>
          <a:prstGeom prst="rect">
            <a:avLst/>
          </a:prstGeom>
          <a:noFill/>
        </p:spPr>
        <p:txBody>
          <a:bodyPr vert="horz" wrap="square" lIns="0" tIns="0" rIns="0" bIns="0" rtlCol="0">
            <a:noAutofit/>
          </a:bodyPr>
          <a:lstStyle/>
          <a:p>
            <a:r>
              <a:rPr lang="en-US" altLang="zh-CN" sz="1650" b="1">
                <a:solidFill>
                  <a:srgbClr val="FFFFFF"/>
                </a:solidFill>
                <a:latin typeface="Consolas" panose="020B0609020204030204" pitchFamily="49" charset="0"/>
              </a:rPr>
              <a:t>claim := f(E, controls, access, boundary)</a:t>
            </a:r>
            <a:endParaRPr lang="zh-CN" altLang="en-US" sz="1650" b="1">
              <a:solidFill>
                <a:srgbClr val="FFFFFF"/>
              </a:solidFill>
              <a:latin typeface="Consolas" panose="020B0609020204030204" pitchFamily="49" charset="0"/>
            </a:endParaRPr>
          </a:p>
        </p:txBody>
      </p:sp>
      <p:sp>
        <p:nvSpPr>
          <p:cNvPr id="16" name="contract-s">
            <a:extLst>
              <a:ext uri="{FF2B5EF4-FFF2-40B4-BE49-F238E27FC236}">
                <a16:creationId xmlns:a16="http://schemas.microsoft.com/office/drawing/2014/main" id="{5720AAD5-035E-2034-722C-291092643B7E}"/>
              </a:ext>
            </a:extLst>
          </p:cNvPr>
          <p:cNvSpPr txBox="1"/>
          <p:nvPr/>
        </p:nvSpPr>
        <p:spPr>
          <a:xfrm>
            <a:off x="5892800" y="2743200"/>
            <a:ext cx="4343400" cy="276999"/>
          </a:xfrm>
          <a:prstGeom prst="rect">
            <a:avLst/>
          </a:prstGeom>
          <a:noFill/>
        </p:spPr>
        <p:txBody>
          <a:bodyPr vert="horz" wrap="square" lIns="0" tIns="0" rIns="0" bIns="0" rtlCol="0">
            <a:noAutofit/>
          </a:bodyPr>
          <a:lstStyle/>
          <a:p>
            <a:r>
              <a:rPr lang="en-US" altLang="zh-CN" sz="1400" b="1">
                <a:solidFill>
                  <a:srgbClr val="FFFFFF"/>
                </a:solidFill>
                <a:latin typeface="Aptos" panose="020B0004020202020204" pitchFamily="34" charset="0"/>
              </a:rPr>
              <a:t>Every stage must admit a concrete evidence object before it promotes a conclusion.</a:t>
            </a:r>
            <a:endParaRPr lang="zh-CN" altLang="en-US" sz="1400" b="1">
              <a:solidFill>
                <a:srgbClr val="FFFFFF"/>
              </a:solidFill>
              <a:latin typeface="Aptos" panose="020B0004020202020204" pitchFamily="34" charset="0"/>
            </a:endParaRPr>
          </a:p>
        </p:txBody>
      </p:sp>
      <p:cxnSp>
        <p:nvCxnSpPr>
          <p:cNvPr id="17" name="contract-sep">
            <a:extLst>
              <a:ext uri="{FF2B5EF4-FFF2-40B4-BE49-F238E27FC236}">
                <a16:creationId xmlns:a16="http://schemas.microsoft.com/office/drawing/2014/main" id="{D5DD7D0F-04BB-6F52-D562-6F1B3D8C9948}"/>
              </a:ext>
            </a:extLst>
          </p:cNvPr>
          <p:cNvCxnSpPr/>
          <p:nvPr/>
        </p:nvCxnSpPr>
        <p:spPr>
          <a:xfrm>
            <a:off x="5486400" y="2514600"/>
            <a:ext cx="0" cy="96520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8" name="stage-0">
            <a:extLst>
              <a:ext uri="{FF2B5EF4-FFF2-40B4-BE49-F238E27FC236}">
                <a16:creationId xmlns:a16="http://schemas.microsoft.com/office/drawing/2014/main" id="{E0796EA7-CF3D-E492-4DFF-BFA3263F244F}"/>
              </a:ext>
            </a:extLst>
          </p:cNvPr>
          <p:cNvSpPr/>
          <p:nvPr/>
        </p:nvSpPr>
        <p:spPr>
          <a:xfrm>
            <a:off x="83820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age-band-0">
            <a:extLst>
              <a:ext uri="{FF2B5EF4-FFF2-40B4-BE49-F238E27FC236}">
                <a16:creationId xmlns:a16="http://schemas.microsoft.com/office/drawing/2014/main" id="{DBE2CDF7-2893-2761-8795-611EDCE15DBE}"/>
              </a:ext>
            </a:extLst>
          </p:cNvPr>
          <p:cNvSpPr/>
          <p:nvPr/>
        </p:nvSpPr>
        <p:spPr>
          <a:xfrm>
            <a:off x="838200" y="4216400"/>
            <a:ext cx="2103120" cy="889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age-num-0">
            <a:extLst>
              <a:ext uri="{FF2B5EF4-FFF2-40B4-BE49-F238E27FC236}">
                <a16:creationId xmlns:a16="http://schemas.microsoft.com/office/drawing/2014/main" id="{DE8DF872-6BA1-F325-2FA9-3660C9D351BE}"/>
              </a:ext>
            </a:extLst>
          </p:cNvPr>
          <p:cNvSpPr txBox="1"/>
          <p:nvPr/>
        </p:nvSpPr>
        <p:spPr>
          <a:xfrm>
            <a:off x="1041400" y="4521200"/>
            <a:ext cx="3048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01</a:t>
            </a:r>
            <a:endParaRPr lang="zh-CN" altLang="en-US" sz="800" b="1">
              <a:solidFill>
                <a:srgbClr val="003B7A"/>
              </a:solidFill>
              <a:latin typeface="Aptos" panose="020B0004020202020204" pitchFamily="34" charset="0"/>
            </a:endParaRPr>
          </a:p>
        </p:txBody>
      </p:sp>
      <p:sp>
        <p:nvSpPr>
          <p:cNvPr id="21" name="stage-name-0">
            <a:extLst>
              <a:ext uri="{FF2B5EF4-FFF2-40B4-BE49-F238E27FC236}">
                <a16:creationId xmlns:a16="http://schemas.microsoft.com/office/drawing/2014/main" id="{598C1A3B-F7C6-1D7D-B7F3-F289068C445E}"/>
              </a:ext>
            </a:extLst>
          </p:cNvPr>
          <p:cNvSpPr txBox="1"/>
          <p:nvPr/>
        </p:nvSpPr>
        <p:spPr>
          <a:xfrm>
            <a:off x="142240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CodeMarkBench</a:t>
            </a:r>
            <a:endParaRPr lang="zh-CN" altLang="en-US" sz="860" b="1">
              <a:solidFill>
                <a:srgbClr val="071A3D"/>
              </a:solidFill>
              <a:latin typeface="Aptos" panose="020B0004020202020204" pitchFamily="34" charset="0"/>
            </a:endParaRPr>
          </a:p>
        </p:txBody>
      </p:sp>
      <p:sp>
        <p:nvSpPr>
          <p:cNvPr id="22" name="stage-admit-0">
            <a:extLst>
              <a:ext uri="{FF2B5EF4-FFF2-40B4-BE49-F238E27FC236}">
                <a16:creationId xmlns:a16="http://schemas.microsoft.com/office/drawing/2014/main" id="{2ADD76F2-FFA9-5A28-EAE7-0849C4B03816}"/>
              </a:ext>
            </a:extLst>
          </p:cNvPr>
          <p:cNvSpPr txBox="1"/>
          <p:nvPr/>
        </p:nvSpPr>
        <p:spPr>
          <a:xfrm>
            <a:off x="104140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fixed denominator</a:t>
            </a:r>
            <a:endParaRPr lang="zh-CN" altLang="en-US" sz="730">
              <a:solidFill>
                <a:srgbClr val="4A5B78"/>
              </a:solidFill>
              <a:latin typeface="Aptos" panose="020B0004020202020204" pitchFamily="34" charset="0"/>
            </a:endParaRPr>
          </a:p>
        </p:txBody>
      </p:sp>
      <p:sp>
        <p:nvSpPr>
          <p:cNvPr id="23" name="stage-block-0">
            <a:extLst>
              <a:ext uri="{FF2B5EF4-FFF2-40B4-BE49-F238E27FC236}">
                <a16:creationId xmlns:a16="http://schemas.microsoft.com/office/drawing/2014/main" id="{1004EE98-285E-E832-D60E-99A00807447C}"/>
              </a:ext>
            </a:extLst>
          </p:cNvPr>
          <p:cNvSpPr txBox="1"/>
          <p:nvPr/>
        </p:nvSpPr>
        <p:spPr>
          <a:xfrm>
            <a:off x="104140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moving target</a:t>
            </a:r>
            <a:endParaRPr lang="zh-CN" altLang="en-US" sz="730" b="1">
              <a:solidFill>
                <a:srgbClr val="B8293C"/>
              </a:solidFill>
              <a:latin typeface="Aptos" panose="020B0004020202020204" pitchFamily="34" charset="0"/>
            </a:endParaRPr>
          </a:p>
        </p:txBody>
      </p:sp>
      <p:cxnSp>
        <p:nvCxnSpPr>
          <p:cNvPr id="24" name="stage-tie-0">
            <a:extLst>
              <a:ext uri="{FF2B5EF4-FFF2-40B4-BE49-F238E27FC236}">
                <a16:creationId xmlns:a16="http://schemas.microsoft.com/office/drawing/2014/main" id="{5B1BDB81-E84C-5020-FF0E-8A9C4BD06247}"/>
              </a:ext>
            </a:extLst>
          </p:cNvPr>
          <p:cNvCxnSpPr/>
          <p:nvPr/>
        </p:nvCxnSpPr>
        <p:spPr>
          <a:xfrm>
            <a:off x="1889760" y="3759200"/>
            <a:ext cx="0" cy="457200"/>
          </a:xfrm>
          <a:prstGeom prst="line">
            <a:avLst/>
          </a:prstGeom>
          <a:ln w="13970">
            <a:solidFill>
              <a:srgbClr val="003B7A"/>
            </a:solidFill>
          </a:ln>
        </p:spPr>
        <p:style>
          <a:lnRef idx="1">
            <a:schemeClr val="accent1"/>
          </a:lnRef>
          <a:fillRef idx="0">
            <a:schemeClr val="accent1"/>
          </a:fillRef>
          <a:effectRef idx="0">
            <a:schemeClr val="accent1"/>
          </a:effectRef>
          <a:fontRef idx="minor">
            <a:schemeClr val="tx1"/>
          </a:fontRef>
        </p:style>
      </p:cxnSp>
      <p:sp>
        <p:nvSpPr>
          <p:cNvPr id="25" name="stage-1">
            <a:extLst>
              <a:ext uri="{FF2B5EF4-FFF2-40B4-BE49-F238E27FC236}">
                <a16:creationId xmlns:a16="http://schemas.microsoft.com/office/drawing/2014/main" id="{3C183FAA-450C-7C75-E1B9-2FAF4FA6D052}"/>
              </a:ext>
            </a:extLst>
          </p:cNvPr>
          <p:cNvSpPr/>
          <p:nvPr/>
        </p:nvSpPr>
        <p:spPr>
          <a:xfrm>
            <a:off x="294132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age-band-1">
            <a:extLst>
              <a:ext uri="{FF2B5EF4-FFF2-40B4-BE49-F238E27FC236}">
                <a16:creationId xmlns:a16="http://schemas.microsoft.com/office/drawing/2014/main" id="{DB2D122B-43D2-5CAD-D332-4808C397A455}"/>
              </a:ext>
            </a:extLst>
          </p:cNvPr>
          <p:cNvSpPr/>
          <p:nvPr/>
        </p:nvSpPr>
        <p:spPr>
          <a:xfrm>
            <a:off x="2941320" y="4216400"/>
            <a:ext cx="210312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age-num-1">
            <a:extLst>
              <a:ext uri="{FF2B5EF4-FFF2-40B4-BE49-F238E27FC236}">
                <a16:creationId xmlns:a16="http://schemas.microsoft.com/office/drawing/2014/main" id="{64961702-73EE-175B-BD15-39DD0BB3D7B8}"/>
              </a:ext>
            </a:extLst>
          </p:cNvPr>
          <p:cNvSpPr txBox="1"/>
          <p:nvPr/>
        </p:nvSpPr>
        <p:spPr>
          <a:xfrm>
            <a:off x="3144520" y="4521200"/>
            <a:ext cx="304800" cy="276999"/>
          </a:xfrm>
          <a:prstGeom prst="rect">
            <a:avLst/>
          </a:prstGeom>
          <a:noFill/>
        </p:spPr>
        <p:txBody>
          <a:bodyPr vert="horz" wrap="square" lIns="0" tIns="0" rIns="0" bIns="0" rtlCol="0">
            <a:noAutofit/>
          </a:bodyPr>
          <a:lstStyle/>
          <a:p>
            <a:r>
              <a:rPr lang="en-US" altLang="zh-CN" sz="800" b="1">
                <a:solidFill>
                  <a:srgbClr val="168E8B"/>
                </a:solidFill>
                <a:latin typeface="Aptos" panose="020B0004020202020204" pitchFamily="34" charset="0"/>
              </a:rPr>
              <a:t>02</a:t>
            </a:r>
            <a:endParaRPr lang="zh-CN" altLang="en-US" sz="800" b="1">
              <a:solidFill>
                <a:srgbClr val="168E8B"/>
              </a:solidFill>
              <a:latin typeface="Aptos" panose="020B0004020202020204" pitchFamily="34" charset="0"/>
            </a:endParaRPr>
          </a:p>
        </p:txBody>
      </p:sp>
      <p:sp>
        <p:nvSpPr>
          <p:cNvPr id="28" name="stage-name-1">
            <a:extLst>
              <a:ext uri="{FF2B5EF4-FFF2-40B4-BE49-F238E27FC236}">
                <a16:creationId xmlns:a16="http://schemas.microsoft.com/office/drawing/2014/main" id="{027438A1-BD01-D54D-F6DD-A86C20BBA4E6}"/>
              </a:ext>
            </a:extLst>
          </p:cNvPr>
          <p:cNvSpPr txBox="1"/>
          <p:nvPr/>
        </p:nvSpPr>
        <p:spPr>
          <a:xfrm>
            <a:off x="352552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SemCodebook</a:t>
            </a:r>
            <a:endParaRPr lang="zh-CN" altLang="en-US" sz="860" b="1">
              <a:solidFill>
                <a:srgbClr val="071A3D"/>
              </a:solidFill>
              <a:latin typeface="Aptos" panose="020B0004020202020204" pitchFamily="34" charset="0"/>
            </a:endParaRPr>
          </a:p>
        </p:txBody>
      </p:sp>
      <p:sp>
        <p:nvSpPr>
          <p:cNvPr id="29" name="stage-admit-1">
            <a:extLst>
              <a:ext uri="{FF2B5EF4-FFF2-40B4-BE49-F238E27FC236}">
                <a16:creationId xmlns:a16="http://schemas.microsoft.com/office/drawing/2014/main" id="{338E2759-E4C4-8CFD-F7B5-49FB2EA831F6}"/>
              </a:ext>
            </a:extLst>
          </p:cNvPr>
          <p:cNvSpPr txBox="1"/>
          <p:nvPr/>
        </p:nvSpPr>
        <p:spPr>
          <a:xfrm>
            <a:off x="314452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white-box recovery</a:t>
            </a:r>
            <a:endParaRPr lang="zh-CN" altLang="en-US" sz="730">
              <a:solidFill>
                <a:srgbClr val="4A5B78"/>
              </a:solidFill>
              <a:latin typeface="Aptos" panose="020B0004020202020204" pitchFamily="34" charset="0"/>
            </a:endParaRPr>
          </a:p>
        </p:txBody>
      </p:sp>
      <p:sp>
        <p:nvSpPr>
          <p:cNvPr id="30" name="stage-block-1">
            <a:extLst>
              <a:ext uri="{FF2B5EF4-FFF2-40B4-BE49-F238E27FC236}">
                <a16:creationId xmlns:a16="http://schemas.microsoft.com/office/drawing/2014/main" id="{A4BF7E56-5BD5-6C53-BBC8-47ABD33F1EE4}"/>
              </a:ext>
            </a:extLst>
          </p:cNvPr>
          <p:cNvSpPr txBox="1"/>
          <p:nvPr/>
        </p:nvSpPr>
        <p:spPr>
          <a:xfrm>
            <a:off x="314452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universal claim</a:t>
            </a:r>
            <a:endParaRPr lang="zh-CN" altLang="en-US" sz="730" b="1">
              <a:solidFill>
                <a:srgbClr val="B8293C"/>
              </a:solidFill>
              <a:latin typeface="Aptos" panose="020B0004020202020204" pitchFamily="34" charset="0"/>
            </a:endParaRPr>
          </a:p>
        </p:txBody>
      </p:sp>
      <p:cxnSp>
        <p:nvCxnSpPr>
          <p:cNvPr id="31" name="stage-tie-1">
            <a:extLst>
              <a:ext uri="{FF2B5EF4-FFF2-40B4-BE49-F238E27FC236}">
                <a16:creationId xmlns:a16="http://schemas.microsoft.com/office/drawing/2014/main" id="{58E0C999-22DD-9828-0A42-D8AB8A570766}"/>
              </a:ext>
            </a:extLst>
          </p:cNvPr>
          <p:cNvCxnSpPr/>
          <p:nvPr/>
        </p:nvCxnSpPr>
        <p:spPr>
          <a:xfrm>
            <a:off x="3992880" y="3759200"/>
            <a:ext cx="0" cy="457200"/>
          </a:xfrm>
          <a:prstGeom prst="line">
            <a:avLst/>
          </a:prstGeom>
          <a:ln w="13970">
            <a:solidFill>
              <a:srgbClr val="168E8B"/>
            </a:solidFill>
          </a:ln>
        </p:spPr>
        <p:style>
          <a:lnRef idx="1">
            <a:schemeClr val="accent1"/>
          </a:lnRef>
          <a:fillRef idx="0">
            <a:schemeClr val="accent1"/>
          </a:fillRef>
          <a:effectRef idx="0">
            <a:schemeClr val="accent1"/>
          </a:effectRef>
          <a:fontRef idx="minor">
            <a:schemeClr val="tx1"/>
          </a:fontRef>
        </p:style>
      </p:cxnSp>
      <p:sp>
        <p:nvSpPr>
          <p:cNvPr id="32" name="stage-2">
            <a:extLst>
              <a:ext uri="{FF2B5EF4-FFF2-40B4-BE49-F238E27FC236}">
                <a16:creationId xmlns:a16="http://schemas.microsoft.com/office/drawing/2014/main" id="{2C269C28-59FC-7A54-C502-F22F16418965}"/>
              </a:ext>
            </a:extLst>
          </p:cNvPr>
          <p:cNvSpPr/>
          <p:nvPr/>
        </p:nvSpPr>
        <p:spPr>
          <a:xfrm>
            <a:off x="5044440" y="4216400"/>
            <a:ext cx="2103121"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age-band-2">
            <a:extLst>
              <a:ext uri="{FF2B5EF4-FFF2-40B4-BE49-F238E27FC236}">
                <a16:creationId xmlns:a16="http://schemas.microsoft.com/office/drawing/2014/main" id="{70D46E30-087A-80A1-01C9-00FA0E4474C2}"/>
              </a:ext>
            </a:extLst>
          </p:cNvPr>
          <p:cNvSpPr/>
          <p:nvPr/>
        </p:nvSpPr>
        <p:spPr>
          <a:xfrm>
            <a:off x="5044440" y="4216400"/>
            <a:ext cx="2103121"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age-num-2">
            <a:extLst>
              <a:ext uri="{FF2B5EF4-FFF2-40B4-BE49-F238E27FC236}">
                <a16:creationId xmlns:a16="http://schemas.microsoft.com/office/drawing/2014/main" id="{4C78C940-A777-16A6-598F-BB10380048C4}"/>
              </a:ext>
            </a:extLst>
          </p:cNvPr>
          <p:cNvSpPr txBox="1"/>
          <p:nvPr/>
        </p:nvSpPr>
        <p:spPr>
          <a:xfrm>
            <a:off x="5247640" y="4521200"/>
            <a:ext cx="304800" cy="276999"/>
          </a:xfrm>
          <a:prstGeom prst="rect">
            <a:avLst/>
          </a:prstGeom>
          <a:noFill/>
        </p:spPr>
        <p:txBody>
          <a:bodyPr vert="horz" wrap="square" lIns="0" tIns="0" rIns="0" bIns="0" rtlCol="0">
            <a:noAutofit/>
          </a:bodyPr>
          <a:lstStyle/>
          <a:p>
            <a:r>
              <a:rPr lang="en-US" altLang="zh-CN" sz="800" b="1">
                <a:solidFill>
                  <a:srgbClr val="5B45C8"/>
                </a:solidFill>
                <a:latin typeface="Aptos" panose="020B0004020202020204" pitchFamily="34" charset="0"/>
              </a:rPr>
              <a:t>03</a:t>
            </a:r>
            <a:endParaRPr lang="zh-CN" altLang="en-US" sz="800" b="1">
              <a:solidFill>
                <a:srgbClr val="5B45C8"/>
              </a:solidFill>
              <a:latin typeface="Aptos" panose="020B0004020202020204" pitchFamily="34" charset="0"/>
            </a:endParaRPr>
          </a:p>
        </p:txBody>
      </p:sp>
      <p:sp>
        <p:nvSpPr>
          <p:cNvPr id="35" name="stage-name-2">
            <a:extLst>
              <a:ext uri="{FF2B5EF4-FFF2-40B4-BE49-F238E27FC236}">
                <a16:creationId xmlns:a16="http://schemas.microsoft.com/office/drawing/2014/main" id="{4ED9EF75-1799-D905-5373-2E260E863561}"/>
              </a:ext>
            </a:extLst>
          </p:cNvPr>
          <p:cNvSpPr txBox="1"/>
          <p:nvPr/>
        </p:nvSpPr>
        <p:spPr>
          <a:xfrm>
            <a:off x="562864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CodeDye</a:t>
            </a:r>
            <a:endParaRPr lang="zh-CN" altLang="en-US" sz="860" b="1">
              <a:solidFill>
                <a:srgbClr val="071A3D"/>
              </a:solidFill>
              <a:latin typeface="Aptos" panose="020B0004020202020204" pitchFamily="34" charset="0"/>
            </a:endParaRPr>
          </a:p>
        </p:txBody>
      </p:sp>
      <p:sp>
        <p:nvSpPr>
          <p:cNvPr id="36" name="stage-admit-2">
            <a:extLst>
              <a:ext uri="{FF2B5EF4-FFF2-40B4-BE49-F238E27FC236}">
                <a16:creationId xmlns:a16="http://schemas.microsoft.com/office/drawing/2014/main" id="{33706250-B7FB-3E32-1C4D-56248F3C9EE2}"/>
              </a:ext>
            </a:extLst>
          </p:cNvPr>
          <p:cNvSpPr txBox="1"/>
          <p:nvPr/>
        </p:nvSpPr>
        <p:spPr>
          <a:xfrm>
            <a:off x="524764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black-box null audit</a:t>
            </a:r>
            <a:endParaRPr lang="zh-CN" altLang="en-US" sz="730">
              <a:solidFill>
                <a:srgbClr val="4A5B78"/>
              </a:solidFill>
              <a:latin typeface="Aptos" panose="020B0004020202020204" pitchFamily="34" charset="0"/>
            </a:endParaRPr>
          </a:p>
        </p:txBody>
      </p:sp>
      <p:sp>
        <p:nvSpPr>
          <p:cNvPr id="37" name="stage-block-2">
            <a:extLst>
              <a:ext uri="{FF2B5EF4-FFF2-40B4-BE49-F238E27FC236}">
                <a16:creationId xmlns:a16="http://schemas.microsoft.com/office/drawing/2014/main" id="{42223453-B246-9320-08E6-ABAEDABDF7CA}"/>
              </a:ext>
            </a:extLst>
          </p:cNvPr>
          <p:cNvSpPr txBox="1"/>
          <p:nvPr/>
        </p:nvSpPr>
        <p:spPr>
          <a:xfrm>
            <a:off x="524764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provider accusation</a:t>
            </a:r>
            <a:endParaRPr lang="zh-CN" altLang="en-US" sz="730" b="1">
              <a:solidFill>
                <a:srgbClr val="B8293C"/>
              </a:solidFill>
              <a:latin typeface="Aptos" panose="020B0004020202020204" pitchFamily="34" charset="0"/>
            </a:endParaRPr>
          </a:p>
        </p:txBody>
      </p:sp>
      <p:cxnSp>
        <p:nvCxnSpPr>
          <p:cNvPr id="38" name="stage-tie-2">
            <a:extLst>
              <a:ext uri="{FF2B5EF4-FFF2-40B4-BE49-F238E27FC236}">
                <a16:creationId xmlns:a16="http://schemas.microsoft.com/office/drawing/2014/main" id="{A125441F-6FCE-73C3-CDC2-94D10514DFBC}"/>
              </a:ext>
            </a:extLst>
          </p:cNvPr>
          <p:cNvCxnSpPr/>
          <p:nvPr/>
        </p:nvCxnSpPr>
        <p:spPr>
          <a:xfrm>
            <a:off x="6096000" y="3759200"/>
            <a:ext cx="0" cy="457200"/>
          </a:xfrm>
          <a:prstGeom prst="line">
            <a:avLst/>
          </a:prstGeom>
          <a:ln w="13970">
            <a:solidFill>
              <a:srgbClr val="5B45C8"/>
            </a:solidFill>
          </a:ln>
        </p:spPr>
        <p:style>
          <a:lnRef idx="1">
            <a:schemeClr val="accent1"/>
          </a:lnRef>
          <a:fillRef idx="0">
            <a:schemeClr val="accent1"/>
          </a:fillRef>
          <a:effectRef idx="0">
            <a:schemeClr val="accent1"/>
          </a:effectRef>
          <a:fontRef idx="minor">
            <a:schemeClr val="tx1"/>
          </a:fontRef>
        </p:style>
      </p:cxnSp>
      <p:sp>
        <p:nvSpPr>
          <p:cNvPr id="39" name="stage-3">
            <a:extLst>
              <a:ext uri="{FF2B5EF4-FFF2-40B4-BE49-F238E27FC236}">
                <a16:creationId xmlns:a16="http://schemas.microsoft.com/office/drawing/2014/main" id="{27257392-A10C-7B2E-7290-3D724E8B81D1}"/>
              </a:ext>
            </a:extLst>
          </p:cNvPr>
          <p:cNvSpPr/>
          <p:nvPr/>
        </p:nvSpPr>
        <p:spPr>
          <a:xfrm>
            <a:off x="714756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stage-band-3">
            <a:extLst>
              <a:ext uri="{FF2B5EF4-FFF2-40B4-BE49-F238E27FC236}">
                <a16:creationId xmlns:a16="http://schemas.microsoft.com/office/drawing/2014/main" id="{79920F1B-3798-93B3-AC5D-3FC7FC227FB8}"/>
              </a:ext>
            </a:extLst>
          </p:cNvPr>
          <p:cNvSpPr/>
          <p:nvPr/>
        </p:nvSpPr>
        <p:spPr>
          <a:xfrm>
            <a:off x="7147560" y="4216400"/>
            <a:ext cx="210312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tage-num-3">
            <a:extLst>
              <a:ext uri="{FF2B5EF4-FFF2-40B4-BE49-F238E27FC236}">
                <a16:creationId xmlns:a16="http://schemas.microsoft.com/office/drawing/2014/main" id="{F9D44455-0DE8-9E0B-8295-8F72D99E6FC6}"/>
              </a:ext>
            </a:extLst>
          </p:cNvPr>
          <p:cNvSpPr txBox="1"/>
          <p:nvPr/>
        </p:nvSpPr>
        <p:spPr>
          <a:xfrm>
            <a:off x="7350760" y="4521200"/>
            <a:ext cx="304800" cy="276999"/>
          </a:xfrm>
          <a:prstGeom prst="rect">
            <a:avLst/>
          </a:prstGeom>
          <a:noFill/>
        </p:spPr>
        <p:txBody>
          <a:bodyPr vert="horz" wrap="square" lIns="0" tIns="0" rIns="0" bIns="0" rtlCol="0">
            <a:noAutofit/>
          </a:bodyPr>
          <a:lstStyle/>
          <a:p>
            <a:r>
              <a:rPr lang="en-US" altLang="zh-CN" sz="800" b="1">
                <a:solidFill>
                  <a:srgbClr val="B85C00"/>
                </a:solidFill>
                <a:latin typeface="Aptos" panose="020B0004020202020204" pitchFamily="34" charset="0"/>
              </a:rPr>
              <a:t>04</a:t>
            </a:r>
            <a:endParaRPr lang="zh-CN" altLang="en-US" sz="800" b="1">
              <a:solidFill>
                <a:srgbClr val="B85C00"/>
              </a:solidFill>
              <a:latin typeface="Aptos" panose="020B0004020202020204" pitchFamily="34" charset="0"/>
            </a:endParaRPr>
          </a:p>
        </p:txBody>
      </p:sp>
      <p:sp>
        <p:nvSpPr>
          <p:cNvPr id="42" name="stage-name-3">
            <a:extLst>
              <a:ext uri="{FF2B5EF4-FFF2-40B4-BE49-F238E27FC236}">
                <a16:creationId xmlns:a16="http://schemas.microsoft.com/office/drawing/2014/main" id="{BE2C9A17-4FE4-5AAC-C042-D12389B4D037}"/>
              </a:ext>
            </a:extLst>
          </p:cNvPr>
          <p:cNvSpPr txBox="1"/>
          <p:nvPr/>
        </p:nvSpPr>
        <p:spPr>
          <a:xfrm>
            <a:off x="773176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ProbeTrace</a:t>
            </a:r>
            <a:endParaRPr lang="zh-CN" altLang="en-US" sz="860" b="1">
              <a:solidFill>
                <a:srgbClr val="071A3D"/>
              </a:solidFill>
              <a:latin typeface="Aptos" panose="020B0004020202020204" pitchFamily="34" charset="0"/>
            </a:endParaRPr>
          </a:p>
        </p:txBody>
      </p:sp>
      <p:sp>
        <p:nvSpPr>
          <p:cNvPr id="43" name="stage-admit-3">
            <a:extLst>
              <a:ext uri="{FF2B5EF4-FFF2-40B4-BE49-F238E27FC236}">
                <a16:creationId xmlns:a16="http://schemas.microsoft.com/office/drawing/2014/main" id="{8C654AD5-5B3F-D954-27FA-052F1310A8B8}"/>
              </a:ext>
            </a:extLst>
          </p:cNvPr>
          <p:cNvSpPr txBox="1"/>
          <p:nvPr/>
        </p:nvSpPr>
        <p:spPr>
          <a:xfrm>
            <a:off x="735076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owner attribution</a:t>
            </a:r>
            <a:endParaRPr lang="zh-CN" altLang="en-US" sz="730">
              <a:solidFill>
                <a:srgbClr val="4A5B78"/>
              </a:solidFill>
              <a:latin typeface="Aptos" panose="020B0004020202020204" pitchFamily="34" charset="0"/>
            </a:endParaRPr>
          </a:p>
        </p:txBody>
      </p:sp>
      <p:sp>
        <p:nvSpPr>
          <p:cNvPr id="44" name="stage-block-3">
            <a:extLst>
              <a:ext uri="{FF2B5EF4-FFF2-40B4-BE49-F238E27FC236}">
                <a16:creationId xmlns:a16="http://schemas.microsoft.com/office/drawing/2014/main" id="{2F0BD421-1D9E-C0E9-0272-742ACEA696E1}"/>
              </a:ext>
            </a:extLst>
          </p:cNvPr>
          <p:cNvSpPr txBox="1"/>
          <p:nvPr/>
        </p:nvSpPr>
        <p:spPr>
          <a:xfrm>
            <a:off x="735076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false-owner claim</a:t>
            </a:r>
            <a:endParaRPr lang="zh-CN" altLang="en-US" sz="730" b="1">
              <a:solidFill>
                <a:srgbClr val="B8293C"/>
              </a:solidFill>
              <a:latin typeface="Aptos" panose="020B0004020202020204" pitchFamily="34" charset="0"/>
            </a:endParaRPr>
          </a:p>
        </p:txBody>
      </p:sp>
      <p:cxnSp>
        <p:nvCxnSpPr>
          <p:cNvPr id="45" name="stage-tie-3">
            <a:extLst>
              <a:ext uri="{FF2B5EF4-FFF2-40B4-BE49-F238E27FC236}">
                <a16:creationId xmlns:a16="http://schemas.microsoft.com/office/drawing/2014/main" id="{677FBE72-3B8A-D180-C5F2-A9E4B782B682}"/>
              </a:ext>
            </a:extLst>
          </p:cNvPr>
          <p:cNvCxnSpPr/>
          <p:nvPr/>
        </p:nvCxnSpPr>
        <p:spPr>
          <a:xfrm>
            <a:off x="8199120" y="3759200"/>
            <a:ext cx="0" cy="457200"/>
          </a:xfrm>
          <a:prstGeom prst="line">
            <a:avLst/>
          </a:prstGeom>
          <a:ln w="13970">
            <a:solidFill>
              <a:srgbClr val="B85C00"/>
            </a:solidFill>
          </a:ln>
        </p:spPr>
        <p:style>
          <a:lnRef idx="1">
            <a:schemeClr val="accent1"/>
          </a:lnRef>
          <a:fillRef idx="0">
            <a:schemeClr val="accent1"/>
          </a:fillRef>
          <a:effectRef idx="0">
            <a:schemeClr val="accent1"/>
          </a:effectRef>
          <a:fontRef idx="minor">
            <a:schemeClr val="tx1"/>
          </a:fontRef>
        </p:style>
      </p:cxnSp>
      <p:sp>
        <p:nvSpPr>
          <p:cNvPr id="46" name="stage-4">
            <a:extLst>
              <a:ext uri="{FF2B5EF4-FFF2-40B4-BE49-F238E27FC236}">
                <a16:creationId xmlns:a16="http://schemas.microsoft.com/office/drawing/2014/main" id="{C2FB80F2-6B3E-CFAF-3EAD-6065A1516171}"/>
              </a:ext>
            </a:extLst>
          </p:cNvPr>
          <p:cNvSpPr/>
          <p:nvPr/>
        </p:nvSpPr>
        <p:spPr>
          <a:xfrm>
            <a:off x="925068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tage-band-4">
            <a:extLst>
              <a:ext uri="{FF2B5EF4-FFF2-40B4-BE49-F238E27FC236}">
                <a16:creationId xmlns:a16="http://schemas.microsoft.com/office/drawing/2014/main" id="{F468F04E-950D-2469-B6C6-70B7CDF980A3}"/>
              </a:ext>
            </a:extLst>
          </p:cNvPr>
          <p:cNvSpPr/>
          <p:nvPr/>
        </p:nvSpPr>
        <p:spPr>
          <a:xfrm>
            <a:off x="9250680" y="4216400"/>
            <a:ext cx="2103120" cy="889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stage-num-4">
            <a:extLst>
              <a:ext uri="{FF2B5EF4-FFF2-40B4-BE49-F238E27FC236}">
                <a16:creationId xmlns:a16="http://schemas.microsoft.com/office/drawing/2014/main" id="{676DD686-0E76-EAAB-9801-22F9FCFBEE3D}"/>
              </a:ext>
            </a:extLst>
          </p:cNvPr>
          <p:cNvSpPr txBox="1"/>
          <p:nvPr/>
        </p:nvSpPr>
        <p:spPr>
          <a:xfrm>
            <a:off x="9453880" y="4521200"/>
            <a:ext cx="304800" cy="276999"/>
          </a:xfrm>
          <a:prstGeom prst="rect">
            <a:avLst/>
          </a:prstGeom>
          <a:noFill/>
        </p:spPr>
        <p:txBody>
          <a:bodyPr vert="horz" wrap="square" lIns="0" tIns="0" rIns="0" bIns="0" rtlCol="0">
            <a:noAutofit/>
          </a:bodyPr>
          <a:lstStyle/>
          <a:p>
            <a:r>
              <a:rPr lang="en-US" altLang="zh-CN" sz="800" b="1">
                <a:solidFill>
                  <a:srgbClr val="1F7A4D"/>
                </a:solidFill>
                <a:latin typeface="Aptos" panose="020B0004020202020204" pitchFamily="34" charset="0"/>
              </a:rPr>
              <a:t>05</a:t>
            </a:r>
            <a:endParaRPr lang="zh-CN" altLang="en-US" sz="800" b="1">
              <a:solidFill>
                <a:srgbClr val="1F7A4D"/>
              </a:solidFill>
              <a:latin typeface="Aptos" panose="020B0004020202020204" pitchFamily="34" charset="0"/>
            </a:endParaRPr>
          </a:p>
        </p:txBody>
      </p:sp>
      <p:sp>
        <p:nvSpPr>
          <p:cNvPr id="49" name="stage-name-4">
            <a:extLst>
              <a:ext uri="{FF2B5EF4-FFF2-40B4-BE49-F238E27FC236}">
                <a16:creationId xmlns:a16="http://schemas.microsoft.com/office/drawing/2014/main" id="{D5FE86AD-0886-405D-FEFB-67DEA9090B15}"/>
              </a:ext>
            </a:extLst>
          </p:cNvPr>
          <p:cNvSpPr txBox="1"/>
          <p:nvPr/>
        </p:nvSpPr>
        <p:spPr>
          <a:xfrm>
            <a:off x="983488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SealAudit</a:t>
            </a:r>
            <a:endParaRPr lang="zh-CN" altLang="en-US" sz="860" b="1">
              <a:solidFill>
                <a:srgbClr val="071A3D"/>
              </a:solidFill>
              <a:latin typeface="Aptos" panose="020B0004020202020204" pitchFamily="34" charset="0"/>
            </a:endParaRPr>
          </a:p>
        </p:txBody>
      </p:sp>
      <p:sp>
        <p:nvSpPr>
          <p:cNvPr id="50" name="stage-admit-4">
            <a:extLst>
              <a:ext uri="{FF2B5EF4-FFF2-40B4-BE49-F238E27FC236}">
                <a16:creationId xmlns:a16="http://schemas.microsoft.com/office/drawing/2014/main" id="{861F1385-8646-467E-8500-7D06AC31C384}"/>
              </a:ext>
            </a:extLst>
          </p:cNvPr>
          <p:cNvSpPr txBox="1"/>
          <p:nvPr/>
        </p:nvSpPr>
        <p:spPr>
          <a:xfrm>
            <a:off x="945388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security triage</a:t>
            </a:r>
            <a:endParaRPr lang="zh-CN" altLang="en-US" sz="730">
              <a:solidFill>
                <a:srgbClr val="4A5B78"/>
              </a:solidFill>
              <a:latin typeface="Aptos" panose="020B0004020202020204" pitchFamily="34" charset="0"/>
            </a:endParaRPr>
          </a:p>
        </p:txBody>
      </p:sp>
      <p:sp>
        <p:nvSpPr>
          <p:cNvPr id="51" name="stage-block-4">
            <a:extLst>
              <a:ext uri="{FF2B5EF4-FFF2-40B4-BE49-F238E27FC236}">
                <a16:creationId xmlns:a16="http://schemas.microsoft.com/office/drawing/2014/main" id="{51DEDE3E-992F-E2C0-6CAF-4164902249DC}"/>
              </a:ext>
            </a:extLst>
          </p:cNvPr>
          <p:cNvSpPr txBox="1"/>
          <p:nvPr/>
        </p:nvSpPr>
        <p:spPr>
          <a:xfrm>
            <a:off x="945388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safety certificate</a:t>
            </a:r>
            <a:endParaRPr lang="zh-CN" altLang="en-US" sz="730" b="1">
              <a:solidFill>
                <a:srgbClr val="B8293C"/>
              </a:solidFill>
              <a:latin typeface="Aptos" panose="020B0004020202020204" pitchFamily="34" charset="0"/>
            </a:endParaRPr>
          </a:p>
        </p:txBody>
      </p:sp>
      <p:cxnSp>
        <p:nvCxnSpPr>
          <p:cNvPr id="52" name="stage-tie-4">
            <a:extLst>
              <a:ext uri="{FF2B5EF4-FFF2-40B4-BE49-F238E27FC236}">
                <a16:creationId xmlns:a16="http://schemas.microsoft.com/office/drawing/2014/main" id="{E749CA05-F3A7-4E43-8D03-F4EA4247A411}"/>
              </a:ext>
            </a:extLst>
          </p:cNvPr>
          <p:cNvCxnSpPr/>
          <p:nvPr/>
        </p:nvCxnSpPr>
        <p:spPr>
          <a:xfrm>
            <a:off x="10302240" y="3759200"/>
            <a:ext cx="0" cy="457200"/>
          </a:xfrm>
          <a:prstGeom prst="line">
            <a:avLst/>
          </a:prstGeom>
          <a:ln w="13970">
            <a:solidFill>
              <a:srgbClr val="1F7A4D"/>
            </a:solidFill>
          </a:ln>
        </p:spPr>
        <p:style>
          <a:lnRef idx="1">
            <a:schemeClr val="accent1"/>
          </a:lnRef>
          <a:fillRef idx="0">
            <a:schemeClr val="accent1"/>
          </a:fillRef>
          <a:effectRef idx="0">
            <a:schemeClr val="accent1"/>
          </a:effectRef>
          <a:fontRef idx="minor">
            <a:schemeClr val="tx1"/>
          </a:fontRef>
        </p:style>
      </p:cxnSp>
      <p:sp>
        <p:nvSpPr>
          <p:cNvPr id="53" name="takeaway">
            <a:extLst>
              <a:ext uri="{FF2B5EF4-FFF2-40B4-BE49-F238E27FC236}">
                <a16:creationId xmlns:a16="http://schemas.microsoft.com/office/drawing/2014/main" id="{FA73382E-013D-0693-9E0C-91B99FAAFDC4}"/>
              </a:ext>
            </a:extLst>
          </p:cNvPr>
          <p:cNvSpPr/>
          <p:nvPr/>
        </p:nvSpPr>
        <p:spPr>
          <a:xfrm>
            <a:off x="1498600" y="5740400"/>
            <a:ext cx="91948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takeaway-t">
            <a:extLst>
              <a:ext uri="{FF2B5EF4-FFF2-40B4-BE49-F238E27FC236}">
                <a16:creationId xmlns:a16="http://schemas.microsoft.com/office/drawing/2014/main" id="{DF38067D-2F81-7142-5A5F-574E26245ECE}"/>
              </a:ext>
            </a:extLst>
          </p:cNvPr>
          <p:cNvSpPr txBox="1"/>
          <p:nvPr/>
        </p:nvSpPr>
        <p:spPr>
          <a:xfrm>
            <a:off x="1905000" y="5829300"/>
            <a:ext cx="83820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One discipline, five access models: each result is allowed to be narrow, but never vague.</a:t>
            </a:r>
            <a:endParaRPr lang="zh-CN" altLang="en-US" sz="780" b="1">
              <a:solidFill>
                <a:srgbClr val="071A3D"/>
              </a:solidFill>
              <a:latin typeface="Aptos" panose="020B0004020202020204" pitchFamily="34" charset="0"/>
            </a:endParaRPr>
          </a:p>
        </p:txBody>
      </p:sp>
      <p:sp>
        <p:nvSpPr>
          <p:cNvPr id="55" name="footer-hit-5">
            <a:hlinkClick r:id="rId4"/>
            <a:extLst>
              <a:ext uri="{FF2B5EF4-FFF2-40B4-BE49-F238E27FC236}">
                <a16:creationId xmlns:a16="http://schemas.microsoft.com/office/drawing/2014/main" id="{11E499C5-6FEB-3E96-CA82-5ED6207B2D92}"/>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6073956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7"/>
                                        </p:tgtEl>
                                        <p:attrNameLst>
                                          <p:attrName>style.visibility</p:attrName>
                                        </p:attrNameLst>
                                      </p:cBhvr>
                                      <p:to>
                                        <p:strVal val="visible"/>
                                      </p:to>
                                    </p:set>
                                    <p:animEffect transition="in" filter="fade">
                                      <p:cBhvr>
                                        <p:cTn id="143" dur="160"/>
                                        <p:tgtEl>
                                          <p:spTgt spid="47"/>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160"/>
                                        <p:tgtEl>
                                          <p:spTgt spid="48"/>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9"/>
                                        </p:tgtEl>
                                        <p:attrNameLst>
                                          <p:attrName>style.visibility</p:attrName>
                                        </p:attrNameLst>
                                      </p:cBhvr>
                                      <p:to>
                                        <p:strVal val="visible"/>
                                      </p:to>
                                    </p:set>
                                    <p:animEffect transition="in" filter="fade">
                                      <p:cBhvr>
                                        <p:cTn id="151" dur="160"/>
                                        <p:tgtEl>
                                          <p:spTgt spid="49"/>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160"/>
                                        <p:tgtEl>
                                          <p:spTgt spid="50"/>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1"/>
                                        </p:tgtEl>
                                        <p:attrNameLst>
                                          <p:attrName>style.visibility</p:attrName>
                                        </p:attrNameLst>
                                      </p:cBhvr>
                                      <p:to>
                                        <p:strVal val="visible"/>
                                      </p:to>
                                    </p:set>
                                    <p:animEffect transition="in" filter="fade">
                                      <p:cBhvr>
                                        <p:cTn id="159" dur="160"/>
                                        <p:tgtEl>
                                          <p:spTgt spid="51"/>
                                        </p:tgtEl>
                                      </p:cBhvr>
                                    </p:animEffect>
                                  </p:childTnLst>
                                </p:cTn>
                              </p:par>
                            </p:childTnLst>
                          </p:cTn>
                        </p:par>
                        <p:par>
                          <p:cTn id="160" fill="hold">
                            <p:stCondLst>
                              <p:cond delay="6240"/>
                            </p:stCondLst>
                            <p:childTnLst>
                              <p:par>
                                <p:cTn id="161" presetID="10" presetClass="entr" presetSubtype="0" fill="hold" nodeType="afterEffect">
                                  <p:stCondLst>
                                    <p:cond delay="0"/>
                                  </p:stCondLst>
                                  <p:childTnLst>
                                    <p:set>
                                      <p:cBhvr>
                                        <p:cTn id="162" dur="1" fill="hold">
                                          <p:stCondLst>
                                            <p:cond delay="0"/>
                                          </p:stCondLst>
                                        </p:cTn>
                                        <p:tgtEl>
                                          <p:spTgt spid="52"/>
                                        </p:tgtEl>
                                        <p:attrNameLst>
                                          <p:attrName>style.visibility</p:attrName>
                                        </p:attrNameLst>
                                      </p:cBhvr>
                                      <p:to>
                                        <p:strVal val="visible"/>
                                      </p:to>
                                    </p:set>
                                    <p:animEffect transition="in" filter="fade">
                                      <p:cBhvr>
                                        <p:cTn id="163" dur="160"/>
                                        <p:tgtEl>
                                          <p:spTgt spid="52"/>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3"/>
                                        </p:tgtEl>
                                        <p:attrNameLst>
                                          <p:attrName>style.visibility</p:attrName>
                                        </p:attrNameLst>
                                      </p:cBhvr>
                                      <p:to>
                                        <p:strVal val="visible"/>
                                      </p:to>
                                    </p:set>
                                    <p:animEffect transition="in" filter="fade">
                                      <p:cBhvr>
                                        <p:cTn id="167" dur="160"/>
                                        <p:tgtEl>
                                          <p:spTgt spid="53"/>
                                        </p:tgtEl>
                                      </p:cBhvr>
                                    </p:animEffect>
                                  </p:childTnLst>
                                </p:cTn>
                              </p:par>
                            </p:childTnLst>
                          </p:cTn>
                        </p:par>
                        <p:par>
                          <p:cTn id="168" fill="hold">
                            <p:stCondLst>
                              <p:cond delay="6560"/>
                            </p:stCondLst>
                            <p:childTnLst>
                              <p:par>
                                <p:cTn id="169" presetID="10" presetClass="entr" presetSubtype="0" fill="hold" grpId="0" nodeType="after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1" dur="16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8" grpId="0" animBg="1"/>
      <p:bldP spid="19" grpId="0" animBg="1"/>
      <p:bldP spid="20" grpId="0"/>
      <p:bldP spid="21" grpId="0"/>
      <p:bldP spid="22" grpId="0"/>
      <p:bldP spid="23" grpId="0"/>
      <p:bldP spid="25" grpId="0" animBg="1"/>
      <p:bldP spid="26" grpId="0" animBg="1"/>
      <p:bldP spid="27" grpId="0"/>
      <p:bldP spid="28" grpId="0"/>
      <p:bldP spid="29" grpId="0"/>
      <p:bldP spid="30" grpId="0"/>
      <p:bldP spid="32" grpId="0" animBg="1"/>
      <p:bldP spid="33" grpId="0" animBg="1"/>
      <p:bldP spid="34" grpId="0"/>
      <p:bldP spid="35" grpId="0"/>
      <p:bldP spid="36" grpId="0"/>
      <p:bldP spid="37" grpId="0"/>
      <p:bldP spid="39" grpId="0" animBg="1"/>
      <p:bldP spid="40" grpId="0" animBg="1"/>
      <p:bldP spid="41" grpId="0"/>
      <p:bldP spid="42" grpId="0"/>
      <p:bldP spid="43" grpId="0"/>
      <p:bldP spid="44" grpId="0"/>
      <p:bldP spid="46" grpId="0" animBg="1"/>
      <p:bldP spid="47" grpId="0" animBg="1"/>
      <p:bldP spid="48" grpId="0"/>
      <p:bldP spid="49" grpId="0"/>
      <p:bldP spid="50" grpId="0"/>
      <p:bldP spid="51" grpId="0"/>
      <p:bldP spid="53" grpId="0" animBg="1"/>
      <p:bldP spid="5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339280F-556F-9661-04B9-107FC7769C82}"/>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440D4F98-D00B-5971-3EEF-089F57071EE5}"/>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DA219383-C909-182B-C3AC-62620D46DD4A}"/>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A98FFEDC-99FA-949D-D289-50B8D39930C5}"/>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METHOD CORE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13A3468-32B1-8A9E-8DA6-7101AC67A9F3}"/>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4A4D8142-69C4-2324-D8AC-3FCD0F46DB8B}"/>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A6B8690-FDCB-5CB3-949F-C926D6A084D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C03328C7-16B7-C7AC-7A43-6AC4C7B29C2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571BC07B-E67D-9990-A5DE-249D3D6E2CC7}"/>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Evidence is frozen first; interpretation comes second.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AC1AEA89-9EE8-A8E2-4EC4-DE32143ED98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method is an admission protocol, not only a collection of detectors.</a:t>
            </a:r>
            <a:endParaRPr lang="zh-CN" altLang="en-US" sz="930">
              <a:solidFill>
                <a:srgbClr val="4A5B78"/>
              </a:solidFill>
              <a:latin typeface="Aptos" panose="020B0004020202020204" pitchFamily="34" charset="0"/>
            </a:endParaRPr>
          </a:p>
        </p:txBody>
      </p:sp>
      <p:sp>
        <p:nvSpPr>
          <p:cNvPr id="13" name="formula">
            <a:extLst>
              <a:ext uri="{FF2B5EF4-FFF2-40B4-BE49-F238E27FC236}">
                <a16:creationId xmlns:a16="http://schemas.microsoft.com/office/drawing/2014/main" id="{3B6B3792-5A0C-937C-0D79-9E0A90F7A821}"/>
              </a:ext>
            </a:extLst>
          </p:cNvPr>
          <p:cNvSpPr/>
          <p:nvPr/>
        </p:nvSpPr>
        <p:spPr>
          <a:xfrm>
            <a:off x="889000" y="1905000"/>
            <a:ext cx="36830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2F0E5B8F-CFB8-B4A5-29A3-5AF42B03E9F4}"/>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evidence object</a:t>
            </a:r>
            <a:endParaRPr lang="zh-CN" altLang="en-US" sz="77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8CD7B7C3-A1FB-CA18-18B3-3CA5F85311E7}"/>
              </a:ext>
            </a:extLst>
          </p:cNvPr>
          <p:cNvSpPr txBox="1"/>
          <p:nvPr/>
        </p:nvSpPr>
        <p:spPr>
          <a:xfrm>
            <a:off x="1219200" y="2717800"/>
            <a:ext cx="29210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1F8CE0AF-F222-57FA-CEE2-F6261C05D4E2}"/>
              </a:ext>
            </a:extLst>
          </p:cNvPr>
          <p:cNvSpPr txBox="1"/>
          <p:nvPr/>
        </p:nvSpPr>
        <p:spPr>
          <a:xfrm>
            <a:off x="1219200" y="3429000"/>
            <a:ext cx="2870200" cy="276999"/>
          </a:xfrm>
          <a:prstGeom prst="rect">
            <a:avLst/>
          </a:prstGeom>
          <a:noFill/>
        </p:spPr>
        <p:txBody>
          <a:bodyPr vert="horz" wrap="square" lIns="0" tIns="0" rIns="0" bIns="0" rtlCol="0">
            <a:noAutofit/>
          </a:bodyPr>
          <a:lstStyle/>
          <a:p>
            <a:r>
              <a:rPr lang="en-US" altLang="zh-CN" sz="980">
                <a:solidFill>
                  <a:srgbClr val="DAE8FA"/>
                </a:solidFill>
                <a:latin typeface="Aptos" panose="020B0004020202020204" pitchFamily="34" charset="0"/>
              </a:rPr>
              <a:t>D denominator
C controls
A artifact and access
H hash | B boundary</a:t>
            </a:r>
            <a:endParaRPr lang="zh-CN" altLang="en-US" sz="980">
              <a:solidFill>
                <a:srgbClr val="DAE8FA"/>
              </a:solidFill>
              <a:latin typeface="Aptos" panose="020B0004020202020204" pitchFamily="34" charset="0"/>
            </a:endParaRPr>
          </a:p>
        </p:txBody>
      </p:sp>
      <p:sp>
        <p:nvSpPr>
          <p:cNvPr id="17" name="algo">
            <a:extLst>
              <a:ext uri="{FF2B5EF4-FFF2-40B4-BE49-F238E27FC236}">
                <a16:creationId xmlns:a16="http://schemas.microsoft.com/office/drawing/2014/main" id="{9434FAE8-85E0-E64E-063E-46378A95628F}"/>
              </a:ext>
            </a:extLst>
          </p:cNvPr>
          <p:cNvSpPr/>
          <p:nvPr/>
        </p:nvSpPr>
        <p:spPr>
          <a:xfrm>
            <a:off x="5334000" y="1752600"/>
            <a:ext cx="5334000" cy="2717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lgo-k">
            <a:extLst>
              <a:ext uri="{FF2B5EF4-FFF2-40B4-BE49-F238E27FC236}">
                <a16:creationId xmlns:a16="http://schemas.microsoft.com/office/drawing/2014/main" id="{EA86B9DC-E055-3C58-D110-42ABA41B22F9}"/>
              </a:ext>
            </a:extLst>
          </p:cNvPr>
          <p:cNvSpPr txBox="1"/>
          <p:nvPr/>
        </p:nvSpPr>
        <p:spPr>
          <a:xfrm>
            <a:off x="5689600" y="2057400"/>
            <a:ext cx="1524000" cy="276999"/>
          </a:xfrm>
          <a:prstGeom prst="rect">
            <a:avLst/>
          </a:prstGeom>
          <a:noFill/>
        </p:spPr>
        <p:txBody>
          <a:bodyPr vert="horz" wrap="square" lIns="0" tIns="0" rIns="0" bIns="0" rtlCol="0">
            <a:noAutofit/>
          </a:bodyPr>
          <a:lstStyle/>
          <a:p>
            <a:r>
              <a:rPr lang="en-US" altLang="zh-CN" sz="780" b="1">
                <a:solidFill>
                  <a:srgbClr val="4A5B78"/>
                </a:solidFill>
                <a:latin typeface="Aptos" panose="020B0004020202020204" pitchFamily="34" charset="0"/>
              </a:rPr>
              <a:t>admission protocol</a:t>
            </a:r>
            <a:endParaRPr lang="zh-CN" altLang="en-US" sz="780" b="1">
              <a:solidFill>
                <a:srgbClr val="4A5B78"/>
              </a:solidFill>
              <a:latin typeface="Aptos" panose="020B0004020202020204" pitchFamily="34" charset="0"/>
            </a:endParaRPr>
          </a:p>
        </p:txBody>
      </p:sp>
      <p:sp>
        <p:nvSpPr>
          <p:cNvPr id="19" name="algo-t">
            <a:extLst>
              <a:ext uri="{FF2B5EF4-FFF2-40B4-BE49-F238E27FC236}">
                <a16:creationId xmlns:a16="http://schemas.microsoft.com/office/drawing/2014/main" id="{A4A8A752-390D-DE2E-A74B-33BB7B57C78D}"/>
              </a:ext>
            </a:extLst>
          </p:cNvPr>
          <p:cNvSpPr txBox="1"/>
          <p:nvPr/>
        </p:nvSpPr>
        <p:spPr>
          <a:xfrm>
            <a:off x="5689600" y="2463800"/>
            <a:ext cx="4292600" cy="276999"/>
          </a:xfrm>
          <a:prstGeom prst="rect">
            <a:avLst/>
          </a:prstGeom>
          <a:noFill/>
        </p:spPr>
        <p:txBody>
          <a:bodyPr vert="horz" wrap="square" lIns="0" tIns="0" rIns="0" bIns="0" rtlCol="0">
            <a:noAutofit/>
          </a:bodyPr>
          <a:lstStyle/>
          <a:p>
            <a:r>
              <a:rPr lang="en-US" altLang="zh-CN" sz="1400" b="1">
                <a:solidFill>
                  <a:srgbClr val="071A3D"/>
                </a:solidFill>
                <a:latin typeface="Aptos" panose="020B0004020202020204" pitchFamily="34" charset="0"/>
              </a:rPr>
              <a:t>1. freeze denominator and protocol
2. run positive and negative controls
3. preserve result artifact and hash
4. report only the bounded claim
5. abstain when evidence is insufficient</a:t>
            </a:r>
            <a:endParaRPr lang="zh-CN" altLang="en-US" sz="1400" b="1">
              <a:solidFill>
                <a:srgbClr val="071A3D"/>
              </a:solidFill>
              <a:latin typeface="Aptos" panose="020B0004020202020204" pitchFamily="34" charset="0"/>
            </a:endParaRPr>
          </a:p>
        </p:txBody>
      </p:sp>
      <p:sp>
        <p:nvSpPr>
          <p:cNvPr id="20" name="eq-0">
            <a:extLst>
              <a:ext uri="{FF2B5EF4-FFF2-40B4-BE49-F238E27FC236}">
                <a16:creationId xmlns:a16="http://schemas.microsoft.com/office/drawing/2014/main" id="{2AB06ED6-77C6-A169-8248-FEA2D355BB57}"/>
              </a:ext>
            </a:extLst>
          </p:cNvPr>
          <p:cNvSpPr/>
          <p:nvPr/>
        </p:nvSpPr>
        <p:spPr>
          <a:xfrm>
            <a:off x="13208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eq-band-0">
            <a:extLst>
              <a:ext uri="{FF2B5EF4-FFF2-40B4-BE49-F238E27FC236}">
                <a16:creationId xmlns:a16="http://schemas.microsoft.com/office/drawing/2014/main" id="{2E5B7B5D-3F3A-4E9F-9B84-6F496FC7CF8A}"/>
              </a:ext>
            </a:extLst>
          </p:cNvPr>
          <p:cNvSpPr/>
          <p:nvPr/>
        </p:nvSpPr>
        <p:spPr>
          <a:xfrm>
            <a:off x="1320800" y="5054600"/>
            <a:ext cx="635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eq-n-0">
            <a:extLst>
              <a:ext uri="{FF2B5EF4-FFF2-40B4-BE49-F238E27FC236}">
                <a16:creationId xmlns:a16="http://schemas.microsoft.com/office/drawing/2014/main" id="{AF64C283-7021-6E1D-E2E3-1096166A9E5B}"/>
              </a:ext>
            </a:extLst>
          </p:cNvPr>
          <p:cNvSpPr txBox="1"/>
          <p:nvPr/>
        </p:nvSpPr>
        <p:spPr>
          <a:xfrm>
            <a:off x="1549400" y="5207000"/>
            <a:ext cx="1219200" cy="276999"/>
          </a:xfrm>
          <a:prstGeom prst="rect">
            <a:avLst/>
          </a:prstGeom>
          <a:noFill/>
        </p:spPr>
        <p:txBody>
          <a:bodyPr vert="horz" wrap="square" lIns="0" tIns="0" rIns="0" bIns="0" rtlCol="0">
            <a:noAutofit/>
          </a:bodyPr>
          <a:lstStyle/>
          <a:p>
            <a:r>
              <a:rPr lang="en-US" altLang="zh-CN" sz="810" b="1">
                <a:solidFill>
                  <a:srgbClr val="168E8B"/>
                </a:solidFill>
                <a:latin typeface="Aptos" panose="020B0004020202020204" pitchFamily="34" charset="0"/>
              </a:rPr>
              <a:t>SemCodebook</a:t>
            </a:r>
            <a:endParaRPr lang="zh-CN" altLang="en-US" sz="810" b="1">
              <a:solidFill>
                <a:srgbClr val="168E8B"/>
              </a:solidFill>
              <a:latin typeface="Aptos" panose="020B0004020202020204" pitchFamily="34" charset="0"/>
            </a:endParaRPr>
          </a:p>
        </p:txBody>
      </p:sp>
      <p:sp>
        <p:nvSpPr>
          <p:cNvPr id="23" name="eq-s-0">
            <a:extLst>
              <a:ext uri="{FF2B5EF4-FFF2-40B4-BE49-F238E27FC236}">
                <a16:creationId xmlns:a16="http://schemas.microsoft.com/office/drawing/2014/main" id="{D7BCE730-65EC-8006-42A4-2D748812BAE7}"/>
              </a:ext>
            </a:extLst>
          </p:cNvPr>
          <p:cNvSpPr txBox="1"/>
          <p:nvPr/>
        </p:nvSpPr>
        <p:spPr>
          <a:xfrm>
            <a:off x="15494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recover typed carriers under a keyed schedule</a:t>
            </a:r>
            <a:endParaRPr lang="zh-CN" altLang="en-US" sz="730">
              <a:solidFill>
                <a:srgbClr val="4A5B78"/>
              </a:solidFill>
              <a:latin typeface="Aptos" panose="020B0004020202020204" pitchFamily="34" charset="0"/>
            </a:endParaRPr>
          </a:p>
        </p:txBody>
      </p:sp>
      <p:sp>
        <p:nvSpPr>
          <p:cNvPr id="24" name="eq-1">
            <a:extLst>
              <a:ext uri="{FF2B5EF4-FFF2-40B4-BE49-F238E27FC236}">
                <a16:creationId xmlns:a16="http://schemas.microsoft.com/office/drawing/2014/main" id="{701D4798-AFDA-7D77-F0E9-3C31B60E60E0}"/>
              </a:ext>
            </a:extLst>
          </p:cNvPr>
          <p:cNvSpPr/>
          <p:nvPr/>
        </p:nvSpPr>
        <p:spPr>
          <a:xfrm>
            <a:off x="45212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eq-band-1">
            <a:extLst>
              <a:ext uri="{FF2B5EF4-FFF2-40B4-BE49-F238E27FC236}">
                <a16:creationId xmlns:a16="http://schemas.microsoft.com/office/drawing/2014/main" id="{5CE3D4EC-81A2-BE1A-090A-B501FD1E5713}"/>
              </a:ext>
            </a:extLst>
          </p:cNvPr>
          <p:cNvSpPr/>
          <p:nvPr/>
        </p:nvSpPr>
        <p:spPr>
          <a:xfrm>
            <a:off x="4521200" y="5054600"/>
            <a:ext cx="635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eq-n-1">
            <a:extLst>
              <a:ext uri="{FF2B5EF4-FFF2-40B4-BE49-F238E27FC236}">
                <a16:creationId xmlns:a16="http://schemas.microsoft.com/office/drawing/2014/main" id="{C5F9FDEF-1222-ED2F-74F2-022CC7B742FD}"/>
              </a:ext>
            </a:extLst>
          </p:cNvPr>
          <p:cNvSpPr txBox="1"/>
          <p:nvPr/>
        </p:nvSpPr>
        <p:spPr>
          <a:xfrm>
            <a:off x="4749800" y="5207000"/>
            <a:ext cx="1219200" cy="276999"/>
          </a:xfrm>
          <a:prstGeom prst="rect">
            <a:avLst/>
          </a:prstGeom>
          <a:noFill/>
        </p:spPr>
        <p:txBody>
          <a:bodyPr vert="horz" wrap="square" lIns="0" tIns="0" rIns="0" bIns="0" rtlCol="0">
            <a:noAutofit/>
          </a:bodyPr>
          <a:lstStyle/>
          <a:p>
            <a:r>
              <a:rPr lang="en-US" altLang="zh-CN" sz="810" b="1">
                <a:solidFill>
                  <a:srgbClr val="B85C00"/>
                </a:solidFill>
                <a:latin typeface="Aptos" panose="020B0004020202020204" pitchFamily="34" charset="0"/>
              </a:rPr>
              <a:t>ProbeTrace</a:t>
            </a:r>
            <a:endParaRPr lang="zh-CN" altLang="en-US" sz="810" b="1">
              <a:solidFill>
                <a:srgbClr val="B85C00"/>
              </a:solidFill>
              <a:latin typeface="Aptos" panose="020B0004020202020204" pitchFamily="34" charset="0"/>
            </a:endParaRPr>
          </a:p>
        </p:txBody>
      </p:sp>
      <p:sp>
        <p:nvSpPr>
          <p:cNvPr id="27" name="eq-s-1">
            <a:extLst>
              <a:ext uri="{FF2B5EF4-FFF2-40B4-BE49-F238E27FC236}">
                <a16:creationId xmlns:a16="http://schemas.microsoft.com/office/drawing/2014/main" id="{6D62D2A3-6847-E979-9F03-43E9203F4DDD}"/>
              </a:ext>
            </a:extLst>
          </p:cNvPr>
          <p:cNvSpPr txBox="1"/>
          <p:nvPr/>
        </p:nvSpPr>
        <p:spPr>
          <a:xfrm>
            <a:off x="47498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margin = s_true - max(s_false)</a:t>
            </a:r>
            <a:endParaRPr lang="zh-CN" altLang="en-US" sz="730">
              <a:solidFill>
                <a:srgbClr val="4A5B78"/>
              </a:solidFill>
              <a:latin typeface="Aptos" panose="020B0004020202020204" pitchFamily="34" charset="0"/>
            </a:endParaRPr>
          </a:p>
        </p:txBody>
      </p:sp>
      <p:sp>
        <p:nvSpPr>
          <p:cNvPr id="28" name="eq-2">
            <a:extLst>
              <a:ext uri="{FF2B5EF4-FFF2-40B4-BE49-F238E27FC236}">
                <a16:creationId xmlns:a16="http://schemas.microsoft.com/office/drawing/2014/main" id="{E4BA2BE2-3024-1F7C-FB64-FA7446278B47}"/>
              </a:ext>
            </a:extLst>
          </p:cNvPr>
          <p:cNvSpPr/>
          <p:nvPr/>
        </p:nvSpPr>
        <p:spPr>
          <a:xfrm>
            <a:off x="77216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eq-band-2">
            <a:extLst>
              <a:ext uri="{FF2B5EF4-FFF2-40B4-BE49-F238E27FC236}">
                <a16:creationId xmlns:a16="http://schemas.microsoft.com/office/drawing/2014/main" id="{395959CE-199D-FB47-0DED-113398AA6C2A}"/>
              </a:ext>
            </a:extLst>
          </p:cNvPr>
          <p:cNvSpPr/>
          <p:nvPr/>
        </p:nvSpPr>
        <p:spPr>
          <a:xfrm>
            <a:off x="7721600" y="5054600"/>
            <a:ext cx="635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eq-n-2">
            <a:extLst>
              <a:ext uri="{FF2B5EF4-FFF2-40B4-BE49-F238E27FC236}">
                <a16:creationId xmlns:a16="http://schemas.microsoft.com/office/drawing/2014/main" id="{472884C0-B5D0-10C2-677D-3C8984FA7797}"/>
              </a:ext>
            </a:extLst>
          </p:cNvPr>
          <p:cNvSpPr txBox="1"/>
          <p:nvPr/>
        </p:nvSpPr>
        <p:spPr>
          <a:xfrm>
            <a:off x="7950200" y="5207000"/>
            <a:ext cx="1219200" cy="276999"/>
          </a:xfrm>
          <a:prstGeom prst="rect">
            <a:avLst/>
          </a:prstGeom>
          <a:noFill/>
        </p:spPr>
        <p:txBody>
          <a:bodyPr vert="horz" wrap="square" lIns="0" tIns="0" rIns="0" bIns="0" rtlCol="0">
            <a:noAutofit/>
          </a:bodyPr>
          <a:lstStyle/>
          <a:p>
            <a:r>
              <a:rPr lang="en-US" altLang="zh-CN" sz="810" b="1">
                <a:solidFill>
                  <a:srgbClr val="1F7A4D"/>
                </a:solidFill>
                <a:latin typeface="Aptos" panose="020B0004020202020204" pitchFamily="34" charset="0"/>
              </a:rPr>
              <a:t>SealAudit</a:t>
            </a:r>
            <a:endParaRPr lang="zh-CN" altLang="en-US" sz="810" b="1">
              <a:solidFill>
                <a:srgbClr val="1F7A4D"/>
              </a:solidFill>
              <a:latin typeface="Aptos" panose="020B0004020202020204" pitchFamily="34" charset="0"/>
            </a:endParaRPr>
          </a:p>
        </p:txBody>
      </p:sp>
      <p:sp>
        <p:nvSpPr>
          <p:cNvPr id="31" name="eq-s-2">
            <a:extLst>
              <a:ext uri="{FF2B5EF4-FFF2-40B4-BE49-F238E27FC236}">
                <a16:creationId xmlns:a16="http://schemas.microsoft.com/office/drawing/2014/main" id="{82B4647D-2FA1-0F42-5BC8-FC61445CA817}"/>
              </a:ext>
            </a:extLst>
          </p:cNvPr>
          <p:cNvSpPr txBox="1"/>
          <p:nvPr/>
        </p:nvSpPr>
        <p:spPr>
          <a:xfrm>
            <a:off x="79502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decision only if confidence crosses triage gate</a:t>
            </a:r>
            <a:endParaRPr lang="zh-CN" altLang="en-US" sz="730">
              <a:solidFill>
                <a:srgbClr val="4A5B78"/>
              </a:solidFill>
              <a:latin typeface="Aptos" panose="020B0004020202020204" pitchFamily="34" charset="0"/>
            </a:endParaRPr>
          </a:p>
        </p:txBody>
      </p:sp>
      <p:sp>
        <p:nvSpPr>
          <p:cNvPr id="32" name="footer-hit-6">
            <a:hlinkClick r:id="rId4"/>
            <a:extLst>
              <a:ext uri="{FF2B5EF4-FFF2-40B4-BE49-F238E27FC236}">
                <a16:creationId xmlns:a16="http://schemas.microsoft.com/office/drawing/2014/main" id="{FD74C0BD-BAD3-F49F-B83A-9C401D6D46B0}"/>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76662827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67B1A53-C640-5F1E-8F1F-076CCB5CDEA3}"/>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0B015A5-0E24-F36B-062F-B5F59C8C8E8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C1D849C3-531B-10CB-442E-0BE6166C3ABA}"/>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40D6D44D-13BE-59A7-322A-A03307533CE5}"/>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RESULTS</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2B75EA2-BD06-71D7-4538-72D31B942F40}"/>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07</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E45E37C6-0867-8F0D-552C-0AF6C8C79EBB}"/>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DCEAB5C-DF73-3968-89C0-A58BACA60A7A}"/>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2ADB9708-ADC4-6529-5EBB-AFD31BDD991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A4ADDC67-0F45-6130-5079-0BA061ED39BE}"/>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main result is a set of bounded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6801FA34-6F5A-C975-92E2-90AAE9DF12CF}"/>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I do not average these stages into one score; each result keeps its own denominator, controls, and boundary.</a:t>
            </a:r>
            <a:endParaRPr lang="zh-CN" altLang="en-US" sz="930">
              <a:solidFill>
                <a:srgbClr val="4A5B78"/>
              </a:solidFill>
              <a:latin typeface="Aptos" panose="020B0004020202020204" pitchFamily="34" charset="0"/>
            </a:endParaRPr>
          </a:p>
        </p:txBody>
      </p:sp>
      <p:sp>
        <p:nvSpPr>
          <p:cNvPr id="13" name="headline">
            <a:extLst>
              <a:ext uri="{FF2B5EF4-FFF2-40B4-BE49-F238E27FC236}">
                <a16:creationId xmlns:a16="http://schemas.microsoft.com/office/drawing/2014/main" id="{D04FCC5C-9FF3-A30B-41D9-168040A49E6D}"/>
              </a:ext>
            </a:extLst>
          </p:cNvPr>
          <p:cNvSpPr/>
          <p:nvPr/>
        </p:nvSpPr>
        <p:spPr>
          <a:xfrm>
            <a:off x="889000" y="1905000"/>
            <a:ext cx="10414000" cy="685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headline-k">
            <a:extLst>
              <a:ext uri="{FF2B5EF4-FFF2-40B4-BE49-F238E27FC236}">
                <a16:creationId xmlns:a16="http://schemas.microsoft.com/office/drawing/2014/main" id="{2962F806-9C17-7EEB-C1B8-FFCB600FED14}"/>
              </a:ext>
            </a:extLst>
          </p:cNvPr>
          <p:cNvSpPr txBox="1"/>
          <p:nvPr/>
        </p:nvSpPr>
        <p:spPr>
          <a:xfrm>
            <a:off x="1270000" y="2108200"/>
            <a:ext cx="1955800" cy="276999"/>
          </a:xfrm>
          <a:prstGeom prst="rect">
            <a:avLst/>
          </a:prstGeom>
          <a:noFill/>
        </p:spPr>
        <p:txBody>
          <a:bodyPr vert="horz" wrap="square" lIns="0" tIns="0" rIns="0" bIns="0" rtlCol="0">
            <a:noAutofit/>
          </a:bodyPr>
          <a:lstStyle/>
          <a:p>
            <a:r>
              <a:rPr lang="en-US" altLang="zh-CN" sz="720" b="1">
                <a:solidFill>
                  <a:srgbClr val="CDE2FA"/>
                </a:solidFill>
                <a:latin typeface="Aptos" panose="020B0004020202020204" pitchFamily="34" charset="0"/>
              </a:rPr>
              <a:t>SUBMITTED FYP SNAPSHOT</a:t>
            </a:r>
            <a:endParaRPr lang="zh-CN" altLang="en-US" sz="720" b="1">
              <a:solidFill>
                <a:srgbClr val="CDE2FA"/>
              </a:solidFill>
              <a:latin typeface="Aptos" panose="020B0004020202020204" pitchFamily="34" charset="0"/>
            </a:endParaRPr>
          </a:p>
        </p:txBody>
      </p:sp>
      <p:sp>
        <p:nvSpPr>
          <p:cNvPr id="15" name="headline-t">
            <a:extLst>
              <a:ext uri="{FF2B5EF4-FFF2-40B4-BE49-F238E27FC236}">
                <a16:creationId xmlns:a16="http://schemas.microsoft.com/office/drawing/2014/main" id="{6AA13306-032E-32B5-6E7D-CB805216A454}"/>
              </a:ext>
            </a:extLst>
          </p:cNvPr>
          <p:cNvSpPr txBox="1"/>
          <p:nvPr/>
        </p:nvSpPr>
        <p:spPr>
          <a:xfrm>
            <a:off x="1270000" y="2336800"/>
            <a:ext cx="8178800" cy="276999"/>
          </a:xfrm>
          <a:prstGeom prst="rect">
            <a:avLst/>
          </a:prstGeom>
          <a:noFill/>
        </p:spPr>
        <p:txBody>
          <a:bodyPr vert="horz" wrap="square" lIns="0" tIns="0" rIns="0" bIns="0" rtlCol="0">
            <a:noAutofit/>
          </a:bodyPr>
          <a:lstStyle/>
          <a:p>
            <a:r>
              <a:rPr lang="en-US" altLang="zh-CN" sz="920" b="1">
                <a:solidFill>
                  <a:srgbClr val="FFFFFF"/>
                </a:solidFill>
                <a:latin typeface="Aptos" panose="020B0004020202020204" pitchFamily="34" charset="0"/>
              </a:rPr>
              <a:t>Each number is paired with the claim it permits and the overclaim it blocks.</a:t>
            </a:r>
            <a:endParaRPr lang="zh-CN" altLang="en-US" sz="920" b="1">
              <a:solidFill>
                <a:srgbClr val="FFFFFF"/>
              </a:solidFill>
              <a:latin typeface="Aptos" panose="020B0004020202020204" pitchFamily="34" charset="0"/>
            </a:endParaRPr>
          </a:p>
        </p:txBody>
      </p:sp>
      <p:sp>
        <p:nvSpPr>
          <p:cNvPr id="16" name="big-0">
            <a:extLst>
              <a:ext uri="{FF2B5EF4-FFF2-40B4-BE49-F238E27FC236}">
                <a16:creationId xmlns:a16="http://schemas.microsoft.com/office/drawing/2014/main" id="{39A94C2A-3151-FE2B-030E-6CC194333C9D}"/>
              </a:ext>
            </a:extLst>
          </p:cNvPr>
          <p:cNvSpPr/>
          <p:nvPr/>
        </p:nvSpPr>
        <p:spPr>
          <a:xfrm>
            <a:off x="8890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big-band-0">
            <a:extLst>
              <a:ext uri="{FF2B5EF4-FFF2-40B4-BE49-F238E27FC236}">
                <a16:creationId xmlns:a16="http://schemas.microsoft.com/office/drawing/2014/main" id="{14DB522F-D716-C6BF-F3A5-1209737DEB4F}"/>
              </a:ext>
            </a:extLst>
          </p:cNvPr>
          <p:cNvSpPr/>
          <p:nvPr/>
        </p:nvSpPr>
        <p:spPr>
          <a:xfrm>
            <a:off x="889000" y="2946400"/>
            <a:ext cx="3175000" cy="101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big-name-0">
            <a:extLst>
              <a:ext uri="{FF2B5EF4-FFF2-40B4-BE49-F238E27FC236}">
                <a16:creationId xmlns:a16="http://schemas.microsoft.com/office/drawing/2014/main" id="{D8F27965-BBFD-59BF-DEBD-A5DE86539F22}"/>
              </a:ext>
            </a:extLst>
          </p:cNvPr>
          <p:cNvSpPr txBox="1"/>
          <p:nvPr/>
        </p:nvSpPr>
        <p:spPr>
          <a:xfrm>
            <a:off x="1193800" y="3302000"/>
            <a:ext cx="1524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Benchmark</a:t>
            </a:r>
            <a:endParaRPr lang="zh-CN" altLang="en-US" sz="880" b="1">
              <a:solidFill>
                <a:srgbClr val="003B7A"/>
              </a:solidFill>
              <a:latin typeface="Aptos" panose="020B0004020202020204" pitchFamily="34" charset="0"/>
            </a:endParaRPr>
          </a:p>
        </p:txBody>
      </p:sp>
      <p:sp>
        <p:nvSpPr>
          <p:cNvPr id="19" name="big-val-0">
            <a:extLst>
              <a:ext uri="{FF2B5EF4-FFF2-40B4-BE49-F238E27FC236}">
                <a16:creationId xmlns:a16="http://schemas.microsoft.com/office/drawing/2014/main" id="{6B5C74A7-32DF-E924-41A0-071AF19C28B8}"/>
              </a:ext>
            </a:extLst>
          </p:cNvPr>
          <p:cNvSpPr txBox="1"/>
          <p:nvPr/>
        </p:nvSpPr>
        <p:spPr>
          <a:xfrm>
            <a:off x="11938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140/140</a:t>
            </a:r>
            <a:endParaRPr lang="zh-CN" altLang="en-US" sz="1900" b="1">
              <a:solidFill>
                <a:srgbClr val="071A3D"/>
              </a:solidFill>
              <a:latin typeface="Aptos" panose="020B0004020202020204" pitchFamily="34" charset="0"/>
            </a:endParaRPr>
          </a:p>
        </p:txBody>
      </p:sp>
      <p:sp>
        <p:nvSpPr>
          <p:cNvPr id="20" name="big-ok-0">
            <a:extLst>
              <a:ext uri="{FF2B5EF4-FFF2-40B4-BE49-F238E27FC236}">
                <a16:creationId xmlns:a16="http://schemas.microsoft.com/office/drawing/2014/main" id="{31A1B819-AE92-31B5-C1C8-95A0F20E001F}"/>
              </a:ext>
            </a:extLst>
          </p:cNvPr>
          <p:cNvSpPr txBox="1"/>
          <p:nvPr/>
        </p:nvSpPr>
        <p:spPr>
          <a:xfrm>
            <a:off x="11938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1" name="big-ok-t-0">
            <a:extLst>
              <a:ext uri="{FF2B5EF4-FFF2-40B4-BE49-F238E27FC236}">
                <a16:creationId xmlns:a16="http://schemas.microsoft.com/office/drawing/2014/main" id="{0F0C56FC-72AD-CFA3-6A7F-47F5CBE7506E}"/>
              </a:ext>
            </a:extLst>
          </p:cNvPr>
          <p:cNvSpPr txBox="1"/>
          <p:nvPr/>
        </p:nvSpPr>
        <p:spPr>
          <a:xfrm>
            <a:off x="19304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fixed denominator</a:t>
            </a:r>
            <a:endParaRPr lang="zh-CN" altLang="en-US" sz="720">
              <a:solidFill>
                <a:srgbClr val="071A3D"/>
              </a:solidFill>
              <a:latin typeface="Aptos" panose="020B0004020202020204" pitchFamily="34" charset="0"/>
            </a:endParaRPr>
          </a:p>
        </p:txBody>
      </p:sp>
      <p:sp>
        <p:nvSpPr>
          <p:cNvPr id="22" name="big-no-0">
            <a:extLst>
              <a:ext uri="{FF2B5EF4-FFF2-40B4-BE49-F238E27FC236}">
                <a16:creationId xmlns:a16="http://schemas.microsoft.com/office/drawing/2014/main" id="{7F8F8874-2B83-1881-822A-143225C6A563}"/>
              </a:ext>
            </a:extLst>
          </p:cNvPr>
          <p:cNvSpPr txBox="1"/>
          <p:nvPr/>
        </p:nvSpPr>
        <p:spPr>
          <a:xfrm>
            <a:off x="11938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23" name="big-no-t-0">
            <a:extLst>
              <a:ext uri="{FF2B5EF4-FFF2-40B4-BE49-F238E27FC236}">
                <a16:creationId xmlns:a16="http://schemas.microsoft.com/office/drawing/2014/main" id="{0288CCF1-94C7-CA50-F4F0-EFF70B183DF8}"/>
              </a:ext>
            </a:extLst>
          </p:cNvPr>
          <p:cNvSpPr txBox="1"/>
          <p:nvPr/>
        </p:nvSpPr>
        <p:spPr>
          <a:xfrm>
            <a:off x="19304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method success</a:t>
            </a:r>
            <a:endParaRPr lang="zh-CN" altLang="en-US" sz="720">
              <a:solidFill>
                <a:srgbClr val="071A3D"/>
              </a:solidFill>
              <a:latin typeface="Aptos" panose="020B0004020202020204" pitchFamily="34" charset="0"/>
            </a:endParaRPr>
          </a:p>
        </p:txBody>
      </p:sp>
      <p:sp>
        <p:nvSpPr>
          <p:cNvPr id="24" name="big-1">
            <a:extLst>
              <a:ext uri="{FF2B5EF4-FFF2-40B4-BE49-F238E27FC236}">
                <a16:creationId xmlns:a16="http://schemas.microsoft.com/office/drawing/2014/main" id="{072F743D-E369-DBDC-6628-5505A20EDB5B}"/>
              </a:ext>
            </a:extLst>
          </p:cNvPr>
          <p:cNvSpPr/>
          <p:nvPr/>
        </p:nvSpPr>
        <p:spPr>
          <a:xfrm>
            <a:off x="44704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big-band-1">
            <a:extLst>
              <a:ext uri="{FF2B5EF4-FFF2-40B4-BE49-F238E27FC236}">
                <a16:creationId xmlns:a16="http://schemas.microsoft.com/office/drawing/2014/main" id="{807B8908-D3E8-9E5C-C515-953B05EA2ACD}"/>
              </a:ext>
            </a:extLst>
          </p:cNvPr>
          <p:cNvSpPr/>
          <p:nvPr/>
        </p:nvSpPr>
        <p:spPr>
          <a:xfrm>
            <a:off x="4470400" y="2946400"/>
            <a:ext cx="3175000" cy="101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big-name-1">
            <a:extLst>
              <a:ext uri="{FF2B5EF4-FFF2-40B4-BE49-F238E27FC236}">
                <a16:creationId xmlns:a16="http://schemas.microsoft.com/office/drawing/2014/main" id="{572672D9-5F28-D8BC-0B5C-E0D0471E1C72}"/>
              </a:ext>
            </a:extLst>
          </p:cNvPr>
          <p:cNvSpPr txBox="1"/>
          <p:nvPr/>
        </p:nvSpPr>
        <p:spPr>
          <a:xfrm>
            <a:off x="4775200" y="3302000"/>
            <a:ext cx="1524000" cy="276999"/>
          </a:xfrm>
          <a:prstGeom prst="rect">
            <a:avLst/>
          </a:prstGeom>
          <a:noFill/>
        </p:spPr>
        <p:txBody>
          <a:bodyPr vert="horz" wrap="square" lIns="0" tIns="0" rIns="0" bIns="0" rtlCol="0">
            <a:noAutofit/>
          </a:bodyPr>
          <a:lstStyle/>
          <a:p>
            <a:r>
              <a:rPr lang="en-US" altLang="zh-CN" sz="880" b="1">
                <a:solidFill>
                  <a:srgbClr val="168E8B"/>
                </a:solidFill>
                <a:latin typeface="Aptos" panose="020B0004020202020204" pitchFamily="34" charset="0"/>
              </a:rPr>
              <a:t>SemCodebook</a:t>
            </a:r>
            <a:endParaRPr lang="zh-CN" altLang="en-US" sz="880" b="1">
              <a:solidFill>
                <a:srgbClr val="168E8B"/>
              </a:solidFill>
              <a:latin typeface="Aptos" panose="020B0004020202020204" pitchFamily="34" charset="0"/>
            </a:endParaRPr>
          </a:p>
        </p:txBody>
      </p:sp>
      <p:sp>
        <p:nvSpPr>
          <p:cNvPr id="27" name="big-val-1">
            <a:extLst>
              <a:ext uri="{FF2B5EF4-FFF2-40B4-BE49-F238E27FC236}">
                <a16:creationId xmlns:a16="http://schemas.microsoft.com/office/drawing/2014/main" id="{F600D62B-A4E3-8B5E-31AE-358570740812}"/>
              </a:ext>
            </a:extLst>
          </p:cNvPr>
          <p:cNvSpPr txBox="1"/>
          <p:nvPr/>
        </p:nvSpPr>
        <p:spPr>
          <a:xfrm>
            <a:off x="47752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23,342/24,000</a:t>
            </a:r>
            <a:endParaRPr lang="zh-CN" altLang="en-US" sz="1900" b="1">
              <a:solidFill>
                <a:srgbClr val="071A3D"/>
              </a:solidFill>
              <a:latin typeface="Aptos" panose="020B0004020202020204" pitchFamily="34" charset="0"/>
            </a:endParaRPr>
          </a:p>
        </p:txBody>
      </p:sp>
      <p:sp>
        <p:nvSpPr>
          <p:cNvPr id="28" name="big-ok-1">
            <a:extLst>
              <a:ext uri="{FF2B5EF4-FFF2-40B4-BE49-F238E27FC236}">
                <a16:creationId xmlns:a16="http://schemas.microsoft.com/office/drawing/2014/main" id="{2A4B6D6B-24C9-A3AC-2407-97215AF568E5}"/>
              </a:ext>
            </a:extLst>
          </p:cNvPr>
          <p:cNvSpPr txBox="1"/>
          <p:nvPr/>
        </p:nvSpPr>
        <p:spPr>
          <a:xfrm>
            <a:off x="47752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9" name="big-ok-t-1">
            <a:extLst>
              <a:ext uri="{FF2B5EF4-FFF2-40B4-BE49-F238E27FC236}">
                <a16:creationId xmlns:a16="http://schemas.microsoft.com/office/drawing/2014/main" id="{47EDF922-C70D-8063-AABE-85C8D67F516D}"/>
              </a:ext>
            </a:extLst>
          </p:cNvPr>
          <p:cNvSpPr txBox="1"/>
          <p:nvPr/>
        </p:nvSpPr>
        <p:spPr>
          <a:xfrm>
            <a:off x="55118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white-box provenance</a:t>
            </a:r>
            <a:endParaRPr lang="zh-CN" altLang="en-US" sz="720">
              <a:solidFill>
                <a:srgbClr val="071A3D"/>
              </a:solidFill>
              <a:latin typeface="Aptos" panose="020B0004020202020204" pitchFamily="34" charset="0"/>
            </a:endParaRPr>
          </a:p>
        </p:txBody>
      </p:sp>
      <p:sp>
        <p:nvSpPr>
          <p:cNvPr id="30" name="big-no-1">
            <a:extLst>
              <a:ext uri="{FF2B5EF4-FFF2-40B4-BE49-F238E27FC236}">
                <a16:creationId xmlns:a16="http://schemas.microsoft.com/office/drawing/2014/main" id="{F419AD57-046A-3E82-2B42-77EF18330909}"/>
              </a:ext>
            </a:extLst>
          </p:cNvPr>
          <p:cNvSpPr txBox="1"/>
          <p:nvPr/>
        </p:nvSpPr>
        <p:spPr>
          <a:xfrm>
            <a:off x="47752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1" name="big-no-t-1">
            <a:extLst>
              <a:ext uri="{FF2B5EF4-FFF2-40B4-BE49-F238E27FC236}">
                <a16:creationId xmlns:a16="http://schemas.microsoft.com/office/drawing/2014/main" id="{F1109115-2C95-CCB9-2F43-BAB08AF21D1D}"/>
              </a:ext>
            </a:extLst>
          </p:cNvPr>
          <p:cNvSpPr txBox="1"/>
          <p:nvPr/>
        </p:nvSpPr>
        <p:spPr>
          <a:xfrm>
            <a:off x="55118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universal watermarking</a:t>
            </a:r>
            <a:endParaRPr lang="zh-CN" altLang="en-US" sz="720">
              <a:solidFill>
                <a:srgbClr val="071A3D"/>
              </a:solidFill>
              <a:latin typeface="Aptos" panose="020B0004020202020204" pitchFamily="34" charset="0"/>
            </a:endParaRPr>
          </a:p>
        </p:txBody>
      </p:sp>
      <p:sp>
        <p:nvSpPr>
          <p:cNvPr id="32" name="big-2">
            <a:extLst>
              <a:ext uri="{FF2B5EF4-FFF2-40B4-BE49-F238E27FC236}">
                <a16:creationId xmlns:a16="http://schemas.microsoft.com/office/drawing/2014/main" id="{15FFDA8F-216F-59CA-ACDB-7A235329D153}"/>
              </a:ext>
            </a:extLst>
          </p:cNvPr>
          <p:cNvSpPr/>
          <p:nvPr/>
        </p:nvSpPr>
        <p:spPr>
          <a:xfrm>
            <a:off x="80518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big-band-2">
            <a:extLst>
              <a:ext uri="{FF2B5EF4-FFF2-40B4-BE49-F238E27FC236}">
                <a16:creationId xmlns:a16="http://schemas.microsoft.com/office/drawing/2014/main" id="{897FFE55-1911-9B43-C4EB-880E5FAA0C27}"/>
              </a:ext>
            </a:extLst>
          </p:cNvPr>
          <p:cNvSpPr/>
          <p:nvPr/>
        </p:nvSpPr>
        <p:spPr>
          <a:xfrm>
            <a:off x="8051800" y="2946400"/>
            <a:ext cx="3175000" cy="101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big-name-2">
            <a:extLst>
              <a:ext uri="{FF2B5EF4-FFF2-40B4-BE49-F238E27FC236}">
                <a16:creationId xmlns:a16="http://schemas.microsoft.com/office/drawing/2014/main" id="{6B52F3C7-C872-C468-10BD-522BC51DADB0}"/>
              </a:ext>
            </a:extLst>
          </p:cNvPr>
          <p:cNvSpPr txBox="1"/>
          <p:nvPr/>
        </p:nvSpPr>
        <p:spPr>
          <a:xfrm>
            <a:off x="8356600" y="3302000"/>
            <a:ext cx="1524000" cy="276999"/>
          </a:xfrm>
          <a:prstGeom prst="rect">
            <a:avLst/>
          </a:prstGeom>
          <a:noFill/>
        </p:spPr>
        <p:txBody>
          <a:bodyPr vert="horz" wrap="square" lIns="0" tIns="0" rIns="0" bIns="0" rtlCol="0">
            <a:noAutofit/>
          </a:bodyPr>
          <a:lstStyle/>
          <a:p>
            <a:r>
              <a:rPr lang="en-US" altLang="zh-CN" sz="880" b="1">
                <a:solidFill>
                  <a:srgbClr val="B85C00"/>
                </a:solidFill>
                <a:latin typeface="Aptos" panose="020B0004020202020204" pitchFamily="34" charset="0"/>
              </a:rPr>
              <a:t>ProbeTrace</a:t>
            </a:r>
            <a:endParaRPr lang="zh-CN" altLang="en-US" sz="880" b="1">
              <a:solidFill>
                <a:srgbClr val="B85C00"/>
              </a:solidFill>
              <a:latin typeface="Aptos" panose="020B0004020202020204" pitchFamily="34" charset="0"/>
            </a:endParaRPr>
          </a:p>
        </p:txBody>
      </p:sp>
      <p:sp>
        <p:nvSpPr>
          <p:cNvPr id="35" name="big-val-2">
            <a:extLst>
              <a:ext uri="{FF2B5EF4-FFF2-40B4-BE49-F238E27FC236}">
                <a16:creationId xmlns:a16="http://schemas.microsoft.com/office/drawing/2014/main" id="{F39BBC2A-160A-345E-3273-00FDEA1D64B3}"/>
              </a:ext>
            </a:extLst>
          </p:cNvPr>
          <p:cNvSpPr txBox="1"/>
          <p:nvPr/>
        </p:nvSpPr>
        <p:spPr>
          <a:xfrm>
            <a:off x="83566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300/300</a:t>
            </a:r>
            <a:endParaRPr lang="zh-CN" altLang="en-US" sz="1900" b="1">
              <a:solidFill>
                <a:srgbClr val="071A3D"/>
              </a:solidFill>
              <a:latin typeface="Aptos" panose="020B0004020202020204" pitchFamily="34" charset="0"/>
            </a:endParaRPr>
          </a:p>
        </p:txBody>
      </p:sp>
      <p:sp>
        <p:nvSpPr>
          <p:cNvPr id="36" name="big-ok-2">
            <a:extLst>
              <a:ext uri="{FF2B5EF4-FFF2-40B4-BE49-F238E27FC236}">
                <a16:creationId xmlns:a16="http://schemas.microsoft.com/office/drawing/2014/main" id="{D01FE246-CD84-1BB6-C776-3AD4F9C1ACC4}"/>
              </a:ext>
            </a:extLst>
          </p:cNvPr>
          <p:cNvSpPr txBox="1"/>
          <p:nvPr/>
        </p:nvSpPr>
        <p:spPr>
          <a:xfrm>
            <a:off x="83566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37" name="big-ok-t-2">
            <a:extLst>
              <a:ext uri="{FF2B5EF4-FFF2-40B4-BE49-F238E27FC236}">
                <a16:creationId xmlns:a16="http://schemas.microsoft.com/office/drawing/2014/main" id="{B65BBB00-43DE-1B72-5B62-BBA78DEEF49D}"/>
              </a:ext>
            </a:extLst>
          </p:cNvPr>
          <p:cNvSpPr txBox="1"/>
          <p:nvPr/>
        </p:nvSpPr>
        <p:spPr>
          <a:xfrm>
            <a:off x="90932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scoped owner attribution</a:t>
            </a:r>
            <a:endParaRPr lang="zh-CN" altLang="en-US" sz="720">
              <a:solidFill>
                <a:srgbClr val="071A3D"/>
              </a:solidFill>
              <a:latin typeface="Aptos" panose="020B0004020202020204" pitchFamily="34" charset="0"/>
            </a:endParaRPr>
          </a:p>
        </p:txBody>
      </p:sp>
      <p:sp>
        <p:nvSpPr>
          <p:cNvPr id="38" name="big-no-2">
            <a:extLst>
              <a:ext uri="{FF2B5EF4-FFF2-40B4-BE49-F238E27FC236}">
                <a16:creationId xmlns:a16="http://schemas.microsoft.com/office/drawing/2014/main" id="{1FAD44D3-4000-5440-5CE4-4D958A3F1D00}"/>
              </a:ext>
            </a:extLst>
          </p:cNvPr>
          <p:cNvSpPr txBox="1"/>
          <p:nvPr/>
        </p:nvSpPr>
        <p:spPr>
          <a:xfrm>
            <a:off x="83566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9" name="big-no-t-2">
            <a:extLst>
              <a:ext uri="{FF2B5EF4-FFF2-40B4-BE49-F238E27FC236}">
                <a16:creationId xmlns:a16="http://schemas.microsoft.com/office/drawing/2014/main" id="{0FF1D3B3-FD8F-C112-6520-AC3F838A091E}"/>
              </a:ext>
            </a:extLst>
          </p:cNvPr>
          <p:cNvSpPr txBox="1"/>
          <p:nvPr/>
        </p:nvSpPr>
        <p:spPr>
          <a:xfrm>
            <a:off x="90932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general ownership proof</a:t>
            </a:r>
            <a:endParaRPr lang="zh-CN" altLang="en-US" sz="720">
              <a:solidFill>
                <a:srgbClr val="071A3D"/>
              </a:solidFill>
              <a:latin typeface="Aptos" panose="020B0004020202020204" pitchFamily="34" charset="0"/>
            </a:endParaRPr>
          </a:p>
        </p:txBody>
      </p:sp>
      <p:sp>
        <p:nvSpPr>
          <p:cNvPr id="40" name="small-0">
            <a:extLst>
              <a:ext uri="{FF2B5EF4-FFF2-40B4-BE49-F238E27FC236}">
                <a16:creationId xmlns:a16="http://schemas.microsoft.com/office/drawing/2014/main" id="{0F256551-D36B-80CE-40E8-CC8E2B4599A7}"/>
              </a:ext>
            </a:extLst>
          </p:cNvPr>
          <p:cNvSpPr/>
          <p:nvPr/>
        </p:nvSpPr>
        <p:spPr>
          <a:xfrm>
            <a:off x="2133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mall-band-0">
            <a:extLst>
              <a:ext uri="{FF2B5EF4-FFF2-40B4-BE49-F238E27FC236}">
                <a16:creationId xmlns:a16="http://schemas.microsoft.com/office/drawing/2014/main" id="{B3E0DB1E-0C62-E118-CFD5-DB6A0ED6387F}"/>
              </a:ext>
            </a:extLst>
          </p:cNvPr>
          <p:cNvSpPr/>
          <p:nvPr/>
        </p:nvSpPr>
        <p:spPr>
          <a:xfrm>
            <a:off x="2133600" y="4876800"/>
            <a:ext cx="76200" cy="736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small-name-0">
            <a:extLst>
              <a:ext uri="{FF2B5EF4-FFF2-40B4-BE49-F238E27FC236}">
                <a16:creationId xmlns:a16="http://schemas.microsoft.com/office/drawing/2014/main" id="{B9A98B27-DC6E-098B-19D9-21BFFB55C32F}"/>
              </a:ext>
            </a:extLst>
          </p:cNvPr>
          <p:cNvSpPr txBox="1"/>
          <p:nvPr/>
        </p:nvSpPr>
        <p:spPr>
          <a:xfrm>
            <a:off x="2413000" y="5067300"/>
            <a:ext cx="1092200" cy="276999"/>
          </a:xfrm>
          <a:prstGeom prst="rect">
            <a:avLst/>
          </a:prstGeom>
          <a:noFill/>
        </p:spPr>
        <p:txBody>
          <a:bodyPr vert="horz" wrap="square" lIns="0" tIns="0" rIns="0" bIns="0" rtlCol="0">
            <a:noAutofit/>
          </a:bodyPr>
          <a:lstStyle/>
          <a:p>
            <a:r>
              <a:rPr lang="en-US" altLang="zh-CN" sz="780" b="1">
                <a:solidFill>
                  <a:srgbClr val="5B45C8"/>
                </a:solidFill>
                <a:latin typeface="Aptos" panose="020B0004020202020204" pitchFamily="34" charset="0"/>
              </a:rPr>
              <a:t>CodeDye</a:t>
            </a:r>
            <a:endParaRPr lang="zh-CN" altLang="en-US" sz="780" b="1">
              <a:solidFill>
                <a:srgbClr val="5B45C8"/>
              </a:solidFill>
              <a:latin typeface="Aptos" panose="020B0004020202020204" pitchFamily="34" charset="0"/>
            </a:endParaRPr>
          </a:p>
        </p:txBody>
      </p:sp>
      <p:sp>
        <p:nvSpPr>
          <p:cNvPr id="43" name="small-val-0">
            <a:extLst>
              <a:ext uri="{FF2B5EF4-FFF2-40B4-BE49-F238E27FC236}">
                <a16:creationId xmlns:a16="http://schemas.microsoft.com/office/drawing/2014/main" id="{0D739A1D-7F5D-24A7-20C8-FB1FC3BB28E5}"/>
              </a:ext>
            </a:extLst>
          </p:cNvPr>
          <p:cNvSpPr txBox="1"/>
          <p:nvPr/>
        </p:nvSpPr>
        <p:spPr>
          <a:xfrm>
            <a:off x="3632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6/300</a:t>
            </a:r>
            <a:endParaRPr lang="zh-CN" altLang="en-US" sz="1350" b="1">
              <a:solidFill>
                <a:srgbClr val="071A3D"/>
              </a:solidFill>
              <a:latin typeface="Aptos" panose="020B0004020202020204" pitchFamily="34" charset="0"/>
            </a:endParaRPr>
          </a:p>
        </p:txBody>
      </p:sp>
      <p:sp>
        <p:nvSpPr>
          <p:cNvPr id="44" name="small-desc-0">
            <a:extLst>
              <a:ext uri="{FF2B5EF4-FFF2-40B4-BE49-F238E27FC236}">
                <a16:creationId xmlns:a16="http://schemas.microsoft.com/office/drawing/2014/main" id="{25EDD332-4C64-646F-F8FB-469AB270F0F1}"/>
              </a:ext>
            </a:extLst>
          </p:cNvPr>
          <p:cNvSpPr txBox="1"/>
          <p:nvPr/>
        </p:nvSpPr>
        <p:spPr>
          <a:xfrm>
            <a:off x="2413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sparse live signal -&gt; null-audit evidence</a:t>
            </a:r>
            <a:endParaRPr lang="zh-CN" altLang="en-US" sz="640">
              <a:solidFill>
                <a:srgbClr val="4A5B78"/>
              </a:solidFill>
              <a:latin typeface="Aptos" panose="020B0004020202020204" pitchFamily="34" charset="0"/>
            </a:endParaRPr>
          </a:p>
        </p:txBody>
      </p:sp>
      <p:sp>
        <p:nvSpPr>
          <p:cNvPr id="45" name="small-1">
            <a:extLst>
              <a:ext uri="{FF2B5EF4-FFF2-40B4-BE49-F238E27FC236}">
                <a16:creationId xmlns:a16="http://schemas.microsoft.com/office/drawing/2014/main" id="{98326B3D-CA6C-A92F-7EF9-E5A0A50CD76C}"/>
              </a:ext>
            </a:extLst>
          </p:cNvPr>
          <p:cNvSpPr/>
          <p:nvPr/>
        </p:nvSpPr>
        <p:spPr>
          <a:xfrm>
            <a:off x="6705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small-band-1">
            <a:extLst>
              <a:ext uri="{FF2B5EF4-FFF2-40B4-BE49-F238E27FC236}">
                <a16:creationId xmlns:a16="http://schemas.microsoft.com/office/drawing/2014/main" id="{523C4143-BD26-64DD-AE74-9F3B0745A966}"/>
              </a:ext>
            </a:extLst>
          </p:cNvPr>
          <p:cNvSpPr/>
          <p:nvPr/>
        </p:nvSpPr>
        <p:spPr>
          <a:xfrm>
            <a:off x="6705600" y="4876800"/>
            <a:ext cx="76200" cy="736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mall-name-1">
            <a:extLst>
              <a:ext uri="{FF2B5EF4-FFF2-40B4-BE49-F238E27FC236}">
                <a16:creationId xmlns:a16="http://schemas.microsoft.com/office/drawing/2014/main" id="{C5C17BC7-FAD4-C7D0-B289-0D708C509E6F}"/>
              </a:ext>
            </a:extLst>
          </p:cNvPr>
          <p:cNvSpPr txBox="1"/>
          <p:nvPr/>
        </p:nvSpPr>
        <p:spPr>
          <a:xfrm>
            <a:off x="6985000" y="5067300"/>
            <a:ext cx="1092200" cy="276999"/>
          </a:xfrm>
          <a:prstGeom prst="rect">
            <a:avLst/>
          </a:prstGeom>
          <a:noFill/>
        </p:spPr>
        <p:txBody>
          <a:bodyPr vert="horz" wrap="square" lIns="0" tIns="0" rIns="0" bIns="0" rtlCol="0">
            <a:noAutofit/>
          </a:bodyPr>
          <a:lstStyle/>
          <a:p>
            <a:r>
              <a:rPr lang="en-US" altLang="zh-CN" sz="780" b="1">
                <a:solidFill>
                  <a:srgbClr val="1F7A4D"/>
                </a:solidFill>
                <a:latin typeface="Aptos" panose="020B0004020202020204" pitchFamily="34" charset="0"/>
              </a:rPr>
              <a:t>SealAudit</a:t>
            </a:r>
            <a:endParaRPr lang="zh-CN" altLang="en-US" sz="780" b="1">
              <a:solidFill>
                <a:srgbClr val="1F7A4D"/>
              </a:solidFill>
              <a:latin typeface="Aptos" panose="020B0004020202020204" pitchFamily="34" charset="0"/>
            </a:endParaRPr>
          </a:p>
        </p:txBody>
      </p:sp>
      <p:sp>
        <p:nvSpPr>
          <p:cNvPr id="48" name="small-val-1">
            <a:extLst>
              <a:ext uri="{FF2B5EF4-FFF2-40B4-BE49-F238E27FC236}">
                <a16:creationId xmlns:a16="http://schemas.microsoft.com/office/drawing/2014/main" id="{F6E2E338-BE30-3343-AB21-CDCE124DE9B2}"/>
              </a:ext>
            </a:extLst>
          </p:cNvPr>
          <p:cNvSpPr txBox="1"/>
          <p:nvPr/>
        </p:nvSpPr>
        <p:spPr>
          <a:xfrm>
            <a:off x="8204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81/960</a:t>
            </a:r>
            <a:endParaRPr lang="zh-CN" altLang="en-US" sz="1350" b="1">
              <a:solidFill>
                <a:srgbClr val="071A3D"/>
              </a:solidFill>
              <a:latin typeface="Aptos" panose="020B0004020202020204" pitchFamily="34" charset="0"/>
            </a:endParaRPr>
          </a:p>
        </p:txBody>
      </p:sp>
      <p:sp>
        <p:nvSpPr>
          <p:cNvPr id="49" name="small-desc-1">
            <a:extLst>
              <a:ext uri="{FF2B5EF4-FFF2-40B4-BE49-F238E27FC236}">
                <a16:creationId xmlns:a16="http://schemas.microsoft.com/office/drawing/2014/main" id="{46471CAD-5E52-136F-8652-453D20564C90}"/>
              </a:ext>
            </a:extLst>
          </p:cNvPr>
          <p:cNvSpPr txBox="1"/>
          <p:nvPr/>
        </p:nvSpPr>
        <p:spPr>
          <a:xfrm>
            <a:off x="6985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decisive triage rows -&gt; selective security triage</a:t>
            </a:r>
            <a:endParaRPr lang="zh-CN" altLang="en-US" sz="640">
              <a:solidFill>
                <a:srgbClr val="4A5B78"/>
              </a:solidFill>
              <a:latin typeface="Aptos" panose="020B0004020202020204" pitchFamily="34" charset="0"/>
            </a:endParaRPr>
          </a:p>
        </p:txBody>
      </p:sp>
      <p:sp>
        <p:nvSpPr>
          <p:cNvPr id="50" name="call">
            <a:extLst>
              <a:ext uri="{FF2B5EF4-FFF2-40B4-BE49-F238E27FC236}">
                <a16:creationId xmlns:a16="http://schemas.microsoft.com/office/drawing/2014/main" id="{8BC509D9-C332-1F7A-1999-44E83DBD95CE}"/>
              </a:ext>
            </a:extLst>
          </p:cNvPr>
          <p:cNvSpPr/>
          <p:nvPr/>
        </p:nvSpPr>
        <p:spPr>
          <a:xfrm>
            <a:off x="1981200" y="5816600"/>
            <a:ext cx="71882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call-t">
            <a:extLst>
              <a:ext uri="{FF2B5EF4-FFF2-40B4-BE49-F238E27FC236}">
                <a16:creationId xmlns:a16="http://schemas.microsoft.com/office/drawing/2014/main" id="{08EDD5D7-7901-C70C-C89C-3F110A79B78C}"/>
              </a:ext>
            </a:extLst>
          </p:cNvPr>
          <p:cNvSpPr txBox="1"/>
          <p:nvPr/>
        </p:nvSpPr>
        <p:spPr>
          <a:xfrm>
            <a:off x="2336800" y="5905500"/>
            <a:ext cx="6477000" cy="276999"/>
          </a:xfrm>
          <a:prstGeom prst="rect">
            <a:avLst/>
          </a:prstGeom>
          <a:noFill/>
        </p:spPr>
        <p:txBody>
          <a:bodyPr vert="horz" wrap="square" lIns="0" tIns="0" rIns="0" bIns="0" rtlCol="0">
            <a:noAutofit/>
          </a:bodyPr>
          <a:lstStyle/>
          <a:p>
            <a:r>
              <a:rPr lang="en-US" altLang="zh-CN" sz="750" b="1">
                <a:solidFill>
                  <a:srgbClr val="071A3D"/>
                </a:solidFill>
                <a:latin typeface="Aptos" panose="020B0004020202020204" pitchFamily="34" charset="0"/>
              </a:rPr>
              <a:t>Takeaway: strong claims are narrow; broad claims require new admitted evidence.</a:t>
            </a:r>
            <a:endParaRPr lang="zh-CN" altLang="en-US" sz="750" b="1">
              <a:solidFill>
                <a:srgbClr val="071A3D"/>
              </a:solidFill>
              <a:latin typeface="Aptos" panose="020B0004020202020204" pitchFamily="34" charset="0"/>
            </a:endParaRPr>
          </a:p>
        </p:txBody>
      </p:sp>
      <p:sp>
        <p:nvSpPr>
          <p:cNvPr id="52" name="footer-hit-7">
            <a:hlinkClick r:id="rId4"/>
            <a:extLst>
              <a:ext uri="{FF2B5EF4-FFF2-40B4-BE49-F238E27FC236}">
                <a16:creationId xmlns:a16="http://schemas.microsoft.com/office/drawing/2014/main" id="{00C85BC2-4699-57A3-0BB7-4FDE4B6BDC1C}"/>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3211124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160"/>
                                        <p:tgtEl>
                                          <p:spTgt spid="50"/>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16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C06CFB9-E656-DE25-D18D-5130ECAE590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A716F60-1AF8-AE97-69A3-3FC6084975CE}"/>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4278F670-B5CE-34F6-0E76-D93ADDEC13BC}"/>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9633F2FD-493C-C006-3D68-CABE4BFABE34}"/>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INTERPRETATION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05404F5C-7572-871D-C731-CDE95679C93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08</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DD3A9409-AA96-757B-EF0D-49A061376E5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67594E9-FC9F-D0B9-E4D0-C085150FE6B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7BE04FA0-6A1F-9AFB-F0CE-59E1A2233C5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70C85664-1C45-E019-84F7-249FC2B754A9}"/>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Abstention is a result when evidence is insufficient.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99139DB-8780-902A-135F-AA841DE4C7D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conservative modules are designed to say exactly where a broad claim should stop.</a:t>
            </a:r>
            <a:endParaRPr lang="zh-CN" altLang="en-US" sz="930">
              <a:solidFill>
                <a:srgbClr val="4A5B78"/>
              </a:solidFill>
              <a:latin typeface="Aptos" panose="020B0004020202020204" pitchFamily="34" charset="0"/>
            </a:endParaRPr>
          </a:p>
        </p:txBody>
      </p:sp>
      <p:sp>
        <p:nvSpPr>
          <p:cNvPr id="13" name="left">
            <a:extLst>
              <a:ext uri="{FF2B5EF4-FFF2-40B4-BE49-F238E27FC236}">
                <a16:creationId xmlns:a16="http://schemas.microsoft.com/office/drawing/2014/main" id="{3C735613-5075-01AB-AB42-D73BED2E83D1}"/>
              </a:ext>
            </a:extLst>
          </p:cNvPr>
          <p:cNvSpPr/>
          <p:nvPr/>
        </p:nvSpPr>
        <p:spPr>
          <a:xfrm>
            <a:off x="9906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band">
            <a:extLst>
              <a:ext uri="{FF2B5EF4-FFF2-40B4-BE49-F238E27FC236}">
                <a16:creationId xmlns:a16="http://schemas.microsoft.com/office/drawing/2014/main" id="{DB5C0AED-9462-D127-53FA-99C713B33536}"/>
              </a:ext>
            </a:extLst>
          </p:cNvPr>
          <p:cNvSpPr/>
          <p:nvPr/>
        </p:nvSpPr>
        <p:spPr>
          <a:xfrm>
            <a:off x="990600" y="2082800"/>
            <a:ext cx="4775200" cy="101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left-k">
            <a:extLst>
              <a:ext uri="{FF2B5EF4-FFF2-40B4-BE49-F238E27FC236}">
                <a16:creationId xmlns:a16="http://schemas.microsoft.com/office/drawing/2014/main" id="{6CABF18A-8ED7-B418-0438-F83DEDC80627}"/>
              </a:ext>
            </a:extLst>
          </p:cNvPr>
          <p:cNvSpPr txBox="1"/>
          <p:nvPr/>
        </p:nvSpPr>
        <p:spPr>
          <a:xfrm>
            <a:off x="1422400" y="2489200"/>
            <a:ext cx="1778000" cy="276999"/>
          </a:xfrm>
          <a:prstGeom prst="rect">
            <a:avLst/>
          </a:prstGeom>
          <a:noFill/>
        </p:spPr>
        <p:txBody>
          <a:bodyPr vert="horz" wrap="square" lIns="0" tIns="0" rIns="0" bIns="0" rtlCol="0">
            <a:noAutofit/>
          </a:bodyPr>
          <a:lstStyle/>
          <a:p>
            <a:r>
              <a:rPr lang="en-US" altLang="zh-CN" sz="880" b="1">
                <a:solidFill>
                  <a:srgbClr val="5B45C8"/>
                </a:solidFill>
                <a:latin typeface="Aptos" panose="020B0004020202020204" pitchFamily="34" charset="0"/>
              </a:rPr>
              <a:t>CodeDye black-box audit</a:t>
            </a:r>
            <a:endParaRPr lang="zh-CN" altLang="en-US" sz="880" b="1">
              <a:solidFill>
                <a:srgbClr val="5B45C8"/>
              </a:solidFill>
              <a:latin typeface="Aptos" panose="020B0004020202020204" pitchFamily="34" charset="0"/>
            </a:endParaRPr>
          </a:p>
        </p:txBody>
      </p:sp>
      <p:sp>
        <p:nvSpPr>
          <p:cNvPr id="16" name="left-v">
            <a:extLst>
              <a:ext uri="{FF2B5EF4-FFF2-40B4-BE49-F238E27FC236}">
                <a16:creationId xmlns:a16="http://schemas.microsoft.com/office/drawing/2014/main" id="{C9B9166E-4D62-8AD0-2072-6178147AD443}"/>
              </a:ext>
            </a:extLst>
          </p:cNvPr>
          <p:cNvSpPr txBox="1"/>
          <p:nvPr/>
        </p:nvSpPr>
        <p:spPr>
          <a:xfrm>
            <a:off x="14224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6 / 300</a:t>
            </a:r>
            <a:endParaRPr lang="zh-CN" altLang="en-US" sz="2900" b="1">
              <a:solidFill>
                <a:srgbClr val="071A3D"/>
              </a:solidFill>
              <a:latin typeface="Aptos" panose="020B0004020202020204" pitchFamily="34" charset="0"/>
            </a:endParaRPr>
          </a:p>
        </p:txBody>
      </p:sp>
      <p:sp>
        <p:nvSpPr>
          <p:cNvPr id="17" name="left-s">
            <a:extLst>
              <a:ext uri="{FF2B5EF4-FFF2-40B4-BE49-F238E27FC236}">
                <a16:creationId xmlns:a16="http://schemas.microsoft.com/office/drawing/2014/main" id="{D0C76449-C5EF-C02D-AC23-6642A3368B81}"/>
              </a:ext>
            </a:extLst>
          </p:cNvPr>
          <p:cNvSpPr txBox="1"/>
          <p:nvPr/>
        </p:nvSpPr>
        <p:spPr>
          <a:xfrm>
            <a:off x="3276600" y="3073400"/>
            <a:ext cx="16256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sparse live signals</a:t>
            </a:r>
            <a:endParaRPr lang="zh-CN" altLang="en-US" sz="960" b="1">
              <a:solidFill>
                <a:srgbClr val="4A5B78"/>
              </a:solidFill>
              <a:latin typeface="Aptos" panose="020B0004020202020204" pitchFamily="34" charset="0"/>
            </a:endParaRPr>
          </a:p>
        </p:txBody>
      </p:sp>
      <p:cxnSp>
        <p:nvCxnSpPr>
          <p:cNvPr id="18" name="left-rule">
            <a:extLst>
              <a:ext uri="{FF2B5EF4-FFF2-40B4-BE49-F238E27FC236}">
                <a16:creationId xmlns:a16="http://schemas.microsoft.com/office/drawing/2014/main" id="{49D18402-5F26-D3B9-6A59-6744188EBE68}"/>
              </a:ext>
            </a:extLst>
          </p:cNvPr>
          <p:cNvCxnSpPr/>
          <p:nvPr/>
        </p:nvCxnSpPr>
        <p:spPr>
          <a:xfrm>
            <a:off x="14224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left-a">
            <a:extLst>
              <a:ext uri="{FF2B5EF4-FFF2-40B4-BE49-F238E27FC236}">
                <a16:creationId xmlns:a16="http://schemas.microsoft.com/office/drawing/2014/main" id="{2118C997-C558-A1B5-C0F0-052D7A0842EF}"/>
              </a:ext>
            </a:extLst>
          </p:cNvPr>
          <p:cNvSpPr txBox="1"/>
          <p:nvPr/>
        </p:nvSpPr>
        <p:spPr>
          <a:xfrm>
            <a:off x="14224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20" name="left-at">
            <a:extLst>
              <a:ext uri="{FF2B5EF4-FFF2-40B4-BE49-F238E27FC236}">
                <a16:creationId xmlns:a16="http://schemas.microsoft.com/office/drawing/2014/main" id="{C70A7102-70BE-BC18-3EAE-F6710E30AB56}"/>
              </a:ext>
            </a:extLst>
          </p:cNvPr>
          <p:cNvSpPr txBox="1"/>
          <p:nvPr/>
        </p:nvSpPr>
        <p:spPr>
          <a:xfrm>
            <a:off x="23368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controlled null-audit evidence</a:t>
            </a:r>
            <a:endParaRPr lang="zh-CN" altLang="en-US" sz="810">
              <a:solidFill>
                <a:srgbClr val="071A3D"/>
              </a:solidFill>
              <a:latin typeface="Aptos" panose="020B0004020202020204" pitchFamily="34" charset="0"/>
            </a:endParaRPr>
          </a:p>
        </p:txBody>
      </p:sp>
      <p:sp>
        <p:nvSpPr>
          <p:cNvPr id="21" name="left-b">
            <a:extLst>
              <a:ext uri="{FF2B5EF4-FFF2-40B4-BE49-F238E27FC236}">
                <a16:creationId xmlns:a16="http://schemas.microsoft.com/office/drawing/2014/main" id="{37D75C8C-78CC-C425-EB6B-AF4F48D700C7}"/>
              </a:ext>
            </a:extLst>
          </p:cNvPr>
          <p:cNvSpPr txBox="1"/>
          <p:nvPr/>
        </p:nvSpPr>
        <p:spPr>
          <a:xfrm>
            <a:off x="14224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22" name="left-bt">
            <a:extLst>
              <a:ext uri="{FF2B5EF4-FFF2-40B4-BE49-F238E27FC236}">
                <a16:creationId xmlns:a16="http://schemas.microsoft.com/office/drawing/2014/main" id="{E0FE634A-1893-1821-3A1B-5045840CF8A5}"/>
              </a:ext>
            </a:extLst>
          </p:cNvPr>
          <p:cNvSpPr txBox="1"/>
          <p:nvPr/>
        </p:nvSpPr>
        <p:spPr>
          <a:xfrm>
            <a:off x="23368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provider contamination accusation</a:t>
            </a:r>
            <a:endParaRPr lang="zh-CN" altLang="en-US" sz="810">
              <a:solidFill>
                <a:srgbClr val="071A3D"/>
              </a:solidFill>
              <a:latin typeface="Aptos" panose="020B0004020202020204" pitchFamily="34" charset="0"/>
            </a:endParaRPr>
          </a:p>
        </p:txBody>
      </p:sp>
      <p:sp>
        <p:nvSpPr>
          <p:cNvPr id="23" name="right">
            <a:extLst>
              <a:ext uri="{FF2B5EF4-FFF2-40B4-BE49-F238E27FC236}">
                <a16:creationId xmlns:a16="http://schemas.microsoft.com/office/drawing/2014/main" id="{0CA0372F-CF84-B50B-50D9-38FD6FC2330D}"/>
              </a:ext>
            </a:extLst>
          </p:cNvPr>
          <p:cNvSpPr/>
          <p:nvPr/>
        </p:nvSpPr>
        <p:spPr>
          <a:xfrm>
            <a:off x="64262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ight-band">
            <a:extLst>
              <a:ext uri="{FF2B5EF4-FFF2-40B4-BE49-F238E27FC236}">
                <a16:creationId xmlns:a16="http://schemas.microsoft.com/office/drawing/2014/main" id="{204C0195-9AA9-CDD2-B133-56D8B045AEE2}"/>
              </a:ext>
            </a:extLst>
          </p:cNvPr>
          <p:cNvSpPr/>
          <p:nvPr/>
        </p:nvSpPr>
        <p:spPr>
          <a:xfrm>
            <a:off x="6426200" y="2082800"/>
            <a:ext cx="47752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ight-k">
            <a:extLst>
              <a:ext uri="{FF2B5EF4-FFF2-40B4-BE49-F238E27FC236}">
                <a16:creationId xmlns:a16="http://schemas.microsoft.com/office/drawing/2014/main" id="{BE02F707-0F7D-CE2F-3229-05FDB9CBCF32}"/>
              </a:ext>
            </a:extLst>
          </p:cNvPr>
          <p:cNvSpPr txBox="1"/>
          <p:nvPr/>
        </p:nvSpPr>
        <p:spPr>
          <a:xfrm>
            <a:off x="6858000" y="2489200"/>
            <a:ext cx="1778000" cy="276999"/>
          </a:xfrm>
          <a:prstGeom prst="rect">
            <a:avLst/>
          </a:prstGeom>
          <a:noFill/>
        </p:spPr>
        <p:txBody>
          <a:bodyPr vert="horz" wrap="square" lIns="0" tIns="0" rIns="0" bIns="0" rtlCol="0">
            <a:noAutofit/>
          </a:bodyPr>
          <a:lstStyle/>
          <a:p>
            <a:r>
              <a:rPr lang="en-US" altLang="zh-CN" sz="880" b="1">
                <a:solidFill>
                  <a:srgbClr val="1F7A4D"/>
                </a:solidFill>
                <a:latin typeface="Aptos" panose="020B0004020202020204" pitchFamily="34" charset="0"/>
              </a:rPr>
              <a:t>SealAudit security triage</a:t>
            </a:r>
            <a:endParaRPr lang="zh-CN" altLang="en-US" sz="880" b="1">
              <a:solidFill>
                <a:srgbClr val="1F7A4D"/>
              </a:solidFill>
              <a:latin typeface="Aptos" panose="020B0004020202020204" pitchFamily="34" charset="0"/>
            </a:endParaRPr>
          </a:p>
        </p:txBody>
      </p:sp>
      <p:sp>
        <p:nvSpPr>
          <p:cNvPr id="26" name="right-v">
            <a:extLst>
              <a:ext uri="{FF2B5EF4-FFF2-40B4-BE49-F238E27FC236}">
                <a16:creationId xmlns:a16="http://schemas.microsoft.com/office/drawing/2014/main" id="{72372B50-9678-A45B-5AB3-7D2FA46D3020}"/>
              </a:ext>
            </a:extLst>
          </p:cNvPr>
          <p:cNvSpPr txBox="1"/>
          <p:nvPr/>
        </p:nvSpPr>
        <p:spPr>
          <a:xfrm>
            <a:off x="68580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81 / 960</a:t>
            </a:r>
            <a:endParaRPr lang="zh-CN" altLang="en-US" sz="2900" b="1">
              <a:solidFill>
                <a:srgbClr val="071A3D"/>
              </a:solidFill>
              <a:latin typeface="Aptos" panose="020B0004020202020204" pitchFamily="34" charset="0"/>
            </a:endParaRPr>
          </a:p>
        </p:txBody>
      </p:sp>
      <p:sp>
        <p:nvSpPr>
          <p:cNvPr id="27" name="right-s">
            <a:extLst>
              <a:ext uri="{FF2B5EF4-FFF2-40B4-BE49-F238E27FC236}">
                <a16:creationId xmlns:a16="http://schemas.microsoft.com/office/drawing/2014/main" id="{03333CDB-7F2A-9F46-1EF2-D1E8376F6220}"/>
              </a:ext>
            </a:extLst>
          </p:cNvPr>
          <p:cNvSpPr txBox="1"/>
          <p:nvPr/>
        </p:nvSpPr>
        <p:spPr>
          <a:xfrm>
            <a:off x="8864600" y="3073400"/>
            <a:ext cx="16510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decisive triage rows</a:t>
            </a:r>
            <a:endParaRPr lang="zh-CN" altLang="en-US" sz="960" b="1">
              <a:solidFill>
                <a:srgbClr val="4A5B78"/>
              </a:solidFill>
              <a:latin typeface="Aptos" panose="020B0004020202020204" pitchFamily="34" charset="0"/>
            </a:endParaRPr>
          </a:p>
        </p:txBody>
      </p:sp>
      <p:cxnSp>
        <p:nvCxnSpPr>
          <p:cNvPr id="28" name="right-rule">
            <a:extLst>
              <a:ext uri="{FF2B5EF4-FFF2-40B4-BE49-F238E27FC236}">
                <a16:creationId xmlns:a16="http://schemas.microsoft.com/office/drawing/2014/main" id="{DB2B72D5-D527-33A1-1DDC-E4DE0BC6ACBB}"/>
              </a:ext>
            </a:extLst>
          </p:cNvPr>
          <p:cNvCxnSpPr/>
          <p:nvPr/>
        </p:nvCxnSpPr>
        <p:spPr>
          <a:xfrm>
            <a:off x="68580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29" name="right-a">
            <a:extLst>
              <a:ext uri="{FF2B5EF4-FFF2-40B4-BE49-F238E27FC236}">
                <a16:creationId xmlns:a16="http://schemas.microsoft.com/office/drawing/2014/main" id="{526DF217-BD08-38C6-9C21-897E9C506A57}"/>
              </a:ext>
            </a:extLst>
          </p:cNvPr>
          <p:cNvSpPr txBox="1"/>
          <p:nvPr/>
        </p:nvSpPr>
        <p:spPr>
          <a:xfrm>
            <a:off x="68580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30" name="right-at">
            <a:extLst>
              <a:ext uri="{FF2B5EF4-FFF2-40B4-BE49-F238E27FC236}">
                <a16:creationId xmlns:a16="http://schemas.microsoft.com/office/drawing/2014/main" id="{D0BB88EE-E71B-E7F1-5879-6A949E8982EF}"/>
              </a:ext>
            </a:extLst>
          </p:cNvPr>
          <p:cNvSpPr txBox="1"/>
          <p:nvPr/>
        </p:nvSpPr>
        <p:spPr>
          <a:xfrm>
            <a:off x="77724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selective risk triage</a:t>
            </a:r>
            <a:endParaRPr lang="zh-CN" altLang="en-US" sz="810">
              <a:solidFill>
                <a:srgbClr val="071A3D"/>
              </a:solidFill>
              <a:latin typeface="Aptos" panose="020B0004020202020204" pitchFamily="34" charset="0"/>
            </a:endParaRPr>
          </a:p>
        </p:txBody>
      </p:sp>
      <p:sp>
        <p:nvSpPr>
          <p:cNvPr id="31" name="right-b">
            <a:extLst>
              <a:ext uri="{FF2B5EF4-FFF2-40B4-BE49-F238E27FC236}">
                <a16:creationId xmlns:a16="http://schemas.microsoft.com/office/drawing/2014/main" id="{B4EBFD85-0005-742B-8F75-6CBCDBDCDF49}"/>
              </a:ext>
            </a:extLst>
          </p:cNvPr>
          <p:cNvSpPr txBox="1"/>
          <p:nvPr/>
        </p:nvSpPr>
        <p:spPr>
          <a:xfrm>
            <a:off x="68580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32" name="right-bt">
            <a:extLst>
              <a:ext uri="{FF2B5EF4-FFF2-40B4-BE49-F238E27FC236}">
                <a16:creationId xmlns:a16="http://schemas.microsoft.com/office/drawing/2014/main" id="{30BF6E95-258D-51BD-CA8D-B2681244F3A5}"/>
              </a:ext>
            </a:extLst>
          </p:cNvPr>
          <p:cNvSpPr txBox="1"/>
          <p:nvPr/>
        </p:nvSpPr>
        <p:spPr>
          <a:xfrm>
            <a:off x="77724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general safety certificate</a:t>
            </a:r>
            <a:endParaRPr lang="zh-CN" altLang="en-US" sz="810">
              <a:solidFill>
                <a:srgbClr val="071A3D"/>
              </a:solidFill>
              <a:latin typeface="Aptos" panose="020B0004020202020204" pitchFamily="34" charset="0"/>
            </a:endParaRPr>
          </a:p>
        </p:txBody>
      </p:sp>
      <p:sp>
        <p:nvSpPr>
          <p:cNvPr id="33" name="rule">
            <a:extLst>
              <a:ext uri="{FF2B5EF4-FFF2-40B4-BE49-F238E27FC236}">
                <a16:creationId xmlns:a16="http://schemas.microsoft.com/office/drawing/2014/main" id="{C0AE421D-6ACC-3FF9-CC9B-C31F5843D384}"/>
              </a:ext>
            </a:extLst>
          </p:cNvPr>
          <p:cNvSpPr/>
          <p:nvPr/>
        </p:nvSpPr>
        <p:spPr>
          <a:xfrm>
            <a:off x="2108200" y="5511800"/>
            <a:ext cx="7975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ule-t">
            <a:extLst>
              <a:ext uri="{FF2B5EF4-FFF2-40B4-BE49-F238E27FC236}">
                <a16:creationId xmlns:a16="http://schemas.microsoft.com/office/drawing/2014/main" id="{C0119D2C-9A8A-553D-90F0-ADD1CC410B8B}"/>
              </a:ext>
            </a:extLst>
          </p:cNvPr>
          <p:cNvSpPr txBox="1"/>
          <p:nvPr/>
        </p:nvSpPr>
        <p:spPr>
          <a:xfrm>
            <a:off x="2489200" y="5638800"/>
            <a:ext cx="72136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A narrow claim with clear controls is better than a broad claim without evidence.</a:t>
            </a:r>
            <a:endParaRPr lang="zh-CN" altLang="en-US" sz="820" b="1">
              <a:solidFill>
                <a:srgbClr val="071A3D"/>
              </a:solidFill>
              <a:latin typeface="Aptos" panose="020B0004020202020204" pitchFamily="34" charset="0"/>
            </a:endParaRPr>
          </a:p>
        </p:txBody>
      </p:sp>
      <p:sp>
        <p:nvSpPr>
          <p:cNvPr id="35" name="footer-hit-8">
            <a:hlinkClick r:id="rId4"/>
            <a:extLst>
              <a:ext uri="{FF2B5EF4-FFF2-40B4-BE49-F238E27FC236}">
                <a16:creationId xmlns:a16="http://schemas.microsoft.com/office/drawing/2014/main" id="{BE66F7DF-1713-5DD1-5BF3-58635732F162}"/>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623505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9" grpId="0"/>
      <p:bldP spid="20" grpId="0"/>
      <p:bldP spid="21" grpId="0"/>
      <p:bldP spid="22" grpId="0"/>
      <p:bldP spid="23" grpId="0" animBg="1"/>
      <p:bldP spid="24" grpId="0" animBg="1"/>
      <p:bldP spid="25" grpId="0"/>
      <p:bldP spid="26" grpId="0"/>
      <p:bldP spid="27" grpId="0"/>
      <p:bldP spid="29" grpId="0"/>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EC884958-D784-7AA2-3FEB-5397C2408DE8}"/>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C2366C06-785A-AFE0-A6D7-BA5445E56E4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5841559C-5505-DD49-6873-1D9DC68A1C3D}"/>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C4A822A7-95F7-A9EE-282D-5C44ABA43B1E}"/>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1</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B655DF8D-134C-45DD-4501-A6CEF0272C1C}"/>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09</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95A3E871-E44A-0A78-91CA-0825240E851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379F0B43-06A7-46C4-0784-9A2788ABE63A}"/>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9C78E65E-49F2-83BF-BC54-B6DFAE3B0CC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B6D2E356-B0C1-EB63-A72A-24A637AFAF6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demo shows inspectability, not a new experiment.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F54AE880-03DA-89D0-2D3A-B80208A4DFE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route is fixed: project page -&gt; repository -&gt; claim boundary -&gt; manifest -&gt; evidence file.</a:t>
            </a:r>
            <a:endParaRPr lang="zh-CN" altLang="en-US" sz="930">
              <a:solidFill>
                <a:srgbClr val="4A5B78"/>
              </a:solidFill>
              <a:latin typeface="Aptos" panose="020B0004020202020204" pitchFamily="34" charset="0"/>
            </a:endParaRPr>
          </a:p>
        </p:txBody>
      </p:sp>
      <p:sp>
        <p:nvSpPr>
          <p:cNvPr id="13" name="shot-frame">
            <a:extLst>
              <a:ext uri="{FF2B5EF4-FFF2-40B4-BE49-F238E27FC236}">
                <a16:creationId xmlns:a16="http://schemas.microsoft.com/office/drawing/2014/main" id="{FF26A57B-3B5B-8D10-2508-208D5D806D93}"/>
              </a:ext>
            </a:extLst>
          </p:cNvPr>
          <p:cNvSpPr/>
          <p:nvPr/>
        </p:nvSpPr>
        <p:spPr>
          <a:xfrm>
            <a:off x="736600" y="1981200"/>
            <a:ext cx="7416800" cy="3251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project-page">
            <a:extLst>
              <a:ext uri="{FF2B5EF4-FFF2-40B4-BE49-F238E27FC236}">
                <a16:creationId xmlns:a16="http://schemas.microsoft.com/office/drawing/2014/main" id="{63702298-3E5B-2D5C-E7D2-EBE1CEF46FE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684834" y="2209800"/>
            <a:ext cx="5520333" cy="2514600"/>
          </a:xfrm>
          <a:prstGeom prst="rect">
            <a:avLst/>
          </a:prstGeom>
          <a:ln w="10160">
            <a:solidFill>
              <a:srgbClr val="1F3756"/>
            </a:solidFill>
          </a:ln>
        </p:spPr>
      </p:pic>
      <p:sp>
        <p:nvSpPr>
          <p:cNvPr id="16" name="demo-under">
            <a:extLst>
              <a:ext uri="{FF2B5EF4-FFF2-40B4-BE49-F238E27FC236}">
                <a16:creationId xmlns:a16="http://schemas.microsoft.com/office/drawing/2014/main" id="{5256E86E-70B7-A9FF-9D82-E4D1AEDB5351}"/>
              </a:ext>
            </a:extLst>
          </p:cNvPr>
          <p:cNvSpPr/>
          <p:nvPr/>
        </p:nvSpPr>
        <p:spPr>
          <a:xfrm>
            <a:off x="965200" y="4851400"/>
            <a:ext cx="6959600" cy="279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mo-under-t">
            <a:extLst>
              <a:ext uri="{FF2B5EF4-FFF2-40B4-BE49-F238E27FC236}">
                <a16:creationId xmlns:a16="http://schemas.microsoft.com/office/drawing/2014/main" id="{86CFA4D0-D7A8-A216-BEBF-F4EBE12DD64B}"/>
              </a:ext>
            </a:extLst>
          </p:cNvPr>
          <p:cNvSpPr txBox="1"/>
          <p:nvPr/>
        </p:nvSpPr>
        <p:spPr>
          <a:xfrm>
            <a:off x="1244600" y="4940300"/>
            <a:ext cx="4572000" cy="276999"/>
          </a:xfrm>
          <a:prstGeom prst="rect">
            <a:avLst/>
          </a:prstGeom>
          <a:noFill/>
        </p:spPr>
        <p:txBody>
          <a:bodyPr vert="horz" wrap="square" lIns="0" tIns="0" rIns="0" bIns="0" rtlCol="0">
            <a:noAutofit/>
          </a:bodyPr>
          <a:lstStyle/>
          <a:p>
            <a:r>
              <a:rPr lang="en-US" altLang="zh-CN" sz="680" b="1">
                <a:solidFill>
                  <a:srgbClr val="FFFFFF"/>
                </a:solidFill>
                <a:latin typeface="Aptos" panose="020B0004020202020204" pitchFamily="34" charset="0"/>
              </a:rPr>
              <a:t>inspectable route, not a live rerun</a:t>
            </a:r>
            <a:endParaRPr lang="zh-CN" altLang="en-US" sz="680" b="1">
              <a:solidFill>
                <a:srgbClr val="FFFFFF"/>
              </a:solidFill>
              <a:latin typeface="Aptos" panose="020B0004020202020204" pitchFamily="34" charset="0"/>
            </a:endParaRPr>
          </a:p>
        </p:txBody>
      </p:sp>
      <p:sp>
        <p:nvSpPr>
          <p:cNvPr id="18" name="demo-page-link">
            <a:hlinkClick r:id="rId5"/>
            <a:extLst>
              <a:ext uri="{FF2B5EF4-FFF2-40B4-BE49-F238E27FC236}">
                <a16:creationId xmlns:a16="http://schemas.microsoft.com/office/drawing/2014/main" id="{93936389-43FF-524D-1A9C-7B698F8E039D}"/>
              </a:ext>
            </a:extLst>
          </p:cNvPr>
          <p:cNvSpPr/>
          <p:nvPr/>
        </p:nvSpPr>
        <p:spPr>
          <a:xfrm>
            <a:off x="6248400" y="4851400"/>
            <a:ext cx="1397000" cy="279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page</a:t>
            </a:r>
            <a:endParaRPr lang="zh-CN" altLang="en-US" sz="760" b="1">
              <a:solidFill>
                <a:srgbClr val="003B7A"/>
              </a:solidFill>
              <a:latin typeface="Aptos" panose="020B0004020202020204" pitchFamily="34" charset="0"/>
            </a:endParaRPr>
          </a:p>
        </p:txBody>
      </p:sp>
      <p:sp>
        <p:nvSpPr>
          <p:cNvPr id="19" name="route">
            <a:extLst>
              <a:ext uri="{FF2B5EF4-FFF2-40B4-BE49-F238E27FC236}">
                <a16:creationId xmlns:a16="http://schemas.microsoft.com/office/drawing/2014/main" id="{D4583347-49AD-DFAD-036F-7EAAD5B82724}"/>
              </a:ext>
            </a:extLst>
          </p:cNvPr>
          <p:cNvSpPr/>
          <p:nvPr/>
        </p:nvSpPr>
        <p:spPr>
          <a:xfrm>
            <a:off x="8763000" y="1981200"/>
            <a:ext cx="2667000" cy="3251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ute-k">
            <a:extLst>
              <a:ext uri="{FF2B5EF4-FFF2-40B4-BE49-F238E27FC236}">
                <a16:creationId xmlns:a16="http://schemas.microsoft.com/office/drawing/2014/main" id="{BE58C80B-3C9F-6E03-DFCD-FC4F9F66F16C}"/>
              </a:ext>
            </a:extLst>
          </p:cNvPr>
          <p:cNvSpPr txBox="1"/>
          <p:nvPr/>
        </p:nvSpPr>
        <p:spPr>
          <a:xfrm>
            <a:off x="9118600" y="2260600"/>
            <a:ext cx="16002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walkthrough route</a:t>
            </a:r>
            <a:endParaRPr lang="zh-CN" altLang="en-US" sz="770" b="1">
              <a:solidFill>
                <a:srgbClr val="CDE2FA"/>
              </a:solidFill>
              <a:latin typeface="Aptos" panose="020B0004020202020204" pitchFamily="34" charset="0"/>
            </a:endParaRPr>
          </a:p>
        </p:txBody>
      </p:sp>
      <p:sp>
        <p:nvSpPr>
          <p:cNvPr id="21" name="rnum-0">
            <a:extLst>
              <a:ext uri="{FF2B5EF4-FFF2-40B4-BE49-F238E27FC236}">
                <a16:creationId xmlns:a16="http://schemas.microsoft.com/office/drawing/2014/main" id="{A109A7EB-DD18-1976-F0D5-ED2D87A3FF6B}"/>
              </a:ext>
            </a:extLst>
          </p:cNvPr>
          <p:cNvSpPr/>
          <p:nvPr/>
        </p:nvSpPr>
        <p:spPr>
          <a:xfrm>
            <a:off x="9118600" y="2717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rnumt-0">
            <a:extLst>
              <a:ext uri="{FF2B5EF4-FFF2-40B4-BE49-F238E27FC236}">
                <a16:creationId xmlns:a16="http://schemas.microsoft.com/office/drawing/2014/main" id="{F8608FF9-39FA-9D53-B6DA-9842C9C24412}"/>
              </a:ext>
            </a:extLst>
          </p:cNvPr>
          <p:cNvSpPr txBox="1"/>
          <p:nvPr/>
        </p:nvSpPr>
        <p:spPr>
          <a:xfrm>
            <a:off x="9207500" y="2781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1</a:t>
            </a:r>
            <a:endParaRPr lang="zh-CN" altLang="en-US" sz="700" b="1">
              <a:solidFill>
                <a:srgbClr val="003B7A"/>
              </a:solidFill>
              <a:latin typeface="Aptos" panose="020B0004020202020204" pitchFamily="34" charset="0"/>
            </a:endParaRPr>
          </a:p>
        </p:txBody>
      </p:sp>
      <p:sp>
        <p:nvSpPr>
          <p:cNvPr id="23" name="rt-0">
            <a:extLst>
              <a:ext uri="{FF2B5EF4-FFF2-40B4-BE49-F238E27FC236}">
                <a16:creationId xmlns:a16="http://schemas.microsoft.com/office/drawing/2014/main" id="{112284AC-6ED9-4337-A86D-4868741E7C7D}"/>
              </a:ext>
            </a:extLst>
          </p:cNvPr>
          <p:cNvSpPr txBox="1"/>
          <p:nvPr/>
        </p:nvSpPr>
        <p:spPr>
          <a:xfrm>
            <a:off x="9575800" y="2768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Project page</a:t>
            </a:r>
            <a:endParaRPr lang="zh-CN" altLang="en-US" sz="810" b="1">
              <a:solidFill>
                <a:srgbClr val="FFFFFF"/>
              </a:solidFill>
              <a:latin typeface="Aptos" panose="020B0004020202020204" pitchFamily="34" charset="0"/>
            </a:endParaRPr>
          </a:p>
        </p:txBody>
      </p:sp>
      <p:sp>
        <p:nvSpPr>
          <p:cNvPr id="24" name="rnum-1">
            <a:extLst>
              <a:ext uri="{FF2B5EF4-FFF2-40B4-BE49-F238E27FC236}">
                <a16:creationId xmlns:a16="http://schemas.microsoft.com/office/drawing/2014/main" id="{685540CE-187D-8693-9C2D-2046F7ABE72E}"/>
              </a:ext>
            </a:extLst>
          </p:cNvPr>
          <p:cNvSpPr/>
          <p:nvPr/>
        </p:nvSpPr>
        <p:spPr>
          <a:xfrm>
            <a:off x="9118600" y="3162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numt-1">
            <a:extLst>
              <a:ext uri="{FF2B5EF4-FFF2-40B4-BE49-F238E27FC236}">
                <a16:creationId xmlns:a16="http://schemas.microsoft.com/office/drawing/2014/main" id="{8E71FB81-4080-51B7-B86D-9384511C266B}"/>
              </a:ext>
            </a:extLst>
          </p:cNvPr>
          <p:cNvSpPr txBox="1"/>
          <p:nvPr/>
        </p:nvSpPr>
        <p:spPr>
          <a:xfrm>
            <a:off x="9207500" y="3225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2</a:t>
            </a:r>
            <a:endParaRPr lang="zh-CN" altLang="en-US" sz="700" b="1">
              <a:solidFill>
                <a:srgbClr val="003B7A"/>
              </a:solidFill>
              <a:latin typeface="Aptos" panose="020B0004020202020204" pitchFamily="34" charset="0"/>
            </a:endParaRPr>
          </a:p>
        </p:txBody>
      </p:sp>
      <p:sp>
        <p:nvSpPr>
          <p:cNvPr id="26" name="rt-1">
            <a:extLst>
              <a:ext uri="{FF2B5EF4-FFF2-40B4-BE49-F238E27FC236}">
                <a16:creationId xmlns:a16="http://schemas.microsoft.com/office/drawing/2014/main" id="{7DEAC235-AEFA-FA6E-817B-678E23605C99}"/>
              </a:ext>
            </a:extLst>
          </p:cNvPr>
          <p:cNvSpPr txBox="1"/>
          <p:nvPr/>
        </p:nvSpPr>
        <p:spPr>
          <a:xfrm>
            <a:off x="9575800" y="3213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Claim boundary</a:t>
            </a:r>
            <a:endParaRPr lang="zh-CN" altLang="en-US" sz="810" b="1">
              <a:solidFill>
                <a:srgbClr val="FFFFFF"/>
              </a:solidFill>
              <a:latin typeface="Aptos" panose="020B0004020202020204" pitchFamily="34" charset="0"/>
            </a:endParaRPr>
          </a:p>
        </p:txBody>
      </p:sp>
      <p:sp>
        <p:nvSpPr>
          <p:cNvPr id="27" name="rnum-2">
            <a:extLst>
              <a:ext uri="{FF2B5EF4-FFF2-40B4-BE49-F238E27FC236}">
                <a16:creationId xmlns:a16="http://schemas.microsoft.com/office/drawing/2014/main" id="{746D897F-5717-F31C-27C4-15E17AC76DDF}"/>
              </a:ext>
            </a:extLst>
          </p:cNvPr>
          <p:cNvSpPr/>
          <p:nvPr/>
        </p:nvSpPr>
        <p:spPr>
          <a:xfrm>
            <a:off x="9118600" y="3606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numt-2">
            <a:extLst>
              <a:ext uri="{FF2B5EF4-FFF2-40B4-BE49-F238E27FC236}">
                <a16:creationId xmlns:a16="http://schemas.microsoft.com/office/drawing/2014/main" id="{D501B837-DCC0-A6EE-54EE-21AE18A4BE8F}"/>
              </a:ext>
            </a:extLst>
          </p:cNvPr>
          <p:cNvSpPr txBox="1"/>
          <p:nvPr/>
        </p:nvSpPr>
        <p:spPr>
          <a:xfrm>
            <a:off x="9207500" y="3670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3</a:t>
            </a:r>
            <a:endParaRPr lang="zh-CN" altLang="en-US" sz="700" b="1">
              <a:solidFill>
                <a:srgbClr val="003B7A"/>
              </a:solidFill>
              <a:latin typeface="Aptos" panose="020B0004020202020204" pitchFamily="34" charset="0"/>
            </a:endParaRPr>
          </a:p>
        </p:txBody>
      </p:sp>
      <p:sp>
        <p:nvSpPr>
          <p:cNvPr id="29" name="rt-2">
            <a:extLst>
              <a:ext uri="{FF2B5EF4-FFF2-40B4-BE49-F238E27FC236}">
                <a16:creationId xmlns:a16="http://schemas.microsoft.com/office/drawing/2014/main" id="{0446674E-2017-F951-8582-19CD31543E50}"/>
              </a:ext>
            </a:extLst>
          </p:cNvPr>
          <p:cNvSpPr txBox="1"/>
          <p:nvPr/>
        </p:nvSpPr>
        <p:spPr>
          <a:xfrm>
            <a:off x="9575800" y="3657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Traceability matrix</a:t>
            </a:r>
            <a:endParaRPr lang="zh-CN" altLang="en-US" sz="810" b="1">
              <a:solidFill>
                <a:srgbClr val="FFFFFF"/>
              </a:solidFill>
              <a:latin typeface="Aptos" panose="020B0004020202020204" pitchFamily="34" charset="0"/>
            </a:endParaRPr>
          </a:p>
        </p:txBody>
      </p:sp>
      <p:sp>
        <p:nvSpPr>
          <p:cNvPr id="30" name="rnum-3">
            <a:extLst>
              <a:ext uri="{FF2B5EF4-FFF2-40B4-BE49-F238E27FC236}">
                <a16:creationId xmlns:a16="http://schemas.microsoft.com/office/drawing/2014/main" id="{A5378264-72A8-A027-9C7B-6A3ED813C210}"/>
              </a:ext>
            </a:extLst>
          </p:cNvPr>
          <p:cNvSpPr/>
          <p:nvPr/>
        </p:nvSpPr>
        <p:spPr>
          <a:xfrm>
            <a:off x="9118600" y="4051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numt-3">
            <a:extLst>
              <a:ext uri="{FF2B5EF4-FFF2-40B4-BE49-F238E27FC236}">
                <a16:creationId xmlns:a16="http://schemas.microsoft.com/office/drawing/2014/main" id="{AF3ECB2D-366C-F201-115C-434F71A357E4}"/>
              </a:ext>
            </a:extLst>
          </p:cNvPr>
          <p:cNvSpPr txBox="1"/>
          <p:nvPr/>
        </p:nvSpPr>
        <p:spPr>
          <a:xfrm>
            <a:off x="9207500" y="4114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4</a:t>
            </a:r>
            <a:endParaRPr lang="zh-CN" altLang="en-US" sz="700" b="1">
              <a:solidFill>
                <a:srgbClr val="003B7A"/>
              </a:solidFill>
              <a:latin typeface="Aptos" panose="020B0004020202020204" pitchFamily="34" charset="0"/>
            </a:endParaRPr>
          </a:p>
        </p:txBody>
      </p:sp>
      <p:sp>
        <p:nvSpPr>
          <p:cNvPr id="32" name="rt-3">
            <a:extLst>
              <a:ext uri="{FF2B5EF4-FFF2-40B4-BE49-F238E27FC236}">
                <a16:creationId xmlns:a16="http://schemas.microsoft.com/office/drawing/2014/main" id="{F6B4C661-1A00-8530-0933-0F3810576C4C}"/>
              </a:ext>
            </a:extLst>
          </p:cNvPr>
          <p:cNvSpPr txBox="1"/>
          <p:nvPr/>
        </p:nvSpPr>
        <p:spPr>
          <a:xfrm>
            <a:off x="9575800" y="4102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Result manifest</a:t>
            </a:r>
            <a:endParaRPr lang="zh-CN" altLang="en-US" sz="810" b="1">
              <a:solidFill>
                <a:srgbClr val="FFFFFF"/>
              </a:solidFill>
              <a:latin typeface="Aptos" panose="020B0004020202020204" pitchFamily="34" charset="0"/>
            </a:endParaRPr>
          </a:p>
        </p:txBody>
      </p:sp>
      <p:sp>
        <p:nvSpPr>
          <p:cNvPr id="33" name="rnum-4">
            <a:extLst>
              <a:ext uri="{FF2B5EF4-FFF2-40B4-BE49-F238E27FC236}">
                <a16:creationId xmlns:a16="http://schemas.microsoft.com/office/drawing/2014/main" id="{68F2F636-DE9B-41CB-6202-0FE885448254}"/>
              </a:ext>
            </a:extLst>
          </p:cNvPr>
          <p:cNvSpPr/>
          <p:nvPr/>
        </p:nvSpPr>
        <p:spPr>
          <a:xfrm>
            <a:off x="9118600" y="4495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numt-4">
            <a:extLst>
              <a:ext uri="{FF2B5EF4-FFF2-40B4-BE49-F238E27FC236}">
                <a16:creationId xmlns:a16="http://schemas.microsoft.com/office/drawing/2014/main" id="{24D669BC-5D4F-E982-DF57-51C649B116B4}"/>
              </a:ext>
            </a:extLst>
          </p:cNvPr>
          <p:cNvSpPr txBox="1"/>
          <p:nvPr/>
        </p:nvSpPr>
        <p:spPr>
          <a:xfrm>
            <a:off x="9207500" y="4559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5</a:t>
            </a:r>
            <a:endParaRPr lang="zh-CN" altLang="en-US" sz="700" b="1">
              <a:solidFill>
                <a:srgbClr val="003B7A"/>
              </a:solidFill>
              <a:latin typeface="Aptos" panose="020B0004020202020204" pitchFamily="34" charset="0"/>
            </a:endParaRPr>
          </a:p>
        </p:txBody>
      </p:sp>
      <p:sp>
        <p:nvSpPr>
          <p:cNvPr id="35" name="rt-4">
            <a:extLst>
              <a:ext uri="{FF2B5EF4-FFF2-40B4-BE49-F238E27FC236}">
                <a16:creationId xmlns:a16="http://schemas.microsoft.com/office/drawing/2014/main" id="{08AFD690-D88E-F2D4-21CF-4A780CEE6A09}"/>
              </a:ext>
            </a:extLst>
          </p:cNvPr>
          <p:cNvSpPr txBox="1"/>
          <p:nvPr/>
        </p:nvSpPr>
        <p:spPr>
          <a:xfrm>
            <a:off x="9575800" y="4546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Evidence folder</a:t>
            </a:r>
            <a:endParaRPr lang="zh-CN" altLang="en-US" sz="810" b="1">
              <a:solidFill>
                <a:srgbClr val="FFFFFF"/>
              </a:solidFill>
              <a:latin typeface="Aptos" panose="020B0004020202020204" pitchFamily="34" charset="0"/>
            </a:endParaRPr>
          </a:p>
        </p:txBody>
      </p:sp>
      <p:sp>
        <p:nvSpPr>
          <p:cNvPr id="36" name="footer-hit-9">
            <a:hlinkClick r:id="rId5"/>
            <a:extLst>
              <a:ext uri="{FF2B5EF4-FFF2-40B4-BE49-F238E27FC236}">
                <a16:creationId xmlns:a16="http://schemas.microsoft.com/office/drawing/2014/main" id="{13F75FE6-7979-8C27-3926-A7EE63C40C77}"/>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2491995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160"/>
                                        <p:tgtEl>
                                          <p:spTgt spid="19"/>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160"/>
                                        <p:tgtEl>
                                          <p:spTgt spid="20"/>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160"/>
                                        <p:tgtEl>
                                          <p:spTgt spid="21"/>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160"/>
                                        <p:tgtEl>
                                          <p:spTgt spid="22"/>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160"/>
                                        <p:tgtEl>
                                          <p:spTgt spid="23"/>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160"/>
                                        <p:tgtEl>
                                          <p:spTgt spid="24"/>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160"/>
                                        <p:tgtEl>
                                          <p:spTgt spid="25"/>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160"/>
                                        <p:tgtEl>
                                          <p:spTgt spid="26"/>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160"/>
                                        <p:tgtEl>
                                          <p:spTgt spid="27"/>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160"/>
                                        <p:tgtEl>
                                          <p:spTgt spid="28"/>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160"/>
                                        <p:tgtEl>
                                          <p:spTgt spid="29"/>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60"/>
                                        <p:tgtEl>
                                          <p:spTgt spid="30"/>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160"/>
                                        <p:tgtEl>
                                          <p:spTgt spid="31"/>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160"/>
                                        <p:tgtEl>
                                          <p:spTgt spid="32"/>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160"/>
                                        <p:tgtEl>
                                          <p:spTgt spid="33"/>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160"/>
                                        <p:tgtEl>
                                          <p:spTgt spid="34"/>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16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9" grpId="0" animBg="1"/>
      <p:bldP spid="20" grpId="0"/>
      <p:bldP spid="21" grpId="0" animBg="1"/>
      <p:bldP spid="22" grpId="0"/>
      <p:bldP spid="23" grpId="0"/>
      <p:bldP spid="24" grpId="0" animBg="1"/>
      <p:bldP spid="25" grpId="0"/>
      <p:bldP spid="26" grpId="0"/>
      <p:bldP spid="27" grpId="0" animBg="1"/>
      <p:bldP spid="28" grpId="0"/>
      <p:bldP spid="29" grpId="0"/>
      <p:bldP spid="30" grpId="0" animBg="1"/>
      <p:bldP spid="31" grpId="0"/>
      <p:bldP spid="32" grpId="0"/>
      <p:bldP spid="33" grpId="0" animBg="1"/>
      <p:bldP spid="34" grpId="0"/>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8A817EC9-D1F9-0879-F6B3-7546E05786F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40805931-36E9-30D0-87FE-FD1C0B77F33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87BCA087-4E4A-2251-C9F4-08D4AFF1648C}"/>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580198DA-7173-07AF-C042-05D43D78611D}"/>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2</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A434EAD2-DCA9-E6F5-F144-C4A59B0D2925}"/>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10</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BD410147-5A29-A6CC-30E1-7CD5B44E0319}"/>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03D89E97-5451-B142-6E8D-A31C4431EDA6}"/>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FC3B990C-7517-7BFD-EFC5-5E363B1BED7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EF5D97C-666F-4B96-7511-A106EA9AB2BD}"/>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local check verifies repository consistency only.</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E7973DFD-957F-019E-C483-20CF02012E6C}"/>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is a viva-time integrity check; full experiment reruns need external compute/API resources.</a:t>
            </a:r>
            <a:endParaRPr lang="zh-CN" altLang="en-US" sz="930">
              <a:solidFill>
                <a:srgbClr val="4A5B78"/>
              </a:solidFill>
              <a:latin typeface="Aptos" panose="020B0004020202020204" pitchFamily="34" charset="0"/>
            </a:endParaRPr>
          </a:p>
        </p:txBody>
      </p:sp>
      <p:sp>
        <p:nvSpPr>
          <p:cNvPr id="13" name="term">
            <a:extLst>
              <a:ext uri="{FF2B5EF4-FFF2-40B4-BE49-F238E27FC236}">
                <a16:creationId xmlns:a16="http://schemas.microsoft.com/office/drawing/2014/main" id="{802E7B71-C088-8900-2D04-05DCE393E8D9}"/>
              </a:ext>
            </a:extLst>
          </p:cNvPr>
          <p:cNvSpPr/>
          <p:nvPr/>
        </p:nvSpPr>
        <p:spPr>
          <a:xfrm>
            <a:off x="889000" y="1905000"/>
            <a:ext cx="6858000" cy="2997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k">
            <a:extLst>
              <a:ext uri="{FF2B5EF4-FFF2-40B4-BE49-F238E27FC236}">
                <a16:creationId xmlns:a16="http://schemas.microsoft.com/office/drawing/2014/main" id="{368F3307-0C46-7176-0561-4E27FCF35BEA}"/>
              </a:ext>
            </a:extLst>
          </p:cNvPr>
          <p:cNvSpPr txBox="1"/>
          <p:nvPr/>
        </p:nvSpPr>
        <p:spPr>
          <a:xfrm>
            <a:off x="1219200" y="2209800"/>
            <a:ext cx="2286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repository root</a:t>
            </a:r>
            <a:endParaRPr lang="zh-CN" altLang="en-US" sz="780" b="1">
              <a:solidFill>
                <a:srgbClr val="A5C6EB"/>
              </a:solidFill>
              <a:latin typeface="Aptos" panose="020B0004020202020204" pitchFamily="34" charset="0"/>
            </a:endParaRPr>
          </a:p>
        </p:txBody>
      </p:sp>
      <p:cxnSp>
        <p:nvCxnSpPr>
          <p:cNvPr id="15" name="term-line">
            <a:extLst>
              <a:ext uri="{FF2B5EF4-FFF2-40B4-BE49-F238E27FC236}">
                <a16:creationId xmlns:a16="http://schemas.microsoft.com/office/drawing/2014/main" id="{79C815A0-5467-97B8-A965-054A49EDCF0D}"/>
              </a:ext>
            </a:extLst>
          </p:cNvPr>
          <p:cNvCxnSpPr/>
          <p:nvPr/>
        </p:nvCxnSpPr>
        <p:spPr>
          <a:xfrm>
            <a:off x="1219200" y="2527300"/>
            <a:ext cx="60706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6" name="term-t">
            <a:extLst>
              <a:ext uri="{FF2B5EF4-FFF2-40B4-BE49-F238E27FC236}">
                <a16:creationId xmlns:a16="http://schemas.microsoft.com/office/drawing/2014/main" id="{E4A4E01C-AC39-57D9-8EAA-A2C07BBEBCC3}"/>
              </a:ext>
            </a:extLst>
          </p:cNvPr>
          <p:cNvSpPr txBox="1"/>
          <p:nvPr/>
        </p:nvSpPr>
        <p:spPr>
          <a:xfrm>
            <a:off x="1219200" y="2844800"/>
            <a:ext cx="5461000" cy="276999"/>
          </a:xfrm>
          <a:prstGeom prst="rect">
            <a:avLst/>
          </a:prstGeom>
          <a:noFill/>
        </p:spPr>
        <p:txBody>
          <a:bodyPr vert="horz" wrap="square" lIns="0" tIns="0" rIns="0" bIns="0" rtlCol="0">
            <a:noAutofit/>
          </a:bodyPr>
          <a:lstStyle/>
          <a:p>
            <a:r>
              <a:rPr lang="en-US" altLang="zh-CN" sz="1320">
                <a:solidFill>
                  <a:srgbClr val="FFFFFF"/>
                </a:solidFill>
                <a:latin typeface="Consolas" panose="020B0609020204030204" pitchFamily="49" charset="0"/>
              </a:rPr>
              <a:t>python scripts/viva_check.py
[OK] documents present
[OK] manifest readable
[OK] claim links resolved
[OK] artifact paths checked</a:t>
            </a:r>
            <a:endParaRPr lang="zh-CN" altLang="en-US" sz="1320">
              <a:solidFill>
                <a:srgbClr val="FFFFFF"/>
              </a:solidFill>
              <a:latin typeface="Consolas" panose="020B0609020204030204" pitchFamily="49" charset="0"/>
            </a:endParaRPr>
          </a:p>
        </p:txBody>
      </p:sp>
      <p:sp>
        <p:nvSpPr>
          <p:cNvPr id="17" name="ck-0">
            <a:extLst>
              <a:ext uri="{FF2B5EF4-FFF2-40B4-BE49-F238E27FC236}">
                <a16:creationId xmlns:a16="http://schemas.microsoft.com/office/drawing/2014/main" id="{D6FFAFBE-55E8-E3E6-7376-D3CADAFAD9EC}"/>
              </a:ext>
            </a:extLst>
          </p:cNvPr>
          <p:cNvSpPr/>
          <p:nvPr/>
        </p:nvSpPr>
        <p:spPr>
          <a:xfrm>
            <a:off x="8382000" y="2006600"/>
            <a:ext cx="2768600" cy="685800"/>
          </a:xfrm>
          <a:prstGeom prst="rect">
            <a:avLst/>
          </a:prstGeom>
          <a:solidFill>
            <a:srgbClr val="E8F7F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k-t-0">
            <a:extLst>
              <a:ext uri="{FF2B5EF4-FFF2-40B4-BE49-F238E27FC236}">
                <a16:creationId xmlns:a16="http://schemas.microsoft.com/office/drawing/2014/main" id="{DB252C4D-BD97-C171-B743-ECAA4E0AB3A7}"/>
              </a:ext>
            </a:extLst>
          </p:cNvPr>
          <p:cNvSpPr txBox="1"/>
          <p:nvPr/>
        </p:nvSpPr>
        <p:spPr>
          <a:xfrm>
            <a:off x="8712200" y="2146300"/>
            <a:ext cx="1625600" cy="276999"/>
          </a:xfrm>
          <a:prstGeom prst="rect">
            <a:avLst/>
          </a:prstGeom>
          <a:noFill/>
        </p:spPr>
        <p:txBody>
          <a:bodyPr vert="horz" wrap="square" lIns="0" tIns="0" rIns="0" bIns="0" rtlCol="0">
            <a:noAutofit/>
          </a:bodyPr>
          <a:lstStyle/>
          <a:p>
            <a:r>
              <a:rPr lang="en-US" altLang="zh-CN" sz="830" b="1">
                <a:solidFill>
                  <a:srgbClr val="1F7A4D"/>
                </a:solidFill>
                <a:latin typeface="Aptos" panose="020B0004020202020204" pitchFamily="34" charset="0"/>
              </a:rPr>
              <a:t>Proves</a:t>
            </a:r>
            <a:endParaRPr lang="zh-CN" altLang="en-US" sz="830" b="1">
              <a:solidFill>
                <a:srgbClr val="1F7A4D"/>
              </a:solidFill>
              <a:latin typeface="Aptos" panose="020B0004020202020204" pitchFamily="34" charset="0"/>
            </a:endParaRPr>
          </a:p>
        </p:txBody>
      </p:sp>
      <p:sp>
        <p:nvSpPr>
          <p:cNvPr id="19" name="ck-s-0">
            <a:extLst>
              <a:ext uri="{FF2B5EF4-FFF2-40B4-BE49-F238E27FC236}">
                <a16:creationId xmlns:a16="http://schemas.microsoft.com/office/drawing/2014/main" id="{CA443BC1-0312-018E-0C43-86256ADC7C09}"/>
              </a:ext>
            </a:extLst>
          </p:cNvPr>
          <p:cNvSpPr txBox="1"/>
          <p:nvPr/>
        </p:nvSpPr>
        <p:spPr>
          <a:xfrm>
            <a:off x="8712200" y="24003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the submitted claims point to inspectable files and manifests</a:t>
            </a:r>
            <a:endParaRPr lang="zh-CN" altLang="en-US" sz="710">
              <a:solidFill>
                <a:srgbClr val="4A5B78"/>
              </a:solidFill>
              <a:latin typeface="Aptos" panose="020B0004020202020204" pitchFamily="34" charset="0"/>
            </a:endParaRPr>
          </a:p>
        </p:txBody>
      </p:sp>
      <p:sp>
        <p:nvSpPr>
          <p:cNvPr id="20" name="ck-1">
            <a:extLst>
              <a:ext uri="{FF2B5EF4-FFF2-40B4-BE49-F238E27FC236}">
                <a16:creationId xmlns:a16="http://schemas.microsoft.com/office/drawing/2014/main" id="{C39E0C83-6657-3BFD-5502-49AEEF732E99}"/>
              </a:ext>
            </a:extLst>
          </p:cNvPr>
          <p:cNvSpPr/>
          <p:nvPr/>
        </p:nvSpPr>
        <p:spPr>
          <a:xfrm>
            <a:off x="8382000" y="2971800"/>
            <a:ext cx="2768600" cy="685800"/>
          </a:xfrm>
          <a:prstGeom prst="rect">
            <a:avLst/>
          </a:prstGeom>
          <a:solidFill>
            <a:srgbClr val="FFF7E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k-t-1">
            <a:extLst>
              <a:ext uri="{FF2B5EF4-FFF2-40B4-BE49-F238E27FC236}">
                <a16:creationId xmlns:a16="http://schemas.microsoft.com/office/drawing/2014/main" id="{F31F6D0C-9436-B41A-BDE0-EF38313F77CE}"/>
              </a:ext>
            </a:extLst>
          </p:cNvPr>
          <p:cNvSpPr txBox="1"/>
          <p:nvPr/>
        </p:nvSpPr>
        <p:spPr>
          <a:xfrm>
            <a:off x="8712200" y="3111500"/>
            <a:ext cx="1625600" cy="276999"/>
          </a:xfrm>
          <a:prstGeom prst="rect">
            <a:avLst/>
          </a:prstGeom>
          <a:noFill/>
        </p:spPr>
        <p:txBody>
          <a:bodyPr vert="horz" wrap="square" lIns="0" tIns="0" rIns="0" bIns="0" rtlCol="0">
            <a:noAutofit/>
          </a:bodyPr>
          <a:lstStyle/>
          <a:p>
            <a:r>
              <a:rPr lang="en-US" altLang="zh-CN" sz="830" b="1">
                <a:solidFill>
                  <a:srgbClr val="B85C00"/>
                </a:solidFill>
                <a:latin typeface="Aptos" panose="020B0004020202020204" pitchFamily="34" charset="0"/>
              </a:rPr>
              <a:t>Does not prove</a:t>
            </a:r>
            <a:endParaRPr lang="zh-CN" altLang="en-US" sz="830" b="1">
              <a:solidFill>
                <a:srgbClr val="B85C00"/>
              </a:solidFill>
              <a:latin typeface="Aptos" panose="020B0004020202020204" pitchFamily="34" charset="0"/>
            </a:endParaRPr>
          </a:p>
        </p:txBody>
      </p:sp>
      <p:sp>
        <p:nvSpPr>
          <p:cNvPr id="22" name="ck-s-1">
            <a:extLst>
              <a:ext uri="{FF2B5EF4-FFF2-40B4-BE49-F238E27FC236}">
                <a16:creationId xmlns:a16="http://schemas.microsoft.com/office/drawing/2014/main" id="{2FC146DE-F3D9-FC39-5DA2-9443802AB1AC}"/>
              </a:ext>
            </a:extLst>
          </p:cNvPr>
          <p:cNvSpPr txBox="1"/>
          <p:nvPr/>
        </p:nvSpPr>
        <p:spPr>
          <a:xfrm>
            <a:off x="8712200" y="33655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a full GPU/API rerun inside the viva room</a:t>
            </a:r>
            <a:endParaRPr lang="zh-CN" altLang="en-US" sz="710">
              <a:solidFill>
                <a:srgbClr val="4A5B78"/>
              </a:solidFill>
              <a:latin typeface="Aptos" panose="020B0004020202020204" pitchFamily="34" charset="0"/>
            </a:endParaRPr>
          </a:p>
        </p:txBody>
      </p:sp>
      <p:sp>
        <p:nvSpPr>
          <p:cNvPr id="23" name="ck-2">
            <a:extLst>
              <a:ext uri="{FF2B5EF4-FFF2-40B4-BE49-F238E27FC236}">
                <a16:creationId xmlns:a16="http://schemas.microsoft.com/office/drawing/2014/main" id="{4A33D477-8851-FD0A-4DFD-888F9D226E1C}"/>
              </a:ext>
            </a:extLst>
          </p:cNvPr>
          <p:cNvSpPr/>
          <p:nvPr/>
        </p:nvSpPr>
        <p:spPr>
          <a:xfrm>
            <a:off x="8382000" y="3937000"/>
            <a:ext cx="2768600" cy="685800"/>
          </a:xfrm>
          <a:prstGeom prst="rect">
            <a:avLst/>
          </a:prstGeom>
          <a:solidFill>
            <a:srgbClr val="FFEFF2"/>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k-t-2">
            <a:extLst>
              <a:ext uri="{FF2B5EF4-FFF2-40B4-BE49-F238E27FC236}">
                <a16:creationId xmlns:a16="http://schemas.microsoft.com/office/drawing/2014/main" id="{E5BCBB15-55E3-F489-0810-33BAC767D30A}"/>
              </a:ext>
            </a:extLst>
          </p:cNvPr>
          <p:cNvSpPr txBox="1"/>
          <p:nvPr/>
        </p:nvSpPr>
        <p:spPr>
          <a:xfrm>
            <a:off x="8712200" y="4076700"/>
            <a:ext cx="1625600" cy="276999"/>
          </a:xfrm>
          <a:prstGeom prst="rect">
            <a:avLst/>
          </a:prstGeom>
          <a:noFill/>
        </p:spPr>
        <p:txBody>
          <a:bodyPr vert="horz" wrap="square" lIns="0" tIns="0" rIns="0" bIns="0" rtlCol="0">
            <a:noAutofit/>
          </a:bodyPr>
          <a:lstStyle/>
          <a:p>
            <a:r>
              <a:rPr lang="en-US" altLang="zh-CN" sz="830" b="1">
                <a:solidFill>
                  <a:srgbClr val="B8293C"/>
                </a:solidFill>
                <a:latin typeface="Aptos" panose="020B0004020202020204" pitchFamily="34" charset="0"/>
              </a:rPr>
              <a:t>Fallback</a:t>
            </a:r>
            <a:endParaRPr lang="zh-CN" altLang="en-US" sz="830" b="1">
              <a:solidFill>
                <a:srgbClr val="B8293C"/>
              </a:solidFill>
              <a:latin typeface="Aptos" panose="020B0004020202020204" pitchFamily="34" charset="0"/>
            </a:endParaRPr>
          </a:p>
        </p:txBody>
      </p:sp>
      <p:sp>
        <p:nvSpPr>
          <p:cNvPr id="25" name="ck-s-2">
            <a:extLst>
              <a:ext uri="{FF2B5EF4-FFF2-40B4-BE49-F238E27FC236}">
                <a16:creationId xmlns:a16="http://schemas.microsoft.com/office/drawing/2014/main" id="{CC40982C-BCD9-1541-2F96-E109F5B9FD6A}"/>
              </a:ext>
            </a:extLst>
          </p:cNvPr>
          <p:cNvSpPr txBox="1"/>
          <p:nvPr/>
        </p:nvSpPr>
        <p:spPr>
          <a:xfrm>
            <a:off x="8712200" y="43307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video recording if network or projector fails</a:t>
            </a:r>
            <a:endParaRPr lang="zh-CN" altLang="en-US" sz="710">
              <a:solidFill>
                <a:srgbClr val="4A5B78"/>
              </a:solidFill>
              <a:latin typeface="Aptos" panose="020B0004020202020204" pitchFamily="34" charset="0"/>
            </a:endParaRPr>
          </a:p>
        </p:txBody>
      </p:sp>
      <p:sp>
        <p:nvSpPr>
          <p:cNvPr id="26" name="check-link">
            <a:hlinkClick r:id="rId4"/>
            <a:extLst>
              <a:ext uri="{FF2B5EF4-FFF2-40B4-BE49-F238E27FC236}">
                <a16:creationId xmlns:a16="http://schemas.microsoft.com/office/drawing/2014/main" id="{EFBB32FD-A4AF-8DED-7B2B-BC1DDD4A79CF}"/>
              </a:ext>
            </a:extLst>
          </p:cNvPr>
          <p:cNvSpPr/>
          <p:nvPr/>
        </p:nvSpPr>
        <p:spPr>
          <a:xfrm>
            <a:off x="5486400" y="5105400"/>
            <a:ext cx="1803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check script</a:t>
            </a:r>
            <a:endParaRPr lang="zh-CN" altLang="en-US" sz="760" b="1">
              <a:solidFill>
                <a:srgbClr val="003B7A"/>
              </a:solidFill>
              <a:latin typeface="Aptos" panose="020B0004020202020204" pitchFamily="34" charset="0"/>
            </a:endParaRPr>
          </a:p>
        </p:txBody>
      </p:sp>
      <p:sp>
        <p:nvSpPr>
          <p:cNvPr id="27" name="footer-hit-10">
            <a:hlinkClick r:id="rId5"/>
            <a:extLst>
              <a:ext uri="{FF2B5EF4-FFF2-40B4-BE49-F238E27FC236}">
                <a16:creationId xmlns:a16="http://schemas.microsoft.com/office/drawing/2014/main" id="{51FFE251-964D-ABFB-E063-DA3BFC977156}"/>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0649821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6" grpId="0"/>
      <p:bldP spid="17" grpId="0" animBg="1"/>
      <p:bldP spid="18" grpId="0"/>
      <p:bldP spid="19" grpId="0"/>
      <p:bldP spid="20" grpId="0" animBg="1"/>
      <p:bldP spid="21" grpId="0"/>
      <p:bldP spid="22" grpId="0"/>
      <p:bldP spid="23" grpId="0" animBg="1"/>
      <p:bldP spid="24" grpId="0"/>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A5328BE-5E6D-2ADB-7B02-971D42A82E8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98D2431-4C08-4618-482D-5966C4FC5DF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1B8D6227-ED0E-C167-8AF2-6002197CE8A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464B6DC0-2FC3-BD63-E83F-9FB037D1B53A}"/>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DEFENCE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197742CD-2471-5E50-6522-C51BE5EEDAB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11</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B03823D-B5A9-21B3-0970-99FFADEED001}"/>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EF72ED4E-80E0-2698-929E-7B6366A5A71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79043664-1770-FA89-0055-A0F6A71405A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4B9FDE32-C74A-4980-4B7B-F284AB5DAEE3}"/>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My defence strategy is to qualify before I claim.</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FA20C207-2459-B4DF-8EAB-EB05767250DF}"/>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For difficult questions, answer directly first, then state the evidence boundary.</a:t>
            </a:r>
            <a:endParaRPr lang="zh-CN" altLang="en-US" sz="930">
              <a:solidFill>
                <a:srgbClr val="4A5B78"/>
              </a:solidFill>
              <a:latin typeface="Aptos" panose="020B0004020202020204" pitchFamily="34" charset="0"/>
            </a:endParaRPr>
          </a:p>
        </p:txBody>
      </p:sp>
      <p:sp>
        <p:nvSpPr>
          <p:cNvPr id="13" name="rule">
            <a:extLst>
              <a:ext uri="{FF2B5EF4-FFF2-40B4-BE49-F238E27FC236}">
                <a16:creationId xmlns:a16="http://schemas.microsoft.com/office/drawing/2014/main" id="{970F8C00-4749-E269-869C-529B6DB92A4B}"/>
              </a:ext>
            </a:extLst>
          </p:cNvPr>
          <p:cNvSpPr/>
          <p:nvPr/>
        </p:nvSpPr>
        <p:spPr>
          <a:xfrm>
            <a:off x="990600" y="1955800"/>
            <a:ext cx="10210800" cy="584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rule-t">
            <a:extLst>
              <a:ext uri="{FF2B5EF4-FFF2-40B4-BE49-F238E27FC236}">
                <a16:creationId xmlns:a16="http://schemas.microsoft.com/office/drawing/2014/main" id="{3C0A7E76-FE48-3AD4-C096-4E118E3F715C}"/>
              </a:ext>
            </a:extLst>
          </p:cNvPr>
          <p:cNvSpPr txBox="1"/>
          <p:nvPr/>
        </p:nvSpPr>
        <p:spPr>
          <a:xfrm>
            <a:off x="1397000" y="2146300"/>
            <a:ext cx="8890000" cy="276999"/>
          </a:xfrm>
          <a:prstGeom prst="rect">
            <a:avLst/>
          </a:prstGeom>
          <a:noFill/>
        </p:spPr>
        <p:txBody>
          <a:bodyPr vert="horz" wrap="square" lIns="0" tIns="0" rIns="0" bIns="0" rtlCol="0">
            <a:noAutofit/>
          </a:bodyPr>
          <a:lstStyle/>
          <a:p>
            <a:r>
              <a:rPr lang="en-US" altLang="zh-CN" sz="1360" b="1">
                <a:solidFill>
                  <a:srgbClr val="FFFFFF"/>
                </a:solidFill>
                <a:latin typeface="Aptos" panose="020B0004020202020204" pitchFamily="34" charset="0"/>
              </a:rPr>
              <a:t>Short answer -&gt; boundary -&gt; evidence pointer.</a:t>
            </a:r>
            <a:endParaRPr lang="zh-CN" altLang="en-US" sz="1360" b="1">
              <a:solidFill>
                <a:srgbClr val="FFFFFF"/>
              </a:solidFill>
              <a:latin typeface="Aptos" panose="020B0004020202020204" pitchFamily="34" charset="0"/>
            </a:endParaRPr>
          </a:p>
        </p:txBody>
      </p:sp>
      <p:sp>
        <p:nvSpPr>
          <p:cNvPr id="15" name="qa-row-0">
            <a:extLst>
              <a:ext uri="{FF2B5EF4-FFF2-40B4-BE49-F238E27FC236}">
                <a16:creationId xmlns:a16="http://schemas.microsoft.com/office/drawing/2014/main" id="{EDAC8A7D-2A7C-0E75-6E51-FFDD82DB05FD}"/>
              </a:ext>
            </a:extLst>
          </p:cNvPr>
          <p:cNvSpPr/>
          <p:nvPr/>
        </p:nvSpPr>
        <p:spPr>
          <a:xfrm>
            <a:off x="1422400" y="3022600"/>
            <a:ext cx="93472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qa-band-0">
            <a:extLst>
              <a:ext uri="{FF2B5EF4-FFF2-40B4-BE49-F238E27FC236}">
                <a16:creationId xmlns:a16="http://schemas.microsoft.com/office/drawing/2014/main" id="{CD9E4FB3-15BA-9985-9316-A31436CB9447}"/>
              </a:ext>
            </a:extLst>
          </p:cNvPr>
          <p:cNvSpPr/>
          <p:nvPr/>
        </p:nvSpPr>
        <p:spPr>
          <a:xfrm>
            <a:off x="1422400" y="3022600"/>
            <a:ext cx="889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qa-q-0">
            <a:extLst>
              <a:ext uri="{FF2B5EF4-FFF2-40B4-BE49-F238E27FC236}">
                <a16:creationId xmlns:a16="http://schemas.microsoft.com/office/drawing/2014/main" id="{12375706-6F00-8FE0-ADE7-E55C9BA4E6E3}"/>
              </a:ext>
            </a:extLst>
          </p:cNvPr>
          <p:cNvSpPr txBox="1"/>
          <p:nvPr/>
        </p:nvSpPr>
        <p:spPr>
          <a:xfrm>
            <a:off x="1803400" y="3149600"/>
            <a:ext cx="3175000" cy="276999"/>
          </a:xfrm>
          <a:prstGeom prst="rect">
            <a:avLst/>
          </a:prstGeom>
          <a:noFill/>
        </p:spPr>
        <p:txBody>
          <a:bodyPr vert="horz" wrap="square" lIns="0" tIns="0" rIns="0" bIns="0" rtlCol="0">
            <a:noAutofit/>
          </a:bodyPr>
          <a:lstStyle/>
          <a:p>
            <a:r>
              <a:rPr lang="en-US" altLang="zh-CN" sz="850" b="1">
                <a:solidFill>
                  <a:srgbClr val="003B7A"/>
                </a:solidFill>
                <a:latin typeface="Aptos" panose="020B0004020202020204" pitchFamily="34" charset="0"/>
              </a:rPr>
              <a:t>Why not one accuracy?</a:t>
            </a:r>
            <a:endParaRPr lang="zh-CN" altLang="en-US" sz="850" b="1">
              <a:solidFill>
                <a:srgbClr val="003B7A"/>
              </a:solidFill>
              <a:latin typeface="Aptos" panose="020B0004020202020204" pitchFamily="34" charset="0"/>
            </a:endParaRPr>
          </a:p>
        </p:txBody>
      </p:sp>
      <p:sp>
        <p:nvSpPr>
          <p:cNvPr id="18" name="qa-a-0">
            <a:extLst>
              <a:ext uri="{FF2B5EF4-FFF2-40B4-BE49-F238E27FC236}">
                <a16:creationId xmlns:a16="http://schemas.microsoft.com/office/drawing/2014/main" id="{EBBEC77F-FA56-939E-0321-618D0F8A4117}"/>
              </a:ext>
            </a:extLst>
          </p:cNvPr>
          <p:cNvSpPr txBox="1"/>
          <p:nvPr/>
        </p:nvSpPr>
        <p:spPr>
          <a:xfrm>
            <a:off x="5334000" y="3149600"/>
            <a:ext cx="4572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Different access models require different evidence objects.</a:t>
            </a:r>
            <a:endParaRPr lang="zh-CN" altLang="en-US" sz="830">
              <a:solidFill>
                <a:srgbClr val="071A3D"/>
              </a:solidFill>
              <a:latin typeface="Aptos" panose="020B0004020202020204" pitchFamily="34" charset="0"/>
            </a:endParaRPr>
          </a:p>
        </p:txBody>
      </p:sp>
      <p:sp>
        <p:nvSpPr>
          <p:cNvPr id="19" name="qa-row-1">
            <a:extLst>
              <a:ext uri="{FF2B5EF4-FFF2-40B4-BE49-F238E27FC236}">
                <a16:creationId xmlns:a16="http://schemas.microsoft.com/office/drawing/2014/main" id="{4F5C934B-21D7-485B-1EFE-DA9C2D4048C0}"/>
              </a:ext>
            </a:extLst>
          </p:cNvPr>
          <p:cNvSpPr/>
          <p:nvPr/>
        </p:nvSpPr>
        <p:spPr>
          <a:xfrm>
            <a:off x="1422400" y="3810000"/>
            <a:ext cx="93472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qa-band-1">
            <a:extLst>
              <a:ext uri="{FF2B5EF4-FFF2-40B4-BE49-F238E27FC236}">
                <a16:creationId xmlns:a16="http://schemas.microsoft.com/office/drawing/2014/main" id="{8001E993-E18C-F500-8905-FD63A6FA8DB0}"/>
              </a:ext>
            </a:extLst>
          </p:cNvPr>
          <p:cNvSpPr/>
          <p:nvPr/>
        </p:nvSpPr>
        <p:spPr>
          <a:xfrm>
            <a:off x="1422400" y="3810000"/>
            <a:ext cx="88900" cy="533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qa-q-1">
            <a:extLst>
              <a:ext uri="{FF2B5EF4-FFF2-40B4-BE49-F238E27FC236}">
                <a16:creationId xmlns:a16="http://schemas.microsoft.com/office/drawing/2014/main" id="{5ED2DEA3-DB09-A2CF-49C3-826E3E12B882}"/>
              </a:ext>
            </a:extLst>
          </p:cNvPr>
          <p:cNvSpPr txBox="1"/>
          <p:nvPr/>
        </p:nvSpPr>
        <p:spPr>
          <a:xfrm>
            <a:off x="1803400" y="3937000"/>
            <a:ext cx="3175000" cy="276999"/>
          </a:xfrm>
          <a:prstGeom prst="rect">
            <a:avLst/>
          </a:prstGeom>
          <a:noFill/>
        </p:spPr>
        <p:txBody>
          <a:bodyPr vert="horz" wrap="square" lIns="0" tIns="0" rIns="0" bIns="0" rtlCol="0">
            <a:noAutofit/>
          </a:bodyPr>
          <a:lstStyle/>
          <a:p>
            <a:r>
              <a:rPr lang="en-US" altLang="zh-CN" sz="850" b="1">
                <a:solidFill>
                  <a:srgbClr val="B85C00"/>
                </a:solidFill>
                <a:latin typeface="Aptos" panose="020B0004020202020204" pitchFamily="34" charset="0"/>
              </a:rPr>
              <a:t>What does 300/300 prove?</a:t>
            </a:r>
            <a:endParaRPr lang="zh-CN" altLang="en-US" sz="850" b="1">
              <a:solidFill>
                <a:srgbClr val="B85C00"/>
              </a:solidFill>
              <a:latin typeface="Aptos" panose="020B0004020202020204" pitchFamily="34" charset="0"/>
            </a:endParaRPr>
          </a:p>
        </p:txBody>
      </p:sp>
      <p:sp>
        <p:nvSpPr>
          <p:cNvPr id="22" name="qa-a-1">
            <a:extLst>
              <a:ext uri="{FF2B5EF4-FFF2-40B4-BE49-F238E27FC236}">
                <a16:creationId xmlns:a16="http://schemas.microsoft.com/office/drawing/2014/main" id="{D6BF2A58-E015-C4F5-B04C-6C2ECE3D7081}"/>
              </a:ext>
            </a:extLst>
          </p:cNvPr>
          <p:cNvSpPr txBox="1"/>
          <p:nvPr/>
        </p:nvSpPr>
        <p:spPr>
          <a:xfrm>
            <a:off x="5334000" y="3937000"/>
            <a:ext cx="4572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Scoped owner attribution inside this registry and control set.</a:t>
            </a:r>
            <a:endParaRPr lang="zh-CN" altLang="en-US" sz="830">
              <a:solidFill>
                <a:srgbClr val="071A3D"/>
              </a:solidFill>
              <a:latin typeface="Aptos" panose="020B0004020202020204" pitchFamily="34" charset="0"/>
            </a:endParaRPr>
          </a:p>
        </p:txBody>
      </p:sp>
      <p:sp>
        <p:nvSpPr>
          <p:cNvPr id="23" name="qa-row-2">
            <a:extLst>
              <a:ext uri="{FF2B5EF4-FFF2-40B4-BE49-F238E27FC236}">
                <a16:creationId xmlns:a16="http://schemas.microsoft.com/office/drawing/2014/main" id="{B5E225F0-5EAB-DACD-BD80-C290E05CD022}"/>
              </a:ext>
            </a:extLst>
          </p:cNvPr>
          <p:cNvSpPr/>
          <p:nvPr/>
        </p:nvSpPr>
        <p:spPr>
          <a:xfrm>
            <a:off x="1422400" y="4597400"/>
            <a:ext cx="93472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qa-band-2">
            <a:extLst>
              <a:ext uri="{FF2B5EF4-FFF2-40B4-BE49-F238E27FC236}">
                <a16:creationId xmlns:a16="http://schemas.microsoft.com/office/drawing/2014/main" id="{4B0B1017-E229-3876-6997-EF60BBDE8C0F}"/>
              </a:ext>
            </a:extLst>
          </p:cNvPr>
          <p:cNvSpPr/>
          <p:nvPr/>
        </p:nvSpPr>
        <p:spPr>
          <a:xfrm>
            <a:off x="1422400" y="4597400"/>
            <a:ext cx="88900" cy="533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qa-q-2">
            <a:extLst>
              <a:ext uri="{FF2B5EF4-FFF2-40B4-BE49-F238E27FC236}">
                <a16:creationId xmlns:a16="http://schemas.microsoft.com/office/drawing/2014/main" id="{EE1AE794-B34D-1849-F71C-A343DA39AB4F}"/>
              </a:ext>
            </a:extLst>
          </p:cNvPr>
          <p:cNvSpPr txBox="1"/>
          <p:nvPr/>
        </p:nvSpPr>
        <p:spPr>
          <a:xfrm>
            <a:off x="1803400" y="4724400"/>
            <a:ext cx="3175000" cy="276999"/>
          </a:xfrm>
          <a:prstGeom prst="rect">
            <a:avLst/>
          </a:prstGeom>
          <a:noFill/>
        </p:spPr>
        <p:txBody>
          <a:bodyPr vert="horz" wrap="square" lIns="0" tIns="0" rIns="0" bIns="0" rtlCol="0">
            <a:noAutofit/>
          </a:bodyPr>
          <a:lstStyle/>
          <a:p>
            <a:r>
              <a:rPr lang="en-US" altLang="zh-CN" sz="850" b="1">
                <a:solidFill>
                  <a:srgbClr val="1F7A4D"/>
                </a:solidFill>
                <a:latin typeface="Aptos" panose="020B0004020202020204" pitchFamily="34" charset="0"/>
              </a:rPr>
              <a:t>Where can it be checked?</a:t>
            </a:r>
            <a:endParaRPr lang="zh-CN" altLang="en-US" sz="850" b="1">
              <a:solidFill>
                <a:srgbClr val="1F7A4D"/>
              </a:solidFill>
              <a:latin typeface="Aptos" panose="020B0004020202020204" pitchFamily="34" charset="0"/>
            </a:endParaRPr>
          </a:p>
        </p:txBody>
      </p:sp>
      <p:sp>
        <p:nvSpPr>
          <p:cNvPr id="26" name="qa-a-2">
            <a:extLst>
              <a:ext uri="{FF2B5EF4-FFF2-40B4-BE49-F238E27FC236}">
                <a16:creationId xmlns:a16="http://schemas.microsoft.com/office/drawing/2014/main" id="{B3EAC895-215D-6F05-B4E8-0301A9F0C6F3}"/>
              </a:ext>
            </a:extLst>
          </p:cNvPr>
          <p:cNvSpPr txBox="1"/>
          <p:nvPr/>
        </p:nvSpPr>
        <p:spPr>
          <a:xfrm>
            <a:off x="5334000" y="4724400"/>
            <a:ext cx="4572000" cy="276999"/>
          </a:xfrm>
          <a:prstGeom prst="rect">
            <a:avLst/>
          </a:prstGeom>
          <a:noFill/>
        </p:spPr>
        <p:txBody>
          <a:bodyPr vert="horz" wrap="square" lIns="0" tIns="0" rIns="0" bIns="0" rtlCol="0">
            <a:noAutofit/>
          </a:bodyPr>
          <a:lstStyle/>
          <a:p>
            <a:r>
              <a:rPr lang="en-US" altLang="zh-CN" sz="830">
                <a:solidFill>
                  <a:srgbClr val="071A3D"/>
                </a:solidFill>
                <a:latin typeface="Aptos" panose="020B0004020202020204" pitchFamily="34" charset="0"/>
              </a:rPr>
              <a:t>CLAIM_BOUNDARIES, RESULT_MANIFEST, and viva_check.py.</a:t>
            </a:r>
            <a:endParaRPr lang="zh-CN" altLang="en-US" sz="830">
              <a:solidFill>
                <a:srgbClr val="071A3D"/>
              </a:solidFill>
              <a:latin typeface="Aptos" panose="020B0004020202020204" pitchFamily="34" charset="0"/>
            </a:endParaRPr>
          </a:p>
        </p:txBody>
      </p:sp>
      <p:sp>
        <p:nvSpPr>
          <p:cNvPr id="27" name="refuse">
            <a:extLst>
              <a:ext uri="{FF2B5EF4-FFF2-40B4-BE49-F238E27FC236}">
                <a16:creationId xmlns:a16="http://schemas.microsoft.com/office/drawing/2014/main" id="{40B0A321-4CE9-8940-9B8A-F671822C9D5C}"/>
              </a:ext>
            </a:extLst>
          </p:cNvPr>
          <p:cNvSpPr/>
          <p:nvPr/>
        </p:nvSpPr>
        <p:spPr>
          <a:xfrm>
            <a:off x="1955800" y="5562600"/>
            <a:ext cx="8280400" cy="3810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efuse-t">
            <a:extLst>
              <a:ext uri="{FF2B5EF4-FFF2-40B4-BE49-F238E27FC236}">
                <a16:creationId xmlns:a16="http://schemas.microsoft.com/office/drawing/2014/main" id="{2B85E652-8BE5-D313-6D63-FFF63F5D5F4D}"/>
              </a:ext>
            </a:extLst>
          </p:cNvPr>
          <p:cNvSpPr txBox="1"/>
          <p:nvPr/>
        </p:nvSpPr>
        <p:spPr>
          <a:xfrm>
            <a:off x="2336800" y="5676900"/>
            <a:ext cx="7518400" cy="276999"/>
          </a:xfrm>
          <a:prstGeom prst="rect">
            <a:avLst/>
          </a:prstGeom>
          <a:noFill/>
        </p:spPr>
        <p:txBody>
          <a:bodyPr vert="horz" wrap="square" lIns="0" tIns="0" rIns="0" bIns="0" rtlCol="0">
            <a:noAutofit/>
          </a:bodyPr>
          <a:lstStyle/>
          <a:p>
            <a:r>
              <a:rPr lang="en-US" altLang="zh-CN" sz="780" b="1">
                <a:solidFill>
                  <a:srgbClr val="B8293C"/>
                </a:solidFill>
                <a:latin typeface="Aptos" panose="020B0004020202020204" pitchFamily="34" charset="0"/>
              </a:rPr>
              <a:t>Not claimed: legal authorship proof, provider accusation, universal watermarking, or safety certification.</a:t>
            </a:r>
            <a:endParaRPr lang="zh-CN" altLang="en-US" sz="780" b="1">
              <a:solidFill>
                <a:srgbClr val="B8293C"/>
              </a:solidFill>
              <a:latin typeface="Aptos" panose="020B0004020202020204" pitchFamily="34" charset="0"/>
            </a:endParaRPr>
          </a:p>
        </p:txBody>
      </p:sp>
      <p:sp>
        <p:nvSpPr>
          <p:cNvPr id="29" name="footer-hit-11">
            <a:hlinkClick r:id="rId4"/>
            <a:extLst>
              <a:ext uri="{FF2B5EF4-FFF2-40B4-BE49-F238E27FC236}">
                <a16:creationId xmlns:a16="http://schemas.microsoft.com/office/drawing/2014/main" id="{434FD66B-1734-97DC-C888-440FCF409326}"/>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1791075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animBg="1"/>
      <p:bldP spid="17" grpId="0"/>
      <p:bldP spid="18" grpId="0"/>
      <p:bldP spid="19" grpId="0" animBg="1"/>
      <p:bldP spid="20" grpId="0" animBg="1"/>
      <p:bldP spid="21" grpId="0"/>
      <p:bldP spid="22" grpId="0"/>
      <p:bldP spid="23" grpId="0" animBg="1"/>
      <p:bldP spid="24" grpId="0" animBg="1"/>
      <p:bldP spid="25" grpId="0"/>
      <p:bldP spid="26" grpId="0"/>
      <p:bldP spid="27" grpId="0" animBg="1"/>
      <p:bldP spid="2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D84BCF4-3FE8-50C7-F1DE-48CF4850557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557BEDD5-8D56-A522-5057-3FF096A8235C}"/>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AE037B98-5244-1FE7-0823-6D439081714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AAE16867-D2EC-81F7-BA4C-A506365B208C}"/>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FUTURE 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D566851C-3209-6057-0628-288B5AC2ED95}"/>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CDDEB4F-A626-6B3A-98D8-B932B796DD9B}"/>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62D72BF-2C85-065E-405E-69729DEB9612}"/>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A9DD8BD-FBF3-2051-840A-F7B18DD5483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7A374A3C-96CB-59DD-E388-2DE189833529}"/>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submitted FYP is the artifact; papers are planned continuations.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6FAC0A72-22E4-7693-A212-2710ACA62743}"/>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viva should assess the submitted repository, dissertation, evidence files, and claim boundaries.</a:t>
            </a:r>
            <a:endParaRPr lang="zh-CN" altLang="en-US" sz="930">
              <a:solidFill>
                <a:srgbClr val="4A5B78"/>
              </a:solidFill>
              <a:latin typeface="Aptos" panose="020B0004020202020204" pitchFamily="34" charset="0"/>
            </a:endParaRPr>
          </a:p>
        </p:txBody>
      </p:sp>
      <p:sp>
        <p:nvSpPr>
          <p:cNvPr id="13" name="fyp-box">
            <a:extLst>
              <a:ext uri="{FF2B5EF4-FFF2-40B4-BE49-F238E27FC236}">
                <a16:creationId xmlns:a16="http://schemas.microsoft.com/office/drawing/2014/main" id="{726888A7-032C-99C5-CF2A-3DDDC7A62147}"/>
              </a:ext>
            </a:extLst>
          </p:cNvPr>
          <p:cNvSpPr/>
          <p:nvPr/>
        </p:nvSpPr>
        <p:spPr>
          <a:xfrm>
            <a:off x="838200" y="2108200"/>
            <a:ext cx="3987800" cy="3022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yp-k">
            <a:extLst>
              <a:ext uri="{FF2B5EF4-FFF2-40B4-BE49-F238E27FC236}">
                <a16:creationId xmlns:a16="http://schemas.microsoft.com/office/drawing/2014/main" id="{7233D43F-03F4-3747-0BFB-2471DE8D05A3}"/>
              </a:ext>
            </a:extLst>
          </p:cNvPr>
          <p:cNvSpPr txBox="1"/>
          <p:nvPr/>
        </p:nvSpPr>
        <p:spPr>
          <a:xfrm>
            <a:off x="1219200" y="2463800"/>
            <a:ext cx="1905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SUBMITTED FYP ARTIFACT</a:t>
            </a:r>
            <a:endParaRPr lang="zh-CN" altLang="en-US" sz="770" b="1">
              <a:solidFill>
                <a:srgbClr val="CDE2FA"/>
              </a:solidFill>
              <a:latin typeface="Aptos" panose="020B0004020202020204" pitchFamily="34" charset="0"/>
            </a:endParaRPr>
          </a:p>
        </p:txBody>
      </p:sp>
      <p:sp>
        <p:nvSpPr>
          <p:cNvPr id="15" name="fyp-t">
            <a:extLst>
              <a:ext uri="{FF2B5EF4-FFF2-40B4-BE49-F238E27FC236}">
                <a16:creationId xmlns:a16="http://schemas.microsoft.com/office/drawing/2014/main" id="{F1213FF9-5707-495B-95EF-6AA3623B0042}"/>
              </a:ext>
            </a:extLst>
          </p:cNvPr>
          <p:cNvSpPr txBox="1"/>
          <p:nvPr/>
        </p:nvSpPr>
        <p:spPr>
          <a:xfrm>
            <a:off x="1219200" y="2946400"/>
            <a:ext cx="2844800" cy="276999"/>
          </a:xfrm>
          <a:prstGeom prst="rect">
            <a:avLst/>
          </a:prstGeom>
          <a:noFill/>
        </p:spPr>
        <p:txBody>
          <a:bodyPr vert="horz" wrap="square" lIns="0" tIns="0" rIns="0" bIns="0" rtlCol="0">
            <a:noAutofit/>
          </a:bodyPr>
          <a:lstStyle/>
          <a:p>
            <a:r>
              <a:rPr lang="en-US" altLang="zh-CN" sz="1750" b="1">
                <a:solidFill>
                  <a:srgbClr val="FFFFFF"/>
                </a:solidFill>
                <a:latin typeface="Aptos" panose="020B0004020202020204" pitchFamily="34" charset="0"/>
              </a:rPr>
              <a:t>Individual implementation, dissertation, and evidence package</a:t>
            </a:r>
            <a:endParaRPr lang="zh-CN" altLang="en-US" sz="1750" b="1">
              <a:solidFill>
                <a:srgbClr val="FFFFFF"/>
              </a:solidFill>
              <a:latin typeface="Aptos" panose="020B0004020202020204" pitchFamily="34" charset="0"/>
            </a:endParaRPr>
          </a:p>
        </p:txBody>
      </p:sp>
      <p:sp>
        <p:nvSpPr>
          <p:cNvPr id="16" name="fyp-s">
            <a:extLst>
              <a:ext uri="{FF2B5EF4-FFF2-40B4-BE49-F238E27FC236}">
                <a16:creationId xmlns:a16="http://schemas.microsoft.com/office/drawing/2014/main" id="{49595A68-56EC-8B02-D670-82B692935B07}"/>
              </a:ext>
            </a:extLst>
          </p:cNvPr>
          <p:cNvSpPr txBox="1"/>
          <p:nvPr/>
        </p:nvSpPr>
        <p:spPr>
          <a:xfrm>
            <a:off x="1219200" y="4038600"/>
            <a:ext cx="2844800" cy="276999"/>
          </a:xfrm>
          <a:prstGeom prst="rect">
            <a:avLst/>
          </a:prstGeom>
          <a:noFill/>
        </p:spPr>
        <p:txBody>
          <a:bodyPr vert="horz" wrap="square" lIns="0" tIns="0" rIns="0" bIns="0" rtlCol="0">
            <a:noAutofit/>
          </a:bodyPr>
          <a:lstStyle/>
          <a:p>
            <a:r>
              <a:rPr lang="en-US" altLang="zh-CN" sz="880">
                <a:solidFill>
                  <a:srgbClr val="DBE9FA"/>
                </a:solidFill>
                <a:latin typeface="Aptos" panose="020B0004020202020204" pitchFamily="34" charset="0"/>
              </a:rPr>
              <a:t>This is the work being defended: code, data references, manifests, claim boundaries, and the submitted PDF.</a:t>
            </a:r>
            <a:endParaRPr lang="zh-CN" altLang="en-US" sz="880">
              <a:solidFill>
                <a:srgbClr val="DBE9FA"/>
              </a:solidFill>
              <a:latin typeface="Aptos" panose="020B0004020202020204" pitchFamily="34" charset="0"/>
            </a:endParaRPr>
          </a:p>
        </p:txBody>
      </p:sp>
      <p:cxnSp>
        <p:nvCxnSpPr>
          <p:cNvPr id="17" name="future-arrow">
            <a:extLst>
              <a:ext uri="{FF2B5EF4-FFF2-40B4-BE49-F238E27FC236}">
                <a16:creationId xmlns:a16="http://schemas.microsoft.com/office/drawing/2014/main" id="{6F6CD773-E286-CE63-6806-5122CC96E325}"/>
              </a:ext>
            </a:extLst>
          </p:cNvPr>
          <p:cNvCxnSpPr/>
          <p:nvPr/>
        </p:nvCxnSpPr>
        <p:spPr>
          <a:xfrm>
            <a:off x="5130800" y="3632200"/>
            <a:ext cx="8382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future-label">
            <a:extLst>
              <a:ext uri="{FF2B5EF4-FFF2-40B4-BE49-F238E27FC236}">
                <a16:creationId xmlns:a16="http://schemas.microsoft.com/office/drawing/2014/main" id="{DF5E5445-83D0-462B-FBF7-090065AF0A5D}"/>
              </a:ext>
            </a:extLst>
          </p:cNvPr>
          <p:cNvSpPr txBox="1"/>
          <p:nvPr/>
        </p:nvSpPr>
        <p:spPr>
          <a:xfrm>
            <a:off x="6172200" y="2057400"/>
            <a:ext cx="3378200" cy="276999"/>
          </a:xfrm>
          <a:prstGeom prst="rect">
            <a:avLst/>
          </a:prstGeom>
          <a:noFill/>
        </p:spPr>
        <p:txBody>
          <a:bodyPr vert="horz" wrap="square" lIns="0" tIns="0" rIns="0" bIns="0" rtlCol="0">
            <a:noAutofit/>
          </a:bodyPr>
          <a:lstStyle/>
          <a:p>
            <a:r>
              <a:rPr lang="en-US" altLang="zh-CN" sz="770" b="1">
                <a:solidFill>
                  <a:srgbClr val="4A5B78"/>
                </a:solidFill>
                <a:latin typeface="Aptos" panose="020B0004020202020204" pitchFamily="34" charset="0"/>
              </a:rPr>
              <a:t>PLANNED POST-FYP PAPER WORKSTREAMS</a:t>
            </a:r>
            <a:endParaRPr lang="zh-CN" altLang="en-US" sz="770" b="1">
              <a:solidFill>
                <a:srgbClr val="4A5B78"/>
              </a:solidFill>
              <a:latin typeface="Aptos" panose="020B0004020202020204" pitchFamily="34" charset="0"/>
            </a:endParaRPr>
          </a:p>
        </p:txBody>
      </p:sp>
      <p:sp>
        <p:nvSpPr>
          <p:cNvPr id="19" name="road-0">
            <a:extLst>
              <a:ext uri="{FF2B5EF4-FFF2-40B4-BE49-F238E27FC236}">
                <a16:creationId xmlns:a16="http://schemas.microsoft.com/office/drawing/2014/main" id="{360B6721-6BA2-095F-C9A1-D92448D2B952}"/>
              </a:ext>
            </a:extLst>
          </p:cNvPr>
          <p:cNvSpPr/>
          <p:nvPr/>
        </p:nvSpPr>
        <p:spPr>
          <a:xfrm>
            <a:off x="6172200" y="2489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band-0">
            <a:extLst>
              <a:ext uri="{FF2B5EF4-FFF2-40B4-BE49-F238E27FC236}">
                <a16:creationId xmlns:a16="http://schemas.microsoft.com/office/drawing/2014/main" id="{F235A409-4886-A445-09EA-A5C48F5163E8}"/>
              </a:ext>
            </a:extLst>
          </p:cNvPr>
          <p:cNvSpPr/>
          <p:nvPr/>
        </p:nvSpPr>
        <p:spPr>
          <a:xfrm>
            <a:off x="6172200" y="2489200"/>
            <a:ext cx="76200" cy="406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road-type-0">
            <a:extLst>
              <a:ext uri="{FF2B5EF4-FFF2-40B4-BE49-F238E27FC236}">
                <a16:creationId xmlns:a16="http://schemas.microsoft.com/office/drawing/2014/main" id="{CFCDDF2E-9461-3589-5F47-825B9E3DF8C0}"/>
              </a:ext>
            </a:extLst>
          </p:cNvPr>
          <p:cNvSpPr txBox="1"/>
          <p:nvPr/>
        </p:nvSpPr>
        <p:spPr>
          <a:xfrm>
            <a:off x="6426200" y="2603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Benchmark</a:t>
            </a:r>
            <a:endParaRPr lang="zh-CN" altLang="en-US" sz="680" b="1">
              <a:solidFill>
                <a:srgbClr val="4A5B78"/>
              </a:solidFill>
              <a:latin typeface="Aptos" panose="020B0004020202020204" pitchFamily="34" charset="0"/>
            </a:endParaRPr>
          </a:p>
        </p:txBody>
      </p:sp>
      <p:sp>
        <p:nvSpPr>
          <p:cNvPr id="22" name="road-title-0">
            <a:extLst>
              <a:ext uri="{FF2B5EF4-FFF2-40B4-BE49-F238E27FC236}">
                <a16:creationId xmlns:a16="http://schemas.microsoft.com/office/drawing/2014/main" id="{EEC3F094-CD2F-C274-C195-F077927F83F7}"/>
              </a:ext>
            </a:extLst>
          </p:cNvPr>
          <p:cNvSpPr txBox="1"/>
          <p:nvPr/>
        </p:nvSpPr>
        <p:spPr>
          <a:xfrm>
            <a:off x="7442200" y="2590800"/>
            <a:ext cx="1371600" cy="276999"/>
          </a:xfrm>
          <a:prstGeom prst="rect">
            <a:avLst/>
          </a:prstGeom>
          <a:noFill/>
        </p:spPr>
        <p:txBody>
          <a:bodyPr vert="horz" wrap="square" lIns="0" tIns="0" rIns="0" bIns="0" rtlCol="0">
            <a:noAutofit/>
          </a:bodyPr>
          <a:lstStyle/>
          <a:p>
            <a:r>
              <a:rPr lang="en-US" altLang="zh-CN" sz="770" b="1">
                <a:solidFill>
                  <a:srgbClr val="003B7A"/>
                </a:solidFill>
                <a:latin typeface="Aptos" panose="020B0004020202020204" pitchFamily="34" charset="0"/>
              </a:rPr>
              <a:t>CodeMarkBench</a:t>
            </a:r>
            <a:endParaRPr lang="zh-CN" altLang="en-US" sz="770" b="1">
              <a:solidFill>
                <a:srgbClr val="003B7A"/>
              </a:solidFill>
              <a:latin typeface="Aptos" panose="020B0004020202020204" pitchFamily="34" charset="0"/>
            </a:endParaRPr>
          </a:p>
        </p:txBody>
      </p:sp>
      <p:sp>
        <p:nvSpPr>
          <p:cNvPr id="23" name="road-target-0">
            <a:extLst>
              <a:ext uri="{FF2B5EF4-FFF2-40B4-BE49-F238E27FC236}">
                <a16:creationId xmlns:a16="http://schemas.microsoft.com/office/drawing/2014/main" id="{C0A62B93-8F95-24CD-78C0-2F784C943873}"/>
              </a:ext>
            </a:extLst>
          </p:cNvPr>
          <p:cNvSpPr/>
          <p:nvPr/>
        </p:nvSpPr>
        <p:spPr>
          <a:xfrm>
            <a:off x="8991600" y="2578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oad-targett-0">
            <a:extLst>
              <a:ext uri="{FF2B5EF4-FFF2-40B4-BE49-F238E27FC236}">
                <a16:creationId xmlns:a16="http://schemas.microsoft.com/office/drawing/2014/main" id="{E9FB0850-CDC5-C001-EDE0-C61602D2353A}"/>
              </a:ext>
            </a:extLst>
          </p:cNvPr>
          <p:cNvSpPr txBox="1"/>
          <p:nvPr/>
        </p:nvSpPr>
        <p:spPr>
          <a:xfrm>
            <a:off x="9118600" y="2641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TOSEM</a:t>
            </a:r>
            <a:endParaRPr lang="zh-CN" altLang="en-US" sz="630" b="1">
              <a:solidFill>
                <a:srgbClr val="003B7A"/>
              </a:solidFill>
              <a:latin typeface="Aptos" panose="020B0004020202020204" pitchFamily="34" charset="0"/>
            </a:endParaRPr>
          </a:p>
        </p:txBody>
      </p:sp>
      <p:sp>
        <p:nvSpPr>
          <p:cNvPr id="25" name="road-sub-0">
            <a:extLst>
              <a:ext uri="{FF2B5EF4-FFF2-40B4-BE49-F238E27FC236}">
                <a16:creationId xmlns:a16="http://schemas.microsoft.com/office/drawing/2014/main" id="{6CDFDCA0-0050-00D1-E551-460E1AEA1E78}"/>
              </a:ext>
            </a:extLst>
          </p:cNvPr>
          <p:cNvSpPr txBox="1"/>
          <p:nvPr/>
        </p:nvSpPr>
        <p:spPr>
          <a:xfrm>
            <a:off x="9855200" y="2603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executability and adequacy</a:t>
            </a:r>
            <a:endParaRPr lang="zh-CN" altLang="en-US" sz="650">
              <a:solidFill>
                <a:srgbClr val="4A5B78"/>
              </a:solidFill>
              <a:latin typeface="Aptos" panose="020B0004020202020204" pitchFamily="34" charset="0"/>
            </a:endParaRPr>
          </a:p>
        </p:txBody>
      </p:sp>
      <p:sp>
        <p:nvSpPr>
          <p:cNvPr id="26" name="road-1">
            <a:extLst>
              <a:ext uri="{FF2B5EF4-FFF2-40B4-BE49-F238E27FC236}">
                <a16:creationId xmlns:a16="http://schemas.microsoft.com/office/drawing/2014/main" id="{2CA9A45B-175F-93D5-EB84-5DC8487475D8}"/>
              </a:ext>
            </a:extLst>
          </p:cNvPr>
          <p:cNvSpPr/>
          <p:nvPr/>
        </p:nvSpPr>
        <p:spPr>
          <a:xfrm>
            <a:off x="6172200" y="30607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road-band-1">
            <a:extLst>
              <a:ext uri="{FF2B5EF4-FFF2-40B4-BE49-F238E27FC236}">
                <a16:creationId xmlns:a16="http://schemas.microsoft.com/office/drawing/2014/main" id="{D4DA1534-3466-A211-4D4C-B0458DC316BE}"/>
              </a:ext>
            </a:extLst>
          </p:cNvPr>
          <p:cNvSpPr/>
          <p:nvPr/>
        </p:nvSpPr>
        <p:spPr>
          <a:xfrm>
            <a:off x="6172200" y="3060700"/>
            <a:ext cx="76200" cy="4064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oad-type-1">
            <a:extLst>
              <a:ext uri="{FF2B5EF4-FFF2-40B4-BE49-F238E27FC236}">
                <a16:creationId xmlns:a16="http://schemas.microsoft.com/office/drawing/2014/main" id="{DC68342F-9047-C63C-21DD-977CB6F936CE}"/>
              </a:ext>
            </a:extLst>
          </p:cNvPr>
          <p:cNvSpPr txBox="1"/>
          <p:nvPr/>
        </p:nvSpPr>
        <p:spPr>
          <a:xfrm>
            <a:off x="6426200" y="31750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White-box</a:t>
            </a:r>
            <a:endParaRPr lang="zh-CN" altLang="en-US" sz="680" b="1">
              <a:solidFill>
                <a:srgbClr val="4A5B78"/>
              </a:solidFill>
              <a:latin typeface="Aptos" panose="020B0004020202020204" pitchFamily="34" charset="0"/>
            </a:endParaRPr>
          </a:p>
        </p:txBody>
      </p:sp>
      <p:sp>
        <p:nvSpPr>
          <p:cNvPr id="29" name="road-title-1">
            <a:extLst>
              <a:ext uri="{FF2B5EF4-FFF2-40B4-BE49-F238E27FC236}">
                <a16:creationId xmlns:a16="http://schemas.microsoft.com/office/drawing/2014/main" id="{B0A940B9-629C-1E81-9DC0-D6EFFEBBED93}"/>
              </a:ext>
            </a:extLst>
          </p:cNvPr>
          <p:cNvSpPr txBox="1"/>
          <p:nvPr/>
        </p:nvSpPr>
        <p:spPr>
          <a:xfrm>
            <a:off x="7442200" y="3162300"/>
            <a:ext cx="1371600" cy="276999"/>
          </a:xfrm>
          <a:prstGeom prst="rect">
            <a:avLst/>
          </a:prstGeom>
          <a:noFill/>
        </p:spPr>
        <p:txBody>
          <a:bodyPr vert="horz" wrap="square" lIns="0" tIns="0" rIns="0" bIns="0" rtlCol="0">
            <a:noAutofit/>
          </a:bodyPr>
          <a:lstStyle/>
          <a:p>
            <a:r>
              <a:rPr lang="en-US" altLang="zh-CN" sz="770" b="1">
                <a:solidFill>
                  <a:srgbClr val="168E8B"/>
                </a:solidFill>
                <a:latin typeface="Aptos" panose="020B0004020202020204" pitchFamily="34" charset="0"/>
              </a:rPr>
              <a:t>SemCodebook</a:t>
            </a:r>
            <a:endParaRPr lang="zh-CN" altLang="en-US" sz="770" b="1">
              <a:solidFill>
                <a:srgbClr val="168E8B"/>
              </a:solidFill>
              <a:latin typeface="Aptos" panose="020B0004020202020204" pitchFamily="34" charset="0"/>
            </a:endParaRPr>
          </a:p>
        </p:txBody>
      </p:sp>
      <p:sp>
        <p:nvSpPr>
          <p:cNvPr id="30" name="road-target-1">
            <a:extLst>
              <a:ext uri="{FF2B5EF4-FFF2-40B4-BE49-F238E27FC236}">
                <a16:creationId xmlns:a16="http://schemas.microsoft.com/office/drawing/2014/main" id="{4ABE94E2-86CE-9695-56FE-F06682AA9B77}"/>
              </a:ext>
            </a:extLst>
          </p:cNvPr>
          <p:cNvSpPr/>
          <p:nvPr/>
        </p:nvSpPr>
        <p:spPr>
          <a:xfrm>
            <a:off x="8991600" y="3149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oad-targett-1">
            <a:extLst>
              <a:ext uri="{FF2B5EF4-FFF2-40B4-BE49-F238E27FC236}">
                <a16:creationId xmlns:a16="http://schemas.microsoft.com/office/drawing/2014/main" id="{298DE06C-BA55-3824-950C-97DF3C1A5B71}"/>
              </a:ext>
            </a:extLst>
          </p:cNvPr>
          <p:cNvSpPr txBox="1"/>
          <p:nvPr/>
        </p:nvSpPr>
        <p:spPr>
          <a:xfrm>
            <a:off x="9118600" y="32131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32" name="road-sub-1">
            <a:extLst>
              <a:ext uri="{FF2B5EF4-FFF2-40B4-BE49-F238E27FC236}">
                <a16:creationId xmlns:a16="http://schemas.microsoft.com/office/drawing/2014/main" id="{151BA0A9-C5BF-2481-5997-B1327D05BEEF}"/>
              </a:ext>
            </a:extLst>
          </p:cNvPr>
          <p:cNvSpPr txBox="1"/>
          <p:nvPr/>
        </p:nvSpPr>
        <p:spPr>
          <a:xfrm>
            <a:off x="9855200" y="31750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structured recovery</a:t>
            </a:r>
            <a:endParaRPr lang="zh-CN" altLang="en-US" sz="650">
              <a:solidFill>
                <a:srgbClr val="4A5B78"/>
              </a:solidFill>
              <a:latin typeface="Aptos" panose="020B0004020202020204" pitchFamily="34" charset="0"/>
            </a:endParaRPr>
          </a:p>
        </p:txBody>
      </p:sp>
      <p:sp>
        <p:nvSpPr>
          <p:cNvPr id="33" name="road-2">
            <a:extLst>
              <a:ext uri="{FF2B5EF4-FFF2-40B4-BE49-F238E27FC236}">
                <a16:creationId xmlns:a16="http://schemas.microsoft.com/office/drawing/2014/main" id="{AD19553A-159D-B9DD-AF68-DAFB83C3086D}"/>
              </a:ext>
            </a:extLst>
          </p:cNvPr>
          <p:cNvSpPr/>
          <p:nvPr/>
        </p:nvSpPr>
        <p:spPr>
          <a:xfrm>
            <a:off x="6172200" y="3632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oad-band-2">
            <a:extLst>
              <a:ext uri="{FF2B5EF4-FFF2-40B4-BE49-F238E27FC236}">
                <a16:creationId xmlns:a16="http://schemas.microsoft.com/office/drawing/2014/main" id="{4FB9222C-A42D-22D0-49C9-9E2B19841057}"/>
              </a:ext>
            </a:extLst>
          </p:cNvPr>
          <p:cNvSpPr/>
          <p:nvPr/>
        </p:nvSpPr>
        <p:spPr>
          <a:xfrm>
            <a:off x="6172200" y="3632200"/>
            <a:ext cx="76200" cy="406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type-2">
            <a:extLst>
              <a:ext uri="{FF2B5EF4-FFF2-40B4-BE49-F238E27FC236}">
                <a16:creationId xmlns:a16="http://schemas.microsoft.com/office/drawing/2014/main" id="{8CCE54F6-6846-2C37-44C1-2012DFFDFAA8}"/>
              </a:ext>
            </a:extLst>
          </p:cNvPr>
          <p:cNvSpPr txBox="1"/>
          <p:nvPr/>
        </p:nvSpPr>
        <p:spPr>
          <a:xfrm>
            <a:off x="6426200" y="3746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Black-box</a:t>
            </a:r>
            <a:endParaRPr lang="zh-CN" altLang="en-US" sz="680" b="1">
              <a:solidFill>
                <a:srgbClr val="4A5B78"/>
              </a:solidFill>
              <a:latin typeface="Aptos" panose="020B0004020202020204" pitchFamily="34" charset="0"/>
            </a:endParaRPr>
          </a:p>
        </p:txBody>
      </p:sp>
      <p:sp>
        <p:nvSpPr>
          <p:cNvPr id="36" name="road-title-2">
            <a:extLst>
              <a:ext uri="{FF2B5EF4-FFF2-40B4-BE49-F238E27FC236}">
                <a16:creationId xmlns:a16="http://schemas.microsoft.com/office/drawing/2014/main" id="{DF2B350A-812B-1432-68BC-931C27FE118D}"/>
              </a:ext>
            </a:extLst>
          </p:cNvPr>
          <p:cNvSpPr txBox="1"/>
          <p:nvPr/>
        </p:nvSpPr>
        <p:spPr>
          <a:xfrm>
            <a:off x="7442200" y="3733800"/>
            <a:ext cx="1371600" cy="276999"/>
          </a:xfrm>
          <a:prstGeom prst="rect">
            <a:avLst/>
          </a:prstGeom>
          <a:noFill/>
        </p:spPr>
        <p:txBody>
          <a:bodyPr vert="horz" wrap="square" lIns="0" tIns="0" rIns="0" bIns="0" rtlCol="0">
            <a:noAutofit/>
          </a:bodyPr>
          <a:lstStyle/>
          <a:p>
            <a:r>
              <a:rPr lang="en-US" altLang="zh-CN" sz="770" b="1">
                <a:solidFill>
                  <a:srgbClr val="5B45C8"/>
                </a:solidFill>
                <a:latin typeface="Aptos" panose="020B0004020202020204" pitchFamily="34" charset="0"/>
              </a:rPr>
              <a:t>CodeDye</a:t>
            </a:r>
            <a:endParaRPr lang="zh-CN" altLang="en-US" sz="770" b="1">
              <a:solidFill>
                <a:srgbClr val="5B45C8"/>
              </a:solidFill>
              <a:latin typeface="Aptos" panose="020B0004020202020204" pitchFamily="34" charset="0"/>
            </a:endParaRPr>
          </a:p>
        </p:txBody>
      </p:sp>
      <p:sp>
        <p:nvSpPr>
          <p:cNvPr id="37" name="road-target-2">
            <a:extLst>
              <a:ext uri="{FF2B5EF4-FFF2-40B4-BE49-F238E27FC236}">
                <a16:creationId xmlns:a16="http://schemas.microsoft.com/office/drawing/2014/main" id="{35274E30-604B-3D85-39F2-3D7B198581D9}"/>
              </a:ext>
            </a:extLst>
          </p:cNvPr>
          <p:cNvSpPr/>
          <p:nvPr/>
        </p:nvSpPr>
        <p:spPr>
          <a:xfrm>
            <a:off x="8991600" y="3721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oad-targett-2">
            <a:extLst>
              <a:ext uri="{FF2B5EF4-FFF2-40B4-BE49-F238E27FC236}">
                <a16:creationId xmlns:a16="http://schemas.microsoft.com/office/drawing/2014/main" id="{D7DBE0FE-4AE5-3BB5-3402-F54102CD6EFC}"/>
              </a:ext>
            </a:extLst>
          </p:cNvPr>
          <p:cNvSpPr txBox="1"/>
          <p:nvPr/>
        </p:nvSpPr>
        <p:spPr>
          <a:xfrm>
            <a:off x="9118600" y="3784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39" name="road-sub-2">
            <a:extLst>
              <a:ext uri="{FF2B5EF4-FFF2-40B4-BE49-F238E27FC236}">
                <a16:creationId xmlns:a16="http://schemas.microsoft.com/office/drawing/2014/main" id="{61E11AA1-491B-A1E1-21D6-26E72C40DAEB}"/>
              </a:ext>
            </a:extLst>
          </p:cNvPr>
          <p:cNvSpPr txBox="1"/>
          <p:nvPr/>
        </p:nvSpPr>
        <p:spPr>
          <a:xfrm>
            <a:off x="9855200" y="3746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conservative audit</a:t>
            </a:r>
            <a:endParaRPr lang="zh-CN" altLang="en-US" sz="650">
              <a:solidFill>
                <a:srgbClr val="4A5B78"/>
              </a:solidFill>
              <a:latin typeface="Aptos" panose="020B0004020202020204" pitchFamily="34" charset="0"/>
            </a:endParaRPr>
          </a:p>
        </p:txBody>
      </p:sp>
      <p:sp>
        <p:nvSpPr>
          <p:cNvPr id="40" name="road-3">
            <a:extLst>
              <a:ext uri="{FF2B5EF4-FFF2-40B4-BE49-F238E27FC236}">
                <a16:creationId xmlns:a16="http://schemas.microsoft.com/office/drawing/2014/main" id="{EF3FCE58-25B9-24B6-10C8-49CCC54BB948}"/>
              </a:ext>
            </a:extLst>
          </p:cNvPr>
          <p:cNvSpPr/>
          <p:nvPr/>
        </p:nvSpPr>
        <p:spPr>
          <a:xfrm>
            <a:off x="6172200" y="42037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road-band-3">
            <a:extLst>
              <a:ext uri="{FF2B5EF4-FFF2-40B4-BE49-F238E27FC236}">
                <a16:creationId xmlns:a16="http://schemas.microsoft.com/office/drawing/2014/main" id="{F4F4E1BD-E6A2-7E82-8190-32A74F52D0BA}"/>
              </a:ext>
            </a:extLst>
          </p:cNvPr>
          <p:cNvSpPr/>
          <p:nvPr/>
        </p:nvSpPr>
        <p:spPr>
          <a:xfrm>
            <a:off x="6172200" y="4203700"/>
            <a:ext cx="76200" cy="406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oad-type-3">
            <a:extLst>
              <a:ext uri="{FF2B5EF4-FFF2-40B4-BE49-F238E27FC236}">
                <a16:creationId xmlns:a16="http://schemas.microsoft.com/office/drawing/2014/main" id="{1865DC52-FA83-52AD-761B-976C8817D1EF}"/>
              </a:ext>
            </a:extLst>
          </p:cNvPr>
          <p:cNvSpPr txBox="1"/>
          <p:nvPr/>
        </p:nvSpPr>
        <p:spPr>
          <a:xfrm>
            <a:off x="6426200" y="43180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Attribution</a:t>
            </a:r>
            <a:endParaRPr lang="zh-CN" altLang="en-US" sz="680" b="1">
              <a:solidFill>
                <a:srgbClr val="4A5B78"/>
              </a:solidFill>
              <a:latin typeface="Aptos" panose="020B0004020202020204" pitchFamily="34" charset="0"/>
            </a:endParaRPr>
          </a:p>
        </p:txBody>
      </p:sp>
      <p:sp>
        <p:nvSpPr>
          <p:cNvPr id="43" name="road-title-3">
            <a:extLst>
              <a:ext uri="{FF2B5EF4-FFF2-40B4-BE49-F238E27FC236}">
                <a16:creationId xmlns:a16="http://schemas.microsoft.com/office/drawing/2014/main" id="{F009D450-8C0E-4100-5E18-93F40CB5E5DF}"/>
              </a:ext>
            </a:extLst>
          </p:cNvPr>
          <p:cNvSpPr txBox="1"/>
          <p:nvPr/>
        </p:nvSpPr>
        <p:spPr>
          <a:xfrm>
            <a:off x="7442200" y="4305300"/>
            <a:ext cx="1371600" cy="276999"/>
          </a:xfrm>
          <a:prstGeom prst="rect">
            <a:avLst/>
          </a:prstGeom>
          <a:noFill/>
        </p:spPr>
        <p:txBody>
          <a:bodyPr vert="horz" wrap="square" lIns="0" tIns="0" rIns="0" bIns="0" rtlCol="0">
            <a:noAutofit/>
          </a:bodyPr>
          <a:lstStyle/>
          <a:p>
            <a:r>
              <a:rPr lang="en-US" altLang="zh-CN" sz="770" b="1">
                <a:solidFill>
                  <a:srgbClr val="B85C00"/>
                </a:solidFill>
                <a:latin typeface="Aptos" panose="020B0004020202020204" pitchFamily="34" charset="0"/>
              </a:rPr>
              <a:t>ProbeTrace</a:t>
            </a:r>
            <a:endParaRPr lang="zh-CN" altLang="en-US" sz="770" b="1">
              <a:solidFill>
                <a:srgbClr val="B85C00"/>
              </a:solidFill>
              <a:latin typeface="Aptos" panose="020B0004020202020204" pitchFamily="34" charset="0"/>
            </a:endParaRPr>
          </a:p>
        </p:txBody>
      </p:sp>
      <p:sp>
        <p:nvSpPr>
          <p:cNvPr id="44" name="road-target-3">
            <a:extLst>
              <a:ext uri="{FF2B5EF4-FFF2-40B4-BE49-F238E27FC236}">
                <a16:creationId xmlns:a16="http://schemas.microsoft.com/office/drawing/2014/main" id="{303F0331-05FD-8F74-5775-4D003F4BF897}"/>
              </a:ext>
            </a:extLst>
          </p:cNvPr>
          <p:cNvSpPr/>
          <p:nvPr/>
        </p:nvSpPr>
        <p:spPr>
          <a:xfrm>
            <a:off x="8991600" y="4292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road-targett-3">
            <a:extLst>
              <a:ext uri="{FF2B5EF4-FFF2-40B4-BE49-F238E27FC236}">
                <a16:creationId xmlns:a16="http://schemas.microsoft.com/office/drawing/2014/main" id="{9B16A255-C01A-E255-761C-43079482D31C}"/>
              </a:ext>
            </a:extLst>
          </p:cNvPr>
          <p:cNvSpPr txBox="1"/>
          <p:nvPr/>
        </p:nvSpPr>
        <p:spPr>
          <a:xfrm>
            <a:off x="9118600" y="43561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46" name="road-sub-3">
            <a:extLst>
              <a:ext uri="{FF2B5EF4-FFF2-40B4-BE49-F238E27FC236}">
                <a16:creationId xmlns:a16="http://schemas.microsoft.com/office/drawing/2014/main" id="{3F4F0A17-10F1-95FE-58DC-DA8FF923B022}"/>
              </a:ext>
            </a:extLst>
          </p:cNvPr>
          <p:cNvSpPr txBox="1"/>
          <p:nvPr/>
        </p:nvSpPr>
        <p:spPr>
          <a:xfrm>
            <a:off x="9855200" y="43180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owner evidence</a:t>
            </a:r>
            <a:endParaRPr lang="zh-CN" altLang="en-US" sz="650">
              <a:solidFill>
                <a:srgbClr val="4A5B78"/>
              </a:solidFill>
              <a:latin typeface="Aptos" panose="020B0004020202020204" pitchFamily="34" charset="0"/>
            </a:endParaRPr>
          </a:p>
        </p:txBody>
      </p:sp>
      <p:sp>
        <p:nvSpPr>
          <p:cNvPr id="47" name="road-4">
            <a:extLst>
              <a:ext uri="{FF2B5EF4-FFF2-40B4-BE49-F238E27FC236}">
                <a16:creationId xmlns:a16="http://schemas.microsoft.com/office/drawing/2014/main" id="{B3606984-1641-694A-EA28-6C59DC62B87A}"/>
              </a:ext>
            </a:extLst>
          </p:cNvPr>
          <p:cNvSpPr/>
          <p:nvPr/>
        </p:nvSpPr>
        <p:spPr>
          <a:xfrm>
            <a:off x="6172200" y="4775200"/>
            <a:ext cx="47752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road-band-4">
            <a:extLst>
              <a:ext uri="{FF2B5EF4-FFF2-40B4-BE49-F238E27FC236}">
                <a16:creationId xmlns:a16="http://schemas.microsoft.com/office/drawing/2014/main" id="{2BE5B462-27F0-9778-7749-A69122657107}"/>
              </a:ext>
            </a:extLst>
          </p:cNvPr>
          <p:cNvSpPr/>
          <p:nvPr/>
        </p:nvSpPr>
        <p:spPr>
          <a:xfrm>
            <a:off x="6172200" y="4775200"/>
            <a:ext cx="76200" cy="406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oad-type-4">
            <a:extLst>
              <a:ext uri="{FF2B5EF4-FFF2-40B4-BE49-F238E27FC236}">
                <a16:creationId xmlns:a16="http://schemas.microsoft.com/office/drawing/2014/main" id="{5554984D-9506-8855-F5B5-C54635A225DA}"/>
              </a:ext>
            </a:extLst>
          </p:cNvPr>
          <p:cNvSpPr txBox="1"/>
          <p:nvPr/>
        </p:nvSpPr>
        <p:spPr>
          <a:xfrm>
            <a:off x="6426200" y="4889500"/>
            <a:ext cx="838200" cy="276999"/>
          </a:xfrm>
          <a:prstGeom prst="rect">
            <a:avLst/>
          </a:prstGeom>
          <a:noFill/>
        </p:spPr>
        <p:txBody>
          <a:bodyPr vert="horz" wrap="square" lIns="0" tIns="0" rIns="0" bIns="0" rtlCol="0">
            <a:noAutofit/>
          </a:bodyPr>
          <a:lstStyle/>
          <a:p>
            <a:r>
              <a:rPr lang="en-US" altLang="zh-CN" sz="680" b="1">
                <a:solidFill>
                  <a:srgbClr val="4A5B78"/>
                </a:solidFill>
                <a:latin typeface="Aptos" panose="020B0004020202020204" pitchFamily="34" charset="0"/>
              </a:rPr>
              <a:t>Security</a:t>
            </a:r>
            <a:endParaRPr lang="zh-CN" altLang="en-US" sz="680" b="1">
              <a:solidFill>
                <a:srgbClr val="4A5B78"/>
              </a:solidFill>
              <a:latin typeface="Aptos" panose="020B0004020202020204" pitchFamily="34" charset="0"/>
            </a:endParaRPr>
          </a:p>
        </p:txBody>
      </p:sp>
      <p:sp>
        <p:nvSpPr>
          <p:cNvPr id="50" name="road-title-4">
            <a:extLst>
              <a:ext uri="{FF2B5EF4-FFF2-40B4-BE49-F238E27FC236}">
                <a16:creationId xmlns:a16="http://schemas.microsoft.com/office/drawing/2014/main" id="{A1A3E0A9-D7B8-0EC9-9C66-A867C06933B0}"/>
              </a:ext>
            </a:extLst>
          </p:cNvPr>
          <p:cNvSpPr txBox="1"/>
          <p:nvPr/>
        </p:nvSpPr>
        <p:spPr>
          <a:xfrm>
            <a:off x="7442200" y="4876800"/>
            <a:ext cx="1371600" cy="276999"/>
          </a:xfrm>
          <a:prstGeom prst="rect">
            <a:avLst/>
          </a:prstGeom>
          <a:noFill/>
        </p:spPr>
        <p:txBody>
          <a:bodyPr vert="horz" wrap="square" lIns="0" tIns="0" rIns="0" bIns="0" rtlCol="0">
            <a:noAutofit/>
          </a:bodyPr>
          <a:lstStyle/>
          <a:p>
            <a:r>
              <a:rPr lang="en-US" altLang="zh-CN" sz="770" b="1">
                <a:solidFill>
                  <a:srgbClr val="1F7A4D"/>
                </a:solidFill>
                <a:latin typeface="Aptos" panose="020B0004020202020204" pitchFamily="34" charset="0"/>
              </a:rPr>
              <a:t>SealAudit</a:t>
            </a:r>
            <a:endParaRPr lang="zh-CN" altLang="en-US" sz="770" b="1">
              <a:solidFill>
                <a:srgbClr val="1F7A4D"/>
              </a:solidFill>
              <a:latin typeface="Aptos" panose="020B0004020202020204" pitchFamily="34" charset="0"/>
            </a:endParaRPr>
          </a:p>
        </p:txBody>
      </p:sp>
      <p:sp>
        <p:nvSpPr>
          <p:cNvPr id="51" name="road-target-4">
            <a:extLst>
              <a:ext uri="{FF2B5EF4-FFF2-40B4-BE49-F238E27FC236}">
                <a16:creationId xmlns:a16="http://schemas.microsoft.com/office/drawing/2014/main" id="{96F5FD48-0185-BB26-174F-C45194C77641}"/>
              </a:ext>
            </a:extLst>
          </p:cNvPr>
          <p:cNvSpPr/>
          <p:nvPr/>
        </p:nvSpPr>
        <p:spPr>
          <a:xfrm>
            <a:off x="8991600" y="4864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road-targett-4">
            <a:extLst>
              <a:ext uri="{FF2B5EF4-FFF2-40B4-BE49-F238E27FC236}">
                <a16:creationId xmlns:a16="http://schemas.microsoft.com/office/drawing/2014/main" id="{DD6BE4F0-784A-6450-D347-023627B95E82}"/>
              </a:ext>
            </a:extLst>
          </p:cNvPr>
          <p:cNvSpPr txBox="1"/>
          <p:nvPr/>
        </p:nvSpPr>
        <p:spPr>
          <a:xfrm>
            <a:off x="9118600" y="4927600"/>
            <a:ext cx="431800" cy="276999"/>
          </a:xfrm>
          <a:prstGeom prst="rect">
            <a:avLst/>
          </a:prstGeom>
          <a:noFill/>
        </p:spPr>
        <p:txBody>
          <a:bodyPr vert="horz" wrap="square" lIns="0" tIns="0" rIns="0" bIns="0" rtlCol="0">
            <a:noAutofit/>
          </a:bodyPr>
          <a:lstStyle/>
          <a:p>
            <a:r>
              <a:rPr lang="en-US" altLang="zh-CN" sz="630" b="1">
                <a:solidFill>
                  <a:srgbClr val="003B7A"/>
                </a:solidFill>
                <a:latin typeface="Aptos" panose="020B0004020202020204" pitchFamily="34" charset="0"/>
              </a:rPr>
              <a:t>EMNLP</a:t>
            </a:r>
            <a:endParaRPr lang="zh-CN" altLang="en-US" sz="630" b="1">
              <a:solidFill>
                <a:srgbClr val="003B7A"/>
              </a:solidFill>
              <a:latin typeface="Aptos" panose="020B0004020202020204" pitchFamily="34" charset="0"/>
            </a:endParaRPr>
          </a:p>
        </p:txBody>
      </p:sp>
      <p:sp>
        <p:nvSpPr>
          <p:cNvPr id="53" name="road-sub-4">
            <a:extLst>
              <a:ext uri="{FF2B5EF4-FFF2-40B4-BE49-F238E27FC236}">
                <a16:creationId xmlns:a16="http://schemas.microsoft.com/office/drawing/2014/main" id="{9A44DF71-62E3-874C-2550-5EC993765B27}"/>
              </a:ext>
            </a:extLst>
          </p:cNvPr>
          <p:cNvSpPr txBox="1"/>
          <p:nvPr/>
        </p:nvSpPr>
        <p:spPr>
          <a:xfrm>
            <a:off x="9855200" y="4889500"/>
            <a:ext cx="838200" cy="276999"/>
          </a:xfrm>
          <a:prstGeom prst="rect">
            <a:avLst/>
          </a:prstGeom>
          <a:noFill/>
        </p:spPr>
        <p:txBody>
          <a:bodyPr vert="horz" wrap="square" lIns="0" tIns="0" rIns="0" bIns="0" rtlCol="0">
            <a:noAutofit/>
          </a:bodyPr>
          <a:lstStyle/>
          <a:p>
            <a:r>
              <a:rPr lang="en-US" altLang="zh-CN" sz="650">
                <a:solidFill>
                  <a:srgbClr val="4A5B78"/>
                </a:solidFill>
                <a:latin typeface="Aptos" panose="020B0004020202020204" pitchFamily="34" charset="0"/>
              </a:rPr>
              <a:t>selective triage</a:t>
            </a:r>
            <a:endParaRPr lang="zh-CN" altLang="en-US" sz="650">
              <a:solidFill>
                <a:srgbClr val="4A5B78"/>
              </a:solidFill>
              <a:latin typeface="Aptos" panose="020B0004020202020204" pitchFamily="34" charset="0"/>
            </a:endParaRPr>
          </a:p>
        </p:txBody>
      </p:sp>
      <p:sp>
        <p:nvSpPr>
          <p:cNvPr id="54" name="own">
            <a:extLst>
              <a:ext uri="{FF2B5EF4-FFF2-40B4-BE49-F238E27FC236}">
                <a16:creationId xmlns:a16="http://schemas.microsoft.com/office/drawing/2014/main" id="{3941E911-18DE-60A7-88D6-5ABB074154E2}"/>
              </a:ext>
            </a:extLst>
          </p:cNvPr>
          <p:cNvSpPr/>
          <p:nvPr/>
        </p:nvSpPr>
        <p:spPr>
          <a:xfrm>
            <a:off x="1727200" y="5486400"/>
            <a:ext cx="8737600" cy="4064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own-t">
            <a:extLst>
              <a:ext uri="{FF2B5EF4-FFF2-40B4-BE49-F238E27FC236}">
                <a16:creationId xmlns:a16="http://schemas.microsoft.com/office/drawing/2014/main" id="{CDE20A83-F278-3CF4-5F39-8AE12DE78E92}"/>
              </a:ext>
            </a:extLst>
          </p:cNvPr>
          <p:cNvSpPr txBox="1"/>
          <p:nvPr/>
        </p:nvSpPr>
        <p:spPr>
          <a:xfrm>
            <a:off x="2108200" y="5600700"/>
            <a:ext cx="7975600" cy="276999"/>
          </a:xfrm>
          <a:prstGeom prst="rect">
            <a:avLst/>
          </a:prstGeom>
          <a:noFill/>
        </p:spPr>
        <p:txBody>
          <a:bodyPr vert="horz" wrap="square" lIns="0" tIns="0" rIns="0" bIns="0" rtlCol="0">
            <a:noAutofit/>
          </a:bodyPr>
          <a:lstStyle/>
          <a:p>
            <a:r>
              <a:rPr lang="en-US" altLang="zh-CN" sz="760" b="1">
                <a:solidFill>
                  <a:srgbClr val="071A3D"/>
                </a:solidFill>
                <a:latin typeface="Aptos" panose="020B0004020202020204" pitchFamily="34" charset="0"/>
              </a:rPr>
              <a:t>Boundary: submitted FYP work is individual; later writing collaborations are outside the submitted artifact.</a:t>
            </a:r>
            <a:endParaRPr lang="zh-CN" altLang="en-US" sz="760" b="1">
              <a:solidFill>
                <a:srgbClr val="071A3D"/>
              </a:solidFill>
              <a:latin typeface="Aptos" panose="020B0004020202020204" pitchFamily="34" charset="0"/>
            </a:endParaRPr>
          </a:p>
        </p:txBody>
      </p:sp>
      <p:sp>
        <p:nvSpPr>
          <p:cNvPr id="56" name="footer-hit-12">
            <a:hlinkClick r:id="rId4"/>
            <a:extLst>
              <a:ext uri="{FF2B5EF4-FFF2-40B4-BE49-F238E27FC236}">
                <a16:creationId xmlns:a16="http://schemas.microsoft.com/office/drawing/2014/main" id="{372C386D-39B3-6644-7222-3E0A6DD00FE3}"/>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6269037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160"/>
                                        <p:tgtEl>
                                          <p:spTgt spid="34"/>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160"/>
                                        <p:tgtEl>
                                          <p:spTgt spid="35"/>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160"/>
                                        <p:tgtEl>
                                          <p:spTgt spid="36"/>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160"/>
                                        <p:tgtEl>
                                          <p:spTgt spid="37"/>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160"/>
                                        <p:tgtEl>
                                          <p:spTgt spid="38"/>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fade">
                                      <p:cBhvr>
                                        <p:cTn id="87" dur="160"/>
                                        <p:tgtEl>
                                          <p:spTgt spid="39"/>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160"/>
                                        <p:tgtEl>
                                          <p:spTgt spid="40"/>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160"/>
                                        <p:tgtEl>
                                          <p:spTgt spid="41"/>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160"/>
                                        <p:tgtEl>
                                          <p:spTgt spid="42"/>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160"/>
                                        <p:tgtEl>
                                          <p:spTgt spid="43"/>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160"/>
                                        <p:tgtEl>
                                          <p:spTgt spid="44"/>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fade">
                                      <p:cBhvr>
                                        <p:cTn id="111" dur="160"/>
                                        <p:tgtEl>
                                          <p:spTgt spid="45"/>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160"/>
                                        <p:tgtEl>
                                          <p:spTgt spid="46"/>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7"/>
                                        </p:tgtEl>
                                        <p:attrNameLst>
                                          <p:attrName>style.visibility</p:attrName>
                                        </p:attrNameLst>
                                      </p:cBhvr>
                                      <p:to>
                                        <p:strVal val="visible"/>
                                      </p:to>
                                    </p:set>
                                    <p:animEffect transition="in" filter="fade">
                                      <p:cBhvr>
                                        <p:cTn id="119" dur="160"/>
                                        <p:tgtEl>
                                          <p:spTgt spid="47"/>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8"/>
                                        </p:tgtEl>
                                        <p:attrNameLst>
                                          <p:attrName>style.visibility</p:attrName>
                                        </p:attrNameLst>
                                      </p:cBhvr>
                                      <p:to>
                                        <p:strVal val="visible"/>
                                      </p:to>
                                    </p:set>
                                    <p:animEffect transition="in" filter="fade">
                                      <p:cBhvr>
                                        <p:cTn id="123" dur="160"/>
                                        <p:tgtEl>
                                          <p:spTgt spid="48"/>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9"/>
                                        </p:tgtEl>
                                        <p:attrNameLst>
                                          <p:attrName>style.visibility</p:attrName>
                                        </p:attrNameLst>
                                      </p:cBhvr>
                                      <p:to>
                                        <p:strVal val="visible"/>
                                      </p:to>
                                    </p:set>
                                    <p:animEffect transition="in" filter="fade">
                                      <p:cBhvr>
                                        <p:cTn id="127" dur="160"/>
                                        <p:tgtEl>
                                          <p:spTgt spid="49"/>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160"/>
                                        <p:tgtEl>
                                          <p:spTgt spid="50"/>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51"/>
                                        </p:tgtEl>
                                        <p:attrNameLst>
                                          <p:attrName>style.visibility</p:attrName>
                                        </p:attrNameLst>
                                      </p:cBhvr>
                                      <p:to>
                                        <p:strVal val="visible"/>
                                      </p:to>
                                    </p:set>
                                    <p:animEffect transition="in" filter="fade">
                                      <p:cBhvr>
                                        <p:cTn id="135" dur="160"/>
                                        <p:tgtEl>
                                          <p:spTgt spid="51"/>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52"/>
                                        </p:tgtEl>
                                        <p:attrNameLst>
                                          <p:attrName>style.visibility</p:attrName>
                                        </p:attrNameLst>
                                      </p:cBhvr>
                                      <p:to>
                                        <p:strVal val="visible"/>
                                      </p:to>
                                    </p:set>
                                    <p:animEffect transition="in" filter="fade">
                                      <p:cBhvr>
                                        <p:cTn id="139" dur="160"/>
                                        <p:tgtEl>
                                          <p:spTgt spid="52"/>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Effect transition="in" filter="fade">
                                      <p:cBhvr>
                                        <p:cTn id="143" dur="160"/>
                                        <p:tgtEl>
                                          <p:spTgt spid="53"/>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54"/>
                                        </p:tgtEl>
                                        <p:attrNameLst>
                                          <p:attrName>style.visibility</p:attrName>
                                        </p:attrNameLst>
                                      </p:cBhvr>
                                      <p:to>
                                        <p:strVal val="visible"/>
                                      </p:to>
                                    </p:set>
                                    <p:animEffect transition="in" filter="fade">
                                      <p:cBhvr>
                                        <p:cTn id="147" dur="160"/>
                                        <p:tgtEl>
                                          <p:spTgt spid="54"/>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5"/>
                                        </p:tgtEl>
                                        <p:attrNameLst>
                                          <p:attrName>style.visibility</p:attrName>
                                        </p:attrNameLst>
                                      </p:cBhvr>
                                      <p:to>
                                        <p:strVal val="visible"/>
                                      </p:to>
                                    </p:set>
                                    <p:animEffect transition="in" filter="fade">
                                      <p:cBhvr>
                                        <p:cTn id="151" dur="16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p:bldP spid="22" grpId="0"/>
      <p:bldP spid="23" grpId="0" animBg="1"/>
      <p:bldP spid="24" grpId="0"/>
      <p:bldP spid="25" grpId="0"/>
      <p:bldP spid="26" grpId="0" animBg="1"/>
      <p:bldP spid="27" grpId="0" animBg="1"/>
      <p:bldP spid="28" grpId="0"/>
      <p:bldP spid="29" grpId="0"/>
      <p:bldP spid="30" grpId="0" animBg="1"/>
      <p:bldP spid="31" grpId="0"/>
      <p:bldP spid="32" grpId="0"/>
      <p:bldP spid="33" grpId="0" animBg="1"/>
      <p:bldP spid="34" grpId="0" animBg="1"/>
      <p:bldP spid="35" grpId="0"/>
      <p:bldP spid="36" grpId="0"/>
      <p:bldP spid="37" grpId="0" animBg="1"/>
      <p:bldP spid="38" grpId="0"/>
      <p:bldP spid="39" grpId="0"/>
      <p:bldP spid="40" grpId="0" animBg="1"/>
      <p:bldP spid="41" grpId="0" animBg="1"/>
      <p:bldP spid="42" grpId="0"/>
      <p:bldP spid="43" grpId="0"/>
      <p:bldP spid="44" grpId="0" animBg="1"/>
      <p:bldP spid="45" grpId="0"/>
      <p:bldP spid="46" grpId="0"/>
      <p:bldP spid="47" grpId="0" animBg="1"/>
      <p:bldP spid="48" grpId="0" animBg="1"/>
      <p:bldP spid="49" grpId="0"/>
      <p:bldP spid="50" grpId="0"/>
      <p:bldP spid="51" grpId="0" animBg="1"/>
      <p:bldP spid="52" grpId="0"/>
      <p:bldP spid="53" grpId="0"/>
      <p:bldP spid="54" grpId="0" animBg="1"/>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DF3C0CE-D215-D77B-79D2-667320196E1F}"/>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90544485-0CEC-D21A-F893-FA38396C3C45}"/>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563597F3-50F5-9F89-06B2-A62D10E0B703}"/>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7CFA0474-16CE-04D0-7E36-74CC67F2FDA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thanks">
            <a:extLst>
              <a:ext uri="{FF2B5EF4-FFF2-40B4-BE49-F238E27FC236}">
                <a16:creationId xmlns:a16="http://schemas.microsoft.com/office/drawing/2014/main" id="{730896E3-1B17-459C-9DDC-C2EF2CE31296}"/>
              </a:ext>
            </a:extLst>
          </p:cNvPr>
          <p:cNvSpPr txBox="1"/>
          <p:nvPr/>
        </p:nvSpPr>
        <p:spPr>
          <a:xfrm>
            <a:off x="5003800" y="1422400"/>
            <a:ext cx="482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Thank you</a:t>
            </a:r>
            <a:endParaRPr lang="zh-CN" altLang="en-US" sz="4600" b="1">
              <a:solidFill>
                <a:srgbClr val="FFFFFF"/>
              </a:solidFill>
              <a:latin typeface="Aptos" panose="020B0004020202020204" pitchFamily="34" charset="0"/>
            </a:endParaRPr>
          </a:p>
        </p:txBody>
      </p:sp>
      <p:sp>
        <p:nvSpPr>
          <p:cNvPr id="8" name="q">
            <a:extLst>
              <a:ext uri="{FF2B5EF4-FFF2-40B4-BE49-F238E27FC236}">
                <a16:creationId xmlns:a16="http://schemas.microsoft.com/office/drawing/2014/main" id="{E6ACC0C4-FA94-4CD3-EE97-AAB1217FA30C}"/>
              </a:ext>
            </a:extLst>
          </p:cNvPr>
          <p:cNvSpPr txBox="1"/>
          <p:nvPr/>
        </p:nvSpPr>
        <p:spPr>
          <a:xfrm>
            <a:off x="5054600" y="2387600"/>
            <a:ext cx="2794000" cy="276999"/>
          </a:xfrm>
          <a:prstGeom prst="rect">
            <a:avLst/>
          </a:prstGeom>
          <a:noFill/>
        </p:spPr>
        <p:txBody>
          <a:bodyPr vert="horz" wrap="square" lIns="0" tIns="0" rIns="0" bIns="0" rtlCol="0">
            <a:noAutofit/>
          </a:bodyPr>
          <a:lstStyle/>
          <a:p>
            <a:r>
              <a:rPr lang="en-US" altLang="zh-CN" sz="2200" b="1">
                <a:solidFill>
                  <a:srgbClr val="DCEBFC"/>
                </a:solidFill>
                <a:latin typeface="Aptos" panose="020B0004020202020204" pitchFamily="34" charset="0"/>
              </a:rPr>
              <a:t>Questions?</a:t>
            </a:r>
            <a:endParaRPr lang="zh-CN" altLang="en-US" sz="2200" b="1">
              <a:solidFill>
                <a:srgbClr val="DCEBFC"/>
              </a:solidFill>
              <a:latin typeface="Aptos" panose="020B0004020202020204" pitchFamily="34" charset="0"/>
            </a:endParaRPr>
          </a:p>
        </p:txBody>
      </p:sp>
      <p:cxnSp>
        <p:nvCxnSpPr>
          <p:cNvPr id="9" name="qrule">
            <a:extLst>
              <a:ext uri="{FF2B5EF4-FFF2-40B4-BE49-F238E27FC236}">
                <a16:creationId xmlns:a16="http://schemas.microsoft.com/office/drawing/2014/main" id="{9062CB75-E730-B681-3AC9-01FFE5BC5CF8}"/>
              </a:ext>
            </a:extLst>
          </p:cNvPr>
          <p:cNvCxnSpPr/>
          <p:nvPr/>
        </p:nvCxnSpPr>
        <p:spPr>
          <a:xfrm>
            <a:off x="5054600" y="3149600"/>
            <a:ext cx="49784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0" name="anchor1">
            <a:extLst>
              <a:ext uri="{FF2B5EF4-FFF2-40B4-BE49-F238E27FC236}">
                <a16:creationId xmlns:a16="http://schemas.microsoft.com/office/drawing/2014/main" id="{C8BD2A78-3BA8-6B1E-0644-C88DCFA50236}"/>
              </a:ext>
            </a:extLst>
          </p:cNvPr>
          <p:cNvSpPr txBox="1"/>
          <p:nvPr/>
        </p:nvSpPr>
        <p:spPr>
          <a:xfrm>
            <a:off x="5054600" y="36322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1. Contribution: evidence contract for code watermarking</a:t>
            </a:r>
            <a:endParaRPr lang="zh-CN" altLang="en-US" sz="1050" b="1">
              <a:solidFill>
                <a:srgbClr val="FFFFFF"/>
              </a:solidFill>
              <a:latin typeface="Aptos" panose="020B0004020202020204" pitchFamily="34" charset="0"/>
            </a:endParaRPr>
          </a:p>
        </p:txBody>
      </p:sp>
      <p:sp>
        <p:nvSpPr>
          <p:cNvPr id="11" name="anchor2">
            <a:extLst>
              <a:ext uri="{FF2B5EF4-FFF2-40B4-BE49-F238E27FC236}">
                <a16:creationId xmlns:a16="http://schemas.microsoft.com/office/drawing/2014/main" id="{13B933A4-93A0-8D8E-CF91-D5312731B6A5}"/>
              </a:ext>
            </a:extLst>
          </p:cNvPr>
          <p:cNvSpPr txBox="1"/>
          <p:nvPr/>
        </p:nvSpPr>
        <p:spPr>
          <a:xfrm>
            <a:off x="5054600" y="40640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2. Evaluation: denominator + controls + boundary</a:t>
            </a:r>
            <a:endParaRPr lang="zh-CN" altLang="en-US" sz="1050" b="1">
              <a:solidFill>
                <a:srgbClr val="FFFFFF"/>
              </a:solidFill>
              <a:latin typeface="Aptos" panose="020B0004020202020204" pitchFamily="34" charset="0"/>
            </a:endParaRPr>
          </a:p>
        </p:txBody>
      </p:sp>
      <p:sp>
        <p:nvSpPr>
          <p:cNvPr id="12" name="anchor3">
            <a:extLst>
              <a:ext uri="{FF2B5EF4-FFF2-40B4-BE49-F238E27FC236}">
                <a16:creationId xmlns:a16="http://schemas.microsoft.com/office/drawing/2014/main" id="{2734DCF0-9401-5DEC-2F15-B337870CFAE1}"/>
              </a:ext>
            </a:extLst>
          </p:cNvPr>
          <p:cNvSpPr txBox="1"/>
          <p:nvPr/>
        </p:nvSpPr>
        <p:spPr>
          <a:xfrm>
            <a:off x="5054600" y="44958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3. Demo: inspectable repository, not a full rerun</a:t>
            </a:r>
            <a:endParaRPr lang="zh-CN" altLang="en-US" sz="1050" b="1">
              <a:solidFill>
                <a:srgbClr val="FFFFFF"/>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049B14E9-6B1E-B248-4E08-BBA154BD5C42}"/>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39800" y="1320800"/>
            <a:ext cx="1320800" cy="1320800"/>
          </a:xfrm>
          <a:prstGeom prst="rect">
            <a:avLst/>
          </a:prstGeom>
        </p:spPr>
      </p:pic>
      <p:sp>
        <p:nvSpPr>
          <p:cNvPr id="15" name="qrlab">
            <a:extLst>
              <a:ext uri="{FF2B5EF4-FFF2-40B4-BE49-F238E27FC236}">
                <a16:creationId xmlns:a16="http://schemas.microsoft.com/office/drawing/2014/main" id="{B6B654A2-E6E1-DF7B-9B7A-F79C85B1909C}"/>
              </a:ext>
            </a:extLst>
          </p:cNvPr>
          <p:cNvSpPr txBox="1"/>
          <p:nvPr/>
        </p:nvSpPr>
        <p:spPr>
          <a:xfrm>
            <a:off x="939800" y="2895600"/>
            <a:ext cx="22352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Project page and repository</a:t>
            </a:r>
            <a:endParaRPr lang="zh-CN" altLang="en-US" sz="820" b="1">
              <a:solidFill>
                <a:srgbClr val="FFFFFF"/>
              </a:solidFill>
              <a:latin typeface="Aptos" panose="020B0004020202020204" pitchFamily="34" charset="0"/>
            </a:endParaRPr>
          </a:p>
        </p:txBody>
      </p:sp>
      <p:sp>
        <p:nvSpPr>
          <p:cNvPr id="16" name="close-page">
            <a:hlinkClick r:id="rId4"/>
            <a:extLst>
              <a:ext uri="{FF2B5EF4-FFF2-40B4-BE49-F238E27FC236}">
                <a16:creationId xmlns:a16="http://schemas.microsoft.com/office/drawing/2014/main" id="{79A8BC32-69AF-4FE4-3602-1A8366250121}"/>
              </a:ext>
            </a:extLst>
          </p:cNvPr>
          <p:cNvSpPr/>
          <p:nvPr/>
        </p:nvSpPr>
        <p:spPr>
          <a:xfrm>
            <a:off x="939800" y="3352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7" name="close-repo">
            <a:hlinkClick r:id="rId6"/>
            <a:extLst>
              <a:ext uri="{FF2B5EF4-FFF2-40B4-BE49-F238E27FC236}">
                <a16:creationId xmlns:a16="http://schemas.microsoft.com/office/drawing/2014/main" id="{E7AA334F-AF24-6F18-B7BA-6D8607EC80F2}"/>
              </a:ext>
            </a:extLst>
          </p:cNvPr>
          <p:cNvSpPr/>
          <p:nvPr/>
        </p:nvSpPr>
        <p:spPr>
          <a:xfrm>
            <a:off x="2184400" y="33528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8" name="footer-hit-13">
            <a:hlinkClick r:id="rId4"/>
            <a:extLst>
              <a:ext uri="{FF2B5EF4-FFF2-40B4-BE49-F238E27FC236}">
                <a16:creationId xmlns:a16="http://schemas.microsoft.com/office/drawing/2014/main" id="{95F31635-DFDA-6272-BDF6-0BADF11EA0BF}"/>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2480211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773DADB-FA92-F0FD-EB45-0A773DA6EED3}"/>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28846E3C-A9B0-46A9-88A2-7ED9EFB53CE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02DD30C2-30BB-6C24-B259-DE6309CE839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CBC2F1B9-FCE0-0633-9E70-475693B6013C}"/>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08B9CD26-D82F-339E-E897-BDD374486B10}"/>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FADCE3F-FFB4-6CCF-A252-3169A27C7284}"/>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0FE7AA1-F8B1-E4E5-E587-20A8918A652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CD4A4A28-D8D8-4C52-DB33-9FF0055EF29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4233215A-CB0F-0F44-1EDE-FC62B5642621}"/>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Formula and boundary reference.</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57F30A2A-99F9-B25C-743E-D140DC5A6E0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only if the examiner asks about notation or statistical reading.</a:t>
            </a:r>
            <a:endParaRPr lang="zh-CN" altLang="en-US" sz="930">
              <a:solidFill>
                <a:srgbClr val="4A5B78"/>
              </a:solidFill>
              <a:latin typeface="Aptos" panose="020B0004020202020204" pitchFamily="34" charset="0"/>
            </a:endParaRPr>
          </a:p>
        </p:txBody>
      </p:sp>
      <p:sp>
        <p:nvSpPr>
          <p:cNvPr id="13" name="f1">
            <a:extLst>
              <a:ext uri="{FF2B5EF4-FFF2-40B4-BE49-F238E27FC236}">
                <a16:creationId xmlns:a16="http://schemas.microsoft.com/office/drawing/2014/main" id="{29E0221E-775D-29DC-B585-D0D3A0627838}"/>
              </a:ext>
            </a:extLst>
          </p:cNvPr>
          <p:cNvSpPr/>
          <p:nvPr/>
        </p:nvSpPr>
        <p:spPr>
          <a:xfrm>
            <a:off x="965200" y="1828800"/>
            <a:ext cx="4572000" cy="1320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1t">
            <a:extLst>
              <a:ext uri="{FF2B5EF4-FFF2-40B4-BE49-F238E27FC236}">
                <a16:creationId xmlns:a16="http://schemas.microsoft.com/office/drawing/2014/main" id="{81A9D104-04C1-1853-6A8B-5DE8C6D5A62D}"/>
              </a:ext>
            </a:extLst>
          </p:cNvPr>
          <p:cNvSpPr txBox="1"/>
          <p:nvPr/>
        </p:nvSpPr>
        <p:spPr>
          <a:xfrm>
            <a:off x="1397000" y="2298700"/>
            <a:ext cx="3708400" cy="276999"/>
          </a:xfrm>
          <a:prstGeom prst="rect">
            <a:avLst/>
          </a:prstGeom>
          <a:noFill/>
        </p:spPr>
        <p:txBody>
          <a:bodyPr vert="horz" wrap="square" lIns="0" tIns="0" rIns="0" bIns="0" rtlCol="0">
            <a:noAutofit/>
          </a:bodyPr>
          <a:lstStyle/>
          <a:p>
            <a:r>
              <a:rPr lang="pt-BR" altLang="zh-CN" sz="2100" b="1">
                <a:solidFill>
                  <a:srgbClr val="FFFFFF"/>
                </a:solidFill>
                <a:latin typeface="Consolas" panose="020B0609020204030204" pitchFamily="49" charset="0"/>
              </a:rPr>
              <a:t>E = &lt;D, C, A, H, B&gt;</a:t>
            </a:r>
            <a:endParaRPr lang="zh-CN" altLang="en-US" sz="2100" b="1">
              <a:solidFill>
                <a:srgbClr val="FFFFFF"/>
              </a:solidFill>
              <a:latin typeface="Consolas" panose="020B0609020204030204" pitchFamily="49" charset="0"/>
            </a:endParaRPr>
          </a:p>
        </p:txBody>
      </p:sp>
      <p:sp>
        <p:nvSpPr>
          <p:cNvPr id="15" name="f2">
            <a:extLst>
              <a:ext uri="{FF2B5EF4-FFF2-40B4-BE49-F238E27FC236}">
                <a16:creationId xmlns:a16="http://schemas.microsoft.com/office/drawing/2014/main" id="{9C7E6F0E-73EF-B918-BD71-603A4233B516}"/>
              </a:ext>
            </a:extLst>
          </p:cNvPr>
          <p:cNvSpPr/>
          <p:nvPr/>
        </p:nvSpPr>
        <p:spPr>
          <a:xfrm>
            <a:off x="6350000" y="1828800"/>
            <a:ext cx="4572000" cy="13208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f2t">
            <a:extLst>
              <a:ext uri="{FF2B5EF4-FFF2-40B4-BE49-F238E27FC236}">
                <a16:creationId xmlns:a16="http://schemas.microsoft.com/office/drawing/2014/main" id="{B8B69154-D0E4-3C77-4B55-74723B1CFEFB}"/>
              </a:ext>
            </a:extLst>
          </p:cNvPr>
          <p:cNvSpPr txBox="1"/>
          <p:nvPr/>
        </p:nvSpPr>
        <p:spPr>
          <a:xfrm>
            <a:off x="6756400" y="2247900"/>
            <a:ext cx="3632200" cy="276999"/>
          </a:xfrm>
          <a:prstGeom prst="rect">
            <a:avLst/>
          </a:prstGeom>
          <a:noFill/>
        </p:spPr>
        <p:txBody>
          <a:bodyPr vert="horz" wrap="square" lIns="0" tIns="0" rIns="0" bIns="0" rtlCol="0">
            <a:noAutofit/>
          </a:bodyPr>
          <a:lstStyle/>
          <a:p>
            <a:r>
              <a:rPr lang="en-US" altLang="zh-CN" sz="1380" b="1">
                <a:solidFill>
                  <a:srgbClr val="071A3D"/>
                </a:solidFill>
                <a:latin typeface="Consolas" panose="020B0609020204030204" pitchFamily="49" charset="0"/>
              </a:rPr>
              <a:t>claim := f(E, controls,
           access, boundary)</a:t>
            </a:r>
            <a:endParaRPr lang="zh-CN" altLang="en-US" sz="1380" b="1">
              <a:solidFill>
                <a:srgbClr val="071A3D"/>
              </a:solidFill>
              <a:latin typeface="Consolas" panose="020B0609020204030204" pitchFamily="49" charset="0"/>
            </a:endParaRPr>
          </a:p>
        </p:txBody>
      </p:sp>
      <p:sp>
        <p:nvSpPr>
          <p:cNvPr id="17" name="it-0">
            <a:extLst>
              <a:ext uri="{FF2B5EF4-FFF2-40B4-BE49-F238E27FC236}">
                <a16:creationId xmlns:a16="http://schemas.microsoft.com/office/drawing/2014/main" id="{7E699A2F-80EB-EDFF-A1DC-F54D8E4F26CB}"/>
              </a:ext>
            </a:extLst>
          </p:cNvPr>
          <p:cNvSpPr txBox="1"/>
          <p:nvPr/>
        </p:nvSpPr>
        <p:spPr>
          <a:xfrm>
            <a:off x="1955800" y="36322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D</a:t>
            </a:r>
            <a:endParaRPr lang="zh-CN" altLang="en-US" sz="900" b="1">
              <a:solidFill>
                <a:srgbClr val="003B7A"/>
              </a:solidFill>
              <a:latin typeface="Consolas" panose="020B0609020204030204" pitchFamily="49" charset="0"/>
            </a:endParaRPr>
          </a:p>
        </p:txBody>
      </p:sp>
      <p:sp>
        <p:nvSpPr>
          <p:cNvPr id="18" name="it2-0">
            <a:extLst>
              <a:ext uri="{FF2B5EF4-FFF2-40B4-BE49-F238E27FC236}">
                <a16:creationId xmlns:a16="http://schemas.microsoft.com/office/drawing/2014/main" id="{98E3008A-F7E9-0FC3-8DB4-72BC61B63A91}"/>
              </a:ext>
            </a:extLst>
          </p:cNvPr>
          <p:cNvSpPr txBox="1"/>
          <p:nvPr/>
        </p:nvSpPr>
        <p:spPr>
          <a:xfrm>
            <a:off x="2514600" y="36322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denominator fixed before results</a:t>
            </a:r>
            <a:endParaRPr lang="zh-CN" altLang="en-US" sz="820">
              <a:solidFill>
                <a:srgbClr val="071A3D"/>
              </a:solidFill>
              <a:latin typeface="Aptos" panose="020B0004020202020204" pitchFamily="34" charset="0"/>
            </a:endParaRPr>
          </a:p>
        </p:txBody>
      </p:sp>
      <p:sp>
        <p:nvSpPr>
          <p:cNvPr id="19" name="it-1">
            <a:extLst>
              <a:ext uri="{FF2B5EF4-FFF2-40B4-BE49-F238E27FC236}">
                <a16:creationId xmlns:a16="http://schemas.microsoft.com/office/drawing/2014/main" id="{DE6C87D4-BDAA-C802-7A4C-DA5E3D56E593}"/>
              </a:ext>
            </a:extLst>
          </p:cNvPr>
          <p:cNvSpPr txBox="1"/>
          <p:nvPr/>
        </p:nvSpPr>
        <p:spPr>
          <a:xfrm>
            <a:off x="1955800" y="40513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C</a:t>
            </a:r>
            <a:endParaRPr lang="zh-CN" altLang="en-US" sz="900" b="1">
              <a:solidFill>
                <a:srgbClr val="003B7A"/>
              </a:solidFill>
              <a:latin typeface="Consolas" panose="020B0609020204030204" pitchFamily="49" charset="0"/>
            </a:endParaRPr>
          </a:p>
        </p:txBody>
      </p:sp>
      <p:sp>
        <p:nvSpPr>
          <p:cNvPr id="20" name="it2-1">
            <a:extLst>
              <a:ext uri="{FF2B5EF4-FFF2-40B4-BE49-F238E27FC236}">
                <a16:creationId xmlns:a16="http://schemas.microsoft.com/office/drawing/2014/main" id="{510A1423-36A6-6B3F-30FF-EB7534FF94D5}"/>
              </a:ext>
            </a:extLst>
          </p:cNvPr>
          <p:cNvSpPr txBox="1"/>
          <p:nvPr/>
        </p:nvSpPr>
        <p:spPr>
          <a:xfrm>
            <a:off x="2514600" y="40513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positive and negative controls</a:t>
            </a:r>
            <a:endParaRPr lang="zh-CN" altLang="en-US" sz="820">
              <a:solidFill>
                <a:srgbClr val="071A3D"/>
              </a:solidFill>
              <a:latin typeface="Aptos" panose="020B0004020202020204" pitchFamily="34" charset="0"/>
            </a:endParaRPr>
          </a:p>
        </p:txBody>
      </p:sp>
      <p:sp>
        <p:nvSpPr>
          <p:cNvPr id="21" name="it-2">
            <a:extLst>
              <a:ext uri="{FF2B5EF4-FFF2-40B4-BE49-F238E27FC236}">
                <a16:creationId xmlns:a16="http://schemas.microsoft.com/office/drawing/2014/main" id="{DFB14A89-EF02-4042-6872-946F1D39A961}"/>
              </a:ext>
            </a:extLst>
          </p:cNvPr>
          <p:cNvSpPr txBox="1"/>
          <p:nvPr/>
        </p:nvSpPr>
        <p:spPr>
          <a:xfrm>
            <a:off x="1955800" y="44704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A</a:t>
            </a:r>
            <a:endParaRPr lang="zh-CN" altLang="en-US" sz="900" b="1">
              <a:solidFill>
                <a:srgbClr val="003B7A"/>
              </a:solidFill>
              <a:latin typeface="Consolas" panose="020B0609020204030204" pitchFamily="49" charset="0"/>
            </a:endParaRPr>
          </a:p>
        </p:txBody>
      </p:sp>
      <p:sp>
        <p:nvSpPr>
          <p:cNvPr id="22" name="it2-2">
            <a:extLst>
              <a:ext uri="{FF2B5EF4-FFF2-40B4-BE49-F238E27FC236}">
                <a16:creationId xmlns:a16="http://schemas.microsoft.com/office/drawing/2014/main" id="{5BC6718A-9E75-35C2-9A88-01483B551426}"/>
              </a:ext>
            </a:extLst>
          </p:cNvPr>
          <p:cNvSpPr txBox="1"/>
          <p:nvPr/>
        </p:nvSpPr>
        <p:spPr>
          <a:xfrm>
            <a:off x="2514600" y="44704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artifact, model access, and protocol</a:t>
            </a:r>
            <a:endParaRPr lang="zh-CN" altLang="en-US" sz="820">
              <a:solidFill>
                <a:srgbClr val="071A3D"/>
              </a:solidFill>
              <a:latin typeface="Aptos" panose="020B0004020202020204" pitchFamily="34" charset="0"/>
            </a:endParaRPr>
          </a:p>
        </p:txBody>
      </p:sp>
      <p:sp>
        <p:nvSpPr>
          <p:cNvPr id="23" name="it-3">
            <a:extLst>
              <a:ext uri="{FF2B5EF4-FFF2-40B4-BE49-F238E27FC236}">
                <a16:creationId xmlns:a16="http://schemas.microsoft.com/office/drawing/2014/main" id="{22151905-7C00-D7A6-D2DE-5A20CFA60198}"/>
              </a:ext>
            </a:extLst>
          </p:cNvPr>
          <p:cNvSpPr txBox="1"/>
          <p:nvPr/>
        </p:nvSpPr>
        <p:spPr>
          <a:xfrm>
            <a:off x="1955800" y="48895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H</a:t>
            </a:r>
            <a:endParaRPr lang="zh-CN" altLang="en-US" sz="900" b="1">
              <a:solidFill>
                <a:srgbClr val="003B7A"/>
              </a:solidFill>
              <a:latin typeface="Consolas" panose="020B0609020204030204" pitchFamily="49" charset="0"/>
            </a:endParaRPr>
          </a:p>
        </p:txBody>
      </p:sp>
      <p:sp>
        <p:nvSpPr>
          <p:cNvPr id="24" name="it2-3">
            <a:extLst>
              <a:ext uri="{FF2B5EF4-FFF2-40B4-BE49-F238E27FC236}">
                <a16:creationId xmlns:a16="http://schemas.microsoft.com/office/drawing/2014/main" id="{60B4DF44-1FE3-B3A1-B243-0E1F0CA5D437}"/>
              </a:ext>
            </a:extLst>
          </p:cNvPr>
          <p:cNvSpPr txBox="1"/>
          <p:nvPr/>
        </p:nvSpPr>
        <p:spPr>
          <a:xfrm>
            <a:off x="2514600" y="48895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hash or integrity identifier</a:t>
            </a:r>
            <a:endParaRPr lang="zh-CN" altLang="en-US" sz="820">
              <a:solidFill>
                <a:srgbClr val="071A3D"/>
              </a:solidFill>
              <a:latin typeface="Aptos" panose="020B0004020202020204" pitchFamily="34" charset="0"/>
            </a:endParaRPr>
          </a:p>
        </p:txBody>
      </p:sp>
      <p:sp>
        <p:nvSpPr>
          <p:cNvPr id="25" name="it-4">
            <a:extLst>
              <a:ext uri="{FF2B5EF4-FFF2-40B4-BE49-F238E27FC236}">
                <a16:creationId xmlns:a16="http://schemas.microsoft.com/office/drawing/2014/main" id="{C174EA14-9C91-FAD7-F153-8D16BF906A91}"/>
              </a:ext>
            </a:extLst>
          </p:cNvPr>
          <p:cNvSpPr txBox="1"/>
          <p:nvPr/>
        </p:nvSpPr>
        <p:spPr>
          <a:xfrm>
            <a:off x="1955800" y="53086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B</a:t>
            </a:r>
            <a:endParaRPr lang="zh-CN" altLang="en-US" sz="900" b="1">
              <a:solidFill>
                <a:srgbClr val="003B7A"/>
              </a:solidFill>
              <a:latin typeface="Consolas" panose="020B0609020204030204" pitchFamily="49" charset="0"/>
            </a:endParaRPr>
          </a:p>
        </p:txBody>
      </p:sp>
      <p:sp>
        <p:nvSpPr>
          <p:cNvPr id="26" name="it2-4">
            <a:extLst>
              <a:ext uri="{FF2B5EF4-FFF2-40B4-BE49-F238E27FC236}">
                <a16:creationId xmlns:a16="http://schemas.microsoft.com/office/drawing/2014/main" id="{BA9C63BC-BA58-816F-9D7D-1F7FB7E74FCC}"/>
              </a:ext>
            </a:extLst>
          </p:cNvPr>
          <p:cNvSpPr txBox="1"/>
          <p:nvPr/>
        </p:nvSpPr>
        <p:spPr>
          <a:xfrm>
            <a:off x="2514600" y="53086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allowed and forbidden interpretation</a:t>
            </a:r>
            <a:endParaRPr lang="zh-CN" altLang="en-US" sz="820">
              <a:solidFill>
                <a:srgbClr val="071A3D"/>
              </a:solidFill>
              <a:latin typeface="Aptos" panose="020B0004020202020204" pitchFamily="34" charset="0"/>
            </a:endParaRPr>
          </a:p>
        </p:txBody>
      </p:sp>
      <p:sp>
        <p:nvSpPr>
          <p:cNvPr id="27" name="footer-hit-14">
            <a:hlinkClick r:id="rId4"/>
            <a:extLst>
              <a:ext uri="{FF2B5EF4-FFF2-40B4-BE49-F238E27FC236}">
                <a16:creationId xmlns:a16="http://schemas.microsoft.com/office/drawing/2014/main" id="{BB30F40E-5AE2-C17A-B6FA-E316CA0E6081}"/>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5639793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60"/>
                                        <p:tgtEl>
                                          <p:spTgt spid="7"/>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60"/>
                                        <p:tgtEl>
                                          <p:spTgt spid="13"/>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160"/>
                                        <p:tgtEl>
                                          <p:spTgt spid="14"/>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60"/>
                                        <p:tgtEl>
                                          <p:spTgt spid="15"/>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160"/>
                                        <p:tgtEl>
                                          <p:spTgt spid="16"/>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60"/>
                                        <p:tgtEl>
                                          <p:spTgt spid="17"/>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160"/>
                                        <p:tgtEl>
                                          <p:spTgt spid="18"/>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160"/>
                                        <p:tgtEl>
                                          <p:spTgt spid="19"/>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60"/>
                                        <p:tgtEl>
                                          <p:spTgt spid="20"/>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60"/>
                                        <p:tgtEl>
                                          <p:spTgt spid="21"/>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160"/>
                                        <p:tgtEl>
                                          <p:spTgt spid="22"/>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160"/>
                                        <p:tgtEl>
                                          <p:spTgt spid="23"/>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160"/>
                                        <p:tgtEl>
                                          <p:spTgt spid="24"/>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160"/>
                                        <p:tgtEl>
                                          <p:spTgt spid="25"/>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4" grpId="0"/>
      <p:bldP spid="15" grpId="0" animBg="1"/>
      <p:bldP spid="16" grpId="0"/>
      <p:bldP spid="17" grpId="0"/>
      <p:bldP spid="18" grpId="0"/>
      <p:bldP spid="19" grpId="0"/>
      <p:bldP spid="20" grpId="0"/>
      <p:bldP spid="21" grpId="0"/>
      <p:bldP spid="22" grpId="0"/>
      <p:bldP spid="23" grpId="0"/>
      <p:bldP spid="24" grpId="0"/>
      <p:bldP spid="25" grpId="0"/>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165762C-0033-D483-DC9D-74912CB0FE8C}"/>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32483C0-6477-4DA8-293D-F53B884E665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4316A347-6837-62C9-B4AB-ED81533323B7}"/>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A9FBEC9F-1414-9416-0A68-B6C41BF46A7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05719ECF-A4D9-A0B5-74F4-5E1B1242445B}"/>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43E5B97F-C9C2-5727-935D-A1A561F74988}"/>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CC4F8BAE-EF1B-23EC-946C-03E51D6BBCD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B341CD09-C591-DFD3-0B34-41986C2B5A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66A7B31-D898-1E54-29F6-C46B865780CE}"/>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Likely viva questions: short answers.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536018F-F9D1-FBE1-A072-025FF6C5D406}"/>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Answer directly first, then add the evidence boundary.</a:t>
            </a:r>
            <a:endParaRPr lang="zh-CN" altLang="en-US" sz="930">
              <a:solidFill>
                <a:srgbClr val="4A5B78"/>
              </a:solidFill>
              <a:latin typeface="Aptos" panose="020B0004020202020204" pitchFamily="34" charset="0"/>
            </a:endParaRPr>
          </a:p>
        </p:txBody>
      </p:sp>
      <p:sp>
        <p:nvSpPr>
          <p:cNvPr id="13" name="qa-0">
            <a:extLst>
              <a:ext uri="{FF2B5EF4-FFF2-40B4-BE49-F238E27FC236}">
                <a16:creationId xmlns:a16="http://schemas.microsoft.com/office/drawing/2014/main" id="{33E07B0D-3B3D-D43A-DAB5-E1EC81F1B2CC}"/>
              </a:ext>
            </a:extLst>
          </p:cNvPr>
          <p:cNvSpPr/>
          <p:nvPr/>
        </p:nvSpPr>
        <p:spPr>
          <a:xfrm>
            <a:off x="990600" y="17526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qa-band-0">
            <a:extLst>
              <a:ext uri="{FF2B5EF4-FFF2-40B4-BE49-F238E27FC236}">
                <a16:creationId xmlns:a16="http://schemas.microsoft.com/office/drawing/2014/main" id="{EF04F91C-88B0-F253-8AA0-7F8D5F7A93EA}"/>
              </a:ext>
            </a:extLst>
          </p:cNvPr>
          <p:cNvSpPr/>
          <p:nvPr/>
        </p:nvSpPr>
        <p:spPr>
          <a:xfrm>
            <a:off x="990600" y="17526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q-0">
            <a:extLst>
              <a:ext uri="{FF2B5EF4-FFF2-40B4-BE49-F238E27FC236}">
                <a16:creationId xmlns:a16="http://schemas.microsoft.com/office/drawing/2014/main" id="{F786F261-0F66-3F6A-F101-B77519065564}"/>
              </a:ext>
            </a:extLst>
          </p:cNvPr>
          <p:cNvSpPr txBox="1"/>
          <p:nvPr/>
        </p:nvSpPr>
        <p:spPr>
          <a:xfrm>
            <a:off x="1320800" y="19050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Why not one detector score?</a:t>
            </a:r>
            <a:endParaRPr lang="zh-CN" altLang="en-US" sz="880" b="1">
              <a:solidFill>
                <a:srgbClr val="003B7A"/>
              </a:solidFill>
              <a:latin typeface="Aptos" panose="020B0004020202020204" pitchFamily="34" charset="0"/>
            </a:endParaRPr>
          </a:p>
        </p:txBody>
      </p:sp>
      <p:sp>
        <p:nvSpPr>
          <p:cNvPr id="16" name="a-0">
            <a:extLst>
              <a:ext uri="{FF2B5EF4-FFF2-40B4-BE49-F238E27FC236}">
                <a16:creationId xmlns:a16="http://schemas.microsoft.com/office/drawing/2014/main" id="{8A04D893-34D1-ABA3-EEBD-E1047DB951ED}"/>
              </a:ext>
            </a:extLst>
          </p:cNvPr>
          <p:cNvSpPr txBox="1"/>
          <p:nvPr/>
        </p:nvSpPr>
        <p:spPr>
          <a:xfrm>
            <a:off x="5029200" y="19050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Because different access models require different evidence objects.</a:t>
            </a:r>
            <a:endParaRPr lang="zh-CN" altLang="en-US" sz="820">
              <a:solidFill>
                <a:srgbClr val="071A3D"/>
              </a:solidFill>
              <a:latin typeface="Aptos" panose="020B0004020202020204" pitchFamily="34" charset="0"/>
            </a:endParaRPr>
          </a:p>
        </p:txBody>
      </p:sp>
      <p:sp>
        <p:nvSpPr>
          <p:cNvPr id="17" name="qa-1">
            <a:extLst>
              <a:ext uri="{FF2B5EF4-FFF2-40B4-BE49-F238E27FC236}">
                <a16:creationId xmlns:a16="http://schemas.microsoft.com/office/drawing/2014/main" id="{74E7F4A5-5A7E-4943-D29C-9DB4B45BEA21}"/>
              </a:ext>
            </a:extLst>
          </p:cNvPr>
          <p:cNvSpPr/>
          <p:nvPr/>
        </p:nvSpPr>
        <p:spPr>
          <a:xfrm>
            <a:off x="990600" y="25019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qa-band-1">
            <a:extLst>
              <a:ext uri="{FF2B5EF4-FFF2-40B4-BE49-F238E27FC236}">
                <a16:creationId xmlns:a16="http://schemas.microsoft.com/office/drawing/2014/main" id="{3CC46DBF-47E1-5656-112B-E345FB144E9B}"/>
              </a:ext>
            </a:extLst>
          </p:cNvPr>
          <p:cNvSpPr/>
          <p:nvPr/>
        </p:nvSpPr>
        <p:spPr>
          <a:xfrm>
            <a:off x="990600" y="25019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q-1">
            <a:extLst>
              <a:ext uri="{FF2B5EF4-FFF2-40B4-BE49-F238E27FC236}">
                <a16:creationId xmlns:a16="http://schemas.microsoft.com/office/drawing/2014/main" id="{B32BB1BA-169D-09DF-0DA7-C6B3EC658472}"/>
              </a:ext>
            </a:extLst>
          </p:cNvPr>
          <p:cNvSpPr txBox="1"/>
          <p:nvPr/>
        </p:nvSpPr>
        <p:spPr>
          <a:xfrm>
            <a:off x="1320800" y="26543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Does CodeDye prove contamination?</a:t>
            </a:r>
            <a:endParaRPr lang="zh-CN" altLang="en-US" sz="880" b="1">
              <a:solidFill>
                <a:srgbClr val="003B7A"/>
              </a:solidFill>
              <a:latin typeface="Aptos" panose="020B0004020202020204" pitchFamily="34" charset="0"/>
            </a:endParaRPr>
          </a:p>
        </p:txBody>
      </p:sp>
      <p:sp>
        <p:nvSpPr>
          <p:cNvPr id="20" name="a-1">
            <a:extLst>
              <a:ext uri="{FF2B5EF4-FFF2-40B4-BE49-F238E27FC236}">
                <a16:creationId xmlns:a16="http://schemas.microsoft.com/office/drawing/2014/main" id="{C8E37FEA-7D17-C9A7-EB5B-0211744DFC75}"/>
              </a:ext>
            </a:extLst>
          </p:cNvPr>
          <p:cNvSpPr txBox="1"/>
          <p:nvPr/>
        </p:nvSpPr>
        <p:spPr>
          <a:xfrm>
            <a:off x="5029200" y="26543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No. It is a controlled null-audit surface, not an accusation.</a:t>
            </a:r>
            <a:endParaRPr lang="zh-CN" altLang="en-US" sz="820">
              <a:solidFill>
                <a:srgbClr val="071A3D"/>
              </a:solidFill>
              <a:latin typeface="Aptos" panose="020B0004020202020204" pitchFamily="34" charset="0"/>
            </a:endParaRPr>
          </a:p>
        </p:txBody>
      </p:sp>
      <p:sp>
        <p:nvSpPr>
          <p:cNvPr id="21" name="qa-2">
            <a:extLst>
              <a:ext uri="{FF2B5EF4-FFF2-40B4-BE49-F238E27FC236}">
                <a16:creationId xmlns:a16="http://schemas.microsoft.com/office/drawing/2014/main" id="{D10B40BD-8974-21CF-DBAD-5529E6EB222C}"/>
              </a:ext>
            </a:extLst>
          </p:cNvPr>
          <p:cNvSpPr/>
          <p:nvPr/>
        </p:nvSpPr>
        <p:spPr>
          <a:xfrm>
            <a:off x="990600" y="32512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qa-band-2">
            <a:extLst>
              <a:ext uri="{FF2B5EF4-FFF2-40B4-BE49-F238E27FC236}">
                <a16:creationId xmlns:a16="http://schemas.microsoft.com/office/drawing/2014/main" id="{C2069CFB-5B60-A364-7633-E49FEBB7937A}"/>
              </a:ext>
            </a:extLst>
          </p:cNvPr>
          <p:cNvSpPr/>
          <p:nvPr/>
        </p:nvSpPr>
        <p:spPr>
          <a:xfrm>
            <a:off x="990600" y="32512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q-2">
            <a:extLst>
              <a:ext uri="{FF2B5EF4-FFF2-40B4-BE49-F238E27FC236}">
                <a16:creationId xmlns:a16="http://schemas.microsoft.com/office/drawing/2014/main" id="{AC75C81E-62E4-2B6A-8A8E-35542A0116CB}"/>
              </a:ext>
            </a:extLst>
          </p:cNvPr>
          <p:cNvSpPr txBox="1"/>
          <p:nvPr/>
        </p:nvSpPr>
        <p:spPr>
          <a:xfrm>
            <a:off x="1320800" y="34036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Is ProbeTrace too perfect?</a:t>
            </a:r>
            <a:endParaRPr lang="zh-CN" altLang="en-US" sz="880" b="1">
              <a:solidFill>
                <a:srgbClr val="003B7A"/>
              </a:solidFill>
              <a:latin typeface="Aptos" panose="020B0004020202020204" pitchFamily="34" charset="0"/>
            </a:endParaRPr>
          </a:p>
        </p:txBody>
      </p:sp>
      <p:sp>
        <p:nvSpPr>
          <p:cNvPr id="24" name="a-2">
            <a:extLst>
              <a:ext uri="{FF2B5EF4-FFF2-40B4-BE49-F238E27FC236}">
                <a16:creationId xmlns:a16="http://schemas.microsoft.com/office/drawing/2014/main" id="{2E3F9D9C-E95F-F153-46D2-5BA192A13FD6}"/>
              </a:ext>
            </a:extLst>
          </p:cNvPr>
          <p:cNvSpPr txBox="1"/>
          <p:nvPr/>
        </p:nvSpPr>
        <p:spPr>
          <a:xfrm>
            <a:off x="5029200" y="34036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It is scoped to the evaluated five-owner denominator and controls.</a:t>
            </a:r>
            <a:endParaRPr lang="zh-CN" altLang="en-US" sz="820">
              <a:solidFill>
                <a:srgbClr val="071A3D"/>
              </a:solidFill>
              <a:latin typeface="Aptos" panose="020B0004020202020204" pitchFamily="34" charset="0"/>
            </a:endParaRPr>
          </a:p>
        </p:txBody>
      </p:sp>
      <p:sp>
        <p:nvSpPr>
          <p:cNvPr id="25" name="qa-3">
            <a:extLst>
              <a:ext uri="{FF2B5EF4-FFF2-40B4-BE49-F238E27FC236}">
                <a16:creationId xmlns:a16="http://schemas.microsoft.com/office/drawing/2014/main" id="{A3E88521-D443-02E8-74BB-D7C57362EA84}"/>
              </a:ext>
            </a:extLst>
          </p:cNvPr>
          <p:cNvSpPr/>
          <p:nvPr/>
        </p:nvSpPr>
        <p:spPr>
          <a:xfrm>
            <a:off x="990600" y="40005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a-band-3">
            <a:extLst>
              <a:ext uri="{FF2B5EF4-FFF2-40B4-BE49-F238E27FC236}">
                <a16:creationId xmlns:a16="http://schemas.microsoft.com/office/drawing/2014/main" id="{ECF54E89-1C58-9FA8-8F23-39EA02C9BD76}"/>
              </a:ext>
            </a:extLst>
          </p:cNvPr>
          <p:cNvSpPr/>
          <p:nvPr/>
        </p:nvSpPr>
        <p:spPr>
          <a:xfrm>
            <a:off x="990600" y="40005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q-3">
            <a:extLst>
              <a:ext uri="{FF2B5EF4-FFF2-40B4-BE49-F238E27FC236}">
                <a16:creationId xmlns:a16="http://schemas.microsoft.com/office/drawing/2014/main" id="{32B434C2-48D7-E270-011B-DE93B2747308}"/>
              </a:ext>
            </a:extLst>
          </p:cNvPr>
          <p:cNvSpPr txBox="1"/>
          <p:nvPr/>
        </p:nvSpPr>
        <p:spPr>
          <a:xfrm>
            <a:off x="1320800" y="41529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What does the demo prove?</a:t>
            </a:r>
            <a:endParaRPr lang="zh-CN" altLang="en-US" sz="880" b="1">
              <a:solidFill>
                <a:srgbClr val="003B7A"/>
              </a:solidFill>
              <a:latin typeface="Aptos" panose="020B0004020202020204" pitchFamily="34" charset="0"/>
            </a:endParaRPr>
          </a:p>
        </p:txBody>
      </p:sp>
      <p:sp>
        <p:nvSpPr>
          <p:cNvPr id="28" name="a-3">
            <a:extLst>
              <a:ext uri="{FF2B5EF4-FFF2-40B4-BE49-F238E27FC236}">
                <a16:creationId xmlns:a16="http://schemas.microsoft.com/office/drawing/2014/main" id="{596DBFD2-3176-B17D-6DD5-87DB6BF01853}"/>
              </a:ext>
            </a:extLst>
          </p:cNvPr>
          <p:cNvSpPr txBox="1"/>
          <p:nvPr/>
        </p:nvSpPr>
        <p:spPr>
          <a:xfrm>
            <a:off x="5029200" y="41529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Repository consistency and inspectability, not a full experimental rerun.</a:t>
            </a:r>
            <a:endParaRPr lang="zh-CN" altLang="en-US" sz="820">
              <a:solidFill>
                <a:srgbClr val="071A3D"/>
              </a:solidFill>
              <a:latin typeface="Aptos" panose="020B0004020202020204" pitchFamily="34" charset="0"/>
            </a:endParaRPr>
          </a:p>
        </p:txBody>
      </p:sp>
      <p:sp>
        <p:nvSpPr>
          <p:cNvPr id="29" name="qa-4">
            <a:extLst>
              <a:ext uri="{FF2B5EF4-FFF2-40B4-BE49-F238E27FC236}">
                <a16:creationId xmlns:a16="http://schemas.microsoft.com/office/drawing/2014/main" id="{5A97BF93-679B-E8C2-3970-8F954DD80E10}"/>
              </a:ext>
            </a:extLst>
          </p:cNvPr>
          <p:cNvSpPr/>
          <p:nvPr/>
        </p:nvSpPr>
        <p:spPr>
          <a:xfrm>
            <a:off x="990600" y="47498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a-band-4">
            <a:extLst>
              <a:ext uri="{FF2B5EF4-FFF2-40B4-BE49-F238E27FC236}">
                <a16:creationId xmlns:a16="http://schemas.microsoft.com/office/drawing/2014/main" id="{9E002F5D-16A1-0903-627D-A19F4C7C0395}"/>
              </a:ext>
            </a:extLst>
          </p:cNvPr>
          <p:cNvSpPr/>
          <p:nvPr/>
        </p:nvSpPr>
        <p:spPr>
          <a:xfrm>
            <a:off x="990600" y="47498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q-4">
            <a:extLst>
              <a:ext uri="{FF2B5EF4-FFF2-40B4-BE49-F238E27FC236}">
                <a16:creationId xmlns:a16="http://schemas.microsoft.com/office/drawing/2014/main" id="{204ECA80-4EBC-775E-58D0-404775C88F58}"/>
              </a:ext>
            </a:extLst>
          </p:cNvPr>
          <p:cNvSpPr txBox="1"/>
          <p:nvPr/>
        </p:nvSpPr>
        <p:spPr>
          <a:xfrm>
            <a:off x="1320800" y="49022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Biggest limitation?</a:t>
            </a:r>
            <a:endParaRPr lang="zh-CN" altLang="en-US" sz="880" b="1">
              <a:solidFill>
                <a:srgbClr val="003B7A"/>
              </a:solidFill>
              <a:latin typeface="Aptos" panose="020B0004020202020204" pitchFamily="34" charset="0"/>
            </a:endParaRPr>
          </a:p>
        </p:txBody>
      </p:sp>
      <p:sp>
        <p:nvSpPr>
          <p:cNvPr id="32" name="a-4">
            <a:extLst>
              <a:ext uri="{FF2B5EF4-FFF2-40B4-BE49-F238E27FC236}">
                <a16:creationId xmlns:a16="http://schemas.microsoft.com/office/drawing/2014/main" id="{543803B4-769F-F27D-8DD5-5051EDD5381C}"/>
              </a:ext>
            </a:extLst>
          </p:cNvPr>
          <p:cNvSpPr txBox="1"/>
          <p:nvPr/>
        </p:nvSpPr>
        <p:spPr>
          <a:xfrm>
            <a:off x="5029200" y="49022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Finite denominators; broader claims need new admitted evidence.</a:t>
            </a:r>
            <a:endParaRPr lang="zh-CN" altLang="en-US" sz="820">
              <a:solidFill>
                <a:srgbClr val="071A3D"/>
              </a:solidFill>
              <a:latin typeface="Aptos" panose="020B0004020202020204" pitchFamily="34" charset="0"/>
            </a:endParaRPr>
          </a:p>
        </p:txBody>
      </p:sp>
      <p:sp>
        <p:nvSpPr>
          <p:cNvPr id="33" name="footer-hit-15">
            <a:hlinkClick r:id="rId4"/>
            <a:extLst>
              <a:ext uri="{FF2B5EF4-FFF2-40B4-BE49-F238E27FC236}">
                <a16:creationId xmlns:a16="http://schemas.microsoft.com/office/drawing/2014/main" id="{CBB75234-D7FF-A874-E789-C4B8558FCD58}"/>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18156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FF22F73-C94B-76B9-6E27-BDFF94242722}"/>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005D1C2-FA79-CCD2-C6AB-0B3C6AEAE556}"/>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B3CD78E5-D4EB-CB20-9E13-238BF92C0D88}"/>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1551B44-F252-1773-6DBC-C84EFF14EBF0}"/>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A64D7C3D-E407-C907-6AF4-0911846C3E54}"/>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1DA44B82-6811-B118-45AA-84CBFFDA76C3}"/>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F3139E22-B965-5E3B-A45D-0F738C7C99A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8AD5B520-C350-DD71-BC6B-12E62EBBF0A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35E25FB-8C5A-12BC-DA62-FD43C396390F}"/>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Demo storyboard and fallback.</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E9C6A5F5-C9AA-5A25-07A1-DD27EAE3E9BD}"/>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if the live demo fails or the examiner asks what the video shows.</a:t>
            </a:r>
            <a:endParaRPr lang="zh-CN" altLang="en-US" sz="930">
              <a:solidFill>
                <a:srgbClr val="4A5B78"/>
              </a:solidFill>
              <a:latin typeface="Aptos" panose="020B0004020202020204" pitchFamily="34" charset="0"/>
            </a:endParaRPr>
          </a:p>
        </p:txBody>
      </p:sp>
      <p:cxnSp>
        <p:nvCxnSpPr>
          <p:cNvPr id="13" name="demo-spine">
            <a:extLst>
              <a:ext uri="{FF2B5EF4-FFF2-40B4-BE49-F238E27FC236}">
                <a16:creationId xmlns:a16="http://schemas.microsoft.com/office/drawing/2014/main" id="{33E61FD0-FFE3-FCBC-F72C-2543AF4C7CDA}"/>
              </a:ext>
            </a:extLst>
          </p:cNvPr>
          <p:cNvCxnSpPr/>
          <p:nvPr/>
        </p:nvCxnSpPr>
        <p:spPr>
          <a:xfrm>
            <a:off x="1752600" y="3632200"/>
            <a:ext cx="8712200" cy="0"/>
          </a:xfrm>
          <a:prstGeom prst="line">
            <a:avLst/>
          </a:prstGeom>
          <a:ln w="25400">
            <a:solidFill>
              <a:srgbClr val="D5E2F0"/>
            </a:solidFill>
          </a:ln>
        </p:spPr>
        <p:style>
          <a:lnRef idx="1">
            <a:schemeClr val="accent1"/>
          </a:lnRef>
          <a:fillRef idx="0">
            <a:schemeClr val="accent1"/>
          </a:fillRef>
          <a:effectRef idx="0">
            <a:schemeClr val="accent1"/>
          </a:effectRef>
          <a:fontRef idx="minor">
            <a:schemeClr val="tx1"/>
          </a:fontRef>
        </p:style>
      </p:cxnSp>
      <p:sp>
        <p:nvSpPr>
          <p:cNvPr id="14" name="story-dot-0">
            <a:extLst>
              <a:ext uri="{FF2B5EF4-FFF2-40B4-BE49-F238E27FC236}">
                <a16:creationId xmlns:a16="http://schemas.microsoft.com/office/drawing/2014/main" id="{A25A1CA4-2BD1-4293-35CB-09A8102AB9FC}"/>
              </a:ext>
            </a:extLst>
          </p:cNvPr>
          <p:cNvSpPr/>
          <p:nvPr/>
        </p:nvSpPr>
        <p:spPr>
          <a:xfrm>
            <a:off x="1803400" y="3327400"/>
            <a:ext cx="609600" cy="609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tory-num-0">
            <a:extLst>
              <a:ext uri="{FF2B5EF4-FFF2-40B4-BE49-F238E27FC236}">
                <a16:creationId xmlns:a16="http://schemas.microsoft.com/office/drawing/2014/main" id="{44D5C846-4140-3023-B79E-DFD2B3A16903}"/>
              </a:ext>
            </a:extLst>
          </p:cNvPr>
          <p:cNvSpPr txBox="1"/>
          <p:nvPr/>
        </p:nvSpPr>
        <p:spPr>
          <a:xfrm>
            <a:off x="20066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01</a:t>
            </a:r>
            <a:endParaRPr lang="zh-CN" altLang="en-US" sz="750" b="1">
              <a:solidFill>
                <a:srgbClr val="FFFFFF"/>
              </a:solidFill>
              <a:latin typeface="Aptos" panose="020B0004020202020204" pitchFamily="34" charset="0"/>
            </a:endParaRPr>
          </a:p>
        </p:txBody>
      </p:sp>
      <p:sp>
        <p:nvSpPr>
          <p:cNvPr id="16" name="story-title-0">
            <a:extLst>
              <a:ext uri="{FF2B5EF4-FFF2-40B4-BE49-F238E27FC236}">
                <a16:creationId xmlns:a16="http://schemas.microsoft.com/office/drawing/2014/main" id="{2A0AEBD3-755A-138A-0CFA-298D6D4FBEF0}"/>
              </a:ext>
            </a:extLst>
          </p:cNvPr>
          <p:cNvSpPr txBox="1"/>
          <p:nvPr/>
        </p:nvSpPr>
        <p:spPr>
          <a:xfrm>
            <a:off x="13208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Project page</a:t>
            </a:r>
            <a:endParaRPr lang="zh-CN" altLang="en-US" sz="900" b="1">
              <a:solidFill>
                <a:srgbClr val="071A3D"/>
              </a:solidFill>
              <a:latin typeface="Aptos" panose="020B0004020202020204" pitchFamily="34" charset="0"/>
            </a:endParaRPr>
          </a:p>
        </p:txBody>
      </p:sp>
      <p:sp>
        <p:nvSpPr>
          <p:cNvPr id="17" name="story-sub-0">
            <a:extLst>
              <a:ext uri="{FF2B5EF4-FFF2-40B4-BE49-F238E27FC236}">
                <a16:creationId xmlns:a16="http://schemas.microsoft.com/office/drawing/2014/main" id="{561852A4-E1EF-F362-AB00-043EA4C07DBD}"/>
              </a:ext>
            </a:extLst>
          </p:cNvPr>
          <p:cNvSpPr txBox="1"/>
          <p:nvPr/>
        </p:nvSpPr>
        <p:spPr>
          <a:xfrm>
            <a:off x="13208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open artifact entry</a:t>
            </a:r>
            <a:endParaRPr lang="zh-CN" altLang="en-US" sz="740">
              <a:solidFill>
                <a:srgbClr val="4A5B78"/>
              </a:solidFill>
              <a:latin typeface="Aptos" panose="020B0004020202020204" pitchFamily="34" charset="0"/>
            </a:endParaRPr>
          </a:p>
        </p:txBody>
      </p:sp>
      <p:sp>
        <p:nvSpPr>
          <p:cNvPr id="18" name="story-hit-0">
            <a:hlinkClick r:id="rId4"/>
            <a:extLst>
              <a:ext uri="{FF2B5EF4-FFF2-40B4-BE49-F238E27FC236}">
                <a16:creationId xmlns:a16="http://schemas.microsoft.com/office/drawing/2014/main" id="{CB354156-8F54-9C71-3D06-BA474BC260CA}"/>
              </a:ext>
            </a:extLst>
          </p:cNvPr>
          <p:cNvSpPr/>
          <p:nvPr/>
        </p:nvSpPr>
        <p:spPr>
          <a:xfrm>
            <a:off x="13208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ory-dot-1">
            <a:extLst>
              <a:ext uri="{FF2B5EF4-FFF2-40B4-BE49-F238E27FC236}">
                <a16:creationId xmlns:a16="http://schemas.microsoft.com/office/drawing/2014/main" id="{B5B8A9F0-6D2D-CCBE-EE70-6B298DB9EE87}"/>
              </a:ext>
            </a:extLst>
          </p:cNvPr>
          <p:cNvSpPr/>
          <p:nvPr/>
        </p:nvSpPr>
        <p:spPr>
          <a:xfrm>
            <a:off x="3810000" y="3327400"/>
            <a:ext cx="609600" cy="609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ory-num-1">
            <a:extLst>
              <a:ext uri="{FF2B5EF4-FFF2-40B4-BE49-F238E27FC236}">
                <a16:creationId xmlns:a16="http://schemas.microsoft.com/office/drawing/2014/main" id="{7EABD7D3-97DC-158A-FF48-DF7BFDA973C3}"/>
              </a:ext>
            </a:extLst>
          </p:cNvPr>
          <p:cNvSpPr txBox="1"/>
          <p:nvPr/>
        </p:nvSpPr>
        <p:spPr>
          <a:xfrm>
            <a:off x="40132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02</a:t>
            </a:r>
            <a:endParaRPr lang="zh-CN" altLang="en-US" sz="750" b="1">
              <a:solidFill>
                <a:srgbClr val="FFFFFF"/>
              </a:solidFill>
              <a:latin typeface="Aptos" panose="020B0004020202020204" pitchFamily="34" charset="0"/>
            </a:endParaRPr>
          </a:p>
        </p:txBody>
      </p:sp>
      <p:sp>
        <p:nvSpPr>
          <p:cNvPr id="21" name="story-title-1">
            <a:extLst>
              <a:ext uri="{FF2B5EF4-FFF2-40B4-BE49-F238E27FC236}">
                <a16:creationId xmlns:a16="http://schemas.microsoft.com/office/drawing/2014/main" id="{D819029E-B182-DEDB-B425-CF3C96E1D727}"/>
              </a:ext>
            </a:extLst>
          </p:cNvPr>
          <p:cNvSpPr txBox="1"/>
          <p:nvPr/>
        </p:nvSpPr>
        <p:spPr>
          <a:xfrm>
            <a:off x="33274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Claim file</a:t>
            </a:r>
            <a:endParaRPr lang="zh-CN" altLang="en-US" sz="900" b="1">
              <a:solidFill>
                <a:srgbClr val="071A3D"/>
              </a:solidFill>
              <a:latin typeface="Aptos" panose="020B0004020202020204" pitchFamily="34" charset="0"/>
            </a:endParaRPr>
          </a:p>
        </p:txBody>
      </p:sp>
      <p:sp>
        <p:nvSpPr>
          <p:cNvPr id="22" name="story-sub-1">
            <a:extLst>
              <a:ext uri="{FF2B5EF4-FFF2-40B4-BE49-F238E27FC236}">
                <a16:creationId xmlns:a16="http://schemas.microsoft.com/office/drawing/2014/main" id="{4B3F1977-4194-7989-AF45-2791336408B8}"/>
              </a:ext>
            </a:extLst>
          </p:cNvPr>
          <p:cNvSpPr txBox="1"/>
          <p:nvPr/>
        </p:nvSpPr>
        <p:spPr>
          <a:xfrm>
            <a:off x="33274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allowed / blocked readings</a:t>
            </a:r>
            <a:endParaRPr lang="zh-CN" altLang="en-US" sz="740">
              <a:solidFill>
                <a:srgbClr val="4A5B78"/>
              </a:solidFill>
              <a:latin typeface="Aptos" panose="020B0004020202020204" pitchFamily="34" charset="0"/>
            </a:endParaRPr>
          </a:p>
        </p:txBody>
      </p:sp>
      <p:sp>
        <p:nvSpPr>
          <p:cNvPr id="23" name="story-hit-1">
            <a:hlinkClick r:id="rId5"/>
            <a:extLst>
              <a:ext uri="{FF2B5EF4-FFF2-40B4-BE49-F238E27FC236}">
                <a16:creationId xmlns:a16="http://schemas.microsoft.com/office/drawing/2014/main" id="{F969C088-EB5A-58CE-F21A-29AF03720752}"/>
              </a:ext>
            </a:extLst>
          </p:cNvPr>
          <p:cNvSpPr/>
          <p:nvPr/>
        </p:nvSpPr>
        <p:spPr>
          <a:xfrm>
            <a:off x="33274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story-dot-2">
            <a:extLst>
              <a:ext uri="{FF2B5EF4-FFF2-40B4-BE49-F238E27FC236}">
                <a16:creationId xmlns:a16="http://schemas.microsoft.com/office/drawing/2014/main" id="{F1CD5F13-A4D7-182C-3424-C0ACA329E20E}"/>
              </a:ext>
            </a:extLst>
          </p:cNvPr>
          <p:cNvSpPr/>
          <p:nvPr/>
        </p:nvSpPr>
        <p:spPr>
          <a:xfrm>
            <a:off x="5816600" y="3327400"/>
            <a:ext cx="609600" cy="609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tory-num-2">
            <a:extLst>
              <a:ext uri="{FF2B5EF4-FFF2-40B4-BE49-F238E27FC236}">
                <a16:creationId xmlns:a16="http://schemas.microsoft.com/office/drawing/2014/main" id="{26E1D438-E535-6024-3981-8C1D55B2777B}"/>
              </a:ext>
            </a:extLst>
          </p:cNvPr>
          <p:cNvSpPr txBox="1"/>
          <p:nvPr/>
        </p:nvSpPr>
        <p:spPr>
          <a:xfrm>
            <a:off x="60198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03</a:t>
            </a:r>
            <a:endParaRPr lang="zh-CN" altLang="en-US" sz="750" b="1">
              <a:solidFill>
                <a:srgbClr val="FFFFFF"/>
              </a:solidFill>
              <a:latin typeface="Aptos" panose="020B0004020202020204" pitchFamily="34" charset="0"/>
            </a:endParaRPr>
          </a:p>
        </p:txBody>
      </p:sp>
      <p:sp>
        <p:nvSpPr>
          <p:cNvPr id="26" name="story-title-2">
            <a:extLst>
              <a:ext uri="{FF2B5EF4-FFF2-40B4-BE49-F238E27FC236}">
                <a16:creationId xmlns:a16="http://schemas.microsoft.com/office/drawing/2014/main" id="{91A30E11-631B-E8B4-5D4C-07F8CCAE824B}"/>
              </a:ext>
            </a:extLst>
          </p:cNvPr>
          <p:cNvSpPr txBox="1"/>
          <p:nvPr/>
        </p:nvSpPr>
        <p:spPr>
          <a:xfrm>
            <a:off x="53340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Traceability</a:t>
            </a:r>
            <a:endParaRPr lang="zh-CN" altLang="en-US" sz="900" b="1">
              <a:solidFill>
                <a:srgbClr val="071A3D"/>
              </a:solidFill>
              <a:latin typeface="Aptos" panose="020B0004020202020204" pitchFamily="34" charset="0"/>
            </a:endParaRPr>
          </a:p>
        </p:txBody>
      </p:sp>
      <p:sp>
        <p:nvSpPr>
          <p:cNvPr id="27" name="story-sub-2">
            <a:extLst>
              <a:ext uri="{FF2B5EF4-FFF2-40B4-BE49-F238E27FC236}">
                <a16:creationId xmlns:a16="http://schemas.microsoft.com/office/drawing/2014/main" id="{90BA45DD-5468-BAB2-4D10-BF47337944C9}"/>
              </a:ext>
            </a:extLst>
          </p:cNvPr>
          <p:cNvSpPr txBox="1"/>
          <p:nvPr/>
        </p:nvSpPr>
        <p:spPr>
          <a:xfrm>
            <a:off x="53340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claim to artifact path</a:t>
            </a:r>
            <a:endParaRPr lang="zh-CN" altLang="en-US" sz="740">
              <a:solidFill>
                <a:srgbClr val="4A5B78"/>
              </a:solidFill>
              <a:latin typeface="Aptos" panose="020B0004020202020204" pitchFamily="34" charset="0"/>
            </a:endParaRPr>
          </a:p>
        </p:txBody>
      </p:sp>
      <p:sp>
        <p:nvSpPr>
          <p:cNvPr id="28" name="story-hit-2">
            <a:hlinkClick r:id="rId6"/>
            <a:extLst>
              <a:ext uri="{FF2B5EF4-FFF2-40B4-BE49-F238E27FC236}">
                <a16:creationId xmlns:a16="http://schemas.microsoft.com/office/drawing/2014/main" id="{BB2D99ED-F57B-3805-1EAE-5DE2FE323B84}"/>
              </a:ext>
            </a:extLst>
          </p:cNvPr>
          <p:cNvSpPr/>
          <p:nvPr/>
        </p:nvSpPr>
        <p:spPr>
          <a:xfrm>
            <a:off x="53340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story-dot-3">
            <a:extLst>
              <a:ext uri="{FF2B5EF4-FFF2-40B4-BE49-F238E27FC236}">
                <a16:creationId xmlns:a16="http://schemas.microsoft.com/office/drawing/2014/main" id="{0C774B43-8AE5-3730-59FF-4D23E10228C7}"/>
              </a:ext>
            </a:extLst>
          </p:cNvPr>
          <p:cNvSpPr/>
          <p:nvPr/>
        </p:nvSpPr>
        <p:spPr>
          <a:xfrm>
            <a:off x="7823200" y="3327400"/>
            <a:ext cx="609600" cy="609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story-num-3">
            <a:extLst>
              <a:ext uri="{FF2B5EF4-FFF2-40B4-BE49-F238E27FC236}">
                <a16:creationId xmlns:a16="http://schemas.microsoft.com/office/drawing/2014/main" id="{44AC412C-E0C3-2C1E-B313-A7BA2C21C787}"/>
              </a:ext>
            </a:extLst>
          </p:cNvPr>
          <p:cNvSpPr txBox="1"/>
          <p:nvPr/>
        </p:nvSpPr>
        <p:spPr>
          <a:xfrm>
            <a:off x="80264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04</a:t>
            </a:r>
            <a:endParaRPr lang="zh-CN" altLang="en-US" sz="750" b="1">
              <a:solidFill>
                <a:srgbClr val="FFFFFF"/>
              </a:solidFill>
              <a:latin typeface="Aptos" panose="020B0004020202020204" pitchFamily="34" charset="0"/>
            </a:endParaRPr>
          </a:p>
        </p:txBody>
      </p:sp>
      <p:sp>
        <p:nvSpPr>
          <p:cNvPr id="31" name="story-title-3">
            <a:extLst>
              <a:ext uri="{FF2B5EF4-FFF2-40B4-BE49-F238E27FC236}">
                <a16:creationId xmlns:a16="http://schemas.microsoft.com/office/drawing/2014/main" id="{BD936BA3-FB30-0034-45CD-745722DCAF91}"/>
              </a:ext>
            </a:extLst>
          </p:cNvPr>
          <p:cNvSpPr txBox="1"/>
          <p:nvPr/>
        </p:nvSpPr>
        <p:spPr>
          <a:xfrm>
            <a:off x="73406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Manifest</a:t>
            </a:r>
            <a:endParaRPr lang="zh-CN" altLang="en-US" sz="900" b="1">
              <a:solidFill>
                <a:srgbClr val="071A3D"/>
              </a:solidFill>
              <a:latin typeface="Aptos" panose="020B0004020202020204" pitchFamily="34" charset="0"/>
            </a:endParaRPr>
          </a:p>
        </p:txBody>
      </p:sp>
      <p:sp>
        <p:nvSpPr>
          <p:cNvPr id="32" name="story-sub-3">
            <a:extLst>
              <a:ext uri="{FF2B5EF4-FFF2-40B4-BE49-F238E27FC236}">
                <a16:creationId xmlns:a16="http://schemas.microsoft.com/office/drawing/2014/main" id="{9A9ED8DA-B395-85FE-1D7F-1442282F03A7}"/>
              </a:ext>
            </a:extLst>
          </p:cNvPr>
          <p:cNvSpPr txBox="1"/>
          <p:nvPr/>
        </p:nvSpPr>
        <p:spPr>
          <a:xfrm>
            <a:off x="73406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hash and denominator row</a:t>
            </a:r>
            <a:endParaRPr lang="zh-CN" altLang="en-US" sz="740">
              <a:solidFill>
                <a:srgbClr val="4A5B78"/>
              </a:solidFill>
              <a:latin typeface="Aptos" panose="020B0004020202020204" pitchFamily="34" charset="0"/>
            </a:endParaRPr>
          </a:p>
        </p:txBody>
      </p:sp>
      <p:sp>
        <p:nvSpPr>
          <p:cNvPr id="33" name="story-hit-3">
            <a:hlinkClick r:id="rId7"/>
            <a:extLst>
              <a:ext uri="{FF2B5EF4-FFF2-40B4-BE49-F238E27FC236}">
                <a16:creationId xmlns:a16="http://schemas.microsoft.com/office/drawing/2014/main" id="{5F40998E-DB6C-D5E0-EAF3-10268FE2FE60}"/>
              </a:ext>
            </a:extLst>
          </p:cNvPr>
          <p:cNvSpPr/>
          <p:nvPr/>
        </p:nvSpPr>
        <p:spPr>
          <a:xfrm>
            <a:off x="73406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ory-dot-4">
            <a:extLst>
              <a:ext uri="{FF2B5EF4-FFF2-40B4-BE49-F238E27FC236}">
                <a16:creationId xmlns:a16="http://schemas.microsoft.com/office/drawing/2014/main" id="{C2C6AADE-78EA-E2C8-F82A-E0C80713C0CA}"/>
              </a:ext>
            </a:extLst>
          </p:cNvPr>
          <p:cNvSpPr/>
          <p:nvPr/>
        </p:nvSpPr>
        <p:spPr>
          <a:xfrm>
            <a:off x="9829800" y="3327400"/>
            <a:ext cx="609600" cy="609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story-num-4">
            <a:extLst>
              <a:ext uri="{FF2B5EF4-FFF2-40B4-BE49-F238E27FC236}">
                <a16:creationId xmlns:a16="http://schemas.microsoft.com/office/drawing/2014/main" id="{9C73469F-DD58-B037-473E-07E0BC909BAC}"/>
              </a:ext>
            </a:extLst>
          </p:cNvPr>
          <p:cNvSpPr txBox="1"/>
          <p:nvPr/>
        </p:nvSpPr>
        <p:spPr>
          <a:xfrm>
            <a:off x="100330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05</a:t>
            </a:r>
            <a:endParaRPr lang="zh-CN" altLang="en-US" sz="750" b="1">
              <a:solidFill>
                <a:srgbClr val="FFFFFF"/>
              </a:solidFill>
              <a:latin typeface="Aptos" panose="020B0004020202020204" pitchFamily="34" charset="0"/>
            </a:endParaRPr>
          </a:p>
        </p:txBody>
      </p:sp>
      <p:sp>
        <p:nvSpPr>
          <p:cNvPr id="36" name="story-title-4">
            <a:extLst>
              <a:ext uri="{FF2B5EF4-FFF2-40B4-BE49-F238E27FC236}">
                <a16:creationId xmlns:a16="http://schemas.microsoft.com/office/drawing/2014/main" id="{65BD00C4-338A-F860-86CD-E4C683AA7D84}"/>
              </a:ext>
            </a:extLst>
          </p:cNvPr>
          <p:cNvSpPr txBox="1"/>
          <p:nvPr/>
        </p:nvSpPr>
        <p:spPr>
          <a:xfrm>
            <a:off x="93472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Local check</a:t>
            </a:r>
            <a:endParaRPr lang="zh-CN" altLang="en-US" sz="900" b="1">
              <a:solidFill>
                <a:srgbClr val="071A3D"/>
              </a:solidFill>
              <a:latin typeface="Aptos" panose="020B0004020202020204" pitchFamily="34" charset="0"/>
            </a:endParaRPr>
          </a:p>
        </p:txBody>
      </p:sp>
      <p:sp>
        <p:nvSpPr>
          <p:cNvPr id="37" name="story-sub-4">
            <a:extLst>
              <a:ext uri="{FF2B5EF4-FFF2-40B4-BE49-F238E27FC236}">
                <a16:creationId xmlns:a16="http://schemas.microsoft.com/office/drawing/2014/main" id="{DE270077-3CC1-975E-4969-C0A7ECACC7C8}"/>
              </a:ext>
            </a:extLst>
          </p:cNvPr>
          <p:cNvSpPr txBox="1"/>
          <p:nvPr/>
        </p:nvSpPr>
        <p:spPr>
          <a:xfrm>
            <a:off x="93472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OK outputs, bounded proof</a:t>
            </a:r>
            <a:endParaRPr lang="zh-CN" altLang="en-US" sz="740">
              <a:solidFill>
                <a:srgbClr val="4A5B78"/>
              </a:solidFill>
              <a:latin typeface="Aptos" panose="020B0004020202020204" pitchFamily="34" charset="0"/>
            </a:endParaRPr>
          </a:p>
        </p:txBody>
      </p:sp>
      <p:sp>
        <p:nvSpPr>
          <p:cNvPr id="38" name="story-hit-4">
            <a:hlinkClick r:id="rId8"/>
            <a:extLst>
              <a:ext uri="{FF2B5EF4-FFF2-40B4-BE49-F238E27FC236}">
                <a16:creationId xmlns:a16="http://schemas.microsoft.com/office/drawing/2014/main" id="{D9946589-BF1B-575E-8BB7-27E8DCFDBE00}"/>
              </a:ext>
            </a:extLst>
          </p:cNvPr>
          <p:cNvSpPr/>
          <p:nvPr/>
        </p:nvSpPr>
        <p:spPr>
          <a:xfrm>
            <a:off x="93472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fallback-note">
            <a:extLst>
              <a:ext uri="{FF2B5EF4-FFF2-40B4-BE49-F238E27FC236}">
                <a16:creationId xmlns:a16="http://schemas.microsoft.com/office/drawing/2014/main" id="{53983256-864E-C187-C395-56DB74406671}"/>
              </a:ext>
            </a:extLst>
          </p:cNvPr>
          <p:cNvSpPr/>
          <p:nvPr/>
        </p:nvSpPr>
        <p:spPr>
          <a:xfrm>
            <a:off x="2159000" y="5384800"/>
            <a:ext cx="78740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fallback-t">
            <a:extLst>
              <a:ext uri="{FF2B5EF4-FFF2-40B4-BE49-F238E27FC236}">
                <a16:creationId xmlns:a16="http://schemas.microsoft.com/office/drawing/2014/main" id="{E6065F26-D592-5B98-AA6F-7FE9C767E82F}"/>
              </a:ext>
            </a:extLst>
          </p:cNvPr>
          <p:cNvSpPr txBox="1"/>
          <p:nvPr/>
        </p:nvSpPr>
        <p:spPr>
          <a:xfrm>
            <a:off x="2540000" y="5511800"/>
            <a:ext cx="71120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Fallback: play the recorded demo if network, projector, or login fails.</a:t>
            </a:r>
            <a:endParaRPr lang="zh-CN" altLang="en-US" sz="820" b="1">
              <a:solidFill>
                <a:srgbClr val="071A3D"/>
              </a:solidFill>
              <a:latin typeface="Aptos" panose="020B0004020202020204" pitchFamily="34" charset="0"/>
            </a:endParaRPr>
          </a:p>
        </p:txBody>
      </p:sp>
      <p:sp>
        <p:nvSpPr>
          <p:cNvPr id="41" name="footer-hit-16">
            <a:hlinkClick r:id="rId4"/>
            <a:extLst>
              <a:ext uri="{FF2B5EF4-FFF2-40B4-BE49-F238E27FC236}">
                <a16:creationId xmlns:a16="http://schemas.microsoft.com/office/drawing/2014/main" id="{9DB6B872-D15B-D42C-5D35-B77C5644FF11}"/>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9877295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60"/>
                                        <p:tgtEl>
                                          <p:spTgt spid="14"/>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160"/>
                                        <p:tgtEl>
                                          <p:spTgt spid="16"/>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160"/>
                                        <p:tgtEl>
                                          <p:spTgt spid="17"/>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160"/>
                                        <p:tgtEl>
                                          <p:spTgt spid="18"/>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160"/>
                                        <p:tgtEl>
                                          <p:spTgt spid="19"/>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160"/>
                                        <p:tgtEl>
                                          <p:spTgt spid="20"/>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160"/>
                                        <p:tgtEl>
                                          <p:spTgt spid="37"/>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160"/>
                                        <p:tgtEl>
                                          <p:spTgt spid="38"/>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160"/>
                                        <p:tgtEl>
                                          <p:spTgt spid="39"/>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16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animBg="1"/>
      <p:bldP spid="40" grpId="0"/>
    </p:bld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2141</Words>
  <Application>Microsoft Office PowerPoint</Application>
  <PresentationFormat>自定义</PresentationFormat>
  <Paragraphs>353</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2026-05-14T14:26:06Z</dcterms:created>
  <dcterms:modified xsi:type="dcterms:W3CDTF">2026-05-14T14:26:06Z</dcterms:modified>
</cp:coreProperties>
</file>