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8" d="100"/>
          <a:sy n="68" d="100"/>
        </p:scale>
        <p:origin x="556"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C3242E-CC07-4D71-AD16-A992ACAD9C4F}" type="datetimeFigureOut">
              <a:rPr lang="zh-CN" altLang="en-US" smtClean="0"/>
              <a:t>2026/5/15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512981B-450E-4455-8044-8D0DEC0E5E05}" type="slidenum">
              <a:rPr lang="zh-CN" altLang="en-US" smtClean="0"/>
              <a:t>‹#›</a:t>
            </a:fld>
            <a:endParaRPr lang="zh-CN" altLang="en-US"/>
          </a:p>
        </p:txBody>
      </p:sp>
    </p:spTree>
    <p:extLst>
      <p:ext uri="{BB962C8B-B14F-4D97-AF65-F5344CB8AC3E}">
        <p14:creationId xmlns:p14="http://schemas.microsoft.com/office/powerpoint/2010/main" val="27681954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Good afternoon. I am Haoyi Zhang. My project is WatermarkScope, a benchmark-to-audit framework for source-code watermarking in code generation models. I will present the submitted FYP snapshot first, then show how the five related repositories now continue toward publication-level work.</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1</a:t>
            </a:fld>
            <a:endParaRPr lang="zh-CN" altLang="en-US"/>
          </a:p>
        </p:txBody>
      </p:sp>
    </p:spTree>
    <p:extLst>
      <p:ext uri="{BB962C8B-B14F-4D97-AF65-F5344CB8AC3E}">
        <p14:creationId xmlns:p14="http://schemas.microsoft.com/office/powerpoint/2010/main" val="21022303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slide prevents confusion. The dissertation submitted to LMO is the formal FYP artifact. The current repositories show continuation progress after submission. I will be clear when a number is from the submitted FYP snapshot and when it is a continuation result.</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2</a:t>
            </a:fld>
            <a:endParaRPr lang="zh-CN" altLang="en-US"/>
          </a:p>
        </p:txBody>
      </p:sp>
    </p:spTree>
    <p:extLst>
      <p:ext uri="{BB962C8B-B14F-4D97-AF65-F5344CB8AC3E}">
        <p14:creationId xmlns:p14="http://schemas.microsoft.com/office/powerpoint/2010/main" val="28648033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problem is movement. Generated code rarely stays in the original chat. After edit or reuse, I need to know exactly what evidence supports a watermark claim.</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3</a:t>
            </a:fld>
            <a:endParaRPr lang="zh-CN" altLang="en-US"/>
          </a:p>
        </p:txBody>
      </p:sp>
    </p:spTree>
    <p:extLst>
      <p:ext uri="{BB962C8B-B14F-4D97-AF65-F5344CB8AC3E}">
        <p14:creationId xmlns:p14="http://schemas.microsoft.com/office/powerpoint/2010/main" val="2159711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central method is an evidence contract. I freeze the denominator and controls, preserve the artifact and hash, state the access model, then report only the claim boundary that follows.</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4</a:t>
            </a:fld>
            <a:endParaRPr lang="zh-CN" altLang="en-US"/>
          </a:p>
        </p:txBody>
      </p:sp>
    </p:spTree>
    <p:extLst>
      <p:ext uri="{BB962C8B-B14F-4D97-AF65-F5344CB8AC3E}">
        <p14:creationId xmlns:p14="http://schemas.microsoft.com/office/powerpoint/2010/main" val="31268516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current project portfolio. CodeMarkBench is the benchmark track. The other four are continuation repositories with the commit snapshots shown on the slide. For the viva, I explain them as progress beyond the submitted FYP snapshot, not as modifications to the submitted PDF.</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5</a:t>
            </a:fld>
            <a:endParaRPr lang="zh-CN" altLang="en-US"/>
          </a:p>
        </p:txBody>
      </p:sp>
    </p:spTree>
    <p:extLst>
      <p:ext uri="{BB962C8B-B14F-4D97-AF65-F5344CB8AC3E}">
        <p14:creationId xmlns:p14="http://schemas.microsoft.com/office/powerpoint/2010/main" val="6747213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CodeMarkBench matters because it prevents denominator drift. The run inventory is complete for the submitted snapshot, and the result artifacts are preserved in the repository.</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6</a:t>
            </a:fld>
            <a:endParaRPr lang="zh-CN" altLang="en-US"/>
          </a:p>
        </p:txBody>
      </p:sp>
    </p:spTree>
    <p:extLst>
      <p:ext uri="{BB962C8B-B14F-4D97-AF65-F5344CB8AC3E}">
        <p14:creationId xmlns:p14="http://schemas.microsoft.com/office/powerpoint/2010/main" val="19798554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SemCodebook is the strongest provenance-recovery track. The important evidence is not just high recovery. It is high recovery plus zero hits in fixed controls and blind replay. I should still keep the claim inside admitted white-box cells.</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7</a:t>
            </a:fld>
            <a:endParaRPr lang="zh-CN" altLang="en-US"/>
          </a:p>
        </p:txBody>
      </p:sp>
    </p:spTree>
    <p:extLst>
      <p:ext uri="{BB962C8B-B14F-4D97-AF65-F5344CB8AC3E}">
        <p14:creationId xmlns:p14="http://schemas.microsoft.com/office/powerpoint/2010/main" val="36498554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CodeDye is conservative. The fresh live signal is zero in the current continuation surface, while positive memory calibration still fires. This supports a null-audit interpretation, not a claim that contamination is absent.</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8</a:t>
            </a:fld>
            <a:endParaRPr lang="zh-CN" altLang="en-US"/>
          </a:p>
        </p:txBody>
      </p:sp>
    </p:spTree>
    <p:extLst>
      <p:ext uri="{BB962C8B-B14F-4D97-AF65-F5344CB8AC3E}">
        <p14:creationId xmlns:p14="http://schemas.microsoft.com/office/powerpoint/2010/main" val="23566900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ProbeTrace is strong but scoped. I should say it verifies active-owner attribution within the registered source and owner boundary. I should not say it proves general authorship.</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9</a:t>
            </a:fld>
            <a:endParaRPr lang="zh-CN" altLang="en-US"/>
          </a:p>
        </p:txBody>
      </p:sp>
    </p:spTree>
    <p:extLst>
      <p:ext uri="{BB962C8B-B14F-4D97-AF65-F5344CB8AC3E}">
        <p14:creationId xmlns:p14="http://schemas.microsoft.com/office/powerpoint/2010/main" val="3290261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SealAudit should be presented as selective triage. It reports decisive cases and abstention cases together. Zero unsafe pass is not a safety certificate; it is a finite observed outcome inside this surface.</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10</a:t>
            </a:fld>
            <a:endParaRPr lang="zh-CN" altLang="en-US"/>
          </a:p>
        </p:txBody>
      </p:sp>
    </p:spTree>
    <p:extLst>
      <p:ext uri="{BB962C8B-B14F-4D97-AF65-F5344CB8AC3E}">
        <p14:creationId xmlns:p14="http://schemas.microsoft.com/office/powerpoint/2010/main" val="8892507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safest way to explain the update. The left lane is the submitted FYP snapshot. The right lane shows current continuation progress. I should not mix the two denominators in one claim.</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11</a:t>
            </a:fld>
            <a:endParaRPr lang="zh-CN" altLang="en-US"/>
          </a:p>
        </p:txBody>
      </p:sp>
    </p:spTree>
    <p:extLst>
      <p:ext uri="{BB962C8B-B14F-4D97-AF65-F5344CB8AC3E}">
        <p14:creationId xmlns:p14="http://schemas.microsoft.com/office/powerpoint/2010/main" val="24882450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Demo 1, I will insert a 90-second video. The storyboard is: project page, repository README, project folders, CLAIM_BOUNDARIES.md, TRACEABILITY_MATRIX.md, and RESULT_MANIFEST.jsonl. The spoken point is inspectability, not a full experiment rerun.</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12</a:t>
            </a:fld>
            <a:endParaRPr lang="zh-CN" altLang="en-US"/>
          </a:p>
        </p:txBody>
      </p:sp>
    </p:spTree>
    <p:extLst>
      <p:ext uri="{BB962C8B-B14F-4D97-AF65-F5344CB8AC3E}">
        <p14:creationId xmlns:p14="http://schemas.microsoft.com/office/powerpoint/2010/main" val="30943510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Demo 2, I can either run this live or show a 60-second video. The key sentence is: this verifies repository consistency and inspectability, not full GPU or API reproduction.</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13</a:t>
            </a:fld>
            <a:endParaRPr lang="zh-CN" altLang="en-US"/>
          </a:p>
        </p:txBody>
      </p:sp>
    </p:spTree>
    <p:extLst>
      <p:ext uri="{BB962C8B-B14F-4D97-AF65-F5344CB8AC3E}">
        <p14:creationId xmlns:p14="http://schemas.microsoft.com/office/powerpoint/2010/main" val="19107860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slide is mainly for my speaking discipline. In Q&amp;A, answer first, state the boundary second, and point to evidence third. This avoids overclaiming.</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14</a:t>
            </a:fld>
            <a:endParaRPr lang="zh-CN" altLang="en-US"/>
          </a:p>
        </p:txBody>
      </p:sp>
    </p:spTree>
    <p:extLst>
      <p:ext uri="{BB962C8B-B14F-4D97-AF65-F5344CB8AC3E}">
        <p14:creationId xmlns:p14="http://schemas.microsoft.com/office/powerpoint/2010/main" val="42893491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forward plan. The code and current FYP evidence were built by me. Later papers may involve collaborators for writing and polishing, but the FYP artifact should be evaluated as my individual implementation and evidence organization work.</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15</a:t>
            </a:fld>
            <a:endParaRPr lang="zh-CN" altLang="en-US"/>
          </a:p>
        </p:txBody>
      </p:sp>
    </p:spTree>
    <p:extLst>
      <p:ext uri="{BB962C8B-B14F-4D97-AF65-F5344CB8AC3E}">
        <p14:creationId xmlns:p14="http://schemas.microsoft.com/office/powerpoint/2010/main" val="11145159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Thank you. I am ready for questions.
Likely Q&amp;A and short answers:
1. Why not one detector score?
Answer: Different access models need different evidence objects. One score would mix incompatible denominators.
2. Did the submitted dissertation change after registration?
Answer: No. The submitted FYP snapshot is fixed. The current repositories show continuation progress for viva discussion and future papers.
3. Does CodeDye prove contamination or absence of contamination?
Answer: No. It reports conservative black-box null-audit evidence with calibration and controls. It is not a provider accusation and not proof of absence.
4. Is ProbeTrace a legal authorship proof?
Answer: No. It is scoped active-owner verification under the registered source, owner split, and false-owner controls.
5. Why does SealAudit abstain so much?
Answer: Because forced decisions would overclaim. Abstention is part of the safety boundary when evidence is insufficient.
6. What is the main contribution?
Answer: WatermarkScope adds an evidence-contract layer: fixed denominators, executable controls, preserved artifacts, access models, and claim boundaries.
7. What can the examiner check quickly?
Answer: Open the project page, repository, CLAIM_BOUNDARIES.md, TRACEABILITY_MATRIX.md, RESULT_MANIFEST.jsonl, and run python scripts/viva_check.py.
8. What is the biggest limitation?
Answer: Finite denominators. Broader or provider-general claims need new admitted evidence surfaces.
9. Why are there five projects?
Answer: They cover different evidence questions: benchmark denominator, white-box recovery, black-box audit, owner attribution, and security triage.
Answer pattern: answer first, bound second, point to evidence third.</a:t>
            </a:r>
            <a:endParaRPr lang="zh-CN" altLang="en-US"/>
          </a:p>
        </p:txBody>
      </p:sp>
      <p:sp>
        <p:nvSpPr>
          <p:cNvPr id="4" name="灯片编号占位符 3"/>
          <p:cNvSpPr>
            <a:spLocks noGrp="1"/>
          </p:cNvSpPr>
          <p:nvPr>
            <p:ph type="sldNum" sz="quarter" idx="5"/>
          </p:nvPr>
        </p:nvSpPr>
        <p:spPr/>
        <p:txBody>
          <a:bodyPr/>
          <a:lstStyle/>
          <a:p>
            <a:fld id="{6512981B-450E-4455-8044-8D0DEC0E5E05}" type="slidenum">
              <a:rPr lang="zh-CN" altLang="en-US" smtClean="0"/>
              <a:t>16</a:t>
            </a:fld>
            <a:endParaRPr lang="zh-CN" altLang="en-US"/>
          </a:p>
        </p:txBody>
      </p:sp>
    </p:spTree>
    <p:extLst>
      <p:ext uri="{BB962C8B-B14F-4D97-AF65-F5344CB8AC3E}">
        <p14:creationId xmlns:p14="http://schemas.microsoft.com/office/powerpoint/2010/main" val="18612445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E27EA7-FA18-DB3C-D90E-CF3DE84DD4BE}"/>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8ED01097-ADAD-2EE1-C971-8A4B02AE98C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104A4E28-8100-BEB1-03C2-EEA2D62BF564}"/>
              </a:ext>
            </a:extLst>
          </p:cNvPr>
          <p:cNvSpPr>
            <a:spLocks noGrp="1"/>
          </p:cNvSpPr>
          <p:nvPr>
            <p:ph type="dt" sz="half" idx="10"/>
          </p:nvPr>
        </p:nvSpPr>
        <p:spPr/>
        <p:txBody>
          <a:bodyPr/>
          <a:lstStyle/>
          <a:p>
            <a:fld id="{0E28044F-75F7-4F01-A7FF-4F727108D02E}"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8A73DD62-F344-A28F-24EC-598045634BB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2033851C-5966-5D02-731C-E402A9A09178}"/>
              </a:ext>
            </a:extLst>
          </p:cNvPr>
          <p:cNvSpPr>
            <a:spLocks noGrp="1"/>
          </p:cNvSpPr>
          <p:nvPr>
            <p:ph type="sldNum" sz="quarter" idx="12"/>
          </p:nvPr>
        </p:nvSpPr>
        <p:spPr/>
        <p:txBody>
          <a:bodyPr/>
          <a:lstStyle/>
          <a:p>
            <a:fld id="{BE441C3A-F29A-4046-B1A1-DAE16CB1910B}" type="slidenum">
              <a:rPr lang="zh-CN" altLang="en-US" smtClean="0"/>
              <a:t>‹#›</a:t>
            </a:fld>
            <a:endParaRPr lang="zh-CN" altLang="en-US"/>
          </a:p>
        </p:txBody>
      </p:sp>
    </p:spTree>
    <p:extLst>
      <p:ext uri="{BB962C8B-B14F-4D97-AF65-F5344CB8AC3E}">
        <p14:creationId xmlns:p14="http://schemas.microsoft.com/office/powerpoint/2010/main" val="36281697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147AB4-2804-D6D0-93ED-7A4BD6443F45}"/>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AFC9FD79-C73D-4648-6B8D-1FE6CC02F85C}"/>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3E83B6F-6699-92E6-F292-3F34C67E8927}"/>
              </a:ext>
            </a:extLst>
          </p:cNvPr>
          <p:cNvSpPr>
            <a:spLocks noGrp="1"/>
          </p:cNvSpPr>
          <p:nvPr>
            <p:ph type="dt" sz="half" idx="10"/>
          </p:nvPr>
        </p:nvSpPr>
        <p:spPr/>
        <p:txBody>
          <a:bodyPr/>
          <a:lstStyle/>
          <a:p>
            <a:fld id="{0E28044F-75F7-4F01-A7FF-4F727108D02E}"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215665D8-0056-5106-830F-5226F1AE786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B5FFD6C-5B43-EAB1-9DD5-C3BA86A8D712}"/>
              </a:ext>
            </a:extLst>
          </p:cNvPr>
          <p:cNvSpPr>
            <a:spLocks noGrp="1"/>
          </p:cNvSpPr>
          <p:nvPr>
            <p:ph type="sldNum" sz="quarter" idx="12"/>
          </p:nvPr>
        </p:nvSpPr>
        <p:spPr/>
        <p:txBody>
          <a:bodyPr/>
          <a:lstStyle/>
          <a:p>
            <a:fld id="{BE441C3A-F29A-4046-B1A1-DAE16CB1910B}" type="slidenum">
              <a:rPr lang="zh-CN" altLang="en-US" smtClean="0"/>
              <a:t>‹#›</a:t>
            </a:fld>
            <a:endParaRPr lang="zh-CN" altLang="en-US"/>
          </a:p>
        </p:txBody>
      </p:sp>
    </p:spTree>
    <p:extLst>
      <p:ext uri="{BB962C8B-B14F-4D97-AF65-F5344CB8AC3E}">
        <p14:creationId xmlns:p14="http://schemas.microsoft.com/office/powerpoint/2010/main" val="11815839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F6934B3-2DC5-D235-5C4A-3D9A3496A1A7}"/>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E09DF616-F5E0-31EA-34E7-BA64D40A7CB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1953A012-3F6E-1D8B-AE64-9CE5D505BE4E}"/>
              </a:ext>
            </a:extLst>
          </p:cNvPr>
          <p:cNvSpPr>
            <a:spLocks noGrp="1"/>
          </p:cNvSpPr>
          <p:nvPr>
            <p:ph type="dt" sz="half" idx="10"/>
          </p:nvPr>
        </p:nvSpPr>
        <p:spPr/>
        <p:txBody>
          <a:bodyPr/>
          <a:lstStyle/>
          <a:p>
            <a:fld id="{0E28044F-75F7-4F01-A7FF-4F727108D02E}"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EEDA5E63-D4DC-45F1-8A72-D004409CD219}"/>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58135D8-7B76-A670-A081-4134C32AD22A}"/>
              </a:ext>
            </a:extLst>
          </p:cNvPr>
          <p:cNvSpPr>
            <a:spLocks noGrp="1"/>
          </p:cNvSpPr>
          <p:nvPr>
            <p:ph type="sldNum" sz="quarter" idx="12"/>
          </p:nvPr>
        </p:nvSpPr>
        <p:spPr/>
        <p:txBody>
          <a:bodyPr/>
          <a:lstStyle/>
          <a:p>
            <a:fld id="{BE441C3A-F29A-4046-B1A1-DAE16CB1910B}" type="slidenum">
              <a:rPr lang="zh-CN" altLang="en-US" smtClean="0"/>
              <a:t>‹#›</a:t>
            </a:fld>
            <a:endParaRPr lang="zh-CN" altLang="en-US"/>
          </a:p>
        </p:txBody>
      </p:sp>
    </p:spTree>
    <p:extLst>
      <p:ext uri="{BB962C8B-B14F-4D97-AF65-F5344CB8AC3E}">
        <p14:creationId xmlns:p14="http://schemas.microsoft.com/office/powerpoint/2010/main" val="2702206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826EF5-BBB7-05BD-9F7E-2E450564EEF9}"/>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6DE020F6-611C-1CF5-3147-35042E028192}"/>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25B851AF-AAF1-281E-5770-B1356889907F}"/>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4C169203-4E23-46CA-40DF-8C7377F4DC4F}"/>
              </a:ext>
            </a:extLst>
          </p:cNvPr>
          <p:cNvSpPr>
            <a:spLocks noGrp="1"/>
          </p:cNvSpPr>
          <p:nvPr>
            <p:ph type="dt" sz="half" idx="10"/>
          </p:nvPr>
        </p:nvSpPr>
        <p:spPr/>
        <p:txBody>
          <a:bodyPr/>
          <a:lstStyle/>
          <a:p>
            <a:fld id="{0E28044F-75F7-4F01-A7FF-4F727108D02E}" type="datetimeFigureOut">
              <a:rPr lang="zh-CN" altLang="en-US" smtClean="0"/>
              <a:t>2026/5/15</a:t>
            </a:fld>
            <a:endParaRPr lang="zh-CN" altLang="en-US"/>
          </a:p>
        </p:txBody>
      </p:sp>
      <p:sp>
        <p:nvSpPr>
          <p:cNvPr id="6" name="页脚占位符 5">
            <a:extLst>
              <a:ext uri="{FF2B5EF4-FFF2-40B4-BE49-F238E27FC236}">
                <a16:creationId xmlns:a16="http://schemas.microsoft.com/office/drawing/2014/main" id="{23022C32-7528-BCDD-4E03-E38B7CA4E56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2A30EB0D-675B-BFAC-1C21-F53FD83DE788}"/>
              </a:ext>
            </a:extLst>
          </p:cNvPr>
          <p:cNvSpPr>
            <a:spLocks noGrp="1"/>
          </p:cNvSpPr>
          <p:nvPr>
            <p:ph type="sldNum" sz="quarter" idx="12"/>
          </p:nvPr>
        </p:nvSpPr>
        <p:spPr/>
        <p:txBody>
          <a:bodyPr/>
          <a:lstStyle/>
          <a:p>
            <a:fld id="{BE441C3A-F29A-4046-B1A1-DAE16CB1910B}" type="slidenum">
              <a:rPr lang="zh-CN" altLang="en-US" smtClean="0"/>
              <a:t>‹#›</a:t>
            </a:fld>
            <a:endParaRPr lang="zh-CN" altLang="en-US"/>
          </a:p>
        </p:txBody>
      </p:sp>
    </p:spTree>
    <p:extLst>
      <p:ext uri="{BB962C8B-B14F-4D97-AF65-F5344CB8AC3E}">
        <p14:creationId xmlns:p14="http://schemas.microsoft.com/office/powerpoint/2010/main" val="36607762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FEDAAE-135C-1D48-14E2-124D2B117A2C}"/>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D797C745-6E86-0C1E-851B-3A7593D74F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3178F040-1006-B331-2080-812D17A7A334}"/>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A4BE6F64-7429-471F-61E2-0808FF9175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CCF18535-A34C-625D-E9EC-EA5BD3846815}"/>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E5BE90E6-65B9-A417-1002-909CF863001A}"/>
              </a:ext>
            </a:extLst>
          </p:cNvPr>
          <p:cNvSpPr>
            <a:spLocks noGrp="1"/>
          </p:cNvSpPr>
          <p:nvPr>
            <p:ph type="dt" sz="half" idx="10"/>
          </p:nvPr>
        </p:nvSpPr>
        <p:spPr/>
        <p:txBody>
          <a:bodyPr/>
          <a:lstStyle/>
          <a:p>
            <a:fld id="{0E28044F-75F7-4F01-A7FF-4F727108D02E}" type="datetimeFigureOut">
              <a:rPr lang="zh-CN" altLang="en-US" smtClean="0"/>
              <a:t>2026/5/15</a:t>
            </a:fld>
            <a:endParaRPr lang="zh-CN" altLang="en-US"/>
          </a:p>
        </p:txBody>
      </p:sp>
      <p:sp>
        <p:nvSpPr>
          <p:cNvPr id="8" name="页脚占位符 7">
            <a:extLst>
              <a:ext uri="{FF2B5EF4-FFF2-40B4-BE49-F238E27FC236}">
                <a16:creationId xmlns:a16="http://schemas.microsoft.com/office/drawing/2014/main" id="{84886DBA-82CB-7E3B-C5C1-E788EC032EBA}"/>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BB1AC92E-BB74-1759-F8F9-5CB8EFE8918D}"/>
              </a:ext>
            </a:extLst>
          </p:cNvPr>
          <p:cNvSpPr>
            <a:spLocks noGrp="1"/>
          </p:cNvSpPr>
          <p:nvPr>
            <p:ph type="sldNum" sz="quarter" idx="12"/>
          </p:nvPr>
        </p:nvSpPr>
        <p:spPr/>
        <p:txBody>
          <a:bodyPr/>
          <a:lstStyle/>
          <a:p>
            <a:fld id="{BE441C3A-F29A-4046-B1A1-DAE16CB1910B}" type="slidenum">
              <a:rPr lang="zh-CN" altLang="en-US" smtClean="0"/>
              <a:t>‹#›</a:t>
            </a:fld>
            <a:endParaRPr lang="zh-CN" altLang="en-US"/>
          </a:p>
        </p:txBody>
      </p:sp>
    </p:spTree>
    <p:extLst>
      <p:ext uri="{BB962C8B-B14F-4D97-AF65-F5344CB8AC3E}">
        <p14:creationId xmlns:p14="http://schemas.microsoft.com/office/powerpoint/2010/main" val="42300681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953D68-7653-C960-38C4-B654DD7361A8}"/>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A49C0981-2EFB-5989-B3D3-CD3A78C03C35}"/>
              </a:ext>
            </a:extLst>
          </p:cNvPr>
          <p:cNvSpPr>
            <a:spLocks noGrp="1"/>
          </p:cNvSpPr>
          <p:nvPr>
            <p:ph type="dt" sz="half" idx="10"/>
          </p:nvPr>
        </p:nvSpPr>
        <p:spPr/>
        <p:txBody>
          <a:bodyPr/>
          <a:lstStyle/>
          <a:p>
            <a:fld id="{0E28044F-75F7-4F01-A7FF-4F727108D02E}" type="datetimeFigureOut">
              <a:rPr lang="zh-CN" altLang="en-US" smtClean="0"/>
              <a:t>2026/5/15</a:t>
            </a:fld>
            <a:endParaRPr lang="zh-CN" altLang="en-US"/>
          </a:p>
        </p:txBody>
      </p:sp>
      <p:sp>
        <p:nvSpPr>
          <p:cNvPr id="4" name="页脚占位符 3">
            <a:extLst>
              <a:ext uri="{FF2B5EF4-FFF2-40B4-BE49-F238E27FC236}">
                <a16:creationId xmlns:a16="http://schemas.microsoft.com/office/drawing/2014/main" id="{975396FE-B82E-B009-647E-8884FBE614E7}"/>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193F707C-5C18-D544-4E6D-49FEF273E0FD}"/>
              </a:ext>
            </a:extLst>
          </p:cNvPr>
          <p:cNvSpPr>
            <a:spLocks noGrp="1"/>
          </p:cNvSpPr>
          <p:nvPr>
            <p:ph type="sldNum" sz="quarter" idx="12"/>
          </p:nvPr>
        </p:nvSpPr>
        <p:spPr/>
        <p:txBody>
          <a:bodyPr/>
          <a:lstStyle/>
          <a:p>
            <a:fld id="{BE441C3A-F29A-4046-B1A1-DAE16CB1910B}" type="slidenum">
              <a:rPr lang="zh-CN" altLang="en-US" smtClean="0"/>
              <a:t>‹#›</a:t>
            </a:fld>
            <a:endParaRPr lang="zh-CN" altLang="en-US"/>
          </a:p>
        </p:txBody>
      </p:sp>
    </p:spTree>
    <p:extLst>
      <p:ext uri="{BB962C8B-B14F-4D97-AF65-F5344CB8AC3E}">
        <p14:creationId xmlns:p14="http://schemas.microsoft.com/office/powerpoint/2010/main" val="5714923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18AD5B82-0C9E-296F-47F4-DAE0960177D5}"/>
              </a:ext>
            </a:extLst>
          </p:cNvPr>
          <p:cNvSpPr>
            <a:spLocks noGrp="1"/>
          </p:cNvSpPr>
          <p:nvPr>
            <p:ph type="dt" sz="half" idx="10"/>
          </p:nvPr>
        </p:nvSpPr>
        <p:spPr/>
        <p:txBody>
          <a:bodyPr/>
          <a:lstStyle/>
          <a:p>
            <a:fld id="{0E28044F-75F7-4F01-A7FF-4F727108D02E}" type="datetimeFigureOut">
              <a:rPr lang="zh-CN" altLang="en-US" smtClean="0"/>
              <a:t>2026/5/15</a:t>
            </a:fld>
            <a:endParaRPr lang="zh-CN" altLang="en-US"/>
          </a:p>
        </p:txBody>
      </p:sp>
      <p:sp>
        <p:nvSpPr>
          <p:cNvPr id="3" name="页脚占位符 2">
            <a:extLst>
              <a:ext uri="{FF2B5EF4-FFF2-40B4-BE49-F238E27FC236}">
                <a16:creationId xmlns:a16="http://schemas.microsoft.com/office/drawing/2014/main" id="{903A8C9F-7B66-2853-01AB-B73D30762188}"/>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A0F0FB18-3357-1931-E82C-360C84A2BA82}"/>
              </a:ext>
            </a:extLst>
          </p:cNvPr>
          <p:cNvSpPr>
            <a:spLocks noGrp="1"/>
          </p:cNvSpPr>
          <p:nvPr>
            <p:ph type="sldNum" sz="quarter" idx="12"/>
          </p:nvPr>
        </p:nvSpPr>
        <p:spPr/>
        <p:txBody>
          <a:bodyPr/>
          <a:lstStyle/>
          <a:p>
            <a:fld id="{BE441C3A-F29A-4046-B1A1-DAE16CB1910B}" type="slidenum">
              <a:rPr lang="zh-CN" altLang="en-US" smtClean="0"/>
              <a:t>‹#›</a:t>
            </a:fld>
            <a:endParaRPr lang="zh-CN" altLang="en-US"/>
          </a:p>
        </p:txBody>
      </p:sp>
    </p:spTree>
    <p:extLst>
      <p:ext uri="{BB962C8B-B14F-4D97-AF65-F5344CB8AC3E}">
        <p14:creationId xmlns:p14="http://schemas.microsoft.com/office/powerpoint/2010/main" val="30597579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93A6ED9-1607-594D-4F79-AE60B12C1B3A}"/>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C36C1FDF-BCC0-CF76-4284-1D58FA5D826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C3A2E058-612C-23DE-81BF-F218C6DD1B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AFE06662-E956-83DA-ED39-207D1389C6AD}"/>
              </a:ext>
            </a:extLst>
          </p:cNvPr>
          <p:cNvSpPr>
            <a:spLocks noGrp="1"/>
          </p:cNvSpPr>
          <p:nvPr>
            <p:ph type="dt" sz="half" idx="10"/>
          </p:nvPr>
        </p:nvSpPr>
        <p:spPr/>
        <p:txBody>
          <a:bodyPr/>
          <a:lstStyle/>
          <a:p>
            <a:fld id="{0E28044F-75F7-4F01-A7FF-4F727108D02E}" type="datetimeFigureOut">
              <a:rPr lang="zh-CN" altLang="en-US" smtClean="0"/>
              <a:t>2026/5/15</a:t>
            </a:fld>
            <a:endParaRPr lang="zh-CN" altLang="en-US"/>
          </a:p>
        </p:txBody>
      </p:sp>
      <p:sp>
        <p:nvSpPr>
          <p:cNvPr id="6" name="页脚占位符 5">
            <a:extLst>
              <a:ext uri="{FF2B5EF4-FFF2-40B4-BE49-F238E27FC236}">
                <a16:creationId xmlns:a16="http://schemas.microsoft.com/office/drawing/2014/main" id="{37DE0BED-229E-7CB0-D1A1-40BD74FA276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6E816C7A-672D-576C-66B6-3D5B34B2549F}"/>
              </a:ext>
            </a:extLst>
          </p:cNvPr>
          <p:cNvSpPr>
            <a:spLocks noGrp="1"/>
          </p:cNvSpPr>
          <p:nvPr>
            <p:ph type="sldNum" sz="quarter" idx="12"/>
          </p:nvPr>
        </p:nvSpPr>
        <p:spPr/>
        <p:txBody>
          <a:bodyPr/>
          <a:lstStyle/>
          <a:p>
            <a:fld id="{BE441C3A-F29A-4046-B1A1-DAE16CB1910B}" type="slidenum">
              <a:rPr lang="zh-CN" altLang="en-US" smtClean="0"/>
              <a:t>‹#›</a:t>
            </a:fld>
            <a:endParaRPr lang="zh-CN" altLang="en-US"/>
          </a:p>
        </p:txBody>
      </p:sp>
    </p:spTree>
    <p:extLst>
      <p:ext uri="{BB962C8B-B14F-4D97-AF65-F5344CB8AC3E}">
        <p14:creationId xmlns:p14="http://schemas.microsoft.com/office/powerpoint/2010/main" val="11692408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D7E3238-89C0-5BB7-014C-5723FB91672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2BF6FA3C-E846-B705-79C5-6A06BC364E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84187B8C-93DD-7C6B-AA8D-7694D3D051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89CC8651-61A1-775D-8EF3-D9FAE0BA54FF}"/>
              </a:ext>
            </a:extLst>
          </p:cNvPr>
          <p:cNvSpPr>
            <a:spLocks noGrp="1"/>
          </p:cNvSpPr>
          <p:nvPr>
            <p:ph type="dt" sz="half" idx="10"/>
          </p:nvPr>
        </p:nvSpPr>
        <p:spPr/>
        <p:txBody>
          <a:bodyPr/>
          <a:lstStyle/>
          <a:p>
            <a:fld id="{0E28044F-75F7-4F01-A7FF-4F727108D02E}" type="datetimeFigureOut">
              <a:rPr lang="zh-CN" altLang="en-US" smtClean="0"/>
              <a:t>2026/5/15</a:t>
            </a:fld>
            <a:endParaRPr lang="zh-CN" altLang="en-US"/>
          </a:p>
        </p:txBody>
      </p:sp>
      <p:sp>
        <p:nvSpPr>
          <p:cNvPr id="6" name="页脚占位符 5">
            <a:extLst>
              <a:ext uri="{FF2B5EF4-FFF2-40B4-BE49-F238E27FC236}">
                <a16:creationId xmlns:a16="http://schemas.microsoft.com/office/drawing/2014/main" id="{3363A0A6-9EFC-2C79-3E87-B264DC9E07B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2A4DCC7-8502-99BC-C060-91F717EE0990}"/>
              </a:ext>
            </a:extLst>
          </p:cNvPr>
          <p:cNvSpPr>
            <a:spLocks noGrp="1"/>
          </p:cNvSpPr>
          <p:nvPr>
            <p:ph type="sldNum" sz="quarter" idx="12"/>
          </p:nvPr>
        </p:nvSpPr>
        <p:spPr/>
        <p:txBody>
          <a:bodyPr/>
          <a:lstStyle/>
          <a:p>
            <a:fld id="{BE441C3A-F29A-4046-B1A1-DAE16CB1910B}" type="slidenum">
              <a:rPr lang="zh-CN" altLang="en-US" smtClean="0"/>
              <a:t>‹#›</a:t>
            </a:fld>
            <a:endParaRPr lang="zh-CN" altLang="en-US"/>
          </a:p>
        </p:txBody>
      </p:sp>
    </p:spTree>
    <p:extLst>
      <p:ext uri="{BB962C8B-B14F-4D97-AF65-F5344CB8AC3E}">
        <p14:creationId xmlns:p14="http://schemas.microsoft.com/office/powerpoint/2010/main" val="2165892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DCA4BD3-1029-C9D2-6028-24AABEFAE79C}"/>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B04BAE48-3F53-3C7D-02F9-6602D07B008C}"/>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515DFB6-880F-100F-F715-CB142FBA425B}"/>
              </a:ext>
            </a:extLst>
          </p:cNvPr>
          <p:cNvSpPr>
            <a:spLocks noGrp="1"/>
          </p:cNvSpPr>
          <p:nvPr>
            <p:ph type="dt" sz="half" idx="10"/>
          </p:nvPr>
        </p:nvSpPr>
        <p:spPr/>
        <p:txBody>
          <a:bodyPr/>
          <a:lstStyle/>
          <a:p>
            <a:fld id="{0E28044F-75F7-4F01-A7FF-4F727108D02E}"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9EADEBDA-D687-A26D-AC68-3418760F905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6DF1A39-61D4-4F7B-82BD-A56E1783D52E}"/>
              </a:ext>
            </a:extLst>
          </p:cNvPr>
          <p:cNvSpPr>
            <a:spLocks noGrp="1"/>
          </p:cNvSpPr>
          <p:nvPr>
            <p:ph type="sldNum" sz="quarter" idx="12"/>
          </p:nvPr>
        </p:nvSpPr>
        <p:spPr/>
        <p:txBody>
          <a:bodyPr/>
          <a:lstStyle/>
          <a:p>
            <a:fld id="{BE441C3A-F29A-4046-B1A1-DAE16CB1910B}" type="slidenum">
              <a:rPr lang="zh-CN" altLang="en-US" smtClean="0"/>
              <a:t>‹#›</a:t>
            </a:fld>
            <a:endParaRPr lang="zh-CN" altLang="en-US"/>
          </a:p>
        </p:txBody>
      </p:sp>
    </p:spTree>
    <p:extLst>
      <p:ext uri="{BB962C8B-B14F-4D97-AF65-F5344CB8AC3E}">
        <p14:creationId xmlns:p14="http://schemas.microsoft.com/office/powerpoint/2010/main" val="13463315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8C349092-9A5A-B40A-A19D-59977C23AB3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B4EE8BD7-A6CC-F214-0916-009A0CD722C0}"/>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E29E377-FA4D-E7B8-4CF1-D126367AEB01}"/>
              </a:ext>
            </a:extLst>
          </p:cNvPr>
          <p:cNvSpPr>
            <a:spLocks noGrp="1"/>
          </p:cNvSpPr>
          <p:nvPr>
            <p:ph type="dt" sz="half" idx="10"/>
          </p:nvPr>
        </p:nvSpPr>
        <p:spPr/>
        <p:txBody>
          <a:bodyPr/>
          <a:lstStyle/>
          <a:p>
            <a:fld id="{0E28044F-75F7-4F01-A7FF-4F727108D02E}"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28F22994-669C-9AD0-BFC0-C64D33FCD097}"/>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19AA377-6915-AA82-C447-8FA3EF695FBF}"/>
              </a:ext>
            </a:extLst>
          </p:cNvPr>
          <p:cNvSpPr>
            <a:spLocks noGrp="1"/>
          </p:cNvSpPr>
          <p:nvPr>
            <p:ph type="sldNum" sz="quarter" idx="12"/>
          </p:nvPr>
        </p:nvSpPr>
        <p:spPr/>
        <p:txBody>
          <a:bodyPr/>
          <a:lstStyle/>
          <a:p>
            <a:fld id="{BE441C3A-F29A-4046-B1A1-DAE16CB1910B}" type="slidenum">
              <a:rPr lang="zh-CN" altLang="en-US" smtClean="0"/>
              <a:t>‹#›</a:t>
            </a:fld>
            <a:endParaRPr lang="zh-CN" altLang="en-US"/>
          </a:p>
        </p:txBody>
      </p:sp>
    </p:spTree>
    <p:extLst>
      <p:ext uri="{BB962C8B-B14F-4D97-AF65-F5344CB8AC3E}">
        <p14:creationId xmlns:p14="http://schemas.microsoft.com/office/powerpoint/2010/main" val="34117586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A618FD3B-9FE2-D387-8BE3-718D30BB7EA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915FB50B-4920-E60E-E302-C6742CE3A6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174042B-D7F2-58D4-7FC4-BE82479F47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E28044F-75F7-4F01-A7FF-4F727108D02E}"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F154F6B3-7562-D7CD-9EBD-129B6CDC64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DB56E76C-8E6D-0E06-E9E5-4269EF778AB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441C3A-F29A-4046-B1A1-DAE16CB1910B}" type="slidenum">
              <a:rPr lang="zh-CN" altLang="en-US" smtClean="0"/>
              <a:t>‹#›</a:t>
            </a:fld>
            <a:endParaRPr lang="zh-CN" altLang="en-US"/>
          </a:p>
        </p:txBody>
      </p:sp>
    </p:spTree>
    <p:extLst>
      <p:ext uri="{BB962C8B-B14F-4D97-AF65-F5344CB8AC3E}">
        <p14:creationId xmlns:p14="http://schemas.microsoft.com/office/powerpoint/2010/main" val="32703323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5.xml.rels><?xml version="1.0" encoding="UTF-8" standalone="yes"?>
<Relationships xmlns="http://schemas.openxmlformats.org/package/2006/relationships"><Relationship Id="rId8" Type="http://schemas.openxmlformats.org/officeDocument/2006/relationships/hyperlink" Target="https://github.com/Haoyi-Zhang/SealAudit" TargetMode="External"/><Relationship Id="rId3" Type="http://schemas.openxmlformats.org/officeDocument/2006/relationships/image" Target="../media/image2.jpeg"/><Relationship Id="rId7" Type="http://schemas.openxmlformats.org/officeDocument/2006/relationships/hyperlink" Target="https://github.com/Haoyi-Zhang/ProbeTrace"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hyperlink" Target="https://github.com/Haoyi-Zhang/CodeDye" TargetMode="External"/><Relationship Id="rId5" Type="http://schemas.openxmlformats.org/officeDocument/2006/relationships/hyperlink" Target="https://github.com/Haoyi-Zhang/SemCodebook" TargetMode="External"/><Relationship Id="rId4" Type="http://schemas.openxmlformats.org/officeDocument/2006/relationships/hyperlink" Target="https://github.com/Haoyi-Zhang/CodeMarkBench" TargetMode="External"/><Relationship Id="rId9" Type="http://schemas.openxmlformats.org/officeDocument/2006/relationships/hyperlink" Target="https://haoyi-zhang.github.io/WatermarkScope/"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github.com/Haoyi-Zhang/WatermarkScope/blob/main/RESULT_MANIFEST.jsonl" TargetMode="External"/><Relationship Id="rId3" Type="http://schemas.openxmlformats.org/officeDocument/2006/relationships/image" Target="../media/image2.jpeg"/><Relationship Id="rId7" Type="http://schemas.openxmlformats.org/officeDocument/2006/relationships/hyperlink" Target="https://github.com/Haoyi-Zhang/WatermarkScope/blob/main/docs/TRACEABILITY_MATRIX.md" TargetMode="External"/><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hyperlink" Target="https://github.com/Haoyi-Zhang/WatermarkScope/blob/main/CLAIM_BOUNDARIES.md" TargetMode="External"/><Relationship Id="rId5" Type="http://schemas.openxmlformats.org/officeDocument/2006/relationships/hyperlink" Target="https://github.com/Haoyi-Zhang/WatermarkScope" TargetMode="External"/><Relationship Id="rId4" Type="http://schemas.openxmlformats.org/officeDocument/2006/relationships/hyperlink" Target="https://haoyi-zhang.github.io/WatermarkScop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hyperlink" Target="https://github.com/Haoyi-Zhang/WatermarkScope/blob/main/scripts/viva_check.py"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haoyi-zhang.github.io/WatermarkScope/"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hyperlink" Target="https://github.com/Haoyi-Zhang/WatermarkScope" TargetMode="Externa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6DA184B6-144F-1EAB-837D-F3220ECE3FBC}"/>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cover-panel">
            <a:extLst>
              <a:ext uri="{FF2B5EF4-FFF2-40B4-BE49-F238E27FC236}">
                <a16:creationId xmlns:a16="http://schemas.microsoft.com/office/drawing/2014/main" id="{A3557978-812D-CAC8-7779-8879509405F2}"/>
              </a:ext>
            </a:extLst>
          </p:cNvPr>
          <p:cNvSpPr/>
          <p:nvPr/>
        </p:nvSpPr>
        <p:spPr>
          <a:xfrm>
            <a:off x="762000" y="762000"/>
            <a:ext cx="7950200" cy="4673600"/>
          </a:xfrm>
          <a:prstGeom prst="roundRect">
            <a:avLst>
              <a:gd name="adj" fmla="val 14000"/>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kicker">
            <a:extLst>
              <a:ext uri="{FF2B5EF4-FFF2-40B4-BE49-F238E27FC236}">
                <a16:creationId xmlns:a16="http://schemas.microsoft.com/office/drawing/2014/main" id="{C7981592-CF26-6FA8-2DEA-892742B1F2DB}"/>
              </a:ext>
            </a:extLst>
          </p:cNvPr>
          <p:cNvSpPr txBox="1"/>
          <p:nvPr/>
        </p:nvSpPr>
        <p:spPr>
          <a:xfrm>
            <a:off x="1193800" y="1219200"/>
            <a:ext cx="5334000" cy="276999"/>
          </a:xfrm>
          <a:prstGeom prst="rect">
            <a:avLst/>
          </a:prstGeom>
          <a:noFill/>
        </p:spPr>
        <p:txBody>
          <a:bodyPr vert="horz" wrap="square" lIns="0" tIns="0" rIns="0" bIns="0" rtlCol="0">
            <a:noAutofit/>
          </a:bodyPr>
          <a:lstStyle/>
          <a:p>
            <a:r>
              <a:rPr lang="en-US" altLang="zh-CN" sz="1420" b="1">
                <a:solidFill>
                  <a:srgbClr val="CDE2FA"/>
                </a:solidFill>
                <a:latin typeface="Aptos" panose="020B0004020202020204" pitchFamily="34" charset="0"/>
              </a:rPr>
              <a:t>FINAL YEAR PROJECT VIVA</a:t>
            </a:r>
            <a:endParaRPr lang="zh-CN" altLang="en-US" sz="1420" b="1">
              <a:solidFill>
                <a:srgbClr val="CDE2FA"/>
              </a:solidFill>
              <a:latin typeface="Aptos" panose="020B0004020202020204" pitchFamily="34" charset="0"/>
            </a:endParaRPr>
          </a:p>
        </p:txBody>
      </p:sp>
      <p:sp>
        <p:nvSpPr>
          <p:cNvPr id="5" name="brand">
            <a:extLst>
              <a:ext uri="{FF2B5EF4-FFF2-40B4-BE49-F238E27FC236}">
                <a16:creationId xmlns:a16="http://schemas.microsoft.com/office/drawing/2014/main" id="{4FEE86A2-746B-D0F7-DF7D-6DFABBABFDDA}"/>
              </a:ext>
            </a:extLst>
          </p:cNvPr>
          <p:cNvSpPr txBox="1"/>
          <p:nvPr/>
        </p:nvSpPr>
        <p:spPr>
          <a:xfrm>
            <a:off x="1168400" y="1803400"/>
            <a:ext cx="6604000" cy="276999"/>
          </a:xfrm>
          <a:prstGeom prst="rect">
            <a:avLst/>
          </a:prstGeom>
          <a:noFill/>
        </p:spPr>
        <p:txBody>
          <a:bodyPr vert="horz" wrap="square" lIns="0" tIns="0" rIns="0" bIns="0" rtlCol="0">
            <a:noAutofit/>
          </a:bodyPr>
          <a:lstStyle/>
          <a:p>
            <a:r>
              <a:rPr lang="en-US" altLang="zh-CN" sz="5000" b="1">
                <a:solidFill>
                  <a:srgbClr val="FFFFFF"/>
                </a:solidFill>
                <a:latin typeface="Aptos" panose="020B0004020202020204" pitchFamily="34" charset="0"/>
              </a:rPr>
              <a:t>WatermarkScope</a:t>
            </a:r>
            <a:endParaRPr lang="zh-CN" altLang="en-US" sz="5000" b="1">
              <a:solidFill>
                <a:srgbClr val="FFFFFF"/>
              </a:solidFill>
              <a:latin typeface="Aptos" panose="020B0004020202020204" pitchFamily="34" charset="0"/>
            </a:endParaRPr>
          </a:p>
        </p:txBody>
      </p:sp>
      <p:sp>
        <p:nvSpPr>
          <p:cNvPr id="6" name="title">
            <a:extLst>
              <a:ext uri="{FF2B5EF4-FFF2-40B4-BE49-F238E27FC236}">
                <a16:creationId xmlns:a16="http://schemas.microsoft.com/office/drawing/2014/main" id="{77D9FA93-C8C0-49A9-1016-3CB8AA31CFB3}"/>
              </a:ext>
            </a:extLst>
          </p:cNvPr>
          <p:cNvSpPr txBox="1"/>
          <p:nvPr/>
        </p:nvSpPr>
        <p:spPr>
          <a:xfrm>
            <a:off x="1219200" y="2844800"/>
            <a:ext cx="6604000" cy="276999"/>
          </a:xfrm>
          <a:prstGeom prst="rect">
            <a:avLst/>
          </a:prstGeom>
          <a:noFill/>
        </p:spPr>
        <p:txBody>
          <a:bodyPr vert="horz" wrap="square" lIns="0" tIns="0" rIns="0" bIns="0" rtlCol="0">
            <a:noAutofit/>
          </a:bodyPr>
          <a:lstStyle/>
          <a:p>
            <a:r>
              <a:rPr lang="en-US" altLang="zh-CN" sz="2700" b="1">
                <a:solidFill>
                  <a:srgbClr val="FFFFFF"/>
                </a:solidFill>
                <a:latin typeface="Aptos" panose="020B0004020202020204" pitchFamily="34" charset="0"/>
              </a:rPr>
              <a:t>A Benchmark-to-Audit Framework for Source-Code Watermarking in Code Generation Models</a:t>
            </a:r>
            <a:endParaRPr lang="zh-CN" altLang="en-US" sz="2700" b="1">
              <a:solidFill>
                <a:srgbClr val="FFFFFF"/>
              </a:solidFill>
              <a:latin typeface="Aptos" panose="020B0004020202020204" pitchFamily="34" charset="0"/>
            </a:endParaRPr>
          </a:p>
        </p:txBody>
      </p:sp>
      <p:cxnSp>
        <p:nvCxnSpPr>
          <p:cNvPr id="7" name="rule">
            <a:extLst>
              <a:ext uri="{FF2B5EF4-FFF2-40B4-BE49-F238E27FC236}">
                <a16:creationId xmlns:a16="http://schemas.microsoft.com/office/drawing/2014/main" id="{3C39F3D6-AF73-5294-C360-1A539ED5867E}"/>
              </a:ext>
            </a:extLst>
          </p:cNvPr>
          <p:cNvCxnSpPr/>
          <p:nvPr/>
        </p:nvCxnSpPr>
        <p:spPr>
          <a:xfrm>
            <a:off x="1219200" y="4470400"/>
            <a:ext cx="6273800" cy="0"/>
          </a:xfrm>
          <a:prstGeom prst="line">
            <a:avLst/>
          </a:prstGeom>
          <a:ln w="17780">
            <a:solidFill>
              <a:srgbClr val="B5D3F5"/>
            </a:solidFill>
          </a:ln>
        </p:spPr>
        <p:style>
          <a:lnRef idx="1">
            <a:schemeClr val="accent1"/>
          </a:lnRef>
          <a:fillRef idx="0">
            <a:schemeClr val="accent1"/>
          </a:fillRef>
          <a:effectRef idx="0">
            <a:schemeClr val="accent1"/>
          </a:effectRef>
          <a:fontRef idx="minor">
            <a:schemeClr val="tx1"/>
          </a:fontRef>
        </p:style>
      </p:cxnSp>
      <p:sp>
        <p:nvSpPr>
          <p:cNvPr id="8" name="meta">
            <a:extLst>
              <a:ext uri="{FF2B5EF4-FFF2-40B4-BE49-F238E27FC236}">
                <a16:creationId xmlns:a16="http://schemas.microsoft.com/office/drawing/2014/main" id="{68536011-FF0D-A317-0DA4-608927731B91}"/>
              </a:ext>
            </a:extLst>
          </p:cNvPr>
          <p:cNvSpPr txBox="1"/>
          <p:nvPr/>
        </p:nvSpPr>
        <p:spPr>
          <a:xfrm>
            <a:off x="1244600" y="4775200"/>
            <a:ext cx="6604000" cy="276999"/>
          </a:xfrm>
          <a:prstGeom prst="rect">
            <a:avLst/>
          </a:prstGeom>
          <a:noFill/>
        </p:spPr>
        <p:txBody>
          <a:bodyPr vert="horz" wrap="square" lIns="0" tIns="0" rIns="0" bIns="0" rtlCol="0">
            <a:noAutofit/>
          </a:bodyPr>
          <a:lstStyle/>
          <a:p>
            <a:r>
              <a:rPr lang="en-US" altLang="zh-CN" sz="1720" b="1">
                <a:solidFill>
                  <a:srgbClr val="DDEBFC"/>
                </a:solidFill>
                <a:latin typeface="Aptos" panose="020B0004020202020204" pitchFamily="34" charset="0"/>
              </a:rPr>
              <a:t>Haoyi Zhang | 2254912
Supervisor: Md Maruf Hasan
Final Year Project Report | May 2026</a:t>
            </a:r>
            <a:endParaRPr lang="zh-CN" altLang="en-US" sz="1720" b="1">
              <a:solidFill>
                <a:srgbClr val="DDEBFC"/>
              </a:solidFill>
              <a:latin typeface="Aptos" panose="020B0004020202020204" pitchFamily="34" charset="0"/>
            </a:endParaRPr>
          </a:p>
        </p:txBody>
      </p:sp>
      <p:pic>
        <p:nvPicPr>
          <p:cNvPr id="10" name="图片 9">
            <a:extLst>
              <a:ext uri="{FF2B5EF4-FFF2-40B4-BE49-F238E27FC236}">
                <a16:creationId xmlns:a16="http://schemas.microsoft.com/office/drawing/2014/main" id="{4AE82C89-180E-A7D2-FAD5-94F3DE28EEC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220200" y="5918200"/>
            <a:ext cx="2082800" cy="571500"/>
          </a:xfrm>
          <a:prstGeom prst="rect">
            <a:avLst/>
          </a:prstGeom>
        </p:spPr>
      </p:pic>
      <p:sp>
        <p:nvSpPr>
          <p:cNvPr id="11" name="footer-hit-1">
            <a:hlinkClick r:id="rId4"/>
            <a:extLst>
              <a:ext uri="{FF2B5EF4-FFF2-40B4-BE49-F238E27FC236}">
                <a16:creationId xmlns:a16="http://schemas.microsoft.com/office/drawing/2014/main" id="{0866E89F-D255-B910-3C18-6A739F77CF13}"/>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67215577"/>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E60E1A11-C177-38D4-C295-E178293AA379}"/>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86191854-CA01-9C33-117A-3BACD02EDA8F}"/>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94B32DB6-4776-4E11-2F4F-89D5D4061212}"/>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VIVA POSITIONING</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1945C032-214E-A038-43CD-75C5F3F83AC3}"/>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02</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C3B9CDC1-283A-9588-2EEB-2090D96401EB}"/>
              </a:ext>
            </a:extLst>
          </p:cNvPr>
          <p:cNvCxnSpPr/>
          <p:nvPr/>
        </p:nvCxnSpPr>
        <p:spPr>
          <a:xfrm>
            <a:off x="736600" y="19558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B7CCBA90-37DB-A123-EA3E-47526661BF42}"/>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09174676-0EAB-13D8-B60F-0DC6CED235BE}"/>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8264AB38-53F5-1717-EE64-B4D35B68146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347EE008-683E-6192-2222-29FFD6605445}"/>
              </a:ext>
            </a:extLst>
          </p:cNvPr>
          <p:cNvSpPr txBox="1"/>
          <p:nvPr/>
        </p:nvSpPr>
        <p:spPr>
          <a:xfrm>
            <a:off x="736600" y="711200"/>
            <a:ext cx="10795000" cy="276999"/>
          </a:xfrm>
          <a:prstGeom prst="rect">
            <a:avLst/>
          </a:prstGeom>
          <a:noFill/>
        </p:spPr>
        <p:txBody>
          <a:bodyPr vert="horz" wrap="square" lIns="0" tIns="0" rIns="0" bIns="0" rtlCol="0">
            <a:noAutofit/>
          </a:bodyPr>
          <a:lstStyle/>
          <a:p>
            <a:r>
              <a:rPr lang="en-US" altLang="zh-CN" sz="3000" b="1">
                <a:solidFill>
                  <a:srgbClr val="071837"/>
                </a:solidFill>
                <a:latin typeface="Aptos" panose="020B0004020202020204" pitchFamily="34" charset="0"/>
              </a:rPr>
              <a:t>Submitted FYP and continuation progress stay separate.</a:t>
            </a:r>
            <a:endParaRPr lang="zh-CN" altLang="en-US" sz="300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20697BF5-A4FF-430C-978D-8A92B374C834}"/>
              </a:ext>
            </a:extLst>
          </p:cNvPr>
          <p:cNvSpPr txBox="1"/>
          <p:nvPr/>
        </p:nvSpPr>
        <p:spPr>
          <a:xfrm>
            <a:off x="787400" y="1473200"/>
            <a:ext cx="10287000" cy="276999"/>
          </a:xfrm>
          <a:prstGeom prst="rect">
            <a:avLst/>
          </a:prstGeom>
          <a:noFill/>
        </p:spPr>
        <p:txBody>
          <a:bodyPr vert="horz" wrap="square" lIns="0" tIns="0" rIns="0" bIns="0" rtlCol="0">
            <a:noAutofit/>
          </a:bodyPr>
          <a:lstStyle/>
          <a:p>
            <a:r>
              <a:rPr lang="en-US" altLang="zh-CN" sz="1220">
                <a:solidFill>
                  <a:srgbClr val="52617A"/>
                </a:solidFill>
                <a:latin typeface="Aptos" panose="020B0004020202020204" pitchFamily="34" charset="0"/>
              </a:rPr>
              <a:t>The viva can discuss repository progress without rewriting the submitted evidence surface.</a:t>
            </a:r>
            <a:endParaRPr lang="zh-CN" altLang="en-US" sz="1220">
              <a:solidFill>
                <a:srgbClr val="52617A"/>
              </a:solidFill>
              <a:latin typeface="Aptos" panose="020B0004020202020204" pitchFamily="34" charset="0"/>
            </a:endParaRPr>
          </a:p>
        </p:txBody>
      </p:sp>
      <p:sp>
        <p:nvSpPr>
          <p:cNvPr id="13" name="left">
            <a:extLst>
              <a:ext uri="{FF2B5EF4-FFF2-40B4-BE49-F238E27FC236}">
                <a16:creationId xmlns:a16="http://schemas.microsoft.com/office/drawing/2014/main" id="{12E8F18B-23FA-54C4-CDB8-E2C4D1F2D5B3}"/>
              </a:ext>
            </a:extLst>
          </p:cNvPr>
          <p:cNvSpPr/>
          <p:nvPr/>
        </p:nvSpPr>
        <p:spPr>
          <a:xfrm>
            <a:off x="1016000" y="2260600"/>
            <a:ext cx="4648200" cy="2870200"/>
          </a:xfrm>
          <a:prstGeom prst="roundRect">
            <a:avLst>
              <a:gd name="adj" fmla="val 14000"/>
            </a:avLst>
          </a:prstGeom>
          <a:solidFill>
            <a:srgbClr val="003B7A"/>
          </a:solidFill>
          <a:ln w="10160" cap="flat" cmpd="sng" algn="ctr">
            <a:solidFill>
              <a:srgbClr val="003B7A">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eft-k">
            <a:extLst>
              <a:ext uri="{FF2B5EF4-FFF2-40B4-BE49-F238E27FC236}">
                <a16:creationId xmlns:a16="http://schemas.microsoft.com/office/drawing/2014/main" id="{60C18A4C-5C6C-AD35-BAAB-4A880250D1C8}"/>
              </a:ext>
            </a:extLst>
          </p:cNvPr>
          <p:cNvSpPr txBox="1"/>
          <p:nvPr/>
        </p:nvSpPr>
        <p:spPr>
          <a:xfrm>
            <a:off x="1473200" y="2692400"/>
            <a:ext cx="2794000" cy="276999"/>
          </a:xfrm>
          <a:prstGeom prst="rect">
            <a:avLst/>
          </a:prstGeom>
          <a:noFill/>
        </p:spPr>
        <p:txBody>
          <a:bodyPr vert="horz" wrap="square" lIns="0" tIns="0" rIns="0" bIns="0" rtlCol="0">
            <a:noAutofit/>
          </a:bodyPr>
          <a:lstStyle/>
          <a:p>
            <a:r>
              <a:rPr lang="en-US" altLang="zh-CN" sz="1300" b="1">
                <a:solidFill>
                  <a:srgbClr val="CDE2FA"/>
                </a:solidFill>
                <a:latin typeface="Aptos" panose="020B0004020202020204" pitchFamily="34" charset="0"/>
              </a:rPr>
              <a:t>submitted FYP snapshot</a:t>
            </a:r>
            <a:endParaRPr lang="zh-CN" altLang="en-US" sz="1300" b="1">
              <a:solidFill>
                <a:srgbClr val="CDE2FA"/>
              </a:solidFill>
              <a:latin typeface="Aptos" panose="020B0004020202020204" pitchFamily="34" charset="0"/>
            </a:endParaRPr>
          </a:p>
        </p:txBody>
      </p:sp>
      <p:sp>
        <p:nvSpPr>
          <p:cNvPr id="15" name="left-v">
            <a:extLst>
              <a:ext uri="{FF2B5EF4-FFF2-40B4-BE49-F238E27FC236}">
                <a16:creationId xmlns:a16="http://schemas.microsoft.com/office/drawing/2014/main" id="{88878E5E-5E04-1F9C-7736-DC084FCF68F5}"/>
              </a:ext>
            </a:extLst>
          </p:cNvPr>
          <p:cNvSpPr txBox="1"/>
          <p:nvPr/>
        </p:nvSpPr>
        <p:spPr>
          <a:xfrm>
            <a:off x="1473200" y="3238500"/>
            <a:ext cx="3175000" cy="276999"/>
          </a:xfrm>
          <a:prstGeom prst="rect">
            <a:avLst/>
          </a:prstGeom>
          <a:noFill/>
        </p:spPr>
        <p:txBody>
          <a:bodyPr vert="horz" wrap="square" lIns="0" tIns="0" rIns="0" bIns="0" rtlCol="0">
            <a:noAutofit/>
          </a:bodyPr>
          <a:lstStyle/>
          <a:p>
            <a:r>
              <a:rPr lang="en-US" altLang="zh-CN" sz="2800" b="1">
                <a:solidFill>
                  <a:srgbClr val="FFFFFF"/>
                </a:solidFill>
                <a:latin typeface="Aptos" panose="020B0004020202020204" pitchFamily="34" charset="0"/>
              </a:rPr>
              <a:t>Official report
submitted to LMO</a:t>
            </a:r>
            <a:endParaRPr lang="zh-CN" altLang="en-US" sz="2800" b="1">
              <a:solidFill>
                <a:srgbClr val="FFFFFF"/>
              </a:solidFill>
              <a:latin typeface="Aptos" panose="020B0004020202020204" pitchFamily="34" charset="0"/>
            </a:endParaRPr>
          </a:p>
        </p:txBody>
      </p:sp>
      <p:sp>
        <p:nvSpPr>
          <p:cNvPr id="16" name="left-s">
            <a:extLst>
              <a:ext uri="{FF2B5EF4-FFF2-40B4-BE49-F238E27FC236}">
                <a16:creationId xmlns:a16="http://schemas.microsoft.com/office/drawing/2014/main" id="{5B39AD47-FBE9-2833-B401-2793076BDC92}"/>
              </a:ext>
            </a:extLst>
          </p:cNvPr>
          <p:cNvSpPr txBox="1"/>
          <p:nvPr/>
        </p:nvSpPr>
        <p:spPr>
          <a:xfrm>
            <a:off x="1473200" y="4343400"/>
            <a:ext cx="3378200" cy="276999"/>
          </a:xfrm>
          <a:prstGeom prst="rect">
            <a:avLst/>
          </a:prstGeom>
          <a:noFill/>
        </p:spPr>
        <p:txBody>
          <a:bodyPr vert="horz" wrap="square" lIns="0" tIns="0" rIns="0" bIns="0" rtlCol="0">
            <a:noAutofit/>
          </a:bodyPr>
          <a:lstStyle/>
          <a:p>
            <a:r>
              <a:rPr lang="en-US" altLang="zh-CN" sz="1220" b="1">
                <a:solidFill>
                  <a:srgbClr val="DDEBFC"/>
                </a:solidFill>
                <a:latin typeface="Aptos" panose="020B0004020202020204" pitchFamily="34" charset="0"/>
              </a:rPr>
              <a:t>Assessed artifact: PDF, repository route, submitted denominators.</a:t>
            </a:r>
            <a:endParaRPr lang="zh-CN" altLang="en-US" sz="1220" b="1">
              <a:solidFill>
                <a:srgbClr val="DDEBFC"/>
              </a:solidFill>
              <a:latin typeface="Aptos" panose="020B0004020202020204" pitchFamily="34" charset="0"/>
            </a:endParaRPr>
          </a:p>
        </p:txBody>
      </p:sp>
      <p:cxnSp>
        <p:nvCxnSpPr>
          <p:cNvPr id="17" name="bridge">
            <a:extLst>
              <a:ext uri="{FF2B5EF4-FFF2-40B4-BE49-F238E27FC236}">
                <a16:creationId xmlns:a16="http://schemas.microsoft.com/office/drawing/2014/main" id="{7C61755E-A0D6-AA90-E7BA-0E64566BDA55}"/>
              </a:ext>
            </a:extLst>
          </p:cNvPr>
          <p:cNvCxnSpPr/>
          <p:nvPr/>
        </p:nvCxnSpPr>
        <p:spPr>
          <a:xfrm>
            <a:off x="6019800" y="3708400"/>
            <a:ext cx="711200" cy="0"/>
          </a:xfrm>
          <a:prstGeom prst="line">
            <a:avLst/>
          </a:prstGeom>
          <a:ln w="27940">
            <a:solidFill>
              <a:srgbClr val="52617A"/>
            </a:solidFill>
            <a:tailEnd type="arrow"/>
          </a:ln>
        </p:spPr>
        <p:style>
          <a:lnRef idx="1">
            <a:schemeClr val="accent1"/>
          </a:lnRef>
          <a:fillRef idx="0">
            <a:schemeClr val="accent1"/>
          </a:fillRef>
          <a:effectRef idx="0">
            <a:schemeClr val="accent1"/>
          </a:effectRef>
          <a:fontRef idx="minor">
            <a:schemeClr val="tx1"/>
          </a:fontRef>
        </p:style>
      </p:cxnSp>
      <p:sp>
        <p:nvSpPr>
          <p:cNvPr id="18" name="right">
            <a:extLst>
              <a:ext uri="{FF2B5EF4-FFF2-40B4-BE49-F238E27FC236}">
                <a16:creationId xmlns:a16="http://schemas.microsoft.com/office/drawing/2014/main" id="{434983CC-F792-05F4-AB4B-6C8F37C31292}"/>
              </a:ext>
            </a:extLst>
          </p:cNvPr>
          <p:cNvSpPr/>
          <p:nvPr/>
        </p:nvSpPr>
        <p:spPr>
          <a:xfrm>
            <a:off x="7086600" y="2260600"/>
            <a:ext cx="4140200" cy="2870200"/>
          </a:xfrm>
          <a:prstGeom prst="roundRect">
            <a:avLst>
              <a:gd name="adj" fmla="val 14000"/>
            </a:avLst>
          </a:prstGeom>
          <a:solidFill>
            <a:srgbClr val="F8FB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right-k">
            <a:extLst>
              <a:ext uri="{FF2B5EF4-FFF2-40B4-BE49-F238E27FC236}">
                <a16:creationId xmlns:a16="http://schemas.microsoft.com/office/drawing/2014/main" id="{E70267BF-A0DA-378D-0818-78C52F43D3CB}"/>
              </a:ext>
            </a:extLst>
          </p:cNvPr>
          <p:cNvSpPr txBox="1"/>
          <p:nvPr/>
        </p:nvSpPr>
        <p:spPr>
          <a:xfrm>
            <a:off x="7543800" y="2692400"/>
            <a:ext cx="2667000" cy="276999"/>
          </a:xfrm>
          <a:prstGeom prst="rect">
            <a:avLst/>
          </a:prstGeom>
          <a:noFill/>
        </p:spPr>
        <p:txBody>
          <a:bodyPr vert="horz" wrap="square" lIns="0" tIns="0" rIns="0" bIns="0" rtlCol="0">
            <a:noAutofit/>
          </a:bodyPr>
          <a:lstStyle/>
          <a:p>
            <a:r>
              <a:rPr lang="en-US" altLang="zh-CN" sz="1300" b="1">
                <a:solidFill>
                  <a:srgbClr val="003B7A"/>
                </a:solidFill>
                <a:latin typeface="Aptos" panose="020B0004020202020204" pitchFamily="34" charset="0"/>
              </a:rPr>
              <a:t>viva continuation view</a:t>
            </a:r>
            <a:endParaRPr lang="zh-CN" altLang="en-US" sz="1300" b="1">
              <a:solidFill>
                <a:srgbClr val="003B7A"/>
              </a:solidFill>
              <a:latin typeface="Aptos" panose="020B0004020202020204" pitchFamily="34" charset="0"/>
            </a:endParaRPr>
          </a:p>
        </p:txBody>
      </p:sp>
      <p:sp>
        <p:nvSpPr>
          <p:cNvPr id="20" name="right-v">
            <a:extLst>
              <a:ext uri="{FF2B5EF4-FFF2-40B4-BE49-F238E27FC236}">
                <a16:creationId xmlns:a16="http://schemas.microsoft.com/office/drawing/2014/main" id="{01D0CBDF-BDD1-A2B4-22B8-5CE842FE68F9}"/>
              </a:ext>
            </a:extLst>
          </p:cNvPr>
          <p:cNvSpPr txBox="1"/>
          <p:nvPr/>
        </p:nvSpPr>
        <p:spPr>
          <a:xfrm>
            <a:off x="7543800" y="3238500"/>
            <a:ext cx="2921000" cy="276999"/>
          </a:xfrm>
          <a:prstGeom prst="rect">
            <a:avLst/>
          </a:prstGeom>
          <a:noFill/>
        </p:spPr>
        <p:txBody>
          <a:bodyPr vert="horz" wrap="square" lIns="0" tIns="0" rIns="0" bIns="0" rtlCol="0">
            <a:noAutofit/>
          </a:bodyPr>
          <a:lstStyle/>
          <a:p>
            <a:r>
              <a:rPr lang="en-US" altLang="zh-CN" sz="2700" b="1">
                <a:solidFill>
                  <a:srgbClr val="071837"/>
                </a:solidFill>
                <a:latin typeface="Aptos" panose="020B0004020202020204" pitchFamily="34" charset="0"/>
              </a:rPr>
              <a:t>Five tracks now
near paper shape</a:t>
            </a:r>
            <a:endParaRPr lang="zh-CN" altLang="en-US" sz="2700" b="1">
              <a:solidFill>
                <a:srgbClr val="071837"/>
              </a:solidFill>
              <a:latin typeface="Aptos" panose="020B0004020202020204" pitchFamily="34" charset="0"/>
            </a:endParaRPr>
          </a:p>
        </p:txBody>
      </p:sp>
      <p:sp>
        <p:nvSpPr>
          <p:cNvPr id="21" name="right-s">
            <a:extLst>
              <a:ext uri="{FF2B5EF4-FFF2-40B4-BE49-F238E27FC236}">
                <a16:creationId xmlns:a16="http://schemas.microsoft.com/office/drawing/2014/main" id="{234C0D6E-CCA7-394A-508D-67D6BDCD488A}"/>
              </a:ext>
            </a:extLst>
          </p:cNvPr>
          <p:cNvSpPr txBox="1"/>
          <p:nvPr/>
        </p:nvSpPr>
        <p:spPr>
          <a:xfrm>
            <a:off x="7543800" y="4343400"/>
            <a:ext cx="2971800" cy="276999"/>
          </a:xfrm>
          <a:prstGeom prst="rect">
            <a:avLst/>
          </a:prstGeom>
          <a:noFill/>
        </p:spPr>
        <p:txBody>
          <a:bodyPr vert="horz" wrap="square" lIns="0" tIns="0" rIns="0" bIns="0" rtlCol="0">
            <a:noAutofit/>
          </a:bodyPr>
          <a:lstStyle/>
          <a:p>
            <a:r>
              <a:rPr lang="en-US" altLang="zh-CN" sz="1220" b="1">
                <a:solidFill>
                  <a:srgbClr val="52617A"/>
                </a:solidFill>
                <a:latin typeface="Aptos" panose="020B0004020202020204" pitchFamily="34" charset="0"/>
              </a:rPr>
              <a:t>Used to explain effort, scope, and future submission plan.</a:t>
            </a:r>
            <a:endParaRPr lang="zh-CN" altLang="en-US" sz="1220" b="1">
              <a:solidFill>
                <a:srgbClr val="52617A"/>
              </a:solidFill>
              <a:latin typeface="Aptos" panose="020B0004020202020204" pitchFamily="34" charset="0"/>
            </a:endParaRPr>
          </a:p>
        </p:txBody>
      </p:sp>
      <p:sp>
        <p:nvSpPr>
          <p:cNvPr id="22" name="note">
            <a:extLst>
              <a:ext uri="{FF2B5EF4-FFF2-40B4-BE49-F238E27FC236}">
                <a16:creationId xmlns:a16="http://schemas.microsoft.com/office/drawing/2014/main" id="{A29E2582-A3C7-70F9-5BDA-9458588EB6D1}"/>
              </a:ext>
            </a:extLst>
          </p:cNvPr>
          <p:cNvSpPr/>
          <p:nvPr/>
        </p:nvSpPr>
        <p:spPr>
          <a:xfrm>
            <a:off x="2235200" y="5486400"/>
            <a:ext cx="7721600" cy="4572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note-t">
            <a:extLst>
              <a:ext uri="{FF2B5EF4-FFF2-40B4-BE49-F238E27FC236}">
                <a16:creationId xmlns:a16="http://schemas.microsoft.com/office/drawing/2014/main" id="{B17A2F29-B3BC-5443-B266-C21C6A570303}"/>
              </a:ext>
            </a:extLst>
          </p:cNvPr>
          <p:cNvSpPr txBox="1"/>
          <p:nvPr/>
        </p:nvSpPr>
        <p:spPr>
          <a:xfrm>
            <a:off x="2667000" y="5600700"/>
            <a:ext cx="6959600" cy="276999"/>
          </a:xfrm>
          <a:prstGeom prst="rect">
            <a:avLst/>
          </a:prstGeom>
          <a:noFill/>
        </p:spPr>
        <p:txBody>
          <a:bodyPr vert="horz" wrap="square" lIns="0" tIns="0" rIns="0" bIns="0" rtlCol="0">
            <a:noAutofit/>
          </a:bodyPr>
          <a:lstStyle/>
          <a:p>
            <a:pPr algn="ctr"/>
            <a:r>
              <a:rPr lang="en-US" altLang="zh-CN" sz="1150" b="1">
                <a:solidFill>
                  <a:srgbClr val="071837"/>
                </a:solidFill>
                <a:latin typeface="Aptos" panose="020B0004020202020204" pitchFamily="34" charset="0"/>
              </a:rPr>
              <a:t>Boundary: updated results do not rewrite the submitted dissertation.</a:t>
            </a:r>
            <a:endParaRPr lang="zh-CN" altLang="en-US" sz="1150" b="1">
              <a:solidFill>
                <a:srgbClr val="071837"/>
              </a:solidFill>
              <a:latin typeface="Aptos" panose="020B0004020202020204" pitchFamily="34" charset="0"/>
            </a:endParaRPr>
          </a:p>
        </p:txBody>
      </p:sp>
      <p:sp>
        <p:nvSpPr>
          <p:cNvPr id="24" name="footer-hit-2">
            <a:hlinkClick r:id="rId4"/>
            <a:extLst>
              <a:ext uri="{FF2B5EF4-FFF2-40B4-BE49-F238E27FC236}">
                <a16:creationId xmlns:a16="http://schemas.microsoft.com/office/drawing/2014/main" id="{18E950A9-A669-724D-49D6-D39EF6069EEB}"/>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751455156"/>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8" grpId="0" animBg="1"/>
      <p:bldP spid="19" grpId="0"/>
      <p:bldP spid="20" grpId="0"/>
      <p:bldP spid="21" grpId="0"/>
      <p:bldP spid="22" grpId="0" animBg="1"/>
      <p:bldP spid="2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BC982B1B-C923-E228-5909-F18DD2C5A2D7}"/>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9B825AA8-063C-E7D3-F627-494466D8DADB}"/>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0B4FE9B0-7586-70F1-1082-D52B7D90610D}"/>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PROBLEM</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24C2E843-A31A-97DB-E36E-161F0E56C80E}"/>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03</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0E67D93B-0797-09A4-3891-0A9B0577966A}"/>
              </a:ext>
            </a:extLst>
          </p:cNvPr>
          <p:cNvCxnSpPr/>
          <p:nvPr/>
        </p:nvCxnSpPr>
        <p:spPr>
          <a:xfrm>
            <a:off x="736600" y="19558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5CF0B8D6-750B-7089-1C80-0871EC9EED4F}"/>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C5CE353C-D171-BD46-98CC-E4111FBCEAEE}"/>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C8016E77-C49E-723D-7044-E2124A4ACD6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DCFBD14A-EC66-F744-69C2-AAF2D726318D}"/>
              </a:ext>
            </a:extLst>
          </p:cNvPr>
          <p:cNvSpPr txBox="1"/>
          <p:nvPr/>
        </p:nvSpPr>
        <p:spPr>
          <a:xfrm>
            <a:off x="736600" y="711200"/>
            <a:ext cx="10795000" cy="276999"/>
          </a:xfrm>
          <a:prstGeom prst="rect">
            <a:avLst/>
          </a:prstGeom>
          <a:noFill/>
        </p:spPr>
        <p:txBody>
          <a:bodyPr vert="horz" wrap="square" lIns="0" tIns="0" rIns="0" bIns="0" rtlCol="0">
            <a:noAutofit/>
          </a:bodyPr>
          <a:lstStyle/>
          <a:p>
            <a:r>
              <a:rPr lang="en-US" altLang="zh-CN" sz="3000" b="1">
                <a:solidFill>
                  <a:srgbClr val="071837"/>
                </a:solidFill>
                <a:latin typeface="Aptos" panose="020B0004020202020204" pitchFamily="34" charset="0"/>
              </a:rPr>
              <a:t>Generated code moves before provenance is checked.</a:t>
            </a:r>
            <a:endParaRPr lang="zh-CN" altLang="en-US" sz="300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17FBA61D-4122-14DB-84FD-2F7D2F0BA06A}"/>
              </a:ext>
            </a:extLst>
          </p:cNvPr>
          <p:cNvSpPr txBox="1"/>
          <p:nvPr/>
        </p:nvSpPr>
        <p:spPr>
          <a:xfrm>
            <a:off x="787400" y="1473200"/>
            <a:ext cx="10287000" cy="276999"/>
          </a:xfrm>
          <a:prstGeom prst="rect">
            <a:avLst/>
          </a:prstGeom>
          <a:noFill/>
        </p:spPr>
        <p:txBody>
          <a:bodyPr vert="horz" wrap="square" lIns="0" tIns="0" rIns="0" bIns="0" rtlCol="0">
            <a:noAutofit/>
          </a:bodyPr>
          <a:lstStyle/>
          <a:p>
            <a:r>
              <a:rPr lang="en-US" altLang="zh-CN" sz="1220">
                <a:solidFill>
                  <a:srgbClr val="52617A"/>
                </a:solidFill>
                <a:latin typeface="Aptos" panose="020B0004020202020204" pitchFamily="34" charset="0"/>
              </a:rPr>
              <a:t>Copying, editing, translation, and reuse make a raw detector score too weak by itself.</a:t>
            </a:r>
            <a:endParaRPr lang="zh-CN" altLang="en-US" sz="1220">
              <a:solidFill>
                <a:srgbClr val="52617A"/>
              </a:solidFill>
              <a:latin typeface="Aptos" panose="020B0004020202020204" pitchFamily="34" charset="0"/>
            </a:endParaRPr>
          </a:p>
        </p:txBody>
      </p:sp>
      <p:sp>
        <p:nvSpPr>
          <p:cNvPr id="13" name="dot0">
            <a:extLst>
              <a:ext uri="{FF2B5EF4-FFF2-40B4-BE49-F238E27FC236}">
                <a16:creationId xmlns:a16="http://schemas.microsoft.com/office/drawing/2014/main" id="{F0DE71D1-DBD4-E2C4-37A8-E6D997A94BF8}"/>
              </a:ext>
            </a:extLst>
          </p:cNvPr>
          <p:cNvSpPr/>
          <p:nvPr/>
        </p:nvSpPr>
        <p:spPr>
          <a:xfrm>
            <a:off x="1574800" y="2844800"/>
            <a:ext cx="787400" cy="787400"/>
          </a:xfrm>
          <a:prstGeom prst="ellipse">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dot-t0">
            <a:extLst>
              <a:ext uri="{FF2B5EF4-FFF2-40B4-BE49-F238E27FC236}">
                <a16:creationId xmlns:a16="http://schemas.microsoft.com/office/drawing/2014/main" id="{CAA726BE-D35F-9920-1F3A-A4C59D00C013}"/>
              </a:ext>
            </a:extLst>
          </p:cNvPr>
          <p:cNvSpPr txBox="1"/>
          <p:nvPr/>
        </p:nvSpPr>
        <p:spPr>
          <a:xfrm>
            <a:off x="1193800" y="3886200"/>
            <a:ext cx="1549400" cy="276999"/>
          </a:xfrm>
          <a:prstGeom prst="rect">
            <a:avLst/>
          </a:prstGeom>
          <a:noFill/>
        </p:spPr>
        <p:txBody>
          <a:bodyPr vert="horz" wrap="square" lIns="0" tIns="0" rIns="0" bIns="0" rtlCol="0">
            <a:noAutofit/>
          </a:bodyPr>
          <a:lstStyle/>
          <a:p>
            <a:pPr algn="ctr"/>
            <a:r>
              <a:rPr lang="en-US" altLang="zh-CN" sz="1700" b="1">
                <a:solidFill>
                  <a:srgbClr val="071837"/>
                </a:solidFill>
                <a:latin typeface="Aptos" panose="020B0004020202020204" pitchFamily="34" charset="0"/>
              </a:rPr>
              <a:t>generate</a:t>
            </a:r>
            <a:endParaRPr lang="zh-CN" altLang="en-US" sz="1700" b="1">
              <a:solidFill>
                <a:srgbClr val="071837"/>
              </a:solidFill>
              <a:latin typeface="Aptos" panose="020B0004020202020204" pitchFamily="34" charset="0"/>
            </a:endParaRPr>
          </a:p>
        </p:txBody>
      </p:sp>
      <p:sp>
        <p:nvSpPr>
          <p:cNvPr id="15" name="dot-s0">
            <a:extLst>
              <a:ext uri="{FF2B5EF4-FFF2-40B4-BE49-F238E27FC236}">
                <a16:creationId xmlns:a16="http://schemas.microsoft.com/office/drawing/2014/main" id="{667A9CB4-61FE-E9FF-9BE7-667F6B8CADD2}"/>
              </a:ext>
            </a:extLst>
          </p:cNvPr>
          <p:cNvSpPr txBox="1"/>
          <p:nvPr/>
        </p:nvSpPr>
        <p:spPr>
          <a:xfrm>
            <a:off x="1066800" y="4292600"/>
            <a:ext cx="1778000" cy="276999"/>
          </a:xfrm>
          <a:prstGeom prst="rect">
            <a:avLst/>
          </a:prstGeom>
          <a:noFill/>
        </p:spPr>
        <p:txBody>
          <a:bodyPr vert="horz" wrap="square" lIns="0" tIns="0" rIns="0" bIns="0" rtlCol="0">
            <a:noAutofit/>
          </a:bodyPr>
          <a:lstStyle/>
          <a:p>
            <a:pPr algn="ctr"/>
            <a:r>
              <a:rPr lang="en-US" altLang="zh-CN" sz="1150" b="1">
                <a:solidFill>
                  <a:srgbClr val="52617A"/>
                </a:solidFill>
                <a:latin typeface="Aptos" panose="020B0004020202020204" pitchFamily="34" charset="0"/>
              </a:rPr>
              <a:t>model output</a:t>
            </a:r>
            <a:endParaRPr lang="zh-CN" altLang="en-US" sz="1150" b="1">
              <a:solidFill>
                <a:srgbClr val="52617A"/>
              </a:solidFill>
              <a:latin typeface="Aptos" panose="020B0004020202020204" pitchFamily="34" charset="0"/>
            </a:endParaRPr>
          </a:p>
        </p:txBody>
      </p:sp>
      <p:cxnSp>
        <p:nvCxnSpPr>
          <p:cNvPr id="16" name="arr0">
            <a:extLst>
              <a:ext uri="{FF2B5EF4-FFF2-40B4-BE49-F238E27FC236}">
                <a16:creationId xmlns:a16="http://schemas.microsoft.com/office/drawing/2014/main" id="{D3C93137-0CB2-DB1D-8B0B-E3F34D1435E0}"/>
              </a:ext>
            </a:extLst>
          </p:cNvPr>
          <p:cNvCxnSpPr/>
          <p:nvPr/>
        </p:nvCxnSpPr>
        <p:spPr>
          <a:xfrm>
            <a:off x="2463800" y="3238500"/>
            <a:ext cx="939800" cy="0"/>
          </a:xfrm>
          <a:prstGeom prst="line">
            <a:avLst/>
          </a:prstGeom>
          <a:ln w="27940">
            <a:solidFill>
              <a:srgbClr val="D7E2F0"/>
            </a:solidFill>
            <a:tailEnd type="arrow"/>
          </a:ln>
        </p:spPr>
        <p:style>
          <a:lnRef idx="1">
            <a:schemeClr val="accent1"/>
          </a:lnRef>
          <a:fillRef idx="0">
            <a:schemeClr val="accent1"/>
          </a:fillRef>
          <a:effectRef idx="0">
            <a:schemeClr val="accent1"/>
          </a:effectRef>
          <a:fontRef idx="minor">
            <a:schemeClr val="tx1"/>
          </a:fontRef>
        </p:style>
      </p:cxnSp>
      <p:sp>
        <p:nvSpPr>
          <p:cNvPr id="17" name="dot1">
            <a:extLst>
              <a:ext uri="{FF2B5EF4-FFF2-40B4-BE49-F238E27FC236}">
                <a16:creationId xmlns:a16="http://schemas.microsoft.com/office/drawing/2014/main" id="{F1048A86-6F90-C370-F7DA-3C21E11E64DD}"/>
              </a:ext>
            </a:extLst>
          </p:cNvPr>
          <p:cNvSpPr/>
          <p:nvPr/>
        </p:nvSpPr>
        <p:spPr>
          <a:xfrm>
            <a:off x="4318000" y="2844800"/>
            <a:ext cx="787400" cy="787400"/>
          </a:xfrm>
          <a:prstGeom prst="ellipse">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dot-t1">
            <a:extLst>
              <a:ext uri="{FF2B5EF4-FFF2-40B4-BE49-F238E27FC236}">
                <a16:creationId xmlns:a16="http://schemas.microsoft.com/office/drawing/2014/main" id="{6269C927-408D-9453-6749-A35D8F97602C}"/>
              </a:ext>
            </a:extLst>
          </p:cNvPr>
          <p:cNvSpPr txBox="1"/>
          <p:nvPr/>
        </p:nvSpPr>
        <p:spPr>
          <a:xfrm>
            <a:off x="3937000" y="3886200"/>
            <a:ext cx="1549400" cy="276999"/>
          </a:xfrm>
          <a:prstGeom prst="rect">
            <a:avLst/>
          </a:prstGeom>
          <a:noFill/>
        </p:spPr>
        <p:txBody>
          <a:bodyPr vert="horz" wrap="square" lIns="0" tIns="0" rIns="0" bIns="0" rtlCol="0">
            <a:noAutofit/>
          </a:bodyPr>
          <a:lstStyle/>
          <a:p>
            <a:pPr algn="ctr"/>
            <a:r>
              <a:rPr lang="en-US" altLang="zh-CN" sz="1700" b="1">
                <a:solidFill>
                  <a:srgbClr val="071837"/>
                </a:solidFill>
                <a:latin typeface="Aptos" panose="020B0004020202020204" pitchFamily="34" charset="0"/>
              </a:rPr>
              <a:t>edit</a:t>
            </a:r>
            <a:endParaRPr lang="zh-CN" altLang="en-US" sz="1700" b="1">
              <a:solidFill>
                <a:srgbClr val="071837"/>
              </a:solidFill>
              <a:latin typeface="Aptos" panose="020B0004020202020204" pitchFamily="34" charset="0"/>
            </a:endParaRPr>
          </a:p>
        </p:txBody>
      </p:sp>
      <p:sp>
        <p:nvSpPr>
          <p:cNvPr id="19" name="dot-s1">
            <a:extLst>
              <a:ext uri="{FF2B5EF4-FFF2-40B4-BE49-F238E27FC236}">
                <a16:creationId xmlns:a16="http://schemas.microsoft.com/office/drawing/2014/main" id="{0B5A80FA-4DA3-087A-E6C4-16503CE7783B}"/>
              </a:ext>
            </a:extLst>
          </p:cNvPr>
          <p:cNvSpPr txBox="1"/>
          <p:nvPr/>
        </p:nvSpPr>
        <p:spPr>
          <a:xfrm>
            <a:off x="3810000" y="4292600"/>
            <a:ext cx="1778000" cy="276999"/>
          </a:xfrm>
          <a:prstGeom prst="rect">
            <a:avLst/>
          </a:prstGeom>
          <a:noFill/>
        </p:spPr>
        <p:txBody>
          <a:bodyPr vert="horz" wrap="square" lIns="0" tIns="0" rIns="0" bIns="0" rtlCol="0">
            <a:noAutofit/>
          </a:bodyPr>
          <a:lstStyle/>
          <a:p>
            <a:pPr algn="ctr"/>
            <a:r>
              <a:rPr lang="en-US" altLang="zh-CN" sz="1150" b="1">
                <a:solidFill>
                  <a:srgbClr val="52617A"/>
                </a:solidFill>
                <a:latin typeface="Aptos" panose="020B0004020202020204" pitchFamily="34" charset="0"/>
              </a:rPr>
              <a:t>copy / rewrite</a:t>
            </a:r>
            <a:endParaRPr lang="zh-CN" altLang="en-US" sz="1150" b="1">
              <a:solidFill>
                <a:srgbClr val="52617A"/>
              </a:solidFill>
              <a:latin typeface="Aptos" panose="020B0004020202020204" pitchFamily="34" charset="0"/>
            </a:endParaRPr>
          </a:p>
        </p:txBody>
      </p:sp>
      <p:cxnSp>
        <p:nvCxnSpPr>
          <p:cNvPr id="20" name="arr1">
            <a:extLst>
              <a:ext uri="{FF2B5EF4-FFF2-40B4-BE49-F238E27FC236}">
                <a16:creationId xmlns:a16="http://schemas.microsoft.com/office/drawing/2014/main" id="{562194CB-8525-72CE-F8DF-25788940415E}"/>
              </a:ext>
            </a:extLst>
          </p:cNvPr>
          <p:cNvCxnSpPr/>
          <p:nvPr/>
        </p:nvCxnSpPr>
        <p:spPr>
          <a:xfrm>
            <a:off x="5207000" y="3238500"/>
            <a:ext cx="939800" cy="0"/>
          </a:xfrm>
          <a:prstGeom prst="line">
            <a:avLst/>
          </a:prstGeom>
          <a:ln w="27940">
            <a:solidFill>
              <a:srgbClr val="D7E2F0"/>
            </a:solidFill>
            <a:tailEnd type="arrow"/>
          </a:ln>
        </p:spPr>
        <p:style>
          <a:lnRef idx="1">
            <a:schemeClr val="accent1"/>
          </a:lnRef>
          <a:fillRef idx="0">
            <a:schemeClr val="accent1"/>
          </a:fillRef>
          <a:effectRef idx="0">
            <a:schemeClr val="accent1"/>
          </a:effectRef>
          <a:fontRef idx="minor">
            <a:schemeClr val="tx1"/>
          </a:fontRef>
        </p:style>
      </p:cxnSp>
      <p:sp>
        <p:nvSpPr>
          <p:cNvPr id="21" name="dot2">
            <a:extLst>
              <a:ext uri="{FF2B5EF4-FFF2-40B4-BE49-F238E27FC236}">
                <a16:creationId xmlns:a16="http://schemas.microsoft.com/office/drawing/2014/main" id="{6EA91E30-A8DE-8FB9-2C83-5CB18B484692}"/>
              </a:ext>
            </a:extLst>
          </p:cNvPr>
          <p:cNvSpPr/>
          <p:nvPr/>
        </p:nvSpPr>
        <p:spPr>
          <a:xfrm>
            <a:off x="7061200" y="2844800"/>
            <a:ext cx="787400" cy="787400"/>
          </a:xfrm>
          <a:prstGeom prst="ellipse">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dot-t2">
            <a:extLst>
              <a:ext uri="{FF2B5EF4-FFF2-40B4-BE49-F238E27FC236}">
                <a16:creationId xmlns:a16="http://schemas.microsoft.com/office/drawing/2014/main" id="{484B4684-21E0-63A7-9498-5902699EE7E1}"/>
              </a:ext>
            </a:extLst>
          </p:cNvPr>
          <p:cNvSpPr txBox="1"/>
          <p:nvPr/>
        </p:nvSpPr>
        <p:spPr>
          <a:xfrm>
            <a:off x="6680200" y="3886200"/>
            <a:ext cx="1549400" cy="276999"/>
          </a:xfrm>
          <a:prstGeom prst="rect">
            <a:avLst/>
          </a:prstGeom>
          <a:noFill/>
        </p:spPr>
        <p:txBody>
          <a:bodyPr vert="horz" wrap="square" lIns="0" tIns="0" rIns="0" bIns="0" rtlCol="0">
            <a:noAutofit/>
          </a:bodyPr>
          <a:lstStyle/>
          <a:p>
            <a:pPr algn="ctr"/>
            <a:r>
              <a:rPr lang="en-US" altLang="zh-CN" sz="1700" b="1">
                <a:solidFill>
                  <a:srgbClr val="071837"/>
                </a:solidFill>
                <a:latin typeface="Aptos" panose="020B0004020202020204" pitchFamily="34" charset="0"/>
              </a:rPr>
              <a:t>translate</a:t>
            </a:r>
            <a:endParaRPr lang="zh-CN" altLang="en-US" sz="1700" b="1">
              <a:solidFill>
                <a:srgbClr val="071837"/>
              </a:solidFill>
              <a:latin typeface="Aptos" panose="020B0004020202020204" pitchFamily="34" charset="0"/>
            </a:endParaRPr>
          </a:p>
        </p:txBody>
      </p:sp>
      <p:sp>
        <p:nvSpPr>
          <p:cNvPr id="23" name="dot-s2">
            <a:extLst>
              <a:ext uri="{FF2B5EF4-FFF2-40B4-BE49-F238E27FC236}">
                <a16:creationId xmlns:a16="http://schemas.microsoft.com/office/drawing/2014/main" id="{680A9589-CA6C-D75B-8078-F7E3760E1D72}"/>
              </a:ext>
            </a:extLst>
          </p:cNvPr>
          <p:cNvSpPr txBox="1"/>
          <p:nvPr/>
        </p:nvSpPr>
        <p:spPr>
          <a:xfrm>
            <a:off x="6553200" y="4292600"/>
            <a:ext cx="1778000" cy="276999"/>
          </a:xfrm>
          <a:prstGeom prst="rect">
            <a:avLst/>
          </a:prstGeom>
          <a:noFill/>
        </p:spPr>
        <p:txBody>
          <a:bodyPr vert="horz" wrap="square" lIns="0" tIns="0" rIns="0" bIns="0" rtlCol="0">
            <a:noAutofit/>
          </a:bodyPr>
          <a:lstStyle/>
          <a:p>
            <a:pPr algn="ctr"/>
            <a:r>
              <a:rPr lang="en-US" altLang="zh-CN" sz="1150" b="1">
                <a:solidFill>
                  <a:srgbClr val="52617A"/>
                </a:solidFill>
                <a:latin typeface="Aptos" panose="020B0004020202020204" pitchFamily="34" charset="0"/>
              </a:rPr>
              <a:t>language shift</a:t>
            </a:r>
            <a:endParaRPr lang="zh-CN" altLang="en-US" sz="1150" b="1">
              <a:solidFill>
                <a:srgbClr val="52617A"/>
              </a:solidFill>
              <a:latin typeface="Aptos" panose="020B0004020202020204" pitchFamily="34" charset="0"/>
            </a:endParaRPr>
          </a:p>
        </p:txBody>
      </p:sp>
      <p:cxnSp>
        <p:nvCxnSpPr>
          <p:cNvPr id="24" name="arr2">
            <a:extLst>
              <a:ext uri="{FF2B5EF4-FFF2-40B4-BE49-F238E27FC236}">
                <a16:creationId xmlns:a16="http://schemas.microsoft.com/office/drawing/2014/main" id="{9B8F3B17-9381-54CD-8AD1-FA1618AF734A}"/>
              </a:ext>
            </a:extLst>
          </p:cNvPr>
          <p:cNvCxnSpPr/>
          <p:nvPr/>
        </p:nvCxnSpPr>
        <p:spPr>
          <a:xfrm>
            <a:off x="7950200" y="3238500"/>
            <a:ext cx="939800" cy="0"/>
          </a:xfrm>
          <a:prstGeom prst="line">
            <a:avLst/>
          </a:prstGeom>
          <a:ln w="27940">
            <a:solidFill>
              <a:srgbClr val="D7E2F0"/>
            </a:solidFill>
            <a:tailEnd type="arrow"/>
          </a:ln>
        </p:spPr>
        <p:style>
          <a:lnRef idx="1">
            <a:schemeClr val="accent1"/>
          </a:lnRef>
          <a:fillRef idx="0">
            <a:schemeClr val="accent1"/>
          </a:fillRef>
          <a:effectRef idx="0">
            <a:schemeClr val="accent1"/>
          </a:effectRef>
          <a:fontRef idx="minor">
            <a:schemeClr val="tx1"/>
          </a:fontRef>
        </p:style>
      </p:cxnSp>
      <p:sp>
        <p:nvSpPr>
          <p:cNvPr id="25" name="dot3">
            <a:extLst>
              <a:ext uri="{FF2B5EF4-FFF2-40B4-BE49-F238E27FC236}">
                <a16:creationId xmlns:a16="http://schemas.microsoft.com/office/drawing/2014/main" id="{29C788EC-FAF5-45C4-D9EF-E809E7B8E8CB}"/>
              </a:ext>
            </a:extLst>
          </p:cNvPr>
          <p:cNvSpPr/>
          <p:nvPr/>
        </p:nvSpPr>
        <p:spPr>
          <a:xfrm>
            <a:off x="9804400" y="2844800"/>
            <a:ext cx="787400" cy="787400"/>
          </a:xfrm>
          <a:prstGeom prst="ellipse">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dot-t3">
            <a:extLst>
              <a:ext uri="{FF2B5EF4-FFF2-40B4-BE49-F238E27FC236}">
                <a16:creationId xmlns:a16="http://schemas.microsoft.com/office/drawing/2014/main" id="{FAEADF1A-9BB3-B3F9-8F4A-DB4BE291A0BC}"/>
              </a:ext>
            </a:extLst>
          </p:cNvPr>
          <p:cNvSpPr txBox="1"/>
          <p:nvPr/>
        </p:nvSpPr>
        <p:spPr>
          <a:xfrm>
            <a:off x="9423400" y="3886200"/>
            <a:ext cx="1549400" cy="276999"/>
          </a:xfrm>
          <a:prstGeom prst="rect">
            <a:avLst/>
          </a:prstGeom>
          <a:noFill/>
        </p:spPr>
        <p:txBody>
          <a:bodyPr vert="horz" wrap="square" lIns="0" tIns="0" rIns="0" bIns="0" rtlCol="0">
            <a:noAutofit/>
          </a:bodyPr>
          <a:lstStyle/>
          <a:p>
            <a:pPr algn="ctr"/>
            <a:r>
              <a:rPr lang="en-US" altLang="zh-CN" sz="1700" b="1">
                <a:solidFill>
                  <a:srgbClr val="071837"/>
                </a:solidFill>
                <a:latin typeface="Aptos" panose="020B0004020202020204" pitchFamily="34" charset="0"/>
              </a:rPr>
              <a:t>reuse</a:t>
            </a:r>
            <a:endParaRPr lang="zh-CN" altLang="en-US" sz="1700" b="1">
              <a:solidFill>
                <a:srgbClr val="071837"/>
              </a:solidFill>
              <a:latin typeface="Aptos" panose="020B0004020202020204" pitchFamily="34" charset="0"/>
            </a:endParaRPr>
          </a:p>
        </p:txBody>
      </p:sp>
      <p:sp>
        <p:nvSpPr>
          <p:cNvPr id="27" name="dot-s3">
            <a:extLst>
              <a:ext uri="{FF2B5EF4-FFF2-40B4-BE49-F238E27FC236}">
                <a16:creationId xmlns:a16="http://schemas.microsoft.com/office/drawing/2014/main" id="{F748EAE2-3E29-7736-10D4-E3C3A65085B8}"/>
              </a:ext>
            </a:extLst>
          </p:cNvPr>
          <p:cNvSpPr txBox="1"/>
          <p:nvPr/>
        </p:nvSpPr>
        <p:spPr>
          <a:xfrm>
            <a:off x="9296400" y="4292600"/>
            <a:ext cx="1778000" cy="276999"/>
          </a:xfrm>
          <a:prstGeom prst="rect">
            <a:avLst/>
          </a:prstGeom>
          <a:noFill/>
        </p:spPr>
        <p:txBody>
          <a:bodyPr vert="horz" wrap="square" lIns="0" tIns="0" rIns="0" bIns="0" rtlCol="0">
            <a:noAutofit/>
          </a:bodyPr>
          <a:lstStyle/>
          <a:p>
            <a:pPr algn="ctr"/>
            <a:r>
              <a:rPr lang="en-US" altLang="zh-CN" sz="1150" b="1">
                <a:solidFill>
                  <a:srgbClr val="52617A"/>
                </a:solidFill>
                <a:latin typeface="Aptos" panose="020B0004020202020204" pitchFamily="34" charset="0"/>
              </a:rPr>
              <a:t>new project</a:t>
            </a:r>
            <a:endParaRPr lang="zh-CN" altLang="en-US" sz="1150" b="1">
              <a:solidFill>
                <a:srgbClr val="52617A"/>
              </a:solidFill>
              <a:latin typeface="Aptos" panose="020B0004020202020204" pitchFamily="34" charset="0"/>
            </a:endParaRPr>
          </a:p>
        </p:txBody>
      </p:sp>
      <p:sp>
        <p:nvSpPr>
          <p:cNvPr id="28" name="take">
            <a:extLst>
              <a:ext uri="{FF2B5EF4-FFF2-40B4-BE49-F238E27FC236}">
                <a16:creationId xmlns:a16="http://schemas.microsoft.com/office/drawing/2014/main" id="{6445461F-206B-698B-9F98-D8122EE8B0B4}"/>
              </a:ext>
            </a:extLst>
          </p:cNvPr>
          <p:cNvSpPr/>
          <p:nvPr/>
        </p:nvSpPr>
        <p:spPr>
          <a:xfrm>
            <a:off x="1803400" y="5207000"/>
            <a:ext cx="8585200" cy="5334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take-t">
            <a:extLst>
              <a:ext uri="{FF2B5EF4-FFF2-40B4-BE49-F238E27FC236}">
                <a16:creationId xmlns:a16="http://schemas.microsoft.com/office/drawing/2014/main" id="{D039177B-7470-1E1C-CC51-8FF6F5F48EE2}"/>
              </a:ext>
            </a:extLst>
          </p:cNvPr>
          <p:cNvSpPr txBox="1"/>
          <p:nvPr/>
        </p:nvSpPr>
        <p:spPr>
          <a:xfrm>
            <a:off x="2209800" y="5346700"/>
            <a:ext cx="7772400" cy="276999"/>
          </a:xfrm>
          <a:prstGeom prst="rect">
            <a:avLst/>
          </a:prstGeom>
          <a:noFill/>
        </p:spPr>
        <p:txBody>
          <a:bodyPr vert="horz" wrap="square" lIns="0" tIns="0" rIns="0" bIns="0" rtlCol="0">
            <a:noAutofit/>
          </a:bodyPr>
          <a:lstStyle/>
          <a:p>
            <a:pPr algn="ctr"/>
            <a:r>
              <a:rPr lang="en-US" altLang="zh-CN" sz="1240" b="1">
                <a:solidFill>
                  <a:srgbClr val="071837"/>
                </a:solidFill>
                <a:latin typeface="Aptos" panose="020B0004020202020204" pitchFamily="34" charset="0"/>
              </a:rPr>
              <a:t>The evaluation question is not just detection; it is whether a bounded claim is defensible.</a:t>
            </a:r>
            <a:endParaRPr lang="zh-CN" altLang="en-US" sz="1240" b="1">
              <a:solidFill>
                <a:srgbClr val="071837"/>
              </a:solidFill>
              <a:latin typeface="Aptos" panose="020B0004020202020204" pitchFamily="34" charset="0"/>
            </a:endParaRPr>
          </a:p>
        </p:txBody>
      </p:sp>
      <p:sp>
        <p:nvSpPr>
          <p:cNvPr id="30" name="footer-hit-3">
            <a:hlinkClick r:id="rId4"/>
            <a:extLst>
              <a:ext uri="{FF2B5EF4-FFF2-40B4-BE49-F238E27FC236}">
                <a16:creationId xmlns:a16="http://schemas.microsoft.com/office/drawing/2014/main" id="{176136D4-F2C4-8C91-7B20-E637420B0530}"/>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699648528"/>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7" grpId="0" animBg="1"/>
      <p:bldP spid="18" grpId="0"/>
      <p:bldP spid="19" grpId="0"/>
      <p:bldP spid="21" grpId="0" animBg="1"/>
      <p:bldP spid="22" grpId="0"/>
      <p:bldP spid="23" grpId="0"/>
      <p:bldP spid="25" grpId="0" animBg="1"/>
      <p:bldP spid="26" grpId="0"/>
      <p:bldP spid="27" grpId="0"/>
      <p:bldP spid="28" grpId="0" animBg="1"/>
      <p:bldP spid="2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277E9F7C-F564-F5A8-E7A8-AB2358AAF47E}"/>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D50234ED-A972-5F1E-865D-C26667D32D63}"/>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C64C510B-9F44-EF3A-6B90-D2B212EAB9B4}"/>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METHOD CORE</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23DFBF35-BCAA-FACC-9768-4DC33A37902C}"/>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04</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77FF71CF-EBD9-EC29-C03F-537566789321}"/>
              </a:ext>
            </a:extLst>
          </p:cNvPr>
          <p:cNvCxnSpPr/>
          <p:nvPr/>
        </p:nvCxnSpPr>
        <p:spPr>
          <a:xfrm>
            <a:off x="736600" y="19558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D054CC0F-A573-4164-F4A5-2623A6057609}"/>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278BB816-8595-2C66-A90D-211D2E1C7D7E}"/>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283E0CE9-7AC7-D70C-B0B2-D9E41585382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B22AE005-16E6-F209-9AB2-2FCF3C131FCD}"/>
              </a:ext>
            </a:extLst>
          </p:cNvPr>
          <p:cNvSpPr txBox="1"/>
          <p:nvPr/>
        </p:nvSpPr>
        <p:spPr>
          <a:xfrm>
            <a:off x="736600" y="711200"/>
            <a:ext cx="10795000" cy="276999"/>
          </a:xfrm>
          <a:prstGeom prst="rect">
            <a:avLst/>
          </a:prstGeom>
          <a:noFill/>
        </p:spPr>
        <p:txBody>
          <a:bodyPr vert="horz" wrap="square" lIns="0" tIns="0" rIns="0" bIns="0" rtlCol="0">
            <a:noAutofit/>
          </a:bodyPr>
          <a:lstStyle/>
          <a:p>
            <a:r>
              <a:rPr lang="en-US" altLang="zh-CN" sz="3000" b="1">
                <a:solidFill>
                  <a:srgbClr val="071837"/>
                </a:solidFill>
                <a:latin typeface="Aptos" panose="020B0004020202020204" pitchFamily="34" charset="0"/>
              </a:rPr>
              <a:t>A claim is admitted through an evidence object.</a:t>
            </a:r>
            <a:endParaRPr lang="zh-CN" altLang="en-US" sz="300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5B522DBC-F006-9C59-1E45-41CC30F2681C}"/>
              </a:ext>
            </a:extLst>
          </p:cNvPr>
          <p:cNvSpPr txBox="1"/>
          <p:nvPr/>
        </p:nvSpPr>
        <p:spPr>
          <a:xfrm>
            <a:off x="787400" y="1473200"/>
            <a:ext cx="10287000" cy="276999"/>
          </a:xfrm>
          <a:prstGeom prst="rect">
            <a:avLst/>
          </a:prstGeom>
          <a:noFill/>
        </p:spPr>
        <p:txBody>
          <a:bodyPr vert="horz" wrap="square" lIns="0" tIns="0" rIns="0" bIns="0" rtlCol="0">
            <a:noAutofit/>
          </a:bodyPr>
          <a:lstStyle/>
          <a:p>
            <a:r>
              <a:rPr lang="en-US" altLang="zh-CN" sz="1220">
                <a:solidFill>
                  <a:srgbClr val="52617A"/>
                </a:solidFill>
                <a:latin typeface="Aptos" panose="020B0004020202020204" pitchFamily="34" charset="0"/>
              </a:rPr>
              <a:t>The framework makes denominator, controls, artifact, hash, and boundary explicit.</a:t>
            </a:r>
            <a:endParaRPr lang="zh-CN" altLang="en-US" sz="1220">
              <a:solidFill>
                <a:srgbClr val="52617A"/>
              </a:solidFill>
              <a:latin typeface="Aptos" panose="020B0004020202020204" pitchFamily="34" charset="0"/>
            </a:endParaRPr>
          </a:p>
        </p:txBody>
      </p:sp>
      <p:sp>
        <p:nvSpPr>
          <p:cNvPr id="13" name="formula">
            <a:extLst>
              <a:ext uri="{FF2B5EF4-FFF2-40B4-BE49-F238E27FC236}">
                <a16:creationId xmlns:a16="http://schemas.microsoft.com/office/drawing/2014/main" id="{9C08E8E9-AE05-EDCA-362C-C375AF890C5A}"/>
              </a:ext>
            </a:extLst>
          </p:cNvPr>
          <p:cNvSpPr/>
          <p:nvPr/>
        </p:nvSpPr>
        <p:spPr>
          <a:xfrm>
            <a:off x="939800" y="2260600"/>
            <a:ext cx="4597400" cy="2819400"/>
          </a:xfrm>
          <a:prstGeom prst="roundRect">
            <a:avLst>
              <a:gd name="adj" fmla="val 14000"/>
            </a:avLst>
          </a:prstGeom>
          <a:solidFill>
            <a:srgbClr val="003B7A"/>
          </a:solidFill>
          <a:ln w="10160" cap="flat" cmpd="sng" algn="ctr">
            <a:solidFill>
              <a:srgbClr val="003B7A">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ormula-k">
            <a:extLst>
              <a:ext uri="{FF2B5EF4-FFF2-40B4-BE49-F238E27FC236}">
                <a16:creationId xmlns:a16="http://schemas.microsoft.com/office/drawing/2014/main" id="{4D360E8E-51BD-A5F7-9A6F-48541C6CE309}"/>
              </a:ext>
            </a:extLst>
          </p:cNvPr>
          <p:cNvSpPr txBox="1"/>
          <p:nvPr/>
        </p:nvSpPr>
        <p:spPr>
          <a:xfrm>
            <a:off x="1422400" y="2743200"/>
            <a:ext cx="2286000" cy="276999"/>
          </a:xfrm>
          <a:prstGeom prst="rect">
            <a:avLst/>
          </a:prstGeom>
          <a:noFill/>
        </p:spPr>
        <p:txBody>
          <a:bodyPr vert="horz" wrap="square" lIns="0" tIns="0" rIns="0" bIns="0" rtlCol="0">
            <a:noAutofit/>
          </a:bodyPr>
          <a:lstStyle/>
          <a:p>
            <a:r>
              <a:rPr lang="en-US" altLang="zh-CN" sz="1400" b="1">
                <a:solidFill>
                  <a:srgbClr val="CDE2FA"/>
                </a:solidFill>
                <a:latin typeface="Aptos" panose="020B0004020202020204" pitchFamily="34" charset="0"/>
              </a:rPr>
              <a:t>evidence contract</a:t>
            </a:r>
            <a:endParaRPr lang="zh-CN" altLang="en-US" sz="1400" b="1">
              <a:solidFill>
                <a:srgbClr val="CDE2FA"/>
              </a:solidFill>
              <a:latin typeface="Aptos" panose="020B0004020202020204" pitchFamily="34" charset="0"/>
            </a:endParaRPr>
          </a:p>
        </p:txBody>
      </p:sp>
      <p:sp>
        <p:nvSpPr>
          <p:cNvPr id="15" name="formula-main">
            <a:extLst>
              <a:ext uri="{FF2B5EF4-FFF2-40B4-BE49-F238E27FC236}">
                <a16:creationId xmlns:a16="http://schemas.microsoft.com/office/drawing/2014/main" id="{0CC99161-CF58-5658-7748-28426456FF9E}"/>
              </a:ext>
            </a:extLst>
          </p:cNvPr>
          <p:cNvSpPr txBox="1"/>
          <p:nvPr/>
        </p:nvSpPr>
        <p:spPr>
          <a:xfrm>
            <a:off x="1397000" y="3352800"/>
            <a:ext cx="3708400" cy="276999"/>
          </a:xfrm>
          <a:prstGeom prst="rect">
            <a:avLst/>
          </a:prstGeom>
          <a:noFill/>
        </p:spPr>
        <p:txBody>
          <a:bodyPr vert="horz" wrap="square" lIns="0" tIns="0" rIns="0" bIns="0" rtlCol="0">
            <a:noAutofit/>
          </a:bodyPr>
          <a:lstStyle/>
          <a:p>
            <a:r>
              <a:rPr lang="pt-BR" altLang="zh-CN" sz="3000" b="1">
                <a:solidFill>
                  <a:srgbClr val="FFFFFF"/>
                </a:solidFill>
                <a:latin typeface="Consolas" panose="020B0609020204030204" pitchFamily="49" charset="0"/>
              </a:rPr>
              <a:t>claim := f(E, A, B)</a:t>
            </a:r>
            <a:endParaRPr lang="zh-CN" altLang="en-US" sz="3000" b="1">
              <a:solidFill>
                <a:srgbClr val="FFFFFF"/>
              </a:solidFill>
              <a:latin typeface="Consolas" panose="020B0609020204030204" pitchFamily="49" charset="0"/>
            </a:endParaRPr>
          </a:p>
        </p:txBody>
      </p:sp>
      <p:sp>
        <p:nvSpPr>
          <p:cNvPr id="16" name="formula-sub">
            <a:extLst>
              <a:ext uri="{FF2B5EF4-FFF2-40B4-BE49-F238E27FC236}">
                <a16:creationId xmlns:a16="http://schemas.microsoft.com/office/drawing/2014/main" id="{C6E7EEA9-244E-781D-C26C-6EDC5D1618BF}"/>
              </a:ext>
            </a:extLst>
          </p:cNvPr>
          <p:cNvSpPr txBox="1"/>
          <p:nvPr/>
        </p:nvSpPr>
        <p:spPr>
          <a:xfrm>
            <a:off x="1422400" y="4216400"/>
            <a:ext cx="3352800" cy="276999"/>
          </a:xfrm>
          <a:prstGeom prst="rect">
            <a:avLst/>
          </a:prstGeom>
          <a:noFill/>
        </p:spPr>
        <p:txBody>
          <a:bodyPr vert="horz" wrap="square" lIns="0" tIns="0" rIns="0" bIns="0" rtlCol="0">
            <a:noAutofit/>
          </a:bodyPr>
          <a:lstStyle/>
          <a:p>
            <a:r>
              <a:rPr lang="en-US" altLang="zh-CN" sz="1320" b="1">
                <a:solidFill>
                  <a:srgbClr val="DDEBFC"/>
                </a:solidFill>
                <a:latin typeface="Aptos" panose="020B0004020202020204" pitchFamily="34" charset="0"/>
              </a:rPr>
              <a:t>E = denominator + controls
A = access model
B = boundary</a:t>
            </a:r>
            <a:endParaRPr lang="zh-CN" altLang="en-US" sz="1320" b="1">
              <a:solidFill>
                <a:srgbClr val="DDEBFC"/>
              </a:solidFill>
              <a:latin typeface="Aptos" panose="020B0004020202020204" pitchFamily="34" charset="0"/>
            </a:endParaRPr>
          </a:p>
        </p:txBody>
      </p:sp>
      <p:sp>
        <p:nvSpPr>
          <p:cNvPr id="17" name="c0">
            <a:extLst>
              <a:ext uri="{FF2B5EF4-FFF2-40B4-BE49-F238E27FC236}">
                <a16:creationId xmlns:a16="http://schemas.microsoft.com/office/drawing/2014/main" id="{21AE5A9B-F5B2-B43C-8C23-B71BDD9E67C8}"/>
              </a:ext>
            </a:extLst>
          </p:cNvPr>
          <p:cNvSpPr/>
          <p:nvPr/>
        </p:nvSpPr>
        <p:spPr>
          <a:xfrm>
            <a:off x="6248400" y="2260600"/>
            <a:ext cx="44958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c-dot0">
            <a:extLst>
              <a:ext uri="{FF2B5EF4-FFF2-40B4-BE49-F238E27FC236}">
                <a16:creationId xmlns:a16="http://schemas.microsoft.com/office/drawing/2014/main" id="{C40DDBEF-F673-C6E1-6C73-F4BFEC0165A9}"/>
              </a:ext>
            </a:extLst>
          </p:cNvPr>
          <p:cNvSpPr/>
          <p:nvPr/>
        </p:nvSpPr>
        <p:spPr>
          <a:xfrm>
            <a:off x="6527800" y="2387600"/>
            <a:ext cx="279400" cy="279400"/>
          </a:xfrm>
          <a:prstGeom prst="ellipse">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key0">
            <a:extLst>
              <a:ext uri="{FF2B5EF4-FFF2-40B4-BE49-F238E27FC236}">
                <a16:creationId xmlns:a16="http://schemas.microsoft.com/office/drawing/2014/main" id="{5FA3523A-F560-7E9C-A9FC-F56B252FA69A}"/>
              </a:ext>
            </a:extLst>
          </p:cNvPr>
          <p:cNvSpPr txBox="1"/>
          <p:nvPr/>
        </p:nvSpPr>
        <p:spPr>
          <a:xfrm>
            <a:off x="7010400" y="2387600"/>
            <a:ext cx="457200" cy="276999"/>
          </a:xfrm>
          <a:prstGeom prst="rect">
            <a:avLst/>
          </a:prstGeom>
          <a:noFill/>
        </p:spPr>
        <p:txBody>
          <a:bodyPr vert="horz" wrap="square" lIns="0" tIns="0" rIns="0" bIns="0" rtlCol="0">
            <a:noAutofit/>
          </a:bodyPr>
          <a:lstStyle/>
          <a:p>
            <a:r>
              <a:rPr lang="en-US" altLang="zh-CN" sz="1250" b="1">
                <a:solidFill>
                  <a:srgbClr val="003B7A"/>
                </a:solidFill>
                <a:latin typeface="Aptos" panose="020B0004020202020204" pitchFamily="34" charset="0"/>
              </a:rPr>
              <a:t>D</a:t>
            </a:r>
            <a:endParaRPr lang="zh-CN" altLang="en-US" sz="1250" b="1">
              <a:solidFill>
                <a:srgbClr val="003B7A"/>
              </a:solidFill>
              <a:latin typeface="Aptos" panose="020B0004020202020204" pitchFamily="34" charset="0"/>
            </a:endParaRPr>
          </a:p>
        </p:txBody>
      </p:sp>
      <p:sp>
        <p:nvSpPr>
          <p:cNvPr id="20" name="c-lab0">
            <a:extLst>
              <a:ext uri="{FF2B5EF4-FFF2-40B4-BE49-F238E27FC236}">
                <a16:creationId xmlns:a16="http://schemas.microsoft.com/office/drawing/2014/main" id="{FC8B6DA3-98D5-FC62-2499-883F730A9160}"/>
              </a:ext>
            </a:extLst>
          </p:cNvPr>
          <p:cNvSpPr txBox="1"/>
          <p:nvPr/>
        </p:nvSpPr>
        <p:spPr>
          <a:xfrm>
            <a:off x="7645400" y="2374900"/>
            <a:ext cx="2667000" cy="276999"/>
          </a:xfrm>
          <a:prstGeom prst="rect">
            <a:avLst/>
          </a:prstGeom>
          <a:noFill/>
        </p:spPr>
        <p:txBody>
          <a:bodyPr vert="horz" wrap="square" lIns="0" tIns="0" rIns="0" bIns="0" rtlCol="0">
            <a:noAutofit/>
          </a:bodyPr>
          <a:lstStyle/>
          <a:p>
            <a:r>
              <a:rPr lang="en-US" altLang="zh-CN" sz="1270" b="1">
                <a:solidFill>
                  <a:srgbClr val="071837"/>
                </a:solidFill>
                <a:latin typeface="Aptos" panose="020B0004020202020204" pitchFamily="34" charset="0"/>
              </a:rPr>
              <a:t>fixed denominator</a:t>
            </a:r>
            <a:endParaRPr lang="zh-CN" altLang="en-US" sz="1270" b="1">
              <a:solidFill>
                <a:srgbClr val="071837"/>
              </a:solidFill>
              <a:latin typeface="Aptos" panose="020B0004020202020204" pitchFamily="34" charset="0"/>
            </a:endParaRPr>
          </a:p>
        </p:txBody>
      </p:sp>
      <p:sp>
        <p:nvSpPr>
          <p:cNvPr id="21" name="c1">
            <a:extLst>
              <a:ext uri="{FF2B5EF4-FFF2-40B4-BE49-F238E27FC236}">
                <a16:creationId xmlns:a16="http://schemas.microsoft.com/office/drawing/2014/main" id="{FF07301E-8BE7-D97A-276B-BBC0D44D646C}"/>
              </a:ext>
            </a:extLst>
          </p:cNvPr>
          <p:cNvSpPr/>
          <p:nvPr/>
        </p:nvSpPr>
        <p:spPr>
          <a:xfrm>
            <a:off x="6248400" y="2946400"/>
            <a:ext cx="44958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c-dot1">
            <a:extLst>
              <a:ext uri="{FF2B5EF4-FFF2-40B4-BE49-F238E27FC236}">
                <a16:creationId xmlns:a16="http://schemas.microsoft.com/office/drawing/2014/main" id="{3FADA6E5-A09B-4659-5B49-5AF4C2A01E7C}"/>
              </a:ext>
            </a:extLst>
          </p:cNvPr>
          <p:cNvSpPr/>
          <p:nvPr/>
        </p:nvSpPr>
        <p:spPr>
          <a:xfrm>
            <a:off x="6527800" y="3073400"/>
            <a:ext cx="279400" cy="279400"/>
          </a:xfrm>
          <a:prstGeom prst="ellipse">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c-key1">
            <a:extLst>
              <a:ext uri="{FF2B5EF4-FFF2-40B4-BE49-F238E27FC236}">
                <a16:creationId xmlns:a16="http://schemas.microsoft.com/office/drawing/2014/main" id="{086F902F-7269-A598-068D-653408F97D92}"/>
              </a:ext>
            </a:extLst>
          </p:cNvPr>
          <p:cNvSpPr txBox="1"/>
          <p:nvPr/>
        </p:nvSpPr>
        <p:spPr>
          <a:xfrm>
            <a:off x="7010400" y="3073400"/>
            <a:ext cx="457200" cy="276999"/>
          </a:xfrm>
          <a:prstGeom prst="rect">
            <a:avLst/>
          </a:prstGeom>
          <a:noFill/>
        </p:spPr>
        <p:txBody>
          <a:bodyPr vert="horz" wrap="square" lIns="0" tIns="0" rIns="0" bIns="0" rtlCol="0">
            <a:noAutofit/>
          </a:bodyPr>
          <a:lstStyle/>
          <a:p>
            <a:r>
              <a:rPr lang="en-US" altLang="zh-CN" sz="1250" b="1">
                <a:solidFill>
                  <a:srgbClr val="168E8B"/>
                </a:solidFill>
                <a:latin typeface="Aptos" panose="020B0004020202020204" pitchFamily="34" charset="0"/>
              </a:rPr>
              <a:t>C</a:t>
            </a:r>
            <a:endParaRPr lang="zh-CN" altLang="en-US" sz="1250" b="1">
              <a:solidFill>
                <a:srgbClr val="168E8B"/>
              </a:solidFill>
              <a:latin typeface="Aptos" panose="020B0004020202020204" pitchFamily="34" charset="0"/>
            </a:endParaRPr>
          </a:p>
        </p:txBody>
      </p:sp>
      <p:sp>
        <p:nvSpPr>
          <p:cNvPr id="24" name="c-lab1">
            <a:extLst>
              <a:ext uri="{FF2B5EF4-FFF2-40B4-BE49-F238E27FC236}">
                <a16:creationId xmlns:a16="http://schemas.microsoft.com/office/drawing/2014/main" id="{E279CAC0-5D39-CDB0-D53A-66AEACF4F9F1}"/>
              </a:ext>
            </a:extLst>
          </p:cNvPr>
          <p:cNvSpPr txBox="1"/>
          <p:nvPr/>
        </p:nvSpPr>
        <p:spPr>
          <a:xfrm>
            <a:off x="7645400" y="3060700"/>
            <a:ext cx="2667000" cy="276999"/>
          </a:xfrm>
          <a:prstGeom prst="rect">
            <a:avLst/>
          </a:prstGeom>
          <a:noFill/>
        </p:spPr>
        <p:txBody>
          <a:bodyPr vert="horz" wrap="square" lIns="0" tIns="0" rIns="0" bIns="0" rtlCol="0">
            <a:noAutofit/>
          </a:bodyPr>
          <a:lstStyle/>
          <a:p>
            <a:r>
              <a:rPr lang="en-US" altLang="zh-CN" sz="1270" b="1">
                <a:solidFill>
                  <a:srgbClr val="071837"/>
                </a:solidFill>
                <a:latin typeface="Aptos" panose="020B0004020202020204" pitchFamily="34" charset="0"/>
              </a:rPr>
              <a:t>positive / negative controls</a:t>
            </a:r>
            <a:endParaRPr lang="zh-CN" altLang="en-US" sz="1270" b="1">
              <a:solidFill>
                <a:srgbClr val="071837"/>
              </a:solidFill>
              <a:latin typeface="Aptos" panose="020B0004020202020204" pitchFamily="34" charset="0"/>
            </a:endParaRPr>
          </a:p>
        </p:txBody>
      </p:sp>
      <p:sp>
        <p:nvSpPr>
          <p:cNvPr id="25" name="c2">
            <a:extLst>
              <a:ext uri="{FF2B5EF4-FFF2-40B4-BE49-F238E27FC236}">
                <a16:creationId xmlns:a16="http://schemas.microsoft.com/office/drawing/2014/main" id="{7FC1334A-1FE3-267E-7B0C-EE8516230346}"/>
              </a:ext>
            </a:extLst>
          </p:cNvPr>
          <p:cNvSpPr/>
          <p:nvPr/>
        </p:nvSpPr>
        <p:spPr>
          <a:xfrm>
            <a:off x="6248400" y="3632200"/>
            <a:ext cx="44958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c-dot2">
            <a:extLst>
              <a:ext uri="{FF2B5EF4-FFF2-40B4-BE49-F238E27FC236}">
                <a16:creationId xmlns:a16="http://schemas.microsoft.com/office/drawing/2014/main" id="{0FEBE2FA-7119-B906-F760-5414F2DF3858}"/>
              </a:ext>
            </a:extLst>
          </p:cNvPr>
          <p:cNvSpPr/>
          <p:nvPr/>
        </p:nvSpPr>
        <p:spPr>
          <a:xfrm>
            <a:off x="6527800" y="3759200"/>
            <a:ext cx="279400" cy="279400"/>
          </a:xfrm>
          <a:prstGeom prst="ellipse">
            <a:avLst/>
          </a:prstGeom>
          <a:solidFill>
            <a:srgbClr val="5B45C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c-key2">
            <a:extLst>
              <a:ext uri="{FF2B5EF4-FFF2-40B4-BE49-F238E27FC236}">
                <a16:creationId xmlns:a16="http://schemas.microsoft.com/office/drawing/2014/main" id="{134D863B-F4F4-E403-2459-37A5C07EA2C2}"/>
              </a:ext>
            </a:extLst>
          </p:cNvPr>
          <p:cNvSpPr txBox="1"/>
          <p:nvPr/>
        </p:nvSpPr>
        <p:spPr>
          <a:xfrm>
            <a:off x="7010400" y="3759200"/>
            <a:ext cx="457200" cy="276999"/>
          </a:xfrm>
          <a:prstGeom prst="rect">
            <a:avLst/>
          </a:prstGeom>
          <a:noFill/>
        </p:spPr>
        <p:txBody>
          <a:bodyPr vert="horz" wrap="square" lIns="0" tIns="0" rIns="0" bIns="0" rtlCol="0">
            <a:noAutofit/>
          </a:bodyPr>
          <a:lstStyle/>
          <a:p>
            <a:r>
              <a:rPr lang="en-US" altLang="zh-CN" sz="1250" b="1">
                <a:solidFill>
                  <a:srgbClr val="5B45C8"/>
                </a:solidFill>
                <a:latin typeface="Aptos" panose="020B0004020202020204" pitchFamily="34" charset="0"/>
              </a:rPr>
              <a:t>H</a:t>
            </a:r>
            <a:endParaRPr lang="zh-CN" altLang="en-US" sz="1250" b="1">
              <a:solidFill>
                <a:srgbClr val="5B45C8"/>
              </a:solidFill>
              <a:latin typeface="Aptos" panose="020B0004020202020204" pitchFamily="34" charset="0"/>
            </a:endParaRPr>
          </a:p>
        </p:txBody>
      </p:sp>
      <p:sp>
        <p:nvSpPr>
          <p:cNvPr id="28" name="c-lab2">
            <a:extLst>
              <a:ext uri="{FF2B5EF4-FFF2-40B4-BE49-F238E27FC236}">
                <a16:creationId xmlns:a16="http://schemas.microsoft.com/office/drawing/2014/main" id="{DCFCA2E5-E8CD-6FD3-CA5D-3BB9A5986E0E}"/>
              </a:ext>
            </a:extLst>
          </p:cNvPr>
          <p:cNvSpPr txBox="1"/>
          <p:nvPr/>
        </p:nvSpPr>
        <p:spPr>
          <a:xfrm>
            <a:off x="7645400" y="3746500"/>
            <a:ext cx="2667000" cy="276999"/>
          </a:xfrm>
          <a:prstGeom prst="rect">
            <a:avLst/>
          </a:prstGeom>
          <a:noFill/>
        </p:spPr>
        <p:txBody>
          <a:bodyPr vert="horz" wrap="square" lIns="0" tIns="0" rIns="0" bIns="0" rtlCol="0">
            <a:noAutofit/>
          </a:bodyPr>
          <a:lstStyle/>
          <a:p>
            <a:r>
              <a:rPr lang="en-US" altLang="zh-CN" sz="1270" b="1">
                <a:solidFill>
                  <a:srgbClr val="071837"/>
                </a:solidFill>
                <a:latin typeface="Aptos" panose="020B0004020202020204" pitchFamily="34" charset="0"/>
              </a:rPr>
              <a:t>artifact hash</a:t>
            </a:r>
            <a:endParaRPr lang="zh-CN" altLang="en-US" sz="1270" b="1">
              <a:solidFill>
                <a:srgbClr val="071837"/>
              </a:solidFill>
              <a:latin typeface="Aptos" panose="020B0004020202020204" pitchFamily="34" charset="0"/>
            </a:endParaRPr>
          </a:p>
        </p:txBody>
      </p:sp>
      <p:sp>
        <p:nvSpPr>
          <p:cNvPr id="29" name="c3">
            <a:extLst>
              <a:ext uri="{FF2B5EF4-FFF2-40B4-BE49-F238E27FC236}">
                <a16:creationId xmlns:a16="http://schemas.microsoft.com/office/drawing/2014/main" id="{757805D2-CE5E-9C94-56CA-15691AA7F2CF}"/>
              </a:ext>
            </a:extLst>
          </p:cNvPr>
          <p:cNvSpPr/>
          <p:nvPr/>
        </p:nvSpPr>
        <p:spPr>
          <a:xfrm>
            <a:off x="6248400" y="4318000"/>
            <a:ext cx="44958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c-dot3">
            <a:extLst>
              <a:ext uri="{FF2B5EF4-FFF2-40B4-BE49-F238E27FC236}">
                <a16:creationId xmlns:a16="http://schemas.microsoft.com/office/drawing/2014/main" id="{CD988755-3C40-8742-92F7-1D13D45D03A2}"/>
              </a:ext>
            </a:extLst>
          </p:cNvPr>
          <p:cNvSpPr/>
          <p:nvPr/>
        </p:nvSpPr>
        <p:spPr>
          <a:xfrm>
            <a:off x="6527800" y="4445000"/>
            <a:ext cx="279400" cy="279400"/>
          </a:xfrm>
          <a:prstGeom prst="ellipse">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c-key3">
            <a:extLst>
              <a:ext uri="{FF2B5EF4-FFF2-40B4-BE49-F238E27FC236}">
                <a16:creationId xmlns:a16="http://schemas.microsoft.com/office/drawing/2014/main" id="{205E57B1-1D0A-53A9-A192-0168850EC4C0}"/>
              </a:ext>
            </a:extLst>
          </p:cNvPr>
          <p:cNvSpPr txBox="1"/>
          <p:nvPr/>
        </p:nvSpPr>
        <p:spPr>
          <a:xfrm>
            <a:off x="7010400" y="4445000"/>
            <a:ext cx="457200" cy="276999"/>
          </a:xfrm>
          <a:prstGeom prst="rect">
            <a:avLst/>
          </a:prstGeom>
          <a:noFill/>
        </p:spPr>
        <p:txBody>
          <a:bodyPr vert="horz" wrap="square" lIns="0" tIns="0" rIns="0" bIns="0" rtlCol="0">
            <a:noAutofit/>
          </a:bodyPr>
          <a:lstStyle/>
          <a:p>
            <a:r>
              <a:rPr lang="en-US" altLang="zh-CN" sz="1250" b="1">
                <a:solidFill>
                  <a:srgbClr val="1F7A4D"/>
                </a:solidFill>
                <a:latin typeface="Aptos" panose="020B0004020202020204" pitchFamily="34" charset="0"/>
              </a:rPr>
              <a:t>B</a:t>
            </a:r>
            <a:endParaRPr lang="zh-CN" altLang="en-US" sz="1250" b="1">
              <a:solidFill>
                <a:srgbClr val="1F7A4D"/>
              </a:solidFill>
              <a:latin typeface="Aptos" panose="020B0004020202020204" pitchFamily="34" charset="0"/>
            </a:endParaRPr>
          </a:p>
        </p:txBody>
      </p:sp>
      <p:sp>
        <p:nvSpPr>
          <p:cNvPr id="32" name="c-lab3">
            <a:extLst>
              <a:ext uri="{FF2B5EF4-FFF2-40B4-BE49-F238E27FC236}">
                <a16:creationId xmlns:a16="http://schemas.microsoft.com/office/drawing/2014/main" id="{D4FBD408-5E7E-F01A-CED4-DF93F90188B6}"/>
              </a:ext>
            </a:extLst>
          </p:cNvPr>
          <p:cNvSpPr txBox="1"/>
          <p:nvPr/>
        </p:nvSpPr>
        <p:spPr>
          <a:xfrm>
            <a:off x="7645400" y="4432300"/>
            <a:ext cx="2667000" cy="276999"/>
          </a:xfrm>
          <a:prstGeom prst="rect">
            <a:avLst/>
          </a:prstGeom>
          <a:noFill/>
        </p:spPr>
        <p:txBody>
          <a:bodyPr vert="horz" wrap="square" lIns="0" tIns="0" rIns="0" bIns="0" rtlCol="0">
            <a:noAutofit/>
          </a:bodyPr>
          <a:lstStyle/>
          <a:p>
            <a:r>
              <a:rPr lang="en-US" altLang="zh-CN" sz="1270" b="1">
                <a:solidFill>
                  <a:srgbClr val="071837"/>
                </a:solidFill>
                <a:latin typeface="Aptos" panose="020B0004020202020204" pitchFamily="34" charset="0"/>
              </a:rPr>
              <a:t>claim boundary</a:t>
            </a:r>
            <a:endParaRPr lang="zh-CN" altLang="en-US" sz="1270" b="1">
              <a:solidFill>
                <a:srgbClr val="071837"/>
              </a:solidFill>
              <a:latin typeface="Aptos" panose="020B0004020202020204" pitchFamily="34" charset="0"/>
            </a:endParaRPr>
          </a:p>
        </p:txBody>
      </p:sp>
      <p:sp>
        <p:nvSpPr>
          <p:cNvPr id="33" name="policy">
            <a:extLst>
              <a:ext uri="{FF2B5EF4-FFF2-40B4-BE49-F238E27FC236}">
                <a16:creationId xmlns:a16="http://schemas.microsoft.com/office/drawing/2014/main" id="{F568FEE8-6B45-A992-BFA0-084771244E43}"/>
              </a:ext>
            </a:extLst>
          </p:cNvPr>
          <p:cNvSpPr/>
          <p:nvPr/>
        </p:nvSpPr>
        <p:spPr>
          <a:xfrm>
            <a:off x="6248400" y="5283200"/>
            <a:ext cx="4495800" cy="4826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policy-t">
            <a:extLst>
              <a:ext uri="{FF2B5EF4-FFF2-40B4-BE49-F238E27FC236}">
                <a16:creationId xmlns:a16="http://schemas.microsoft.com/office/drawing/2014/main" id="{6AAEB663-5AFB-246B-6794-B2999D120D4B}"/>
              </a:ext>
            </a:extLst>
          </p:cNvPr>
          <p:cNvSpPr txBox="1"/>
          <p:nvPr/>
        </p:nvSpPr>
        <p:spPr>
          <a:xfrm>
            <a:off x="6578600" y="5410200"/>
            <a:ext cx="3886200" cy="276999"/>
          </a:xfrm>
          <a:prstGeom prst="rect">
            <a:avLst/>
          </a:prstGeom>
          <a:noFill/>
        </p:spPr>
        <p:txBody>
          <a:bodyPr vert="horz" wrap="square" lIns="0" tIns="0" rIns="0" bIns="0" rtlCol="0">
            <a:noAutofit/>
          </a:bodyPr>
          <a:lstStyle/>
          <a:p>
            <a:pPr algn="ctr"/>
            <a:r>
              <a:rPr lang="en-US" altLang="zh-CN" sz="1080" b="1">
                <a:solidFill>
                  <a:srgbClr val="071837"/>
                </a:solidFill>
                <a:latin typeface="Aptos" panose="020B0004020202020204" pitchFamily="34" charset="0"/>
              </a:rPr>
              <a:t>No broader claim without a new admitted surface.</a:t>
            </a:r>
            <a:endParaRPr lang="zh-CN" altLang="en-US" sz="1080" b="1">
              <a:solidFill>
                <a:srgbClr val="071837"/>
              </a:solidFill>
              <a:latin typeface="Aptos" panose="020B0004020202020204" pitchFamily="34" charset="0"/>
            </a:endParaRPr>
          </a:p>
        </p:txBody>
      </p:sp>
      <p:sp>
        <p:nvSpPr>
          <p:cNvPr id="35" name="footer-hit-4">
            <a:hlinkClick r:id="rId4"/>
            <a:extLst>
              <a:ext uri="{FF2B5EF4-FFF2-40B4-BE49-F238E27FC236}">
                <a16:creationId xmlns:a16="http://schemas.microsoft.com/office/drawing/2014/main" id="{F7A107BB-C5A0-556D-1144-9073094F2AF6}"/>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711896238"/>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7" grpId="0" animBg="1"/>
      <p:bldP spid="18" grpId="0" animBg="1"/>
      <p:bldP spid="19" grpId="0"/>
      <p:bldP spid="20" grpId="0"/>
      <p:bldP spid="21" grpId="0" animBg="1"/>
      <p:bldP spid="22" grpId="0" animBg="1"/>
      <p:bldP spid="23" grpId="0"/>
      <p:bldP spid="24" grpId="0"/>
      <p:bldP spid="25" grpId="0" animBg="1"/>
      <p:bldP spid="26" grpId="0" animBg="1"/>
      <p:bldP spid="27" grpId="0"/>
      <p:bldP spid="28" grpId="0"/>
      <p:bldP spid="29" grpId="0" animBg="1"/>
      <p:bldP spid="30" grpId="0" animBg="1"/>
      <p:bldP spid="31" grpId="0"/>
      <p:bldP spid="32" grpId="0"/>
      <p:bldP spid="33" grpId="0" animBg="1"/>
      <p:bldP spid="3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07511370-3959-6E71-2292-FF465A1688AF}"/>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12DDCE87-88D5-4A60-B401-C0BCA0BA4072}"/>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00192D87-2E06-060E-74B1-CDDC88BDFD82}"/>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PORTFOLIO</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64A32B8B-BF67-DA9A-3689-AEE95BA19059}"/>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05</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EC271258-8D1C-DA47-33A3-8F9D101E49CC}"/>
              </a:ext>
            </a:extLst>
          </p:cNvPr>
          <p:cNvCxnSpPr/>
          <p:nvPr/>
        </p:nvCxnSpPr>
        <p:spPr>
          <a:xfrm>
            <a:off x="736600" y="19558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45C0AC44-196F-BBAC-4FD9-42E850AFC132}"/>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AFF79925-61E6-2C04-DC46-4EF7837A80A8}"/>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D27E2FC8-78A7-EC4A-492C-1B5BCC2FE20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EFBB469C-4F5B-EA1C-6D8E-3975986C652D}"/>
              </a:ext>
            </a:extLst>
          </p:cNvPr>
          <p:cNvSpPr txBox="1"/>
          <p:nvPr/>
        </p:nvSpPr>
        <p:spPr>
          <a:xfrm>
            <a:off x="736600" y="711200"/>
            <a:ext cx="10795000" cy="276999"/>
          </a:xfrm>
          <a:prstGeom prst="rect">
            <a:avLst/>
          </a:prstGeom>
          <a:noFill/>
        </p:spPr>
        <p:txBody>
          <a:bodyPr vert="horz" wrap="square" lIns="0" tIns="0" rIns="0" bIns="0" rtlCol="0">
            <a:noAutofit/>
          </a:bodyPr>
          <a:lstStyle/>
          <a:p>
            <a:r>
              <a:rPr lang="en-US" altLang="zh-CN" sz="3000" b="1">
                <a:solidFill>
                  <a:srgbClr val="071837"/>
                </a:solidFill>
                <a:latin typeface="Aptos" panose="020B0004020202020204" pitchFamily="34" charset="0"/>
              </a:rPr>
              <a:t>Five tracks share a contract, not one score.</a:t>
            </a:r>
            <a:endParaRPr lang="zh-CN" altLang="en-US" sz="300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C809D67E-D4B6-B01F-4306-2A2B2FABB8FC}"/>
              </a:ext>
            </a:extLst>
          </p:cNvPr>
          <p:cNvSpPr txBox="1"/>
          <p:nvPr/>
        </p:nvSpPr>
        <p:spPr>
          <a:xfrm>
            <a:off x="787400" y="1473200"/>
            <a:ext cx="10287000" cy="276999"/>
          </a:xfrm>
          <a:prstGeom prst="rect">
            <a:avLst/>
          </a:prstGeom>
          <a:noFill/>
        </p:spPr>
        <p:txBody>
          <a:bodyPr vert="horz" wrap="square" lIns="0" tIns="0" rIns="0" bIns="0" rtlCol="0">
            <a:noAutofit/>
          </a:bodyPr>
          <a:lstStyle/>
          <a:p>
            <a:r>
              <a:rPr lang="en-US" altLang="zh-CN" sz="1220">
                <a:solidFill>
                  <a:srgbClr val="52617A"/>
                </a:solidFill>
                <a:latin typeface="Aptos" panose="020B0004020202020204" pitchFamily="34" charset="0"/>
              </a:rPr>
              <a:t>Each repository answers a different evidence question and keeps its own denominator.</a:t>
            </a:r>
            <a:endParaRPr lang="zh-CN" altLang="en-US" sz="1220">
              <a:solidFill>
                <a:srgbClr val="52617A"/>
              </a:solidFill>
              <a:latin typeface="Aptos" panose="020B0004020202020204" pitchFamily="34" charset="0"/>
            </a:endParaRPr>
          </a:p>
        </p:txBody>
      </p:sp>
      <p:sp>
        <p:nvSpPr>
          <p:cNvPr id="13" name="p0-box">
            <a:extLst>
              <a:ext uri="{FF2B5EF4-FFF2-40B4-BE49-F238E27FC236}">
                <a16:creationId xmlns:a16="http://schemas.microsoft.com/office/drawing/2014/main" id="{062968B4-9A7A-1B7B-A0C3-15A63924005A}"/>
              </a:ext>
            </a:extLst>
          </p:cNvPr>
          <p:cNvSpPr/>
          <p:nvPr/>
        </p:nvSpPr>
        <p:spPr>
          <a:xfrm>
            <a:off x="762000" y="2235200"/>
            <a:ext cx="2006600" cy="18288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p0-stripe">
            <a:extLst>
              <a:ext uri="{FF2B5EF4-FFF2-40B4-BE49-F238E27FC236}">
                <a16:creationId xmlns:a16="http://schemas.microsoft.com/office/drawing/2014/main" id="{3F6F3E4C-A81E-24E6-1E80-7D4A8A4A8928}"/>
              </a:ext>
            </a:extLst>
          </p:cNvPr>
          <p:cNvSpPr/>
          <p:nvPr/>
        </p:nvSpPr>
        <p:spPr>
          <a:xfrm>
            <a:off x="762000" y="2235200"/>
            <a:ext cx="2006600" cy="1016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p0-venue">
            <a:extLst>
              <a:ext uri="{FF2B5EF4-FFF2-40B4-BE49-F238E27FC236}">
                <a16:creationId xmlns:a16="http://schemas.microsoft.com/office/drawing/2014/main" id="{49A8F64C-5F8E-B915-05CF-E0B50C088AA2}"/>
              </a:ext>
            </a:extLst>
          </p:cNvPr>
          <p:cNvSpPr txBox="1"/>
          <p:nvPr/>
        </p:nvSpPr>
        <p:spPr>
          <a:xfrm>
            <a:off x="965200" y="2489200"/>
            <a:ext cx="1600200" cy="276999"/>
          </a:xfrm>
          <a:prstGeom prst="rect">
            <a:avLst/>
          </a:prstGeom>
          <a:noFill/>
        </p:spPr>
        <p:txBody>
          <a:bodyPr vert="horz" wrap="square" lIns="0" tIns="0" rIns="0" bIns="0" rtlCol="0">
            <a:noAutofit/>
          </a:bodyPr>
          <a:lstStyle/>
          <a:p>
            <a:r>
              <a:rPr lang="en-US" altLang="zh-CN" sz="920" b="1">
                <a:solidFill>
                  <a:srgbClr val="003B7A"/>
                </a:solidFill>
                <a:latin typeface="Aptos" panose="020B0004020202020204" pitchFamily="34" charset="0"/>
              </a:rPr>
              <a:t>TOSEM</a:t>
            </a:r>
            <a:endParaRPr lang="zh-CN" altLang="en-US" sz="920" b="1">
              <a:solidFill>
                <a:srgbClr val="003B7A"/>
              </a:solidFill>
              <a:latin typeface="Aptos" panose="020B0004020202020204" pitchFamily="34" charset="0"/>
            </a:endParaRPr>
          </a:p>
        </p:txBody>
      </p:sp>
      <p:sp>
        <p:nvSpPr>
          <p:cNvPr id="16" name="p0-title">
            <a:extLst>
              <a:ext uri="{FF2B5EF4-FFF2-40B4-BE49-F238E27FC236}">
                <a16:creationId xmlns:a16="http://schemas.microsoft.com/office/drawing/2014/main" id="{C8FE9491-DACB-BB8B-9A62-9B22AB2FAD56}"/>
              </a:ext>
            </a:extLst>
          </p:cNvPr>
          <p:cNvSpPr txBox="1"/>
          <p:nvPr/>
        </p:nvSpPr>
        <p:spPr>
          <a:xfrm>
            <a:off x="965200" y="2768600"/>
            <a:ext cx="1600200" cy="276999"/>
          </a:xfrm>
          <a:prstGeom prst="rect">
            <a:avLst/>
          </a:prstGeom>
          <a:noFill/>
        </p:spPr>
        <p:txBody>
          <a:bodyPr vert="horz" wrap="square" lIns="0" tIns="0" rIns="0" bIns="0" rtlCol="0">
            <a:noAutofit/>
          </a:bodyPr>
          <a:lstStyle/>
          <a:p>
            <a:r>
              <a:rPr lang="en-US" altLang="zh-CN" sz="1370" b="1">
                <a:solidFill>
                  <a:srgbClr val="071837"/>
                </a:solidFill>
                <a:latin typeface="Aptos" panose="020B0004020202020204" pitchFamily="34" charset="0"/>
              </a:rPr>
              <a:t>CodeMarkBench</a:t>
            </a:r>
            <a:endParaRPr lang="zh-CN" altLang="en-US" sz="1370" b="1">
              <a:solidFill>
                <a:srgbClr val="071837"/>
              </a:solidFill>
              <a:latin typeface="Aptos" panose="020B0004020202020204" pitchFamily="34" charset="0"/>
            </a:endParaRPr>
          </a:p>
        </p:txBody>
      </p:sp>
      <p:sp>
        <p:nvSpPr>
          <p:cNvPr id="17" name="p0-metric">
            <a:extLst>
              <a:ext uri="{FF2B5EF4-FFF2-40B4-BE49-F238E27FC236}">
                <a16:creationId xmlns:a16="http://schemas.microsoft.com/office/drawing/2014/main" id="{242DA979-4CB3-FC1E-4461-DCEA993D482A}"/>
              </a:ext>
            </a:extLst>
          </p:cNvPr>
          <p:cNvSpPr txBox="1"/>
          <p:nvPr/>
        </p:nvSpPr>
        <p:spPr>
          <a:xfrm>
            <a:off x="965200" y="3225800"/>
            <a:ext cx="1600200" cy="276999"/>
          </a:xfrm>
          <a:prstGeom prst="rect">
            <a:avLst/>
          </a:prstGeom>
          <a:noFill/>
        </p:spPr>
        <p:txBody>
          <a:bodyPr vert="horz" wrap="square" lIns="0" tIns="0" rIns="0" bIns="0" rtlCol="0">
            <a:noAutofit/>
          </a:bodyPr>
          <a:lstStyle/>
          <a:p>
            <a:r>
              <a:rPr lang="en-US" altLang="zh-CN" sz="970" b="1">
                <a:solidFill>
                  <a:srgbClr val="52617A"/>
                </a:solidFill>
                <a:latin typeface="Aptos" panose="020B0004020202020204" pitchFamily="34" charset="0"/>
              </a:rPr>
              <a:t>140/140 canonical runs</a:t>
            </a:r>
            <a:endParaRPr lang="zh-CN" altLang="en-US" sz="970" b="1">
              <a:solidFill>
                <a:srgbClr val="52617A"/>
              </a:solidFill>
              <a:latin typeface="Aptos" panose="020B0004020202020204" pitchFamily="34" charset="0"/>
            </a:endParaRPr>
          </a:p>
        </p:txBody>
      </p:sp>
      <p:sp>
        <p:nvSpPr>
          <p:cNvPr id="18" name="p0-commit">
            <a:extLst>
              <a:ext uri="{FF2B5EF4-FFF2-40B4-BE49-F238E27FC236}">
                <a16:creationId xmlns:a16="http://schemas.microsoft.com/office/drawing/2014/main" id="{A80C0EC7-DF6C-4BC7-73F9-D5C9E6C8F4D5}"/>
              </a:ext>
            </a:extLst>
          </p:cNvPr>
          <p:cNvSpPr txBox="1"/>
          <p:nvPr/>
        </p:nvSpPr>
        <p:spPr>
          <a:xfrm>
            <a:off x="965200" y="3670300"/>
            <a:ext cx="1600200" cy="276999"/>
          </a:xfrm>
          <a:prstGeom prst="rect">
            <a:avLst/>
          </a:prstGeom>
          <a:noFill/>
        </p:spPr>
        <p:txBody>
          <a:bodyPr vert="horz" wrap="square" lIns="0" tIns="0" rIns="0" bIns="0" rtlCol="0">
            <a:noAutofit/>
          </a:bodyPr>
          <a:lstStyle/>
          <a:p>
            <a:r>
              <a:rPr lang="en-US" altLang="zh-CN" sz="760" b="1">
                <a:solidFill>
                  <a:srgbClr val="52617A"/>
                </a:solidFill>
                <a:latin typeface="Consolas" panose="020B0609020204030204" pitchFamily="49" charset="0"/>
              </a:rPr>
              <a:t>commit FYP snapshot</a:t>
            </a:r>
            <a:endParaRPr lang="zh-CN" altLang="en-US" sz="760" b="1">
              <a:solidFill>
                <a:srgbClr val="52617A"/>
              </a:solidFill>
              <a:latin typeface="Consolas" panose="020B0609020204030204" pitchFamily="49" charset="0"/>
            </a:endParaRPr>
          </a:p>
        </p:txBody>
      </p:sp>
      <p:sp>
        <p:nvSpPr>
          <p:cNvPr id="19" name="p0-hit">
            <a:hlinkClick r:id="rId4"/>
            <a:extLst>
              <a:ext uri="{FF2B5EF4-FFF2-40B4-BE49-F238E27FC236}">
                <a16:creationId xmlns:a16="http://schemas.microsoft.com/office/drawing/2014/main" id="{5CA13688-ABFF-F599-6A5E-A5DFEE4181F8}"/>
              </a:ext>
            </a:extLst>
          </p:cNvPr>
          <p:cNvSpPr/>
          <p:nvPr/>
        </p:nvSpPr>
        <p:spPr>
          <a:xfrm>
            <a:off x="762000" y="2235200"/>
            <a:ext cx="2006600" cy="18288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p1-box">
            <a:extLst>
              <a:ext uri="{FF2B5EF4-FFF2-40B4-BE49-F238E27FC236}">
                <a16:creationId xmlns:a16="http://schemas.microsoft.com/office/drawing/2014/main" id="{47CCC648-D0FF-B57F-11EE-D56C22F5035E}"/>
              </a:ext>
            </a:extLst>
          </p:cNvPr>
          <p:cNvSpPr/>
          <p:nvPr/>
        </p:nvSpPr>
        <p:spPr>
          <a:xfrm>
            <a:off x="2921000" y="2235200"/>
            <a:ext cx="2006600" cy="18288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p1-stripe">
            <a:extLst>
              <a:ext uri="{FF2B5EF4-FFF2-40B4-BE49-F238E27FC236}">
                <a16:creationId xmlns:a16="http://schemas.microsoft.com/office/drawing/2014/main" id="{0C2ACD38-A9BB-C2AE-44C3-FA25FC849676}"/>
              </a:ext>
            </a:extLst>
          </p:cNvPr>
          <p:cNvSpPr/>
          <p:nvPr/>
        </p:nvSpPr>
        <p:spPr>
          <a:xfrm>
            <a:off x="2921000" y="2235200"/>
            <a:ext cx="2006600" cy="101600"/>
          </a:xfrm>
          <a:prstGeom prst="rect">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p1-venue">
            <a:extLst>
              <a:ext uri="{FF2B5EF4-FFF2-40B4-BE49-F238E27FC236}">
                <a16:creationId xmlns:a16="http://schemas.microsoft.com/office/drawing/2014/main" id="{C507197D-E8E6-AE2E-5630-5C4DA4278D07}"/>
              </a:ext>
            </a:extLst>
          </p:cNvPr>
          <p:cNvSpPr txBox="1"/>
          <p:nvPr/>
        </p:nvSpPr>
        <p:spPr>
          <a:xfrm>
            <a:off x="3124200" y="2489200"/>
            <a:ext cx="1600200" cy="276999"/>
          </a:xfrm>
          <a:prstGeom prst="rect">
            <a:avLst/>
          </a:prstGeom>
          <a:noFill/>
        </p:spPr>
        <p:txBody>
          <a:bodyPr vert="horz" wrap="square" lIns="0" tIns="0" rIns="0" bIns="0" rtlCol="0">
            <a:noAutofit/>
          </a:bodyPr>
          <a:lstStyle/>
          <a:p>
            <a:r>
              <a:rPr lang="en-US" altLang="zh-CN" sz="920" b="1">
                <a:solidFill>
                  <a:srgbClr val="168E8B"/>
                </a:solidFill>
                <a:latin typeface="Aptos" panose="020B0004020202020204" pitchFamily="34" charset="0"/>
              </a:rPr>
              <a:t>EMNLP</a:t>
            </a:r>
            <a:endParaRPr lang="zh-CN" altLang="en-US" sz="920" b="1">
              <a:solidFill>
                <a:srgbClr val="168E8B"/>
              </a:solidFill>
              <a:latin typeface="Aptos" panose="020B0004020202020204" pitchFamily="34" charset="0"/>
            </a:endParaRPr>
          </a:p>
        </p:txBody>
      </p:sp>
      <p:sp>
        <p:nvSpPr>
          <p:cNvPr id="23" name="p1-title">
            <a:extLst>
              <a:ext uri="{FF2B5EF4-FFF2-40B4-BE49-F238E27FC236}">
                <a16:creationId xmlns:a16="http://schemas.microsoft.com/office/drawing/2014/main" id="{3363A064-974F-F81B-22D3-3F14CBB4062A}"/>
              </a:ext>
            </a:extLst>
          </p:cNvPr>
          <p:cNvSpPr txBox="1"/>
          <p:nvPr/>
        </p:nvSpPr>
        <p:spPr>
          <a:xfrm>
            <a:off x="3124200" y="2768600"/>
            <a:ext cx="1600200" cy="276999"/>
          </a:xfrm>
          <a:prstGeom prst="rect">
            <a:avLst/>
          </a:prstGeom>
          <a:noFill/>
        </p:spPr>
        <p:txBody>
          <a:bodyPr vert="horz" wrap="square" lIns="0" tIns="0" rIns="0" bIns="0" rtlCol="0">
            <a:noAutofit/>
          </a:bodyPr>
          <a:lstStyle/>
          <a:p>
            <a:r>
              <a:rPr lang="en-US" altLang="zh-CN" sz="1370" b="1">
                <a:solidFill>
                  <a:srgbClr val="071837"/>
                </a:solidFill>
                <a:latin typeface="Aptos" panose="020B0004020202020204" pitchFamily="34" charset="0"/>
              </a:rPr>
              <a:t>SemCodebook</a:t>
            </a:r>
            <a:endParaRPr lang="zh-CN" altLang="en-US" sz="1370" b="1">
              <a:solidFill>
                <a:srgbClr val="071837"/>
              </a:solidFill>
              <a:latin typeface="Aptos" panose="020B0004020202020204" pitchFamily="34" charset="0"/>
            </a:endParaRPr>
          </a:p>
        </p:txBody>
      </p:sp>
      <p:sp>
        <p:nvSpPr>
          <p:cNvPr id="24" name="p1-metric">
            <a:extLst>
              <a:ext uri="{FF2B5EF4-FFF2-40B4-BE49-F238E27FC236}">
                <a16:creationId xmlns:a16="http://schemas.microsoft.com/office/drawing/2014/main" id="{DC10350C-1FDE-8473-F8CE-BC1D55CB3004}"/>
              </a:ext>
            </a:extLst>
          </p:cNvPr>
          <p:cNvSpPr txBox="1"/>
          <p:nvPr/>
        </p:nvSpPr>
        <p:spPr>
          <a:xfrm>
            <a:off x="3124200" y="3225800"/>
            <a:ext cx="1600200" cy="276999"/>
          </a:xfrm>
          <a:prstGeom prst="rect">
            <a:avLst/>
          </a:prstGeom>
          <a:noFill/>
        </p:spPr>
        <p:txBody>
          <a:bodyPr vert="horz" wrap="square" lIns="0" tIns="0" rIns="0" bIns="0" rtlCol="0">
            <a:noAutofit/>
          </a:bodyPr>
          <a:lstStyle/>
          <a:p>
            <a:r>
              <a:rPr lang="en-US" altLang="zh-CN" sz="970" b="1">
                <a:solidFill>
                  <a:srgbClr val="52617A"/>
                </a:solidFill>
                <a:latin typeface="Aptos" panose="020B0004020202020204" pitchFamily="34" charset="0"/>
              </a:rPr>
              <a:t>30,330/31,200 recovery</a:t>
            </a:r>
            <a:endParaRPr lang="zh-CN" altLang="en-US" sz="970" b="1">
              <a:solidFill>
                <a:srgbClr val="52617A"/>
              </a:solidFill>
              <a:latin typeface="Aptos" panose="020B0004020202020204" pitchFamily="34" charset="0"/>
            </a:endParaRPr>
          </a:p>
        </p:txBody>
      </p:sp>
      <p:sp>
        <p:nvSpPr>
          <p:cNvPr id="25" name="p1-commit">
            <a:extLst>
              <a:ext uri="{FF2B5EF4-FFF2-40B4-BE49-F238E27FC236}">
                <a16:creationId xmlns:a16="http://schemas.microsoft.com/office/drawing/2014/main" id="{9201D7D6-6DE6-B902-F88F-4A6C4E3056FA}"/>
              </a:ext>
            </a:extLst>
          </p:cNvPr>
          <p:cNvSpPr txBox="1"/>
          <p:nvPr/>
        </p:nvSpPr>
        <p:spPr>
          <a:xfrm>
            <a:off x="3124200" y="3670300"/>
            <a:ext cx="1600200" cy="276999"/>
          </a:xfrm>
          <a:prstGeom prst="rect">
            <a:avLst/>
          </a:prstGeom>
          <a:noFill/>
        </p:spPr>
        <p:txBody>
          <a:bodyPr vert="horz" wrap="square" lIns="0" tIns="0" rIns="0" bIns="0" rtlCol="0">
            <a:noAutofit/>
          </a:bodyPr>
          <a:lstStyle/>
          <a:p>
            <a:r>
              <a:rPr lang="en-US" altLang="zh-CN" sz="760" b="1">
                <a:solidFill>
                  <a:srgbClr val="52617A"/>
                </a:solidFill>
                <a:latin typeface="Consolas" panose="020B0609020204030204" pitchFamily="49" charset="0"/>
              </a:rPr>
              <a:t>commit 69efebc</a:t>
            </a:r>
            <a:endParaRPr lang="zh-CN" altLang="en-US" sz="760" b="1">
              <a:solidFill>
                <a:srgbClr val="52617A"/>
              </a:solidFill>
              <a:latin typeface="Consolas" panose="020B0609020204030204" pitchFamily="49" charset="0"/>
            </a:endParaRPr>
          </a:p>
        </p:txBody>
      </p:sp>
      <p:sp>
        <p:nvSpPr>
          <p:cNvPr id="26" name="p1-hit">
            <a:hlinkClick r:id="rId5"/>
            <a:extLst>
              <a:ext uri="{FF2B5EF4-FFF2-40B4-BE49-F238E27FC236}">
                <a16:creationId xmlns:a16="http://schemas.microsoft.com/office/drawing/2014/main" id="{E4F726A6-3B7E-321E-BB91-39A9AEA6C766}"/>
              </a:ext>
            </a:extLst>
          </p:cNvPr>
          <p:cNvSpPr/>
          <p:nvPr/>
        </p:nvSpPr>
        <p:spPr>
          <a:xfrm>
            <a:off x="2921000" y="2235200"/>
            <a:ext cx="2006600" cy="18288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p2-box">
            <a:extLst>
              <a:ext uri="{FF2B5EF4-FFF2-40B4-BE49-F238E27FC236}">
                <a16:creationId xmlns:a16="http://schemas.microsoft.com/office/drawing/2014/main" id="{5FD68359-32E5-CDB5-9488-4E3FF9D3659E}"/>
              </a:ext>
            </a:extLst>
          </p:cNvPr>
          <p:cNvSpPr/>
          <p:nvPr/>
        </p:nvSpPr>
        <p:spPr>
          <a:xfrm>
            <a:off x="5080000" y="2235200"/>
            <a:ext cx="2006600" cy="18288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p2-stripe">
            <a:extLst>
              <a:ext uri="{FF2B5EF4-FFF2-40B4-BE49-F238E27FC236}">
                <a16:creationId xmlns:a16="http://schemas.microsoft.com/office/drawing/2014/main" id="{B5B0EACC-F83B-13A7-BF15-7524D31294D8}"/>
              </a:ext>
            </a:extLst>
          </p:cNvPr>
          <p:cNvSpPr/>
          <p:nvPr/>
        </p:nvSpPr>
        <p:spPr>
          <a:xfrm>
            <a:off x="5080000" y="2235200"/>
            <a:ext cx="2006600" cy="101600"/>
          </a:xfrm>
          <a:prstGeom prst="rect">
            <a:avLst/>
          </a:prstGeom>
          <a:solidFill>
            <a:srgbClr val="5B45C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p2-venue">
            <a:extLst>
              <a:ext uri="{FF2B5EF4-FFF2-40B4-BE49-F238E27FC236}">
                <a16:creationId xmlns:a16="http://schemas.microsoft.com/office/drawing/2014/main" id="{0C5D8F9F-CAFE-447A-6341-5ECE1897DE15}"/>
              </a:ext>
            </a:extLst>
          </p:cNvPr>
          <p:cNvSpPr txBox="1"/>
          <p:nvPr/>
        </p:nvSpPr>
        <p:spPr>
          <a:xfrm>
            <a:off x="5283200" y="2489200"/>
            <a:ext cx="1600200" cy="276999"/>
          </a:xfrm>
          <a:prstGeom prst="rect">
            <a:avLst/>
          </a:prstGeom>
          <a:noFill/>
        </p:spPr>
        <p:txBody>
          <a:bodyPr vert="horz" wrap="square" lIns="0" tIns="0" rIns="0" bIns="0" rtlCol="0">
            <a:noAutofit/>
          </a:bodyPr>
          <a:lstStyle/>
          <a:p>
            <a:r>
              <a:rPr lang="en-US" altLang="zh-CN" sz="920" b="1">
                <a:solidFill>
                  <a:srgbClr val="5B45C8"/>
                </a:solidFill>
                <a:latin typeface="Aptos" panose="020B0004020202020204" pitchFamily="34" charset="0"/>
              </a:rPr>
              <a:t>EMNLP</a:t>
            </a:r>
            <a:endParaRPr lang="zh-CN" altLang="en-US" sz="920" b="1">
              <a:solidFill>
                <a:srgbClr val="5B45C8"/>
              </a:solidFill>
              <a:latin typeface="Aptos" panose="020B0004020202020204" pitchFamily="34" charset="0"/>
            </a:endParaRPr>
          </a:p>
        </p:txBody>
      </p:sp>
      <p:sp>
        <p:nvSpPr>
          <p:cNvPr id="30" name="p2-title">
            <a:extLst>
              <a:ext uri="{FF2B5EF4-FFF2-40B4-BE49-F238E27FC236}">
                <a16:creationId xmlns:a16="http://schemas.microsoft.com/office/drawing/2014/main" id="{A9B750A2-D438-D476-2F32-BA52EDC7B144}"/>
              </a:ext>
            </a:extLst>
          </p:cNvPr>
          <p:cNvSpPr txBox="1"/>
          <p:nvPr/>
        </p:nvSpPr>
        <p:spPr>
          <a:xfrm>
            <a:off x="5283200" y="2768600"/>
            <a:ext cx="1600200" cy="276999"/>
          </a:xfrm>
          <a:prstGeom prst="rect">
            <a:avLst/>
          </a:prstGeom>
          <a:noFill/>
        </p:spPr>
        <p:txBody>
          <a:bodyPr vert="horz" wrap="square" lIns="0" tIns="0" rIns="0" bIns="0" rtlCol="0">
            <a:noAutofit/>
          </a:bodyPr>
          <a:lstStyle/>
          <a:p>
            <a:r>
              <a:rPr lang="en-US" altLang="zh-CN" sz="1370" b="1">
                <a:solidFill>
                  <a:srgbClr val="071837"/>
                </a:solidFill>
                <a:latin typeface="Aptos" panose="020B0004020202020204" pitchFamily="34" charset="0"/>
              </a:rPr>
              <a:t>CodeDye</a:t>
            </a:r>
            <a:endParaRPr lang="zh-CN" altLang="en-US" sz="1370" b="1">
              <a:solidFill>
                <a:srgbClr val="071837"/>
              </a:solidFill>
              <a:latin typeface="Aptos" panose="020B0004020202020204" pitchFamily="34" charset="0"/>
            </a:endParaRPr>
          </a:p>
        </p:txBody>
      </p:sp>
      <p:sp>
        <p:nvSpPr>
          <p:cNvPr id="31" name="p2-metric">
            <a:extLst>
              <a:ext uri="{FF2B5EF4-FFF2-40B4-BE49-F238E27FC236}">
                <a16:creationId xmlns:a16="http://schemas.microsoft.com/office/drawing/2014/main" id="{E068FAF1-CDE7-661E-2C41-F868FB4AA083}"/>
              </a:ext>
            </a:extLst>
          </p:cNvPr>
          <p:cNvSpPr txBox="1"/>
          <p:nvPr/>
        </p:nvSpPr>
        <p:spPr>
          <a:xfrm>
            <a:off x="5283200" y="3225800"/>
            <a:ext cx="1600200" cy="276999"/>
          </a:xfrm>
          <a:prstGeom prst="rect">
            <a:avLst/>
          </a:prstGeom>
          <a:noFill/>
        </p:spPr>
        <p:txBody>
          <a:bodyPr vert="horz" wrap="square" lIns="0" tIns="0" rIns="0" bIns="0" rtlCol="0">
            <a:noAutofit/>
          </a:bodyPr>
          <a:lstStyle/>
          <a:p>
            <a:r>
              <a:rPr lang="en-US" altLang="zh-CN" sz="970" b="1">
                <a:solidFill>
                  <a:srgbClr val="52617A"/>
                </a:solidFill>
                <a:latin typeface="Aptos" panose="020B0004020202020204" pitchFamily="34" charset="0"/>
              </a:rPr>
              <a:t>0/300 fresh signals</a:t>
            </a:r>
            <a:endParaRPr lang="zh-CN" altLang="en-US" sz="970" b="1">
              <a:solidFill>
                <a:srgbClr val="52617A"/>
              </a:solidFill>
              <a:latin typeface="Aptos" panose="020B0004020202020204" pitchFamily="34" charset="0"/>
            </a:endParaRPr>
          </a:p>
        </p:txBody>
      </p:sp>
      <p:sp>
        <p:nvSpPr>
          <p:cNvPr id="32" name="p2-commit">
            <a:extLst>
              <a:ext uri="{FF2B5EF4-FFF2-40B4-BE49-F238E27FC236}">
                <a16:creationId xmlns:a16="http://schemas.microsoft.com/office/drawing/2014/main" id="{61AFFC0F-54CF-552B-7B18-091303B58DED}"/>
              </a:ext>
            </a:extLst>
          </p:cNvPr>
          <p:cNvSpPr txBox="1"/>
          <p:nvPr/>
        </p:nvSpPr>
        <p:spPr>
          <a:xfrm>
            <a:off x="5283200" y="3670300"/>
            <a:ext cx="1600200" cy="276999"/>
          </a:xfrm>
          <a:prstGeom prst="rect">
            <a:avLst/>
          </a:prstGeom>
          <a:noFill/>
        </p:spPr>
        <p:txBody>
          <a:bodyPr vert="horz" wrap="square" lIns="0" tIns="0" rIns="0" bIns="0" rtlCol="0">
            <a:noAutofit/>
          </a:bodyPr>
          <a:lstStyle/>
          <a:p>
            <a:r>
              <a:rPr lang="en-US" altLang="zh-CN" sz="760" b="1">
                <a:solidFill>
                  <a:srgbClr val="52617A"/>
                </a:solidFill>
                <a:latin typeface="Consolas" panose="020B0609020204030204" pitchFamily="49" charset="0"/>
              </a:rPr>
              <a:t>commit e8f9df3</a:t>
            </a:r>
            <a:endParaRPr lang="zh-CN" altLang="en-US" sz="760" b="1">
              <a:solidFill>
                <a:srgbClr val="52617A"/>
              </a:solidFill>
              <a:latin typeface="Consolas" panose="020B0609020204030204" pitchFamily="49" charset="0"/>
            </a:endParaRPr>
          </a:p>
        </p:txBody>
      </p:sp>
      <p:sp>
        <p:nvSpPr>
          <p:cNvPr id="33" name="p2-hit">
            <a:hlinkClick r:id="rId6"/>
            <a:extLst>
              <a:ext uri="{FF2B5EF4-FFF2-40B4-BE49-F238E27FC236}">
                <a16:creationId xmlns:a16="http://schemas.microsoft.com/office/drawing/2014/main" id="{8F1E6627-1FF1-E6B5-39C6-903A8DF19429}"/>
              </a:ext>
            </a:extLst>
          </p:cNvPr>
          <p:cNvSpPr/>
          <p:nvPr/>
        </p:nvSpPr>
        <p:spPr>
          <a:xfrm>
            <a:off x="5080000" y="2235200"/>
            <a:ext cx="2006600" cy="18288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p3-box">
            <a:extLst>
              <a:ext uri="{FF2B5EF4-FFF2-40B4-BE49-F238E27FC236}">
                <a16:creationId xmlns:a16="http://schemas.microsoft.com/office/drawing/2014/main" id="{278BC69C-2A91-2B30-AD0F-524C9B51C85A}"/>
              </a:ext>
            </a:extLst>
          </p:cNvPr>
          <p:cNvSpPr/>
          <p:nvPr/>
        </p:nvSpPr>
        <p:spPr>
          <a:xfrm>
            <a:off x="7239000" y="2235200"/>
            <a:ext cx="2006600" cy="18288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p3-stripe">
            <a:extLst>
              <a:ext uri="{FF2B5EF4-FFF2-40B4-BE49-F238E27FC236}">
                <a16:creationId xmlns:a16="http://schemas.microsoft.com/office/drawing/2014/main" id="{CB1A88BB-4C0A-B536-FAC9-A8146F3E57DB}"/>
              </a:ext>
            </a:extLst>
          </p:cNvPr>
          <p:cNvSpPr/>
          <p:nvPr/>
        </p:nvSpPr>
        <p:spPr>
          <a:xfrm>
            <a:off x="7239000" y="2235200"/>
            <a:ext cx="2006600" cy="101600"/>
          </a:xfrm>
          <a:prstGeom prst="rect">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p3-venue">
            <a:extLst>
              <a:ext uri="{FF2B5EF4-FFF2-40B4-BE49-F238E27FC236}">
                <a16:creationId xmlns:a16="http://schemas.microsoft.com/office/drawing/2014/main" id="{9E704C2C-D576-A4E2-E4C7-39D868036735}"/>
              </a:ext>
            </a:extLst>
          </p:cNvPr>
          <p:cNvSpPr txBox="1"/>
          <p:nvPr/>
        </p:nvSpPr>
        <p:spPr>
          <a:xfrm>
            <a:off x="7442200" y="2489200"/>
            <a:ext cx="1600200" cy="276999"/>
          </a:xfrm>
          <a:prstGeom prst="rect">
            <a:avLst/>
          </a:prstGeom>
          <a:noFill/>
        </p:spPr>
        <p:txBody>
          <a:bodyPr vert="horz" wrap="square" lIns="0" tIns="0" rIns="0" bIns="0" rtlCol="0">
            <a:noAutofit/>
          </a:bodyPr>
          <a:lstStyle/>
          <a:p>
            <a:r>
              <a:rPr lang="en-US" altLang="zh-CN" sz="920" b="1">
                <a:solidFill>
                  <a:srgbClr val="B85C00"/>
                </a:solidFill>
                <a:latin typeface="Aptos" panose="020B0004020202020204" pitchFamily="34" charset="0"/>
              </a:rPr>
              <a:t>EMNLP</a:t>
            </a:r>
            <a:endParaRPr lang="zh-CN" altLang="en-US" sz="920" b="1">
              <a:solidFill>
                <a:srgbClr val="B85C00"/>
              </a:solidFill>
              <a:latin typeface="Aptos" panose="020B0004020202020204" pitchFamily="34" charset="0"/>
            </a:endParaRPr>
          </a:p>
        </p:txBody>
      </p:sp>
      <p:sp>
        <p:nvSpPr>
          <p:cNvPr id="37" name="p3-title">
            <a:extLst>
              <a:ext uri="{FF2B5EF4-FFF2-40B4-BE49-F238E27FC236}">
                <a16:creationId xmlns:a16="http://schemas.microsoft.com/office/drawing/2014/main" id="{232E8469-6A21-E036-60B1-99EFF9657ED4}"/>
              </a:ext>
            </a:extLst>
          </p:cNvPr>
          <p:cNvSpPr txBox="1"/>
          <p:nvPr/>
        </p:nvSpPr>
        <p:spPr>
          <a:xfrm>
            <a:off x="7442200" y="2768600"/>
            <a:ext cx="1600200" cy="276999"/>
          </a:xfrm>
          <a:prstGeom prst="rect">
            <a:avLst/>
          </a:prstGeom>
          <a:noFill/>
        </p:spPr>
        <p:txBody>
          <a:bodyPr vert="horz" wrap="square" lIns="0" tIns="0" rIns="0" bIns="0" rtlCol="0">
            <a:noAutofit/>
          </a:bodyPr>
          <a:lstStyle/>
          <a:p>
            <a:r>
              <a:rPr lang="en-US" altLang="zh-CN" sz="1370" b="1">
                <a:solidFill>
                  <a:srgbClr val="071837"/>
                </a:solidFill>
                <a:latin typeface="Aptos" panose="020B0004020202020204" pitchFamily="34" charset="0"/>
              </a:rPr>
              <a:t>ProbeTrace</a:t>
            </a:r>
            <a:endParaRPr lang="zh-CN" altLang="en-US" sz="1370" b="1">
              <a:solidFill>
                <a:srgbClr val="071837"/>
              </a:solidFill>
              <a:latin typeface="Aptos" panose="020B0004020202020204" pitchFamily="34" charset="0"/>
            </a:endParaRPr>
          </a:p>
        </p:txBody>
      </p:sp>
      <p:sp>
        <p:nvSpPr>
          <p:cNvPr id="38" name="p3-metric">
            <a:extLst>
              <a:ext uri="{FF2B5EF4-FFF2-40B4-BE49-F238E27FC236}">
                <a16:creationId xmlns:a16="http://schemas.microsoft.com/office/drawing/2014/main" id="{E44549C5-B01C-1FBA-99BC-BB62084A6492}"/>
              </a:ext>
            </a:extLst>
          </p:cNvPr>
          <p:cNvSpPr txBox="1"/>
          <p:nvPr/>
        </p:nvSpPr>
        <p:spPr>
          <a:xfrm>
            <a:off x="7442200" y="3225800"/>
            <a:ext cx="1600200" cy="276999"/>
          </a:xfrm>
          <a:prstGeom prst="rect">
            <a:avLst/>
          </a:prstGeom>
          <a:noFill/>
        </p:spPr>
        <p:txBody>
          <a:bodyPr vert="horz" wrap="square" lIns="0" tIns="0" rIns="0" bIns="0" rtlCol="0">
            <a:noAutofit/>
          </a:bodyPr>
          <a:lstStyle/>
          <a:p>
            <a:r>
              <a:rPr lang="en-US" altLang="zh-CN" sz="970" b="1">
                <a:solidFill>
                  <a:srgbClr val="52617A"/>
                </a:solidFill>
                <a:latin typeface="Aptos" panose="020B0004020202020204" pitchFamily="34" charset="0"/>
              </a:rPr>
              <a:t>750/750 true owner</a:t>
            </a:r>
            <a:endParaRPr lang="zh-CN" altLang="en-US" sz="970" b="1">
              <a:solidFill>
                <a:srgbClr val="52617A"/>
              </a:solidFill>
              <a:latin typeface="Aptos" panose="020B0004020202020204" pitchFamily="34" charset="0"/>
            </a:endParaRPr>
          </a:p>
        </p:txBody>
      </p:sp>
      <p:sp>
        <p:nvSpPr>
          <p:cNvPr id="39" name="p3-commit">
            <a:extLst>
              <a:ext uri="{FF2B5EF4-FFF2-40B4-BE49-F238E27FC236}">
                <a16:creationId xmlns:a16="http://schemas.microsoft.com/office/drawing/2014/main" id="{0D3264BE-E294-1485-ABF8-20D1BD28F1B2}"/>
              </a:ext>
            </a:extLst>
          </p:cNvPr>
          <p:cNvSpPr txBox="1"/>
          <p:nvPr/>
        </p:nvSpPr>
        <p:spPr>
          <a:xfrm>
            <a:off x="7442200" y="3670300"/>
            <a:ext cx="1600200" cy="276999"/>
          </a:xfrm>
          <a:prstGeom prst="rect">
            <a:avLst/>
          </a:prstGeom>
          <a:noFill/>
        </p:spPr>
        <p:txBody>
          <a:bodyPr vert="horz" wrap="square" lIns="0" tIns="0" rIns="0" bIns="0" rtlCol="0">
            <a:noAutofit/>
          </a:bodyPr>
          <a:lstStyle/>
          <a:p>
            <a:r>
              <a:rPr lang="en-US" altLang="zh-CN" sz="760" b="1">
                <a:solidFill>
                  <a:srgbClr val="52617A"/>
                </a:solidFill>
                <a:latin typeface="Consolas" panose="020B0609020204030204" pitchFamily="49" charset="0"/>
              </a:rPr>
              <a:t>commit 9e459d4</a:t>
            </a:r>
            <a:endParaRPr lang="zh-CN" altLang="en-US" sz="760" b="1">
              <a:solidFill>
                <a:srgbClr val="52617A"/>
              </a:solidFill>
              <a:latin typeface="Consolas" panose="020B0609020204030204" pitchFamily="49" charset="0"/>
            </a:endParaRPr>
          </a:p>
        </p:txBody>
      </p:sp>
      <p:sp>
        <p:nvSpPr>
          <p:cNvPr id="40" name="p3-hit">
            <a:hlinkClick r:id="rId7"/>
            <a:extLst>
              <a:ext uri="{FF2B5EF4-FFF2-40B4-BE49-F238E27FC236}">
                <a16:creationId xmlns:a16="http://schemas.microsoft.com/office/drawing/2014/main" id="{AB4198B1-47C1-4AAD-C82E-BC5C73FE7EF1}"/>
              </a:ext>
            </a:extLst>
          </p:cNvPr>
          <p:cNvSpPr/>
          <p:nvPr/>
        </p:nvSpPr>
        <p:spPr>
          <a:xfrm>
            <a:off x="7239000" y="2235200"/>
            <a:ext cx="2006600" cy="18288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p4-box">
            <a:extLst>
              <a:ext uri="{FF2B5EF4-FFF2-40B4-BE49-F238E27FC236}">
                <a16:creationId xmlns:a16="http://schemas.microsoft.com/office/drawing/2014/main" id="{F2B6FFA2-E25C-753B-F31D-32621979820E}"/>
              </a:ext>
            </a:extLst>
          </p:cNvPr>
          <p:cNvSpPr/>
          <p:nvPr/>
        </p:nvSpPr>
        <p:spPr>
          <a:xfrm>
            <a:off x="9398000" y="2235200"/>
            <a:ext cx="2006600" cy="18288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p4-stripe">
            <a:extLst>
              <a:ext uri="{FF2B5EF4-FFF2-40B4-BE49-F238E27FC236}">
                <a16:creationId xmlns:a16="http://schemas.microsoft.com/office/drawing/2014/main" id="{89F9A293-D28F-0C6D-241A-8BE104207635}"/>
              </a:ext>
            </a:extLst>
          </p:cNvPr>
          <p:cNvSpPr/>
          <p:nvPr/>
        </p:nvSpPr>
        <p:spPr>
          <a:xfrm>
            <a:off x="9398000" y="2235200"/>
            <a:ext cx="2006600" cy="101600"/>
          </a:xfrm>
          <a:prstGeom prst="rect">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p4-venue">
            <a:extLst>
              <a:ext uri="{FF2B5EF4-FFF2-40B4-BE49-F238E27FC236}">
                <a16:creationId xmlns:a16="http://schemas.microsoft.com/office/drawing/2014/main" id="{BD72E03E-AD09-F265-070E-8614001D09B4}"/>
              </a:ext>
            </a:extLst>
          </p:cNvPr>
          <p:cNvSpPr txBox="1"/>
          <p:nvPr/>
        </p:nvSpPr>
        <p:spPr>
          <a:xfrm>
            <a:off x="9601200" y="2489200"/>
            <a:ext cx="1600200" cy="276999"/>
          </a:xfrm>
          <a:prstGeom prst="rect">
            <a:avLst/>
          </a:prstGeom>
          <a:noFill/>
        </p:spPr>
        <p:txBody>
          <a:bodyPr vert="horz" wrap="square" lIns="0" tIns="0" rIns="0" bIns="0" rtlCol="0">
            <a:noAutofit/>
          </a:bodyPr>
          <a:lstStyle/>
          <a:p>
            <a:r>
              <a:rPr lang="en-US" altLang="zh-CN" sz="920" b="1">
                <a:solidFill>
                  <a:srgbClr val="1F7A4D"/>
                </a:solidFill>
                <a:latin typeface="Aptos" panose="020B0004020202020204" pitchFamily="34" charset="0"/>
              </a:rPr>
              <a:t>EMNLP</a:t>
            </a:r>
            <a:endParaRPr lang="zh-CN" altLang="en-US" sz="920" b="1">
              <a:solidFill>
                <a:srgbClr val="1F7A4D"/>
              </a:solidFill>
              <a:latin typeface="Aptos" panose="020B0004020202020204" pitchFamily="34" charset="0"/>
            </a:endParaRPr>
          </a:p>
        </p:txBody>
      </p:sp>
      <p:sp>
        <p:nvSpPr>
          <p:cNvPr id="44" name="p4-title">
            <a:extLst>
              <a:ext uri="{FF2B5EF4-FFF2-40B4-BE49-F238E27FC236}">
                <a16:creationId xmlns:a16="http://schemas.microsoft.com/office/drawing/2014/main" id="{2D1E4334-7A5B-BFB8-CCB4-34E5516FA60B}"/>
              </a:ext>
            </a:extLst>
          </p:cNvPr>
          <p:cNvSpPr txBox="1"/>
          <p:nvPr/>
        </p:nvSpPr>
        <p:spPr>
          <a:xfrm>
            <a:off x="9601200" y="2768600"/>
            <a:ext cx="1600200" cy="276999"/>
          </a:xfrm>
          <a:prstGeom prst="rect">
            <a:avLst/>
          </a:prstGeom>
          <a:noFill/>
        </p:spPr>
        <p:txBody>
          <a:bodyPr vert="horz" wrap="square" lIns="0" tIns="0" rIns="0" bIns="0" rtlCol="0">
            <a:noAutofit/>
          </a:bodyPr>
          <a:lstStyle/>
          <a:p>
            <a:r>
              <a:rPr lang="en-US" altLang="zh-CN" sz="1370" b="1">
                <a:solidFill>
                  <a:srgbClr val="071837"/>
                </a:solidFill>
                <a:latin typeface="Aptos" panose="020B0004020202020204" pitchFamily="34" charset="0"/>
              </a:rPr>
              <a:t>SealAudit</a:t>
            </a:r>
            <a:endParaRPr lang="zh-CN" altLang="en-US" sz="1370" b="1">
              <a:solidFill>
                <a:srgbClr val="071837"/>
              </a:solidFill>
              <a:latin typeface="Aptos" panose="020B0004020202020204" pitchFamily="34" charset="0"/>
            </a:endParaRPr>
          </a:p>
        </p:txBody>
      </p:sp>
      <p:sp>
        <p:nvSpPr>
          <p:cNvPr id="45" name="p4-metric">
            <a:extLst>
              <a:ext uri="{FF2B5EF4-FFF2-40B4-BE49-F238E27FC236}">
                <a16:creationId xmlns:a16="http://schemas.microsoft.com/office/drawing/2014/main" id="{CD5252BA-ED30-DFF9-3E85-C688EC8D2929}"/>
              </a:ext>
            </a:extLst>
          </p:cNvPr>
          <p:cNvSpPr txBox="1"/>
          <p:nvPr/>
        </p:nvSpPr>
        <p:spPr>
          <a:xfrm>
            <a:off x="9601200" y="3225800"/>
            <a:ext cx="1600200" cy="276999"/>
          </a:xfrm>
          <a:prstGeom prst="rect">
            <a:avLst/>
          </a:prstGeom>
          <a:noFill/>
        </p:spPr>
        <p:txBody>
          <a:bodyPr vert="horz" wrap="square" lIns="0" tIns="0" rIns="0" bIns="0" rtlCol="0">
            <a:noAutofit/>
          </a:bodyPr>
          <a:lstStyle/>
          <a:p>
            <a:r>
              <a:rPr lang="en-US" altLang="zh-CN" sz="970" b="1">
                <a:solidFill>
                  <a:srgbClr val="52617A"/>
                </a:solidFill>
                <a:latin typeface="Aptos" panose="020B0004020202020204" pitchFamily="34" charset="0"/>
              </a:rPr>
              <a:t>320/960 decisive</a:t>
            </a:r>
            <a:endParaRPr lang="zh-CN" altLang="en-US" sz="970" b="1">
              <a:solidFill>
                <a:srgbClr val="52617A"/>
              </a:solidFill>
              <a:latin typeface="Aptos" panose="020B0004020202020204" pitchFamily="34" charset="0"/>
            </a:endParaRPr>
          </a:p>
        </p:txBody>
      </p:sp>
      <p:sp>
        <p:nvSpPr>
          <p:cNvPr id="46" name="p4-commit">
            <a:extLst>
              <a:ext uri="{FF2B5EF4-FFF2-40B4-BE49-F238E27FC236}">
                <a16:creationId xmlns:a16="http://schemas.microsoft.com/office/drawing/2014/main" id="{C4B8A588-FDDF-5B86-E058-7357348F5D41}"/>
              </a:ext>
            </a:extLst>
          </p:cNvPr>
          <p:cNvSpPr txBox="1"/>
          <p:nvPr/>
        </p:nvSpPr>
        <p:spPr>
          <a:xfrm>
            <a:off x="9601200" y="3670300"/>
            <a:ext cx="1600200" cy="276999"/>
          </a:xfrm>
          <a:prstGeom prst="rect">
            <a:avLst/>
          </a:prstGeom>
          <a:noFill/>
        </p:spPr>
        <p:txBody>
          <a:bodyPr vert="horz" wrap="square" lIns="0" tIns="0" rIns="0" bIns="0" rtlCol="0">
            <a:noAutofit/>
          </a:bodyPr>
          <a:lstStyle/>
          <a:p>
            <a:r>
              <a:rPr lang="en-US" altLang="zh-CN" sz="760" b="1">
                <a:solidFill>
                  <a:srgbClr val="52617A"/>
                </a:solidFill>
                <a:latin typeface="Consolas" panose="020B0609020204030204" pitchFamily="49" charset="0"/>
              </a:rPr>
              <a:t>commit 039275d</a:t>
            </a:r>
            <a:endParaRPr lang="zh-CN" altLang="en-US" sz="760" b="1">
              <a:solidFill>
                <a:srgbClr val="52617A"/>
              </a:solidFill>
              <a:latin typeface="Consolas" panose="020B0609020204030204" pitchFamily="49" charset="0"/>
            </a:endParaRPr>
          </a:p>
        </p:txBody>
      </p:sp>
      <p:sp>
        <p:nvSpPr>
          <p:cNvPr id="47" name="p4-hit">
            <a:hlinkClick r:id="rId8"/>
            <a:extLst>
              <a:ext uri="{FF2B5EF4-FFF2-40B4-BE49-F238E27FC236}">
                <a16:creationId xmlns:a16="http://schemas.microsoft.com/office/drawing/2014/main" id="{38DF300D-5174-7CD7-7F65-9267FC8F1136}"/>
              </a:ext>
            </a:extLst>
          </p:cNvPr>
          <p:cNvSpPr/>
          <p:nvPr/>
        </p:nvSpPr>
        <p:spPr>
          <a:xfrm>
            <a:off x="9398000" y="2235200"/>
            <a:ext cx="2006600" cy="18288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contract-band">
            <a:extLst>
              <a:ext uri="{FF2B5EF4-FFF2-40B4-BE49-F238E27FC236}">
                <a16:creationId xmlns:a16="http://schemas.microsoft.com/office/drawing/2014/main" id="{3673BCFA-FB74-DD00-4090-D0B33A128AF6}"/>
              </a:ext>
            </a:extLst>
          </p:cNvPr>
          <p:cNvSpPr/>
          <p:nvPr/>
        </p:nvSpPr>
        <p:spPr>
          <a:xfrm>
            <a:off x="1143000" y="4826000"/>
            <a:ext cx="9906000" cy="533400"/>
          </a:xfrm>
          <a:prstGeom prst="roundRect">
            <a:avLst>
              <a:gd name="adj" fmla="val 14000"/>
            </a:avLst>
          </a:prstGeom>
          <a:solidFill>
            <a:srgbClr val="003B7A"/>
          </a:solidFill>
          <a:ln w="10160" cap="flat" cmpd="sng" algn="ctr">
            <a:solidFill>
              <a:srgbClr val="003B7A">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contract-text">
            <a:extLst>
              <a:ext uri="{FF2B5EF4-FFF2-40B4-BE49-F238E27FC236}">
                <a16:creationId xmlns:a16="http://schemas.microsoft.com/office/drawing/2014/main" id="{EEE8C5C1-F858-1132-ABD9-A5A869107257}"/>
              </a:ext>
            </a:extLst>
          </p:cNvPr>
          <p:cNvSpPr txBox="1"/>
          <p:nvPr/>
        </p:nvSpPr>
        <p:spPr>
          <a:xfrm>
            <a:off x="1803400" y="4965700"/>
            <a:ext cx="8585200" cy="276999"/>
          </a:xfrm>
          <a:prstGeom prst="rect">
            <a:avLst/>
          </a:prstGeom>
          <a:noFill/>
        </p:spPr>
        <p:txBody>
          <a:bodyPr vert="horz" wrap="square" lIns="0" tIns="0" rIns="0" bIns="0" rtlCol="0">
            <a:noAutofit/>
          </a:bodyPr>
          <a:lstStyle/>
          <a:p>
            <a:pPr algn="ctr"/>
            <a:r>
              <a:rPr lang="en-US" altLang="zh-CN" sz="1240" b="1">
                <a:solidFill>
                  <a:srgbClr val="FFFFFF"/>
                </a:solidFill>
                <a:latin typeface="Aptos" panose="020B0004020202020204" pitchFamily="34" charset="0"/>
              </a:rPr>
              <a:t>shared rule: admit evidence first; publish only the bounded claim</a:t>
            </a:r>
            <a:endParaRPr lang="zh-CN" altLang="en-US" sz="1240" b="1">
              <a:solidFill>
                <a:srgbClr val="FFFFFF"/>
              </a:solidFill>
              <a:latin typeface="Aptos" panose="020B0004020202020204" pitchFamily="34" charset="0"/>
            </a:endParaRPr>
          </a:p>
        </p:txBody>
      </p:sp>
      <p:sp>
        <p:nvSpPr>
          <p:cNvPr id="50" name="footer-hit-5">
            <a:hlinkClick r:id="rId9"/>
            <a:extLst>
              <a:ext uri="{FF2B5EF4-FFF2-40B4-BE49-F238E27FC236}">
                <a16:creationId xmlns:a16="http://schemas.microsoft.com/office/drawing/2014/main" id="{CB774926-7FA7-A5A3-F67B-1F48548A6BC6}"/>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3633973"/>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60"/>
                                        <p:tgtEl>
                                          <p:spTgt spid="10"/>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160"/>
                                        <p:tgtEl>
                                          <p:spTgt spid="13"/>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160"/>
                                        <p:tgtEl>
                                          <p:spTgt spid="14"/>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160"/>
                                        <p:tgtEl>
                                          <p:spTgt spid="15"/>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160"/>
                                        <p:tgtEl>
                                          <p:spTgt spid="16"/>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160"/>
                                        <p:tgtEl>
                                          <p:spTgt spid="17"/>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160"/>
                                        <p:tgtEl>
                                          <p:spTgt spid="18"/>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160"/>
                                        <p:tgtEl>
                                          <p:spTgt spid="19"/>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160"/>
                                        <p:tgtEl>
                                          <p:spTgt spid="20"/>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160"/>
                                        <p:tgtEl>
                                          <p:spTgt spid="21"/>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160"/>
                                        <p:tgtEl>
                                          <p:spTgt spid="22"/>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160"/>
                                        <p:tgtEl>
                                          <p:spTgt spid="23"/>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160"/>
                                        <p:tgtEl>
                                          <p:spTgt spid="24"/>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160"/>
                                        <p:tgtEl>
                                          <p:spTgt spid="25"/>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160"/>
                                        <p:tgtEl>
                                          <p:spTgt spid="26"/>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160"/>
                                        <p:tgtEl>
                                          <p:spTgt spid="27"/>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fade">
                                      <p:cBhvr>
                                        <p:cTn id="71" dur="160"/>
                                        <p:tgtEl>
                                          <p:spTgt spid="28"/>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160"/>
                                        <p:tgtEl>
                                          <p:spTgt spid="29"/>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0"/>
                                        </p:tgtEl>
                                        <p:attrNameLst>
                                          <p:attrName>style.visibility</p:attrName>
                                        </p:attrNameLst>
                                      </p:cBhvr>
                                      <p:to>
                                        <p:strVal val="visible"/>
                                      </p:to>
                                    </p:set>
                                    <p:animEffect transition="in" filter="fade">
                                      <p:cBhvr>
                                        <p:cTn id="79" dur="160"/>
                                        <p:tgtEl>
                                          <p:spTgt spid="30"/>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160"/>
                                        <p:tgtEl>
                                          <p:spTgt spid="31"/>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2"/>
                                        </p:tgtEl>
                                        <p:attrNameLst>
                                          <p:attrName>style.visibility</p:attrName>
                                        </p:attrNameLst>
                                      </p:cBhvr>
                                      <p:to>
                                        <p:strVal val="visible"/>
                                      </p:to>
                                    </p:set>
                                    <p:animEffect transition="in" filter="fade">
                                      <p:cBhvr>
                                        <p:cTn id="87" dur="160"/>
                                        <p:tgtEl>
                                          <p:spTgt spid="32"/>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3"/>
                                        </p:tgtEl>
                                        <p:attrNameLst>
                                          <p:attrName>style.visibility</p:attrName>
                                        </p:attrNameLst>
                                      </p:cBhvr>
                                      <p:to>
                                        <p:strVal val="visible"/>
                                      </p:to>
                                    </p:set>
                                    <p:animEffect transition="in" filter="fade">
                                      <p:cBhvr>
                                        <p:cTn id="91" dur="160"/>
                                        <p:tgtEl>
                                          <p:spTgt spid="33"/>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160"/>
                                        <p:tgtEl>
                                          <p:spTgt spid="34"/>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5"/>
                                        </p:tgtEl>
                                        <p:attrNameLst>
                                          <p:attrName>style.visibility</p:attrName>
                                        </p:attrNameLst>
                                      </p:cBhvr>
                                      <p:to>
                                        <p:strVal val="visible"/>
                                      </p:to>
                                    </p:set>
                                    <p:animEffect transition="in" filter="fade">
                                      <p:cBhvr>
                                        <p:cTn id="99" dur="160"/>
                                        <p:tgtEl>
                                          <p:spTgt spid="35"/>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6"/>
                                        </p:tgtEl>
                                        <p:attrNameLst>
                                          <p:attrName>style.visibility</p:attrName>
                                        </p:attrNameLst>
                                      </p:cBhvr>
                                      <p:to>
                                        <p:strVal val="visible"/>
                                      </p:to>
                                    </p:set>
                                    <p:animEffect transition="in" filter="fade">
                                      <p:cBhvr>
                                        <p:cTn id="103" dur="160"/>
                                        <p:tgtEl>
                                          <p:spTgt spid="36"/>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7"/>
                                        </p:tgtEl>
                                        <p:attrNameLst>
                                          <p:attrName>style.visibility</p:attrName>
                                        </p:attrNameLst>
                                      </p:cBhvr>
                                      <p:to>
                                        <p:strVal val="visible"/>
                                      </p:to>
                                    </p:set>
                                    <p:animEffect transition="in" filter="fade">
                                      <p:cBhvr>
                                        <p:cTn id="107" dur="160"/>
                                        <p:tgtEl>
                                          <p:spTgt spid="37"/>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160"/>
                                        <p:tgtEl>
                                          <p:spTgt spid="38"/>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39"/>
                                        </p:tgtEl>
                                        <p:attrNameLst>
                                          <p:attrName>style.visibility</p:attrName>
                                        </p:attrNameLst>
                                      </p:cBhvr>
                                      <p:to>
                                        <p:strVal val="visible"/>
                                      </p:to>
                                    </p:set>
                                    <p:animEffect transition="in" filter="fade">
                                      <p:cBhvr>
                                        <p:cTn id="115" dur="160"/>
                                        <p:tgtEl>
                                          <p:spTgt spid="39"/>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0"/>
                                        </p:tgtEl>
                                        <p:attrNameLst>
                                          <p:attrName>style.visibility</p:attrName>
                                        </p:attrNameLst>
                                      </p:cBhvr>
                                      <p:to>
                                        <p:strVal val="visible"/>
                                      </p:to>
                                    </p:set>
                                    <p:animEffect transition="in" filter="fade">
                                      <p:cBhvr>
                                        <p:cTn id="119" dur="160"/>
                                        <p:tgtEl>
                                          <p:spTgt spid="40"/>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160"/>
                                        <p:tgtEl>
                                          <p:spTgt spid="41"/>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2"/>
                                        </p:tgtEl>
                                        <p:attrNameLst>
                                          <p:attrName>style.visibility</p:attrName>
                                        </p:attrNameLst>
                                      </p:cBhvr>
                                      <p:to>
                                        <p:strVal val="visible"/>
                                      </p:to>
                                    </p:set>
                                    <p:animEffect transition="in" filter="fade">
                                      <p:cBhvr>
                                        <p:cTn id="127" dur="160"/>
                                        <p:tgtEl>
                                          <p:spTgt spid="42"/>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3"/>
                                        </p:tgtEl>
                                        <p:attrNameLst>
                                          <p:attrName>style.visibility</p:attrName>
                                        </p:attrNameLst>
                                      </p:cBhvr>
                                      <p:to>
                                        <p:strVal val="visible"/>
                                      </p:to>
                                    </p:set>
                                    <p:animEffect transition="in" filter="fade">
                                      <p:cBhvr>
                                        <p:cTn id="131" dur="160"/>
                                        <p:tgtEl>
                                          <p:spTgt spid="43"/>
                                        </p:tgtEl>
                                      </p:cBhvr>
                                    </p:animEffect>
                                  </p:childTnLst>
                                </p:cTn>
                              </p:par>
                            </p:childTnLst>
                          </p:cTn>
                        </p:par>
                        <p:par>
                          <p:cTn id="132" fill="hold">
                            <p:stCondLst>
                              <p:cond delay="5120"/>
                            </p:stCondLst>
                            <p:childTnLst>
                              <p:par>
                                <p:cTn id="133" presetID="10" presetClass="entr" presetSubtype="0" fill="hold" grpId="0" nodeType="after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160"/>
                                        <p:tgtEl>
                                          <p:spTgt spid="44"/>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45"/>
                                        </p:tgtEl>
                                        <p:attrNameLst>
                                          <p:attrName>style.visibility</p:attrName>
                                        </p:attrNameLst>
                                      </p:cBhvr>
                                      <p:to>
                                        <p:strVal val="visible"/>
                                      </p:to>
                                    </p:set>
                                    <p:animEffect transition="in" filter="fade">
                                      <p:cBhvr>
                                        <p:cTn id="139" dur="160"/>
                                        <p:tgtEl>
                                          <p:spTgt spid="45"/>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fade">
                                      <p:cBhvr>
                                        <p:cTn id="143" dur="160"/>
                                        <p:tgtEl>
                                          <p:spTgt spid="46"/>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47"/>
                                        </p:tgtEl>
                                        <p:attrNameLst>
                                          <p:attrName>style.visibility</p:attrName>
                                        </p:attrNameLst>
                                      </p:cBhvr>
                                      <p:to>
                                        <p:strVal val="visible"/>
                                      </p:to>
                                    </p:set>
                                    <p:animEffect transition="in" filter="fade">
                                      <p:cBhvr>
                                        <p:cTn id="147" dur="160"/>
                                        <p:tgtEl>
                                          <p:spTgt spid="47"/>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48"/>
                                        </p:tgtEl>
                                        <p:attrNameLst>
                                          <p:attrName>style.visibility</p:attrName>
                                        </p:attrNameLst>
                                      </p:cBhvr>
                                      <p:to>
                                        <p:strVal val="visible"/>
                                      </p:to>
                                    </p:set>
                                    <p:animEffect transition="in" filter="fade">
                                      <p:cBhvr>
                                        <p:cTn id="151" dur="160"/>
                                        <p:tgtEl>
                                          <p:spTgt spid="48"/>
                                        </p:tgtEl>
                                      </p:cBhvr>
                                    </p:animEffect>
                                  </p:childTnLst>
                                </p:cTn>
                              </p:par>
                            </p:childTnLst>
                          </p:cTn>
                        </p:par>
                        <p:par>
                          <p:cTn id="152" fill="hold">
                            <p:stCondLst>
                              <p:cond delay="5920"/>
                            </p:stCondLst>
                            <p:childTnLst>
                              <p:par>
                                <p:cTn id="153" presetID="10" presetClass="entr" presetSubtype="0" fill="hold" grpId="0" nodeType="afterEffect">
                                  <p:stCondLst>
                                    <p:cond delay="0"/>
                                  </p:stCondLst>
                                  <p:childTnLst>
                                    <p:set>
                                      <p:cBhvr>
                                        <p:cTn id="154" dur="1" fill="hold">
                                          <p:stCondLst>
                                            <p:cond delay="0"/>
                                          </p:stCondLst>
                                        </p:cTn>
                                        <p:tgtEl>
                                          <p:spTgt spid="49"/>
                                        </p:tgtEl>
                                        <p:attrNameLst>
                                          <p:attrName>style.visibility</p:attrName>
                                        </p:attrNameLst>
                                      </p:cBhvr>
                                      <p:to>
                                        <p:strVal val="visible"/>
                                      </p:to>
                                    </p:set>
                                    <p:animEffect transition="in" filter="fade">
                                      <p:cBhvr>
                                        <p:cTn id="155" dur="16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p:bldP spid="18" grpId="0"/>
      <p:bldP spid="19" grpId="0" animBg="1"/>
      <p:bldP spid="20" grpId="0" animBg="1"/>
      <p:bldP spid="21" grpId="0" animBg="1"/>
      <p:bldP spid="22" grpId="0"/>
      <p:bldP spid="23" grpId="0"/>
      <p:bldP spid="24" grpId="0"/>
      <p:bldP spid="25" grpId="0"/>
      <p:bldP spid="26" grpId="0" animBg="1"/>
      <p:bldP spid="27" grpId="0" animBg="1"/>
      <p:bldP spid="28" grpId="0" animBg="1"/>
      <p:bldP spid="29" grpId="0"/>
      <p:bldP spid="30" grpId="0"/>
      <p:bldP spid="31" grpId="0"/>
      <p:bldP spid="32" grpId="0"/>
      <p:bldP spid="33" grpId="0" animBg="1"/>
      <p:bldP spid="34" grpId="0" animBg="1"/>
      <p:bldP spid="35" grpId="0" animBg="1"/>
      <p:bldP spid="36" grpId="0"/>
      <p:bldP spid="37" grpId="0"/>
      <p:bldP spid="38" grpId="0"/>
      <p:bldP spid="39" grpId="0"/>
      <p:bldP spid="40" grpId="0" animBg="1"/>
      <p:bldP spid="41" grpId="0" animBg="1"/>
      <p:bldP spid="42" grpId="0" animBg="1"/>
      <p:bldP spid="43" grpId="0"/>
      <p:bldP spid="44" grpId="0"/>
      <p:bldP spid="45" grpId="0"/>
      <p:bldP spid="46" grpId="0"/>
      <p:bldP spid="47" grpId="0" animBg="1"/>
      <p:bldP spid="48" grpId="0" animBg="1"/>
      <p:bldP spid="4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0FF40B59-D982-0A5D-D321-4AB04FE8732C}"/>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E085AC79-0308-783B-95A7-4C90CB4E8B78}"/>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6E97592C-DCD7-83E5-B95F-1C6F8CB3C24F}"/>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CODEMARKBENCH</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9250EF15-A6D1-1FCF-DDEE-2EFB6A5EE05C}"/>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06</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E79B45F1-24B7-6B4D-CAE7-85C2C92D5ABA}"/>
              </a:ext>
            </a:extLst>
          </p:cNvPr>
          <p:cNvCxnSpPr/>
          <p:nvPr/>
        </p:nvCxnSpPr>
        <p:spPr>
          <a:xfrm>
            <a:off x="736600" y="19558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BA1C4640-169B-F6C6-0A15-9449D9165653}"/>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1A0C8F92-6DFA-A0C5-E10C-1B4786BA8DE1}"/>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241F4A1A-70CB-20F7-5DAF-2E1A1767415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E47DEFD7-0FBC-03C3-0D3E-5D5770355777}"/>
              </a:ext>
            </a:extLst>
          </p:cNvPr>
          <p:cNvSpPr txBox="1"/>
          <p:nvPr/>
        </p:nvSpPr>
        <p:spPr>
          <a:xfrm>
            <a:off x="736600" y="711200"/>
            <a:ext cx="10795000" cy="276999"/>
          </a:xfrm>
          <a:prstGeom prst="rect">
            <a:avLst/>
          </a:prstGeom>
          <a:noFill/>
        </p:spPr>
        <p:txBody>
          <a:bodyPr vert="horz" wrap="square" lIns="0" tIns="0" rIns="0" bIns="0" rtlCol="0">
            <a:noAutofit/>
          </a:bodyPr>
          <a:lstStyle/>
          <a:p>
            <a:r>
              <a:rPr lang="en-US" altLang="zh-CN" sz="3000" b="1">
                <a:solidFill>
                  <a:srgbClr val="071837"/>
                </a:solidFill>
                <a:latin typeface="Aptos" panose="020B0004020202020204" pitchFamily="34" charset="0"/>
              </a:rPr>
              <a:t>The benchmark fixes the denominator first.</a:t>
            </a:r>
            <a:endParaRPr lang="zh-CN" altLang="en-US" sz="300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0CF443FE-006C-FDBE-C32E-FEBDE4271ADD}"/>
              </a:ext>
            </a:extLst>
          </p:cNvPr>
          <p:cNvSpPr txBox="1"/>
          <p:nvPr/>
        </p:nvSpPr>
        <p:spPr>
          <a:xfrm>
            <a:off x="787400" y="1473200"/>
            <a:ext cx="10287000" cy="276999"/>
          </a:xfrm>
          <a:prstGeom prst="rect">
            <a:avLst/>
          </a:prstGeom>
          <a:noFill/>
        </p:spPr>
        <p:txBody>
          <a:bodyPr vert="horz" wrap="square" lIns="0" tIns="0" rIns="0" bIns="0" rtlCol="0">
            <a:noAutofit/>
          </a:bodyPr>
          <a:lstStyle/>
          <a:p>
            <a:r>
              <a:rPr lang="en-US" altLang="zh-CN" sz="1220">
                <a:solidFill>
                  <a:srgbClr val="52617A"/>
                </a:solidFill>
                <a:latin typeface="Aptos" panose="020B0004020202020204" pitchFamily="34" charset="0"/>
              </a:rPr>
              <a:t>The release matrix defines models, methods, sources, languages, and attacks before interpretation.</a:t>
            </a:r>
            <a:endParaRPr lang="zh-CN" altLang="en-US" sz="1220">
              <a:solidFill>
                <a:srgbClr val="52617A"/>
              </a:solidFill>
              <a:latin typeface="Aptos" panose="020B0004020202020204" pitchFamily="34" charset="0"/>
            </a:endParaRPr>
          </a:p>
        </p:txBody>
      </p:sp>
      <p:sp>
        <p:nvSpPr>
          <p:cNvPr id="13" name="metric">
            <a:extLst>
              <a:ext uri="{FF2B5EF4-FFF2-40B4-BE49-F238E27FC236}">
                <a16:creationId xmlns:a16="http://schemas.microsoft.com/office/drawing/2014/main" id="{8BEEC911-43BF-7708-417E-DF4DD0073FC5}"/>
              </a:ext>
            </a:extLst>
          </p:cNvPr>
          <p:cNvSpPr/>
          <p:nvPr/>
        </p:nvSpPr>
        <p:spPr>
          <a:xfrm>
            <a:off x="812800" y="2209800"/>
            <a:ext cx="3098800" cy="2870200"/>
          </a:xfrm>
          <a:prstGeom prst="roundRect">
            <a:avLst>
              <a:gd name="adj" fmla="val 14000"/>
            </a:avLst>
          </a:prstGeom>
          <a:solidFill>
            <a:srgbClr val="003B7A"/>
          </a:solidFill>
          <a:ln w="10160" cap="flat" cmpd="sng" algn="ctr">
            <a:solidFill>
              <a:srgbClr val="003B7A">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metric-k">
            <a:extLst>
              <a:ext uri="{FF2B5EF4-FFF2-40B4-BE49-F238E27FC236}">
                <a16:creationId xmlns:a16="http://schemas.microsoft.com/office/drawing/2014/main" id="{A976C6F0-A58D-369F-FEDA-96F968B8A140}"/>
              </a:ext>
            </a:extLst>
          </p:cNvPr>
          <p:cNvSpPr txBox="1"/>
          <p:nvPr/>
        </p:nvSpPr>
        <p:spPr>
          <a:xfrm>
            <a:off x="1244600" y="2667000"/>
            <a:ext cx="1930400" cy="276999"/>
          </a:xfrm>
          <a:prstGeom prst="rect">
            <a:avLst/>
          </a:prstGeom>
          <a:noFill/>
        </p:spPr>
        <p:txBody>
          <a:bodyPr vert="horz" wrap="square" lIns="0" tIns="0" rIns="0" bIns="0" rtlCol="0">
            <a:noAutofit/>
          </a:bodyPr>
          <a:lstStyle/>
          <a:p>
            <a:r>
              <a:rPr lang="en-US" altLang="zh-CN" sz="1250" b="1">
                <a:solidFill>
                  <a:srgbClr val="CDE2FA"/>
                </a:solidFill>
                <a:latin typeface="Aptos" panose="020B0004020202020204" pitchFamily="34" charset="0"/>
              </a:rPr>
              <a:t>canonical run inventory</a:t>
            </a:r>
            <a:endParaRPr lang="zh-CN" altLang="en-US" sz="1250" b="1">
              <a:solidFill>
                <a:srgbClr val="CDE2FA"/>
              </a:solidFill>
              <a:latin typeface="Aptos" panose="020B0004020202020204" pitchFamily="34" charset="0"/>
            </a:endParaRPr>
          </a:p>
        </p:txBody>
      </p:sp>
      <p:sp>
        <p:nvSpPr>
          <p:cNvPr id="15" name="metric-v">
            <a:extLst>
              <a:ext uri="{FF2B5EF4-FFF2-40B4-BE49-F238E27FC236}">
                <a16:creationId xmlns:a16="http://schemas.microsoft.com/office/drawing/2014/main" id="{67D14EA3-0845-2EB1-4D42-03D4E4D44027}"/>
              </a:ext>
            </a:extLst>
          </p:cNvPr>
          <p:cNvSpPr txBox="1"/>
          <p:nvPr/>
        </p:nvSpPr>
        <p:spPr>
          <a:xfrm>
            <a:off x="1168400" y="3175000"/>
            <a:ext cx="2336800" cy="276999"/>
          </a:xfrm>
          <a:prstGeom prst="rect">
            <a:avLst/>
          </a:prstGeom>
          <a:noFill/>
        </p:spPr>
        <p:txBody>
          <a:bodyPr vert="horz" wrap="square" lIns="0" tIns="0" rIns="0" bIns="0" rtlCol="0">
            <a:noAutofit/>
          </a:bodyPr>
          <a:lstStyle/>
          <a:p>
            <a:r>
              <a:rPr lang="en-US" altLang="zh-CN" sz="3900" b="1">
                <a:solidFill>
                  <a:srgbClr val="FFFFFF"/>
                </a:solidFill>
                <a:latin typeface="Aptos" panose="020B0004020202020204" pitchFamily="34" charset="0"/>
              </a:rPr>
              <a:t>140/140</a:t>
            </a:r>
            <a:endParaRPr lang="zh-CN" altLang="en-US" sz="3900" b="1">
              <a:solidFill>
                <a:srgbClr val="FFFFFF"/>
              </a:solidFill>
              <a:latin typeface="Aptos" panose="020B0004020202020204" pitchFamily="34" charset="0"/>
            </a:endParaRPr>
          </a:p>
        </p:txBody>
      </p:sp>
      <p:sp>
        <p:nvSpPr>
          <p:cNvPr id="16" name="metric-s">
            <a:extLst>
              <a:ext uri="{FF2B5EF4-FFF2-40B4-BE49-F238E27FC236}">
                <a16:creationId xmlns:a16="http://schemas.microsoft.com/office/drawing/2014/main" id="{B4F1E462-6F40-FCEA-51CC-76FF09450344}"/>
              </a:ext>
            </a:extLst>
          </p:cNvPr>
          <p:cNvSpPr txBox="1"/>
          <p:nvPr/>
        </p:nvSpPr>
        <p:spPr>
          <a:xfrm>
            <a:off x="1244600" y="4140200"/>
            <a:ext cx="2133600" cy="276999"/>
          </a:xfrm>
          <a:prstGeom prst="rect">
            <a:avLst/>
          </a:prstGeom>
          <a:noFill/>
        </p:spPr>
        <p:txBody>
          <a:bodyPr vert="horz" wrap="square" lIns="0" tIns="0" rIns="0" bIns="0" rtlCol="0">
            <a:noAutofit/>
          </a:bodyPr>
          <a:lstStyle/>
          <a:p>
            <a:r>
              <a:rPr lang="en-US" altLang="zh-CN" sz="1220" b="1">
                <a:solidFill>
                  <a:srgbClr val="DDEBFC"/>
                </a:solidFill>
                <a:latin typeface="Aptos" panose="020B0004020202020204" pitchFamily="34" charset="0"/>
              </a:rPr>
              <a:t>completed before any claim promotion</a:t>
            </a:r>
            <a:endParaRPr lang="zh-CN" altLang="en-US" sz="1220" b="1">
              <a:solidFill>
                <a:srgbClr val="DDEBFC"/>
              </a:solidFill>
              <a:latin typeface="Aptos" panose="020B0004020202020204" pitchFamily="34" charset="0"/>
            </a:endParaRPr>
          </a:p>
        </p:txBody>
      </p:sp>
      <p:sp>
        <p:nvSpPr>
          <p:cNvPr id="17" name="figframe">
            <a:extLst>
              <a:ext uri="{FF2B5EF4-FFF2-40B4-BE49-F238E27FC236}">
                <a16:creationId xmlns:a16="http://schemas.microsoft.com/office/drawing/2014/main" id="{21DBDD01-0C5C-548C-C60B-E8D5238C78D8}"/>
              </a:ext>
            </a:extLst>
          </p:cNvPr>
          <p:cNvSpPr/>
          <p:nvPr/>
        </p:nvSpPr>
        <p:spPr>
          <a:xfrm>
            <a:off x="4343400" y="2209800"/>
            <a:ext cx="6807200" cy="28702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9" name="benchmark-figure">
            <a:extLst>
              <a:ext uri="{FF2B5EF4-FFF2-40B4-BE49-F238E27FC236}">
                <a16:creationId xmlns:a16="http://schemas.microsoft.com/office/drawing/2014/main" id="{863EBE1E-EA04-123A-EFDF-78195C9A0093}"/>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5228167" y="2413000"/>
            <a:ext cx="5037667" cy="2159000"/>
          </a:xfrm>
          <a:prstGeom prst="rect">
            <a:avLst/>
          </a:prstGeom>
        </p:spPr>
      </p:pic>
      <p:sp>
        <p:nvSpPr>
          <p:cNvPr id="20" name="figcap">
            <a:extLst>
              <a:ext uri="{FF2B5EF4-FFF2-40B4-BE49-F238E27FC236}">
                <a16:creationId xmlns:a16="http://schemas.microsoft.com/office/drawing/2014/main" id="{0618BEDD-38FB-A560-D6B2-A943B3193803}"/>
              </a:ext>
            </a:extLst>
          </p:cNvPr>
          <p:cNvSpPr txBox="1"/>
          <p:nvPr/>
        </p:nvSpPr>
        <p:spPr>
          <a:xfrm>
            <a:off x="4521200" y="4699000"/>
            <a:ext cx="6248400" cy="276999"/>
          </a:xfrm>
          <a:prstGeom prst="rect">
            <a:avLst/>
          </a:prstGeom>
          <a:noFill/>
        </p:spPr>
        <p:txBody>
          <a:bodyPr vert="horz" wrap="square" lIns="0" tIns="0" rIns="0" bIns="0" rtlCol="0">
            <a:noAutofit/>
          </a:bodyPr>
          <a:lstStyle/>
          <a:p>
            <a:r>
              <a:rPr lang="en-US" altLang="zh-CN" sz="1050" b="1">
                <a:solidFill>
                  <a:srgbClr val="52617A"/>
                </a:solidFill>
                <a:latin typeface="Aptos" panose="020B0004020202020204" pitchFamily="34" charset="0"/>
              </a:rPr>
              <a:t>Artifact preview: score decomposition figure preserved in CodeMarkBench results.</a:t>
            </a:r>
            <a:endParaRPr lang="zh-CN" altLang="en-US" sz="1050" b="1">
              <a:solidFill>
                <a:srgbClr val="52617A"/>
              </a:solidFill>
              <a:latin typeface="Aptos" panose="020B0004020202020204" pitchFamily="34" charset="0"/>
            </a:endParaRPr>
          </a:p>
        </p:txBody>
      </p:sp>
      <p:sp>
        <p:nvSpPr>
          <p:cNvPr id="21" name="dim0-box">
            <a:extLst>
              <a:ext uri="{FF2B5EF4-FFF2-40B4-BE49-F238E27FC236}">
                <a16:creationId xmlns:a16="http://schemas.microsoft.com/office/drawing/2014/main" id="{DBCCD45E-F122-263F-A645-48938D3B35CE}"/>
              </a:ext>
            </a:extLst>
          </p:cNvPr>
          <p:cNvSpPr/>
          <p:nvPr/>
        </p:nvSpPr>
        <p:spPr>
          <a:xfrm>
            <a:off x="990600" y="5461000"/>
            <a:ext cx="1701800" cy="60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dim0-stripe">
            <a:extLst>
              <a:ext uri="{FF2B5EF4-FFF2-40B4-BE49-F238E27FC236}">
                <a16:creationId xmlns:a16="http://schemas.microsoft.com/office/drawing/2014/main" id="{B4DE8EED-E05C-BD2A-6946-65D5A41F1B0D}"/>
              </a:ext>
            </a:extLst>
          </p:cNvPr>
          <p:cNvSpPr/>
          <p:nvPr/>
        </p:nvSpPr>
        <p:spPr>
          <a:xfrm>
            <a:off x="990600" y="5461000"/>
            <a:ext cx="101600" cy="6096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dim0-v">
            <a:extLst>
              <a:ext uri="{FF2B5EF4-FFF2-40B4-BE49-F238E27FC236}">
                <a16:creationId xmlns:a16="http://schemas.microsoft.com/office/drawing/2014/main" id="{C4BD5C14-738E-AA94-F9B9-7B54D84E2871}"/>
              </a:ext>
            </a:extLst>
          </p:cNvPr>
          <p:cNvSpPr txBox="1"/>
          <p:nvPr/>
        </p:nvSpPr>
        <p:spPr>
          <a:xfrm>
            <a:off x="1219200" y="5588000"/>
            <a:ext cx="431800" cy="276999"/>
          </a:xfrm>
          <a:prstGeom prst="rect">
            <a:avLst/>
          </a:prstGeom>
          <a:noFill/>
        </p:spPr>
        <p:txBody>
          <a:bodyPr vert="horz" wrap="square" lIns="0" tIns="0" rIns="0" bIns="0" rtlCol="0">
            <a:noAutofit/>
          </a:bodyPr>
          <a:lstStyle/>
          <a:p>
            <a:pPr algn="ctr"/>
            <a:r>
              <a:rPr lang="en-US" altLang="zh-CN" sz="1950" b="1">
                <a:solidFill>
                  <a:srgbClr val="003B7A"/>
                </a:solidFill>
                <a:latin typeface="Aptos" panose="020B0004020202020204" pitchFamily="34" charset="0"/>
              </a:rPr>
              <a:t>5</a:t>
            </a:r>
            <a:endParaRPr lang="zh-CN" altLang="en-US" sz="1950" b="1">
              <a:solidFill>
                <a:srgbClr val="003B7A"/>
              </a:solidFill>
              <a:latin typeface="Aptos" panose="020B0004020202020204" pitchFamily="34" charset="0"/>
            </a:endParaRPr>
          </a:p>
        </p:txBody>
      </p:sp>
      <p:sp>
        <p:nvSpPr>
          <p:cNvPr id="24" name="dim0-k">
            <a:extLst>
              <a:ext uri="{FF2B5EF4-FFF2-40B4-BE49-F238E27FC236}">
                <a16:creationId xmlns:a16="http://schemas.microsoft.com/office/drawing/2014/main" id="{E8CEBE49-3872-DCE2-EB09-7F346C645C82}"/>
              </a:ext>
            </a:extLst>
          </p:cNvPr>
          <p:cNvSpPr txBox="1"/>
          <p:nvPr/>
        </p:nvSpPr>
        <p:spPr>
          <a:xfrm>
            <a:off x="1727200" y="5562600"/>
            <a:ext cx="812800" cy="276999"/>
          </a:xfrm>
          <a:prstGeom prst="rect">
            <a:avLst/>
          </a:prstGeom>
          <a:noFill/>
        </p:spPr>
        <p:txBody>
          <a:bodyPr vert="horz" wrap="square" lIns="0" tIns="0" rIns="0" bIns="0" rtlCol="0">
            <a:noAutofit/>
          </a:bodyPr>
          <a:lstStyle/>
          <a:p>
            <a:r>
              <a:rPr lang="en-US" altLang="zh-CN" sz="980" b="1">
                <a:solidFill>
                  <a:srgbClr val="071837"/>
                </a:solidFill>
                <a:latin typeface="Aptos" panose="020B0004020202020204" pitchFamily="34" charset="0"/>
              </a:rPr>
              <a:t>models</a:t>
            </a:r>
            <a:endParaRPr lang="zh-CN" altLang="en-US" sz="980" b="1">
              <a:solidFill>
                <a:srgbClr val="071837"/>
              </a:solidFill>
              <a:latin typeface="Aptos" panose="020B0004020202020204" pitchFamily="34" charset="0"/>
            </a:endParaRPr>
          </a:p>
        </p:txBody>
      </p:sp>
      <p:sp>
        <p:nvSpPr>
          <p:cNvPr id="25" name="dim0-l">
            <a:extLst>
              <a:ext uri="{FF2B5EF4-FFF2-40B4-BE49-F238E27FC236}">
                <a16:creationId xmlns:a16="http://schemas.microsoft.com/office/drawing/2014/main" id="{293BC64F-901D-6BD6-EC34-F5C6513BBBC3}"/>
              </a:ext>
            </a:extLst>
          </p:cNvPr>
          <p:cNvSpPr txBox="1"/>
          <p:nvPr/>
        </p:nvSpPr>
        <p:spPr>
          <a:xfrm>
            <a:off x="1727200" y="5803900"/>
            <a:ext cx="812800" cy="276999"/>
          </a:xfrm>
          <a:prstGeom prst="rect">
            <a:avLst/>
          </a:prstGeom>
          <a:noFill/>
        </p:spPr>
        <p:txBody>
          <a:bodyPr vert="horz" wrap="square" lIns="0" tIns="0" rIns="0" bIns="0" rtlCol="0">
            <a:noAutofit/>
          </a:bodyPr>
          <a:lstStyle/>
          <a:p>
            <a:r>
              <a:rPr lang="en-US" altLang="zh-CN" sz="880" b="1">
                <a:solidFill>
                  <a:srgbClr val="52617A"/>
                </a:solidFill>
                <a:latin typeface="Aptos" panose="020B0004020202020204" pitchFamily="34" charset="0"/>
              </a:rPr>
              <a:t>evaluation axis</a:t>
            </a:r>
            <a:endParaRPr lang="zh-CN" altLang="en-US" sz="880" b="1">
              <a:solidFill>
                <a:srgbClr val="52617A"/>
              </a:solidFill>
              <a:latin typeface="Aptos" panose="020B0004020202020204" pitchFamily="34" charset="0"/>
            </a:endParaRPr>
          </a:p>
        </p:txBody>
      </p:sp>
      <p:sp>
        <p:nvSpPr>
          <p:cNvPr id="26" name="dim1-box">
            <a:extLst>
              <a:ext uri="{FF2B5EF4-FFF2-40B4-BE49-F238E27FC236}">
                <a16:creationId xmlns:a16="http://schemas.microsoft.com/office/drawing/2014/main" id="{2989C298-D14C-384D-E375-C31CB69C1DB9}"/>
              </a:ext>
            </a:extLst>
          </p:cNvPr>
          <p:cNvSpPr/>
          <p:nvPr/>
        </p:nvSpPr>
        <p:spPr>
          <a:xfrm>
            <a:off x="3098800" y="5461000"/>
            <a:ext cx="1701800" cy="60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dim1-stripe">
            <a:extLst>
              <a:ext uri="{FF2B5EF4-FFF2-40B4-BE49-F238E27FC236}">
                <a16:creationId xmlns:a16="http://schemas.microsoft.com/office/drawing/2014/main" id="{63959282-8760-B770-4435-DF6CB8821E08}"/>
              </a:ext>
            </a:extLst>
          </p:cNvPr>
          <p:cNvSpPr/>
          <p:nvPr/>
        </p:nvSpPr>
        <p:spPr>
          <a:xfrm>
            <a:off x="3098800" y="5461000"/>
            <a:ext cx="101600" cy="6096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dim1-v">
            <a:extLst>
              <a:ext uri="{FF2B5EF4-FFF2-40B4-BE49-F238E27FC236}">
                <a16:creationId xmlns:a16="http://schemas.microsoft.com/office/drawing/2014/main" id="{90674BA9-6171-844A-C0FE-B1900FF0378E}"/>
              </a:ext>
            </a:extLst>
          </p:cNvPr>
          <p:cNvSpPr txBox="1"/>
          <p:nvPr/>
        </p:nvSpPr>
        <p:spPr>
          <a:xfrm>
            <a:off x="3327400" y="5588000"/>
            <a:ext cx="431800" cy="276999"/>
          </a:xfrm>
          <a:prstGeom prst="rect">
            <a:avLst/>
          </a:prstGeom>
          <a:noFill/>
        </p:spPr>
        <p:txBody>
          <a:bodyPr vert="horz" wrap="square" lIns="0" tIns="0" rIns="0" bIns="0" rtlCol="0">
            <a:noAutofit/>
          </a:bodyPr>
          <a:lstStyle/>
          <a:p>
            <a:pPr algn="ctr"/>
            <a:r>
              <a:rPr lang="en-US" altLang="zh-CN" sz="1950" b="1">
                <a:solidFill>
                  <a:srgbClr val="003B7A"/>
                </a:solidFill>
                <a:latin typeface="Aptos" panose="020B0004020202020204" pitchFamily="34" charset="0"/>
              </a:rPr>
              <a:t>4</a:t>
            </a:r>
            <a:endParaRPr lang="zh-CN" altLang="en-US" sz="1950" b="1">
              <a:solidFill>
                <a:srgbClr val="003B7A"/>
              </a:solidFill>
              <a:latin typeface="Aptos" panose="020B0004020202020204" pitchFamily="34" charset="0"/>
            </a:endParaRPr>
          </a:p>
        </p:txBody>
      </p:sp>
      <p:sp>
        <p:nvSpPr>
          <p:cNvPr id="29" name="dim1-k">
            <a:extLst>
              <a:ext uri="{FF2B5EF4-FFF2-40B4-BE49-F238E27FC236}">
                <a16:creationId xmlns:a16="http://schemas.microsoft.com/office/drawing/2014/main" id="{391883F7-9273-36A2-80CD-D7029236F896}"/>
              </a:ext>
            </a:extLst>
          </p:cNvPr>
          <p:cNvSpPr txBox="1"/>
          <p:nvPr/>
        </p:nvSpPr>
        <p:spPr>
          <a:xfrm>
            <a:off x="3835400" y="5562600"/>
            <a:ext cx="812800" cy="276999"/>
          </a:xfrm>
          <a:prstGeom prst="rect">
            <a:avLst/>
          </a:prstGeom>
          <a:noFill/>
        </p:spPr>
        <p:txBody>
          <a:bodyPr vert="horz" wrap="square" lIns="0" tIns="0" rIns="0" bIns="0" rtlCol="0">
            <a:noAutofit/>
          </a:bodyPr>
          <a:lstStyle/>
          <a:p>
            <a:r>
              <a:rPr lang="en-US" altLang="zh-CN" sz="980" b="1">
                <a:solidFill>
                  <a:srgbClr val="071837"/>
                </a:solidFill>
                <a:latin typeface="Aptos" panose="020B0004020202020204" pitchFamily="34" charset="0"/>
              </a:rPr>
              <a:t>methods</a:t>
            </a:r>
            <a:endParaRPr lang="zh-CN" altLang="en-US" sz="980" b="1">
              <a:solidFill>
                <a:srgbClr val="071837"/>
              </a:solidFill>
              <a:latin typeface="Aptos" panose="020B0004020202020204" pitchFamily="34" charset="0"/>
            </a:endParaRPr>
          </a:p>
        </p:txBody>
      </p:sp>
      <p:sp>
        <p:nvSpPr>
          <p:cNvPr id="30" name="dim1-l">
            <a:extLst>
              <a:ext uri="{FF2B5EF4-FFF2-40B4-BE49-F238E27FC236}">
                <a16:creationId xmlns:a16="http://schemas.microsoft.com/office/drawing/2014/main" id="{48A691E4-FE11-5985-7E46-5D51F25B4C78}"/>
              </a:ext>
            </a:extLst>
          </p:cNvPr>
          <p:cNvSpPr txBox="1"/>
          <p:nvPr/>
        </p:nvSpPr>
        <p:spPr>
          <a:xfrm>
            <a:off x="3835400" y="5803900"/>
            <a:ext cx="812800" cy="276999"/>
          </a:xfrm>
          <a:prstGeom prst="rect">
            <a:avLst/>
          </a:prstGeom>
          <a:noFill/>
        </p:spPr>
        <p:txBody>
          <a:bodyPr vert="horz" wrap="square" lIns="0" tIns="0" rIns="0" bIns="0" rtlCol="0">
            <a:noAutofit/>
          </a:bodyPr>
          <a:lstStyle/>
          <a:p>
            <a:r>
              <a:rPr lang="en-US" altLang="zh-CN" sz="880" b="1">
                <a:solidFill>
                  <a:srgbClr val="52617A"/>
                </a:solidFill>
                <a:latin typeface="Aptos" panose="020B0004020202020204" pitchFamily="34" charset="0"/>
              </a:rPr>
              <a:t>evaluation axis</a:t>
            </a:r>
            <a:endParaRPr lang="zh-CN" altLang="en-US" sz="880" b="1">
              <a:solidFill>
                <a:srgbClr val="52617A"/>
              </a:solidFill>
              <a:latin typeface="Aptos" panose="020B0004020202020204" pitchFamily="34" charset="0"/>
            </a:endParaRPr>
          </a:p>
        </p:txBody>
      </p:sp>
      <p:sp>
        <p:nvSpPr>
          <p:cNvPr id="31" name="dim2-box">
            <a:extLst>
              <a:ext uri="{FF2B5EF4-FFF2-40B4-BE49-F238E27FC236}">
                <a16:creationId xmlns:a16="http://schemas.microsoft.com/office/drawing/2014/main" id="{3DA1D923-262C-A36E-FCBC-5FE94028166E}"/>
              </a:ext>
            </a:extLst>
          </p:cNvPr>
          <p:cNvSpPr/>
          <p:nvPr/>
        </p:nvSpPr>
        <p:spPr>
          <a:xfrm>
            <a:off x="5207000" y="5461000"/>
            <a:ext cx="1701800" cy="60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dim2-stripe">
            <a:extLst>
              <a:ext uri="{FF2B5EF4-FFF2-40B4-BE49-F238E27FC236}">
                <a16:creationId xmlns:a16="http://schemas.microsoft.com/office/drawing/2014/main" id="{E789416E-4C33-94AB-9A65-BC95973715B2}"/>
              </a:ext>
            </a:extLst>
          </p:cNvPr>
          <p:cNvSpPr/>
          <p:nvPr/>
        </p:nvSpPr>
        <p:spPr>
          <a:xfrm>
            <a:off x="5207000" y="5461000"/>
            <a:ext cx="101600" cy="6096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dim2-v">
            <a:extLst>
              <a:ext uri="{FF2B5EF4-FFF2-40B4-BE49-F238E27FC236}">
                <a16:creationId xmlns:a16="http://schemas.microsoft.com/office/drawing/2014/main" id="{DEBBD1E5-54EB-E35B-53F3-7AFC21E18C8E}"/>
              </a:ext>
            </a:extLst>
          </p:cNvPr>
          <p:cNvSpPr txBox="1"/>
          <p:nvPr/>
        </p:nvSpPr>
        <p:spPr>
          <a:xfrm>
            <a:off x="5435600" y="5588000"/>
            <a:ext cx="431800" cy="276999"/>
          </a:xfrm>
          <a:prstGeom prst="rect">
            <a:avLst/>
          </a:prstGeom>
          <a:noFill/>
        </p:spPr>
        <p:txBody>
          <a:bodyPr vert="horz" wrap="square" lIns="0" tIns="0" rIns="0" bIns="0" rtlCol="0">
            <a:noAutofit/>
          </a:bodyPr>
          <a:lstStyle/>
          <a:p>
            <a:pPr algn="ctr"/>
            <a:r>
              <a:rPr lang="en-US" altLang="zh-CN" sz="1950" b="1">
                <a:solidFill>
                  <a:srgbClr val="003B7A"/>
                </a:solidFill>
                <a:latin typeface="Aptos" panose="020B0004020202020204" pitchFamily="34" charset="0"/>
              </a:rPr>
              <a:t>7</a:t>
            </a:r>
            <a:endParaRPr lang="zh-CN" altLang="en-US" sz="1950" b="1">
              <a:solidFill>
                <a:srgbClr val="003B7A"/>
              </a:solidFill>
              <a:latin typeface="Aptos" panose="020B0004020202020204" pitchFamily="34" charset="0"/>
            </a:endParaRPr>
          </a:p>
        </p:txBody>
      </p:sp>
      <p:sp>
        <p:nvSpPr>
          <p:cNvPr id="34" name="dim2-k">
            <a:extLst>
              <a:ext uri="{FF2B5EF4-FFF2-40B4-BE49-F238E27FC236}">
                <a16:creationId xmlns:a16="http://schemas.microsoft.com/office/drawing/2014/main" id="{AB21CBC5-7DB4-C41C-FD6B-EFBAAABA8342}"/>
              </a:ext>
            </a:extLst>
          </p:cNvPr>
          <p:cNvSpPr txBox="1"/>
          <p:nvPr/>
        </p:nvSpPr>
        <p:spPr>
          <a:xfrm>
            <a:off x="5943600" y="5562600"/>
            <a:ext cx="812800" cy="276999"/>
          </a:xfrm>
          <a:prstGeom prst="rect">
            <a:avLst/>
          </a:prstGeom>
          <a:noFill/>
        </p:spPr>
        <p:txBody>
          <a:bodyPr vert="horz" wrap="square" lIns="0" tIns="0" rIns="0" bIns="0" rtlCol="0">
            <a:noAutofit/>
          </a:bodyPr>
          <a:lstStyle/>
          <a:p>
            <a:r>
              <a:rPr lang="en-US" altLang="zh-CN" sz="980" b="1">
                <a:solidFill>
                  <a:srgbClr val="071837"/>
                </a:solidFill>
                <a:latin typeface="Aptos" panose="020B0004020202020204" pitchFamily="34" charset="0"/>
              </a:rPr>
              <a:t>sources</a:t>
            </a:r>
            <a:endParaRPr lang="zh-CN" altLang="en-US" sz="980" b="1">
              <a:solidFill>
                <a:srgbClr val="071837"/>
              </a:solidFill>
              <a:latin typeface="Aptos" panose="020B0004020202020204" pitchFamily="34" charset="0"/>
            </a:endParaRPr>
          </a:p>
        </p:txBody>
      </p:sp>
      <p:sp>
        <p:nvSpPr>
          <p:cNvPr id="35" name="dim2-l">
            <a:extLst>
              <a:ext uri="{FF2B5EF4-FFF2-40B4-BE49-F238E27FC236}">
                <a16:creationId xmlns:a16="http://schemas.microsoft.com/office/drawing/2014/main" id="{62861CA6-9E84-E129-C3BF-C94D434B6102}"/>
              </a:ext>
            </a:extLst>
          </p:cNvPr>
          <p:cNvSpPr txBox="1"/>
          <p:nvPr/>
        </p:nvSpPr>
        <p:spPr>
          <a:xfrm>
            <a:off x="5943600" y="5803900"/>
            <a:ext cx="812800" cy="276999"/>
          </a:xfrm>
          <a:prstGeom prst="rect">
            <a:avLst/>
          </a:prstGeom>
          <a:noFill/>
        </p:spPr>
        <p:txBody>
          <a:bodyPr vert="horz" wrap="square" lIns="0" tIns="0" rIns="0" bIns="0" rtlCol="0">
            <a:noAutofit/>
          </a:bodyPr>
          <a:lstStyle/>
          <a:p>
            <a:r>
              <a:rPr lang="en-US" altLang="zh-CN" sz="880" b="1">
                <a:solidFill>
                  <a:srgbClr val="52617A"/>
                </a:solidFill>
                <a:latin typeface="Aptos" panose="020B0004020202020204" pitchFamily="34" charset="0"/>
              </a:rPr>
              <a:t>evaluation axis</a:t>
            </a:r>
            <a:endParaRPr lang="zh-CN" altLang="en-US" sz="880" b="1">
              <a:solidFill>
                <a:srgbClr val="52617A"/>
              </a:solidFill>
              <a:latin typeface="Aptos" panose="020B0004020202020204" pitchFamily="34" charset="0"/>
            </a:endParaRPr>
          </a:p>
        </p:txBody>
      </p:sp>
      <p:sp>
        <p:nvSpPr>
          <p:cNvPr id="36" name="dim3-box">
            <a:extLst>
              <a:ext uri="{FF2B5EF4-FFF2-40B4-BE49-F238E27FC236}">
                <a16:creationId xmlns:a16="http://schemas.microsoft.com/office/drawing/2014/main" id="{880EBC49-DB06-6919-1947-FBA208DDE8A0}"/>
              </a:ext>
            </a:extLst>
          </p:cNvPr>
          <p:cNvSpPr/>
          <p:nvPr/>
        </p:nvSpPr>
        <p:spPr>
          <a:xfrm>
            <a:off x="7315200" y="5461000"/>
            <a:ext cx="1701800" cy="60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dim3-stripe">
            <a:extLst>
              <a:ext uri="{FF2B5EF4-FFF2-40B4-BE49-F238E27FC236}">
                <a16:creationId xmlns:a16="http://schemas.microsoft.com/office/drawing/2014/main" id="{2EF0738F-3EAB-02CC-6277-D061537CD2AD}"/>
              </a:ext>
            </a:extLst>
          </p:cNvPr>
          <p:cNvSpPr/>
          <p:nvPr/>
        </p:nvSpPr>
        <p:spPr>
          <a:xfrm>
            <a:off x="7315200" y="5461000"/>
            <a:ext cx="101600" cy="6096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dim3-v">
            <a:extLst>
              <a:ext uri="{FF2B5EF4-FFF2-40B4-BE49-F238E27FC236}">
                <a16:creationId xmlns:a16="http://schemas.microsoft.com/office/drawing/2014/main" id="{30CB6C64-C6AC-472C-E6DB-030F28412FE4}"/>
              </a:ext>
            </a:extLst>
          </p:cNvPr>
          <p:cNvSpPr txBox="1"/>
          <p:nvPr/>
        </p:nvSpPr>
        <p:spPr>
          <a:xfrm>
            <a:off x="7543800" y="5588000"/>
            <a:ext cx="431800" cy="276999"/>
          </a:xfrm>
          <a:prstGeom prst="rect">
            <a:avLst/>
          </a:prstGeom>
          <a:noFill/>
        </p:spPr>
        <p:txBody>
          <a:bodyPr vert="horz" wrap="square" lIns="0" tIns="0" rIns="0" bIns="0" rtlCol="0">
            <a:noAutofit/>
          </a:bodyPr>
          <a:lstStyle/>
          <a:p>
            <a:pPr algn="ctr"/>
            <a:r>
              <a:rPr lang="en-US" altLang="zh-CN" sz="1950" b="1">
                <a:solidFill>
                  <a:srgbClr val="003B7A"/>
                </a:solidFill>
                <a:latin typeface="Aptos" panose="020B0004020202020204" pitchFamily="34" charset="0"/>
              </a:rPr>
              <a:t>5</a:t>
            </a:r>
            <a:endParaRPr lang="zh-CN" altLang="en-US" sz="1950" b="1">
              <a:solidFill>
                <a:srgbClr val="003B7A"/>
              </a:solidFill>
              <a:latin typeface="Aptos" panose="020B0004020202020204" pitchFamily="34" charset="0"/>
            </a:endParaRPr>
          </a:p>
        </p:txBody>
      </p:sp>
      <p:sp>
        <p:nvSpPr>
          <p:cNvPr id="39" name="dim3-k">
            <a:extLst>
              <a:ext uri="{FF2B5EF4-FFF2-40B4-BE49-F238E27FC236}">
                <a16:creationId xmlns:a16="http://schemas.microsoft.com/office/drawing/2014/main" id="{48A82977-FA4B-05B7-A9A0-3E5DCCB4595F}"/>
              </a:ext>
            </a:extLst>
          </p:cNvPr>
          <p:cNvSpPr txBox="1"/>
          <p:nvPr/>
        </p:nvSpPr>
        <p:spPr>
          <a:xfrm>
            <a:off x="8051800" y="5562600"/>
            <a:ext cx="812800" cy="276999"/>
          </a:xfrm>
          <a:prstGeom prst="rect">
            <a:avLst/>
          </a:prstGeom>
          <a:noFill/>
        </p:spPr>
        <p:txBody>
          <a:bodyPr vert="horz" wrap="square" lIns="0" tIns="0" rIns="0" bIns="0" rtlCol="0">
            <a:noAutofit/>
          </a:bodyPr>
          <a:lstStyle/>
          <a:p>
            <a:r>
              <a:rPr lang="en-US" altLang="zh-CN" sz="980" b="1">
                <a:solidFill>
                  <a:srgbClr val="071837"/>
                </a:solidFill>
                <a:latin typeface="Aptos" panose="020B0004020202020204" pitchFamily="34" charset="0"/>
              </a:rPr>
              <a:t>languages</a:t>
            </a:r>
            <a:endParaRPr lang="zh-CN" altLang="en-US" sz="980" b="1">
              <a:solidFill>
                <a:srgbClr val="071837"/>
              </a:solidFill>
              <a:latin typeface="Aptos" panose="020B0004020202020204" pitchFamily="34" charset="0"/>
            </a:endParaRPr>
          </a:p>
        </p:txBody>
      </p:sp>
      <p:sp>
        <p:nvSpPr>
          <p:cNvPr id="40" name="dim3-l">
            <a:extLst>
              <a:ext uri="{FF2B5EF4-FFF2-40B4-BE49-F238E27FC236}">
                <a16:creationId xmlns:a16="http://schemas.microsoft.com/office/drawing/2014/main" id="{FA20E0AD-5BA8-7432-3AC2-E66FDD548DB8}"/>
              </a:ext>
            </a:extLst>
          </p:cNvPr>
          <p:cNvSpPr txBox="1"/>
          <p:nvPr/>
        </p:nvSpPr>
        <p:spPr>
          <a:xfrm>
            <a:off x="8051800" y="5803900"/>
            <a:ext cx="812800" cy="276999"/>
          </a:xfrm>
          <a:prstGeom prst="rect">
            <a:avLst/>
          </a:prstGeom>
          <a:noFill/>
        </p:spPr>
        <p:txBody>
          <a:bodyPr vert="horz" wrap="square" lIns="0" tIns="0" rIns="0" bIns="0" rtlCol="0">
            <a:noAutofit/>
          </a:bodyPr>
          <a:lstStyle/>
          <a:p>
            <a:r>
              <a:rPr lang="en-US" altLang="zh-CN" sz="880" b="1">
                <a:solidFill>
                  <a:srgbClr val="52617A"/>
                </a:solidFill>
                <a:latin typeface="Aptos" panose="020B0004020202020204" pitchFamily="34" charset="0"/>
              </a:rPr>
              <a:t>evaluation axis</a:t>
            </a:r>
            <a:endParaRPr lang="zh-CN" altLang="en-US" sz="880" b="1">
              <a:solidFill>
                <a:srgbClr val="52617A"/>
              </a:solidFill>
              <a:latin typeface="Aptos" panose="020B0004020202020204" pitchFamily="34" charset="0"/>
            </a:endParaRPr>
          </a:p>
        </p:txBody>
      </p:sp>
      <p:sp>
        <p:nvSpPr>
          <p:cNvPr id="41" name="dim4-box">
            <a:extLst>
              <a:ext uri="{FF2B5EF4-FFF2-40B4-BE49-F238E27FC236}">
                <a16:creationId xmlns:a16="http://schemas.microsoft.com/office/drawing/2014/main" id="{D3B73AB7-21BA-681E-379B-6A3BC44F86DB}"/>
              </a:ext>
            </a:extLst>
          </p:cNvPr>
          <p:cNvSpPr/>
          <p:nvPr/>
        </p:nvSpPr>
        <p:spPr>
          <a:xfrm>
            <a:off x="9423400" y="5461000"/>
            <a:ext cx="1701800" cy="60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dim4-stripe">
            <a:extLst>
              <a:ext uri="{FF2B5EF4-FFF2-40B4-BE49-F238E27FC236}">
                <a16:creationId xmlns:a16="http://schemas.microsoft.com/office/drawing/2014/main" id="{009EDDAB-D05D-E0F6-782E-97C35F1F67B4}"/>
              </a:ext>
            </a:extLst>
          </p:cNvPr>
          <p:cNvSpPr/>
          <p:nvPr/>
        </p:nvSpPr>
        <p:spPr>
          <a:xfrm>
            <a:off x="9423400" y="5461000"/>
            <a:ext cx="101600" cy="6096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dim4-v">
            <a:extLst>
              <a:ext uri="{FF2B5EF4-FFF2-40B4-BE49-F238E27FC236}">
                <a16:creationId xmlns:a16="http://schemas.microsoft.com/office/drawing/2014/main" id="{DEEB8A4E-D72A-0272-E9EC-72A977D0D792}"/>
              </a:ext>
            </a:extLst>
          </p:cNvPr>
          <p:cNvSpPr txBox="1"/>
          <p:nvPr/>
        </p:nvSpPr>
        <p:spPr>
          <a:xfrm>
            <a:off x="9652000" y="5588000"/>
            <a:ext cx="431800" cy="276999"/>
          </a:xfrm>
          <a:prstGeom prst="rect">
            <a:avLst/>
          </a:prstGeom>
          <a:noFill/>
        </p:spPr>
        <p:txBody>
          <a:bodyPr vert="horz" wrap="square" lIns="0" tIns="0" rIns="0" bIns="0" rtlCol="0">
            <a:noAutofit/>
          </a:bodyPr>
          <a:lstStyle/>
          <a:p>
            <a:pPr algn="ctr"/>
            <a:r>
              <a:rPr lang="en-US" altLang="zh-CN" sz="1950" b="1">
                <a:solidFill>
                  <a:srgbClr val="003B7A"/>
                </a:solidFill>
                <a:latin typeface="Aptos" panose="020B0004020202020204" pitchFamily="34" charset="0"/>
              </a:rPr>
              <a:t>7</a:t>
            </a:r>
            <a:endParaRPr lang="zh-CN" altLang="en-US" sz="1950" b="1">
              <a:solidFill>
                <a:srgbClr val="003B7A"/>
              </a:solidFill>
              <a:latin typeface="Aptos" panose="020B0004020202020204" pitchFamily="34" charset="0"/>
            </a:endParaRPr>
          </a:p>
        </p:txBody>
      </p:sp>
      <p:sp>
        <p:nvSpPr>
          <p:cNvPr id="44" name="dim4-k">
            <a:extLst>
              <a:ext uri="{FF2B5EF4-FFF2-40B4-BE49-F238E27FC236}">
                <a16:creationId xmlns:a16="http://schemas.microsoft.com/office/drawing/2014/main" id="{EEA0EAA6-211D-3D83-F14A-D7B7DBCAAE2A}"/>
              </a:ext>
            </a:extLst>
          </p:cNvPr>
          <p:cNvSpPr txBox="1"/>
          <p:nvPr/>
        </p:nvSpPr>
        <p:spPr>
          <a:xfrm>
            <a:off x="10160000" y="5562600"/>
            <a:ext cx="812800" cy="276999"/>
          </a:xfrm>
          <a:prstGeom prst="rect">
            <a:avLst/>
          </a:prstGeom>
          <a:noFill/>
        </p:spPr>
        <p:txBody>
          <a:bodyPr vert="horz" wrap="square" lIns="0" tIns="0" rIns="0" bIns="0" rtlCol="0">
            <a:noAutofit/>
          </a:bodyPr>
          <a:lstStyle/>
          <a:p>
            <a:r>
              <a:rPr lang="en-US" altLang="zh-CN" sz="980" b="1">
                <a:solidFill>
                  <a:srgbClr val="071837"/>
                </a:solidFill>
                <a:latin typeface="Aptos" panose="020B0004020202020204" pitchFamily="34" charset="0"/>
              </a:rPr>
              <a:t>attacks</a:t>
            </a:r>
            <a:endParaRPr lang="zh-CN" altLang="en-US" sz="980" b="1">
              <a:solidFill>
                <a:srgbClr val="071837"/>
              </a:solidFill>
              <a:latin typeface="Aptos" panose="020B0004020202020204" pitchFamily="34" charset="0"/>
            </a:endParaRPr>
          </a:p>
        </p:txBody>
      </p:sp>
      <p:sp>
        <p:nvSpPr>
          <p:cNvPr id="45" name="dim4-l">
            <a:extLst>
              <a:ext uri="{FF2B5EF4-FFF2-40B4-BE49-F238E27FC236}">
                <a16:creationId xmlns:a16="http://schemas.microsoft.com/office/drawing/2014/main" id="{9CC266BB-0BEA-F0CA-1DDA-2BE33FBA4979}"/>
              </a:ext>
            </a:extLst>
          </p:cNvPr>
          <p:cNvSpPr txBox="1"/>
          <p:nvPr/>
        </p:nvSpPr>
        <p:spPr>
          <a:xfrm>
            <a:off x="10160000" y="5803900"/>
            <a:ext cx="812800" cy="276999"/>
          </a:xfrm>
          <a:prstGeom prst="rect">
            <a:avLst/>
          </a:prstGeom>
          <a:noFill/>
        </p:spPr>
        <p:txBody>
          <a:bodyPr vert="horz" wrap="square" lIns="0" tIns="0" rIns="0" bIns="0" rtlCol="0">
            <a:noAutofit/>
          </a:bodyPr>
          <a:lstStyle/>
          <a:p>
            <a:r>
              <a:rPr lang="en-US" altLang="zh-CN" sz="880" b="1">
                <a:solidFill>
                  <a:srgbClr val="52617A"/>
                </a:solidFill>
                <a:latin typeface="Aptos" panose="020B0004020202020204" pitchFamily="34" charset="0"/>
              </a:rPr>
              <a:t>evaluation axis</a:t>
            </a:r>
            <a:endParaRPr lang="zh-CN" altLang="en-US" sz="880" b="1">
              <a:solidFill>
                <a:srgbClr val="52617A"/>
              </a:solidFill>
              <a:latin typeface="Aptos" panose="020B0004020202020204" pitchFamily="34" charset="0"/>
            </a:endParaRPr>
          </a:p>
        </p:txBody>
      </p:sp>
      <p:sp>
        <p:nvSpPr>
          <p:cNvPr id="46" name="footer-hit-6">
            <a:hlinkClick r:id="rId5"/>
            <a:extLst>
              <a:ext uri="{FF2B5EF4-FFF2-40B4-BE49-F238E27FC236}">
                <a16:creationId xmlns:a16="http://schemas.microsoft.com/office/drawing/2014/main" id="{5C02F20D-FA4E-1A7C-7D58-95627617B2D7}"/>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11852392"/>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160"/>
                                        <p:tgtEl>
                                          <p:spTgt spid="20"/>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160"/>
                                        <p:tgtEl>
                                          <p:spTgt spid="21"/>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160"/>
                                        <p:tgtEl>
                                          <p:spTgt spid="22"/>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160"/>
                                        <p:tgtEl>
                                          <p:spTgt spid="23"/>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160"/>
                                        <p:tgtEl>
                                          <p:spTgt spid="24"/>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160"/>
                                        <p:tgtEl>
                                          <p:spTgt spid="25"/>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160"/>
                                        <p:tgtEl>
                                          <p:spTgt spid="26"/>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160"/>
                                        <p:tgtEl>
                                          <p:spTgt spid="27"/>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160"/>
                                        <p:tgtEl>
                                          <p:spTgt spid="28"/>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9"/>
                                        </p:tgtEl>
                                        <p:attrNameLst>
                                          <p:attrName>style.visibility</p:attrName>
                                        </p:attrNameLst>
                                      </p:cBhvr>
                                      <p:to>
                                        <p:strVal val="visible"/>
                                      </p:to>
                                    </p:set>
                                    <p:animEffect transition="in" filter="fade">
                                      <p:cBhvr>
                                        <p:cTn id="63" dur="160"/>
                                        <p:tgtEl>
                                          <p:spTgt spid="29"/>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160"/>
                                        <p:tgtEl>
                                          <p:spTgt spid="30"/>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160"/>
                                        <p:tgtEl>
                                          <p:spTgt spid="31"/>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160"/>
                                        <p:tgtEl>
                                          <p:spTgt spid="32"/>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160"/>
                                        <p:tgtEl>
                                          <p:spTgt spid="33"/>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4"/>
                                        </p:tgtEl>
                                        <p:attrNameLst>
                                          <p:attrName>style.visibility</p:attrName>
                                        </p:attrNameLst>
                                      </p:cBhvr>
                                      <p:to>
                                        <p:strVal val="visible"/>
                                      </p:to>
                                    </p:set>
                                    <p:animEffect transition="in" filter="fade">
                                      <p:cBhvr>
                                        <p:cTn id="83" dur="160"/>
                                        <p:tgtEl>
                                          <p:spTgt spid="34"/>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160"/>
                                        <p:tgtEl>
                                          <p:spTgt spid="35"/>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6"/>
                                        </p:tgtEl>
                                        <p:attrNameLst>
                                          <p:attrName>style.visibility</p:attrName>
                                        </p:attrNameLst>
                                      </p:cBhvr>
                                      <p:to>
                                        <p:strVal val="visible"/>
                                      </p:to>
                                    </p:set>
                                    <p:animEffect transition="in" filter="fade">
                                      <p:cBhvr>
                                        <p:cTn id="91" dur="160"/>
                                        <p:tgtEl>
                                          <p:spTgt spid="36"/>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160"/>
                                        <p:tgtEl>
                                          <p:spTgt spid="37"/>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160"/>
                                        <p:tgtEl>
                                          <p:spTgt spid="38"/>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9"/>
                                        </p:tgtEl>
                                        <p:attrNameLst>
                                          <p:attrName>style.visibility</p:attrName>
                                        </p:attrNameLst>
                                      </p:cBhvr>
                                      <p:to>
                                        <p:strVal val="visible"/>
                                      </p:to>
                                    </p:set>
                                    <p:animEffect transition="in" filter="fade">
                                      <p:cBhvr>
                                        <p:cTn id="103" dur="160"/>
                                        <p:tgtEl>
                                          <p:spTgt spid="39"/>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40"/>
                                        </p:tgtEl>
                                        <p:attrNameLst>
                                          <p:attrName>style.visibility</p:attrName>
                                        </p:attrNameLst>
                                      </p:cBhvr>
                                      <p:to>
                                        <p:strVal val="visible"/>
                                      </p:to>
                                    </p:set>
                                    <p:animEffect transition="in" filter="fade">
                                      <p:cBhvr>
                                        <p:cTn id="107" dur="160"/>
                                        <p:tgtEl>
                                          <p:spTgt spid="40"/>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1"/>
                                        </p:tgtEl>
                                        <p:attrNameLst>
                                          <p:attrName>style.visibility</p:attrName>
                                        </p:attrNameLst>
                                      </p:cBhvr>
                                      <p:to>
                                        <p:strVal val="visible"/>
                                      </p:to>
                                    </p:set>
                                    <p:animEffect transition="in" filter="fade">
                                      <p:cBhvr>
                                        <p:cTn id="111" dur="160"/>
                                        <p:tgtEl>
                                          <p:spTgt spid="41"/>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2"/>
                                        </p:tgtEl>
                                        <p:attrNameLst>
                                          <p:attrName>style.visibility</p:attrName>
                                        </p:attrNameLst>
                                      </p:cBhvr>
                                      <p:to>
                                        <p:strVal val="visible"/>
                                      </p:to>
                                    </p:set>
                                    <p:animEffect transition="in" filter="fade">
                                      <p:cBhvr>
                                        <p:cTn id="115" dur="160"/>
                                        <p:tgtEl>
                                          <p:spTgt spid="42"/>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3"/>
                                        </p:tgtEl>
                                        <p:attrNameLst>
                                          <p:attrName>style.visibility</p:attrName>
                                        </p:attrNameLst>
                                      </p:cBhvr>
                                      <p:to>
                                        <p:strVal val="visible"/>
                                      </p:to>
                                    </p:set>
                                    <p:animEffect transition="in" filter="fade">
                                      <p:cBhvr>
                                        <p:cTn id="119" dur="160"/>
                                        <p:tgtEl>
                                          <p:spTgt spid="43"/>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160"/>
                                        <p:tgtEl>
                                          <p:spTgt spid="44"/>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5"/>
                                        </p:tgtEl>
                                        <p:attrNameLst>
                                          <p:attrName>style.visibility</p:attrName>
                                        </p:attrNameLst>
                                      </p:cBhvr>
                                      <p:to>
                                        <p:strVal val="visible"/>
                                      </p:to>
                                    </p:set>
                                    <p:animEffect transition="in" filter="fade">
                                      <p:cBhvr>
                                        <p:cTn id="127" dur="16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7" grpId="0" animBg="1"/>
      <p:bldP spid="20" grpId="0"/>
      <p:bldP spid="21" grpId="0" animBg="1"/>
      <p:bldP spid="22" grpId="0" animBg="1"/>
      <p:bldP spid="23" grpId="0"/>
      <p:bldP spid="24" grpId="0"/>
      <p:bldP spid="25" grpId="0"/>
      <p:bldP spid="26" grpId="0" animBg="1"/>
      <p:bldP spid="27" grpId="0" animBg="1"/>
      <p:bldP spid="28" grpId="0"/>
      <p:bldP spid="29" grpId="0"/>
      <p:bldP spid="30" grpId="0"/>
      <p:bldP spid="31" grpId="0" animBg="1"/>
      <p:bldP spid="32" grpId="0" animBg="1"/>
      <p:bldP spid="33" grpId="0"/>
      <p:bldP spid="34" grpId="0"/>
      <p:bldP spid="35" grpId="0"/>
      <p:bldP spid="36" grpId="0" animBg="1"/>
      <p:bldP spid="37" grpId="0" animBg="1"/>
      <p:bldP spid="38" grpId="0"/>
      <p:bldP spid="39" grpId="0"/>
      <p:bldP spid="40" grpId="0"/>
      <p:bldP spid="41" grpId="0" animBg="1"/>
      <p:bldP spid="42" grpId="0" animBg="1"/>
      <p:bldP spid="43" grpId="0"/>
      <p:bldP spid="44" grpId="0"/>
      <p:bldP spid="4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2850C38B-F22A-8D8B-A3EC-6CAFE68F7472}"/>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2390EB02-D969-11DD-ADE7-F630B956C192}"/>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F66662D8-1ACC-4FD9-0FCF-109F070C10A8}"/>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SEMCODEBOOK</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D93F42F1-EFBF-CF11-2414-5CF007684A65}"/>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07</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A38100D7-579D-A50B-9EFE-9158F4B57071}"/>
              </a:ext>
            </a:extLst>
          </p:cNvPr>
          <p:cNvCxnSpPr/>
          <p:nvPr/>
        </p:nvCxnSpPr>
        <p:spPr>
          <a:xfrm>
            <a:off x="736600" y="19558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087CEF1D-22A7-562F-5C12-852C21F8D458}"/>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99CA32EF-51EF-D905-202D-9C85C08FD6A9}"/>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993DFEFB-3604-3650-7135-571D03D53E2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2BE6309E-BF7D-623C-0B41-8CF6681DC123}"/>
              </a:ext>
            </a:extLst>
          </p:cNvPr>
          <p:cNvSpPr txBox="1"/>
          <p:nvPr/>
        </p:nvSpPr>
        <p:spPr>
          <a:xfrm>
            <a:off x="736600" y="711200"/>
            <a:ext cx="10795000" cy="276999"/>
          </a:xfrm>
          <a:prstGeom prst="rect">
            <a:avLst/>
          </a:prstGeom>
          <a:noFill/>
        </p:spPr>
        <p:txBody>
          <a:bodyPr vert="horz" wrap="square" lIns="0" tIns="0" rIns="0" bIns="0" rtlCol="0">
            <a:noAutofit/>
          </a:bodyPr>
          <a:lstStyle/>
          <a:p>
            <a:r>
              <a:rPr lang="en-US" altLang="zh-CN" sz="3000" b="1">
                <a:solidFill>
                  <a:srgbClr val="071837"/>
                </a:solidFill>
                <a:latin typeface="Aptos" panose="020B0004020202020204" pitchFamily="34" charset="0"/>
              </a:rPr>
              <a:t>White-box provenance is strong after zero controls.</a:t>
            </a:r>
            <a:endParaRPr lang="zh-CN" altLang="en-US" sz="300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70084642-3146-76F5-B45D-04F0D3FDD441}"/>
              </a:ext>
            </a:extLst>
          </p:cNvPr>
          <p:cNvSpPr txBox="1"/>
          <p:nvPr/>
        </p:nvSpPr>
        <p:spPr>
          <a:xfrm>
            <a:off x="787400" y="1473200"/>
            <a:ext cx="10287000" cy="276999"/>
          </a:xfrm>
          <a:prstGeom prst="rect">
            <a:avLst/>
          </a:prstGeom>
          <a:noFill/>
        </p:spPr>
        <p:txBody>
          <a:bodyPr vert="horz" wrap="square" lIns="0" tIns="0" rIns="0" bIns="0" rtlCol="0">
            <a:noAutofit/>
          </a:bodyPr>
          <a:lstStyle/>
          <a:p>
            <a:r>
              <a:rPr lang="en-US" altLang="zh-CN" sz="1220">
                <a:solidFill>
                  <a:srgbClr val="52617A"/>
                </a:solidFill>
                <a:latin typeface="Aptos" panose="020B0004020202020204" pitchFamily="34" charset="0"/>
              </a:rPr>
              <a:t>The continuation result improves recovery while keeping fixed and blind negative controls clean.</a:t>
            </a:r>
            <a:endParaRPr lang="zh-CN" altLang="en-US" sz="1220">
              <a:solidFill>
                <a:srgbClr val="52617A"/>
              </a:solidFill>
              <a:latin typeface="Aptos" panose="020B0004020202020204" pitchFamily="34" charset="0"/>
            </a:endParaRPr>
          </a:p>
        </p:txBody>
      </p:sp>
      <p:sp>
        <p:nvSpPr>
          <p:cNvPr id="13" name="sem-pos-label">
            <a:extLst>
              <a:ext uri="{FF2B5EF4-FFF2-40B4-BE49-F238E27FC236}">
                <a16:creationId xmlns:a16="http://schemas.microsoft.com/office/drawing/2014/main" id="{95AA5CE4-E05E-0A0A-E24A-2233B0982320}"/>
              </a:ext>
            </a:extLst>
          </p:cNvPr>
          <p:cNvSpPr txBox="1"/>
          <p:nvPr/>
        </p:nvSpPr>
        <p:spPr>
          <a:xfrm>
            <a:off x="1117600" y="23495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positive recovery</a:t>
            </a:r>
            <a:endParaRPr lang="zh-CN" altLang="en-US" sz="1320" b="1">
              <a:solidFill>
                <a:srgbClr val="071837"/>
              </a:solidFill>
              <a:latin typeface="Aptos" panose="020B0004020202020204" pitchFamily="34" charset="0"/>
            </a:endParaRPr>
          </a:p>
        </p:txBody>
      </p:sp>
      <p:sp>
        <p:nvSpPr>
          <p:cNvPr id="14" name="sem-pos-track">
            <a:extLst>
              <a:ext uri="{FF2B5EF4-FFF2-40B4-BE49-F238E27FC236}">
                <a16:creationId xmlns:a16="http://schemas.microsoft.com/office/drawing/2014/main" id="{3B75DA8B-F8E7-E5E1-B58E-0AAEFEBC9CDC}"/>
              </a:ext>
            </a:extLst>
          </p:cNvPr>
          <p:cNvSpPr/>
          <p:nvPr/>
        </p:nvSpPr>
        <p:spPr>
          <a:xfrm>
            <a:off x="3632200" y="2387600"/>
            <a:ext cx="5461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sem-pos-bar">
            <a:extLst>
              <a:ext uri="{FF2B5EF4-FFF2-40B4-BE49-F238E27FC236}">
                <a16:creationId xmlns:a16="http://schemas.microsoft.com/office/drawing/2014/main" id="{570396C1-98E1-F926-17BB-C835EC737B4E}"/>
              </a:ext>
            </a:extLst>
          </p:cNvPr>
          <p:cNvSpPr/>
          <p:nvPr/>
        </p:nvSpPr>
        <p:spPr>
          <a:xfrm>
            <a:off x="3632200" y="2387600"/>
            <a:ext cx="5461000" cy="177800"/>
          </a:xfrm>
          <a:prstGeom prst="roundRect">
            <a:avLst>
              <a:gd name="adj" fmla="val 14000"/>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sem-pos-value">
            <a:extLst>
              <a:ext uri="{FF2B5EF4-FFF2-40B4-BE49-F238E27FC236}">
                <a16:creationId xmlns:a16="http://schemas.microsoft.com/office/drawing/2014/main" id="{0BA51187-F590-B8D4-83A6-EF10A6A9CB8B}"/>
              </a:ext>
            </a:extLst>
          </p:cNvPr>
          <p:cNvSpPr txBox="1"/>
          <p:nvPr/>
        </p:nvSpPr>
        <p:spPr>
          <a:xfrm>
            <a:off x="9245600" y="2336800"/>
            <a:ext cx="1524000" cy="276999"/>
          </a:xfrm>
          <a:prstGeom prst="rect">
            <a:avLst/>
          </a:prstGeom>
          <a:noFill/>
        </p:spPr>
        <p:txBody>
          <a:bodyPr vert="horz" wrap="square" lIns="0" tIns="0" rIns="0" bIns="0" rtlCol="0">
            <a:noAutofit/>
          </a:bodyPr>
          <a:lstStyle/>
          <a:p>
            <a:r>
              <a:rPr lang="en-US" altLang="zh-CN" sz="1300" b="1">
                <a:solidFill>
                  <a:srgbClr val="168E8B"/>
                </a:solidFill>
                <a:latin typeface="Aptos" panose="020B0004020202020204" pitchFamily="34" charset="0"/>
              </a:rPr>
              <a:t>30,330 / 31,200</a:t>
            </a:r>
            <a:endParaRPr lang="zh-CN" altLang="en-US" sz="1300" b="1">
              <a:solidFill>
                <a:srgbClr val="168E8B"/>
              </a:solidFill>
              <a:latin typeface="Aptos" panose="020B0004020202020204" pitchFamily="34" charset="0"/>
            </a:endParaRPr>
          </a:p>
        </p:txBody>
      </p:sp>
      <p:sp>
        <p:nvSpPr>
          <p:cNvPr id="17" name="sem-pos-cap">
            <a:extLst>
              <a:ext uri="{FF2B5EF4-FFF2-40B4-BE49-F238E27FC236}">
                <a16:creationId xmlns:a16="http://schemas.microsoft.com/office/drawing/2014/main" id="{DA3B1FE2-7AB0-7B37-4CAE-0D41403F8ACA}"/>
              </a:ext>
            </a:extLst>
          </p:cNvPr>
          <p:cNvSpPr txBox="1"/>
          <p:nvPr/>
        </p:nvSpPr>
        <p:spPr>
          <a:xfrm>
            <a:off x="1117600" y="2628900"/>
            <a:ext cx="8763000" cy="276999"/>
          </a:xfrm>
          <a:prstGeom prst="rect">
            <a:avLst/>
          </a:prstGeom>
          <a:noFill/>
        </p:spPr>
        <p:txBody>
          <a:bodyPr vert="horz" wrap="square" lIns="0" tIns="0" rIns="0" bIns="0" rtlCol="0">
            <a:noAutofit/>
          </a:bodyPr>
          <a:lstStyle/>
          <a:p>
            <a:r>
              <a:rPr lang="en-US" altLang="zh-CN" sz="950">
                <a:solidFill>
                  <a:srgbClr val="52617A"/>
                </a:solidFill>
                <a:latin typeface="Aptos" panose="020B0004020202020204" pitchFamily="34" charset="0"/>
              </a:rPr>
              <a:t>submitted FYP snapshot: 23,342 / 24,000</a:t>
            </a:r>
            <a:endParaRPr lang="zh-CN" altLang="en-US" sz="950">
              <a:solidFill>
                <a:srgbClr val="52617A"/>
              </a:solidFill>
              <a:latin typeface="Aptos" panose="020B0004020202020204" pitchFamily="34" charset="0"/>
            </a:endParaRPr>
          </a:p>
        </p:txBody>
      </p:sp>
      <p:sp>
        <p:nvSpPr>
          <p:cNvPr id="18" name="sem-neg1-label">
            <a:extLst>
              <a:ext uri="{FF2B5EF4-FFF2-40B4-BE49-F238E27FC236}">
                <a16:creationId xmlns:a16="http://schemas.microsoft.com/office/drawing/2014/main" id="{E2B952BD-0F2B-B645-D694-A5C172849546}"/>
              </a:ext>
            </a:extLst>
          </p:cNvPr>
          <p:cNvSpPr txBox="1"/>
          <p:nvPr/>
        </p:nvSpPr>
        <p:spPr>
          <a:xfrm>
            <a:off x="1117600" y="31369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fixed controls</a:t>
            </a:r>
            <a:endParaRPr lang="zh-CN" altLang="en-US" sz="1320" b="1">
              <a:solidFill>
                <a:srgbClr val="071837"/>
              </a:solidFill>
              <a:latin typeface="Aptos" panose="020B0004020202020204" pitchFamily="34" charset="0"/>
            </a:endParaRPr>
          </a:p>
        </p:txBody>
      </p:sp>
      <p:sp>
        <p:nvSpPr>
          <p:cNvPr id="19" name="sem-neg1-track">
            <a:extLst>
              <a:ext uri="{FF2B5EF4-FFF2-40B4-BE49-F238E27FC236}">
                <a16:creationId xmlns:a16="http://schemas.microsoft.com/office/drawing/2014/main" id="{C6066806-B45E-AF6D-2509-1D5E640E2E63}"/>
              </a:ext>
            </a:extLst>
          </p:cNvPr>
          <p:cNvSpPr/>
          <p:nvPr/>
        </p:nvSpPr>
        <p:spPr>
          <a:xfrm>
            <a:off x="3632200" y="3175000"/>
            <a:ext cx="5461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em-neg1-bar">
            <a:extLst>
              <a:ext uri="{FF2B5EF4-FFF2-40B4-BE49-F238E27FC236}">
                <a16:creationId xmlns:a16="http://schemas.microsoft.com/office/drawing/2014/main" id="{D6FB65B6-BC5C-5CBA-F3B6-8E7BBC38F8D4}"/>
              </a:ext>
            </a:extLst>
          </p:cNvPr>
          <p:cNvSpPr/>
          <p:nvPr/>
        </p:nvSpPr>
        <p:spPr>
          <a:xfrm>
            <a:off x="3632200" y="3175000"/>
            <a:ext cx="25400" cy="177800"/>
          </a:xfrm>
          <a:prstGeom prst="roundRect">
            <a:avLst>
              <a:gd name="adj" fmla="val 14000"/>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sem-neg1-value">
            <a:extLst>
              <a:ext uri="{FF2B5EF4-FFF2-40B4-BE49-F238E27FC236}">
                <a16:creationId xmlns:a16="http://schemas.microsoft.com/office/drawing/2014/main" id="{1CB94F73-7BBE-76FB-98C5-4BC6822E15FA}"/>
              </a:ext>
            </a:extLst>
          </p:cNvPr>
          <p:cNvSpPr txBox="1"/>
          <p:nvPr/>
        </p:nvSpPr>
        <p:spPr>
          <a:xfrm>
            <a:off x="9245600" y="3124200"/>
            <a:ext cx="1524000" cy="276999"/>
          </a:xfrm>
          <a:prstGeom prst="rect">
            <a:avLst/>
          </a:prstGeom>
          <a:noFill/>
        </p:spPr>
        <p:txBody>
          <a:bodyPr vert="horz" wrap="square" lIns="0" tIns="0" rIns="0" bIns="0" rtlCol="0">
            <a:noAutofit/>
          </a:bodyPr>
          <a:lstStyle/>
          <a:p>
            <a:r>
              <a:rPr lang="en-US" altLang="zh-CN" sz="1300" b="1">
                <a:solidFill>
                  <a:srgbClr val="1F7A4D"/>
                </a:solidFill>
                <a:latin typeface="Aptos" panose="020B0004020202020204" pitchFamily="34" charset="0"/>
              </a:rPr>
              <a:t>0 / 62,400</a:t>
            </a:r>
            <a:endParaRPr lang="zh-CN" altLang="en-US" sz="1300" b="1">
              <a:solidFill>
                <a:srgbClr val="1F7A4D"/>
              </a:solidFill>
              <a:latin typeface="Aptos" panose="020B0004020202020204" pitchFamily="34" charset="0"/>
            </a:endParaRPr>
          </a:p>
        </p:txBody>
      </p:sp>
      <p:sp>
        <p:nvSpPr>
          <p:cNvPr id="22" name="sem-neg1-cap">
            <a:extLst>
              <a:ext uri="{FF2B5EF4-FFF2-40B4-BE49-F238E27FC236}">
                <a16:creationId xmlns:a16="http://schemas.microsoft.com/office/drawing/2014/main" id="{E4B4F324-78FA-53EE-8522-243B65C39267}"/>
              </a:ext>
            </a:extLst>
          </p:cNvPr>
          <p:cNvSpPr txBox="1"/>
          <p:nvPr/>
        </p:nvSpPr>
        <p:spPr>
          <a:xfrm>
            <a:off x="1117600" y="3416300"/>
            <a:ext cx="8763000" cy="276999"/>
          </a:xfrm>
          <a:prstGeom prst="rect">
            <a:avLst/>
          </a:prstGeom>
          <a:noFill/>
        </p:spPr>
        <p:txBody>
          <a:bodyPr vert="horz" wrap="square" lIns="0" tIns="0" rIns="0" bIns="0" rtlCol="0">
            <a:noAutofit/>
          </a:bodyPr>
          <a:lstStyle/>
          <a:p>
            <a:r>
              <a:rPr lang="en-US" altLang="zh-CN" sz="950">
                <a:solidFill>
                  <a:srgbClr val="52617A"/>
                </a:solidFill>
                <a:latin typeface="Aptos" panose="020B0004020202020204" pitchFamily="34" charset="0"/>
              </a:rPr>
              <a:t>zero-event fail-closed control surface</a:t>
            </a:r>
            <a:endParaRPr lang="zh-CN" altLang="en-US" sz="950">
              <a:solidFill>
                <a:srgbClr val="52617A"/>
              </a:solidFill>
              <a:latin typeface="Aptos" panose="020B0004020202020204" pitchFamily="34" charset="0"/>
            </a:endParaRPr>
          </a:p>
        </p:txBody>
      </p:sp>
      <p:sp>
        <p:nvSpPr>
          <p:cNvPr id="23" name="sem-neg2-label">
            <a:extLst>
              <a:ext uri="{FF2B5EF4-FFF2-40B4-BE49-F238E27FC236}">
                <a16:creationId xmlns:a16="http://schemas.microsoft.com/office/drawing/2014/main" id="{C565551E-C06F-F2A4-E421-521AF46E003D}"/>
              </a:ext>
            </a:extLst>
          </p:cNvPr>
          <p:cNvSpPr txBox="1"/>
          <p:nvPr/>
        </p:nvSpPr>
        <p:spPr>
          <a:xfrm>
            <a:off x="1117600" y="39243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blind replay</a:t>
            </a:r>
            <a:endParaRPr lang="zh-CN" altLang="en-US" sz="1320" b="1">
              <a:solidFill>
                <a:srgbClr val="071837"/>
              </a:solidFill>
              <a:latin typeface="Aptos" panose="020B0004020202020204" pitchFamily="34" charset="0"/>
            </a:endParaRPr>
          </a:p>
        </p:txBody>
      </p:sp>
      <p:sp>
        <p:nvSpPr>
          <p:cNvPr id="24" name="sem-neg2-track">
            <a:extLst>
              <a:ext uri="{FF2B5EF4-FFF2-40B4-BE49-F238E27FC236}">
                <a16:creationId xmlns:a16="http://schemas.microsoft.com/office/drawing/2014/main" id="{B6AE4AD2-9F55-D982-EA82-B90157B25502}"/>
              </a:ext>
            </a:extLst>
          </p:cNvPr>
          <p:cNvSpPr/>
          <p:nvPr/>
        </p:nvSpPr>
        <p:spPr>
          <a:xfrm>
            <a:off x="3632200" y="3962400"/>
            <a:ext cx="5461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sem-neg2-bar">
            <a:extLst>
              <a:ext uri="{FF2B5EF4-FFF2-40B4-BE49-F238E27FC236}">
                <a16:creationId xmlns:a16="http://schemas.microsoft.com/office/drawing/2014/main" id="{120AFD5F-2D78-CA29-DC4C-354CEAE8657F}"/>
              </a:ext>
            </a:extLst>
          </p:cNvPr>
          <p:cNvSpPr/>
          <p:nvPr/>
        </p:nvSpPr>
        <p:spPr>
          <a:xfrm>
            <a:off x="3632200" y="3962400"/>
            <a:ext cx="25400" cy="177800"/>
          </a:xfrm>
          <a:prstGeom prst="roundRect">
            <a:avLst>
              <a:gd name="adj" fmla="val 14000"/>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sem-neg2-value">
            <a:extLst>
              <a:ext uri="{FF2B5EF4-FFF2-40B4-BE49-F238E27FC236}">
                <a16:creationId xmlns:a16="http://schemas.microsoft.com/office/drawing/2014/main" id="{AFDB8064-3A71-3991-E8F3-957A7F0728A9}"/>
              </a:ext>
            </a:extLst>
          </p:cNvPr>
          <p:cNvSpPr txBox="1"/>
          <p:nvPr/>
        </p:nvSpPr>
        <p:spPr>
          <a:xfrm>
            <a:off x="9245600" y="3911600"/>
            <a:ext cx="1524000" cy="276999"/>
          </a:xfrm>
          <a:prstGeom prst="rect">
            <a:avLst/>
          </a:prstGeom>
          <a:noFill/>
        </p:spPr>
        <p:txBody>
          <a:bodyPr vert="horz" wrap="square" lIns="0" tIns="0" rIns="0" bIns="0" rtlCol="0">
            <a:noAutofit/>
          </a:bodyPr>
          <a:lstStyle/>
          <a:p>
            <a:r>
              <a:rPr lang="en-US" altLang="zh-CN" sz="1300" b="1">
                <a:solidFill>
                  <a:srgbClr val="1F7A4D"/>
                </a:solidFill>
                <a:latin typeface="Aptos" panose="020B0004020202020204" pitchFamily="34" charset="0"/>
              </a:rPr>
              <a:t>0 / 62,400</a:t>
            </a:r>
            <a:endParaRPr lang="zh-CN" altLang="en-US" sz="1300" b="1">
              <a:solidFill>
                <a:srgbClr val="1F7A4D"/>
              </a:solidFill>
              <a:latin typeface="Aptos" panose="020B0004020202020204" pitchFamily="34" charset="0"/>
            </a:endParaRPr>
          </a:p>
        </p:txBody>
      </p:sp>
      <p:sp>
        <p:nvSpPr>
          <p:cNvPr id="27" name="sem-neg2-cap">
            <a:extLst>
              <a:ext uri="{FF2B5EF4-FFF2-40B4-BE49-F238E27FC236}">
                <a16:creationId xmlns:a16="http://schemas.microsoft.com/office/drawing/2014/main" id="{C9CD1EB9-A00D-55F9-CC63-49A0398F2D5F}"/>
              </a:ext>
            </a:extLst>
          </p:cNvPr>
          <p:cNvSpPr txBox="1"/>
          <p:nvPr/>
        </p:nvSpPr>
        <p:spPr>
          <a:xfrm>
            <a:off x="1117600" y="4203700"/>
            <a:ext cx="8763000" cy="276999"/>
          </a:xfrm>
          <a:prstGeom prst="rect">
            <a:avLst/>
          </a:prstGeom>
          <a:noFill/>
        </p:spPr>
        <p:txBody>
          <a:bodyPr vert="horz" wrap="square" lIns="0" tIns="0" rIns="0" bIns="0" rtlCol="0">
            <a:noAutofit/>
          </a:bodyPr>
          <a:lstStyle/>
          <a:p>
            <a:r>
              <a:rPr lang="en-US" altLang="zh-CN" sz="950">
                <a:solidFill>
                  <a:srgbClr val="52617A"/>
                </a:solidFill>
                <a:latin typeface="Aptos" panose="020B0004020202020204" pitchFamily="34" charset="0"/>
              </a:rPr>
              <a:t>independent negative replay gate</a:t>
            </a:r>
            <a:endParaRPr lang="zh-CN" altLang="en-US" sz="950">
              <a:solidFill>
                <a:srgbClr val="52617A"/>
              </a:solidFill>
              <a:latin typeface="Aptos" panose="020B0004020202020204" pitchFamily="34" charset="0"/>
            </a:endParaRPr>
          </a:p>
        </p:txBody>
      </p:sp>
      <p:sp>
        <p:nvSpPr>
          <p:cNvPr id="28" name="ablation">
            <a:extLst>
              <a:ext uri="{FF2B5EF4-FFF2-40B4-BE49-F238E27FC236}">
                <a16:creationId xmlns:a16="http://schemas.microsoft.com/office/drawing/2014/main" id="{485A7D32-FA4F-AD91-2522-EEF50EAEBFF1}"/>
              </a:ext>
            </a:extLst>
          </p:cNvPr>
          <p:cNvSpPr/>
          <p:nvPr/>
        </p:nvSpPr>
        <p:spPr>
          <a:xfrm>
            <a:off x="8128000" y="2286000"/>
            <a:ext cx="3098800" cy="2641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ablation-k">
            <a:extLst>
              <a:ext uri="{FF2B5EF4-FFF2-40B4-BE49-F238E27FC236}">
                <a16:creationId xmlns:a16="http://schemas.microsoft.com/office/drawing/2014/main" id="{9ED0EECC-7CA4-E6F5-5736-20E7A868A19B}"/>
              </a:ext>
            </a:extLst>
          </p:cNvPr>
          <p:cNvSpPr txBox="1"/>
          <p:nvPr/>
        </p:nvSpPr>
        <p:spPr>
          <a:xfrm>
            <a:off x="8458200" y="2590800"/>
            <a:ext cx="2159000" cy="276999"/>
          </a:xfrm>
          <a:prstGeom prst="rect">
            <a:avLst/>
          </a:prstGeom>
          <a:noFill/>
        </p:spPr>
        <p:txBody>
          <a:bodyPr vert="horz" wrap="square" lIns="0" tIns="0" rIns="0" bIns="0" rtlCol="0">
            <a:noAutofit/>
          </a:bodyPr>
          <a:lstStyle/>
          <a:p>
            <a:r>
              <a:rPr lang="en-US" altLang="zh-CN" sz="1140" b="1">
                <a:solidFill>
                  <a:srgbClr val="52617A"/>
                </a:solidFill>
                <a:latin typeface="Aptos" panose="020B0004020202020204" pitchFamily="34" charset="0"/>
              </a:rPr>
              <a:t>ablation support</a:t>
            </a:r>
            <a:endParaRPr lang="zh-CN" altLang="en-US" sz="1140" b="1">
              <a:solidFill>
                <a:srgbClr val="52617A"/>
              </a:solidFill>
              <a:latin typeface="Aptos" panose="020B0004020202020204" pitchFamily="34" charset="0"/>
            </a:endParaRPr>
          </a:p>
        </p:txBody>
      </p:sp>
      <p:sp>
        <p:nvSpPr>
          <p:cNvPr id="30" name="abl-l0">
            <a:extLst>
              <a:ext uri="{FF2B5EF4-FFF2-40B4-BE49-F238E27FC236}">
                <a16:creationId xmlns:a16="http://schemas.microsoft.com/office/drawing/2014/main" id="{B5CE6C76-111F-4BDB-4B22-30C681C54365}"/>
              </a:ext>
            </a:extLst>
          </p:cNvPr>
          <p:cNvSpPr txBox="1"/>
          <p:nvPr/>
        </p:nvSpPr>
        <p:spPr>
          <a:xfrm>
            <a:off x="8458200" y="3009900"/>
            <a:ext cx="965200" cy="276999"/>
          </a:xfrm>
          <a:prstGeom prst="rect">
            <a:avLst/>
          </a:prstGeom>
          <a:noFill/>
        </p:spPr>
        <p:txBody>
          <a:bodyPr vert="horz" wrap="square" lIns="0" tIns="0" rIns="0" bIns="0" rtlCol="0">
            <a:noAutofit/>
          </a:bodyPr>
          <a:lstStyle/>
          <a:p>
            <a:r>
              <a:rPr lang="en-US" altLang="zh-CN" sz="880" b="1">
                <a:solidFill>
                  <a:srgbClr val="071837"/>
                </a:solidFill>
                <a:latin typeface="Aptos" panose="020B0004020202020204" pitchFamily="34" charset="0"/>
              </a:rPr>
              <a:t>AST only</a:t>
            </a:r>
            <a:endParaRPr lang="zh-CN" altLang="en-US" sz="880" b="1">
              <a:solidFill>
                <a:srgbClr val="071837"/>
              </a:solidFill>
              <a:latin typeface="Aptos" panose="020B0004020202020204" pitchFamily="34" charset="0"/>
            </a:endParaRPr>
          </a:p>
        </p:txBody>
      </p:sp>
      <p:sp>
        <p:nvSpPr>
          <p:cNvPr id="31" name="abl-track0">
            <a:extLst>
              <a:ext uri="{FF2B5EF4-FFF2-40B4-BE49-F238E27FC236}">
                <a16:creationId xmlns:a16="http://schemas.microsoft.com/office/drawing/2014/main" id="{18AF4271-CF68-935B-F906-1CEA31D859FF}"/>
              </a:ext>
            </a:extLst>
          </p:cNvPr>
          <p:cNvSpPr/>
          <p:nvPr/>
        </p:nvSpPr>
        <p:spPr>
          <a:xfrm>
            <a:off x="9525000" y="3048000"/>
            <a:ext cx="1143000" cy="1016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abl-bar0">
            <a:extLst>
              <a:ext uri="{FF2B5EF4-FFF2-40B4-BE49-F238E27FC236}">
                <a16:creationId xmlns:a16="http://schemas.microsoft.com/office/drawing/2014/main" id="{CDB6CBE2-58C1-A1A3-1394-2564A5802790}"/>
              </a:ext>
            </a:extLst>
          </p:cNvPr>
          <p:cNvSpPr/>
          <p:nvPr/>
        </p:nvSpPr>
        <p:spPr>
          <a:xfrm>
            <a:off x="9525000" y="3048000"/>
            <a:ext cx="1014413" cy="101600"/>
          </a:xfrm>
          <a:prstGeom prst="roundRect">
            <a:avLst>
              <a:gd name="adj" fmla="val 14000"/>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abl-l1">
            <a:extLst>
              <a:ext uri="{FF2B5EF4-FFF2-40B4-BE49-F238E27FC236}">
                <a16:creationId xmlns:a16="http://schemas.microsoft.com/office/drawing/2014/main" id="{F2DEFFFE-0203-8E77-36F5-22AB8797C02F}"/>
              </a:ext>
            </a:extLst>
          </p:cNvPr>
          <p:cNvSpPr txBox="1"/>
          <p:nvPr/>
        </p:nvSpPr>
        <p:spPr>
          <a:xfrm>
            <a:off x="8458200" y="3314700"/>
            <a:ext cx="965200" cy="276999"/>
          </a:xfrm>
          <a:prstGeom prst="rect">
            <a:avLst/>
          </a:prstGeom>
          <a:noFill/>
        </p:spPr>
        <p:txBody>
          <a:bodyPr vert="horz" wrap="square" lIns="0" tIns="0" rIns="0" bIns="0" rtlCol="0">
            <a:noAutofit/>
          </a:bodyPr>
          <a:lstStyle/>
          <a:p>
            <a:r>
              <a:rPr lang="en-US" altLang="zh-CN" sz="880" b="1">
                <a:solidFill>
                  <a:srgbClr val="071837"/>
                </a:solidFill>
                <a:latin typeface="Aptos" panose="020B0004020202020204" pitchFamily="34" charset="0"/>
              </a:rPr>
              <a:t>CFG only</a:t>
            </a:r>
            <a:endParaRPr lang="zh-CN" altLang="en-US" sz="880" b="1">
              <a:solidFill>
                <a:srgbClr val="071837"/>
              </a:solidFill>
              <a:latin typeface="Aptos" panose="020B0004020202020204" pitchFamily="34" charset="0"/>
            </a:endParaRPr>
          </a:p>
        </p:txBody>
      </p:sp>
      <p:sp>
        <p:nvSpPr>
          <p:cNvPr id="34" name="abl-track1">
            <a:extLst>
              <a:ext uri="{FF2B5EF4-FFF2-40B4-BE49-F238E27FC236}">
                <a16:creationId xmlns:a16="http://schemas.microsoft.com/office/drawing/2014/main" id="{60556C5D-D942-EF73-FDC0-0AF82E8D1EAD}"/>
              </a:ext>
            </a:extLst>
          </p:cNvPr>
          <p:cNvSpPr/>
          <p:nvPr/>
        </p:nvSpPr>
        <p:spPr>
          <a:xfrm>
            <a:off x="9525000" y="3352800"/>
            <a:ext cx="1143000" cy="1016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abl-bar1">
            <a:extLst>
              <a:ext uri="{FF2B5EF4-FFF2-40B4-BE49-F238E27FC236}">
                <a16:creationId xmlns:a16="http://schemas.microsoft.com/office/drawing/2014/main" id="{8A351CEE-2ADD-FBEC-2CD0-0B96BAD51697}"/>
              </a:ext>
            </a:extLst>
          </p:cNvPr>
          <p:cNvSpPr/>
          <p:nvPr/>
        </p:nvSpPr>
        <p:spPr>
          <a:xfrm>
            <a:off x="9525000" y="3352800"/>
            <a:ext cx="952462" cy="101600"/>
          </a:xfrm>
          <a:prstGeom prst="roundRect">
            <a:avLst>
              <a:gd name="adj" fmla="val 14000"/>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abl-l2">
            <a:extLst>
              <a:ext uri="{FF2B5EF4-FFF2-40B4-BE49-F238E27FC236}">
                <a16:creationId xmlns:a16="http://schemas.microsoft.com/office/drawing/2014/main" id="{108E26CC-71F3-2F6E-5D52-DC0C39EA8E8D}"/>
              </a:ext>
            </a:extLst>
          </p:cNvPr>
          <p:cNvSpPr txBox="1"/>
          <p:nvPr/>
        </p:nvSpPr>
        <p:spPr>
          <a:xfrm>
            <a:off x="8458200" y="3619500"/>
            <a:ext cx="965200" cy="276999"/>
          </a:xfrm>
          <a:prstGeom prst="rect">
            <a:avLst/>
          </a:prstGeom>
          <a:noFill/>
        </p:spPr>
        <p:txBody>
          <a:bodyPr vert="horz" wrap="square" lIns="0" tIns="0" rIns="0" bIns="0" rtlCol="0">
            <a:noAutofit/>
          </a:bodyPr>
          <a:lstStyle/>
          <a:p>
            <a:r>
              <a:rPr lang="en-US" altLang="zh-CN" sz="880" b="1">
                <a:solidFill>
                  <a:srgbClr val="071837"/>
                </a:solidFill>
                <a:latin typeface="Aptos" panose="020B0004020202020204" pitchFamily="34" charset="0"/>
              </a:rPr>
              <a:t>ECC off</a:t>
            </a:r>
            <a:endParaRPr lang="zh-CN" altLang="en-US" sz="880" b="1">
              <a:solidFill>
                <a:srgbClr val="071837"/>
              </a:solidFill>
              <a:latin typeface="Aptos" panose="020B0004020202020204" pitchFamily="34" charset="0"/>
            </a:endParaRPr>
          </a:p>
        </p:txBody>
      </p:sp>
      <p:sp>
        <p:nvSpPr>
          <p:cNvPr id="37" name="abl-track2">
            <a:extLst>
              <a:ext uri="{FF2B5EF4-FFF2-40B4-BE49-F238E27FC236}">
                <a16:creationId xmlns:a16="http://schemas.microsoft.com/office/drawing/2014/main" id="{8D7385FF-213B-63F7-1C3C-FE00DC091A0F}"/>
              </a:ext>
            </a:extLst>
          </p:cNvPr>
          <p:cNvSpPr/>
          <p:nvPr/>
        </p:nvSpPr>
        <p:spPr>
          <a:xfrm>
            <a:off x="9525000" y="3657600"/>
            <a:ext cx="1143000" cy="1016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abl-bar2">
            <a:extLst>
              <a:ext uri="{FF2B5EF4-FFF2-40B4-BE49-F238E27FC236}">
                <a16:creationId xmlns:a16="http://schemas.microsoft.com/office/drawing/2014/main" id="{A12F1760-77CA-EA14-B7F5-368128733ACA}"/>
              </a:ext>
            </a:extLst>
          </p:cNvPr>
          <p:cNvSpPr/>
          <p:nvPr/>
        </p:nvSpPr>
        <p:spPr>
          <a:xfrm>
            <a:off x="9525000" y="3657600"/>
            <a:ext cx="371475" cy="101600"/>
          </a:xfrm>
          <a:prstGeom prst="roundRect">
            <a:avLst>
              <a:gd name="adj" fmla="val 14000"/>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abl-l3">
            <a:extLst>
              <a:ext uri="{FF2B5EF4-FFF2-40B4-BE49-F238E27FC236}">
                <a16:creationId xmlns:a16="http://schemas.microsoft.com/office/drawing/2014/main" id="{4D4DD51D-E1B2-0195-9D7C-0C39D7549DF7}"/>
              </a:ext>
            </a:extLst>
          </p:cNvPr>
          <p:cNvSpPr txBox="1"/>
          <p:nvPr/>
        </p:nvSpPr>
        <p:spPr>
          <a:xfrm>
            <a:off x="8458200" y="3924300"/>
            <a:ext cx="965200" cy="276999"/>
          </a:xfrm>
          <a:prstGeom prst="rect">
            <a:avLst/>
          </a:prstGeom>
          <a:noFill/>
        </p:spPr>
        <p:txBody>
          <a:bodyPr vert="horz" wrap="square" lIns="0" tIns="0" rIns="0" bIns="0" rtlCol="0">
            <a:noAutofit/>
          </a:bodyPr>
          <a:lstStyle/>
          <a:p>
            <a:r>
              <a:rPr lang="en-US" altLang="zh-CN" sz="880" b="1">
                <a:solidFill>
                  <a:srgbClr val="071837"/>
                </a:solidFill>
                <a:latin typeface="Aptos" panose="020B0004020202020204" pitchFamily="34" charset="0"/>
              </a:rPr>
              <a:t>unkeyed</a:t>
            </a:r>
            <a:endParaRPr lang="zh-CN" altLang="en-US" sz="880" b="1">
              <a:solidFill>
                <a:srgbClr val="071837"/>
              </a:solidFill>
              <a:latin typeface="Aptos" panose="020B0004020202020204" pitchFamily="34" charset="0"/>
            </a:endParaRPr>
          </a:p>
        </p:txBody>
      </p:sp>
      <p:sp>
        <p:nvSpPr>
          <p:cNvPr id="40" name="abl-track3">
            <a:extLst>
              <a:ext uri="{FF2B5EF4-FFF2-40B4-BE49-F238E27FC236}">
                <a16:creationId xmlns:a16="http://schemas.microsoft.com/office/drawing/2014/main" id="{F4DFA905-856D-DC95-95F3-5380299A9E1E}"/>
              </a:ext>
            </a:extLst>
          </p:cNvPr>
          <p:cNvSpPr/>
          <p:nvPr/>
        </p:nvSpPr>
        <p:spPr>
          <a:xfrm>
            <a:off x="9525000" y="3962400"/>
            <a:ext cx="1143000" cy="1016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abl-bar3">
            <a:extLst>
              <a:ext uri="{FF2B5EF4-FFF2-40B4-BE49-F238E27FC236}">
                <a16:creationId xmlns:a16="http://schemas.microsoft.com/office/drawing/2014/main" id="{0F54503B-E8A7-E4A3-3ACF-9DB9F4709225}"/>
              </a:ext>
            </a:extLst>
          </p:cNvPr>
          <p:cNvSpPr/>
          <p:nvPr/>
        </p:nvSpPr>
        <p:spPr>
          <a:xfrm>
            <a:off x="9525000" y="3962400"/>
            <a:ext cx="271463" cy="101600"/>
          </a:xfrm>
          <a:prstGeom prst="roundRect">
            <a:avLst>
              <a:gd name="adj" fmla="val 14000"/>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abl-l4">
            <a:extLst>
              <a:ext uri="{FF2B5EF4-FFF2-40B4-BE49-F238E27FC236}">
                <a16:creationId xmlns:a16="http://schemas.microsoft.com/office/drawing/2014/main" id="{B0EAAF0B-3F2E-3EDD-2490-05B6F8D7B561}"/>
              </a:ext>
            </a:extLst>
          </p:cNvPr>
          <p:cNvSpPr txBox="1"/>
          <p:nvPr/>
        </p:nvSpPr>
        <p:spPr>
          <a:xfrm>
            <a:off x="8458200" y="4229100"/>
            <a:ext cx="965200" cy="276999"/>
          </a:xfrm>
          <a:prstGeom prst="rect">
            <a:avLst/>
          </a:prstGeom>
          <a:noFill/>
        </p:spPr>
        <p:txBody>
          <a:bodyPr vert="horz" wrap="square" lIns="0" tIns="0" rIns="0" bIns="0" rtlCol="0">
            <a:noAutofit/>
          </a:bodyPr>
          <a:lstStyle/>
          <a:p>
            <a:r>
              <a:rPr lang="en-US" altLang="zh-CN" sz="880" b="1">
                <a:solidFill>
                  <a:srgbClr val="071837"/>
                </a:solidFill>
                <a:latin typeface="Aptos" panose="020B0004020202020204" pitchFamily="34" charset="0"/>
              </a:rPr>
              <a:t>SSA only</a:t>
            </a:r>
            <a:endParaRPr lang="zh-CN" altLang="en-US" sz="880" b="1">
              <a:solidFill>
                <a:srgbClr val="071837"/>
              </a:solidFill>
              <a:latin typeface="Aptos" panose="020B0004020202020204" pitchFamily="34" charset="0"/>
            </a:endParaRPr>
          </a:p>
        </p:txBody>
      </p:sp>
      <p:sp>
        <p:nvSpPr>
          <p:cNvPr id="43" name="abl-track4">
            <a:extLst>
              <a:ext uri="{FF2B5EF4-FFF2-40B4-BE49-F238E27FC236}">
                <a16:creationId xmlns:a16="http://schemas.microsoft.com/office/drawing/2014/main" id="{F7C830EE-CA73-D18D-9BD6-B079A15C1305}"/>
              </a:ext>
            </a:extLst>
          </p:cNvPr>
          <p:cNvSpPr/>
          <p:nvPr/>
        </p:nvSpPr>
        <p:spPr>
          <a:xfrm>
            <a:off x="9525000" y="4267200"/>
            <a:ext cx="1143000" cy="1016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abl-bar4">
            <a:extLst>
              <a:ext uri="{FF2B5EF4-FFF2-40B4-BE49-F238E27FC236}">
                <a16:creationId xmlns:a16="http://schemas.microsoft.com/office/drawing/2014/main" id="{B84B430A-C105-FBA0-7D08-77F7B73D84B8}"/>
              </a:ext>
            </a:extLst>
          </p:cNvPr>
          <p:cNvSpPr/>
          <p:nvPr/>
        </p:nvSpPr>
        <p:spPr>
          <a:xfrm>
            <a:off x="9525000" y="4267200"/>
            <a:ext cx="85725" cy="101600"/>
          </a:xfrm>
          <a:prstGeom prst="roundRect">
            <a:avLst>
              <a:gd name="adj" fmla="val 14000"/>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sem-bound">
            <a:extLst>
              <a:ext uri="{FF2B5EF4-FFF2-40B4-BE49-F238E27FC236}">
                <a16:creationId xmlns:a16="http://schemas.microsoft.com/office/drawing/2014/main" id="{C218FDFA-142B-9EAF-9347-87974493CFDD}"/>
              </a:ext>
            </a:extLst>
          </p:cNvPr>
          <p:cNvSpPr/>
          <p:nvPr/>
        </p:nvSpPr>
        <p:spPr>
          <a:xfrm>
            <a:off x="1879600" y="5359400"/>
            <a:ext cx="8432800" cy="4826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sem-bound-t">
            <a:extLst>
              <a:ext uri="{FF2B5EF4-FFF2-40B4-BE49-F238E27FC236}">
                <a16:creationId xmlns:a16="http://schemas.microsoft.com/office/drawing/2014/main" id="{CB469B88-0912-48FF-8E0B-D58E2B643969}"/>
              </a:ext>
            </a:extLst>
          </p:cNvPr>
          <p:cNvSpPr txBox="1"/>
          <p:nvPr/>
        </p:nvSpPr>
        <p:spPr>
          <a:xfrm>
            <a:off x="2311400" y="5486400"/>
            <a:ext cx="7620000" cy="276999"/>
          </a:xfrm>
          <a:prstGeom prst="rect">
            <a:avLst/>
          </a:prstGeom>
          <a:noFill/>
        </p:spPr>
        <p:txBody>
          <a:bodyPr vert="horz" wrap="square" lIns="0" tIns="0" rIns="0" bIns="0" rtlCol="0">
            <a:noAutofit/>
          </a:bodyPr>
          <a:lstStyle/>
          <a:p>
            <a:pPr algn="ctr"/>
            <a:r>
              <a:rPr lang="en-US" altLang="zh-CN" sz="1080" b="1">
                <a:solidFill>
                  <a:srgbClr val="071837"/>
                </a:solidFill>
                <a:latin typeface="Aptos" panose="020B0004020202020204" pitchFamily="34" charset="0"/>
              </a:rPr>
              <a:t>Claim boundary: admitted white-box cells, not universal natural-generation watermarking.</a:t>
            </a:r>
            <a:endParaRPr lang="zh-CN" altLang="en-US" sz="1080" b="1">
              <a:solidFill>
                <a:srgbClr val="071837"/>
              </a:solidFill>
              <a:latin typeface="Aptos" panose="020B0004020202020204" pitchFamily="34" charset="0"/>
            </a:endParaRPr>
          </a:p>
        </p:txBody>
      </p:sp>
      <p:sp>
        <p:nvSpPr>
          <p:cNvPr id="47" name="footer-hit-7">
            <a:hlinkClick r:id="rId4"/>
            <a:extLst>
              <a:ext uri="{FF2B5EF4-FFF2-40B4-BE49-F238E27FC236}">
                <a16:creationId xmlns:a16="http://schemas.microsoft.com/office/drawing/2014/main" id="{7F55F211-5093-F8FC-52AF-BFB42ABB5E21}"/>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11399125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par>
                          <p:cTn id="132" fill="hold">
                            <p:stCondLst>
                              <p:cond delay="5120"/>
                            </p:stCondLst>
                            <p:childTnLst>
                              <p:par>
                                <p:cTn id="133" presetID="10" presetClass="entr" presetSubtype="0" fill="hold" grpId="0" nodeType="afterEffect">
                                  <p:stCondLst>
                                    <p:cond delay="0"/>
                                  </p:stCondLst>
                                  <p:childTnLst>
                                    <p:set>
                                      <p:cBhvr>
                                        <p:cTn id="134" dur="1" fill="hold">
                                          <p:stCondLst>
                                            <p:cond delay="0"/>
                                          </p:stCondLst>
                                        </p:cTn>
                                        <p:tgtEl>
                                          <p:spTgt spid="45"/>
                                        </p:tgtEl>
                                        <p:attrNameLst>
                                          <p:attrName>style.visibility</p:attrName>
                                        </p:attrNameLst>
                                      </p:cBhvr>
                                      <p:to>
                                        <p:strVal val="visible"/>
                                      </p:to>
                                    </p:set>
                                    <p:animEffect transition="in" filter="fade">
                                      <p:cBhvr>
                                        <p:cTn id="135" dur="160"/>
                                        <p:tgtEl>
                                          <p:spTgt spid="45"/>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46"/>
                                        </p:tgtEl>
                                        <p:attrNameLst>
                                          <p:attrName>style.visibility</p:attrName>
                                        </p:attrNameLst>
                                      </p:cBhvr>
                                      <p:to>
                                        <p:strVal val="visible"/>
                                      </p:to>
                                    </p:set>
                                    <p:animEffect transition="in" filter="fade">
                                      <p:cBhvr>
                                        <p:cTn id="139" dur="16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animBg="1"/>
      <p:bldP spid="15" grpId="0" animBg="1"/>
      <p:bldP spid="16" grpId="0"/>
      <p:bldP spid="17" grpId="0"/>
      <p:bldP spid="18" grpId="0"/>
      <p:bldP spid="19" grpId="0" animBg="1"/>
      <p:bldP spid="20" grpId="0" animBg="1"/>
      <p:bldP spid="21" grpId="0"/>
      <p:bldP spid="22" grpId="0"/>
      <p:bldP spid="23" grpId="0"/>
      <p:bldP spid="24" grpId="0" animBg="1"/>
      <p:bldP spid="25" grpId="0" animBg="1"/>
      <p:bldP spid="26" grpId="0"/>
      <p:bldP spid="27" grpId="0"/>
      <p:bldP spid="28" grpId="0" animBg="1"/>
      <p:bldP spid="29" grpId="0"/>
      <p:bldP spid="30" grpId="0"/>
      <p:bldP spid="31" grpId="0" animBg="1"/>
      <p:bldP spid="32" grpId="0" animBg="1"/>
      <p:bldP spid="33" grpId="0"/>
      <p:bldP spid="34" grpId="0" animBg="1"/>
      <p:bldP spid="35" grpId="0" animBg="1"/>
      <p:bldP spid="36" grpId="0"/>
      <p:bldP spid="37" grpId="0" animBg="1"/>
      <p:bldP spid="38" grpId="0" animBg="1"/>
      <p:bldP spid="39" grpId="0"/>
      <p:bldP spid="40" grpId="0" animBg="1"/>
      <p:bldP spid="41" grpId="0" animBg="1"/>
      <p:bldP spid="42" grpId="0"/>
      <p:bldP spid="43" grpId="0" animBg="1"/>
      <p:bldP spid="44" grpId="0" animBg="1"/>
      <p:bldP spid="45" grpId="0" animBg="1"/>
      <p:bldP spid="4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2CC73799-EAAE-E597-F828-045AEC69C540}"/>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CB3E873F-CDA2-0610-19EB-27A3529006D7}"/>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81239772-40E2-075E-6CF5-398546AFF6F5}"/>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CODEDYE</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3EB415C6-89ED-E774-A282-507FC005CFA4}"/>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08</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084E1FEE-E116-7C2D-9685-7F812A806397}"/>
              </a:ext>
            </a:extLst>
          </p:cNvPr>
          <p:cNvCxnSpPr/>
          <p:nvPr/>
        </p:nvCxnSpPr>
        <p:spPr>
          <a:xfrm>
            <a:off x="736600" y="19558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9270EC97-1D4E-9A88-AB3F-1779C896EDF5}"/>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54B2ED86-26B3-8DEB-A3E7-B37306BBC3A8}"/>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C925A88C-D09C-0B52-8FF5-0F6BC3E7B92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295E182A-ACB3-8CB3-4CEB-53C88A573DE8}"/>
              </a:ext>
            </a:extLst>
          </p:cNvPr>
          <p:cNvSpPr txBox="1"/>
          <p:nvPr/>
        </p:nvSpPr>
        <p:spPr>
          <a:xfrm>
            <a:off x="736600" y="711200"/>
            <a:ext cx="10795000" cy="276999"/>
          </a:xfrm>
          <a:prstGeom prst="rect">
            <a:avLst/>
          </a:prstGeom>
          <a:noFill/>
        </p:spPr>
        <p:txBody>
          <a:bodyPr vert="horz" wrap="square" lIns="0" tIns="0" rIns="0" bIns="0" rtlCol="0">
            <a:noAutofit/>
          </a:bodyPr>
          <a:lstStyle/>
          <a:p>
            <a:r>
              <a:rPr lang="en-US" altLang="zh-CN" sz="3000" b="1">
                <a:solidFill>
                  <a:srgbClr val="071837"/>
                </a:solidFill>
                <a:latin typeface="Aptos" panose="020B0004020202020204" pitchFamily="34" charset="0"/>
              </a:rPr>
              <a:t>The black-box audit refuses to overclaim.</a:t>
            </a:r>
            <a:endParaRPr lang="zh-CN" altLang="en-US" sz="300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F3905FBD-0099-B76A-1222-6F8FE264F4B8}"/>
              </a:ext>
            </a:extLst>
          </p:cNvPr>
          <p:cNvSpPr txBox="1"/>
          <p:nvPr/>
        </p:nvSpPr>
        <p:spPr>
          <a:xfrm>
            <a:off x="787400" y="1473200"/>
            <a:ext cx="10287000" cy="276999"/>
          </a:xfrm>
          <a:prstGeom prst="rect">
            <a:avLst/>
          </a:prstGeom>
          <a:noFill/>
        </p:spPr>
        <p:txBody>
          <a:bodyPr vert="horz" wrap="square" lIns="0" tIns="0" rIns="0" bIns="0" rtlCol="0">
            <a:noAutofit/>
          </a:bodyPr>
          <a:lstStyle/>
          <a:p>
            <a:r>
              <a:rPr lang="en-US" altLang="zh-CN" sz="1220">
                <a:solidFill>
                  <a:srgbClr val="52617A"/>
                </a:solidFill>
                <a:latin typeface="Aptos" panose="020B0004020202020204" pitchFamily="34" charset="0"/>
              </a:rPr>
              <a:t>The latest surface reports a null live signal with calibration and control separation.</a:t>
            </a:r>
            <a:endParaRPr lang="zh-CN" altLang="en-US" sz="1220">
              <a:solidFill>
                <a:srgbClr val="52617A"/>
              </a:solidFill>
              <a:latin typeface="Aptos" panose="020B0004020202020204" pitchFamily="34" charset="0"/>
            </a:endParaRPr>
          </a:p>
        </p:txBody>
      </p:sp>
      <p:sp>
        <p:nvSpPr>
          <p:cNvPr id="13" name="cd1-axis">
            <a:extLst>
              <a:ext uri="{FF2B5EF4-FFF2-40B4-BE49-F238E27FC236}">
                <a16:creationId xmlns:a16="http://schemas.microsoft.com/office/drawing/2014/main" id="{2A12FAC8-9BBA-FCCE-4B25-7DBBBE81C095}"/>
              </a:ext>
            </a:extLst>
          </p:cNvPr>
          <p:cNvSpPr/>
          <p:nvPr/>
        </p:nvSpPr>
        <p:spPr>
          <a:xfrm>
            <a:off x="1651000" y="2870200"/>
            <a:ext cx="12700" cy="2032000"/>
          </a:xfrm>
          <a:prstGeom prst="rect">
            <a:avLst/>
          </a:prstGeom>
          <a:solidFill>
            <a:srgbClr val="D7E2F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cd1-track">
            <a:extLst>
              <a:ext uri="{FF2B5EF4-FFF2-40B4-BE49-F238E27FC236}">
                <a16:creationId xmlns:a16="http://schemas.microsoft.com/office/drawing/2014/main" id="{3F7C51D9-F5B5-7796-A0C3-5654FE664684}"/>
              </a:ext>
            </a:extLst>
          </p:cNvPr>
          <p:cNvSpPr/>
          <p:nvPr/>
        </p:nvSpPr>
        <p:spPr>
          <a:xfrm>
            <a:off x="1879600" y="2870200"/>
            <a:ext cx="558800" cy="20320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cd1-bar">
            <a:extLst>
              <a:ext uri="{FF2B5EF4-FFF2-40B4-BE49-F238E27FC236}">
                <a16:creationId xmlns:a16="http://schemas.microsoft.com/office/drawing/2014/main" id="{83446D49-89EC-9CB5-237C-00F4C816D16B}"/>
              </a:ext>
            </a:extLst>
          </p:cNvPr>
          <p:cNvSpPr/>
          <p:nvPr/>
        </p:nvSpPr>
        <p:spPr>
          <a:xfrm>
            <a:off x="1879600" y="4876800"/>
            <a:ext cx="558800" cy="25400"/>
          </a:xfrm>
          <a:prstGeom prst="roundRect">
            <a:avLst>
              <a:gd name="adj" fmla="val 14000"/>
            </a:avLst>
          </a:prstGeom>
          <a:solidFill>
            <a:srgbClr val="5B45C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cd1-value">
            <a:extLst>
              <a:ext uri="{FF2B5EF4-FFF2-40B4-BE49-F238E27FC236}">
                <a16:creationId xmlns:a16="http://schemas.microsoft.com/office/drawing/2014/main" id="{BF9085FF-1E62-F53C-8F07-C16593BA8F0E}"/>
              </a:ext>
            </a:extLst>
          </p:cNvPr>
          <p:cNvSpPr txBox="1"/>
          <p:nvPr/>
        </p:nvSpPr>
        <p:spPr>
          <a:xfrm>
            <a:off x="1422400" y="2489200"/>
            <a:ext cx="1473200" cy="276999"/>
          </a:xfrm>
          <a:prstGeom prst="rect">
            <a:avLst/>
          </a:prstGeom>
          <a:noFill/>
        </p:spPr>
        <p:txBody>
          <a:bodyPr vert="horz" wrap="square" lIns="0" tIns="0" rIns="0" bIns="0" rtlCol="0">
            <a:noAutofit/>
          </a:bodyPr>
          <a:lstStyle/>
          <a:p>
            <a:pPr algn="ctr"/>
            <a:r>
              <a:rPr lang="en-US" altLang="zh-CN" sz="1220" b="1">
                <a:solidFill>
                  <a:srgbClr val="5B45C8"/>
                </a:solidFill>
                <a:latin typeface="Aptos" panose="020B0004020202020204" pitchFamily="34" charset="0"/>
              </a:rPr>
              <a:t>0/300</a:t>
            </a:r>
            <a:endParaRPr lang="zh-CN" altLang="en-US" sz="1220" b="1">
              <a:solidFill>
                <a:srgbClr val="5B45C8"/>
              </a:solidFill>
              <a:latin typeface="Aptos" panose="020B0004020202020204" pitchFamily="34" charset="0"/>
            </a:endParaRPr>
          </a:p>
        </p:txBody>
      </p:sp>
      <p:sp>
        <p:nvSpPr>
          <p:cNvPr id="17" name="cd1-label">
            <a:extLst>
              <a:ext uri="{FF2B5EF4-FFF2-40B4-BE49-F238E27FC236}">
                <a16:creationId xmlns:a16="http://schemas.microsoft.com/office/drawing/2014/main" id="{A200B24E-1667-5138-CD19-010BB97047CB}"/>
              </a:ext>
            </a:extLst>
          </p:cNvPr>
          <p:cNvSpPr txBox="1"/>
          <p:nvPr/>
        </p:nvSpPr>
        <p:spPr>
          <a:xfrm>
            <a:off x="1346200" y="5054600"/>
            <a:ext cx="1625600" cy="276999"/>
          </a:xfrm>
          <a:prstGeom prst="rect">
            <a:avLst/>
          </a:prstGeom>
          <a:noFill/>
        </p:spPr>
        <p:txBody>
          <a:bodyPr vert="horz" wrap="square" lIns="0" tIns="0" rIns="0" bIns="0" rtlCol="0">
            <a:noAutofit/>
          </a:bodyPr>
          <a:lstStyle/>
          <a:p>
            <a:pPr algn="ctr"/>
            <a:r>
              <a:rPr lang="en-US" altLang="zh-CN" sz="920" b="1">
                <a:solidFill>
                  <a:srgbClr val="071837"/>
                </a:solidFill>
                <a:latin typeface="Aptos" panose="020B0004020202020204" pitchFamily="34" charset="0"/>
              </a:rPr>
              <a:t>fresh live</a:t>
            </a:r>
            <a:endParaRPr lang="zh-CN" altLang="en-US" sz="920" b="1">
              <a:solidFill>
                <a:srgbClr val="071837"/>
              </a:solidFill>
              <a:latin typeface="Aptos" panose="020B0004020202020204" pitchFamily="34" charset="0"/>
            </a:endParaRPr>
          </a:p>
        </p:txBody>
      </p:sp>
      <p:sp>
        <p:nvSpPr>
          <p:cNvPr id="18" name="cd2-axis">
            <a:extLst>
              <a:ext uri="{FF2B5EF4-FFF2-40B4-BE49-F238E27FC236}">
                <a16:creationId xmlns:a16="http://schemas.microsoft.com/office/drawing/2014/main" id="{D4B6E664-96D1-3EF8-72A6-9277AA8CE11C}"/>
              </a:ext>
            </a:extLst>
          </p:cNvPr>
          <p:cNvSpPr/>
          <p:nvPr/>
        </p:nvSpPr>
        <p:spPr>
          <a:xfrm>
            <a:off x="3632200" y="2870200"/>
            <a:ext cx="12700" cy="2032000"/>
          </a:xfrm>
          <a:prstGeom prst="rect">
            <a:avLst/>
          </a:prstGeom>
          <a:solidFill>
            <a:srgbClr val="D7E2F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d2-track">
            <a:extLst>
              <a:ext uri="{FF2B5EF4-FFF2-40B4-BE49-F238E27FC236}">
                <a16:creationId xmlns:a16="http://schemas.microsoft.com/office/drawing/2014/main" id="{22455F9D-BBAB-AA2F-C274-ACF9FDB64E01}"/>
              </a:ext>
            </a:extLst>
          </p:cNvPr>
          <p:cNvSpPr/>
          <p:nvPr/>
        </p:nvSpPr>
        <p:spPr>
          <a:xfrm>
            <a:off x="3860800" y="2870200"/>
            <a:ext cx="558800" cy="20320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cd2-bar">
            <a:extLst>
              <a:ext uri="{FF2B5EF4-FFF2-40B4-BE49-F238E27FC236}">
                <a16:creationId xmlns:a16="http://schemas.microsoft.com/office/drawing/2014/main" id="{5CDE6E6F-677E-01AB-8433-4FAD95E25001}"/>
              </a:ext>
            </a:extLst>
          </p:cNvPr>
          <p:cNvSpPr/>
          <p:nvPr/>
        </p:nvSpPr>
        <p:spPr>
          <a:xfrm>
            <a:off x="3860800" y="2870200"/>
            <a:ext cx="558800" cy="2032000"/>
          </a:xfrm>
          <a:prstGeom prst="roundRect">
            <a:avLst>
              <a:gd name="adj" fmla="val 14000"/>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cd2-value">
            <a:extLst>
              <a:ext uri="{FF2B5EF4-FFF2-40B4-BE49-F238E27FC236}">
                <a16:creationId xmlns:a16="http://schemas.microsoft.com/office/drawing/2014/main" id="{ECF2704F-0F83-698B-2F27-BB8CFE59B038}"/>
              </a:ext>
            </a:extLst>
          </p:cNvPr>
          <p:cNvSpPr txBox="1"/>
          <p:nvPr/>
        </p:nvSpPr>
        <p:spPr>
          <a:xfrm>
            <a:off x="3403600" y="2489200"/>
            <a:ext cx="1473200" cy="276999"/>
          </a:xfrm>
          <a:prstGeom prst="rect">
            <a:avLst/>
          </a:prstGeom>
          <a:noFill/>
        </p:spPr>
        <p:txBody>
          <a:bodyPr vert="horz" wrap="square" lIns="0" tIns="0" rIns="0" bIns="0" rtlCol="0">
            <a:noAutofit/>
          </a:bodyPr>
          <a:lstStyle/>
          <a:p>
            <a:pPr algn="ctr"/>
            <a:r>
              <a:rPr lang="en-US" altLang="zh-CN" sz="1220" b="1">
                <a:solidFill>
                  <a:srgbClr val="1F7A4D"/>
                </a:solidFill>
                <a:latin typeface="Aptos" panose="020B0004020202020204" pitchFamily="34" charset="0"/>
              </a:rPr>
              <a:t>272/300</a:t>
            </a:r>
            <a:endParaRPr lang="zh-CN" altLang="en-US" sz="1220" b="1">
              <a:solidFill>
                <a:srgbClr val="1F7A4D"/>
              </a:solidFill>
              <a:latin typeface="Aptos" panose="020B0004020202020204" pitchFamily="34" charset="0"/>
            </a:endParaRPr>
          </a:p>
        </p:txBody>
      </p:sp>
      <p:sp>
        <p:nvSpPr>
          <p:cNvPr id="22" name="cd2-label">
            <a:extLst>
              <a:ext uri="{FF2B5EF4-FFF2-40B4-BE49-F238E27FC236}">
                <a16:creationId xmlns:a16="http://schemas.microsoft.com/office/drawing/2014/main" id="{77C9E090-4685-95AE-6AF1-BC2A1C5E9D67}"/>
              </a:ext>
            </a:extLst>
          </p:cNvPr>
          <p:cNvSpPr txBox="1"/>
          <p:nvPr/>
        </p:nvSpPr>
        <p:spPr>
          <a:xfrm>
            <a:off x="3327400" y="5054600"/>
            <a:ext cx="1625600" cy="276999"/>
          </a:xfrm>
          <a:prstGeom prst="rect">
            <a:avLst/>
          </a:prstGeom>
          <a:noFill/>
        </p:spPr>
        <p:txBody>
          <a:bodyPr vert="horz" wrap="square" lIns="0" tIns="0" rIns="0" bIns="0" rtlCol="0">
            <a:noAutofit/>
          </a:bodyPr>
          <a:lstStyle/>
          <a:p>
            <a:pPr algn="ctr"/>
            <a:r>
              <a:rPr lang="en-US" altLang="zh-CN" sz="920" b="1">
                <a:solidFill>
                  <a:srgbClr val="071837"/>
                </a:solidFill>
                <a:latin typeface="Aptos" panose="020B0004020202020204" pitchFamily="34" charset="0"/>
              </a:rPr>
              <a:t>positive memory</a:t>
            </a:r>
            <a:endParaRPr lang="zh-CN" altLang="en-US" sz="920" b="1">
              <a:solidFill>
                <a:srgbClr val="071837"/>
              </a:solidFill>
              <a:latin typeface="Aptos" panose="020B0004020202020204" pitchFamily="34" charset="0"/>
            </a:endParaRPr>
          </a:p>
        </p:txBody>
      </p:sp>
      <p:sp>
        <p:nvSpPr>
          <p:cNvPr id="23" name="cd3-axis">
            <a:extLst>
              <a:ext uri="{FF2B5EF4-FFF2-40B4-BE49-F238E27FC236}">
                <a16:creationId xmlns:a16="http://schemas.microsoft.com/office/drawing/2014/main" id="{34B1C839-3152-7C13-3F67-58602691FC32}"/>
              </a:ext>
            </a:extLst>
          </p:cNvPr>
          <p:cNvSpPr/>
          <p:nvPr/>
        </p:nvSpPr>
        <p:spPr>
          <a:xfrm>
            <a:off x="5613400" y="2870200"/>
            <a:ext cx="12700" cy="2032000"/>
          </a:xfrm>
          <a:prstGeom prst="rect">
            <a:avLst/>
          </a:prstGeom>
          <a:solidFill>
            <a:srgbClr val="D7E2F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d3-track">
            <a:extLst>
              <a:ext uri="{FF2B5EF4-FFF2-40B4-BE49-F238E27FC236}">
                <a16:creationId xmlns:a16="http://schemas.microsoft.com/office/drawing/2014/main" id="{1A16B076-D5D9-B4D3-1F18-2E7A18134B91}"/>
              </a:ext>
            </a:extLst>
          </p:cNvPr>
          <p:cNvSpPr/>
          <p:nvPr/>
        </p:nvSpPr>
        <p:spPr>
          <a:xfrm>
            <a:off x="5842000" y="2870200"/>
            <a:ext cx="558800" cy="20320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cd3-bar">
            <a:extLst>
              <a:ext uri="{FF2B5EF4-FFF2-40B4-BE49-F238E27FC236}">
                <a16:creationId xmlns:a16="http://schemas.microsoft.com/office/drawing/2014/main" id="{4DF9CE42-4B73-C0DB-1528-CE7FB02391A3}"/>
              </a:ext>
            </a:extLst>
          </p:cNvPr>
          <p:cNvSpPr/>
          <p:nvPr/>
        </p:nvSpPr>
        <p:spPr>
          <a:xfrm>
            <a:off x="5842000" y="4876800"/>
            <a:ext cx="558800" cy="25400"/>
          </a:xfrm>
          <a:prstGeom prst="roundRect">
            <a:avLst>
              <a:gd name="adj" fmla="val 14000"/>
            </a:avLst>
          </a:prstGeom>
          <a:solidFill>
            <a:srgbClr val="B92C41"/>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cd3-value">
            <a:extLst>
              <a:ext uri="{FF2B5EF4-FFF2-40B4-BE49-F238E27FC236}">
                <a16:creationId xmlns:a16="http://schemas.microsoft.com/office/drawing/2014/main" id="{ACD76D2A-C4FF-363C-358F-641EC5933BD4}"/>
              </a:ext>
            </a:extLst>
          </p:cNvPr>
          <p:cNvSpPr txBox="1"/>
          <p:nvPr/>
        </p:nvSpPr>
        <p:spPr>
          <a:xfrm>
            <a:off x="5384800" y="2489200"/>
            <a:ext cx="1473200" cy="276999"/>
          </a:xfrm>
          <a:prstGeom prst="rect">
            <a:avLst/>
          </a:prstGeom>
          <a:noFill/>
        </p:spPr>
        <p:txBody>
          <a:bodyPr vert="horz" wrap="square" lIns="0" tIns="0" rIns="0" bIns="0" rtlCol="0">
            <a:noAutofit/>
          </a:bodyPr>
          <a:lstStyle/>
          <a:p>
            <a:pPr algn="ctr"/>
            <a:r>
              <a:rPr lang="en-US" altLang="zh-CN" sz="1220" b="1">
                <a:solidFill>
                  <a:srgbClr val="B92C41"/>
                </a:solidFill>
                <a:latin typeface="Aptos" panose="020B0004020202020204" pitchFamily="34" charset="0"/>
              </a:rPr>
              <a:t>0/300</a:t>
            </a:r>
            <a:endParaRPr lang="zh-CN" altLang="en-US" sz="1220" b="1">
              <a:solidFill>
                <a:srgbClr val="B92C41"/>
              </a:solidFill>
              <a:latin typeface="Aptos" panose="020B0004020202020204" pitchFamily="34" charset="0"/>
            </a:endParaRPr>
          </a:p>
        </p:txBody>
      </p:sp>
      <p:sp>
        <p:nvSpPr>
          <p:cNvPr id="27" name="cd3-label">
            <a:extLst>
              <a:ext uri="{FF2B5EF4-FFF2-40B4-BE49-F238E27FC236}">
                <a16:creationId xmlns:a16="http://schemas.microsoft.com/office/drawing/2014/main" id="{230193E5-EDD1-92AC-69D2-D0EF1B23B004}"/>
              </a:ext>
            </a:extLst>
          </p:cNvPr>
          <p:cNvSpPr txBox="1"/>
          <p:nvPr/>
        </p:nvSpPr>
        <p:spPr>
          <a:xfrm>
            <a:off x="5308600" y="5054600"/>
            <a:ext cx="1625600" cy="276999"/>
          </a:xfrm>
          <a:prstGeom prst="rect">
            <a:avLst/>
          </a:prstGeom>
          <a:noFill/>
        </p:spPr>
        <p:txBody>
          <a:bodyPr vert="horz" wrap="square" lIns="0" tIns="0" rIns="0" bIns="0" rtlCol="0">
            <a:noAutofit/>
          </a:bodyPr>
          <a:lstStyle/>
          <a:p>
            <a:pPr algn="ctr"/>
            <a:r>
              <a:rPr lang="en-US" altLang="zh-CN" sz="920" b="1">
                <a:solidFill>
                  <a:srgbClr val="071837"/>
                </a:solidFill>
                <a:latin typeface="Aptos" panose="020B0004020202020204" pitchFamily="34" charset="0"/>
              </a:rPr>
              <a:t>negative control</a:t>
            </a:r>
            <a:endParaRPr lang="zh-CN" altLang="en-US" sz="920" b="1">
              <a:solidFill>
                <a:srgbClr val="071837"/>
              </a:solidFill>
              <a:latin typeface="Aptos" panose="020B0004020202020204" pitchFamily="34" charset="0"/>
            </a:endParaRPr>
          </a:p>
        </p:txBody>
      </p:sp>
      <p:sp>
        <p:nvSpPr>
          <p:cNvPr id="28" name="cd4-axis">
            <a:extLst>
              <a:ext uri="{FF2B5EF4-FFF2-40B4-BE49-F238E27FC236}">
                <a16:creationId xmlns:a16="http://schemas.microsoft.com/office/drawing/2014/main" id="{AD96618F-FA2D-A030-B1A8-447723CDC00C}"/>
              </a:ext>
            </a:extLst>
          </p:cNvPr>
          <p:cNvSpPr/>
          <p:nvPr/>
        </p:nvSpPr>
        <p:spPr>
          <a:xfrm>
            <a:off x="7594600" y="2870200"/>
            <a:ext cx="12700" cy="2032000"/>
          </a:xfrm>
          <a:prstGeom prst="rect">
            <a:avLst/>
          </a:prstGeom>
          <a:solidFill>
            <a:srgbClr val="D7E2F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cd4-track">
            <a:extLst>
              <a:ext uri="{FF2B5EF4-FFF2-40B4-BE49-F238E27FC236}">
                <a16:creationId xmlns:a16="http://schemas.microsoft.com/office/drawing/2014/main" id="{B47C0505-D38F-1B13-E438-FA1193293C98}"/>
              </a:ext>
            </a:extLst>
          </p:cNvPr>
          <p:cNvSpPr/>
          <p:nvPr/>
        </p:nvSpPr>
        <p:spPr>
          <a:xfrm>
            <a:off x="7823200" y="2870200"/>
            <a:ext cx="558800" cy="20320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cd4-bar">
            <a:extLst>
              <a:ext uri="{FF2B5EF4-FFF2-40B4-BE49-F238E27FC236}">
                <a16:creationId xmlns:a16="http://schemas.microsoft.com/office/drawing/2014/main" id="{53D3B565-A81D-A127-A67A-2AB930DFF52D}"/>
              </a:ext>
            </a:extLst>
          </p:cNvPr>
          <p:cNvSpPr/>
          <p:nvPr/>
        </p:nvSpPr>
        <p:spPr>
          <a:xfrm>
            <a:off x="7823200" y="4876800"/>
            <a:ext cx="558800" cy="25400"/>
          </a:xfrm>
          <a:prstGeom prst="roundRect">
            <a:avLst>
              <a:gd name="adj" fmla="val 14000"/>
            </a:avLst>
          </a:prstGeom>
          <a:solidFill>
            <a:srgbClr val="B92C41"/>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cd4-value">
            <a:extLst>
              <a:ext uri="{FF2B5EF4-FFF2-40B4-BE49-F238E27FC236}">
                <a16:creationId xmlns:a16="http://schemas.microsoft.com/office/drawing/2014/main" id="{677C7499-95E7-650A-7915-451572B32095}"/>
              </a:ext>
            </a:extLst>
          </p:cNvPr>
          <p:cNvSpPr txBox="1"/>
          <p:nvPr/>
        </p:nvSpPr>
        <p:spPr>
          <a:xfrm>
            <a:off x="7366000" y="2489200"/>
            <a:ext cx="1473200" cy="276999"/>
          </a:xfrm>
          <a:prstGeom prst="rect">
            <a:avLst/>
          </a:prstGeom>
          <a:noFill/>
        </p:spPr>
        <p:txBody>
          <a:bodyPr vert="horz" wrap="square" lIns="0" tIns="0" rIns="0" bIns="0" rtlCol="0">
            <a:noAutofit/>
          </a:bodyPr>
          <a:lstStyle/>
          <a:p>
            <a:pPr algn="ctr"/>
            <a:r>
              <a:rPr lang="en-US" altLang="zh-CN" sz="1220" b="1">
                <a:solidFill>
                  <a:srgbClr val="B92C41"/>
                </a:solidFill>
                <a:latin typeface="Aptos" panose="020B0004020202020204" pitchFamily="34" charset="0"/>
              </a:rPr>
              <a:t>0/300</a:t>
            </a:r>
            <a:endParaRPr lang="zh-CN" altLang="en-US" sz="1220" b="1">
              <a:solidFill>
                <a:srgbClr val="B92C41"/>
              </a:solidFill>
              <a:latin typeface="Aptos" panose="020B0004020202020204" pitchFamily="34" charset="0"/>
            </a:endParaRPr>
          </a:p>
        </p:txBody>
      </p:sp>
      <p:sp>
        <p:nvSpPr>
          <p:cNvPr id="32" name="cd4-label">
            <a:extLst>
              <a:ext uri="{FF2B5EF4-FFF2-40B4-BE49-F238E27FC236}">
                <a16:creationId xmlns:a16="http://schemas.microsoft.com/office/drawing/2014/main" id="{CEF4131D-B9E4-B874-8E8B-FA97E9F78F36}"/>
              </a:ext>
            </a:extLst>
          </p:cNvPr>
          <p:cNvSpPr txBox="1"/>
          <p:nvPr/>
        </p:nvSpPr>
        <p:spPr>
          <a:xfrm>
            <a:off x="7289800" y="5054600"/>
            <a:ext cx="1625600" cy="276999"/>
          </a:xfrm>
          <a:prstGeom prst="rect">
            <a:avLst/>
          </a:prstGeom>
          <a:noFill/>
        </p:spPr>
        <p:txBody>
          <a:bodyPr vert="horz" wrap="square" lIns="0" tIns="0" rIns="0" bIns="0" rtlCol="0">
            <a:noAutofit/>
          </a:bodyPr>
          <a:lstStyle/>
          <a:p>
            <a:pPr algn="ctr"/>
            <a:r>
              <a:rPr lang="en-US" altLang="zh-CN" sz="920" b="1">
                <a:solidFill>
                  <a:srgbClr val="071837"/>
                </a:solidFill>
                <a:latin typeface="Aptos" panose="020B0004020202020204" pitchFamily="34" charset="0"/>
              </a:rPr>
              <a:t>retrieval control</a:t>
            </a:r>
            <a:endParaRPr lang="zh-CN" altLang="en-US" sz="920" b="1">
              <a:solidFill>
                <a:srgbClr val="071837"/>
              </a:solidFill>
              <a:latin typeface="Aptos" panose="020B0004020202020204" pitchFamily="34" charset="0"/>
            </a:endParaRPr>
          </a:p>
        </p:txBody>
      </p:sp>
      <p:sp>
        <p:nvSpPr>
          <p:cNvPr id="33" name="cd-box">
            <a:extLst>
              <a:ext uri="{FF2B5EF4-FFF2-40B4-BE49-F238E27FC236}">
                <a16:creationId xmlns:a16="http://schemas.microsoft.com/office/drawing/2014/main" id="{54684F2C-A70A-D26A-FE6B-5632E9E9A5B2}"/>
              </a:ext>
            </a:extLst>
          </p:cNvPr>
          <p:cNvSpPr/>
          <p:nvPr/>
        </p:nvSpPr>
        <p:spPr>
          <a:xfrm>
            <a:off x="9347200" y="2336800"/>
            <a:ext cx="1803400" cy="19558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cd-box-k">
            <a:extLst>
              <a:ext uri="{FF2B5EF4-FFF2-40B4-BE49-F238E27FC236}">
                <a16:creationId xmlns:a16="http://schemas.microsoft.com/office/drawing/2014/main" id="{8C259B74-8D3D-F96B-3D90-5C6AA918E878}"/>
              </a:ext>
            </a:extLst>
          </p:cNvPr>
          <p:cNvSpPr txBox="1"/>
          <p:nvPr/>
        </p:nvSpPr>
        <p:spPr>
          <a:xfrm>
            <a:off x="9626600" y="2667000"/>
            <a:ext cx="1219200" cy="276999"/>
          </a:xfrm>
          <a:prstGeom prst="rect">
            <a:avLst/>
          </a:prstGeom>
          <a:noFill/>
        </p:spPr>
        <p:txBody>
          <a:bodyPr vert="horz" wrap="square" lIns="0" tIns="0" rIns="0" bIns="0" rtlCol="0">
            <a:noAutofit/>
          </a:bodyPr>
          <a:lstStyle/>
          <a:p>
            <a:pPr algn="ctr"/>
            <a:r>
              <a:rPr lang="en-US" altLang="zh-CN" sz="1120" b="1">
                <a:solidFill>
                  <a:srgbClr val="B85C00"/>
                </a:solidFill>
                <a:latin typeface="Aptos" panose="020B0004020202020204" pitchFamily="34" charset="0"/>
              </a:rPr>
              <a:t>safe reading</a:t>
            </a:r>
            <a:endParaRPr lang="zh-CN" altLang="en-US" sz="1120" b="1">
              <a:solidFill>
                <a:srgbClr val="B85C00"/>
              </a:solidFill>
              <a:latin typeface="Aptos" panose="020B0004020202020204" pitchFamily="34" charset="0"/>
            </a:endParaRPr>
          </a:p>
        </p:txBody>
      </p:sp>
      <p:sp>
        <p:nvSpPr>
          <p:cNvPr id="35" name="cd-box-t">
            <a:extLst>
              <a:ext uri="{FF2B5EF4-FFF2-40B4-BE49-F238E27FC236}">
                <a16:creationId xmlns:a16="http://schemas.microsoft.com/office/drawing/2014/main" id="{44073869-3BCF-CDBA-DE6A-8BFEE56BAD24}"/>
              </a:ext>
            </a:extLst>
          </p:cNvPr>
          <p:cNvSpPr txBox="1"/>
          <p:nvPr/>
        </p:nvSpPr>
        <p:spPr>
          <a:xfrm>
            <a:off x="9626600" y="3149600"/>
            <a:ext cx="1219200" cy="276999"/>
          </a:xfrm>
          <a:prstGeom prst="rect">
            <a:avLst/>
          </a:prstGeom>
          <a:noFill/>
        </p:spPr>
        <p:txBody>
          <a:bodyPr vert="horz" wrap="square" lIns="0" tIns="0" rIns="0" bIns="0" rtlCol="0">
            <a:noAutofit/>
          </a:bodyPr>
          <a:lstStyle/>
          <a:p>
            <a:pPr algn="ctr"/>
            <a:r>
              <a:rPr lang="en-US" altLang="zh-CN" sz="1850" b="1">
                <a:solidFill>
                  <a:srgbClr val="071837"/>
                </a:solidFill>
                <a:latin typeface="Aptos" panose="020B0004020202020204" pitchFamily="34" charset="0"/>
              </a:rPr>
              <a:t>null-audit
evidence</a:t>
            </a:r>
            <a:endParaRPr lang="zh-CN" altLang="en-US" sz="1850" b="1">
              <a:solidFill>
                <a:srgbClr val="071837"/>
              </a:solidFill>
              <a:latin typeface="Aptos" panose="020B0004020202020204" pitchFamily="34" charset="0"/>
            </a:endParaRPr>
          </a:p>
        </p:txBody>
      </p:sp>
      <p:sp>
        <p:nvSpPr>
          <p:cNvPr id="36" name="cd-box-s">
            <a:extLst>
              <a:ext uri="{FF2B5EF4-FFF2-40B4-BE49-F238E27FC236}">
                <a16:creationId xmlns:a16="http://schemas.microsoft.com/office/drawing/2014/main" id="{4B322F8F-2813-4DB3-F90F-9B6F2B395A8A}"/>
              </a:ext>
            </a:extLst>
          </p:cNvPr>
          <p:cNvSpPr txBox="1"/>
          <p:nvPr/>
        </p:nvSpPr>
        <p:spPr>
          <a:xfrm>
            <a:off x="9626600" y="3911600"/>
            <a:ext cx="1219200" cy="276999"/>
          </a:xfrm>
          <a:prstGeom prst="rect">
            <a:avLst/>
          </a:prstGeom>
          <a:noFill/>
        </p:spPr>
        <p:txBody>
          <a:bodyPr vert="horz" wrap="square" lIns="0" tIns="0" rIns="0" bIns="0" rtlCol="0">
            <a:noAutofit/>
          </a:bodyPr>
          <a:lstStyle/>
          <a:p>
            <a:pPr algn="ctr"/>
            <a:r>
              <a:rPr lang="en-US" altLang="zh-CN" sz="820" b="1">
                <a:solidFill>
                  <a:srgbClr val="52617A"/>
                </a:solidFill>
                <a:latin typeface="Aptos" panose="020B0004020202020204" pitchFamily="34" charset="0"/>
              </a:rPr>
              <a:t>not prevalence or accusation</a:t>
            </a:r>
            <a:endParaRPr lang="zh-CN" altLang="en-US" sz="820" b="1">
              <a:solidFill>
                <a:srgbClr val="52617A"/>
              </a:solidFill>
              <a:latin typeface="Aptos" panose="020B0004020202020204" pitchFamily="34" charset="0"/>
            </a:endParaRPr>
          </a:p>
        </p:txBody>
      </p:sp>
      <p:sp>
        <p:nvSpPr>
          <p:cNvPr id="37" name="footer-hit-8">
            <a:hlinkClick r:id="rId4"/>
            <a:extLst>
              <a:ext uri="{FF2B5EF4-FFF2-40B4-BE49-F238E27FC236}">
                <a16:creationId xmlns:a16="http://schemas.microsoft.com/office/drawing/2014/main" id="{070FF8D8-A1C5-324C-7B00-F5D4D01D8866}"/>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87283870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animBg="1"/>
      <p:bldP spid="19" grpId="0" animBg="1"/>
      <p:bldP spid="20" grpId="0" animBg="1"/>
      <p:bldP spid="21" grpId="0"/>
      <p:bldP spid="22" grpId="0"/>
      <p:bldP spid="23" grpId="0" animBg="1"/>
      <p:bldP spid="24" grpId="0" animBg="1"/>
      <p:bldP spid="25" grpId="0" animBg="1"/>
      <p:bldP spid="26" grpId="0"/>
      <p:bldP spid="27" grpId="0"/>
      <p:bldP spid="28" grpId="0" animBg="1"/>
      <p:bldP spid="29" grpId="0" animBg="1"/>
      <p:bldP spid="30" grpId="0" animBg="1"/>
      <p:bldP spid="31" grpId="0"/>
      <p:bldP spid="32" grpId="0"/>
      <p:bldP spid="33" grpId="0" animBg="1"/>
      <p:bldP spid="34" grpId="0"/>
      <p:bldP spid="35" grpId="0"/>
      <p:bldP spid="3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467B0EE3-490C-45B8-F443-F9E114B90B20}"/>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AE7B48B7-47AC-3804-8ED6-76B0349DAF47}"/>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ED8E0CAE-2FE9-8DE1-899E-B0794A755940}"/>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PROBETRACE</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EF1973E1-B5A1-DECF-C8D5-B37C37F4847E}"/>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09</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9EF21967-67BE-624F-E132-AEFD88603A00}"/>
              </a:ext>
            </a:extLst>
          </p:cNvPr>
          <p:cNvCxnSpPr/>
          <p:nvPr/>
        </p:nvCxnSpPr>
        <p:spPr>
          <a:xfrm>
            <a:off x="736600" y="19558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DF9490C9-9287-C4B3-F852-9990CD9A5D60}"/>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19FD4E91-5688-21B5-EEA3-DBA4DE88EA3A}"/>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F32666E9-DD2B-9E79-AE45-F31C1E5E659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B5F25629-6425-3995-61FA-E8DB818B5EE3}"/>
              </a:ext>
            </a:extLst>
          </p:cNvPr>
          <p:cNvSpPr txBox="1"/>
          <p:nvPr/>
        </p:nvSpPr>
        <p:spPr>
          <a:xfrm>
            <a:off x="736600" y="711200"/>
            <a:ext cx="10795000" cy="276999"/>
          </a:xfrm>
          <a:prstGeom prst="rect">
            <a:avLst/>
          </a:prstGeom>
          <a:noFill/>
        </p:spPr>
        <p:txBody>
          <a:bodyPr vert="horz" wrap="square" lIns="0" tIns="0" rIns="0" bIns="0" rtlCol="0">
            <a:noAutofit/>
          </a:bodyPr>
          <a:lstStyle/>
          <a:p>
            <a:r>
              <a:rPr lang="en-US" altLang="zh-CN" sz="3000" b="1">
                <a:solidFill>
                  <a:srgbClr val="071837"/>
                </a:solidFill>
                <a:latin typeface="Aptos" panose="020B0004020202020204" pitchFamily="34" charset="0"/>
              </a:rPr>
              <a:t>Owner attribution stays inside its source boundary.</a:t>
            </a:r>
            <a:endParaRPr lang="zh-CN" altLang="en-US" sz="300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40DC3A2E-32F6-1F0B-4A3D-56475BF20D68}"/>
              </a:ext>
            </a:extLst>
          </p:cNvPr>
          <p:cNvSpPr txBox="1"/>
          <p:nvPr/>
        </p:nvSpPr>
        <p:spPr>
          <a:xfrm>
            <a:off x="787400" y="1473200"/>
            <a:ext cx="10287000" cy="276999"/>
          </a:xfrm>
          <a:prstGeom prst="rect">
            <a:avLst/>
          </a:prstGeom>
          <a:noFill/>
        </p:spPr>
        <p:txBody>
          <a:bodyPr vert="horz" wrap="square" lIns="0" tIns="0" rIns="0" bIns="0" rtlCol="0">
            <a:noAutofit/>
          </a:bodyPr>
          <a:lstStyle/>
          <a:p>
            <a:r>
              <a:rPr lang="en-US" altLang="zh-CN" sz="1220">
                <a:solidFill>
                  <a:srgbClr val="52617A"/>
                </a:solidFill>
                <a:latin typeface="Aptos" panose="020B0004020202020204" pitchFamily="34" charset="0"/>
              </a:rPr>
              <a:t>The continuation surface separates true-owner positives from wrong, null, random, and same-provider controls.</a:t>
            </a:r>
            <a:endParaRPr lang="zh-CN" altLang="en-US" sz="1220">
              <a:solidFill>
                <a:srgbClr val="52617A"/>
              </a:solidFill>
              <a:latin typeface="Aptos" panose="020B0004020202020204" pitchFamily="34" charset="0"/>
            </a:endParaRPr>
          </a:p>
        </p:txBody>
      </p:sp>
      <p:sp>
        <p:nvSpPr>
          <p:cNvPr id="13" name="pt-left">
            <a:extLst>
              <a:ext uri="{FF2B5EF4-FFF2-40B4-BE49-F238E27FC236}">
                <a16:creationId xmlns:a16="http://schemas.microsoft.com/office/drawing/2014/main" id="{EE1C45AD-B1DF-F0ED-9439-75EECA2DF1FF}"/>
              </a:ext>
            </a:extLst>
          </p:cNvPr>
          <p:cNvSpPr/>
          <p:nvPr/>
        </p:nvSpPr>
        <p:spPr>
          <a:xfrm>
            <a:off x="1041400" y="2286000"/>
            <a:ext cx="4013200" cy="2921000"/>
          </a:xfrm>
          <a:prstGeom prst="roundRect">
            <a:avLst>
              <a:gd name="adj" fmla="val 14000"/>
            </a:avLst>
          </a:prstGeom>
          <a:solidFill>
            <a:srgbClr val="003B7A"/>
          </a:solidFill>
          <a:ln w="10160" cap="flat" cmpd="sng" algn="ctr">
            <a:solidFill>
              <a:srgbClr val="003B7A">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pt-k">
            <a:extLst>
              <a:ext uri="{FF2B5EF4-FFF2-40B4-BE49-F238E27FC236}">
                <a16:creationId xmlns:a16="http://schemas.microsoft.com/office/drawing/2014/main" id="{86FC0906-8D0B-EDE1-E9C6-A094425F9BD1}"/>
              </a:ext>
            </a:extLst>
          </p:cNvPr>
          <p:cNvSpPr txBox="1"/>
          <p:nvPr/>
        </p:nvSpPr>
        <p:spPr>
          <a:xfrm>
            <a:off x="1473200" y="2717800"/>
            <a:ext cx="2159000" cy="276999"/>
          </a:xfrm>
          <a:prstGeom prst="rect">
            <a:avLst/>
          </a:prstGeom>
          <a:noFill/>
        </p:spPr>
        <p:txBody>
          <a:bodyPr vert="horz" wrap="square" lIns="0" tIns="0" rIns="0" bIns="0" rtlCol="0">
            <a:noAutofit/>
          </a:bodyPr>
          <a:lstStyle/>
          <a:p>
            <a:r>
              <a:rPr lang="en-US" altLang="zh-CN" sz="1250" b="1">
                <a:solidFill>
                  <a:srgbClr val="CDE2FA"/>
                </a:solidFill>
                <a:latin typeface="Aptos" panose="020B0004020202020204" pitchFamily="34" charset="0"/>
              </a:rPr>
              <a:t>true owner positives</a:t>
            </a:r>
            <a:endParaRPr lang="zh-CN" altLang="en-US" sz="1250" b="1">
              <a:solidFill>
                <a:srgbClr val="CDE2FA"/>
              </a:solidFill>
              <a:latin typeface="Aptos" panose="020B0004020202020204" pitchFamily="34" charset="0"/>
            </a:endParaRPr>
          </a:p>
        </p:txBody>
      </p:sp>
      <p:sp>
        <p:nvSpPr>
          <p:cNvPr id="15" name="pt-v">
            <a:extLst>
              <a:ext uri="{FF2B5EF4-FFF2-40B4-BE49-F238E27FC236}">
                <a16:creationId xmlns:a16="http://schemas.microsoft.com/office/drawing/2014/main" id="{4656D245-1443-15AD-E844-C8CC12C5A415}"/>
              </a:ext>
            </a:extLst>
          </p:cNvPr>
          <p:cNvSpPr txBox="1"/>
          <p:nvPr/>
        </p:nvSpPr>
        <p:spPr>
          <a:xfrm>
            <a:off x="1422400" y="3327400"/>
            <a:ext cx="2489200" cy="276999"/>
          </a:xfrm>
          <a:prstGeom prst="rect">
            <a:avLst/>
          </a:prstGeom>
          <a:noFill/>
        </p:spPr>
        <p:txBody>
          <a:bodyPr vert="horz" wrap="square" lIns="0" tIns="0" rIns="0" bIns="0" rtlCol="0">
            <a:noAutofit/>
          </a:bodyPr>
          <a:lstStyle/>
          <a:p>
            <a:r>
              <a:rPr lang="en-US" altLang="zh-CN" sz="4000" b="1">
                <a:solidFill>
                  <a:srgbClr val="FFFFFF"/>
                </a:solidFill>
                <a:latin typeface="Aptos" panose="020B0004020202020204" pitchFamily="34" charset="0"/>
              </a:rPr>
              <a:t>750/750</a:t>
            </a:r>
            <a:endParaRPr lang="zh-CN" altLang="en-US" sz="4000" b="1">
              <a:solidFill>
                <a:srgbClr val="FFFFFF"/>
              </a:solidFill>
              <a:latin typeface="Aptos" panose="020B0004020202020204" pitchFamily="34" charset="0"/>
            </a:endParaRPr>
          </a:p>
        </p:txBody>
      </p:sp>
      <p:sp>
        <p:nvSpPr>
          <p:cNvPr id="16" name="pt-s">
            <a:extLst>
              <a:ext uri="{FF2B5EF4-FFF2-40B4-BE49-F238E27FC236}">
                <a16:creationId xmlns:a16="http://schemas.microsoft.com/office/drawing/2014/main" id="{50AC3E44-9BBC-F3D8-879A-0F0753EC6D62}"/>
              </a:ext>
            </a:extLst>
          </p:cNvPr>
          <p:cNvSpPr txBox="1"/>
          <p:nvPr/>
        </p:nvSpPr>
        <p:spPr>
          <a:xfrm>
            <a:off x="1473200" y="4292600"/>
            <a:ext cx="2717800" cy="276999"/>
          </a:xfrm>
          <a:prstGeom prst="rect">
            <a:avLst/>
          </a:prstGeom>
          <a:noFill/>
        </p:spPr>
        <p:txBody>
          <a:bodyPr vert="horz" wrap="square" lIns="0" tIns="0" rIns="0" bIns="0" rtlCol="0">
            <a:noAutofit/>
          </a:bodyPr>
          <a:lstStyle/>
          <a:p>
            <a:r>
              <a:rPr lang="en-US" altLang="zh-CN" sz="1230" b="1">
                <a:solidFill>
                  <a:srgbClr val="DDEBFC"/>
                </a:solidFill>
                <a:latin typeface="Aptos" panose="020B0004020202020204" pitchFamily="34" charset="0"/>
              </a:rPr>
              <a:t>source-bound commitment / witness verification</a:t>
            </a:r>
            <a:endParaRPr lang="zh-CN" altLang="en-US" sz="1230" b="1">
              <a:solidFill>
                <a:srgbClr val="DDEBFC"/>
              </a:solidFill>
              <a:latin typeface="Aptos" panose="020B0004020202020204" pitchFamily="34" charset="0"/>
            </a:endParaRPr>
          </a:p>
        </p:txBody>
      </p:sp>
      <p:sp>
        <p:nvSpPr>
          <p:cNvPr id="17" name="pt-right">
            <a:extLst>
              <a:ext uri="{FF2B5EF4-FFF2-40B4-BE49-F238E27FC236}">
                <a16:creationId xmlns:a16="http://schemas.microsoft.com/office/drawing/2014/main" id="{F68D86DC-580A-906B-0C53-B972142E4D29}"/>
              </a:ext>
            </a:extLst>
          </p:cNvPr>
          <p:cNvSpPr/>
          <p:nvPr/>
        </p:nvSpPr>
        <p:spPr>
          <a:xfrm>
            <a:off x="6045200" y="2286000"/>
            <a:ext cx="5054600" cy="29210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pt-f1-label">
            <a:extLst>
              <a:ext uri="{FF2B5EF4-FFF2-40B4-BE49-F238E27FC236}">
                <a16:creationId xmlns:a16="http://schemas.microsoft.com/office/drawing/2014/main" id="{0703E363-ED56-5E54-6A1F-AEEAEB28EFE8}"/>
              </a:ext>
            </a:extLst>
          </p:cNvPr>
          <p:cNvSpPr txBox="1"/>
          <p:nvPr/>
        </p:nvSpPr>
        <p:spPr>
          <a:xfrm>
            <a:off x="6477000" y="27559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false-owner controls</a:t>
            </a:r>
            <a:endParaRPr lang="zh-CN" altLang="en-US" sz="1320" b="1">
              <a:solidFill>
                <a:srgbClr val="071837"/>
              </a:solidFill>
              <a:latin typeface="Aptos" panose="020B0004020202020204" pitchFamily="34" charset="0"/>
            </a:endParaRPr>
          </a:p>
        </p:txBody>
      </p:sp>
      <p:sp>
        <p:nvSpPr>
          <p:cNvPr id="19" name="pt-f1-track">
            <a:extLst>
              <a:ext uri="{FF2B5EF4-FFF2-40B4-BE49-F238E27FC236}">
                <a16:creationId xmlns:a16="http://schemas.microsoft.com/office/drawing/2014/main" id="{149B343F-1B67-8943-F749-9C1B1EA77ACF}"/>
              </a:ext>
            </a:extLst>
          </p:cNvPr>
          <p:cNvSpPr/>
          <p:nvPr/>
        </p:nvSpPr>
        <p:spPr>
          <a:xfrm>
            <a:off x="8991600" y="2794000"/>
            <a:ext cx="2794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pt-f1-bar">
            <a:extLst>
              <a:ext uri="{FF2B5EF4-FFF2-40B4-BE49-F238E27FC236}">
                <a16:creationId xmlns:a16="http://schemas.microsoft.com/office/drawing/2014/main" id="{C4BE9015-3F2C-0604-F736-084CE7297627}"/>
              </a:ext>
            </a:extLst>
          </p:cNvPr>
          <p:cNvSpPr/>
          <p:nvPr/>
        </p:nvSpPr>
        <p:spPr>
          <a:xfrm>
            <a:off x="8991600" y="2794000"/>
            <a:ext cx="25400" cy="177800"/>
          </a:xfrm>
          <a:prstGeom prst="roundRect">
            <a:avLst>
              <a:gd name="adj" fmla="val 14000"/>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pt-f1-value">
            <a:extLst>
              <a:ext uri="{FF2B5EF4-FFF2-40B4-BE49-F238E27FC236}">
                <a16:creationId xmlns:a16="http://schemas.microsoft.com/office/drawing/2014/main" id="{7172437E-5120-C643-F153-DA31F327D5C7}"/>
              </a:ext>
            </a:extLst>
          </p:cNvPr>
          <p:cNvSpPr txBox="1"/>
          <p:nvPr/>
        </p:nvSpPr>
        <p:spPr>
          <a:xfrm>
            <a:off x="11938000" y="2743200"/>
            <a:ext cx="1524000" cy="276999"/>
          </a:xfrm>
          <a:prstGeom prst="rect">
            <a:avLst/>
          </a:prstGeom>
          <a:noFill/>
        </p:spPr>
        <p:txBody>
          <a:bodyPr vert="horz" wrap="square" lIns="0" tIns="0" rIns="0" bIns="0" rtlCol="0">
            <a:noAutofit/>
          </a:bodyPr>
          <a:lstStyle/>
          <a:p>
            <a:r>
              <a:rPr lang="en-US" altLang="zh-CN" sz="1300" b="1">
                <a:solidFill>
                  <a:srgbClr val="1F7A4D"/>
                </a:solidFill>
                <a:latin typeface="Aptos" panose="020B0004020202020204" pitchFamily="34" charset="0"/>
              </a:rPr>
              <a:t>0 / 5,250</a:t>
            </a:r>
            <a:endParaRPr lang="zh-CN" altLang="en-US" sz="1300" b="1">
              <a:solidFill>
                <a:srgbClr val="1F7A4D"/>
              </a:solidFill>
              <a:latin typeface="Aptos" panose="020B0004020202020204" pitchFamily="34" charset="0"/>
            </a:endParaRPr>
          </a:p>
        </p:txBody>
      </p:sp>
      <p:sp>
        <p:nvSpPr>
          <p:cNvPr id="22" name="pt-f2-label">
            <a:extLst>
              <a:ext uri="{FF2B5EF4-FFF2-40B4-BE49-F238E27FC236}">
                <a16:creationId xmlns:a16="http://schemas.microsoft.com/office/drawing/2014/main" id="{BE4188C8-9A63-4ED8-8020-D6DE377A17C2}"/>
              </a:ext>
            </a:extLst>
          </p:cNvPr>
          <p:cNvSpPr txBox="1"/>
          <p:nvPr/>
        </p:nvSpPr>
        <p:spPr>
          <a:xfrm>
            <a:off x="6477000" y="35433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owner-heldout rows</a:t>
            </a:r>
            <a:endParaRPr lang="zh-CN" altLang="en-US" sz="1320" b="1">
              <a:solidFill>
                <a:srgbClr val="071837"/>
              </a:solidFill>
              <a:latin typeface="Aptos" panose="020B0004020202020204" pitchFamily="34" charset="0"/>
            </a:endParaRPr>
          </a:p>
        </p:txBody>
      </p:sp>
      <p:sp>
        <p:nvSpPr>
          <p:cNvPr id="23" name="pt-f2-track">
            <a:extLst>
              <a:ext uri="{FF2B5EF4-FFF2-40B4-BE49-F238E27FC236}">
                <a16:creationId xmlns:a16="http://schemas.microsoft.com/office/drawing/2014/main" id="{265074D1-8615-D655-0D68-B096604A5EE0}"/>
              </a:ext>
            </a:extLst>
          </p:cNvPr>
          <p:cNvSpPr/>
          <p:nvPr/>
        </p:nvSpPr>
        <p:spPr>
          <a:xfrm>
            <a:off x="8991600" y="3581400"/>
            <a:ext cx="2794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pt-f2-bar">
            <a:extLst>
              <a:ext uri="{FF2B5EF4-FFF2-40B4-BE49-F238E27FC236}">
                <a16:creationId xmlns:a16="http://schemas.microsoft.com/office/drawing/2014/main" id="{48D0AFFB-2EED-E14E-5E79-1715B5D943C5}"/>
              </a:ext>
            </a:extLst>
          </p:cNvPr>
          <p:cNvSpPr/>
          <p:nvPr/>
        </p:nvSpPr>
        <p:spPr>
          <a:xfrm>
            <a:off x="8991600" y="3581400"/>
            <a:ext cx="2794000" cy="177800"/>
          </a:xfrm>
          <a:prstGeom prst="roundRect">
            <a:avLst>
              <a:gd name="adj" fmla="val 14000"/>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pt-f2-value">
            <a:extLst>
              <a:ext uri="{FF2B5EF4-FFF2-40B4-BE49-F238E27FC236}">
                <a16:creationId xmlns:a16="http://schemas.microsoft.com/office/drawing/2014/main" id="{933A21B7-E729-2A47-0B61-BB705A115CD0}"/>
              </a:ext>
            </a:extLst>
          </p:cNvPr>
          <p:cNvSpPr txBox="1"/>
          <p:nvPr/>
        </p:nvSpPr>
        <p:spPr>
          <a:xfrm>
            <a:off x="11938000" y="3530600"/>
            <a:ext cx="1524000" cy="276999"/>
          </a:xfrm>
          <a:prstGeom prst="rect">
            <a:avLst/>
          </a:prstGeom>
          <a:noFill/>
        </p:spPr>
        <p:txBody>
          <a:bodyPr vert="horz" wrap="square" lIns="0" tIns="0" rIns="0" bIns="0" rtlCol="0">
            <a:noAutofit/>
          </a:bodyPr>
          <a:lstStyle/>
          <a:p>
            <a:r>
              <a:rPr lang="en-US" altLang="zh-CN" sz="1300" b="1">
                <a:solidFill>
                  <a:srgbClr val="B85C00"/>
                </a:solidFill>
                <a:latin typeface="Aptos" panose="020B0004020202020204" pitchFamily="34" charset="0"/>
              </a:rPr>
              <a:t>1,200</a:t>
            </a:r>
            <a:endParaRPr lang="zh-CN" altLang="en-US" sz="1300" b="1">
              <a:solidFill>
                <a:srgbClr val="B85C00"/>
              </a:solidFill>
              <a:latin typeface="Aptos" panose="020B0004020202020204" pitchFamily="34" charset="0"/>
            </a:endParaRPr>
          </a:p>
        </p:txBody>
      </p:sp>
      <p:sp>
        <p:nvSpPr>
          <p:cNvPr id="26" name="pt-f3-label">
            <a:extLst>
              <a:ext uri="{FF2B5EF4-FFF2-40B4-BE49-F238E27FC236}">
                <a16:creationId xmlns:a16="http://schemas.microsoft.com/office/drawing/2014/main" id="{C53E0BF9-2A25-90A0-A25F-75401B7F5B82}"/>
              </a:ext>
            </a:extLst>
          </p:cNvPr>
          <p:cNvSpPr txBox="1"/>
          <p:nvPr/>
        </p:nvSpPr>
        <p:spPr>
          <a:xfrm>
            <a:off x="6477000" y="43307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task-heldout rows</a:t>
            </a:r>
            <a:endParaRPr lang="zh-CN" altLang="en-US" sz="1320" b="1">
              <a:solidFill>
                <a:srgbClr val="071837"/>
              </a:solidFill>
              <a:latin typeface="Aptos" panose="020B0004020202020204" pitchFamily="34" charset="0"/>
            </a:endParaRPr>
          </a:p>
        </p:txBody>
      </p:sp>
      <p:sp>
        <p:nvSpPr>
          <p:cNvPr id="27" name="pt-f3-track">
            <a:extLst>
              <a:ext uri="{FF2B5EF4-FFF2-40B4-BE49-F238E27FC236}">
                <a16:creationId xmlns:a16="http://schemas.microsoft.com/office/drawing/2014/main" id="{373096E0-5BB6-036D-A5FC-962DA00B7E73}"/>
              </a:ext>
            </a:extLst>
          </p:cNvPr>
          <p:cNvSpPr/>
          <p:nvPr/>
        </p:nvSpPr>
        <p:spPr>
          <a:xfrm>
            <a:off x="8991600" y="4368800"/>
            <a:ext cx="2794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pt-f3-bar">
            <a:extLst>
              <a:ext uri="{FF2B5EF4-FFF2-40B4-BE49-F238E27FC236}">
                <a16:creationId xmlns:a16="http://schemas.microsoft.com/office/drawing/2014/main" id="{F7F9DA61-A9E5-F077-DD07-9AA1CF4E5469}"/>
              </a:ext>
            </a:extLst>
          </p:cNvPr>
          <p:cNvSpPr/>
          <p:nvPr/>
        </p:nvSpPr>
        <p:spPr>
          <a:xfrm>
            <a:off x="8991600" y="4368800"/>
            <a:ext cx="2794000" cy="177800"/>
          </a:xfrm>
          <a:prstGeom prst="roundRect">
            <a:avLst>
              <a:gd name="adj" fmla="val 14000"/>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pt-f3-value">
            <a:extLst>
              <a:ext uri="{FF2B5EF4-FFF2-40B4-BE49-F238E27FC236}">
                <a16:creationId xmlns:a16="http://schemas.microsoft.com/office/drawing/2014/main" id="{25AB3173-85C3-2CBE-EA04-BF965E246E55}"/>
              </a:ext>
            </a:extLst>
          </p:cNvPr>
          <p:cNvSpPr txBox="1"/>
          <p:nvPr/>
        </p:nvSpPr>
        <p:spPr>
          <a:xfrm>
            <a:off x="11938000" y="4318000"/>
            <a:ext cx="1524000" cy="276999"/>
          </a:xfrm>
          <a:prstGeom prst="rect">
            <a:avLst/>
          </a:prstGeom>
          <a:noFill/>
        </p:spPr>
        <p:txBody>
          <a:bodyPr vert="horz" wrap="square" lIns="0" tIns="0" rIns="0" bIns="0" rtlCol="0">
            <a:noAutofit/>
          </a:bodyPr>
          <a:lstStyle/>
          <a:p>
            <a:r>
              <a:rPr lang="en-US" altLang="zh-CN" sz="1300" b="1">
                <a:solidFill>
                  <a:srgbClr val="B85C00"/>
                </a:solidFill>
                <a:latin typeface="Aptos" panose="020B0004020202020204" pitchFamily="34" charset="0"/>
              </a:rPr>
              <a:t>1,200</a:t>
            </a:r>
            <a:endParaRPr lang="zh-CN" altLang="en-US" sz="1300" b="1">
              <a:solidFill>
                <a:srgbClr val="B85C00"/>
              </a:solidFill>
              <a:latin typeface="Aptos" panose="020B0004020202020204" pitchFamily="34" charset="0"/>
            </a:endParaRPr>
          </a:p>
        </p:txBody>
      </p:sp>
      <p:sp>
        <p:nvSpPr>
          <p:cNvPr id="30" name="pt-auc">
            <a:extLst>
              <a:ext uri="{FF2B5EF4-FFF2-40B4-BE49-F238E27FC236}">
                <a16:creationId xmlns:a16="http://schemas.microsoft.com/office/drawing/2014/main" id="{269AB6B2-71B9-91E3-DBCE-31E19E71E639}"/>
              </a:ext>
            </a:extLst>
          </p:cNvPr>
          <p:cNvSpPr txBox="1"/>
          <p:nvPr/>
        </p:nvSpPr>
        <p:spPr>
          <a:xfrm>
            <a:off x="6502400" y="4978400"/>
            <a:ext cx="3175000" cy="276999"/>
          </a:xfrm>
          <a:prstGeom prst="rect">
            <a:avLst/>
          </a:prstGeom>
          <a:noFill/>
        </p:spPr>
        <p:txBody>
          <a:bodyPr vert="horz" wrap="square" lIns="0" tIns="0" rIns="0" bIns="0" rtlCol="0">
            <a:noAutofit/>
          </a:bodyPr>
          <a:lstStyle/>
          <a:p>
            <a:r>
              <a:rPr lang="en-US" altLang="zh-CN" sz="980" b="1">
                <a:solidFill>
                  <a:srgbClr val="52617A"/>
                </a:solidFill>
                <a:latin typeface="Aptos" panose="020B0004020202020204" pitchFamily="34" charset="0"/>
              </a:rPr>
              <a:t>AUC = 1.0 under this discrete, finite oracle boundary.</a:t>
            </a:r>
            <a:endParaRPr lang="zh-CN" altLang="en-US" sz="980" b="1">
              <a:solidFill>
                <a:srgbClr val="52617A"/>
              </a:solidFill>
              <a:latin typeface="Aptos" panose="020B0004020202020204" pitchFamily="34" charset="0"/>
            </a:endParaRPr>
          </a:p>
        </p:txBody>
      </p:sp>
      <p:sp>
        <p:nvSpPr>
          <p:cNvPr id="31" name="footer-hit-9">
            <a:hlinkClick r:id="rId4"/>
            <a:extLst>
              <a:ext uri="{FF2B5EF4-FFF2-40B4-BE49-F238E27FC236}">
                <a16:creationId xmlns:a16="http://schemas.microsoft.com/office/drawing/2014/main" id="{19D843C1-50D7-CA39-13C2-A7B7A5127BBB}"/>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03594927"/>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7" grpId="0" animBg="1"/>
      <p:bldP spid="18" grpId="0"/>
      <p:bldP spid="19" grpId="0" animBg="1"/>
      <p:bldP spid="20" grpId="0" animBg="1"/>
      <p:bldP spid="21" grpId="0"/>
      <p:bldP spid="22" grpId="0"/>
      <p:bldP spid="23" grpId="0" animBg="1"/>
      <p:bldP spid="24" grpId="0" animBg="1"/>
      <p:bldP spid="25" grpId="0"/>
      <p:bldP spid="26" grpId="0"/>
      <p:bldP spid="27" grpId="0" animBg="1"/>
      <p:bldP spid="28" grpId="0" animBg="1"/>
      <p:bldP spid="29" grpId="0"/>
      <p:bldP spid="30"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BEB9EEBC-D15D-DB79-A785-8EFD34F63B22}"/>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9248711A-DED9-7C5D-CF2C-8782BEA802B8}"/>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2B3058CD-DC6E-1816-D5EF-EB9ADE0CADCA}"/>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SEALAUDIT</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98DCBC90-F149-7B6F-E35D-F10CA659E2DA}"/>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10</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7C9A8D18-6389-C2C0-7E42-36FA004E6F4D}"/>
              </a:ext>
            </a:extLst>
          </p:cNvPr>
          <p:cNvCxnSpPr/>
          <p:nvPr/>
        </p:nvCxnSpPr>
        <p:spPr>
          <a:xfrm>
            <a:off x="736600" y="19558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B1B71EDB-C62E-A075-EB16-83FC04B3A1AC}"/>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402AD7A6-24FB-5C34-6418-C0C90A15D8AB}"/>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CBCE5FE9-767F-08AD-9290-4F140264CD2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2CCEE201-8AAC-86D6-114F-49C2A5D38654}"/>
              </a:ext>
            </a:extLst>
          </p:cNvPr>
          <p:cNvSpPr txBox="1"/>
          <p:nvPr/>
        </p:nvSpPr>
        <p:spPr>
          <a:xfrm>
            <a:off x="736600" y="711200"/>
            <a:ext cx="10795000" cy="276999"/>
          </a:xfrm>
          <a:prstGeom prst="rect">
            <a:avLst/>
          </a:prstGeom>
          <a:noFill/>
        </p:spPr>
        <p:txBody>
          <a:bodyPr vert="horz" wrap="square" lIns="0" tIns="0" rIns="0" bIns="0" rtlCol="0">
            <a:noAutofit/>
          </a:bodyPr>
          <a:lstStyle/>
          <a:p>
            <a:r>
              <a:rPr lang="en-US" altLang="zh-CN" sz="3000" b="1">
                <a:solidFill>
                  <a:srgbClr val="071837"/>
                </a:solidFill>
                <a:latin typeface="Aptos" panose="020B0004020202020204" pitchFamily="34" charset="0"/>
              </a:rPr>
              <a:t>Security triage is selective by design.</a:t>
            </a:r>
            <a:endParaRPr lang="zh-CN" altLang="en-US" sz="300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81F4407A-64A4-A48F-F0DF-47D4FAFA1191}"/>
              </a:ext>
            </a:extLst>
          </p:cNvPr>
          <p:cNvSpPr txBox="1"/>
          <p:nvPr/>
        </p:nvSpPr>
        <p:spPr>
          <a:xfrm>
            <a:off x="787400" y="1473200"/>
            <a:ext cx="10287000" cy="276999"/>
          </a:xfrm>
          <a:prstGeom prst="rect">
            <a:avLst/>
          </a:prstGeom>
          <a:noFill/>
        </p:spPr>
        <p:txBody>
          <a:bodyPr vert="horz" wrap="square" lIns="0" tIns="0" rIns="0" bIns="0" rtlCol="0">
            <a:noAutofit/>
          </a:bodyPr>
          <a:lstStyle/>
          <a:p>
            <a:r>
              <a:rPr lang="en-US" altLang="zh-CN" sz="1220">
                <a:solidFill>
                  <a:srgbClr val="52617A"/>
                </a:solidFill>
                <a:latin typeface="Aptos" panose="020B0004020202020204" pitchFamily="34" charset="0"/>
              </a:rPr>
              <a:t>The main result is a coverage frontier: decisive rows, hard ambiguity, and review cases are all reported.</a:t>
            </a:r>
            <a:endParaRPr lang="zh-CN" altLang="en-US" sz="1220">
              <a:solidFill>
                <a:srgbClr val="52617A"/>
              </a:solidFill>
              <a:latin typeface="Aptos" panose="020B0004020202020204" pitchFamily="34" charset="0"/>
            </a:endParaRPr>
          </a:p>
        </p:txBody>
      </p:sp>
      <p:sp>
        <p:nvSpPr>
          <p:cNvPr id="13" name="seal-stack-benign">
            <a:extLst>
              <a:ext uri="{FF2B5EF4-FFF2-40B4-BE49-F238E27FC236}">
                <a16:creationId xmlns:a16="http://schemas.microsoft.com/office/drawing/2014/main" id="{58735F0D-17EC-6B70-5A88-CDA111CB254B}"/>
              </a:ext>
            </a:extLst>
          </p:cNvPr>
          <p:cNvSpPr/>
          <p:nvPr/>
        </p:nvSpPr>
        <p:spPr>
          <a:xfrm>
            <a:off x="1193800" y="2768600"/>
            <a:ext cx="814917" cy="685800"/>
          </a:xfrm>
          <a:prstGeom prst="rect">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seal-stack-txt-benign">
            <a:extLst>
              <a:ext uri="{FF2B5EF4-FFF2-40B4-BE49-F238E27FC236}">
                <a16:creationId xmlns:a16="http://schemas.microsoft.com/office/drawing/2014/main" id="{120D6E69-C0E1-A5DE-74BA-D6D855D38FA2}"/>
              </a:ext>
            </a:extLst>
          </p:cNvPr>
          <p:cNvSpPr txBox="1"/>
          <p:nvPr/>
        </p:nvSpPr>
        <p:spPr>
          <a:xfrm>
            <a:off x="1270000" y="2895600"/>
            <a:ext cx="662517" cy="276999"/>
          </a:xfrm>
          <a:prstGeom prst="rect">
            <a:avLst/>
          </a:prstGeom>
          <a:noFill/>
        </p:spPr>
        <p:txBody>
          <a:bodyPr vert="horz" wrap="square" lIns="0" tIns="0" rIns="0" bIns="0" rtlCol="0">
            <a:noAutofit/>
          </a:bodyPr>
          <a:lstStyle/>
          <a:p>
            <a:pPr algn="ctr"/>
            <a:r>
              <a:rPr lang="en-US" altLang="zh-CN" sz="1020" b="1">
                <a:solidFill>
                  <a:srgbClr val="FFFFFF"/>
                </a:solidFill>
                <a:latin typeface="Aptos" panose="020B0004020202020204" pitchFamily="34" charset="0"/>
              </a:rPr>
              <a:t>80 benign</a:t>
            </a:r>
            <a:endParaRPr lang="zh-CN" altLang="en-US" sz="1020" b="1">
              <a:solidFill>
                <a:srgbClr val="FFFFFF"/>
              </a:solidFill>
              <a:latin typeface="Aptos" panose="020B0004020202020204" pitchFamily="34" charset="0"/>
            </a:endParaRPr>
          </a:p>
        </p:txBody>
      </p:sp>
      <p:sp>
        <p:nvSpPr>
          <p:cNvPr id="15" name="seal-stack-risk">
            <a:extLst>
              <a:ext uri="{FF2B5EF4-FFF2-40B4-BE49-F238E27FC236}">
                <a16:creationId xmlns:a16="http://schemas.microsoft.com/office/drawing/2014/main" id="{3C2F4AFD-9AE4-636C-3F9C-1D52E4D47C9D}"/>
              </a:ext>
            </a:extLst>
          </p:cNvPr>
          <p:cNvSpPr/>
          <p:nvPr/>
        </p:nvSpPr>
        <p:spPr>
          <a:xfrm>
            <a:off x="2008717" y="2768600"/>
            <a:ext cx="2444750" cy="685800"/>
          </a:xfrm>
          <a:prstGeom prst="rect">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seal-stack-txt-risk">
            <a:extLst>
              <a:ext uri="{FF2B5EF4-FFF2-40B4-BE49-F238E27FC236}">
                <a16:creationId xmlns:a16="http://schemas.microsoft.com/office/drawing/2014/main" id="{30B346E2-46C1-3FF6-D9CB-E3A49BD8D847}"/>
              </a:ext>
            </a:extLst>
          </p:cNvPr>
          <p:cNvSpPr txBox="1"/>
          <p:nvPr/>
        </p:nvSpPr>
        <p:spPr>
          <a:xfrm>
            <a:off x="2084917" y="2895600"/>
            <a:ext cx="2292350" cy="276999"/>
          </a:xfrm>
          <a:prstGeom prst="rect">
            <a:avLst/>
          </a:prstGeom>
          <a:noFill/>
        </p:spPr>
        <p:txBody>
          <a:bodyPr vert="horz" wrap="square" lIns="0" tIns="0" rIns="0" bIns="0" rtlCol="0">
            <a:noAutofit/>
          </a:bodyPr>
          <a:lstStyle/>
          <a:p>
            <a:pPr algn="ctr"/>
            <a:r>
              <a:rPr lang="en-US" altLang="zh-CN" sz="1020" b="1">
                <a:solidFill>
                  <a:srgbClr val="FFFFFF"/>
                </a:solidFill>
                <a:latin typeface="Aptos" panose="020B0004020202020204" pitchFamily="34" charset="0"/>
              </a:rPr>
              <a:t>240 latent risk</a:t>
            </a:r>
            <a:endParaRPr lang="zh-CN" altLang="en-US" sz="1020" b="1">
              <a:solidFill>
                <a:srgbClr val="FFFFFF"/>
              </a:solidFill>
              <a:latin typeface="Aptos" panose="020B0004020202020204" pitchFamily="34" charset="0"/>
            </a:endParaRPr>
          </a:p>
        </p:txBody>
      </p:sp>
      <p:sp>
        <p:nvSpPr>
          <p:cNvPr id="17" name="seal-stack-ambig">
            <a:extLst>
              <a:ext uri="{FF2B5EF4-FFF2-40B4-BE49-F238E27FC236}">
                <a16:creationId xmlns:a16="http://schemas.microsoft.com/office/drawing/2014/main" id="{B88440BB-6C4E-AA44-51FA-C4FECC4E5B72}"/>
              </a:ext>
            </a:extLst>
          </p:cNvPr>
          <p:cNvSpPr/>
          <p:nvPr/>
        </p:nvSpPr>
        <p:spPr>
          <a:xfrm>
            <a:off x="4453467" y="2768600"/>
            <a:ext cx="4930246" cy="685800"/>
          </a:xfrm>
          <a:prstGeom prst="rect">
            <a:avLst/>
          </a:prstGeom>
          <a:solidFill>
            <a:srgbClr val="5B45C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seal-stack-txt-ambig">
            <a:extLst>
              <a:ext uri="{FF2B5EF4-FFF2-40B4-BE49-F238E27FC236}">
                <a16:creationId xmlns:a16="http://schemas.microsoft.com/office/drawing/2014/main" id="{3CE2F350-2CD2-10E8-F755-C7BA7260DEB7}"/>
              </a:ext>
            </a:extLst>
          </p:cNvPr>
          <p:cNvSpPr txBox="1"/>
          <p:nvPr/>
        </p:nvSpPr>
        <p:spPr>
          <a:xfrm>
            <a:off x="4529667" y="2895600"/>
            <a:ext cx="4777846" cy="276999"/>
          </a:xfrm>
          <a:prstGeom prst="rect">
            <a:avLst/>
          </a:prstGeom>
          <a:noFill/>
        </p:spPr>
        <p:txBody>
          <a:bodyPr vert="horz" wrap="square" lIns="0" tIns="0" rIns="0" bIns="0" rtlCol="0">
            <a:noAutofit/>
          </a:bodyPr>
          <a:lstStyle/>
          <a:p>
            <a:pPr algn="ctr"/>
            <a:r>
              <a:rPr lang="en-US" altLang="zh-CN" sz="1020" b="1">
                <a:solidFill>
                  <a:srgbClr val="FFFFFF"/>
                </a:solidFill>
                <a:latin typeface="Aptos" panose="020B0004020202020204" pitchFamily="34" charset="0"/>
              </a:rPr>
              <a:t>484 hard ambiguity</a:t>
            </a:r>
            <a:endParaRPr lang="zh-CN" altLang="en-US" sz="1020" b="1">
              <a:solidFill>
                <a:srgbClr val="FFFFFF"/>
              </a:solidFill>
              <a:latin typeface="Aptos" panose="020B0004020202020204" pitchFamily="34" charset="0"/>
            </a:endParaRPr>
          </a:p>
        </p:txBody>
      </p:sp>
      <p:sp>
        <p:nvSpPr>
          <p:cNvPr id="19" name="seal-stack-review">
            <a:extLst>
              <a:ext uri="{FF2B5EF4-FFF2-40B4-BE49-F238E27FC236}">
                <a16:creationId xmlns:a16="http://schemas.microsoft.com/office/drawing/2014/main" id="{3E535D0B-391C-DFA6-1405-F7CA211F948F}"/>
              </a:ext>
            </a:extLst>
          </p:cNvPr>
          <p:cNvSpPr/>
          <p:nvPr/>
        </p:nvSpPr>
        <p:spPr>
          <a:xfrm>
            <a:off x="9383713" y="2768600"/>
            <a:ext cx="1589087" cy="685800"/>
          </a:xfrm>
          <a:prstGeom prst="rect">
            <a:avLst/>
          </a:prstGeom>
          <a:solidFill>
            <a:srgbClr val="5261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eal-stack-txt-review">
            <a:extLst>
              <a:ext uri="{FF2B5EF4-FFF2-40B4-BE49-F238E27FC236}">
                <a16:creationId xmlns:a16="http://schemas.microsoft.com/office/drawing/2014/main" id="{91B7BE7B-DD89-08AB-E041-463C7531F204}"/>
              </a:ext>
            </a:extLst>
          </p:cNvPr>
          <p:cNvSpPr txBox="1"/>
          <p:nvPr/>
        </p:nvSpPr>
        <p:spPr>
          <a:xfrm>
            <a:off x="9459913" y="2895600"/>
            <a:ext cx="1436688" cy="276999"/>
          </a:xfrm>
          <a:prstGeom prst="rect">
            <a:avLst/>
          </a:prstGeom>
          <a:noFill/>
        </p:spPr>
        <p:txBody>
          <a:bodyPr vert="horz" wrap="square" lIns="0" tIns="0" rIns="0" bIns="0" rtlCol="0">
            <a:noAutofit/>
          </a:bodyPr>
          <a:lstStyle/>
          <a:p>
            <a:pPr algn="ctr"/>
            <a:r>
              <a:rPr lang="en-US" altLang="zh-CN" sz="1020" b="1">
                <a:solidFill>
                  <a:srgbClr val="FFFFFF"/>
                </a:solidFill>
                <a:latin typeface="Aptos" panose="020B0004020202020204" pitchFamily="34" charset="0"/>
              </a:rPr>
              <a:t>156 review</a:t>
            </a:r>
            <a:endParaRPr lang="zh-CN" altLang="en-US" sz="1020" b="1">
              <a:solidFill>
                <a:srgbClr val="FFFFFF"/>
              </a:solidFill>
              <a:latin typeface="Aptos" panose="020B0004020202020204" pitchFamily="34" charset="0"/>
            </a:endParaRPr>
          </a:p>
        </p:txBody>
      </p:sp>
      <p:sp>
        <p:nvSpPr>
          <p:cNvPr id="21" name="stack-l">
            <a:extLst>
              <a:ext uri="{FF2B5EF4-FFF2-40B4-BE49-F238E27FC236}">
                <a16:creationId xmlns:a16="http://schemas.microsoft.com/office/drawing/2014/main" id="{6D59E70C-ED69-E9D4-4200-60DAD35B0EEE}"/>
              </a:ext>
            </a:extLst>
          </p:cNvPr>
          <p:cNvSpPr txBox="1"/>
          <p:nvPr/>
        </p:nvSpPr>
        <p:spPr>
          <a:xfrm>
            <a:off x="1193800" y="3632200"/>
            <a:ext cx="9652000" cy="276999"/>
          </a:xfrm>
          <a:prstGeom prst="rect">
            <a:avLst/>
          </a:prstGeom>
          <a:noFill/>
        </p:spPr>
        <p:txBody>
          <a:bodyPr vert="horz" wrap="square" lIns="0" tIns="0" rIns="0" bIns="0" rtlCol="0">
            <a:noAutofit/>
          </a:bodyPr>
          <a:lstStyle/>
          <a:p>
            <a:pPr algn="ctr"/>
            <a:r>
              <a:rPr lang="en-US" altLang="zh-CN" sz="1220" b="1">
                <a:solidFill>
                  <a:srgbClr val="071837"/>
                </a:solidFill>
                <a:latin typeface="Aptos" panose="020B0004020202020204" pitchFamily="34" charset="0"/>
              </a:rPr>
              <a:t>960 marker-hidden rows: 320 decisive, 484 hard ambiguity, 156 role-based review.</a:t>
            </a:r>
            <a:endParaRPr lang="zh-CN" altLang="en-US" sz="1220" b="1">
              <a:solidFill>
                <a:srgbClr val="071837"/>
              </a:solidFill>
              <a:latin typeface="Aptos" panose="020B0004020202020204" pitchFamily="34" charset="0"/>
            </a:endParaRPr>
          </a:p>
        </p:txBody>
      </p:sp>
      <p:sp>
        <p:nvSpPr>
          <p:cNvPr id="22" name="seal0-label">
            <a:extLst>
              <a:ext uri="{FF2B5EF4-FFF2-40B4-BE49-F238E27FC236}">
                <a16:creationId xmlns:a16="http://schemas.microsoft.com/office/drawing/2014/main" id="{683DB480-60E6-3660-DD44-0F4C8FFF1FBD}"/>
              </a:ext>
            </a:extLst>
          </p:cNvPr>
          <p:cNvSpPr txBox="1"/>
          <p:nvPr/>
        </p:nvSpPr>
        <p:spPr>
          <a:xfrm>
            <a:off x="1803400" y="43307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decisive triage</a:t>
            </a:r>
            <a:endParaRPr lang="zh-CN" altLang="en-US" sz="1320" b="1">
              <a:solidFill>
                <a:srgbClr val="071837"/>
              </a:solidFill>
              <a:latin typeface="Aptos" panose="020B0004020202020204" pitchFamily="34" charset="0"/>
            </a:endParaRPr>
          </a:p>
        </p:txBody>
      </p:sp>
      <p:sp>
        <p:nvSpPr>
          <p:cNvPr id="23" name="seal0-track">
            <a:extLst>
              <a:ext uri="{FF2B5EF4-FFF2-40B4-BE49-F238E27FC236}">
                <a16:creationId xmlns:a16="http://schemas.microsoft.com/office/drawing/2014/main" id="{8ED255D9-BCC3-535A-DF0A-D11A94E68B94}"/>
              </a:ext>
            </a:extLst>
          </p:cNvPr>
          <p:cNvSpPr/>
          <p:nvPr/>
        </p:nvSpPr>
        <p:spPr>
          <a:xfrm>
            <a:off x="4318000" y="4368800"/>
            <a:ext cx="3302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seal0-bar">
            <a:extLst>
              <a:ext uri="{FF2B5EF4-FFF2-40B4-BE49-F238E27FC236}">
                <a16:creationId xmlns:a16="http://schemas.microsoft.com/office/drawing/2014/main" id="{13345F5C-CA45-92E5-D926-E79DEDE67F6F}"/>
              </a:ext>
            </a:extLst>
          </p:cNvPr>
          <p:cNvSpPr/>
          <p:nvPr/>
        </p:nvSpPr>
        <p:spPr>
          <a:xfrm>
            <a:off x="4318000" y="4368800"/>
            <a:ext cx="25400" cy="177800"/>
          </a:xfrm>
          <a:prstGeom prst="roundRect">
            <a:avLst>
              <a:gd name="adj" fmla="val 14000"/>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seal0-value">
            <a:extLst>
              <a:ext uri="{FF2B5EF4-FFF2-40B4-BE49-F238E27FC236}">
                <a16:creationId xmlns:a16="http://schemas.microsoft.com/office/drawing/2014/main" id="{9B42E04B-CED1-8016-8DEA-B0806C564543}"/>
              </a:ext>
            </a:extLst>
          </p:cNvPr>
          <p:cNvSpPr txBox="1"/>
          <p:nvPr/>
        </p:nvSpPr>
        <p:spPr>
          <a:xfrm>
            <a:off x="7772400" y="4318000"/>
            <a:ext cx="1524000" cy="276999"/>
          </a:xfrm>
          <a:prstGeom prst="rect">
            <a:avLst/>
          </a:prstGeom>
          <a:noFill/>
        </p:spPr>
        <p:txBody>
          <a:bodyPr vert="horz" wrap="square" lIns="0" tIns="0" rIns="0" bIns="0" rtlCol="0">
            <a:noAutofit/>
          </a:bodyPr>
          <a:lstStyle/>
          <a:p>
            <a:r>
              <a:rPr lang="en-US" altLang="zh-CN" sz="1300" b="1">
                <a:solidFill>
                  <a:srgbClr val="1F7A4D"/>
                </a:solidFill>
                <a:latin typeface="Aptos" panose="020B0004020202020204" pitchFamily="34" charset="0"/>
              </a:rPr>
              <a:t>320/960</a:t>
            </a:r>
            <a:endParaRPr lang="zh-CN" altLang="en-US" sz="1300" b="1">
              <a:solidFill>
                <a:srgbClr val="1F7A4D"/>
              </a:solidFill>
              <a:latin typeface="Aptos" panose="020B0004020202020204" pitchFamily="34" charset="0"/>
            </a:endParaRPr>
          </a:p>
        </p:txBody>
      </p:sp>
      <p:sp>
        <p:nvSpPr>
          <p:cNvPr id="26" name="seal1-label">
            <a:extLst>
              <a:ext uri="{FF2B5EF4-FFF2-40B4-BE49-F238E27FC236}">
                <a16:creationId xmlns:a16="http://schemas.microsoft.com/office/drawing/2014/main" id="{0397B5EA-01D1-3676-4CC1-5335897A8ED5}"/>
              </a:ext>
            </a:extLst>
          </p:cNvPr>
          <p:cNvSpPr txBox="1"/>
          <p:nvPr/>
        </p:nvSpPr>
        <p:spPr>
          <a:xfrm>
            <a:off x="1803400" y="48133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unsafe passes</a:t>
            </a:r>
            <a:endParaRPr lang="zh-CN" altLang="en-US" sz="1320" b="1">
              <a:solidFill>
                <a:srgbClr val="071837"/>
              </a:solidFill>
              <a:latin typeface="Aptos" panose="020B0004020202020204" pitchFamily="34" charset="0"/>
            </a:endParaRPr>
          </a:p>
        </p:txBody>
      </p:sp>
      <p:sp>
        <p:nvSpPr>
          <p:cNvPr id="27" name="seal1-track">
            <a:extLst>
              <a:ext uri="{FF2B5EF4-FFF2-40B4-BE49-F238E27FC236}">
                <a16:creationId xmlns:a16="http://schemas.microsoft.com/office/drawing/2014/main" id="{5471B2BB-1EEA-893A-C350-42D979FC58B5}"/>
              </a:ext>
            </a:extLst>
          </p:cNvPr>
          <p:cNvSpPr/>
          <p:nvPr/>
        </p:nvSpPr>
        <p:spPr>
          <a:xfrm>
            <a:off x="4318000" y="4851400"/>
            <a:ext cx="3302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seal1-bar">
            <a:extLst>
              <a:ext uri="{FF2B5EF4-FFF2-40B4-BE49-F238E27FC236}">
                <a16:creationId xmlns:a16="http://schemas.microsoft.com/office/drawing/2014/main" id="{3674B657-B901-0C6A-E7E6-6A3C7761E291}"/>
              </a:ext>
            </a:extLst>
          </p:cNvPr>
          <p:cNvSpPr/>
          <p:nvPr/>
        </p:nvSpPr>
        <p:spPr>
          <a:xfrm>
            <a:off x="4318000" y="4851400"/>
            <a:ext cx="25400" cy="177800"/>
          </a:xfrm>
          <a:prstGeom prst="roundRect">
            <a:avLst>
              <a:gd name="adj" fmla="val 14000"/>
            </a:avLst>
          </a:prstGeom>
          <a:solidFill>
            <a:srgbClr val="B92C41"/>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seal1-value">
            <a:extLst>
              <a:ext uri="{FF2B5EF4-FFF2-40B4-BE49-F238E27FC236}">
                <a16:creationId xmlns:a16="http://schemas.microsoft.com/office/drawing/2014/main" id="{41081591-B818-00C2-21FC-5F8F438B7F4A}"/>
              </a:ext>
            </a:extLst>
          </p:cNvPr>
          <p:cNvSpPr txBox="1"/>
          <p:nvPr/>
        </p:nvSpPr>
        <p:spPr>
          <a:xfrm>
            <a:off x="7772400" y="4800600"/>
            <a:ext cx="1524000" cy="276999"/>
          </a:xfrm>
          <a:prstGeom prst="rect">
            <a:avLst/>
          </a:prstGeom>
          <a:noFill/>
        </p:spPr>
        <p:txBody>
          <a:bodyPr vert="horz" wrap="square" lIns="0" tIns="0" rIns="0" bIns="0" rtlCol="0">
            <a:noAutofit/>
          </a:bodyPr>
          <a:lstStyle/>
          <a:p>
            <a:r>
              <a:rPr lang="en-US" altLang="zh-CN" sz="1300" b="1">
                <a:solidFill>
                  <a:srgbClr val="B92C41"/>
                </a:solidFill>
                <a:latin typeface="Aptos" panose="020B0004020202020204" pitchFamily="34" charset="0"/>
              </a:rPr>
              <a:t>0/960</a:t>
            </a:r>
            <a:endParaRPr lang="zh-CN" altLang="en-US" sz="1300" b="1">
              <a:solidFill>
                <a:srgbClr val="B92C41"/>
              </a:solidFill>
              <a:latin typeface="Aptos" panose="020B0004020202020204" pitchFamily="34" charset="0"/>
            </a:endParaRPr>
          </a:p>
        </p:txBody>
      </p:sp>
      <p:sp>
        <p:nvSpPr>
          <p:cNvPr id="30" name="seal2-label">
            <a:extLst>
              <a:ext uri="{FF2B5EF4-FFF2-40B4-BE49-F238E27FC236}">
                <a16:creationId xmlns:a16="http://schemas.microsoft.com/office/drawing/2014/main" id="{93766715-0A93-BCA3-4EFC-A7452874DF05}"/>
              </a:ext>
            </a:extLst>
          </p:cNvPr>
          <p:cNvSpPr txBox="1"/>
          <p:nvPr/>
        </p:nvSpPr>
        <p:spPr>
          <a:xfrm>
            <a:off x="1803400" y="52959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support stress</a:t>
            </a:r>
            <a:endParaRPr lang="zh-CN" altLang="en-US" sz="1320" b="1">
              <a:solidFill>
                <a:srgbClr val="071837"/>
              </a:solidFill>
              <a:latin typeface="Aptos" panose="020B0004020202020204" pitchFamily="34" charset="0"/>
            </a:endParaRPr>
          </a:p>
        </p:txBody>
      </p:sp>
      <p:sp>
        <p:nvSpPr>
          <p:cNvPr id="31" name="seal2-track">
            <a:extLst>
              <a:ext uri="{FF2B5EF4-FFF2-40B4-BE49-F238E27FC236}">
                <a16:creationId xmlns:a16="http://schemas.microsoft.com/office/drawing/2014/main" id="{A51FAA8E-C0D1-2F32-CDEA-C0F545ABD348}"/>
              </a:ext>
            </a:extLst>
          </p:cNvPr>
          <p:cNvSpPr/>
          <p:nvPr/>
        </p:nvSpPr>
        <p:spPr>
          <a:xfrm>
            <a:off x="4318000" y="5334000"/>
            <a:ext cx="3302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seal2-bar">
            <a:extLst>
              <a:ext uri="{FF2B5EF4-FFF2-40B4-BE49-F238E27FC236}">
                <a16:creationId xmlns:a16="http://schemas.microsoft.com/office/drawing/2014/main" id="{2C6C6005-788C-4B58-3387-9B162F86EBA4}"/>
              </a:ext>
            </a:extLst>
          </p:cNvPr>
          <p:cNvSpPr/>
          <p:nvPr/>
        </p:nvSpPr>
        <p:spPr>
          <a:xfrm>
            <a:off x="4318000" y="5334000"/>
            <a:ext cx="25400" cy="177800"/>
          </a:xfrm>
          <a:prstGeom prst="roundRect">
            <a:avLst>
              <a:gd name="adj" fmla="val 14000"/>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seal2-value">
            <a:extLst>
              <a:ext uri="{FF2B5EF4-FFF2-40B4-BE49-F238E27FC236}">
                <a16:creationId xmlns:a16="http://schemas.microsoft.com/office/drawing/2014/main" id="{EC03D929-1E2C-EA49-E004-8D79F2128605}"/>
              </a:ext>
            </a:extLst>
          </p:cNvPr>
          <p:cNvSpPr txBox="1"/>
          <p:nvPr/>
        </p:nvSpPr>
        <p:spPr>
          <a:xfrm>
            <a:off x="7772400" y="5283200"/>
            <a:ext cx="1524000" cy="276999"/>
          </a:xfrm>
          <a:prstGeom prst="rect">
            <a:avLst/>
          </a:prstGeom>
          <a:noFill/>
        </p:spPr>
        <p:txBody>
          <a:bodyPr vert="horz" wrap="square" lIns="0" tIns="0" rIns="0" bIns="0" rtlCol="0">
            <a:noAutofit/>
          </a:bodyPr>
          <a:lstStyle/>
          <a:p>
            <a:r>
              <a:rPr lang="en-US" altLang="zh-CN" sz="1300" b="1">
                <a:solidFill>
                  <a:srgbClr val="168E8B"/>
                </a:solidFill>
                <a:latin typeface="Aptos" panose="020B0004020202020204" pitchFamily="34" charset="0"/>
              </a:rPr>
              <a:t>312/960</a:t>
            </a:r>
            <a:endParaRPr lang="zh-CN" altLang="en-US" sz="1300" b="1">
              <a:solidFill>
                <a:srgbClr val="168E8B"/>
              </a:solidFill>
              <a:latin typeface="Aptos" panose="020B0004020202020204" pitchFamily="34" charset="0"/>
            </a:endParaRPr>
          </a:p>
        </p:txBody>
      </p:sp>
      <p:sp>
        <p:nvSpPr>
          <p:cNvPr id="34" name="seal-bound">
            <a:extLst>
              <a:ext uri="{FF2B5EF4-FFF2-40B4-BE49-F238E27FC236}">
                <a16:creationId xmlns:a16="http://schemas.microsoft.com/office/drawing/2014/main" id="{0A3B29EE-E6AF-8E6C-3394-675450F388AA}"/>
              </a:ext>
            </a:extLst>
          </p:cNvPr>
          <p:cNvSpPr/>
          <p:nvPr/>
        </p:nvSpPr>
        <p:spPr>
          <a:xfrm>
            <a:off x="8940800" y="4292600"/>
            <a:ext cx="2032000" cy="13462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seal-bound-t">
            <a:extLst>
              <a:ext uri="{FF2B5EF4-FFF2-40B4-BE49-F238E27FC236}">
                <a16:creationId xmlns:a16="http://schemas.microsoft.com/office/drawing/2014/main" id="{C358FB56-E903-CF9B-5DCB-C18B7B5A2308}"/>
              </a:ext>
            </a:extLst>
          </p:cNvPr>
          <p:cNvSpPr txBox="1"/>
          <p:nvPr/>
        </p:nvSpPr>
        <p:spPr>
          <a:xfrm>
            <a:off x="9169400" y="4572000"/>
            <a:ext cx="1574800" cy="276999"/>
          </a:xfrm>
          <a:prstGeom prst="rect">
            <a:avLst/>
          </a:prstGeom>
          <a:noFill/>
        </p:spPr>
        <p:txBody>
          <a:bodyPr vert="horz" wrap="square" lIns="0" tIns="0" rIns="0" bIns="0" rtlCol="0">
            <a:noAutofit/>
          </a:bodyPr>
          <a:lstStyle/>
          <a:p>
            <a:pPr algn="ctr"/>
            <a:r>
              <a:rPr lang="en-US" altLang="zh-CN" sz="1680" b="1">
                <a:solidFill>
                  <a:srgbClr val="071837"/>
                </a:solidFill>
                <a:latin typeface="Aptos" panose="020B0004020202020204" pitchFamily="34" charset="0"/>
              </a:rPr>
              <a:t>abstention is
not a failure</a:t>
            </a:r>
            <a:endParaRPr lang="zh-CN" altLang="en-US" sz="1680" b="1">
              <a:solidFill>
                <a:srgbClr val="071837"/>
              </a:solidFill>
              <a:latin typeface="Aptos" panose="020B0004020202020204" pitchFamily="34" charset="0"/>
            </a:endParaRPr>
          </a:p>
        </p:txBody>
      </p:sp>
      <p:sp>
        <p:nvSpPr>
          <p:cNvPr id="36" name="seal-bound-s">
            <a:extLst>
              <a:ext uri="{FF2B5EF4-FFF2-40B4-BE49-F238E27FC236}">
                <a16:creationId xmlns:a16="http://schemas.microsoft.com/office/drawing/2014/main" id="{55B42178-B05D-0771-FFBF-1D72B93BD016}"/>
              </a:ext>
            </a:extLst>
          </p:cNvPr>
          <p:cNvSpPr txBox="1"/>
          <p:nvPr/>
        </p:nvSpPr>
        <p:spPr>
          <a:xfrm>
            <a:off x="9169400" y="5232400"/>
            <a:ext cx="1574800" cy="276999"/>
          </a:xfrm>
          <a:prstGeom prst="rect">
            <a:avLst/>
          </a:prstGeom>
          <a:noFill/>
        </p:spPr>
        <p:txBody>
          <a:bodyPr vert="horz" wrap="square" lIns="0" tIns="0" rIns="0" bIns="0" rtlCol="0">
            <a:noAutofit/>
          </a:bodyPr>
          <a:lstStyle/>
          <a:p>
            <a:pPr algn="ctr"/>
            <a:r>
              <a:rPr lang="en-US" altLang="zh-CN" sz="800" b="1">
                <a:solidFill>
                  <a:srgbClr val="52617A"/>
                </a:solidFill>
                <a:latin typeface="Aptos" panose="020B0004020202020204" pitchFamily="34" charset="0"/>
              </a:rPr>
              <a:t>blocks unsupported safety claims</a:t>
            </a:r>
            <a:endParaRPr lang="zh-CN" altLang="en-US" sz="800" b="1">
              <a:solidFill>
                <a:srgbClr val="52617A"/>
              </a:solidFill>
              <a:latin typeface="Aptos" panose="020B0004020202020204" pitchFamily="34" charset="0"/>
            </a:endParaRPr>
          </a:p>
        </p:txBody>
      </p:sp>
      <p:sp>
        <p:nvSpPr>
          <p:cNvPr id="37" name="footer-hit-10">
            <a:hlinkClick r:id="rId4"/>
            <a:extLst>
              <a:ext uri="{FF2B5EF4-FFF2-40B4-BE49-F238E27FC236}">
                <a16:creationId xmlns:a16="http://schemas.microsoft.com/office/drawing/2014/main" id="{602C77F2-991E-7072-2780-3E03BB3BFC06}"/>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95820107"/>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160"/>
                                        <p:tgtEl>
                                          <p:spTgt spid="22"/>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160"/>
                                        <p:tgtEl>
                                          <p:spTgt spid="23"/>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160"/>
                                        <p:tgtEl>
                                          <p:spTgt spid="24"/>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160"/>
                                        <p:tgtEl>
                                          <p:spTgt spid="25"/>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160"/>
                                        <p:tgtEl>
                                          <p:spTgt spid="26"/>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160"/>
                                        <p:tgtEl>
                                          <p:spTgt spid="27"/>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160"/>
                                        <p:tgtEl>
                                          <p:spTgt spid="28"/>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160"/>
                                        <p:tgtEl>
                                          <p:spTgt spid="29"/>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160"/>
                                        <p:tgtEl>
                                          <p:spTgt spid="30"/>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160"/>
                                        <p:tgtEl>
                                          <p:spTgt spid="31"/>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160"/>
                                        <p:tgtEl>
                                          <p:spTgt spid="32"/>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160"/>
                                        <p:tgtEl>
                                          <p:spTgt spid="33"/>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160"/>
                                        <p:tgtEl>
                                          <p:spTgt spid="34"/>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160"/>
                                        <p:tgtEl>
                                          <p:spTgt spid="35"/>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16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animBg="1"/>
      <p:bldP spid="16" grpId="0"/>
      <p:bldP spid="17" grpId="0" animBg="1"/>
      <p:bldP spid="18" grpId="0"/>
      <p:bldP spid="19" grpId="0" animBg="1"/>
      <p:bldP spid="20" grpId="0"/>
      <p:bldP spid="22" grpId="0"/>
      <p:bldP spid="23" grpId="0" animBg="1"/>
      <p:bldP spid="24" grpId="0" animBg="1"/>
      <p:bldP spid="25" grpId="0"/>
      <p:bldP spid="26" grpId="0"/>
      <p:bldP spid="27" grpId="0" animBg="1"/>
      <p:bldP spid="28" grpId="0" animBg="1"/>
      <p:bldP spid="29" grpId="0"/>
      <p:bldP spid="30" grpId="0"/>
      <p:bldP spid="31" grpId="0" animBg="1"/>
      <p:bldP spid="32" grpId="0" animBg="1"/>
      <p:bldP spid="33" grpId="0"/>
      <p:bldP spid="34" grpId="0" animBg="1"/>
      <p:bldP spid="35" grpId="0"/>
      <p:bldP spid="3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21A002CF-9221-B3A2-C50C-F1D27BB5C47C}"/>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D00995FC-4C64-F0AB-861B-CBCCA75C76A0}"/>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FE5067A2-940F-AFDE-7C32-181406A028DC}"/>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EVIDENCE LEDGER</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B15B7E5C-3BA2-79C3-C35E-5666A61D2EF0}"/>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11</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130FB603-94A8-4A75-9FBF-00AAD68F4F89}"/>
              </a:ext>
            </a:extLst>
          </p:cNvPr>
          <p:cNvCxnSpPr/>
          <p:nvPr/>
        </p:nvCxnSpPr>
        <p:spPr>
          <a:xfrm>
            <a:off x="736600" y="19558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83D2284A-C5D5-2C64-A646-63054D36B8C3}"/>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42EA6E2F-D014-8EA6-C8D4-5D0EEADFAC94}"/>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C955C78D-6689-09CB-8C78-5ADEAE70081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07E7BD24-5A9F-799D-A694-D286667D39F6}"/>
              </a:ext>
            </a:extLst>
          </p:cNvPr>
          <p:cNvSpPr txBox="1"/>
          <p:nvPr/>
        </p:nvSpPr>
        <p:spPr>
          <a:xfrm>
            <a:off x="736600" y="711200"/>
            <a:ext cx="10795000" cy="276999"/>
          </a:xfrm>
          <a:prstGeom prst="rect">
            <a:avLst/>
          </a:prstGeom>
          <a:noFill/>
        </p:spPr>
        <p:txBody>
          <a:bodyPr vert="horz" wrap="square" lIns="0" tIns="0" rIns="0" bIns="0" rtlCol="0">
            <a:noAutofit/>
          </a:bodyPr>
          <a:lstStyle/>
          <a:p>
            <a:r>
              <a:rPr lang="en-US" altLang="zh-CN" sz="3000" b="1">
                <a:solidFill>
                  <a:srgbClr val="071837"/>
                </a:solidFill>
                <a:latin typeface="Aptos" panose="020B0004020202020204" pitchFamily="34" charset="0"/>
              </a:rPr>
              <a:t>Progress can be shown without moving the baseline.</a:t>
            </a:r>
            <a:endParaRPr lang="zh-CN" altLang="en-US" sz="300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E7755D04-D442-91BE-30DE-3342BC685FDF}"/>
              </a:ext>
            </a:extLst>
          </p:cNvPr>
          <p:cNvSpPr txBox="1"/>
          <p:nvPr/>
        </p:nvSpPr>
        <p:spPr>
          <a:xfrm>
            <a:off x="787400" y="1473200"/>
            <a:ext cx="10287000" cy="276999"/>
          </a:xfrm>
          <a:prstGeom prst="rect">
            <a:avLst/>
          </a:prstGeom>
          <a:noFill/>
        </p:spPr>
        <p:txBody>
          <a:bodyPr vert="horz" wrap="square" lIns="0" tIns="0" rIns="0" bIns="0" rtlCol="0">
            <a:noAutofit/>
          </a:bodyPr>
          <a:lstStyle/>
          <a:p>
            <a:r>
              <a:rPr lang="en-US" altLang="zh-CN" sz="1220">
                <a:solidFill>
                  <a:srgbClr val="52617A"/>
                </a:solidFill>
                <a:latin typeface="Aptos" panose="020B0004020202020204" pitchFamily="34" charset="0"/>
              </a:rPr>
              <a:t>The table keeps official FYP numbers and continuation numbers in separate lanes.</a:t>
            </a:r>
            <a:endParaRPr lang="zh-CN" altLang="en-US" sz="1220">
              <a:solidFill>
                <a:srgbClr val="52617A"/>
              </a:solidFill>
              <a:latin typeface="Aptos" panose="020B0004020202020204" pitchFamily="34" charset="0"/>
            </a:endParaRPr>
          </a:p>
        </p:txBody>
      </p:sp>
      <p:sp>
        <p:nvSpPr>
          <p:cNvPr id="13" name="h0">
            <a:extLst>
              <a:ext uri="{FF2B5EF4-FFF2-40B4-BE49-F238E27FC236}">
                <a16:creationId xmlns:a16="http://schemas.microsoft.com/office/drawing/2014/main" id="{AF65510E-8310-DE4C-CE35-F15DDB7006EF}"/>
              </a:ext>
            </a:extLst>
          </p:cNvPr>
          <p:cNvSpPr txBox="1"/>
          <p:nvPr/>
        </p:nvSpPr>
        <p:spPr>
          <a:xfrm>
            <a:off x="1168400" y="2133600"/>
            <a:ext cx="2159000" cy="276999"/>
          </a:xfrm>
          <a:prstGeom prst="rect">
            <a:avLst/>
          </a:prstGeom>
          <a:noFill/>
        </p:spPr>
        <p:txBody>
          <a:bodyPr vert="horz" wrap="square" lIns="0" tIns="0" rIns="0" bIns="0" rtlCol="0">
            <a:noAutofit/>
          </a:bodyPr>
          <a:lstStyle/>
          <a:p>
            <a:r>
              <a:rPr lang="en-US" altLang="zh-CN" sz="1050" b="1">
                <a:solidFill>
                  <a:srgbClr val="52617A"/>
                </a:solidFill>
                <a:latin typeface="Aptos" panose="020B0004020202020204" pitchFamily="34" charset="0"/>
              </a:rPr>
              <a:t>track</a:t>
            </a:r>
            <a:endParaRPr lang="zh-CN" altLang="en-US" sz="1050" b="1">
              <a:solidFill>
                <a:srgbClr val="52617A"/>
              </a:solidFill>
              <a:latin typeface="Aptos" panose="020B0004020202020204" pitchFamily="34" charset="0"/>
            </a:endParaRPr>
          </a:p>
        </p:txBody>
      </p:sp>
      <p:sp>
        <p:nvSpPr>
          <p:cNvPr id="14" name="h1">
            <a:extLst>
              <a:ext uri="{FF2B5EF4-FFF2-40B4-BE49-F238E27FC236}">
                <a16:creationId xmlns:a16="http://schemas.microsoft.com/office/drawing/2014/main" id="{9C6B1570-4E1E-0092-5D0B-7B3498DA1F6B}"/>
              </a:ext>
            </a:extLst>
          </p:cNvPr>
          <p:cNvSpPr txBox="1"/>
          <p:nvPr/>
        </p:nvSpPr>
        <p:spPr>
          <a:xfrm>
            <a:off x="3962400" y="2133600"/>
            <a:ext cx="2667000" cy="276999"/>
          </a:xfrm>
          <a:prstGeom prst="rect">
            <a:avLst/>
          </a:prstGeom>
          <a:noFill/>
        </p:spPr>
        <p:txBody>
          <a:bodyPr vert="horz" wrap="square" lIns="0" tIns="0" rIns="0" bIns="0" rtlCol="0">
            <a:noAutofit/>
          </a:bodyPr>
          <a:lstStyle/>
          <a:p>
            <a:r>
              <a:rPr lang="en-US" altLang="zh-CN" sz="1050" b="1">
                <a:solidFill>
                  <a:srgbClr val="52617A"/>
                </a:solidFill>
                <a:latin typeface="Aptos" panose="020B0004020202020204" pitchFamily="34" charset="0"/>
              </a:rPr>
              <a:t>submitted FYP snapshot</a:t>
            </a:r>
            <a:endParaRPr lang="zh-CN" altLang="en-US" sz="1050" b="1">
              <a:solidFill>
                <a:srgbClr val="52617A"/>
              </a:solidFill>
              <a:latin typeface="Aptos" panose="020B0004020202020204" pitchFamily="34" charset="0"/>
            </a:endParaRPr>
          </a:p>
        </p:txBody>
      </p:sp>
      <p:sp>
        <p:nvSpPr>
          <p:cNvPr id="15" name="h2">
            <a:extLst>
              <a:ext uri="{FF2B5EF4-FFF2-40B4-BE49-F238E27FC236}">
                <a16:creationId xmlns:a16="http://schemas.microsoft.com/office/drawing/2014/main" id="{4BCEFE59-0D0C-99A9-9B94-71A4338F5C93}"/>
              </a:ext>
            </a:extLst>
          </p:cNvPr>
          <p:cNvSpPr txBox="1"/>
          <p:nvPr/>
        </p:nvSpPr>
        <p:spPr>
          <a:xfrm>
            <a:off x="7366000" y="2133600"/>
            <a:ext cx="3302000" cy="276999"/>
          </a:xfrm>
          <a:prstGeom prst="rect">
            <a:avLst/>
          </a:prstGeom>
          <a:noFill/>
        </p:spPr>
        <p:txBody>
          <a:bodyPr vert="horz" wrap="square" lIns="0" tIns="0" rIns="0" bIns="0" rtlCol="0">
            <a:noAutofit/>
          </a:bodyPr>
          <a:lstStyle/>
          <a:p>
            <a:r>
              <a:rPr lang="en-US" altLang="zh-CN" sz="1050" b="1">
                <a:solidFill>
                  <a:srgbClr val="52617A"/>
                </a:solidFill>
                <a:latin typeface="Aptos" panose="020B0004020202020204" pitchFamily="34" charset="0"/>
              </a:rPr>
              <a:t>continuation surface for viva discussion</a:t>
            </a:r>
            <a:endParaRPr lang="zh-CN" altLang="en-US" sz="1050" b="1">
              <a:solidFill>
                <a:srgbClr val="52617A"/>
              </a:solidFill>
              <a:latin typeface="Aptos" panose="020B0004020202020204" pitchFamily="34" charset="0"/>
            </a:endParaRPr>
          </a:p>
        </p:txBody>
      </p:sp>
      <p:sp>
        <p:nvSpPr>
          <p:cNvPr id="16" name="led0">
            <a:extLst>
              <a:ext uri="{FF2B5EF4-FFF2-40B4-BE49-F238E27FC236}">
                <a16:creationId xmlns:a16="http://schemas.microsoft.com/office/drawing/2014/main" id="{6A811118-DA0D-8F30-8545-9546ED9AB9A1}"/>
              </a:ext>
            </a:extLst>
          </p:cNvPr>
          <p:cNvSpPr/>
          <p:nvPr/>
        </p:nvSpPr>
        <p:spPr>
          <a:xfrm>
            <a:off x="1016000" y="2489200"/>
            <a:ext cx="10160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ledbar0">
            <a:extLst>
              <a:ext uri="{FF2B5EF4-FFF2-40B4-BE49-F238E27FC236}">
                <a16:creationId xmlns:a16="http://schemas.microsoft.com/office/drawing/2014/main" id="{AB66FEE7-543B-008B-3031-A73D431AB3CC}"/>
              </a:ext>
            </a:extLst>
          </p:cNvPr>
          <p:cNvSpPr/>
          <p:nvPr/>
        </p:nvSpPr>
        <p:spPr>
          <a:xfrm>
            <a:off x="1016000" y="2489200"/>
            <a:ext cx="101600" cy="5334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ledp0">
            <a:extLst>
              <a:ext uri="{FF2B5EF4-FFF2-40B4-BE49-F238E27FC236}">
                <a16:creationId xmlns:a16="http://schemas.microsoft.com/office/drawing/2014/main" id="{32DB25D1-EC5C-B881-A2AE-4ED906191C43}"/>
              </a:ext>
            </a:extLst>
          </p:cNvPr>
          <p:cNvSpPr txBox="1"/>
          <p:nvPr/>
        </p:nvSpPr>
        <p:spPr>
          <a:xfrm>
            <a:off x="1371600" y="2616200"/>
            <a:ext cx="2032000" cy="276999"/>
          </a:xfrm>
          <a:prstGeom prst="rect">
            <a:avLst/>
          </a:prstGeom>
          <a:noFill/>
        </p:spPr>
        <p:txBody>
          <a:bodyPr vert="horz" wrap="square" lIns="0" tIns="0" rIns="0" bIns="0" rtlCol="0">
            <a:noAutofit/>
          </a:bodyPr>
          <a:lstStyle/>
          <a:p>
            <a:r>
              <a:rPr lang="en-US" altLang="zh-CN" sz="1230" b="1">
                <a:solidFill>
                  <a:srgbClr val="003B7A"/>
                </a:solidFill>
                <a:latin typeface="Aptos" panose="020B0004020202020204" pitchFamily="34" charset="0"/>
              </a:rPr>
              <a:t>CodeMarkBench</a:t>
            </a:r>
            <a:endParaRPr lang="zh-CN" altLang="en-US" sz="1230" b="1">
              <a:solidFill>
                <a:srgbClr val="003B7A"/>
              </a:solidFill>
              <a:latin typeface="Aptos" panose="020B0004020202020204" pitchFamily="34" charset="0"/>
            </a:endParaRPr>
          </a:p>
        </p:txBody>
      </p:sp>
      <p:sp>
        <p:nvSpPr>
          <p:cNvPr id="19" name="leds0">
            <a:extLst>
              <a:ext uri="{FF2B5EF4-FFF2-40B4-BE49-F238E27FC236}">
                <a16:creationId xmlns:a16="http://schemas.microsoft.com/office/drawing/2014/main" id="{E28575AC-AB92-597B-D8D6-DF500DE2E8A6}"/>
              </a:ext>
            </a:extLst>
          </p:cNvPr>
          <p:cNvSpPr txBox="1"/>
          <p:nvPr/>
        </p:nvSpPr>
        <p:spPr>
          <a:xfrm>
            <a:off x="3962400" y="2616200"/>
            <a:ext cx="2794000" cy="276999"/>
          </a:xfrm>
          <a:prstGeom prst="rect">
            <a:avLst/>
          </a:prstGeom>
          <a:noFill/>
        </p:spPr>
        <p:txBody>
          <a:bodyPr vert="horz" wrap="square" lIns="0" tIns="0" rIns="0" bIns="0" rtlCol="0">
            <a:noAutofit/>
          </a:bodyPr>
          <a:lstStyle/>
          <a:p>
            <a:r>
              <a:rPr lang="en-US" altLang="zh-CN" sz="1170" b="1">
                <a:solidFill>
                  <a:srgbClr val="071837"/>
                </a:solidFill>
                <a:latin typeface="Aptos" panose="020B0004020202020204" pitchFamily="34" charset="0"/>
              </a:rPr>
              <a:t>140/140 runs</a:t>
            </a:r>
            <a:endParaRPr lang="zh-CN" altLang="en-US" sz="1170" b="1">
              <a:solidFill>
                <a:srgbClr val="071837"/>
              </a:solidFill>
              <a:latin typeface="Aptos" panose="020B0004020202020204" pitchFamily="34" charset="0"/>
            </a:endParaRPr>
          </a:p>
        </p:txBody>
      </p:sp>
      <p:sp>
        <p:nvSpPr>
          <p:cNvPr id="20" name="ledc0">
            <a:extLst>
              <a:ext uri="{FF2B5EF4-FFF2-40B4-BE49-F238E27FC236}">
                <a16:creationId xmlns:a16="http://schemas.microsoft.com/office/drawing/2014/main" id="{0E80A5BC-9746-8151-2056-092FF8DB0C8A}"/>
              </a:ext>
            </a:extLst>
          </p:cNvPr>
          <p:cNvSpPr txBox="1"/>
          <p:nvPr/>
        </p:nvSpPr>
        <p:spPr>
          <a:xfrm>
            <a:off x="7366000" y="2616200"/>
            <a:ext cx="3302000" cy="276999"/>
          </a:xfrm>
          <a:prstGeom prst="rect">
            <a:avLst/>
          </a:prstGeom>
          <a:noFill/>
        </p:spPr>
        <p:txBody>
          <a:bodyPr vert="horz" wrap="square" lIns="0" tIns="0" rIns="0" bIns="0" rtlCol="0">
            <a:noAutofit/>
          </a:bodyPr>
          <a:lstStyle/>
          <a:p>
            <a:r>
              <a:rPr lang="en-US" altLang="zh-CN" sz="1070" b="1">
                <a:solidFill>
                  <a:srgbClr val="52617A"/>
                </a:solidFill>
                <a:latin typeface="Aptos" panose="020B0004020202020204" pitchFamily="34" charset="0"/>
              </a:rPr>
              <a:t>same benchmark track</a:t>
            </a:r>
            <a:endParaRPr lang="zh-CN" altLang="en-US" sz="1070" b="1">
              <a:solidFill>
                <a:srgbClr val="52617A"/>
              </a:solidFill>
              <a:latin typeface="Aptos" panose="020B0004020202020204" pitchFamily="34" charset="0"/>
            </a:endParaRPr>
          </a:p>
        </p:txBody>
      </p:sp>
      <p:sp>
        <p:nvSpPr>
          <p:cNvPr id="21" name="led1">
            <a:extLst>
              <a:ext uri="{FF2B5EF4-FFF2-40B4-BE49-F238E27FC236}">
                <a16:creationId xmlns:a16="http://schemas.microsoft.com/office/drawing/2014/main" id="{524C4FE4-B6BE-A7AD-4F5A-1FDE05AA35AF}"/>
              </a:ext>
            </a:extLst>
          </p:cNvPr>
          <p:cNvSpPr/>
          <p:nvPr/>
        </p:nvSpPr>
        <p:spPr>
          <a:xfrm>
            <a:off x="1016000" y="3149600"/>
            <a:ext cx="10160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ledbar1">
            <a:extLst>
              <a:ext uri="{FF2B5EF4-FFF2-40B4-BE49-F238E27FC236}">
                <a16:creationId xmlns:a16="http://schemas.microsoft.com/office/drawing/2014/main" id="{44FE690C-6642-D58C-0A27-22208DD1E2B1}"/>
              </a:ext>
            </a:extLst>
          </p:cNvPr>
          <p:cNvSpPr/>
          <p:nvPr/>
        </p:nvSpPr>
        <p:spPr>
          <a:xfrm>
            <a:off x="1016000" y="3149600"/>
            <a:ext cx="101600" cy="533400"/>
          </a:xfrm>
          <a:prstGeom prst="rect">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ledp1">
            <a:extLst>
              <a:ext uri="{FF2B5EF4-FFF2-40B4-BE49-F238E27FC236}">
                <a16:creationId xmlns:a16="http://schemas.microsoft.com/office/drawing/2014/main" id="{0F015BDB-81D6-7639-F713-281EC4F81FD1}"/>
              </a:ext>
            </a:extLst>
          </p:cNvPr>
          <p:cNvSpPr txBox="1"/>
          <p:nvPr/>
        </p:nvSpPr>
        <p:spPr>
          <a:xfrm>
            <a:off x="1371600" y="3276600"/>
            <a:ext cx="2032000" cy="276999"/>
          </a:xfrm>
          <a:prstGeom prst="rect">
            <a:avLst/>
          </a:prstGeom>
          <a:noFill/>
        </p:spPr>
        <p:txBody>
          <a:bodyPr vert="horz" wrap="square" lIns="0" tIns="0" rIns="0" bIns="0" rtlCol="0">
            <a:noAutofit/>
          </a:bodyPr>
          <a:lstStyle/>
          <a:p>
            <a:r>
              <a:rPr lang="en-US" altLang="zh-CN" sz="1230" b="1">
                <a:solidFill>
                  <a:srgbClr val="168E8B"/>
                </a:solidFill>
                <a:latin typeface="Aptos" panose="020B0004020202020204" pitchFamily="34" charset="0"/>
              </a:rPr>
              <a:t>SemCodebook</a:t>
            </a:r>
            <a:endParaRPr lang="zh-CN" altLang="en-US" sz="1230" b="1">
              <a:solidFill>
                <a:srgbClr val="168E8B"/>
              </a:solidFill>
              <a:latin typeface="Aptos" panose="020B0004020202020204" pitchFamily="34" charset="0"/>
            </a:endParaRPr>
          </a:p>
        </p:txBody>
      </p:sp>
      <p:sp>
        <p:nvSpPr>
          <p:cNvPr id="24" name="leds1">
            <a:extLst>
              <a:ext uri="{FF2B5EF4-FFF2-40B4-BE49-F238E27FC236}">
                <a16:creationId xmlns:a16="http://schemas.microsoft.com/office/drawing/2014/main" id="{B92A4422-64DA-23C5-BB9D-B29C4EAF106B}"/>
              </a:ext>
            </a:extLst>
          </p:cNvPr>
          <p:cNvSpPr txBox="1"/>
          <p:nvPr/>
        </p:nvSpPr>
        <p:spPr>
          <a:xfrm>
            <a:off x="3962400" y="3276600"/>
            <a:ext cx="2794000" cy="276999"/>
          </a:xfrm>
          <a:prstGeom prst="rect">
            <a:avLst/>
          </a:prstGeom>
          <a:noFill/>
        </p:spPr>
        <p:txBody>
          <a:bodyPr vert="horz" wrap="square" lIns="0" tIns="0" rIns="0" bIns="0" rtlCol="0">
            <a:noAutofit/>
          </a:bodyPr>
          <a:lstStyle/>
          <a:p>
            <a:r>
              <a:rPr lang="en-US" altLang="zh-CN" sz="1170" b="1">
                <a:solidFill>
                  <a:srgbClr val="071837"/>
                </a:solidFill>
                <a:latin typeface="Aptos" panose="020B0004020202020204" pitchFamily="34" charset="0"/>
              </a:rPr>
              <a:t>23,342/24,000</a:t>
            </a:r>
            <a:endParaRPr lang="zh-CN" altLang="en-US" sz="1170" b="1">
              <a:solidFill>
                <a:srgbClr val="071837"/>
              </a:solidFill>
              <a:latin typeface="Aptos" panose="020B0004020202020204" pitchFamily="34" charset="0"/>
            </a:endParaRPr>
          </a:p>
        </p:txBody>
      </p:sp>
      <p:sp>
        <p:nvSpPr>
          <p:cNvPr id="25" name="ledc1">
            <a:extLst>
              <a:ext uri="{FF2B5EF4-FFF2-40B4-BE49-F238E27FC236}">
                <a16:creationId xmlns:a16="http://schemas.microsoft.com/office/drawing/2014/main" id="{180869F6-82BE-72B7-7ECE-38011E504103}"/>
              </a:ext>
            </a:extLst>
          </p:cNvPr>
          <p:cNvSpPr txBox="1"/>
          <p:nvPr/>
        </p:nvSpPr>
        <p:spPr>
          <a:xfrm>
            <a:off x="7366000" y="3276600"/>
            <a:ext cx="3302000" cy="276999"/>
          </a:xfrm>
          <a:prstGeom prst="rect">
            <a:avLst/>
          </a:prstGeom>
          <a:noFill/>
        </p:spPr>
        <p:txBody>
          <a:bodyPr vert="horz" wrap="square" lIns="0" tIns="0" rIns="0" bIns="0" rtlCol="0">
            <a:noAutofit/>
          </a:bodyPr>
          <a:lstStyle/>
          <a:p>
            <a:r>
              <a:rPr lang="en-US" altLang="zh-CN" sz="1070" b="1">
                <a:solidFill>
                  <a:srgbClr val="52617A"/>
                </a:solidFill>
                <a:latin typeface="Aptos" panose="020B0004020202020204" pitchFamily="34" charset="0"/>
              </a:rPr>
              <a:t>30,330/31,200; 0/62,400 x2 controls</a:t>
            </a:r>
            <a:endParaRPr lang="zh-CN" altLang="en-US" sz="1070" b="1">
              <a:solidFill>
                <a:srgbClr val="52617A"/>
              </a:solidFill>
              <a:latin typeface="Aptos" panose="020B0004020202020204" pitchFamily="34" charset="0"/>
            </a:endParaRPr>
          </a:p>
        </p:txBody>
      </p:sp>
      <p:sp>
        <p:nvSpPr>
          <p:cNvPr id="26" name="led2">
            <a:extLst>
              <a:ext uri="{FF2B5EF4-FFF2-40B4-BE49-F238E27FC236}">
                <a16:creationId xmlns:a16="http://schemas.microsoft.com/office/drawing/2014/main" id="{BFEA01F0-EFC1-DA18-35DB-6D810B7DB63E}"/>
              </a:ext>
            </a:extLst>
          </p:cNvPr>
          <p:cNvSpPr/>
          <p:nvPr/>
        </p:nvSpPr>
        <p:spPr>
          <a:xfrm>
            <a:off x="1016000" y="3810000"/>
            <a:ext cx="10160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ledbar2">
            <a:extLst>
              <a:ext uri="{FF2B5EF4-FFF2-40B4-BE49-F238E27FC236}">
                <a16:creationId xmlns:a16="http://schemas.microsoft.com/office/drawing/2014/main" id="{B3D166EF-16D6-AEB2-A0F9-5C69703767FE}"/>
              </a:ext>
            </a:extLst>
          </p:cNvPr>
          <p:cNvSpPr/>
          <p:nvPr/>
        </p:nvSpPr>
        <p:spPr>
          <a:xfrm>
            <a:off x="1016000" y="3810000"/>
            <a:ext cx="101600" cy="533400"/>
          </a:xfrm>
          <a:prstGeom prst="rect">
            <a:avLst/>
          </a:prstGeom>
          <a:solidFill>
            <a:srgbClr val="5B45C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ledp2">
            <a:extLst>
              <a:ext uri="{FF2B5EF4-FFF2-40B4-BE49-F238E27FC236}">
                <a16:creationId xmlns:a16="http://schemas.microsoft.com/office/drawing/2014/main" id="{2D311BBB-F060-4E42-B939-BD1C306225A9}"/>
              </a:ext>
            </a:extLst>
          </p:cNvPr>
          <p:cNvSpPr txBox="1"/>
          <p:nvPr/>
        </p:nvSpPr>
        <p:spPr>
          <a:xfrm>
            <a:off x="1371600" y="3937000"/>
            <a:ext cx="2032000" cy="276999"/>
          </a:xfrm>
          <a:prstGeom prst="rect">
            <a:avLst/>
          </a:prstGeom>
          <a:noFill/>
        </p:spPr>
        <p:txBody>
          <a:bodyPr vert="horz" wrap="square" lIns="0" tIns="0" rIns="0" bIns="0" rtlCol="0">
            <a:noAutofit/>
          </a:bodyPr>
          <a:lstStyle/>
          <a:p>
            <a:r>
              <a:rPr lang="en-US" altLang="zh-CN" sz="1230" b="1">
                <a:solidFill>
                  <a:srgbClr val="5B45C8"/>
                </a:solidFill>
                <a:latin typeface="Aptos" panose="020B0004020202020204" pitchFamily="34" charset="0"/>
              </a:rPr>
              <a:t>CodeDye</a:t>
            </a:r>
            <a:endParaRPr lang="zh-CN" altLang="en-US" sz="1230" b="1">
              <a:solidFill>
                <a:srgbClr val="5B45C8"/>
              </a:solidFill>
              <a:latin typeface="Aptos" panose="020B0004020202020204" pitchFamily="34" charset="0"/>
            </a:endParaRPr>
          </a:p>
        </p:txBody>
      </p:sp>
      <p:sp>
        <p:nvSpPr>
          <p:cNvPr id="29" name="leds2">
            <a:extLst>
              <a:ext uri="{FF2B5EF4-FFF2-40B4-BE49-F238E27FC236}">
                <a16:creationId xmlns:a16="http://schemas.microsoft.com/office/drawing/2014/main" id="{6E66341D-9AD9-BBD6-3EC3-2D7EFFA0CBB5}"/>
              </a:ext>
            </a:extLst>
          </p:cNvPr>
          <p:cNvSpPr txBox="1"/>
          <p:nvPr/>
        </p:nvSpPr>
        <p:spPr>
          <a:xfrm>
            <a:off x="3962400" y="3937000"/>
            <a:ext cx="2794000" cy="276999"/>
          </a:xfrm>
          <a:prstGeom prst="rect">
            <a:avLst/>
          </a:prstGeom>
          <a:noFill/>
        </p:spPr>
        <p:txBody>
          <a:bodyPr vert="horz" wrap="square" lIns="0" tIns="0" rIns="0" bIns="0" rtlCol="0">
            <a:noAutofit/>
          </a:bodyPr>
          <a:lstStyle/>
          <a:p>
            <a:r>
              <a:rPr lang="en-US" altLang="zh-CN" sz="1170" b="1">
                <a:solidFill>
                  <a:srgbClr val="071837"/>
                </a:solidFill>
                <a:latin typeface="Aptos" panose="020B0004020202020204" pitchFamily="34" charset="0"/>
              </a:rPr>
              <a:t>6/300 sparse live</a:t>
            </a:r>
            <a:endParaRPr lang="zh-CN" altLang="en-US" sz="1170" b="1">
              <a:solidFill>
                <a:srgbClr val="071837"/>
              </a:solidFill>
              <a:latin typeface="Aptos" panose="020B0004020202020204" pitchFamily="34" charset="0"/>
            </a:endParaRPr>
          </a:p>
        </p:txBody>
      </p:sp>
      <p:sp>
        <p:nvSpPr>
          <p:cNvPr id="30" name="ledc2">
            <a:extLst>
              <a:ext uri="{FF2B5EF4-FFF2-40B4-BE49-F238E27FC236}">
                <a16:creationId xmlns:a16="http://schemas.microsoft.com/office/drawing/2014/main" id="{B68CC8F9-4394-8F8B-1CA7-ACEFE1469834}"/>
              </a:ext>
            </a:extLst>
          </p:cNvPr>
          <p:cNvSpPr txBox="1"/>
          <p:nvPr/>
        </p:nvSpPr>
        <p:spPr>
          <a:xfrm>
            <a:off x="7366000" y="3937000"/>
            <a:ext cx="3302000" cy="276999"/>
          </a:xfrm>
          <a:prstGeom prst="rect">
            <a:avLst/>
          </a:prstGeom>
          <a:noFill/>
        </p:spPr>
        <p:txBody>
          <a:bodyPr vert="horz" wrap="square" lIns="0" tIns="0" rIns="0" bIns="0" rtlCol="0">
            <a:noAutofit/>
          </a:bodyPr>
          <a:lstStyle/>
          <a:p>
            <a:r>
              <a:rPr lang="en-US" altLang="zh-CN" sz="1070" b="1">
                <a:solidFill>
                  <a:srgbClr val="52617A"/>
                </a:solidFill>
                <a:latin typeface="Aptos" panose="020B0004020202020204" pitchFamily="34" charset="0"/>
              </a:rPr>
              <a:t>0/300 fresh; 272/300 calibration</a:t>
            </a:r>
            <a:endParaRPr lang="zh-CN" altLang="en-US" sz="1070" b="1">
              <a:solidFill>
                <a:srgbClr val="52617A"/>
              </a:solidFill>
              <a:latin typeface="Aptos" panose="020B0004020202020204" pitchFamily="34" charset="0"/>
            </a:endParaRPr>
          </a:p>
        </p:txBody>
      </p:sp>
      <p:sp>
        <p:nvSpPr>
          <p:cNvPr id="31" name="led3">
            <a:extLst>
              <a:ext uri="{FF2B5EF4-FFF2-40B4-BE49-F238E27FC236}">
                <a16:creationId xmlns:a16="http://schemas.microsoft.com/office/drawing/2014/main" id="{B7C0FD63-4F69-BFDD-8142-C3F7AC72329C}"/>
              </a:ext>
            </a:extLst>
          </p:cNvPr>
          <p:cNvSpPr/>
          <p:nvPr/>
        </p:nvSpPr>
        <p:spPr>
          <a:xfrm>
            <a:off x="1016000" y="4470400"/>
            <a:ext cx="10160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ledbar3">
            <a:extLst>
              <a:ext uri="{FF2B5EF4-FFF2-40B4-BE49-F238E27FC236}">
                <a16:creationId xmlns:a16="http://schemas.microsoft.com/office/drawing/2014/main" id="{F2615C54-9E41-3DD5-D287-673930A87BE8}"/>
              </a:ext>
            </a:extLst>
          </p:cNvPr>
          <p:cNvSpPr/>
          <p:nvPr/>
        </p:nvSpPr>
        <p:spPr>
          <a:xfrm>
            <a:off x="1016000" y="4470400"/>
            <a:ext cx="101600" cy="533400"/>
          </a:xfrm>
          <a:prstGeom prst="rect">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ledp3">
            <a:extLst>
              <a:ext uri="{FF2B5EF4-FFF2-40B4-BE49-F238E27FC236}">
                <a16:creationId xmlns:a16="http://schemas.microsoft.com/office/drawing/2014/main" id="{C1DFBD0C-53DA-4DC0-9D24-5FE89550A98B}"/>
              </a:ext>
            </a:extLst>
          </p:cNvPr>
          <p:cNvSpPr txBox="1"/>
          <p:nvPr/>
        </p:nvSpPr>
        <p:spPr>
          <a:xfrm>
            <a:off x="1371600" y="4597400"/>
            <a:ext cx="2032000" cy="276999"/>
          </a:xfrm>
          <a:prstGeom prst="rect">
            <a:avLst/>
          </a:prstGeom>
          <a:noFill/>
        </p:spPr>
        <p:txBody>
          <a:bodyPr vert="horz" wrap="square" lIns="0" tIns="0" rIns="0" bIns="0" rtlCol="0">
            <a:noAutofit/>
          </a:bodyPr>
          <a:lstStyle/>
          <a:p>
            <a:r>
              <a:rPr lang="en-US" altLang="zh-CN" sz="1230" b="1">
                <a:solidFill>
                  <a:srgbClr val="B85C00"/>
                </a:solidFill>
                <a:latin typeface="Aptos" panose="020B0004020202020204" pitchFamily="34" charset="0"/>
              </a:rPr>
              <a:t>ProbeTrace</a:t>
            </a:r>
            <a:endParaRPr lang="zh-CN" altLang="en-US" sz="1230" b="1">
              <a:solidFill>
                <a:srgbClr val="B85C00"/>
              </a:solidFill>
              <a:latin typeface="Aptos" panose="020B0004020202020204" pitchFamily="34" charset="0"/>
            </a:endParaRPr>
          </a:p>
        </p:txBody>
      </p:sp>
      <p:sp>
        <p:nvSpPr>
          <p:cNvPr id="34" name="leds3">
            <a:extLst>
              <a:ext uri="{FF2B5EF4-FFF2-40B4-BE49-F238E27FC236}">
                <a16:creationId xmlns:a16="http://schemas.microsoft.com/office/drawing/2014/main" id="{1BACFDBB-AD1F-49A2-BD3A-CEEAF519C146}"/>
              </a:ext>
            </a:extLst>
          </p:cNvPr>
          <p:cNvSpPr txBox="1"/>
          <p:nvPr/>
        </p:nvSpPr>
        <p:spPr>
          <a:xfrm>
            <a:off x="3962400" y="4597400"/>
            <a:ext cx="2794000" cy="276999"/>
          </a:xfrm>
          <a:prstGeom prst="rect">
            <a:avLst/>
          </a:prstGeom>
          <a:noFill/>
        </p:spPr>
        <p:txBody>
          <a:bodyPr vert="horz" wrap="square" lIns="0" tIns="0" rIns="0" bIns="0" rtlCol="0">
            <a:noAutofit/>
          </a:bodyPr>
          <a:lstStyle/>
          <a:p>
            <a:r>
              <a:rPr lang="en-US" altLang="zh-CN" sz="1170" b="1">
                <a:solidFill>
                  <a:srgbClr val="071837"/>
                </a:solidFill>
                <a:latin typeface="Aptos" panose="020B0004020202020204" pitchFamily="34" charset="0"/>
              </a:rPr>
              <a:t>300/300 decisions</a:t>
            </a:r>
            <a:endParaRPr lang="zh-CN" altLang="en-US" sz="1170" b="1">
              <a:solidFill>
                <a:srgbClr val="071837"/>
              </a:solidFill>
              <a:latin typeface="Aptos" panose="020B0004020202020204" pitchFamily="34" charset="0"/>
            </a:endParaRPr>
          </a:p>
        </p:txBody>
      </p:sp>
      <p:sp>
        <p:nvSpPr>
          <p:cNvPr id="35" name="ledc3">
            <a:extLst>
              <a:ext uri="{FF2B5EF4-FFF2-40B4-BE49-F238E27FC236}">
                <a16:creationId xmlns:a16="http://schemas.microsoft.com/office/drawing/2014/main" id="{0306D80A-7307-3EF0-257C-BD59C81701A3}"/>
              </a:ext>
            </a:extLst>
          </p:cNvPr>
          <p:cNvSpPr txBox="1"/>
          <p:nvPr/>
        </p:nvSpPr>
        <p:spPr>
          <a:xfrm>
            <a:off x="7366000" y="4597400"/>
            <a:ext cx="3302000" cy="276999"/>
          </a:xfrm>
          <a:prstGeom prst="rect">
            <a:avLst/>
          </a:prstGeom>
          <a:noFill/>
        </p:spPr>
        <p:txBody>
          <a:bodyPr vert="horz" wrap="square" lIns="0" tIns="0" rIns="0" bIns="0" rtlCol="0">
            <a:noAutofit/>
          </a:bodyPr>
          <a:lstStyle/>
          <a:p>
            <a:r>
              <a:rPr lang="en-US" altLang="zh-CN" sz="1070" b="1">
                <a:solidFill>
                  <a:srgbClr val="52617A"/>
                </a:solidFill>
                <a:latin typeface="Aptos" panose="020B0004020202020204" pitchFamily="34" charset="0"/>
              </a:rPr>
              <a:t>750/750 true owner; 0/5,250 controls</a:t>
            </a:r>
            <a:endParaRPr lang="zh-CN" altLang="en-US" sz="1070" b="1">
              <a:solidFill>
                <a:srgbClr val="52617A"/>
              </a:solidFill>
              <a:latin typeface="Aptos" panose="020B0004020202020204" pitchFamily="34" charset="0"/>
            </a:endParaRPr>
          </a:p>
        </p:txBody>
      </p:sp>
      <p:sp>
        <p:nvSpPr>
          <p:cNvPr id="36" name="led4">
            <a:extLst>
              <a:ext uri="{FF2B5EF4-FFF2-40B4-BE49-F238E27FC236}">
                <a16:creationId xmlns:a16="http://schemas.microsoft.com/office/drawing/2014/main" id="{9D939409-3276-1F8B-253E-BD47B1DCD59A}"/>
              </a:ext>
            </a:extLst>
          </p:cNvPr>
          <p:cNvSpPr/>
          <p:nvPr/>
        </p:nvSpPr>
        <p:spPr>
          <a:xfrm>
            <a:off x="1016000" y="5130800"/>
            <a:ext cx="10160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ledbar4">
            <a:extLst>
              <a:ext uri="{FF2B5EF4-FFF2-40B4-BE49-F238E27FC236}">
                <a16:creationId xmlns:a16="http://schemas.microsoft.com/office/drawing/2014/main" id="{6F8D0A98-B07E-D78D-9D0D-D0F039CD78C3}"/>
              </a:ext>
            </a:extLst>
          </p:cNvPr>
          <p:cNvSpPr/>
          <p:nvPr/>
        </p:nvSpPr>
        <p:spPr>
          <a:xfrm>
            <a:off x="1016000" y="5130800"/>
            <a:ext cx="101600" cy="533400"/>
          </a:xfrm>
          <a:prstGeom prst="rect">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ledp4">
            <a:extLst>
              <a:ext uri="{FF2B5EF4-FFF2-40B4-BE49-F238E27FC236}">
                <a16:creationId xmlns:a16="http://schemas.microsoft.com/office/drawing/2014/main" id="{79F613D4-AF09-1D9D-4016-4F10498F13B1}"/>
              </a:ext>
            </a:extLst>
          </p:cNvPr>
          <p:cNvSpPr txBox="1"/>
          <p:nvPr/>
        </p:nvSpPr>
        <p:spPr>
          <a:xfrm>
            <a:off x="1371600" y="5257800"/>
            <a:ext cx="2032000" cy="276999"/>
          </a:xfrm>
          <a:prstGeom prst="rect">
            <a:avLst/>
          </a:prstGeom>
          <a:noFill/>
        </p:spPr>
        <p:txBody>
          <a:bodyPr vert="horz" wrap="square" lIns="0" tIns="0" rIns="0" bIns="0" rtlCol="0">
            <a:noAutofit/>
          </a:bodyPr>
          <a:lstStyle/>
          <a:p>
            <a:r>
              <a:rPr lang="en-US" altLang="zh-CN" sz="1230" b="1">
                <a:solidFill>
                  <a:srgbClr val="1F7A4D"/>
                </a:solidFill>
                <a:latin typeface="Aptos" panose="020B0004020202020204" pitchFamily="34" charset="0"/>
              </a:rPr>
              <a:t>SealAudit</a:t>
            </a:r>
            <a:endParaRPr lang="zh-CN" altLang="en-US" sz="1230" b="1">
              <a:solidFill>
                <a:srgbClr val="1F7A4D"/>
              </a:solidFill>
              <a:latin typeface="Aptos" panose="020B0004020202020204" pitchFamily="34" charset="0"/>
            </a:endParaRPr>
          </a:p>
        </p:txBody>
      </p:sp>
      <p:sp>
        <p:nvSpPr>
          <p:cNvPr id="39" name="leds4">
            <a:extLst>
              <a:ext uri="{FF2B5EF4-FFF2-40B4-BE49-F238E27FC236}">
                <a16:creationId xmlns:a16="http://schemas.microsoft.com/office/drawing/2014/main" id="{D461CC1F-815E-D1A1-7BE7-2D429A26EE4B}"/>
              </a:ext>
            </a:extLst>
          </p:cNvPr>
          <p:cNvSpPr txBox="1"/>
          <p:nvPr/>
        </p:nvSpPr>
        <p:spPr>
          <a:xfrm>
            <a:off x="3962400" y="5257800"/>
            <a:ext cx="2794000" cy="276999"/>
          </a:xfrm>
          <a:prstGeom prst="rect">
            <a:avLst/>
          </a:prstGeom>
          <a:noFill/>
        </p:spPr>
        <p:txBody>
          <a:bodyPr vert="horz" wrap="square" lIns="0" tIns="0" rIns="0" bIns="0" rtlCol="0">
            <a:noAutofit/>
          </a:bodyPr>
          <a:lstStyle/>
          <a:p>
            <a:r>
              <a:rPr lang="en-US" altLang="zh-CN" sz="1170" b="1">
                <a:solidFill>
                  <a:srgbClr val="071837"/>
                </a:solidFill>
                <a:latin typeface="Aptos" panose="020B0004020202020204" pitchFamily="34" charset="0"/>
              </a:rPr>
              <a:t>81/960 decisive</a:t>
            </a:r>
            <a:endParaRPr lang="zh-CN" altLang="en-US" sz="1170" b="1">
              <a:solidFill>
                <a:srgbClr val="071837"/>
              </a:solidFill>
              <a:latin typeface="Aptos" panose="020B0004020202020204" pitchFamily="34" charset="0"/>
            </a:endParaRPr>
          </a:p>
        </p:txBody>
      </p:sp>
      <p:sp>
        <p:nvSpPr>
          <p:cNvPr id="40" name="ledc4">
            <a:extLst>
              <a:ext uri="{FF2B5EF4-FFF2-40B4-BE49-F238E27FC236}">
                <a16:creationId xmlns:a16="http://schemas.microsoft.com/office/drawing/2014/main" id="{E127DE6B-4B24-B1C7-8062-528AD93C51A4}"/>
              </a:ext>
            </a:extLst>
          </p:cNvPr>
          <p:cNvSpPr txBox="1"/>
          <p:nvPr/>
        </p:nvSpPr>
        <p:spPr>
          <a:xfrm>
            <a:off x="7366000" y="5257800"/>
            <a:ext cx="3302000" cy="276999"/>
          </a:xfrm>
          <a:prstGeom prst="rect">
            <a:avLst/>
          </a:prstGeom>
          <a:noFill/>
        </p:spPr>
        <p:txBody>
          <a:bodyPr vert="horz" wrap="square" lIns="0" tIns="0" rIns="0" bIns="0" rtlCol="0">
            <a:noAutofit/>
          </a:bodyPr>
          <a:lstStyle/>
          <a:p>
            <a:r>
              <a:rPr lang="en-US" altLang="zh-CN" sz="1070" b="1">
                <a:solidFill>
                  <a:srgbClr val="52617A"/>
                </a:solidFill>
                <a:latin typeface="Aptos" panose="020B0004020202020204" pitchFamily="34" charset="0"/>
              </a:rPr>
              <a:t>320/960 decisive; 0/960 unsafe pass</a:t>
            </a:r>
            <a:endParaRPr lang="zh-CN" altLang="en-US" sz="1070" b="1">
              <a:solidFill>
                <a:srgbClr val="52617A"/>
              </a:solidFill>
              <a:latin typeface="Aptos" panose="020B0004020202020204" pitchFamily="34" charset="0"/>
            </a:endParaRPr>
          </a:p>
        </p:txBody>
      </p:sp>
      <p:sp>
        <p:nvSpPr>
          <p:cNvPr id="41" name="footer-hit-11">
            <a:hlinkClick r:id="rId4"/>
            <a:extLst>
              <a:ext uri="{FF2B5EF4-FFF2-40B4-BE49-F238E27FC236}">
                <a16:creationId xmlns:a16="http://schemas.microsoft.com/office/drawing/2014/main" id="{AF429085-AAD2-088F-A749-D22D7EA66C9C}"/>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70601181"/>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60"/>
                                        <p:tgtEl>
                                          <p:spTgt spid="16"/>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160"/>
                                        <p:tgtEl>
                                          <p:spTgt spid="17"/>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160"/>
                                        <p:tgtEl>
                                          <p:spTgt spid="18"/>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160"/>
                                        <p:tgtEl>
                                          <p:spTgt spid="19"/>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160"/>
                                        <p:tgtEl>
                                          <p:spTgt spid="20"/>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160"/>
                                        <p:tgtEl>
                                          <p:spTgt spid="21"/>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160"/>
                                        <p:tgtEl>
                                          <p:spTgt spid="22"/>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160"/>
                                        <p:tgtEl>
                                          <p:spTgt spid="23"/>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160"/>
                                        <p:tgtEl>
                                          <p:spTgt spid="24"/>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160"/>
                                        <p:tgtEl>
                                          <p:spTgt spid="25"/>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160"/>
                                        <p:tgtEl>
                                          <p:spTgt spid="26"/>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160"/>
                                        <p:tgtEl>
                                          <p:spTgt spid="27"/>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160"/>
                                        <p:tgtEl>
                                          <p:spTgt spid="28"/>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160"/>
                                        <p:tgtEl>
                                          <p:spTgt spid="29"/>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160"/>
                                        <p:tgtEl>
                                          <p:spTgt spid="30"/>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160"/>
                                        <p:tgtEl>
                                          <p:spTgt spid="31"/>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160"/>
                                        <p:tgtEl>
                                          <p:spTgt spid="32"/>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160"/>
                                        <p:tgtEl>
                                          <p:spTgt spid="33"/>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160"/>
                                        <p:tgtEl>
                                          <p:spTgt spid="34"/>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160"/>
                                        <p:tgtEl>
                                          <p:spTgt spid="35"/>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160"/>
                                        <p:tgtEl>
                                          <p:spTgt spid="36"/>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160"/>
                                        <p:tgtEl>
                                          <p:spTgt spid="37"/>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160"/>
                                        <p:tgtEl>
                                          <p:spTgt spid="38"/>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160"/>
                                        <p:tgtEl>
                                          <p:spTgt spid="39"/>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40"/>
                                        </p:tgtEl>
                                        <p:attrNameLst>
                                          <p:attrName>style.visibility</p:attrName>
                                        </p:attrNameLst>
                                      </p:cBhvr>
                                      <p:to>
                                        <p:strVal val="visible"/>
                                      </p:to>
                                    </p:set>
                                    <p:animEffect transition="in" filter="fade">
                                      <p:cBhvr>
                                        <p:cTn id="103" dur="16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p:bldP spid="20" grpId="0"/>
      <p:bldP spid="21" grpId="0" animBg="1"/>
      <p:bldP spid="22" grpId="0" animBg="1"/>
      <p:bldP spid="23" grpId="0"/>
      <p:bldP spid="24" grpId="0"/>
      <p:bldP spid="25" grpId="0"/>
      <p:bldP spid="26" grpId="0" animBg="1"/>
      <p:bldP spid="27" grpId="0" animBg="1"/>
      <p:bldP spid="28" grpId="0"/>
      <p:bldP spid="29" grpId="0"/>
      <p:bldP spid="30" grpId="0"/>
      <p:bldP spid="31" grpId="0" animBg="1"/>
      <p:bldP spid="32" grpId="0" animBg="1"/>
      <p:bldP spid="33" grpId="0"/>
      <p:bldP spid="34" grpId="0"/>
      <p:bldP spid="35" grpId="0"/>
      <p:bldP spid="36" grpId="0" animBg="1"/>
      <p:bldP spid="37" grpId="0" animBg="1"/>
      <p:bldP spid="38" grpId="0"/>
      <p:bldP spid="39" grpId="0"/>
      <p:bldP spid="40"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4A810B0F-15D5-CAE0-67FC-E006E7F2E431}"/>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63E64E51-84F2-599B-D6A2-A93E7CDCB063}"/>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2A9786C6-2FCA-5D5E-F8B7-C162EC70F11B}"/>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DEMO 1</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ACAFE627-F8C3-1C28-B35B-E8A682FAE749}"/>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12</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838E0D6D-DA65-0A79-3EE9-2F1CCAFF6E0F}"/>
              </a:ext>
            </a:extLst>
          </p:cNvPr>
          <p:cNvCxnSpPr/>
          <p:nvPr/>
        </p:nvCxnSpPr>
        <p:spPr>
          <a:xfrm>
            <a:off x="736600" y="19558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5635F610-7566-1365-29DD-E1DCFA84D5F4}"/>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1EAFC796-BEA6-8B1C-BA20-8F9E93E1FD92}"/>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AE170387-6938-4B76-0BD5-547CE7764B0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7A0E467A-816D-DBA7-B533-F9050329A6F6}"/>
              </a:ext>
            </a:extLst>
          </p:cNvPr>
          <p:cNvSpPr txBox="1"/>
          <p:nvPr/>
        </p:nvSpPr>
        <p:spPr>
          <a:xfrm>
            <a:off x="736600" y="711200"/>
            <a:ext cx="10795000" cy="276999"/>
          </a:xfrm>
          <a:prstGeom prst="rect">
            <a:avLst/>
          </a:prstGeom>
          <a:noFill/>
        </p:spPr>
        <p:txBody>
          <a:bodyPr vert="horz" wrap="square" lIns="0" tIns="0" rIns="0" bIns="0" rtlCol="0">
            <a:noAutofit/>
          </a:bodyPr>
          <a:lstStyle/>
          <a:p>
            <a:r>
              <a:rPr lang="en-US" altLang="zh-CN" sz="3000" b="1">
                <a:solidFill>
                  <a:srgbClr val="071837"/>
                </a:solidFill>
                <a:latin typeface="Aptos" panose="020B0004020202020204" pitchFamily="34" charset="0"/>
              </a:rPr>
              <a:t>Demo 1 proves repository inspectability.</a:t>
            </a:r>
            <a:endParaRPr lang="zh-CN" altLang="en-US" sz="300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75CEAF51-3147-0DCF-4B21-0942541307D5}"/>
              </a:ext>
            </a:extLst>
          </p:cNvPr>
          <p:cNvSpPr txBox="1"/>
          <p:nvPr/>
        </p:nvSpPr>
        <p:spPr>
          <a:xfrm>
            <a:off x="787400" y="1473200"/>
            <a:ext cx="10287000" cy="276999"/>
          </a:xfrm>
          <a:prstGeom prst="rect">
            <a:avLst/>
          </a:prstGeom>
          <a:noFill/>
        </p:spPr>
        <p:txBody>
          <a:bodyPr vert="horz" wrap="square" lIns="0" tIns="0" rIns="0" bIns="0" rtlCol="0">
            <a:noAutofit/>
          </a:bodyPr>
          <a:lstStyle/>
          <a:p>
            <a:r>
              <a:rPr lang="en-US" altLang="zh-CN" sz="1220">
                <a:solidFill>
                  <a:srgbClr val="52617A"/>
                </a:solidFill>
                <a:latin typeface="Aptos" panose="020B0004020202020204" pitchFamily="34" charset="0"/>
              </a:rPr>
              <a:t>Open the project page, then trace one claim to its boundary, manifest row, artifact path, and hash.</a:t>
            </a:r>
            <a:endParaRPr lang="zh-CN" altLang="en-US" sz="1220">
              <a:solidFill>
                <a:srgbClr val="52617A"/>
              </a:solidFill>
              <a:latin typeface="Aptos" panose="020B0004020202020204" pitchFamily="34" charset="0"/>
            </a:endParaRPr>
          </a:p>
        </p:txBody>
      </p:sp>
      <p:sp>
        <p:nvSpPr>
          <p:cNvPr id="13" name="video">
            <a:extLst>
              <a:ext uri="{FF2B5EF4-FFF2-40B4-BE49-F238E27FC236}">
                <a16:creationId xmlns:a16="http://schemas.microsoft.com/office/drawing/2014/main" id="{13FAE360-BA53-B44E-44A8-5A0C02C87D70}"/>
              </a:ext>
            </a:extLst>
          </p:cNvPr>
          <p:cNvSpPr/>
          <p:nvPr/>
        </p:nvSpPr>
        <p:spPr>
          <a:xfrm>
            <a:off x="838200" y="2235200"/>
            <a:ext cx="5308600" cy="3225800"/>
          </a:xfrm>
          <a:prstGeom prst="roundRect">
            <a:avLst>
              <a:gd name="adj" fmla="val 14000"/>
            </a:avLst>
          </a:prstGeom>
          <a:solidFill>
            <a:srgbClr val="EBF3FD"/>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play">
            <a:extLst>
              <a:ext uri="{FF2B5EF4-FFF2-40B4-BE49-F238E27FC236}">
                <a16:creationId xmlns:a16="http://schemas.microsoft.com/office/drawing/2014/main" id="{050B37A1-1EE2-E1B7-3A1A-927F6882EA78}"/>
              </a:ext>
            </a:extLst>
          </p:cNvPr>
          <p:cNvSpPr/>
          <p:nvPr/>
        </p:nvSpPr>
        <p:spPr>
          <a:xfrm>
            <a:off x="2984500" y="3251200"/>
            <a:ext cx="1041400" cy="1041400"/>
          </a:xfrm>
          <a:prstGeom prst="ellipse">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play-t">
            <a:extLst>
              <a:ext uri="{FF2B5EF4-FFF2-40B4-BE49-F238E27FC236}">
                <a16:creationId xmlns:a16="http://schemas.microsoft.com/office/drawing/2014/main" id="{EC4E60D3-FD53-CF7F-9C4F-E9B82891508B}"/>
              </a:ext>
            </a:extLst>
          </p:cNvPr>
          <p:cNvSpPr txBox="1"/>
          <p:nvPr/>
        </p:nvSpPr>
        <p:spPr>
          <a:xfrm>
            <a:off x="3225800" y="3556000"/>
            <a:ext cx="584200" cy="276999"/>
          </a:xfrm>
          <a:prstGeom prst="rect">
            <a:avLst/>
          </a:prstGeom>
          <a:noFill/>
        </p:spPr>
        <p:txBody>
          <a:bodyPr vert="horz" wrap="square" lIns="0" tIns="0" rIns="0" bIns="0" rtlCol="0">
            <a:noAutofit/>
          </a:bodyPr>
          <a:lstStyle/>
          <a:p>
            <a:pPr algn="ctr"/>
            <a:r>
              <a:rPr lang="en-US" altLang="zh-CN" sz="1400" b="1">
                <a:solidFill>
                  <a:srgbClr val="FFFFFF"/>
                </a:solidFill>
                <a:latin typeface="Aptos" panose="020B0004020202020204" pitchFamily="34" charset="0"/>
              </a:rPr>
              <a:t>PLAY</a:t>
            </a:r>
            <a:endParaRPr lang="zh-CN" altLang="en-US" sz="1400" b="1">
              <a:solidFill>
                <a:srgbClr val="FFFFFF"/>
              </a:solidFill>
              <a:latin typeface="Aptos" panose="020B0004020202020204" pitchFamily="34" charset="0"/>
            </a:endParaRPr>
          </a:p>
        </p:txBody>
      </p:sp>
      <p:sp>
        <p:nvSpPr>
          <p:cNvPr id="16" name="video-l">
            <a:extLst>
              <a:ext uri="{FF2B5EF4-FFF2-40B4-BE49-F238E27FC236}">
                <a16:creationId xmlns:a16="http://schemas.microsoft.com/office/drawing/2014/main" id="{8A204390-1A9E-349E-5E52-8433A0A35B93}"/>
              </a:ext>
            </a:extLst>
          </p:cNvPr>
          <p:cNvSpPr txBox="1"/>
          <p:nvPr/>
        </p:nvSpPr>
        <p:spPr>
          <a:xfrm>
            <a:off x="1498600" y="4673600"/>
            <a:ext cx="4038600" cy="276999"/>
          </a:xfrm>
          <a:prstGeom prst="rect">
            <a:avLst/>
          </a:prstGeom>
          <a:noFill/>
        </p:spPr>
        <p:txBody>
          <a:bodyPr vert="horz" wrap="square" lIns="0" tIns="0" rIns="0" bIns="0" rtlCol="0">
            <a:noAutofit/>
          </a:bodyPr>
          <a:lstStyle/>
          <a:p>
            <a:pPr algn="ctr"/>
            <a:r>
              <a:rPr lang="en-US" altLang="zh-CN" sz="1350" b="1">
                <a:solidFill>
                  <a:srgbClr val="071837"/>
                </a:solidFill>
                <a:latin typeface="Aptos" panose="020B0004020202020204" pitchFamily="34" charset="0"/>
              </a:rPr>
              <a:t>Insert repository walkthrough video here</a:t>
            </a:r>
            <a:endParaRPr lang="zh-CN" altLang="en-US" sz="1350" b="1">
              <a:solidFill>
                <a:srgbClr val="071837"/>
              </a:solidFill>
              <a:latin typeface="Aptos" panose="020B0004020202020204" pitchFamily="34" charset="0"/>
            </a:endParaRPr>
          </a:p>
        </p:txBody>
      </p:sp>
      <p:sp>
        <p:nvSpPr>
          <p:cNvPr id="17" name="demo0">
            <a:extLst>
              <a:ext uri="{FF2B5EF4-FFF2-40B4-BE49-F238E27FC236}">
                <a16:creationId xmlns:a16="http://schemas.microsoft.com/office/drawing/2014/main" id="{3CB6EFC9-1E07-6559-E5F7-9A90C249AE35}"/>
              </a:ext>
            </a:extLst>
          </p:cNvPr>
          <p:cNvSpPr/>
          <p:nvPr/>
        </p:nvSpPr>
        <p:spPr>
          <a:xfrm>
            <a:off x="6959600" y="2235200"/>
            <a:ext cx="4140200" cy="482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demo-n0">
            <a:extLst>
              <a:ext uri="{FF2B5EF4-FFF2-40B4-BE49-F238E27FC236}">
                <a16:creationId xmlns:a16="http://schemas.microsoft.com/office/drawing/2014/main" id="{A401ED09-A221-E34D-4F05-BABE7F74F9B9}"/>
              </a:ext>
            </a:extLst>
          </p:cNvPr>
          <p:cNvSpPr txBox="1"/>
          <p:nvPr/>
        </p:nvSpPr>
        <p:spPr>
          <a:xfrm>
            <a:off x="7239000" y="2362200"/>
            <a:ext cx="431800" cy="276999"/>
          </a:xfrm>
          <a:prstGeom prst="rect">
            <a:avLst/>
          </a:prstGeom>
          <a:noFill/>
        </p:spPr>
        <p:txBody>
          <a:bodyPr vert="horz" wrap="square" lIns="0" tIns="0" rIns="0" bIns="0" rtlCol="0">
            <a:noAutofit/>
          </a:bodyPr>
          <a:lstStyle/>
          <a:p>
            <a:r>
              <a:rPr lang="en-US" altLang="zh-CN" sz="1050" b="1">
                <a:solidFill>
                  <a:srgbClr val="003B7A"/>
                </a:solidFill>
                <a:latin typeface="Aptos" panose="020B0004020202020204" pitchFamily="34" charset="0"/>
              </a:rPr>
              <a:t>01</a:t>
            </a:r>
            <a:endParaRPr lang="zh-CN" altLang="en-US" sz="1050" b="1">
              <a:solidFill>
                <a:srgbClr val="003B7A"/>
              </a:solidFill>
              <a:latin typeface="Aptos" panose="020B0004020202020204" pitchFamily="34" charset="0"/>
            </a:endParaRPr>
          </a:p>
        </p:txBody>
      </p:sp>
      <p:sp>
        <p:nvSpPr>
          <p:cNvPr id="19" name="demo-t0">
            <a:extLst>
              <a:ext uri="{FF2B5EF4-FFF2-40B4-BE49-F238E27FC236}">
                <a16:creationId xmlns:a16="http://schemas.microsoft.com/office/drawing/2014/main" id="{27C3760D-20FC-8B89-7C5C-DE083C23A2BD}"/>
              </a:ext>
            </a:extLst>
          </p:cNvPr>
          <p:cNvSpPr txBox="1"/>
          <p:nvPr/>
        </p:nvSpPr>
        <p:spPr>
          <a:xfrm>
            <a:off x="7874000" y="2336800"/>
            <a:ext cx="2413000" cy="276999"/>
          </a:xfrm>
          <a:prstGeom prst="rect">
            <a:avLst/>
          </a:prstGeom>
          <a:noFill/>
        </p:spPr>
        <p:txBody>
          <a:bodyPr vert="horz" wrap="square" lIns="0" tIns="0" rIns="0" bIns="0" rtlCol="0">
            <a:noAutofit/>
          </a:bodyPr>
          <a:lstStyle/>
          <a:p>
            <a:r>
              <a:rPr lang="en-US" altLang="zh-CN" sz="1140" b="1">
                <a:solidFill>
                  <a:srgbClr val="071837"/>
                </a:solidFill>
                <a:latin typeface="Aptos" panose="020B0004020202020204" pitchFamily="34" charset="0"/>
              </a:rPr>
              <a:t>Project page</a:t>
            </a:r>
            <a:endParaRPr lang="zh-CN" altLang="en-US" sz="1140" b="1">
              <a:solidFill>
                <a:srgbClr val="071837"/>
              </a:solidFill>
              <a:latin typeface="Aptos" panose="020B0004020202020204" pitchFamily="34" charset="0"/>
            </a:endParaRPr>
          </a:p>
        </p:txBody>
      </p:sp>
      <p:sp>
        <p:nvSpPr>
          <p:cNvPr id="20" name="demo-hit0">
            <a:hlinkClick r:id="rId4"/>
            <a:extLst>
              <a:ext uri="{FF2B5EF4-FFF2-40B4-BE49-F238E27FC236}">
                <a16:creationId xmlns:a16="http://schemas.microsoft.com/office/drawing/2014/main" id="{32D9624C-44F7-0FCD-80A5-84EB2F732AC9}"/>
              </a:ext>
            </a:extLst>
          </p:cNvPr>
          <p:cNvSpPr/>
          <p:nvPr/>
        </p:nvSpPr>
        <p:spPr>
          <a:xfrm>
            <a:off x="6959600" y="2235200"/>
            <a:ext cx="4140200" cy="482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demo1">
            <a:extLst>
              <a:ext uri="{FF2B5EF4-FFF2-40B4-BE49-F238E27FC236}">
                <a16:creationId xmlns:a16="http://schemas.microsoft.com/office/drawing/2014/main" id="{348BDBE6-18BE-7706-09EF-F7BE83C4719F}"/>
              </a:ext>
            </a:extLst>
          </p:cNvPr>
          <p:cNvSpPr/>
          <p:nvPr/>
        </p:nvSpPr>
        <p:spPr>
          <a:xfrm>
            <a:off x="6959600" y="2870200"/>
            <a:ext cx="4140200" cy="482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demo-n1">
            <a:extLst>
              <a:ext uri="{FF2B5EF4-FFF2-40B4-BE49-F238E27FC236}">
                <a16:creationId xmlns:a16="http://schemas.microsoft.com/office/drawing/2014/main" id="{68822BB2-1033-D673-9453-AC57DFECAAD7}"/>
              </a:ext>
            </a:extLst>
          </p:cNvPr>
          <p:cNvSpPr txBox="1"/>
          <p:nvPr/>
        </p:nvSpPr>
        <p:spPr>
          <a:xfrm>
            <a:off x="7239000" y="2997200"/>
            <a:ext cx="431800" cy="276999"/>
          </a:xfrm>
          <a:prstGeom prst="rect">
            <a:avLst/>
          </a:prstGeom>
          <a:noFill/>
        </p:spPr>
        <p:txBody>
          <a:bodyPr vert="horz" wrap="square" lIns="0" tIns="0" rIns="0" bIns="0" rtlCol="0">
            <a:noAutofit/>
          </a:bodyPr>
          <a:lstStyle/>
          <a:p>
            <a:r>
              <a:rPr lang="en-US" altLang="zh-CN" sz="1050" b="1">
                <a:solidFill>
                  <a:srgbClr val="003B7A"/>
                </a:solidFill>
                <a:latin typeface="Aptos" panose="020B0004020202020204" pitchFamily="34" charset="0"/>
              </a:rPr>
              <a:t>02</a:t>
            </a:r>
            <a:endParaRPr lang="zh-CN" altLang="en-US" sz="1050" b="1">
              <a:solidFill>
                <a:srgbClr val="003B7A"/>
              </a:solidFill>
              <a:latin typeface="Aptos" panose="020B0004020202020204" pitchFamily="34" charset="0"/>
            </a:endParaRPr>
          </a:p>
        </p:txBody>
      </p:sp>
      <p:sp>
        <p:nvSpPr>
          <p:cNvPr id="23" name="demo-t1">
            <a:extLst>
              <a:ext uri="{FF2B5EF4-FFF2-40B4-BE49-F238E27FC236}">
                <a16:creationId xmlns:a16="http://schemas.microsoft.com/office/drawing/2014/main" id="{F33113B2-55F7-5C8C-D96B-88781D681766}"/>
              </a:ext>
            </a:extLst>
          </p:cNvPr>
          <p:cNvSpPr txBox="1"/>
          <p:nvPr/>
        </p:nvSpPr>
        <p:spPr>
          <a:xfrm>
            <a:off x="7874000" y="2971800"/>
            <a:ext cx="2413000" cy="276999"/>
          </a:xfrm>
          <a:prstGeom prst="rect">
            <a:avLst/>
          </a:prstGeom>
          <a:noFill/>
        </p:spPr>
        <p:txBody>
          <a:bodyPr vert="horz" wrap="square" lIns="0" tIns="0" rIns="0" bIns="0" rtlCol="0">
            <a:noAutofit/>
          </a:bodyPr>
          <a:lstStyle/>
          <a:p>
            <a:r>
              <a:rPr lang="en-US" altLang="zh-CN" sz="1140" b="1">
                <a:solidFill>
                  <a:srgbClr val="071837"/>
                </a:solidFill>
                <a:latin typeface="Aptos" panose="020B0004020202020204" pitchFamily="34" charset="0"/>
              </a:rPr>
              <a:t>README / folders</a:t>
            </a:r>
            <a:endParaRPr lang="zh-CN" altLang="en-US" sz="1140" b="1">
              <a:solidFill>
                <a:srgbClr val="071837"/>
              </a:solidFill>
              <a:latin typeface="Aptos" panose="020B0004020202020204" pitchFamily="34" charset="0"/>
            </a:endParaRPr>
          </a:p>
        </p:txBody>
      </p:sp>
      <p:sp>
        <p:nvSpPr>
          <p:cNvPr id="24" name="demo-hit1">
            <a:hlinkClick r:id="rId5"/>
            <a:extLst>
              <a:ext uri="{FF2B5EF4-FFF2-40B4-BE49-F238E27FC236}">
                <a16:creationId xmlns:a16="http://schemas.microsoft.com/office/drawing/2014/main" id="{44FB2758-D1D0-6F9C-2A1F-CE6664877E72}"/>
              </a:ext>
            </a:extLst>
          </p:cNvPr>
          <p:cNvSpPr/>
          <p:nvPr/>
        </p:nvSpPr>
        <p:spPr>
          <a:xfrm>
            <a:off x="6959600" y="2870200"/>
            <a:ext cx="4140200" cy="482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demo2">
            <a:extLst>
              <a:ext uri="{FF2B5EF4-FFF2-40B4-BE49-F238E27FC236}">
                <a16:creationId xmlns:a16="http://schemas.microsoft.com/office/drawing/2014/main" id="{8A06FE59-FB35-BCB0-A23E-54DACCBC924B}"/>
              </a:ext>
            </a:extLst>
          </p:cNvPr>
          <p:cNvSpPr/>
          <p:nvPr/>
        </p:nvSpPr>
        <p:spPr>
          <a:xfrm>
            <a:off x="6959600" y="3505200"/>
            <a:ext cx="4140200" cy="482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demo-n2">
            <a:extLst>
              <a:ext uri="{FF2B5EF4-FFF2-40B4-BE49-F238E27FC236}">
                <a16:creationId xmlns:a16="http://schemas.microsoft.com/office/drawing/2014/main" id="{7CE54BBC-3834-3C5C-BDB1-D134020B466E}"/>
              </a:ext>
            </a:extLst>
          </p:cNvPr>
          <p:cNvSpPr txBox="1"/>
          <p:nvPr/>
        </p:nvSpPr>
        <p:spPr>
          <a:xfrm>
            <a:off x="7239000" y="3632200"/>
            <a:ext cx="431800" cy="276999"/>
          </a:xfrm>
          <a:prstGeom prst="rect">
            <a:avLst/>
          </a:prstGeom>
          <a:noFill/>
        </p:spPr>
        <p:txBody>
          <a:bodyPr vert="horz" wrap="square" lIns="0" tIns="0" rIns="0" bIns="0" rtlCol="0">
            <a:noAutofit/>
          </a:bodyPr>
          <a:lstStyle/>
          <a:p>
            <a:r>
              <a:rPr lang="en-US" altLang="zh-CN" sz="1050" b="1">
                <a:solidFill>
                  <a:srgbClr val="003B7A"/>
                </a:solidFill>
                <a:latin typeface="Aptos" panose="020B0004020202020204" pitchFamily="34" charset="0"/>
              </a:rPr>
              <a:t>03</a:t>
            </a:r>
            <a:endParaRPr lang="zh-CN" altLang="en-US" sz="1050" b="1">
              <a:solidFill>
                <a:srgbClr val="003B7A"/>
              </a:solidFill>
              <a:latin typeface="Aptos" panose="020B0004020202020204" pitchFamily="34" charset="0"/>
            </a:endParaRPr>
          </a:p>
        </p:txBody>
      </p:sp>
      <p:sp>
        <p:nvSpPr>
          <p:cNvPr id="27" name="demo-t2">
            <a:extLst>
              <a:ext uri="{FF2B5EF4-FFF2-40B4-BE49-F238E27FC236}">
                <a16:creationId xmlns:a16="http://schemas.microsoft.com/office/drawing/2014/main" id="{C7E4D091-8B65-963F-9A3C-A313A722A373}"/>
              </a:ext>
            </a:extLst>
          </p:cNvPr>
          <p:cNvSpPr txBox="1"/>
          <p:nvPr/>
        </p:nvSpPr>
        <p:spPr>
          <a:xfrm>
            <a:off x="7874000" y="3606800"/>
            <a:ext cx="2413000" cy="276999"/>
          </a:xfrm>
          <a:prstGeom prst="rect">
            <a:avLst/>
          </a:prstGeom>
          <a:noFill/>
        </p:spPr>
        <p:txBody>
          <a:bodyPr vert="horz" wrap="square" lIns="0" tIns="0" rIns="0" bIns="0" rtlCol="0">
            <a:noAutofit/>
          </a:bodyPr>
          <a:lstStyle/>
          <a:p>
            <a:r>
              <a:rPr lang="en-US" altLang="zh-CN" sz="1140" b="1">
                <a:solidFill>
                  <a:srgbClr val="071837"/>
                </a:solidFill>
                <a:latin typeface="Aptos" panose="020B0004020202020204" pitchFamily="34" charset="0"/>
              </a:rPr>
              <a:t>Claim boundaries</a:t>
            </a:r>
            <a:endParaRPr lang="zh-CN" altLang="en-US" sz="1140" b="1">
              <a:solidFill>
                <a:srgbClr val="071837"/>
              </a:solidFill>
              <a:latin typeface="Aptos" panose="020B0004020202020204" pitchFamily="34" charset="0"/>
            </a:endParaRPr>
          </a:p>
        </p:txBody>
      </p:sp>
      <p:sp>
        <p:nvSpPr>
          <p:cNvPr id="28" name="demo-hit2">
            <a:hlinkClick r:id="rId6"/>
            <a:extLst>
              <a:ext uri="{FF2B5EF4-FFF2-40B4-BE49-F238E27FC236}">
                <a16:creationId xmlns:a16="http://schemas.microsoft.com/office/drawing/2014/main" id="{29A47356-BE92-5F8C-250C-084FF172C8E6}"/>
              </a:ext>
            </a:extLst>
          </p:cNvPr>
          <p:cNvSpPr/>
          <p:nvPr/>
        </p:nvSpPr>
        <p:spPr>
          <a:xfrm>
            <a:off x="6959600" y="3505200"/>
            <a:ext cx="4140200" cy="482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demo3">
            <a:extLst>
              <a:ext uri="{FF2B5EF4-FFF2-40B4-BE49-F238E27FC236}">
                <a16:creationId xmlns:a16="http://schemas.microsoft.com/office/drawing/2014/main" id="{D17B53D0-5CDB-6C50-FA0D-36907626BDCB}"/>
              </a:ext>
            </a:extLst>
          </p:cNvPr>
          <p:cNvSpPr/>
          <p:nvPr/>
        </p:nvSpPr>
        <p:spPr>
          <a:xfrm>
            <a:off x="6959600" y="4140200"/>
            <a:ext cx="4140200" cy="482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demo-n3">
            <a:extLst>
              <a:ext uri="{FF2B5EF4-FFF2-40B4-BE49-F238E27FC236}">
                <a16:creationId xmlns:a16="http://schemas.microsoft.com/office/drawing/2014/main" id="{C71215B3-0AD5-0C8D-9550-979510ECB848}"/>
              </a:ext>
            </a:extLst>
          </p:cNvPr>
          <p:cNvSpPr txBox="1"/>
          <p:nvPr/>
        </p:nvSpPr>
        <p:spPr>
          <a:xfrm>
            <a:off x="7239000" y="4267200"/>
            <a:ext cx="431800" cy="276999"/>
          </a:xfrm>
          <a:prstGeom prst="rect">
            <a:avLst/>
          </a:prstGeom>
          <a:noFill/>
        </p:spPr>
        <p:txBody>
          <a:bodyPr vert="horz" wrap="square" lIns="0" tIns="0" rIns="0" bIns="0" rtlCol="0">
            <a:noAutofit/>
          </a:bodyPr>
          <a:lstStyle/>
          <a:p>
            <a:r>
              <a:rPr lang="en-US" altLang="zh-CN" sz="1050" b="1">
                <a:solidFill>
                  <a:srgbClr val="003B7A"/>
                </a:solidFill>
                <a:latin typeface="Aptos" panose="020B0004020202020204" pitchFamily="34" charset="0"/>
              </a:rPr>
              <a:t>04</a:t>
            </a:r>
            <a:endParaRPr lang="zh-CN" altLang="en-US" sz="1050" b="1">
              <a:solidFill>
                <a:srgbClr val="003B7A"/>
              </a:solidFill>
              <a:latin typeface="Aptos" panose="020B0004020202020204" pitchFamily="34" charset="0"/>
            </a:endParaRPr>
          </a:p>
        </p:txBody>
      </p:sp>
      <p:sp>
        <p:nvSpPr>
          <p:cNvPr id="31" name="demo-t3">
            <a:extLst>
              <a:ext uri="{FF2B5EF4-FFF2-40B4-BE49-F238E27FC236}">
                <a16:creationId xmlns:a16="http://schemas.microsoft.com/office/drawing/2014/main" id="{87C1E434-A8DE-A0AC-6D2C-9366D5B11E09}"/>
              </a:ext>
            </a:extLst>
          </p:cNvPr>
          <p:cNvSpPr txBox="1"/>
          <p:nvPr/>
        </p:nvSpPr>
        <p:spPr>
          <a:xfrm>
            <a:off x="7874000" y="4241800"/>
            <a:ext cx="2413000" cy="276999"/>
          </a:xfrm>
          <a:prstGeom prst="rect">
            <a:avLst/>
          </a:prstGeom>
          <a:noFill/>
        </p:spPr>
        <p:txBody>
          <a:bodyPr vert="horz" wrap="square" lIns="0" tIns="0" rIns="0" bIns="0" rtlCol="0">
            <a:noAutofit/>
          </a:bodyPr>
          <a:lstStyle/>
          <a:p>
            <a:r>
              <a:rPr lang="en-US" altLang="zh-CN" sz="1140" b="1">
                <a:solidFill>
                  <a:srgbClr val="071837"/>
                </a:solidFill>
                <a:latin typeface="Aptos" panose="020B0004020202020204" pitchFamily="34" charset="0"/>
              </a:rPr>
              <a:t>Traceability matrix</a:t>
            </a:r>
            <a:endParaRPr lang="zh-CN" altLang="en-US" sz="1140" b="1">
              <a:solidFill>
                <a:srgbClr val="071837"/>
              </a:solidFill>
              <a:latin typeface="Aptos" panose="020B0004020202020204" pitchFamily="34" charset="0"/>
            </a:endParaRPr>
          </a:p>
        </p:txBody>
      </p:sp>
      <p:sp>
        <p:nvSpPr>
          <p:cNvPr id="32" name="demo-hit3">
            <a:hlinkClick r:id="rId7"/>
            <a:extLst>
              <a:ext uri="{FF2B5EF4-FFF2-40B4-BE49-F238E27FC236}">
                <a16:creationId xmlns:a16="http://schemas.microsoft.com/office/drawing/2014/main" id="{E7ADFB48-6117-AF76-595E-40137A758840}"/>
              </a:ext>
            </a:extLst>
          </p:cNvPr>
          <p:cNvSpPr/>
          <p:nvPr/>
        </p:nvSpPr>
        <p:spPr>
          <a:xfrm>
            <a:off x="6959600" y="4140200"/>
            <a:ext cx="4140200" cy="482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demo4">
            <a:extLst>
              <a:ext uri="{FF2B5EF4-FFF2-40B4-BE49-F238E27FC236}">
                <a16:creationId xmlns:a16="http://schemas.microsoft.com/office/drawing/2014/main" id="{7F426C50-05F8-D642-D599-98CFC3A7C89E}"/>
              </a:ext>
            </a:extLst>
          </p:cNvPr>
          <p:cNvSpPr/>
          <p:nvPr/>
        </p:nvSpPr>
        <p:spPr>
          <a:xfrm>
            <a:off x="6959600" y="4775200"/>
            <a:ext cx="4140200" cy="482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demo-n4">
            <a:extLst>
              <a:ext uri="{FF2B5EF4-FFF2-40B4-BE49-F238E27FC236}">
                <a16:creationId xmlns:a16="http://schemas.microsoft.com/office/drawing/2014/main" id="{A8A102A3-19E3-FCEC-4FC5-F5E1F9E43A30}"/>
              </a:ext>
            </a:extLst>
          </p:cNvPr>
          <p:cNvSpPr txBox="1"/>
          <p:nvPr/>
        </p:nvSpPr>
        <p:spPr>
          <a:xfrm>
            <a:off x="7239000" y="4902200"/>
            <a:ext cx="431800" cy="276999"/>
          </a:xfrm>
          <a:prstGeom prst="rect">
            <a:avLst/>
          </a:prstGeom>
          <a:noFill/>
        </p:spPr>
        <p:txBody>
          <a:bodyPr vert="horz" wrap="square" lIns="0" tIns="0" rIns="0" bIns="0" rtlCol="0">
            <a:noAutofit/>
          </a:bodyPr>
          <a:lstStyle/>
          <a:p>
            <a:r>
              <a:rPr lang="en-US" altLang="zh-CN" sz="1050" b="1">
                <a:solidFill>
                  <a:srgbClr val="003B7A"/>
                </a:solidFill>
                <a:latin typeface="Aptos" panose="020B0004020202020204" pitchFamily="34" charset="0"/>
              </a:rPr>
              <a:t>05</a:t>
            </a:r>
            <a:endParaRPr lang="zh-CN" altLang="en-US" sz="1050" b="1">
              <a:solidFill>
                <a:srgbClr val="003B7A"/>
              </a:solidFill>
              <a:latin typeface="Aptos" panose="020B0004020202020204" pitchFamily="34" charset="0"/>
            </a:endParaRPr>
          </a:p>
        </p:txBody>
      </p:sp>
      <p:sp>
        <p:nvSpPr>
          <p:cNvPr id="35" name="demo-t4">
            <a:extLst>
              <a:ext uri="{FF2B5EF4-FFF2-40B4-BE49-F238E27FC236}">
                <a16:creationId xmlns:a16="http://schemas.microsoft.com/office/drawing/2014/main" id="{8F58C5F1-40A8-3F50-E9FC-FF22D31DA9CB}"/>
              </a:ext>
            </a:extLst>
          </p:cNvPr>
          <p:cNvSpPr txBox="1"/>
          <p:nvPr/>
        </p:nvSpPr>
        <p:spPr>
          <a:xfrm>
            <a:off x="7874000" y="4876800"/>
            <a:ext cx="2413000" cy="276999"/>
          </a:xfrm>
          <a:prstGeom prst="rect">
            <a:avLst/>
          </a:prstGeom>
          <a:noFill/>
        </p:spPr>
        <p:txBody>
          <a:bodyPr vert="horz" wrap="square" lIns="0" tIns="0" rIns="0" bIns="0" rtlCol="0">
            <a:noAutofit/>
          </a:bodyPr>
          <a:lstStyle/>
          <a:p>
            <a:r>
              <a:rPr lang="en-US" altLang="zh-CN" sz="1140" b="1">
                <a:solidFill>
                  <a:srgbClr val="071837"/>
                </a:solidFill>
                <a:latin typeface="Aptos" panose="020B0004020202020204" pitchFamily="34" charset="0"/>
              </a:rPr>
              <a:t>Result manifest</a:t>
            </a:r>
            <a:endParaRPr lang="zh-CN" altLang="en-US" sz="1140" b="1">
              <a:solidFill>
                <a:srgbClr val="071837"/>
              </a:solidFill>
              <a:latin typeface="Aptos" panose="020B0004020202020204" pitchFamily="34" charset="0"/>
            </a:endParaRPr>
          </a:p>
        </p:txBody>
      </p:sp>
      <p:sp>
        <p:nvSpPr>
          <p:cNvPr id="36" name="demo-hit4">
            <a:hlinkClick r:id="rId8"/>
            <a:extLst>
              <a:ext uri="{FF2B5EF4-FFF2-40B4-BE49-F238E27FC236}">
                <a16:creationId xmlns:a16="http://schemas.microsoft.com/office/drawing/2014/main" id="{5CBE93CB-0015-9CBB-EA5C-0FF94BAB132D}"/>
              </a:ext>
            </a:extLst>
          </p:cNvPr>
          <p:cNvSpPr/>
          <p:nvPr/>
        </p:nvSpPr>
        <p:spPr>
          <a:xfrm>
            <a:off x="6959600" y="4775200"/>
            <a:ext cx="4140200" cy="482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footer-hit-12">
            <a:hlinkClick r:id="rId4"/>
            <a:extLst>
              <a:ext uri="{FF2B5EF4-FFF2-40B4-BE49-F238E27FC236}">
                <a16:creationId xmlns:a16="http://schemas.microsoft.com/office/drawing/2014/main" id="{3087FF85-3D80-0C23-104E-14C91B5BF8C6}"/>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56100748"/>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18" grpId="0"/>
      <p:bldP spid="19" grpId="0"/>
      <p:bldP spid="20" grpId="0" animBg="1"/>
      <p:bldP spid="21" grpId="0" animBg="1"/>
      <p:bldP spid="22" grpId="0"/>
      <p:bldP spid="23" grpId="0"/>
      <p:bldP spid="24" grpId="0" animBg="1"/>
      <p:bldP spid="25" grpId="0" animBg="1"/>
      <p:bldP spid="26" grpId="0"/>
      <p:bldP spid="27" grpId="0"/>
      <p:bldP spid="28" grpId="0" animBg="1"/>
      <p:bldP spid="29" grpId="0" animBg="1"/>
      <p:bldP spid="30" grpId="0"/>
      <p:bldP spid="31" grpId="0"/>
      <p:bldP spid="32" grpId="0" animBg="1"/>
      <p:bldP spid="33" grpId="0" animBg="1"/>
      <p:bldP spid="34" grpId="0"/>
      <p:bldP spid="35" grpId="0"/>
      <p:bldP spid="3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D20089A7-0D6B-C84D-336B-86943B8DFF27}"/>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F0D0A09A-ACB6-FC18-C31A-141FDC48E4F1}"/>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58CB3D75-4570-965D-85D3-CC37C43311C3}"/>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DEMO 2</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DBEBEAF5-1B36-C158-6455-295F6E94E8C4}"/>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13</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F3A09AFF-06E3-83EE-A2A6-99E154570D99}"/>
              </a:ext>
            </a:extLst>
          </p:cNvPr>
          <p:cNvCxnSpPr/>
          <p:nvPr/>
        </p:nvCxnSpPr>
        <p:spPr>
          <a:xfrm>
            <a:off x="736600" y="19558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CCBD4B3D-31C9-590B-73A1-AE74B972764C}"/>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4330A37E-B907-C3DC-A68C-B21FE7207091}"/>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89A61B25-EFD7-0AA8-3602-6EBB6D71CBD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D51BB5AD-8D5A-25BB-D17A-C1432834069B}"/>
              </a:ext>
            </a:extLst>
          </p:cNvPr>
          <p:cNvSpPr txBox="1"/>
          <p:nvPr/>
        </p:nvSpPr>
        <p:spPr>
          <a:xfrm>
            <a:off x="736600" y="711200"/>
            <a:ext cx="10795000" cy="276999"/>
          </a:xfrm>
          <a:prstGeom prst="rect">
            <a:avLst/>
          </a:prstGeom>
          <a:noFill/>
        </p:spPr>
        <p:txBody>
          <a:bodyPr vert="horz" wrap="square" lIns="0" tIns="0" rIns="0" bIns="0" rtlCol="0">
            <a:noAutofit/>
          </a:bodyPr>
          <a:lstStyle/>
          <a:p>
            <a:r>
              <a:rPr lang="en-US" altLang="zh-CN" sz="3000" b="1">
                <a:solidFill>
                  <a:srgbClr val="071837"/>
                </a:solidFill>
                <a:latin typeface="Aptos" panose="020B0004020202020204" pitchFamily="34" charset="0"/>
              </a:rPr>
              <a:t>Demo 2 verifies the inspection route.</a:t>
            </a:r>
            <a:endParaRPr lang="zh-CN" altLang="en-US" sz="300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1C02C0E6-F304-2826-CCB0-2AC02CAF662D}"/>
              </a:ext>
            </a:extLst>
          </p:cNvPr>
          <p:cNvSpPr txBox="1"/>
          <p:nvPr/>
        </p:nvSpPr>
        <p:spPr>
          <a:xfrm>
            <a:off x="787400" y="1473200"/>
            <a:ext cx="10287000" cy="276999"/>
          </a:xfrm>
          <a:prstGeom prst="rect">
            <a:avLst/>
          </a:prstGeom>
          <a:noFill/>
        </p:spPr>
        <p:txBody>
          <a:bodyPr vert="horz" wrap="square" lIns="0" tIns="0" rIns="0" bIns="0" rtlCol="0">
            <a:noAutofit/>
          </a:bodyPr>
          <a:lstStyle/>
          <a:p>
            <a:r>
              <a:rPr lang="en-US" altLang="zh-CN" sz="1220">
                <a:solidFill>
                  <a:srgbClr val="52617A"/>
                </a:solidFill>
                <a:latin typeface="Aptos" panose="020B0004020202020204" pitchFamily="34" charset="0"/>
              </a:rPr>
              <a:t>The check is intentionally lightweight, so it can run during the viva.</a:t>
            </a:r>
            <a:endParaRPr lang="zh-CN" altLang="en-US" sz="1220">
              <a:solidFill>
                <a:srgbClr val="52617A"/>
              </a:solidFill>
              <a:latin typeface="Aptos" panose="020B0004020202020204" pitchFamily="34" charset="0"/>
            </a:endParaRPr>
          </a:p>
        </p:txBody>
      </p:sp>
      <p:sp>
        <p:nvSpPr>
          <p:cNvPr id="13" name="terminal">
            <a:extLst>
              <a:ext uri="{FF2B5EF4-FFF2-40B4-BE49-F238E27FC236}">
                <a16:creationId xmlns:a16="http://schemas.microsoft.com/office/drawing/2014/main" id="{E3778E0F-54CB-E48A-28E1-4AEB758AE724}"/>
              </a:ext>
            </a:extLst>
          </p:cNvPr>
          <p:cNvSpPr/>
          <p:nvPr/>
        </p:nvSpPr>
        <p:spPr>
          <a:xfrm>
            <a:off x="914400" y="2260600"/>
            <a:ext cx="6096000" cy="2946400"/>
          </a:xfrm>
          <a:prstGeom prst="roundRect">
            <a:avLst>
              <a:gd name="adj" fmla="val 14000"/>
            </a:avLst>
          </a:prstGeom>
          <a:solidFill>
            <a:srgbClr val="0A1222"/>
          </a:solidFill>
          <a:ln w="10160" cap="flat" cmpd="sng" algn="ctr">
            <a:solidFill>
              <a:srgbClr val="0A1222">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rm-cmd">
            <a:extLst>
              <a:ext uri="{FF2B5EF4-FFF2-40B4-BE49-F238E27FC236}">
                <a16:creationId xmlns:a16="http://schemas.microsoft.com/office/drawing/2014/main" id="{483F03D1-D24E-3D12-5CBF-FE03FF30E299}"/>
              </a:ext>
            </a:extLst>
          </p:cNvPr>
          <p:cNvSpPr txBox="1"/>
          <p:nvPr/>
        </p:nvSpPr>
        <p:spPr>
          <a:xfrm>
            <a:off x="1397000" y="2743200"/>
            <a:ext cx="4724400" cy="276999"/>
          </a:xfrm>
          <a:prstGeom prst="rect">
            <a:avLst/>
          </a:prstGeom>
          <a:noFill/>
        </p:spPr>
        <p:txBody>
          <a:bodyPr vert="horz" wrap="square" lIns="0" tIns="0" rIns="0" bIns="0" rtlCol="0">
            <a:noAutofit/>
          </a:bodyPr>
          <a:lstStyle/>
          <a:p>
            <a:r>
              <a:rPr lang="en-US" altLang="zh-CN" sz="2000" b="1">
                <a:solidFill>
                  <a:srgbClr val="FFFFFF"/>
                </a:solidFill>
                <a:latin typeface="Consolas" panose="020B0609020204030204" pitchFamily="49" charset="0"/>
              </a:rPr>
              <a:t>python scripts/viva_check.py</a:t>
            </a:r>
            <a:endParaRPr lang="zh-CN" altLang="en-US" sz="2000" b="1">
              <a:solidFill>
                <a:srgbClr val="FFFFFF"/>
              </a:solidFill>
              <a:latin typeface="Consolas" panose="020B0609020204030204" pitchFamily="49" charset="0"/>
            </a:endParaRPr>
          </a:p>
        </p:txBody>
      </p:sp>
      <p:sp>
        <p:nvSpPr>
          <p:cNvPr id="15" name="term-out">
            <a:extLst>
              <a:ext uri="{FF2B5EF4-FFF2-40B4-BE49-F238E27FC236}">
                <a16:creationId xmlns:a16="http://schemas.microsoft.com/office/drawing/2014/main" id="{6E4D8DCC-FB64-5651-1746-FBEF70EEEEFD}"/>
              </a:ext>
            </a:extLst>
          </p:cNvPr>
          <p:cNvSpPr txBox="1"/>
          <p:nvPr/>
        </p:nvSpPr>
        <p:spPr>
          <a:xfrm>
            <a:off x="1397000" y="3429000"/>
            <a:ext cx="4572000" cy="276999"/>
          </a:xfrm>
          <a:prstGeom prst="rect">
            <a:avLst/>
          </a:prstGeom>
          <a:noFill/>
        </p:spPr>
        <p:txBody>
          <a:bodyPr vert="horz" wrap="square" lIns="0" tIns="0" rIns="0" bIns="0" rtlCol="0">
            <a:noAutofit/>
          </a:bodyPr>
          <a:lstStyle/>
          <a:p>
            <a:r>
              <a:rPr lang="en-US" altLang="zh-CN" sz="1220" b="1">
                <a:solidFill>
                  <a:srgbClr val="B7F0CF"/>
                </a:solidFill>
                <a:latin typeface="Consolas" panose="020B0609020204030204" pitchFamily="49" charset="0"/>
              </a:rPr>
              <a:t>[OK] Viva-facing documents present
[OK] Result manifest covers modules
[OK] Manifest rows are hash-addressed
[OK] Claim boundaries are present
[OK] Viva check passed</a:t>
            </a:r>
            <a:endParaRPr lang="zh-CN" altLang="en-US" sz="1220" b="1">
              <a:solidFill>
                <a:srgbClr val="B7F0CF"/>
              </a:solidFill>
              <a:latin typeface="Consolas" panose="020B0609020204030204" pitchFamily="49" charset="0"/>
            </a:endParaRPr>
          </a:p>
        </p:txBody>
      </p:sp>
      <p:sp>
        <p:nvSpPr>
          <p:cNvPr id="16" name="check1">
            <a:extLst>
              <a:ext uri="{FF2B5EF4-FFF2-40B4-BE49-F238E27FC236}">
                <a16:creationId xmlns:a16="http://schemas.microsoft.com/office/drawing/2014/main" id="{3CCC8018-E4F2-240D-0FB5-921D5285CB7F}"/>
              </a:ext>
            </a:extLst>
          </p:cNvPr>
          <p:cNvSpPr/>
          <p:nvPr/>
        </p:nvSpPr>
        <p:spPr>
          <a:xfrm>
            <a:off x="7670800" y="2336800"/>
            <a:ext cx="3175000" cy="7620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check1t">
            <a:extLst>
              <a:ext uri="{FF2B5EF4-FFF2-40B4-BE49-F238E27FC236}">
                <a16:creationId xmlns:a16="http://schemas.microsoft.com/office/drawing/2014/main" id="{51F151C6-0387-1B99-70C3-AFB616800718}"/>
              </a:ext>
            </a:extLst>
          </p:cNvPr>
          <p:cNvSpPr txBox="1"/>
          <p:nvPr/>
        </p:nvSpPr>
        <p:spPr>
          <a:xfrm>
            <a:off x="8026400" y="2514600"/>
            <a:ext cx="2387600" cy="276999"/>
          </a:xfrm>
          <a:prstGeom prst="rect">
            <a:avLst/>
          </a:prstGeom>
          <a:noFill/>
        </p:spPr>
        <p:txBody>
          <a:bodyPr vert="horz" wrap="square" lIns="0" tIns="0" rIns="0" bIns="0" rtlCol="0">
            <a:noAutofit/>
          </a:bodyPr>
          <a:lstStyle/>
          <a:p>
            <a:pPr algn="ctr"/>
            <a:r>
              <a:rPr lang="en-US" altLang="zh-CN" sz="1180" b="1">
                <a:solidFill>
                  <a:srgbClr val="071837"/>
                </a:solidFill>
                <a:latin typeface="Aptos" panose="020B0004020202020204" pitchFamily="34" charset="0"/>
              </a:rPr>
              <a:t>checks documents + manifest</a:t>
            </a:r>
            <a:endParaRPr lang="zh-CN" altLang="en-US" sz="1180" b="1">
              <a:solidFill>
                <a:srgbClr val="071837"/>
              </a:solidFill>
              <a:latin typeface="Aptos" panose="020B0004020202020204" pitchFamily="34" charset="0"/>
            </a:endParaRPr>
          </a:p>
        </p:txBody>
      </p:sp>
      <p:sp>
        <p:nvSpPr>
          <p:cNvPr id="18" name="check2">
            <a:extLst>
              <a:ext uri="{FF2B5EF4-FFF2-40B4-BE49-F238E27FC236}">
                <a16:creationId xmlns:a16="http://schemas.microsoft.com/office/drawing/2014/main" id="{DC413C3D-B40E-76C3-5368-C450A8858016}"/>
              </a:ext>
            </a:extLst>
          </p:cNvPr>
          <p:cNvSpPr/>
          <p:nvPr/>
        </p:nvSpPr>
        <p:spPr>
          <a:xfrm>
            <a:off x="7670800" y="3403600"/>
            <a:ext cx="3175000" cy="7620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heck2t">
            <a:extLst>
              <a:ext uri="{FF2B5EF4-FFF2-40B4-BE49-F238E27FC236}">
                <a16:creationId xmlns:a16="http://schemas.microsoft.com/office/drawing/2014/main" id="{805DB246-124D-57B2-A297-35C80FAA5EA9}"/>
              </a:ext>
            </a:extLst>
          </p:cNvPr>
          <p:cNvSpPr txBox="1"/>
          <p:nvPr/>
        </p:nvSpPr>
        <p:spPr>
          <a:xfrm>
            <a:off x="8026400" y="3581400"/>
            <a:ext cx="2387600" cy="276999"/>
          </a:xfrm>
          <a:prstGeom prst="rect">
            <a:avLst/>
          </a:prstGeom>
          <a:noFill/>
        </p:spPr>
        <p:txBody>
          <a:bodyPr vert="horz" wrap="square" lIns="0" tIns="0" rIns="0" bIns="0" rtlCol="0">
            <a:noAutofit/>
          </a:bodyPr>
          <a:lstStyle/>
          <a:p>
            <a:pPr algn="ctr"/>
            <a:r>
              <a:rPr lang="en-US" altLang="zh-CN" sz="1180" b="1">
                <a:solidFill>
                  <a:srgbClr val="071837"/>
                </a:solidFill>
                <a:latin typeface="Aptos" panose="020B0004020202020204" pitchFamily="34" charset="0"/>
              </a:rPr>
              <a:t>does not rerun GPU/API jobs</a:t>
            </a:r>
            <a:endParaRPr lang="zh-CN" altLang="en-US" sz="1180" b="1">
              <a:solidFill>
                <a:srgbClr val="071837"/>
              </a:solidFill>
              <a:latin typeface="Aptos" panose="020B0004020202020204" pitchFamily="34" charset="0"/>
            </a:endParaRPr>
          </a:p>
        </p:txBody>
      </p:sp>
      <p:sp>
        <p:nvSpPr>
          <p:cNvPr id="20" name="check3">
            <a:extLst>
              <a:ext uri="{FF2B5EF4-FFF2-40B4-BE49-F238E27FC236}">
                <a16:creationId xmlns:a16="http://schemas.microsoft.com/office/drawing/2014/main" id="{306C4FF9-83EA-5DCE-7645-72283F275CAE}"/>
              </a:ext>
            </a:extLst>
          </p:cNvPr>
          <p:cNvSpPr/>
          <p:nvPr/>
        </p:nvSpPr>
        <p:spPr>
          <a:xfrm>
            <a:off x="7670800" y="4470400"/>
            <a:ext cx="3175000" cy="7620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check3t">
            <a:extLst>
              <a:ext uri="{FF2B5EF4-FFF2-40B4-BE49-F238E27FC236}">
                <a16:creationId xmlns:a16="http://schemas.microsoft.com/office/drawing/2014/main" id="{8DBB3BE3-B94B-F99E-018F-3DAA2D3F663A}"/>
              </a:ext>
            </a:extLst>
          </p:cNvPr>
          <p:cNvSpPr txBox="1"/>
          <p:nvPr/>
        </p:nvSpPr>
        <p:spPr>
          <a:xfrm>
            <a:off x="8026400" y="4648200"/>
            <a:ext cx="2387600" cy="276999"/>
          </a:xfrm>
          <a:prstGeom prst="rect">
            <a:avLst/>
          </a:prstGeom>
          <a:noFill/>
        </p:spPr>
        <p:txBody>
          <a:bodyPr vert="horz" wrap="square" lIns="0" tIns="0" rIns="0" bIns="0" rtlCol="0">
            <a:noAutofit/>
          </a:bodyPr>
          <a:lstStyle/>
          <a:p>
            <a:pPr algn="ctr"/>
            <a:r>
              <a:rPr lang="en-US" altLang="zh-CN" sz="1180" b="1">
                <a:solidFill>
                  <a:srgbClr val="071837"/>
                </a:solidFill>
                <a:latin typeface="Aptos" panose="020B0004020202020204" pitchFamily="34" charset="0"/>
              </a:rPr>
              <a:t>fallback: recorded demo ready</a:t>
            </a:r>
            <a:endParaRPr lang="zh-CN" altLang="en-US" sz="1180" b="1">
              <a:solidFill>
                <a:srgbClr val="071837"/>
              </a:solidFill>
              <a:latin typeface="Aptos" panose="020B0004020202020204" pitchFamily="34" charset="0"/>
            </a:endParaRPr>
          </a:p>
        </p:txBody>
      </p:sp>
      <p:sp>
        <p:nvSpPr>
          <p:cNvPr id="22" name="open-check">
            <a:hlinkClick r:id="rId4"/>
            <a:extLst>
              <a:ext uri="{FF2B5EF4-FFF2-40B4-BE49-F238E27FC236}">
                <a16:creationId xmlns:a16="http://schemas.microsoft.com/office/drawing/2014/main" id="{895C423A-6EA5-E238-CBC7-B73F049C483D}"/>
              </a:ext>
            </a:extLst>
          </p:cNvPr>
          <p:cNvSpPr/>
          <p:nvPr/>
        </p:nvSpPr>
        <p:spPr>
          <a:xfrm>
            <a:off x="2946400" y="5537200"/>
            <a:ext cx="2413000" cy="406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52400" bIns="101600" rtlCol="0" anchor="ctr" anchorCtr="1">
            <a:noAutofit/>
          </a:bodyPr>
          <a:lstStyle/>
          <a:p>
            <a:pPr algn="ctr"/>
            <a:r>
              <a:rPr lang="en-US" altLang="zh-CN" sz="1050" b="1">
                <a:solidFill>
                  <a:srgbClr val="003B7A"/>
                </a:solidFill>
                <a:latin typeface="Aptos" panose="020B0004020202020204" pitchFamily="34" charset="0"/>
              </a:rPr>
              <a:t>Open viva_check.py</a:t>
            </a:r>
            <a:endParaRPr lang="zh-CN" altLang="en-US" sz="1050" b="1">
              <a:solidFill>
                <a:srgbClr val="003B7A"/>
              </a:solidFill>
              <a:latin typeface="Aptos" panose="020B0004020202020204" pitchFamily="34" charset="0"/>
            </a:endParaRPr>
          </a:p>
        </p:txBody>
      </p:sp>
      <p:sp>
        <p:nvSpPr>
          <p:cNvPr id="23" name="footer-hit-13">
            <a:hlinkClick r:id="rId5"/>
            <a:extLst>
              <a:ext uri="{FF2B5EF4-FFF2-40B4-BE49-F238E27FC236}">
                <a16:creationId xmlns:a16="http://schemas.microsoft.com/office/drawing/2014/main" id="{09F9E501-28A0-D02C-4B1B-4F6B90615138}"/>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997975514"/>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animBg="1"/>
      <p:bldP spid="17" grpId="0"/>
      <p:bldP spid="18" grpId="0" animBg="1"/>
      <p:bldP spid="19" grpId="0"/>
      <p:bldP spid="20" grpId="0" animBg="1"/>
      <p:bldP spid="21" grpId="0"/>
      <p:bldP spid="2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00091D95-ECC5-D42C-677E-013D9DE9E02E}"/>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ADEA6E10-531D-5349-8FAD-551E373ED379}"/>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BE3F4FD3-EC3F-30B2-FE73-8BF7A6595092}"/>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DEFENCE</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0C5B8BFB-C3F5-E6AD-9428-2750FE332483}"/>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14</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9A4AF538-A98A-6E79-BF06-D43A23F2B2D8}"/>
              </a:ext>
            </a:extLst>
          </p:cNvPr>
          <p:cNvCxnSpPr/>
          <p:nvPr/>
        </p:nvCxnSpPr>
        <p:spPr>
          <a:xfrm>
            <a:off x="736600" y="19558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310A807F-7FBF-1328-DA2B-E9A103FDB744}"/>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EB0C44EF-D201-8961-0D35-DF9ED16A510A}"/>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A668824F-8DBE-5525-419D-AEF94DF93E8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48E8E199-0F15-F574-72F5-6C87C4345C0B}"/>
              </a:ext>
            </a:extLst>
          </p:cNvPr>
          <p:cNvSpPr txBox="1"/>
          <p:nvPr/>
        </p:nvSpPr>
        <p:spPr>
          <a:xfrm>
            <a:off x="736600" y="711200"/>
            <a:ext cx="10795000" cy="276999"/>
          </a:xfrm>
          <a:prstGeom prst="rect">
            <a:avLst/>
          </a:prstGeom>
          <a:noFill/>
        </p:spPr>
        <p:txBody>
          <a:bodyPr vert="horz" wrap="square" lIns="0" tIns="0" rIns="0" bIns="0" rtlCol="0">
            <a:noAutofit/>
          </a:bodyPr>
          <a:lstStyle/>
          <a:p>
            <a:r>
              <a:rPr lang="en-US" altLang="zh-CN" sz="3000" b="1">
                <a:solidFill>
                  <a:srgbClr val="071837"/>
                </a:solidFill>
                <a:latin typeface="Aptos" panose="020B0004020202020204" pitchFamily="34" charset="0"/>
              </a:rPr>
              <a:t>Q&amp;A rule: answer, bound, then point.</a:t>
            </a:r>
            <a:endParaRPr lang="zh-CN" altLang="en-US" sz="300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199EA769-5988-8A88-5EA2-BA70D933B3CD}"/>
              </a:ext>
            </a:extLst>
          </p:cNvPr>
          <p:cNvSpPr txBox="1"/>
          <p:nvPr/>
        </p:nvSpPr>
        <p:spPr>
          <a:xfrm>
            <a:off x="787400" y="1473200"/>
            <a:ext cx="10287000" cy="276999"/>
          </a:xfrm>
          <a:prstGeom prst="rect">
            <a:avLst/>
          </a:prstGeom>
          <a:noFill/>
        </p:spPr>
        <p:txBody>
          <a:bodyPr vert="horz" wrap="square" lIns="0" tIns="0" rIns="0" bIns="0" rtlCol="0">
            <a:noAutofit/>
          </a:bodyPr>
          <a:lstStyle/>
          <a:p>
            <a:r>
              <a:rPr lang="en-US" altLang="zh-CN" sz="1220">
                <a:solidFill>
                  <a:srgbClr val="52617A"/>
                </a:solidFill>
                <a:latin typeface="Aptos" panose="020B0004020202020204" pitchFamily="34" charset="0"/>
              </a:rPr>
              <a:t>Short answers are stronger than broad claims.</a:t>
            </a:r>
            <a:endParaRPr lang="zh-CN" altLang="en-US" sz="1220">
              <a:solidFill>
                <a:srgbClr val="52617A"/>
              </a:solidFill>
              <a:latin typeface="Aptos" panose="020B0004020202020204" pitchFamily="34" charset="0"/>
            </a:endParaRPr>
          </a:p>
        </p:txBody>
      </p:sp>
      <p:sp>
        <p:nvSpPr>
          <p:cNvPr id="13" name="def0">
            <a:extLst>
              <a:ext uri="{FF2B5EF4-FFF2-40B4-BE49-F238E27FC236}">
                <a16:creationId xmlns:a16="http://schemas.microsoft.com/office/drawing/2014/main" id="{3A7FF5D4-E76D-C6CA-0219-8088F2F4F4ED}"/>
              </a:ext>
            </a:extLst>
          </p:cNvPr>
          <p:cNvSpPr/>
          <p:nvPr/>
        </p:nvSpPr>
        <p:spPr>
          <a:xfrm>
            <a:off x="1092200" y="2413000"/>
            <a:ext cx="3098800" cy="187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defbar0">
            <a:extLst>
              <a:ext uri="{FF2B5EF4-FFF2-40B4-BE49-F238E27FC236}">
                <a16:creationId xmlns:a16="http://schemas.microsoft.com/office/drawing/2014/main" id="{853052FF-7D69-DD5F-6D9B-C39457A6A946}"/>
              </a:ext>
            </a:extLst>
          </p:cNvPr>
          <p:cNvSpPr/>
          <p:nvPr/>
        </p:nvSpPr>
        <p:spPr>
          <a:xfrm>
            <a:off x="1092200" y="2413000"/>
            <a:ext cx="3098800" cy="1143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deft0">
            <a:extLst>
              <a:ext uri="{FF2B5EF4-FFF2-40B4-BE49-F238E27FC236}">
                <a16:creationId xmlns:a16="http://schemas.microsoft.com/office/drawing/2014/main" id="{2B2298C9-84C4-C6B2-6487-DAC0E4DF076D}"/>
              </a:ext>
            </a:extLst>
          </p:cNvPr>
          <p:cNvSpPr txBox="1"/>
          <p:nvPr/>
        </p:nvSpPr>
        <p:spPr>
          <a:xfrm>
            <a:off x="1524000" y="3022600"/>
            <a:ext cx="2108200" cy="276999"/>
          </a:xfrm>
          <a:prstGeom prst="rect">
            <a:avLst/>
          </a:prstGeom>
          <a:noFill/>
        </p:spPr>
        <p:txBody>
          <a:bodyPr vert="horz" wrap="square" lIns="0" tIns="0" rIns="0" bIns="0" rtlCol="0">
            <a:noAutofit/>
          </a:bodyPr>
          <a:lstStyle/>
          <a:p>
            <a:r>
              <a:rPr lang="en-US" altLang="zh-CN" sz="2800" b="1">
                <a:solidFill>
                  <a:srgbClr val="003B7A"/>
                </a:solidFill>
                <a:latin typeface="Aptos" panose="020B0004020202020204" pitchFamily="34" charset="0"/>
              </a:rPr>
              <a:t>Answer</a:t>
            </a:r>
            <a:endParaRPr lang="zh-CN" altLang="en-US" sz="2800" b="1">
              <a:solidFill>
                <a:srgbClr val="003B7A"/>
              </a:solidFill>
              <a:latin typeface="Aptos" panose="020B0004020202020204" pitchFamily="34" charset="0"/>
            </a:endParaRPr>
          </a:p>
        </p:txBody>
      </p:sp>
      <p:sp>
        <p:nvSpPr>
          <p:cNvPr id="16" name="defs0">
            <a:extLst>
              <a:ext uri="{FF2B5EF4-FFF2-40B4-BE49-F238E27FC236}">
                <a16:creationId xmlns:a16="http://schemas.microsoft.com/office/drawing/2014/main" id="{C3728286-9E2E-8B89-30DC-938476C723FD}"/>
              </a:ext>
            </a:extLst>
          </p:cNvPr>
          <p:cNvSpPr txBox="1"/>
          <p:nvPr/>
        </p:nvSpPr>
        <p:spPr>
          <a:xfrm>
            <a:off x="1524000" y="3733800"/>
            <a:ext cx="2133600" cy="276999"/>
          </a:xfrm>
          <a:prstGeom prst="rect">
            <a:avLst/>
          </a:prstGeom>
          <a:noFill/>
        </p:spPr>
        <p:txBody>
          <a:bodyPr vert="horz" wrap="square" lIns="0" tIns="0" rIns="0" bIns="0" rtlCol="0">
            <a:noAutofit/>
          </a:bodyPr>
          <a:lstStyle/>
          <a:p>
            <a:r>
              <a:rPr lang="en-US" altLang="zh-CN" sz="1400" b="1">
                <a:solidFill>
                  <a:srgbClr val="52617A"/>
                </a:solidFill>
                <a:latin typeface="Aptos" panose="020B0004020202020204" pitchFamily="34" charset="0"/>
              </a:rPr>
              <a:t>one direct sentence</a:t>
            </a:r>
            <a:endParaRPr lang="zh-CN" altLang="en-US" sz="1400" b="1">
              <a:solidFill>
                <a:srgbClr val="52617A"/>
              </a:solidFill>
              <a:latin typeface="Aptos" panose="020B0004020202020204" pitchFamily="34" charset="0"/>
            </a:endParaRPr>
          </a:p>
        </p:txBody>
      </p:sp>
      <p:sp>
        <p:nvSpPr>
          <p:cNvPr id="17" name="def1">
            <a:extLst>
              <a:ext uri="{FF2B5EF4-FFF2-40B4-BE49-F238E27FC236}">
                <a16:creationId xmlns:a16="http://schemas.microsoft.com/office/drawing/2014/main" id="{4AAACBB8-852D-8E57-D82B-C7DDA649EB83}"/>
              </a:ext>
            </a:extLst>
          </p:cNvPr>
          <p:cNvSpPr/>
          <p:nvPr/>
        </p:nvSpPr>
        <p:spPr>
          <a:xfrm>
            <a:off x="4749800" y="2413000"/>
            <a:ext cx="3098800" cy="187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defbar1">
            <a:extLst>
              <a:ext uri="{FF2B5EF4-FFF2-40B4-BE49-F238E27FC236}">
                <a16:creationId xmlns:a16="http://schemas.microsoft.com/office/drawing/2014/main" id="{E1DB245E-C81E-A117-803F-37000438905E}"/>
              </a:ext>
            </a:extLst>
          </p:cNvPr>
          <p:cNvSpPr/>
          <p:nvPr/>
        </p:nvSpPr>
        <p:spPr>
          <a:xfrm>
            <a:off x="4749800" y="2413000"/>
            <a:ext cx="3098800" cy="114300"/>
          </a:xfrm>
          <a:prstGeom prst="rect">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deft1">
            <a:extLst>
              <a:ext uri="{FF2B5EF4-FFF2-40B4-BE49-F238E27FC236}">
                <a16:creationId xmlns:a16="http://schemas.microsoft.com/office/drawing/2014/main" id="{32CC7B44-CBB0-0A10-F975-0BE9C81E9E68}"/>
              </a:ext>
            </a:extLst>
          </p:cNvPr>
          <p:cNvSpPr txBox="1"/>
          <p:nvPr/>
        </p:nvSpPr>
        <p:spPr>
          <a:xfrm>
            <a:off x="5181600" y="3022600"/>
            <a:ext cx="2108200" cy="276999"/>
          </a:xfrm>
          <a:prstGeom prst="rect">
            <a:avLst/>
          </a:prstGeom>
          <a:noFill/>
        </p:spPr>
        <p:txBody>
          <a:bodyPr vert="horz" wrap="square" lIns="0" tIns="0" rIns="0" bIns="0" rtlCol="0">
            <a:noAutofit/>
          </a:bodyPr>
          <a:lstStyle/>
          <a:p>
            <a:r>
              <a:rPr lang="en-US" altLang="zh-CN" sz="2800" b="1">
                <a:solidFill>
                  <a:srgbClr val="B85C00"/>
                </a:solidFill>
                <a:latin typeface="Aptos" panose="020B0004020202020204" pitchFamily="34" charset="0"/>
              </a:rPr>
              <a:t>Bound</a:t>
            </a:r>
            <a:endParaRPr lang="zh-CN" altLang="en-US" sz="2800" b="1">
              <a:solidFill>
                <a:srgbClr val="B85C00"/>
              </a:solidFill>
              <a:latin typeface="Aptos" panose="020B0004020202020204" pitchFamily="34" charset="0"/>
            </a:endParaRPr>
          </a:p>
        </p:txBody>
      </p:sp>
      <p:sp>
        <p:nvSpPr>
          <p:cNvPr id="20" name="defs1">
            <a:extLst>
              <a:ext uri="{FF2B5EF4-FFF2-40B4-BE49-F238E27FC236}">
                <a16:creationId xmlns:a16="http://schemas.microsoft.com/office/drawing/2014/main" id="{8ED9E5EF-7BFC-C0EB-ABD8-C56C804A5D51}"/>
              </a:ext>
            </a:extLst>
          </p:cNvPr>
          <p:cNvSpPr txBox="1"/>
          <p:nvPr/>
        </p:nvSpPr>
        <p:spPr>
          <a:xfrm>
            <a:off x="5181600" y="3733800"/>
            <a:ext cx="2133600" cy="276999"/>
          </a:xfrm>
          <a:prstGeom prst="rect">
            <a:avLst/>
          </a:prstGeom>
          <a:noFill/>
        </p:spPr>
        <p:txBody>
          <a:bodyPr vert="horz" wrap="square" lIns="0" tIns="0" rIns="0" bIns="0" rtlCol="0">
            <a:noAutofit/>
          </a:bodyPr>
          <a:lstStyle/>
          <a:p>
            <a:r>
              <a:rPr lang="en-US" altLang="zh-CN" sz="1400" b="1">
                <a:solidFill>
                  <a:srgbClr val="52617A"/>
                </a:solidFill>
                <a:latin typeface="Aptos" panose="020B0004020202020204" pitchFamily="34" charset="0"/>
              </a:rPr>
              <a:t>denominator + controls</a:t>
            </a:r>
            <a:endParaRPr lang="zh-CN" altLang="en-US" sz="1400" b="1">
              <a:solidFill>
                <a:srgbClr val="52617A"/>
              </a:solidFill>
              <a:latin typeface="Aptos" panose="020B0004020202020204" pitchFamily="34" charset="0"/>
            </a:endParaRPr>
          </a:p>
        </p:txBody>
      </p:sp>
      <p:sp>
        <p:nvSpPr>
          <p:cNvPr id="21" name="def2">
            <a:extLst>
              <a:ext uri="{FF2B5EF4-FFF2-40B4-BE49-F238E27FC236}">
                <a16:creationId xmlns:a16="http://schemas.microsoft.com/office/drawing/2014/main" id="{3118EA03-0A1A-EE08-2E84-B94C60C837AE}"/>
              </a:ext>
            </a:extLst>
          </p:cNvPr>
          <p:cNvSpPr/>
          <p:nvPr/>
        </p:nvSpPr>
        <p:spPr>
          <a:xfrm>
            <a:off x="8407400" y="2413000"/>
            <a:ext cx="3098800" cy="187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defbar2">
            <a:extLst>
              <a:ext uri="{FF2B5EF4-FFF2-40B4-BE49-F238E27FC236}">
                <a16:creationId xmlns:a16="http://schemas.microsoft.com/office/drawing/2014/main" id="{2FE81EB6-9182-89F3-5E02-CE91CAD09813}"/>
              </a:ext>
            </a:extLst>
          </p:cNvPr>
          <p:cNvSpPr/>
          <p:nvPr/>
        </p:nvSpPr>
        <p:spPr>
          <a:xfrm>
            <a:off x="8407400" y="2413000"/>
            <a:ext cx="3098800" cy="114300"/>
          </a:xfrm>
          <a:prstGeom prst="rect">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deft2">
            <a:extLst>
              <a:ext uri="{FF2B5EF4-FFF2-40B4-BE49-F238E27FC236}">
                <a16:creationId xmlns:a16="http://schemas.microsoft.com/office/drawing/2014/main" id="{C858BC73-E2F9-11A7-8D7E-35708583D501}"/>
              </a:ext>
            </a:extLst>
          </p:cNvPr>
          <p:cNvSpPr txBox="1"/>
          <p:nvPr/>
        </p:nvSpPr>
        <p:spPr>
          <a:xfrm>
            <a:off x="8839200" y="3022600"/>
            <a:ext cx="2108200" cy="276999"/>
          </a:xfrm>
          <a:prstGeom prst="rect">
            <a:avLst/>
          </a:prstGeom>
          <a:noFill/>
        </p:spPr>
        <p:txBody>
          <a:bodyPr vert="horz" wrap="square" lIns="0" tIns="0" rIns="0" bIns="0" rtlCol="0">
            <a:noAutofit/>
          </a:bodyPr>
          <a:lstStyle/>
          <a:p>
            <a:r>
              <a:rPr lang="en-US" altLang="zh-CN" sz="2800" b="1">
                <a:solidFill>
                  <a:srgbClr val="1F7A4D"/>
                </a:solidFill>
                <a:latin typeface="Aptos" panose="020B0004020202020204" pitchFamily="34" charset="0"/>
              </a:rPr>
              <a:t>Point</a:t>
            </a:r>
            <a:endParaRPr lang="zh-CN" altLang="en-US" sz="2800" b="1">
              <a:solidFill>
                <a:srgbClr val="1F7A4D"/>
              </a:solidFill>
              <a:latin typeface="Aptos" panose="020B0004020202020204" pitchFamily="34" charset="0"/>
            </a:endParaRPr>
          </a:p>
        </p:txBody>
      </p:sp>
      <p:sp>
        <p:nvSpPr>
          <p:cNvPr id="24" name="defs2">
            <a:extLst>
              <a:ext uri="{FF2B5EF4-FFF2-40B4-BE49-F238E27FC236}">
                <a16:creationId xmlns:a16="http://schemas.microsoft.com/office/drawing/2014/main" id="{03A0AF4B-7DD7-13F4-B3DF-748EAA75B783}"/>
              </a:ext>
            </a:extLst>
          </p:cNvPr>
          <p:cNvSpPr txBox="1"/>
          <p:nvPr/>
        </p:nvSpPr>
        <p:spPr>
          <a:xfrm>
            <a:off x="8839200" y="3733800"/>
            <a:ext cx="2133600" cy="276999"/>
          </a:xfrm>
          <a:prstGeom prst="rect">
            <a:avLst/>
          </a:prstGeom>
          <a:noFill/>
        </p:spPr>
        <p:txBody>
          <a:bodyPr vert="horz" wrap="square" lIns="0" tIns="0" rIns="0" bIns="0" rtlCol="0">
            <a:noAutofit/>
          </a:bodyPr>
          <a:lstStyle/>
          <a:p>
            <a:r>
              <a:rPr lang="en-US" altLang="zh-CN" sz="1400" b="1">
                <a:solidFill>
                  <a:srgbClr val="52617A"/>
                </a:solidFill>
                <a:latin typeface="Aptos" panose="020B0004020202020204" pitchFamily="34" charset="0"/>
              </a:rPr>
              <a:t>file, slide, or demo route</a:t>
            </a:r>
            <a:endParaRPr lang="zh-CN" altLang="en-US" sz="1400" b="1">
              <a:solidFill>
                <a:srgbClr val="52617A"/>
              </a:solidFill>
              <a:latin typeface="Aptos" panose="020B0004020202020204" pitchFamily="34" charset="0"/>
            </a:endParaRPr>
          </a:p>
        </p:txBody>
      </p:sp>
      <p:sp>
        <p:nvSpPr>
          <p:cNvPr id="25" name="no">
            <a:extLst>
              <a:ext uri="{FF2B5EF4-FFF2-40B4-BE49-F238E27FC236}">
                <a16:creationId xmlns:a16="http://schemas.microsoft.com/office/drawing/2014/main" id="{FD21ED8D-7D6D-88C1-2684-6ED241363525}"/>
              </a:ext>
            </a:extLst>
          </p:cNvPr>
          <p:cNvSpPr/>
          <p:nvPr/>
        </p:nvSpPr>
        <p:spPr>
          <a:xfrm>
            <a:off x="1600200" y="5130800"/>
            <a:ext cx="8991600" cy="533400"/>
          </a:xfrm>
          <a:prstGeom prst="roundRect">
            <a:avLst>
              <a:gd name="adj" fmla="val 14000"/>
            </a:avLst>
          </a:prstGeom>
          <a:solidFill>
            <a:srgbClr val="FFF0F4"/>
          </a:solidFill>
          <a:ln w="10160" cap="flat" cmpd="sng" algn="ctr">
            <a:solidFill>
              <a:srgbClr val="EEB5BF">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no-t">
            <a:extLst>
              <a:ext uri="{FF2B5EF4-FFF2-40B4-BE49-F238E27FC236}">
                <a16:creationId xmlns:a16="http://schemas.microsoft.com/office/drawing/2014/main" id="{F31F17F4-CB24-5EE3-3A6E-BD7A0767E9A3}"/>
              </a:ext>
            </a:extLst>
          </p:cNvPr>
          <p:cNvSpPr txBox="1"/>
          <p:nvPr/>
        </p:nvSpPr>
        <p:spPr>
          <a:xfrm>
            <a:off x="1955800" y="5270500"/>
            <a:ext cx="8280400" cy="276999"/>
          </a:xfrm>
          <a:prstGeom prst="rect">
            <a:avLst/>
          </a:prstGeom>
          <a:noFill/>
        </p:spPr>
        <p:txBody>
          <a:bodyPr vert="horz" wrap="square" lIns="0" tIns="0" rIns="0" bIns="0" rtlCol="0">
            <a:noAutofit/>
          </a:bodyPr>
          <a:lstStyle/>
          <a:p>
            <a:pPr algn="ctr"/>
            <a:r>
              <a:rPr lang="en-US" altLang="zh-CN" sz="1120" b="1">
                <a:solidFill>
                  <a:srgbClr val="B92C41"/>
                </a:solidFill>
                <a:latin typeface="Aptos" panose="020B0004020202020204" pitchFamily="34" charset="0"/>
              </a:rPr>
              <a:t>Do not claim: universal watermarking, provider accusation, legal authorship proof, or safety certification.</a:t>
            </a:r>
            <a:endParaRPr lang="zh-CN" altLang="en-US" sz="1120" b="1">
              <a:solidFill>
                <a:srgbClr val="B92C41"/>
              </a:solidFill>
              <a:latin typeface="Aptos" panose="020B0004020202020204" pitchFamily="34" charset="0"/>
            </a:endParaRPr>
          </a:p>
        </p:txBody>
      </p:sp>
      <p:sp>
        <p:nvSpPr>
          <p:cNvPr id="27" name="footer-hit-14">
            <a:hlinkClick r:id="rId4"/>
            <a:extLst>
              <a:ext uri="{FF2B5EF4-FFF2-40B4-BE49-F238E27FC236}">
                <a16:creationId xmlns:a16="http://schemas.microsoft.com/office/drawing/2014/main" id="{7AADF94F-D719-F419-998E-BB8CE40D4698}"/>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32599539"/>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18" grpId="0" animBg="1"/>
      <p:bldP spid="19" grpId="0"/>
      <p:bldP spid="20" grpId="0"/>
      <p:bldP spid="21" grpId="0" animBg="1"/>
      <p:bldP spid="22" grpId="0" animBg="1"/>
      <p:bldP spid="23" grpId="0"/>
      <p:bldP spid="24" grpId="0"/>
      <p:bldP spid="25" grpId="0" animBg="1"/>
      <p:bldP spid="2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9F83C354-D89D-DC57-66A7-A8C17F2125CB}"/>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84EF42B1-3A08-AC99-F873-1C46A9D9C2D1}"/>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7E406F8F-3AC3-7BCC-3A86-336125596968}"/>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PUBLICATION PLAN</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E017F551-BFB5-F6A8-C5D9-75D2321F4DC3}"/>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15</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B256D2BF-BB3F-A89F-41CF-D00583BC0B0F}"/>
              </a:ext>
            </a:extLst>
          </p:cNvPr>
          <p:cNvCxnSpPr/>
          <p:nvPr/>
        </p:nvCxnSpPr>
        <p:spPr>
          <a:xfrm>
            <a:off x="736600" y="19558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C2D06846-E0D5-FC85-9F49-FDBFF0063777}"/>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8FC9F019-8EDB-CAD8-2CB9-34695B36B235}"/>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01C5198A-3B59-3D14-10B8-50B1010412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E41871BD-AB2C-BC38-82CE-AC61EFFAF9B2}"/>
              </a:ext>
            </a:extLst>
          </p:cNvPr>
          <p:cNvSpPr txBox="1"/>
          <p:nvPr/>
        </p:nvSpPr>
        <p:spPr>
          <a:xfrm>
            <a:off x="736600" y="711200"/>
            <a:ext cx="10795000" cy="276999"/>
          </a:xfrm>
          <a:prstGeom prst="rect">
            <a:avLst/>
          </a:prstGeom>
          <a:noFill/>
        </p:spPr>
        <p:txBody>
          <a:bodyPr vert="horz" wrap="square" lIns="0" tIns="0" rIns="0" bIns="0" rtlCol="0">
            <a:noAutofit/>
          </a:bodyPr>
          <a:lstStyle/>
          <a:p>
            <a:r>
              <a:rPr lang="en-US" altLang="zh-CN" sz="3000" b="1">
                <a:solidFill>
                  <a:srgbClr val="071837"/>
                </a:solidFill>
                <a:latin typeface="Aptos" panose="020B0004020202020204" pitchFamily="34" charset="0"/>
              </a:rPr>
              <a:t>The FYP becomes five paper tracks.</a:t>
            </a:r>
            <a:endParaRPr lang="zh-CN" altLang="en-US" sz="300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72A00BE3-2E4C-A009-39D3-DCE29EA3D51A}"/>
              </a:ext>
            </a:extLst>
          </p:cNvPr>
          <p:cNvSpPr txBox="1"/>
          <p:nvPr/>
        </p:nvSpPr>
        <p:spPr>
          <a:xfrm>
            <a:off x="787400" y="1473200"/>
            <a:ext cx="10287000" cy="276999"/>
          </a:xfrm>
          <a:prstGeom prst="rect">
            <a:avLst/>
          </a:prstGeom>
          <a:noFill/>
        </p:spPr>
        <p:txBody>
          <a:bodyPr vert="horz" wrap="square" lIns="0" tIns="0" rIns="0" bIns="0" rtlCol="0">
            <a:noAutofit/>
          </a:bodyPr>
          <a:lstStyle/>
          <a:p>
            <a:r>
              <a:rPr lang="en-US" altLang="zh-CN" sz="1220">
                <a:solidFill>
                  <a:srgbClr val="52617A"/>
                </a:solidFill>
                <a:latin typeface="Aptos" panose="020B0004020202020204" pitchFamily="34" charset="0"/>
              </a:rPr>
              <a:t>Current code and experiments were completed individually; later manuscript writing may involve collaborators.</a:t>
            </a:r>
            <a:endParaRPr lang="zh-CN" altLang="en-US" sz="1220">
              <a:solidFill>
                <a:srgbClr val="52617A"/>
              </a:solidFill>
              <a:latin typeface="Aptos" panose="020B0004020202020204" pitchFamily="34" charset="0"/>
            </a:endParaRPr>
          </a:p>
        </p:txBody>
      </p:sp>
      <p:sp>
        <p:nvSpPr>
          <p:cNvPr id="13" name="road0">
            <a:extLst>
              <a:ext uri="{FF2B5EF4-FFF2-40B4-BE49-F238E27FC236}">
                <a16:creationId xmlns:a16="http://schemas.microsoft.com/office/drawing/2014/main" id="{D3FF5DD2-926B-BA32-7B72-07F2B761638C}"/>
              </a:ext>
            </a:extLst>
          </p:cNvPr>
          <p:cNvSpPr/>
          <p:nvPr/>
        </p:nvSpPr>
        <p:spPr>
          <a:xfrm>
            <a:off x="1168400" y="2159000"/>
            <a:ext cx="9652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roadbar0">
            <a:extLst>
              <a:ext uri="{FF2B5EF4-FFF2-40B4-BE49-F238E27FC236}">
                <a16:creationId xmlns:a16="http://schemas.microsoft.com/office/drawing/2014/main" id="{92757664-5426-0A38-8BD3-ED44ABEAAACA}"/>
              </a:ext>
            </a:extLst>
          </p:cNvPr>
          <p:cNvSpPr/>
          <p:nvPr/>
        </p:nvSpPr>
        <p:spPr>
          <a:xfrm>
            <a:off x="1168400" y="2159000"/>
            <a:ext cx="114300" cy="5334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roadp0">
            <a:extLst>
              <a:ext uri="{FF2B5EF4-FFF2-40B4-BE49-F238E27FC236}">
                <a16:creationId xmlns:a16="http://schemas.microsoft.com/office/drawing/2014/main" id="{8FBDA443-BD29-27A9-8993-CA506730F9E5}"/>
              </a:ext>
            </a:extLst>
          </p:cNvPr>
          <p:cNvSpPr txBox="1"/>
          <p:nvPr/>
        </p:nvSpPr>
        <p:spPr>
          <a:xfrm>
            <a:off x="1549400" y="2286000"/>
            <a:ext cx="2082800" cy="276999"/>
          </a:xfrm>
          <a:prstGeom prst="rect">
            <a:avLst/>
          </a:prstGeom>
          <a:noFill/>
        </p:spPr>
        <p:txBody>
          <a:bodyPr vert="horz" wrap="square" lIns="0" tIns="0" rIns="0" bIns="0" rtlCol="0">
            <a:noAutofit/>
          </a:bodyPr>
          <a:lstStyle/>
          <a:p>
            <a:r>
              <a:rPr lang="en-US" altLang="zh-CN" sz="1220" b="1">
                <a:solidFill>
                  <a:srgbClr val="003B7A"/>
                </a:solidFill>
                <a:latin typeface="Aptos" panose="020B0004020202020204" pitchFamily="34" charset="0"/>
              </a:rPr>
              <a:t>CodeMarkBench</a:t>
            </a:r>
            <a:endParaRPr lang="zh-CN" altLang="en-US" sz="1220" b="1">
              <a:solidFill>
                <a:srgbClr val="003B7A"/>
              </a:solidFill>
              <a:latin typeface="Aptos" panose="020B0004020202020204" pitchFamily="34" charset="0"/>
            </a:endParaRPr>
          </a:p>
        </p:txBody>
      </p:sp>
      <p:sp>
        <p:nvSpPr>
          <p:cNvPr id="16" name="roadv0">
            <a:extLst>
              <a:ext uri="{FF2B5EF4-FFF2-40B4-BE49-F238E27FC236}">
                <a16:creationId xmlns:a16="http://schemas.microsoft.com/office/drawing/2014/main" id="{D6AA20CB-7C15-902B-F07B-8FC488952564}"/>
              </a:ext>
            </a:extLst>
          </p:cNvPr>
          <p:cNvSpPr txBox="1"/>
          <p:nvPr/>
        </p:nvSpPr>
        <p:spPr>
          <a:xfrm>
            <a:off x="4140200" y="2286000"/>
            <a:ext cx="939800" cy="276999"/>
          </a:xfrm>
          <a:prstGeom prst="rect">
            <a:avLst/>
          </a:prstGeom>
          <a:noFill/>
        </p:spPr>
        <p:txBody>
          <a:bodyPr vert="horz" wrap="square" lIns="0" tIns="0" rIns="0" bIns="0" rtlCol="0">
            <a:noAutofit/>
          </a:bodyPr>
          <a:lstStyle/>
          <a:p>
            <a:r>
              <a:rPr lang="en-US" altLang="zh-CN" sz="1160" b="1">
                <a:solidFill>
                  <a:srgbClr val="003B7A"/>
                </a:solidFill>
                <a:latin typeface="Aptos" panose="020B0004020202020204" pitchFamily="34" charset="0"/>
              </a:rPr>
              <a:t>TOSEM</a:t>
            </a:r>
            <a:endParaRPr lang="zh-CN" altLang="en-US" sz="1160" b="1">
              <a:solidFill>
                <a:srgbClr val="003B7A"/>
              </a:solidFill>
              <a:latin typeface="Aptos" panose="020B0004020202020204" pitchFamily="34" charset="0"/>
            </a:endParaRPr>
          </a:p>
        </p:txBody>
      </p:sp>
      <p:sp>
        <p:nvSpPr>
          <p:cNvPr id="17" name="roadt0">
            <a:extLst>
              <a:ext uri="{FF2B5EF4-FFF2-40B4-BE49-F238E27FC236}">
                <a16:creationId xmlns:a16="http://schemas.microsoft.com/office/drawing/2014/main" id="{0D5017C9-4E8A-FC9C-9FE4-CD38D8CDECA3}"/>
              </a:ext>
            </a:extLst>
          </p:cNvPr>
          <p:cNvSpPr txBox="1"/>
          <p:nvPr/>
        </p:nvSpPr>
        <p:spPr>
          <a:xfrm>
            <a:off x="5664200" y="2286000"/>
            <a:ext cx="4191000" cy="276999"/>
          </a:xfrm>
          <a:prstGeom prst="rect">
            <a:avLst/>
          </a:prstGeom>
          <a:noFill/>
        </p:spPr>
        <p:txBody>
          <a:bodyPr vert="horz" wrap="square" lIns="0" tIns="0" rIns="0" bIns="0" rtlCol="0">
            <a:noAutofit/>
          </a:bodyPr>
          <a:lstStyle/>
          <a:p>
            <a:r>
              <a:rPr lang="en-US" altLang="zh-CN" sz="1150" b="1">
                <a:solidFill>
                  <a:srgbClr val="52617A"/>
                </a:solidFill>
                <a:latin typeface="Aptos" panose="020B0004020202020204" pitchFamily="34" charset="0"/>
              </a:rPr>
              <a:t>benchmark and executable evaluation</a:t>
            </a:r>
            <a:endParaRPr lang="zh-CN" altLang="en-US" sz="1150" b="1">
              <a:solidFill>
                <a:srgbClr val="52617A"/>
              </a:solidFill>
              <a:latin typeface="Aptos" panose="020B0004020202020204" pitchFamily="34" charset="0"/>
            </a:endParaRPr>
          </a:p>
        </p:txBody>
      </p:sp>
      <p:sp>
        <p:nvSpPr>
          <p:cNvPr id="18" name="road1">
            <a:extLst>
              <a:ext uri="{FF2B5EF4-FFF2-40B4-BE49-F238E27FC236}">
                <a16:creationId xmlns:a16="http://schemas.microsoft.com/office/drawing/2014/main" id="{662C56A6-0EB2-C52A-A7A2-9C88C76E7214}"/>
              </a:ext>
            </a:extLst>
          </p:cNvPr>
          <p:cNvSpPr/>
          <p:nvPr/>
        </p:nvSpPr>
        <p:spPr>
          <a:xfrm>
            <a:off x="1168400" y="2844800"/>
            <a:ext cx="9652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roadbar1">
            <a:extLst>
              <a:ext uri="{FF2B5EF4-FFF2-40B4-BE49-F238E27FC236}">
                <a16:creationId xmlns:a16="http://schemas.microsoft.com/office/drawing/2014/main" id="{76CCB309-290B-DE02-C5F5-DD04A8AF5AE0}"/>
              </a:ext>
            </a:extLst>
          </p:cNvPr>
          <p:cNvSpPr/>
          <p:nvPr/>
        </p:nvSpPr>
        <p:spPr>
          <a:xfrm>
            <a:off x="1168400" y="2844800"/>
            <a:ext cx="114300" cy="533400"/>
          </a:xfrm>
          <a:prstGeom prst="rect">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oadp1">
            <a:extLst>
              <a:ext uri="{FF2B5EF4-FFF2-40B4-BE49-F238E27FC236}">
                <a16:creationId xmlns:a16="http://schemas.microsoft.com/office/drawing/2014/main" id="{7375DE20-D343-916C-2774-EDE9BDD78874}"/>
              </a:ext>
            </a:extLst>
          </p:cNvPr>
          <p:cNvSpPr txBox="1"/>
          <p:nvPr/>
        </p:nvSpPr>
        <p:spPr>
          <a:xfrm>
            <a:off x="1549400" y="2971800"/>
            <a:ext cx="2082800" cy="276999"/>
          </a:xfrm>
          <a:prstGeom prst="rect">
            <a:avLst/>
          </a:prstGeom>
          <a:noFill/>
        </p:spPr>
        <p:txBody>
          <a:bodyPr vert="horz" wrap="square" lIns="0" tIns="0" rIns="0" bIns="0" rtlCol="0">
            <a:noAutofit/>
          </a:bodyPr>
          <a:lstStyle/>
          <a:p>
            <a:r>
              <a:rPr lang="en-US" altLang="zh-CN" sz="1220" b="1">
                <a:solidFill>
                  <a:srgbClr val="168E8B"/>
                </a:solidFill>
                <a:latin typeface="Aptos" panose="020B0004020202020204" pitchFamily="34" charset="0"/>
              </a:rPr>
              <a:t>SemCodebook</a:t>
            </a:r>
            <a:endParaRPr lang="zh-CN" altLang="en-US" sz="1220" b="1">
              <a:solidFill>
                <a:srgbClr val="168E8B"/>
              </a:solidFill>
              <a:latin typeface="Aptos" panose="020B0004020202020204" pitchFamily="34" charset="0"/>
            </a:endParaRPr>
          </a:p>
        </p:txBody>
      </p:sp>
      <p:sp>
        <p:nvSpPr>
          <p:cNvPr id="21" name="roadv1">
            <a:extLst>
              <a:ext uri="{FF2B5EF4-FFF2-40B4-BE49-F238E27FC236}">
                <a16:creationId xmlns:a16="http://schemas.microsoft.com/office/drawing/2014/main" id="{8A7E7E6B-A1B0-898D-9519-EAD72AF3E761}"/>
              </a:ext>
            </a:extLst>
          </p:cNvPr>
          <p:cNvSpPr txBox="1"/>
          <p:nvPr/>
        </p:nvSpPr>
        <p:spPr>
          <a:xfrm>
            <a:off x="4140200" y="2971800"/>
            <a:ext cx="939800" cy="276999"/>
          </a:xfrm>
          <a:prstGeom prst="rect">
            <a:avLst/>
          </a:prstGeom>
          <a:noFill/>
        </p:spPr>
        <p:txBody>
          <a:bodyPr vert="horz" wrap="square" lIns="0" tIns="0" rIns="0" bIns="0" rtlCol="0">
            <a:noAutofit/>
          </a:bodyPr>
          <a:lstStyle/>
          <a:p>
            <a:r>
              <a:rPr lang="en-US" altLang="zh-CN" sz="1160" b="1">
                <a:solidFill>
                  <a:srgbClr val="003B7A"/>
                </a:solidFill>
                <a:latin typeface="Aptos" panose="020B0004020202020204" pitchFamily="34" charset="0"/>
              </a:rPr>
              <a:t>EMNLP</a:t>
            </a:r>
            <a:endParaRPr lang="zh-CN" altLang="en-US" sz="1160" b="1">
              <a:solidFill>
                <a:srgbClr val="003B7A"/>
              </a:solidFill>
              <a:latin typeface="Aptos" panose="020B0004020202020204" pitchFamily="34" charset="0"/>
            </a:endParaRPr>
          </a:p>
        </p:txBody>
      </p:sp>
      <p:sp>
        <p:nvSpPr>
          <p:cNvPr id="22" name="roadt1">
            <a:extLst>
              <a:ext uri="{FF2B5EF4-FFF2-40B4-BE49-F238E27FC236}">
                <a16:creationId xmlns:a16="http://schemas.microsoft.com/office/drawing/2014/main" id="{2C2EA447-9829-2846-EAD3-97DA6AFD7E50}"/>
              </a:ext>
            </a:extLst>
          </p:cNvPr>
          <p:cNvSpPr txBox="1"/>
          <p:nvPr/>
        </p:nvSpPr>
        <p:spPr>
          <a:xfrm>
            <a:off x="5664200" y="2971800"/>
            <a:ext cx="4191000" cy="276999"/>
          </a:xfrm>
          <a:prstGeom prst="rect">
            <a:avLst/>
          </a:prstGeom>
          <a:noFill/>
        </p:spPr>
        <p:txBody>
          <a:bodyPr vert="horz" wrap="square" lIns="0" tIns="0" rIns="0" bIns="0" rtlCol="0">
            <a:noAutofit/>
          </a:bodyPr>
          <a:lstStyle/>
          <a:p>
            <a:r>
              <a:rPr lang="en-US" altLang="zh-CN" sz="1150" b="1">
                <a:solidFill>
                  <a:srgbClr val="52617A"/>
                </a:solidFill>
                <a:latin typeface="Aptos" panose="020B0004020202020204" pitchFamily="34" charset="0"/>
              </a:rPr>
              <a:t>white-box provenance recovery</a:t>
            </a:r>
            <a:endParaRPr lang="zh-CN" altLang="en-US" sz="1150" b="1">
              <a:solidFill>
                <a:srgbClr val="52617A"/>
              </a:solidFill>
              <a:latin typeface="Aptos" panose="020B0004020202020204" pitchFamily="34" charset="0"/>
            </a:endParaRPr>
          </a:p>
        </p:txBody>
      </p:sp>
      <p:sp>
        <p:nvSpPr>
          <p:cNvPr id="23" name="road2">
            <a:extLst>
              <a:ext uri="{FF2B5EF4-FFF2-40B4-BE49-F238E27FC236}">
                <a16:creationId xmlns:a16="http://schemas.microsoft.com/office/drawing/2014/main" id="{2324BE51-A6CD-8B36-8B42-C8CED7311BC7}"/>
              </a:ext>
            </a:extLst>
          </p:cNvPr>
          <p:cNvSpPr/>
          <p:nvPr/>
        </p:nvSpPr>
        <p:spPr>
          <a:xfrm>
            <a:off x="1168400" y="3530600"/>
            <a:ext cx="9652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roadbar2">
            <a:extLst>
              <a:ext uri="{FF2B5EF4-FFF2-40B4-BE49-F238E27FC236}">
                <a16:creationId xmlns:a16="http://schemas.microsoft.com/office/drawing/2014/main" id="{36CA7F9B-2624-2EFE-F592-062366239726}"/>
              </a:ext>
            </a:extLst>
          </p:cNvPr>
          <p:cNvSpPr/>
          <p:nvPr/>
        </p:nvSpPr>
        <p:spPr>
          <a:xfrm>
            <a:off x="1168400" y="3530600"/>
            <a:ext cx="114300" cy="533400"/>
          </a:xfrm>
          <a:prstGeom prst="rect">
            <a:avLst/>
          </a:prstGeom>
          <a:solidFill>
            <a:srgbClr val="5B45C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roadp2">
            <a:extLst>
              <a:ext uri="{FF2B5EF4-FFF2-40B4-BE49-F238E27FC236}">
                <a16:creationId xmlns:a16="http://schemas.microsoft.com/office/drawing/2014/main" id="{8BA93C2F-3A7C-8726-29BD-7C9DEC7FC9CE}"/>
              </a:ext>
            </a:extLst>
          </p:cNvPr>
          <p:cNvSpPr txBox="1"/>
          <p:nvPr/>
        </p:nvSpPr>
        <p:spPr>
          <a:xfrm>
            <a:off x="1549400" y="3657600"/>
            <a:ext cx="2082800" cy="276999"/>
          </a:xfrm>
          <a:prstGeom prst="rect">
            <a:avLst/>
          </a:prstGeom>
          <a:noFill/>
        </p:spPr>
        <p:txBody>
          <a:bodyPr vert="horz" wrap="square" lIns="0" tIns="0" rIns="0" bIns="0" rtlCol="0">
            <a:noAutofit/>
          </a:bodyPr>
          <a:lstStyle/>
          <a:p>
            <a:r>
              <a:rPr lang="en-US" altLang="zh-CN" sz="1220" b="1">
                <a:solidFill>
                  <a:srgbClr val="5B45C8"/>
                </a:solidFill>
                <a:latin typeface="Aptos" panose="020B0004020202020204" pitchFamily="34" charset="0"/>
              </a:rPr>
              <a:t>CodeDye</a:t>
            </a:r>
            <a:endParaRPr lang="zh-CN" altLang="en-US" sz="1220" b="1">
              <a:solidFill>
                <a:srgbClr val="5B45C8"/>
              </a:solidFill>
              <a:latin typeface="Aptos" panose="020B0004020202020204" pitchFamily="34" charset="0"/>
            </a:endParaRPr>
          </a:p>
        </p:txBody>
      </p:sp>
      <p:sp>
        <p:nvSpPr>
          <p:cNvPr id="26" name="roadv2">
            <a:extLst>
              <a:ext uri="{FF2B5EF4-FFF2-40B4-BE49-F238E27FC236}">
                <a16:creationId xmlns:a16="http://schemas.microsoft.com/office/drawing/2014/main" id="{D68DE717-8B6C-5798-FE4D-2A617D06689C}"/>
              </a:ext>
            </a:extLst>
          </p:cNvPr>
          <p:cNvSpPr txBox="1"/>
          <p:nvPr/>
        </p:nvSpPr>
        <p:spPr>
          <a:xfrm>
            <a:off x="4140200" y="3657600"/>
            <a:ext cx="939800" cy="276999"/>
          </a:xfrm>
          <a:prstGeom prst="rect">
            <a:avLst/>
          </a:prstGeom>
          <a:noFill/>
        </p:spPr>
        <p:txBody>
          <a:bodyPr vert="horz" wrap="square" lIns="0" tIns="0" rIns="0" bIns="0" rtlCol="0">
            <a:noAutofit/>
          </a:bodyPr>
          <a:lstStyle/>
          <a:p>
            <a:r>
              <a:rPr lang="en-US" altLang="zh-CN" sz="1160" b="1">
                <a:solidFill>
                  <a:srgbClr val="003B7A"/>
                </a:solidFill>
                <a:latin typeface="Aptos" panose="020B0004020202020204" pitchFamily="34" charset="0"/>
              </a:rPr>
              <a:t>EMNLP</a:t>
            </a:r>
            <a:endParaRPr lang="zh-CN" altLang="en-US" sz="1160" b="1">
              <a:solidFill>
                <a:srgbClr val="003B7A"/>
              </a:solidFill>
              <a:latin typeface="Aptos" panose="020B0004020202020204" pitchFamily="34" charset="0"/>
            </a:endParaRPr>
          </a:p>
        </p:txBody>
      </p:sp>
      <p:sp>
        <p:nvSpPr>
          <p:cNvPr id="27" name="roadt2">
            <a:extLst>
              <a:ext uri="{FF2B5EF4-FFF2-40B4-BE49-F238E27FC236}">
                <a16:creationId xmlns:a16="http://schemas.microsoft.com/office/drawing/2014/main" id="{C277CB46-3314-D573-C388-A4EF3D329C13}"/>
              </a:ext>
            </a:extLst>
          </p:cNvPr>
          <p:cNvSpPr txBox="1"/>
          <p:nvPr/>
        </p:nvSpPr>
        <p:spPr>
          <a:xfrm>
            <a:off x="5664200" y="3657600"/>
            <a:ext cx="4191000" cy="276999"/>
          </a:xfrm>
          <a:prstGeom prst="rect">
            <a:avLst/>
          </a:prstGeom>
          <a:noFill/>
        </p:spPr>
        <p:txBody>
          <a:bodyPr vert="horz" wrap="square" lIns="0" tIns="0" rIns="0" bIns="0" rtlCol="0">
            <a:noAutofit/>
          </a:bodyPr>
          <a:lstStyle/>
          <a:p>
            <a:r>
              <a:rPr lang="en-US" altLang="zh-CN" sz="1150" b="1">
                <a:solidFill>
                  <a:srgbClr val="52617A"/>
                </a:solidFill>
                <a:latin typeface="Aptos" panose="020B0004020202020204" pitchFamily="34" charset="0"/>
              </a:rPr>
              <a:t>black-box null-audit calibration</a:t>
            </a:r>
            <a:endParaRPr lang="zh-CN" altLang="en-US" sz="1150" b="1">
              <a:solidFill>
                <a:srgbClr val="52617A"/>
              </a:solidFill>
              <a:latin typeface="Aptos" panose="020B0004020202020204" pitchFamily="34" charset="0"/>
            </a:endParaRPr>
          </a:p>
        </p:txBody>
      </p:sp>
      <p:sp>
        <p:nvSpPr>
          <p:cNvPr id="28" name="road3">
            <a:extLst>
              <a:ext uri="{FF2B5EF4-FFF2-40B4-BE49-F238E27FC236}">
                <a16:creationId xmlns:a16="http://schemas.microsoft.com/office/drawing/2014/main" id="{F7129C8E-F5D7-3591-860D-4E8DB4844499}"/>
              </a:ext>
            </a:extLst>
          </p:cNvPr>
          <p:cNvSpPr/>
          <p:nvPr/>
        </p:nvSpPr>
        <p:spPr>
          <a:xfrm>
            <a:off x="1168400" y="4216400"/>
            <a:ext cx="9652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roadbar3">
            <a:extLst>
              <a:ext uri="{FF2B5EF4-FFF2-40B4-BE49-F238E27FC236}">
                <a16:creationId xmlns:a16="http://schemas.microsoft.com/office/drawing/2014/main" id="{D533C384-E5F1-0FD4-8D1E-B9E27CED408C}"/>
              </a:ext>
            </a:extLst>
          </p:cNvPr>
          <p:cNvSpPr/>
          <p:nvPr/>
        </p:nvSpPr>
        <p:spPr>
          <a:xfrm>
            <a:off x="1168400" y="4216400"/>
            <a:ext cx="114300" cy="533400"/>
          </a:xfrm>
          <a:prstGeom prst="rect">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roadp3">
            <a:extLst>
              <a:ext uri="{FF2B5EF4-FFF2-40B4-BE49-F238E27FC236}">
                <a16:creationId xmlns:a16="http://schemas.microsoft.com/office/drawing/2014/main" id="{A35608CD-C01C-3299-9F3A-EAF52F206748}"/>
              </a:ext>
            </a:extLst>
          </p:cNvPr>
          <p:cNvSpPr txBox="1"/>
          <p:nvPr/>
        </p:nvSpPr>
        <p:spPr>
          <a:xfrm>
            <a:off x="1549400" y="4343400"/>
            <a:ext cx="2082800" cy="276999"/>
          </a:xfrm>
          <a:prstGeom prst="rect">
            <a:avLst/>
          </a:prstGeom>
          <a:noFill/>
        </p:spPr>
        <p:txBody>
          <a:bodyPr vert="horz" wrap="square" lIns="0" tIns="0" rIns="0" bIns="0" rtlCol="0">
            <a:noAutofit/>
          </a:bodyPr>
          <a:lstStyle/>
          <a:p>
            <a:r>
              <a:rPr lang="en-US" altLang="zh-CN" sz="1220" b="1">
                <a:solidFill>
                  <a:srgbClr val="B85C00"/>
                </a:solidFill>
                <a:latin typeface="Aptos" panose="020B0004020202020204" pitchFamily="34" charset="0"/>
              </a:rPr>
              <a:t>ProbeTrace</a:t>
            </a:r>
            <a:endParaRPr lang="zh-CN" altLang="en-US" sz="1220" b="1">
              <a:solidFill>
                <a:srgbClr val="B85C00"/>
              </a:solidFill>
              <a:latin typeface="Aptos" panose="020B0004020202020204" pitchFamily="34" charset="0"/>
            </a:endParaRPr>
          </a:p>
        </p:txBody>
      </p:sp>
      <p:sp>
        <p:nvSpPr>
          <p:cNvPr id="31" name="roadv3">
            <a:extLst>
              <a:ext uri="{FF2B5EF4-FFF2-40B4-BE49-F238E27FC236}">
                <a16:creationId xmlns:a16="http://schemas.microsoft.com/office/drawing/2014/main" id="{E7850C06-59C5-7E07-8698-D0B84BDB2295}"/>
              </a:ext>
            </a:extLst>
          </p:cNvPr>
          <p:cNvSpPr txBox="1"/>
          <p:nvPr/>
        </p:nvSpPr>
        <p:spPr>
          <a:xfrm>
            <a:off x="4140200" y="4343400"/>
            <a:ext cx="939800" cy="276999"/>
          </a:xfrm>
          <a:prstGeom prst="rect">
            <a:avLst/>
          </a:prstGeom>
          <a:noFill/>
        </p:spPr>
        <p:txBody>
          <a:bodyPr vert="horz" wrap="square" lIns="0" tIns="0" rIns="0" bIns="0" rtlCol="0">
            <a:noAutofit/>
          </a:bodyPr>
          <a:lstStyle/>
          <a:p>
            <a:r>
              <a:rPr lang="en-US" altLang="zh-CN" sz="1160" b="1">
                <a:solidFill>
                  <a:srgbClr val="003B7A"/>
                </a:solidFill>
                <a:latin typeface="Aptos" panose="020B0004020202020204" pitchFamily="34" charset="0"/>
              </a:rPr>
              <a:t>EMNLP</a:t>
            </a:r>
            <a:endParaRPr lang="zh-CN" altLang="en-US" sz="1160" b="1">
              <a:solidFill>
                <a:srgbClr val="003B7A"/>
              </a:solidFill>
              <a:latin typeface="Aptos" panose="020B0004020202020204" pitchFamily="34" charset="0"/>
            </a:endParaRPr>
          </a:p>
        </p:txBody>
      </p:sp>
      <p:sp>
        <p:nvSpPr>
          <p:cNvPr id="32" name="roadt3">
            <a:extLst>
              <a:ext uri="{FF2B5EF4-FFF2-40B4-BE49-F238E27FC236}">
                <a16:creationId xmlns:a16="http://schemas.microsoft.com/office/drawing/2014/main" id="{6A7889BE-3F7D-69D7-F953-5DD703374860}"/>
              </a:ext>
            </a:extLst>
          </p:cNvPr>
          <p:cNvSpPr txBox="1"/>
          <p:nvPr/>
        </p:nvSpPr>
        <p:spPr>
          <a:xfrm>
            <a:off x="5664200" y="4343400"/>
            <a:ext cx="4191000" cy="276999"/>
          </a:xfrm>
          <a:prstGeom prst="rect">
            <a:avLst/>
          </a:prstGeom>
          <a:noFill/>
        </p:spPr>
        <p:txBody>
          <a:bodyPr vert="horz" wrap="square" lIns="0" tIns="0" rIns="0" bIns="0" rtlCol="0">
            <a:noAutofit/>
          </a:bodyPr>
          <a:lstStyle/>
          <a:p>
            <a:r>
              <a:rPr lang="en-US" altLang="zh-CN" sz="1150" b="1">
                <a:solidFill>
                  <a:srgbClr val="52617A"/>
                </a:solidFill>
                <a:latin typeface="Aptos" panose="020B0004020202020204" pitchFamily="34" charset="0"/>
              </a:rPr>
              <a:t>active-owner attribution</a:t>
            </a:r>
            <a:endParaRPr lang="zh-CN" altLang="en-US" sz="1150" b="1">
              <a:solidFill>
                <a:srgbClr val="52617A"/>
              </a:solidFill>
              <a:latin typeface="Aptos" panose="020B0004020202020204" pitchFamily="34" charset="0"/>
            </a:endParaRPr>
          </a:p>
        </p:txBody>
      </p:sp>
      <p:sp>
        <p:nvSpPr>
          <p:cNvPr id="33" name="road4">
            <a:extLst>
              <a:ext uri="{FF2B5EF4-FFF2-40B4-BE49-F238E27FC236}">
                <a16:creationId xmlns:a16="http://schemas.microsoft.com/office/drawing/2014/main" id="{2C9FACA1-3CB7-7BB6-9E7D-C25508870891}"/>
              </a:ext>
            </a:extLst>
          </p:cNvPr>
          <p:cNvSpPr/>
          <p:nvPr/>
        </p:nvSpPr>
        <p:spPr>
          <a:xfrm>
            <a:off x="1168400" y="4902200"/>
            <a:ext cx="9652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oadbar4">
            <a:extLst>
              <a:ext uri="{FF2B5EF4-FFF2-40B4-BE49-F238E27FC236}">
                <a16:creationId xmlns:a16="http://schemas.microsoft.com/office/drawing/2014/main" id="{D39CDAC6-CCBB-4111-8037-6DE5C338B409}"/>
              </a:ext>
            </a:extLst>
          </p:cNvPr>
          <p:cNvSpPr/>
          <p:nvPr/>
        </p:nvSpPr>
        <p:spPr>
          <a:xfrm>
            <a:off x="1168400" y="4902200"/>
            <a:ext cx="114300" cy="533400"/>
          </a:xfrm>
          <a:prstGeom prst="rect">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roadp4">
            <a:extLst>
              <a:ext uri="{FF2B5EF4-FFF2-40B4-BE49-F238E27FC236}">
                <a16:creationId xmlns:a16="http://schemas.microsoft.com/office/drawing/2014/main" id="{8CF0ABD0-A4B6-CE0C-2EF2-B18ACEDAD508}"/>
              </a:ext>
            </a:extLst>
          </p:cNvPr>
          <p:cNvSpPr txBox="1"/>
          <p:nvPr/>
        </p:nvSpPr>
        <p:spPr>
          <a:xfrm>
            <a:off x="1549400" y="5029200"/>
            <a:ext cx="2082800" cy="276999"/>
          </a:xfrm>
          <a:prstGeom prst="rect">
            <a:avLst/>
          </a:prstGeom>
          <a:noFill/>
        </p:spPr>
        <p:txBody>
          <a:bodyPr vert="horz" wrap="square" lIns="0" tIns="0" rIns="0" bIns="0" rtlCol="0">
            <a:noAutofit/>
          </a:bodyPr>
          <a:lstStyle/>
          <a:p>
            <a:r>
              <a:rPr lang="en-US" altLang="zh-CN" sz="1220" b="1">
                <a:solidFill>
                  <a:srgbClr val="1F7A4D"/>
                </a:solidFill>
                <a:latin typeface="Aptos" panose="020B0004020202020204" pitchFamily="34" charset="0"/>
              </a:rPr>
              <a:t>SealAudit</a:t>
            </a:r>
            <a:endParaRPr lang="zh-CN" altLang="en-US" sz="1220" b="1">
              <a:solidFill>
                <a:srgbClr val="1F7A4D"/>
              </a:solidFill>
              <a:latin typeface="Aptos" panose="020B0004020202020204" pitchFamily="34" charset="0"/>
            </a:endParaRPr>
          </a:p>
        </p:txBody>
      </p:sp>
      <p:sp>
        <p:nvSpPr>
          <p:cNvPr id="36" name="roadv4">
            <a:extLst>
              <a:ext uri="{FF2B5EF4-FFF2-40B4-BE49-F238E27FC236}">
                <a16:creationId xmlns:a16="http://schemas.microsoft.com/office/drawing/2014/main" id="{CF7759D2-9EFB-9435-3454-2FE330BCE963}"/>
              </a:ext>
            </a:extLst>
          </p:cNvPr>
          <p:cNvSpPr txBox="1"/>
          <p:nvPr/>
        </p:nvSpPr>
        <p:spPr>
          <a:xfrm>
            <a:off x="4140200" y="5029200"/>
            <a:ext cx="939800" cy="276999"/>
          </a:xfrm>
          <a:prstGeom prst="rect">
            <a:avLst/>
          </a:prstGeom>
          <a:noFill/>
        </p:spPr>
        <p:txBody>
          <a:bodyPr vert="horz" wrap="square" lIns="0" tIns="0" rIns="0" bIns="0" rtlCol="0">
            <a:noAutofit/>
          </a:bodyPr>
          <a:lstStyle/>
          <a:p>
            <a:r>
              <a:rPr lang="en-US" altLang="zh-CN" sz="1160" b="1">
                <a:solidFill>
                  <a:srgbClr val="003B7A"/>
                </a:solidFill>
                <a:latin typeface="Aptos" panose="020B0004020202020204" pitchFamily="34" charset="0"/>
              </a:rPr>
              <a:t>EMNLP</a:t>
            </a:r>
            <a:endParaRPr lang="zh-CN" altLang="en-US" sz="1160" b="1">
              <a:solidFill>
                <a:srgbClr val="003B7A"/>
              </a:solidFill>
              <a:latin typeface="Aptos" panose="020B0004020202020204" pitchFamily="34" charset="0"/>
            </a:endParaRPr>
          </a:p>
        </p:txBody>
      </p:sp>
      <p:sp>
        <p:nvSpPr>
          <p:cNvPr id="37" name="roadt4">
            <a:extLst>
              <a:ext uri="{FF2B5EF4-FFF2-40B4-BE49-F238E27FC236}">
                <a16:creationId xmlns:a16="http://schemas.microsoft.com/office/drawing/2014/main" id="{13B7C620-246B-7127-ED80-566731DE111A}"/>
              </a:ext>
            </a:extLst>
          </p:cNvPr>
          <p:cNvSpPr txBox="1"/>
          <p:nvPr/>
        </p:nvSpPr>
        <p:spPr>
          <a:xfrm>
            <a:off x="5664200" y="5029200"/>
            <a:ext cx="4191000" cy="276999"/>
          </a:xfrm>
          <a:prstGeom prst="rect">
            <a:avLst/>
          </a:prstGeom>
          <a:noFill/>
        </p:spPr>
        <p:txBody>
          <a:bodyPr vert="horz" wrap="square" lIns="0" tIns="0" rIns="0" bIns="0" rtlCol="0">
            <a:noAutofit/>
          </a:bodyPr>
          <a:lstStyle/>
          <a:p>
            <a:r>
              <a:rPr lang="en-US" altLang="zh-CN" sz="1150" b="1">
                <a:solidFill>
                  <a:srgbClr val="52617A"/>
                </a:solidFill>
                <a:latin typeface="Aptos" panose="020B0004020202020204" pitchFamily="34" charset="0"/>
              </a:rPr>
              <a:t>marker-hidden security triage</a:t>
            </a:r>
            <a:endParaRPr lang="zh-CN" altLang="en-US" sz="1150" b="1">
              <a:solidFill>
                <a:srgbClr val="52617A"/>
              </a:solidFill>
              <a:latin typeface="Aptos" panose="020B0004020202020204" pitchFamily="34" charset="0"/>
            </a:endParaRPr>
          </a:p>
        </p:txBody>
      </p:sp>
      <p:sp>
        <p:nvSpPr>
          <p:cNvPr id="38" name="roadnote">
            <a:extLst>
              <a:ext uri="{FF2B5EF4-FFF2-40B4-BE49-F238E27FC236}">
                <a16:creationId xmlns:a16="http://schemas.microsoft.com/office/drawing/2014/main" id="{504A1F17-A294-6295-40B2-D30F08AF1B6C}"/>
              </a:ext>
            </a:extLst>
          </p:cNvPr>
          <p:cNvSpPr/>
          <p:nvPr/>
        </p:nvSpPr>
        <p:spPr>
          <a:xfrm>
            <a:off x="2057400" y="5740400"/>
            <a:ext cx="8077200" cy="3810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roadnote-t">
            <a:extLst>
              <a:ext uri="{FF2B5EF4-FFF2-40B4-BE49-F238E27FC236}">
                <a16:creationId xmlns:a16="http://schemas.microsoft.com/office/drawing/2014/main" id="{1C96EF67-1D9C-23F4-01AA-00E146526D01}"/>
              </a:ext>
            </a:extLst>
          </p:cNvPr>
          <p:cNvSpPr txBox="1"/>
          <p:nvPr/>
        </p:nvSpPr>
        <p:spPr>
          <a:xfrm>
            <a:off x="2413000" y="5816600"/>
            <a:ext cx="7366000" cy="276999"/>
          </a:xfrm>
          <a:prstGeom prst="rect">
            <a:avLst/>
          </a:prstGeom>
          <a:noFill/>
        </p:spPr>
        <p:txBody>
          <a:bodyPr vert="horz" wrap="square" lIns="0" tIns="0" rIns="0" bIns="0" rtlCol="0">
            <a:noAutofit/>
          </a:bodyPr>
          <a:lstStyle/>
          <a:p>
            <a:pPr algn="ctr"/>
            <a:r>
              <a:rPr lang="en-US" altLang="zh-CN" sz="980" b="1">
                <a:solidFill>
                  <a:srgbClr val="071837"/>
                </a:solidFill>
                <a:latin typeface="Aptos" panose="020B0004020202020204" pitchFamily="34" charset="0"/>
              </a:rPr>
              <a:t>Boundary: future papers are continuations; the submitted FYP artifact remains fixed.</a:t>
            </a:r>
            <a:endParaRPr lang="zh-CN" altLang="en-US" sz="980" b="1">
              <a:solidFill>
                <a:srgbClr val="071837"/>
              </a:solidFill>
              <a:latin typeface="Aptos" panose="020B0004020202020204" pitchFamily="34" charset="0"/>
            </a:endParaRPr>
          </a:p>
        </p:txBody>
      </p:sp>
      <p:sp>
        <p:nvSpPr>
          <p:cNvPr id="40" name="footer-hit-15">
            <a:hlinkClick r:id="rId4"/>
            <a:extLst>
              <a:ext uri="{FF2B5EF4-FFF2-40B4-BE49-F238E27FC236}">
                <a16:creationId xmlns:a16="http://schemas.microsoft.com/office/drawing/2014/main" id="{E97A8A76-DECC-CE35-72F7-4A6B34120597}"/>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71029629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p:bldP spid="18" grpId="0" animBg="1"/>
      <p:bldP spid="19" grpId="0" animBg="1"/>
      <p:bldP spid="20" grpId="0"/>
      <p:bldP spid="21" grpId="0"/>
      <p:bldP spid="22" grpId="0"/>
      <p:bldP spid="23" grpId="0" animBg="1"/>
      <p:bldP spid="24" grpId="0" animBg="1"/>
      <p:bldP spid="25" grpId="0"/>
      <p:bldP spid="26" grpId="0"/>
      <p:bldP spid="27" grpId="0"/>
      <p:bldP spid="28" grpId="0" animBg="1"/>
      <p:bldP spid="29" grpId="0" animBg="1"/>
      <p:bldP spid="30" grpId="0"/>
      <p:bldP spid="31" grpId="0"/>
      <p:bldP spid="32" grpId="0"/>
      <p:bldP spid="33" grpId="0" animBg="1"/>
      <p:bldP spid="34" grpId="0" animBg="1"/>
      <p:bldP spid="35" grpId="0"/>
      <p:bldP spid="36" grpId="0"/>
      <p:bldP spid="37" grpId="0"/>
      <p:bldP spid="38" grpId="0" animBg="1"/>
      <p:bldP spid="39"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D15D6E31-321D-0AB4-B650-BBF6A510906B}"/>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panel">
            <a:extLst>
              <a:ext uri="{FF2B5EF4-FFF2-40B4-BE49-F238E27FC236}">
                <a16:creationId xmlns:a16="http://schemas.microsoft.com/office/drawing/2014/main" id="{C85B3031-7254-DBAF-F8AC-29C60200D74F}"/>
              </a:ext>
            </a:extLst>
          </p:cNvPr>
          <p:cNvSpPr/>
          <p:nvPr/>
        </p:nvSpPr>
        <p:spPr>
          <a:xfrm>
            <a:off x="939800" y="1041400"/>
            <a:ext cx="3505200" cy="4445000"/>
          </a:xfrm>
          <a:prstGeom prst="roundRect">
            <a:avLst>
              <a:gd name="adj" fmla="val 14000"/>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divider">
            <a:extLst>
              <a:ext uri="{FF2B5EF4-FFF2-40B4-BE49-F238E27FC236}">
                <a16:creationId xmlns:a16="http://schemas.microsoft.com/office/drawing/2014/main" id="{AFC7B4FF-9322-B4B6-8E67-0C620838058A}"/>
              </a:ext>
            </a:extLst>
          </p:cNvPr>
          <p:cNvCxnSpPr/>
          <p:nvPr/>
        </p:nvCxnSpPr>
        <p:spPr>
          <a:xfrm>
            <a:off x="5054600" y="1168400"/>
            <a:ext cx="0" cy="4394200"/>
          </a:xfrm>
          <a:prstGeom prst="line">
            <a:avLst/>
          </a:prstGeom>
          <a:ln w="17780">
            <a:solidFill>
              <a:srgbClr val="447BBA"/>
            </a:solidFill>
          </a:ln>
        </p:spPr>
        <p:style>
          <a:lnRef idx="1">
            <a:schemeClr val="accent1"/>
          </a:lnRef>
          <a:fillRef idx="0">
            <a:schemeClr val="accent1"/>
          </a:fillRef>
          <a:effectRef idx="0">
            <a:schemeClr val="accent1"/>
          </a:effectRef>
          <a:fontRef idx="minor">
            <a:schemeClr val="tx1"/>
          </a:fontRef>
        </p:style>
      </p:cxnSp>
      <p:sp>
        <p:nvSpPr>
          <p:cNvPr id="5" name="thanks">
            <a:extLst>
              <a:ext uri="{FF2B5EF4-FFF2-40B4-BE49-F238E27FC236}">
                <a16:creationId xmlns:a16="http://schemas.microsoft.com/office/drawing/2014/main" id="{04F61481-7030-05B7-8EF0-889CA19BD18B}"/>
              </a:ext>
            </a:extLst>
          </p:cNvPr>
          <p:cNvSpPr txBox="1"/>
          <p:nvPr/>
        </p:nvSpPr>
        <p:spPr>
          <a:xfrm>
            <a:off x="5715000" y="1219200"/>
            <a:ext cx="5334000" cy="276999"/>
          </a:xfrm>
          <a:prstGeom prst="rect">
            <a:avLst/>
          </a:prstGeom>
          <a:noFill/>
        </p:spPr>
        <p:txBody>
          <a:bodyPr vert="horz" wrap="square" lIns="0" tIns="0" rIns="0" bIns="0" rtlCol="0">
            <a:noAutofit/>
          </a:bodyPr>
          <a:lstStyle/>
          <a:p>
            <a:r>
              <a:rPr lang="en-US" altLang="zh-CN" sz="6800" b="1">
                <a:solidFill>
                  <a:srgbClr val="FFFFFF"/>
                </a:solidFill>
                <a:latin typeface="Aptos" panose="020B0004020202020204" pitchFamily="34" charset="0"/>
              </a:rPr>
              <a:t>Thank you</a:t>
            </a:r>
            <a:endParaRPr lang="zh-CN" altLang="en-US" sz="6800" b="1">
              <a:solidFill>
                <a:srgbClr val="FFFFFF"/>
              </a:solidFill>
              <a:latin typeface="Aptos" panose="020B0004020202020204" pitchFamily="34" charset="0"/>
            </a:endParaRPr>
          </a:p>
        </p:txBody>
      </p:sp>
      <p:sp>
        <p:nvSpPr>
          <p:cNvPr id="6" name="q">
            <a:extLst>
              <a:ext uri="{FF2B5EF4-FFF2-40B4-BE49-F238E27FC236}">
                <a16:creationId xmlns:a16="http://schemas.microsoft.com/office/drawing/2014/main" id="{2B92A466-EAC0-6326-A527-5556519E0EFB}"/>
              </a:ext>
            </a:extLst>
          </p:cNvPr>
          <p:cNvSpPr txBox="1"/>
          <p:nvPr/>
        </p:nvSpPr>
        <p:spPr>
          <a:xfrm>
            <a:off x="5765800" y="2565400"/>
            <a:ext cx="4064000" cy="276999"/>
          </a:xfrm>
          <a:prstGeom prst="rect">
            <a:avLst/>
          </a:prstGeom>
          <a:noFill/>
        </p:spPr>
        <p:txBody>
          <a:bodyPr vert="horz" wrap="square" lIns="0" tIns="0" rIns="0" bIns="0" rtlCol="0">
            <a:noAutofit/>
          </a:bodyPr>
          <a:lstStyle/>
          <a:p>
            <a:r>
              <a:rPr lang="en-US" altLang="zh-CN" sz="3800" b="1">
                <a:solidFill>
                  <a:srgbClr val="DCEBFC"/>
                </a:solidFill>
                <a:latin typeface="Aptos" panose="020B0004020202020204" pitchFamily="34" charset="0"/>
              </a:rPr>
              <a:t>Questions?</a:t>
            </a:r>
            <a:endParaRPr lang="zh-CN" altLang="en-US" sz="3800" b="1">
              <a:solidFill>
                <a:srgbClr val="DCEBFC"/>
              </a:solidFill>
              <a:latin typeface="Aptos" panose="020B0004020202020204" pitchFamily="34" charset="0"/>
            </a:endParaRPr>
          </a:p>
        </p:txBody>
      </p:sp>
      <p:cxnSp>
        <p:nvCxnSpPr>
          <p:cNvPr id="7" name="qrule">
            <a:extLst>
              <a:ext uri="{FF2B5EF4-FFF2-40B4-BE49-F238E27FC236}">
                <a16:creationId xmlns:a16="http://schemas.microsoft.com/office/drawing/2014/main" id="{572D89D8-5B2B-4F5F-DB92-C256880556B4}"/>
              </a:ext>
            </a:extLst>
          </p:cNvPr>
          <p:cNvCxnSpPr/>
          <p:nvPr/>
        </p:nvCxnSpPr>
        <p:spPr>
          <a:xfrm>
            <a:off x="5765800" y="3429000"/>
            <a:ext cx="4749800" cy="0"/>
          </a:xfrm>
          <a:prstGeom prst="line">
            <a:avLst/>
          </a:prstGeom>
          <a:ln w="19050">
            <a:solidFill>
              <a:srgbClr val="B5D3F5"/>
            </a:solidFill>
          </a:ln>
        </p:spPr>
        <p:style>
          <a:lnRef idx="1">
            <a:schemeClr val="accent1"/>
          </a:lnRef>
          <a:fillRef idx="0">
            <a:schemeClr val="accent1"/>
          </a:fillRef>
          <a:effectRef idx="0">
            <a:schemeClr val="accent1"/>
          </a:effectRef>
          <a:fontRef idx="minor">
            <a:schemeClr val="tx1"/>
          </a:fontRef>
        </p:style>
      </p:cxnSp>
      <p:sp>
        <p:nvSpPr>
          <p:cNvPr id="8" name="a1">
            <a:extLst>
              <a:ext uri="{FF2B5EF4-FFF2-40B4-BE49-F238E27FC236}">
                <a16:creationId xmlns:a16="http://schemas.microsoft.com/office/drawing/2014/main" id="{6E7814C7-054E-5BC5-4166-9E98635C304D}"/>
              </a:ext>
            </a:extLst>
          </p:cNvPr>
          <p:cNvSpPr txBox="1"/>
          <p:nvPr/>
        </p:nvSpPr>
        <p:spPr>
          <a:xfrm>
            <a:off x="5765800" y="3937000"/>
            <a:ext cx="5715000" cy="276999"/>
          </a:xfrm>
          <a:prstGeom prst="rect">
            <a:avLst/>
          </a:prstGeom>
          <a:noFill/>
        </p:spPr>
        <p:txBody>
          <a:bodyPr vert="horz" wrap="square" lIns="0" tIns="0" rIns="0" bIns="0" rtlCol="0">
            <a:noAutofit/>
          </a:bodyPr>
          <a:lstStyle/>
          <a:p>
            <a:r>
              <a:rPr lang="en-US" altLang="zh-CN" sz="1480" b="1">
                <a:solidFill>
                  <a:srgbClr val="FFFFFF"/>
                </a:solidFill>
                <a:latin typeface="Aptos" panose="020B0004020202020204" pitchFamily="34" charset="0"/>
              </a:rPr>
              <a:t>Evidence contract: denominator + controls + boundary</a:t>
            </a:r>
            <a:endParaRPr lang="zh-CN" altLang="en-US" sz="1480" b="1">
              <a:solidFill>
                <a:srgbClr val="FFFFFF"/>
              </a:solidFill>
              <a:latin typeface="Aptos" panose="020B0004020202020204" pitchFamily="34" charset="0"/>
            </a:endParaRPr>
          </a:p>
        </p:txBody>
      </p:sp>
      <p:sp>
        <p:nvSpPr>
          <p:cNvPr id="9" name="a2">
            <a:extLst>
              <a:ext uri="{FF2B5EF4-FFF2-40B4-BE49-F238E27FC236}">
                <a16:creationId xmlns:a16="http://schemas.microsoft.com/office/drawing/2014/main" id="{C6014F72-4DB1-745B-4271-08C7A6EFF1CD}"/>
              </a:ext>
            </a:extLst>
          </p:cNvPr>
          <p:cNvSpPr txBox="1"/>
          <p:nvPr/>
        </p:nvSpPr>
        <p:spPr>
          <a:xfrm>
            <a:off x="5765800" y="4546600"/>
            <a:ext cx="5715000" cy="276999"/>
          </a:xfrm>
          <a:prstGeom prst="rect">
            <a:avLst/>
          </a:prstGeom>
          <a:noFill/>
        </p:spPr>
        <p:txBody>
          <a:bodyPr vert="horz" wrap="square" lIns="0" tIns="0" rIns="0" bIns="0" rtlCol="0">
            <a:noAutofit/>
          </a:bodyPr>
          <a:lstStyle/>
          <a:p>
            <a:r>
              <a:rPr lang="en-US" altLang="zh-CN" sz="1480" b="1">
                <a:solidFill>
                  <a:srgbClr val="FFFFFF"/>
                </a:solidFill>
                <a:latin typeface="Aptos" panose="020B0004020202020204" pitchFamily="34" charset="0"/>
              </a:rPr>
              <a:t>Submitted FYP snapshot is separate from continuation progress</a:t>
            </a:r>
            <a:endParaRPr lang="zh-CN" altLang="en-US" sz="1480" b="1">
              <a:solidFill>
                <a:srgbClr val="FFFFFF"/>
              </a:solidFill>
              <a:latin typeface="Aptos" panose="020B0004020202020204" pitchFamily="34" charset="0"/>
            </a:endParaRPr>
          </a:p>
        </p:txBody>
      </p:sp>
      <p:sp>
        <p:nvSpPr>
          <p:cNvPr id="10" name="a3">
            <a:extLst>
              <a:ext uri="{FF2B5EF4-FFF2-40B4-BE49-F238E27FC236}">
                <a16:creationId xmlns:a16="http://schemas.microsoft.com/office/drawing/2014/main" id="{9B7CAF4B-2BA0-0305-47ED-F0F31425E449}"/>
              </a:ext>
            </a:extLst>
          </p:cNvPr>
          <p:cNvSpPr txBox="1"/>
          <p:nvPr/>
        </p:nvSpPr>
        <p:spPr>
          <a:xfrm>
            <a:off x="5765800" y="5156200"/>
            <a:ext cx="5715000" cy="276999"/>
          </a:xfrm>
          <a:prstGeom prst="rect">
            <a:avLst/>
          </a:prstGeom>
          <a:noFill/>
        </p:spPr>
        <p:txBody>
          <a:bodyPr vert="horz" wrap="square" lIns="0" tIns="0" rIns="0" bIns="0" rtlCol="0">
            <a:noAutofit/>
          </a:bodyPr>
          <a:lstStyle/>
          <a:p>
            <a:r>
              <a:rPr lang="en-US" altLang="zh-CN" sz="1480" b="1">
                <a:solidFill>
                  <a:srgbClr val="FFFFFF"/>
                </a:solidFill>
                <a:latin typeface="Aptos" panose="020B0004020202020204" pitchFamily="34" charset="0"/>
              </a:rPr>
              <a:t>Demo route: page, repository, claim boundary, manifest</a:t>
            </a:r>
            <a:endParaRPr lang="zh-CN" altLang="en-US" sz="1480" b="1">
              <a:solidFill>
                <a:srgbClr val="FFFFFF"/>
              </a:solidFill>
              <a:latin typeface="Aptos" panose="020B0004020202020204" pitchFamily="34" charset="0"/>
            </a:endParaRPr>
          </a:p>
        </p:txBody>
      </p:sp>
      <p:pic>
        <p:nvPicPr>
          <p:cNvPr id="12" name="图片 11">
            <a:hlinkClick r:id="rId3"/>
            <a:extLst>
              <a:ext uri="{FF2B5EF4-FFF2-40B4-BE49-F238E27FC236}">
                <a16:creationId xmlns:a16="http://schemas.microsoft.com/office/drawing/2014/main" id="{0FED6ACE-AFCA-46A2-88F4-C833D4C10A1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524000" y="1549400"/>
            <a:ext cx="1574800" cy="1574800"/>
          </a:xfrm>
          <a:prstGeom prst="rect">
            <a:avLst/>
          </a:prstGeom>
        </p:spPr>
      </p:pic>
      <p:sp>
        <p:nvSpPr>
          <p:cNvPr id="13" name="qrlab">
            <a:extLst>
              <a:ext uri="{FF2B5EF4-FFF2-40B4-BE49-F238E27FC236}">
                <a16:creationId xmlns:a16="http://schemas.microsoft.com/office/drawing/2014/main" id="{660D191C-4CA0-DF52-5287-C6DAD6488D6E}"/>
              </a:ext>
            </a:extLst>
          </p:cNvPr>
          <p:cNvSpPr txBox="1"/>
          <p:nvPr/>
        </p:nvSpPr>
        <p:spPr>
          <a:xfrm>
            <a:off x="1498600" y="3302000"/>
            <a:ext cx="2159000" cy="276999"/>
          </a:xfrm>
          <a:prstGeom prst="rect">
            <a:avLst/>
          </a:prstGeom>
          <a:noFill/>
        </p:spPr>
        <p:txBody>
          <a:bodyPr vert="horz" wrap="square" lIns="0" tIns="0" rIns="0" bIns="0" rtlCol="0">
            <a:noAutofit/>
          </a:bodyPr>
          <a:lstStyle/>
          <a:p>
            <a:r>
              <a:rPr lang="en-US" altLang="zh-CN" sz="1250" b="1">
                <a:solidFill>
                  <a:srgbClr val="FFFFFF"/>
                </a:solidFill>
                <a:latin typeface="Aptos" panose="020B0004020202020204" pitchFamily="34" charset="0"/>
              </a:rPr>
              <a:t>Project page</a:t>
            </a:r>
            <a:endParaRPr lang="zh-CN" altLang="en-US" sz="1250" b="1">
              <a:solidFill>
                <a:srgbClr val="FFFFFF"/>
              </a:solidFill>
              <a:latin typeface="Aptos" panose="020B0004020202020204" pitchFamily="34" charset="0"/>
            </a:endParaRPr>
          </a:p>
        </p:txBody>
      </p:sp>
      <p:sp>
        <p:nvSpPr>
          <p:cNvPr id="14" name="close-page">
            <a:hlinkClick r:id="rId3"/>
            <a:extLst>
              <a:ext uri="{FF2B5EF4-FFF2-40B4-BE49-F238E27FC236}">
                <a16:creationId xmlns:a16="http://schemas.microsoft.com/office/drawing/2014/main" id="{79FDE035-5ED6-1E23-B08B-16B622E10DCC}"/>
              </a:ext>
            </a:extLst>
          </p:cNvPr>
          <p:cNvSpPr/>
          <p:nvPr/>
        </p:nvSpPr>
        <p:spPr>
          <a:xfrm>
            <a:off x="1422400" y="3860800"/>
            <a:ext cx="1092200" cy="3810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52400" bIns="101600" rtlCol="0" anchor="ctr" anchorCtr="1">
            <a:noAutofit/>
          </a:bodyPr>
          <a:lstStyle/>
          <a:p>
            <a:pPr algn="ctr"/>
            <a:r>
              <a:rPr lang="en-US" altLang="zh-CN" sz="1050" b="1">
                <a:solidFill>
                  <a:srgbClr val="003B7A"/>
                </a:solidFill>
                <a:latin typeface="Aptos" panose="020B0004020202020204" pitchFamily="34" charset="0"/>
              </a:rPr>
              <a:t>Page</a:t>
            </a:r>
            <a:endParaRPr lang="zh-CN" altLang="en-US" sz="1050" b="1">
              <a:solidFill>
                <a:srgbClr val="003B7A"/>
              </a:solidFill>
              <a:latin typeface="Aptos" panose="020B0004020202020204" pitchFamily="34" charset="0"/>
            </a:endParaRPr>
          </a:p>
        </p:txBody>
      </p:sp>
      <p:sp>
        <p:nvSpPr>
          <p:cNvPr id="15" name="close-repo">
            <a:hlinkClick r:id="rId5"/>
            <a:extLst>
              <a:ext uri="{FF2B5EF4-FFF2-40B4-BE49-F238E27FC236}">
                <a16:creationId xmlns:a16="http://schemas.microsoft.com/office/drawing/2014/main" id="{FDBBE33B-0CEC-1F39-4669-6489B32DF8DC}"/>
              </a:ext>
            </a:extLst>
          </p:cNvPr>
          <p:cNvSpPr/>
          <p:nvPr/>
        </p:nvSpPr>
        <p:spPr>
          <a:xfrm>
            <a:off x="2667000" y="3860800"/>
            <a:ext cx="990600" cy="3810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52400" bIns="101600" rtlCol="0" anchor="ctr" anchorCtr="1">
            <a:noAutofit/>
          </a:bodyPr>
          <a:lstStyle/>
          <a:p>
            <a:pPr algn="ctr"/>
            <a:r>
              <a:rPr lang="en-US" altLang="zh-CN" sz="1050" b="1">
                <a:solidFill>
                  <a:srgbClr val="003B7A"/>
                </a:solidFill>
                <a:latin typeface="Aptos" panose="020B0004020202020204" pitchFamily="34" charset="0"/>
              </a:rPr>
              <a:t>Repo</a:t>
            </a:r>
            <a:endParaRPr lang="zh-CN" altLang="en-US" sz="1050" b="1">
              <a:solidFill>
                <a:srgbClr val="003B7A"/>
              </a:solidFill>
              <a:latin typeface="Aptos" panose="020B0004020202020204" pitchFamily="34" charset="0"/>
            </a:endParaRPr>
          </a:p>
        </p:txBody>
      </p:sp>
      <p:pic>
        <p:nvPicPr>
          <p:cNvPr id="17" name="图片 16">
            <a:extLst>
              <a:ext uri="{FF2B5EF4-FFF2-40B4-BE49-F238E27FC236}">
                <a16:creationId xmlns:a16="http://schemas.microsoft.com/office/drawing/2014/main" id="{C949EE32-6D8E-B4E5-E5C6-E79BF1F2DDA2}"/>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9220200" y="5918200"/>
            <a:ext cx="2082800" cy="571500"/>
          </a:xfrm>
          <a:prstGeom prst="rect">
            <a:avLst/>
          </a:prstGeom>
        </p:spPr>
      </p:pic>
      <p:sp>
        <p:nvSpPr>
          <p:cNvPr id="18" name="footer-hit-16">
            <a:hlinkClick r:id="rId3"/>
            <a:extLst>
              <a:ext uri="{FF2B5EF4-FFF2-40B4-BE49-F238E27FC236}">
                <a16:creationId xmlns:a16="http://schemas.microsoft.com/office/drawing/2014/main" id="{514F0327-0B51-DF43-B133-DC3FFF47ADFD}"/>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889973654"/>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2056</Words>
  <Application>Microsoft Office PowerPoint</Application>
  <PresentationFormat>自定义</PresentationFormat>
  <Paragraphs>305</Paragraphs>
  <Slides>16</Slides>
  <Notes>16</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16</vt:i4>
      </vt:variant>
    </vt:vector>
  </HeadingPairs>
  <TitlesOfParts>
    <vt:vector size="22" baseType="lpstr">
      <vt:lpstr>等线</vt:lpstr>
      <vt:lpstr>等线 Light</vt:lpstr>
      <vt:lpstr>Aptos</vt:lpstr>
      <vt:lpstr>Arial</vt:lpstr>
      <vt:lpstr>Consolas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周率 圆</dc:creator>
  <cp:lastModifiedBy>周率 圆</cp:lastModifiedBy>
  <cp:revision>1</cp:revision>
  <dcterms:created xsi:type="dcterms:W3CDTF">2026-05-15T02:20:11Z</dcterms:created>
  <dcterms:modified xsi:type="dcterms:W3CDTF">2026-05-15T02:20:11Z</dcterms:modified>
</cp:coreProperties>
</file>