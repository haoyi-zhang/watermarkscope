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62" r:id="rId2"/>
    <p:sldId id="263" r:id="rId3"/>
    <p:sldId id="264" r:id="rId4"/>
    <p:sldId id="265" r:id="rId5"/>
    <p:sldId id="266" r:id="rId6"/>
    <p:sldId id="267" r:id="rId7"/>
    <p:sldId id="268" r:id="rId8"/>
    <p:sldId id="269" r:id="rId9"/>
    <p:sldId id="270" r:id="rId10"/>
    <p:sldId id="271" r:id="rId11"/>
    <p:sldId id="272" r:id="rId12"/>
    <p:sldId id="273" r:id="rId13"/>
    <p:sldId id="274" r:id="rId14"/>
    <p:sldId id="275" r:id="rId15"/>
    <p:sldId id="276" r:id="rId16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ED1EF"/>
    <a:srgbClr val="CCECFF"/>
    <a:srgbClr val="3366CC"/>
    <a:srgbClr val="B0C9EE"/>
    <a:srgbClr val="9567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 autoAdjust="0"/>
    <p:restoredTop sz="94718" autoAdjust="0"/>
  </p:normalViewPr>
  <p:slideViewPr>
    <p:cSldViewPr>
      <p:cViewPr varScale="1">
        <p:scale>
          <a:sx n="117" d="100"/>
          <a:sy n="117" d="100"/>
        </p:scale>
        <p:origin x="1664" y="16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7B7186-B23E-4571-B17F-25DAC4832CD4}" type="datetimeFigureOut">
              <a:rPr lang="zh-CN" altLang="en-US" smtClean="0"/>
              <a:t>2026/5/13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BFF524-1A50-485C-B487-96577E467E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53163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Time: 25 seconds.</a:t>
            </a:r>
          </a:p>
          <a:p>
            <a:r>
              <a:rPr lang="en-US" altLang="zh-CN"/>
              <a:t>Good afternoon. I am Haoyi Zhang. My project is WatermarkScope. The key message is simple: source-code watermarking should not be judged by one detector score. It should be evaluated as an evidence process.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BFF524-1A50-485C-B487-96577E467E55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82291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Time: 45 seconds.</a:t>
            </a:r>
          </a:p>
          <a:p>
            <a:r>
              <a:rPr lang="en-US" altLang="zh-CN"/>
              <a:t>Generated code moves. It may be edited and reused in a new repository. So my question is not only whether a detector fires. My question is what I can safely claim after this movement.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BFF524-1A50-485C-B487-96577E467E55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63004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Time: 50 seconds.</a:t>
            </a:r>
          </a:p>
          <a:p>
            <a:r>
              <a:rPr lang="en-US" altLang="zh-CN"/>
              <a:t>The main gap is overclaiming. A score can be useful, but only after evidence is admitted. In this project I use an evidence contract: score, denominator, controls, artifact, and boundary.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BFF524-1A50-485C-B487-96577E467E55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33068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Time: 55 seconds.</a:t>
            </a:r>
          </a:p>
          <a:p>
            <a:r>
              <a:rPr lang="en-US" altLang="zh-CN"/>
              <a:t>CodeMarkBench fixes what is counted. The evidence object records the denominator, artifact, hash, and boundary before I read the result. This prevents cherry-picking and makes later claims auditable.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BFF524-1A50-485C-B487-96577E467E55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8184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Time: 60 seconds.</a:t>
            </a:r>
          </a:p>
          <a:p>
            <a:r>
              <a:rPr lang="en-US" altLang="zh-CN"/>
              <a:t>This is the whole story. I do not merge all stages into one score. The five modules ask different audit questions, but every answer must pass the same evidence contract: denominator, controls, artifact hash, access boundary, and abstention when evidence is not enough.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BFF524-1A50-485C-B487-96577E467E55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91318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Time: 60 seconds.</a:t>
            </a:r>
          </a:p>
          <a:p>
            <a:r>
              <a:rPr lang="en-US" altLang="zh-CN"/>
              <a:t>The method is an admission algorithm. I first construct an evidence object. Then it passes four gates: freeze the denominator, verify controls, bind the artifact and hash, and state the boundary. Only then do I report the bounded claim.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BFF524-1A50-485C-B487-96577E467E55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95530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Time: 65 seconds.</a:t>
            </a:r>
          </a:p>
          <a:p>
            <a:r>
              <a:rPr lang="en-US" altLang="zh-CN"/>
              <a:t>The strongest evidence is here. The benchmark completed all 140 canonical runs. SemCodebook recovered 30,330 out of 31,200 admitted white-box positives with zero control hits. ProbeTrace made 750 out of 750 scoped owner decisions.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BFF524-1A50-485C-B487-96577E467E55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85264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Time: 60 seconds.</a:t>
            </a:r>
          </a:p>
          <a:p>
            <a:r>
              <a:rPr lang="en-US" altLang="zh-CN"/>
              <a:t>The conservative results matter. CodeDye only supports a sparse live-signal claim, so I refuse prevalence or recall. SealAudit supports selective triage on the admitted surface, so I refuse a full safety certificate.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BFF524-1A50-485C-B487-96577E467E55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01459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Time: 90 seconds if the video is played.</a:t>
            </a:r>
          </a:p>
          <a:p>
            <a:r>
              <a:rPr lang="en-US" altLang="zh-CN"/>
              <a:t>The first demo is a repository walk-through. Do not browse randomly. Start at README, choose one thesis claim, open CLAIM_BOUNDARIES, follow the traceability row, then show the manifest hash. Close by saying: this makes the claim inspectable.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BFF524-1A50-485C-B487-96577E467E55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27326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Time: 60 seconds if used live or as video.</a:t>
            </a:r>
          </a:p>
          <a:p>
            <a:r>
              <a:rPr lang="en-US" altLang="zh-CN"/>
              <a:t>The second demo runs python scripts\viva_check.py. Read only the OK lines, then stop. Say clearly: this checks repository integrity and traceability; it is not a full GPU or API rerun.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BFF524-1A50-485C-B487-96577E467E55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92200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Time: 60 seconds.</a:t>
            </a:r>
          </a:p>
          <a:p>
            <a:r>
              <a:rPr lang="en-US" altLang="zh-CN"/>
              <a:t>This slide is my Q&amp;A defense map. I can defend fixed denominators, controls, hashes, and repository traceability. I will qualify access model and dataset scope. I will refuse universal detection, legal authorship, cross-provider guarantees, and a complete safety certificate.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BFF524-1A50-485C-B487-96577E467E55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535498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Time: 20 seconds.</a:t>
            </a:r>
          </a:p>
          <a:p>
            <a:r>
              <a:rPr lang="en-US" altLang="zh-CN"/>
              <a:t>Thank you. My main message is that WatermarkScope evaluates source-code watermarking as bounded evidence, not as one detector score. For Q&amp;A, I will answer directly and then point to the evidence boundary.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BFF524-1A50-485C-B487-96577E467E55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935405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Backup. Use this only if asked about formal notation.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BFF524-1A50-485C-B487-96577E467E55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013932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Backup. Use this if the examiner asks for exact numbers again.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BFF524-1A50-485C-B487-96577E467E55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836396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Backup. Do not debug in the room. Use the videos if live execution fails.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BFF524-1A50-485C-B487-96577E467E55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88411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7"/>
          <p:cNvSpPr>
            <a:spLocks noChangeArrowheads="1"/>
          </p:cNvSpPr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00328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lang="zh-CN" altLang="en-US" sz="1800">
              <a:ea typeface="SimSun" pitchFamily="2" charset="-122"/>
            </a:endParaRPr>
          </a:p>
        </p:txBody>
      </p:sp>
      <p:pic>
        <p:nvPicPr>
          <p:cNvPr id="5" name="Picture 21" descr="Logo and Title White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0266" y="5445126"/>
            <a:ext cx="5607051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86" name="Rectangle 14"/>
          <p:cNvSpPr>
            <a:spLocks noGrp="1" noChangeArrowheads="1"/>
          </p:cNvSpPr>
          <p:nvPr>
            <p:ph type="ctrTitle"/>
          </p:nvPr>
        </p:nvSpPr>
        <p:spPr>
          <a:xfrm>
            <a:off x="911424" y="2286000"/>
            <a:ext cx="10975776" cy="1143000"/>
          </a:xfrm>
        </p:spPr>
        <p:txBody>
          <a:bodyPr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 dirty="0"/>
              <a:t>Click to edit Master title style</a:t>
            </a:r>
          </a:p>
        </p:txBody>
      </p:sp>
      <p:sp>
        <p:nvSpPr>
          <p:cNvPr id="3087" name="Rectangle 15"/>
          <p:cNvSpPr>
            <a:spLocks noGrp="1" noChangeArrowheads="1"/>
          </p:cNvSpPr>
          <p:nvPr>
            <p:ph type="subTitle" idx="1"/>
          </p:nvPr>
        </p:nvSpPr>
        <p:spPr>
          <a:xfrm>
            <a:off x="4175787" y="3573016"/>
            <a:ext cx="4470400" cy="1752600"/>
          </a:xfr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9131139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10581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143624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78518" y="1844675"/>
            <a:ext cx="4794249" cy="38163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75967" y="1844675"/>
            <a:ext cx="4796367" cy="38163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79276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12649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3475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90419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900982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114357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66997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93201" y="260351"/>
            <a:ext cx="2470151" cy="5400675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78517" y="260351"/>
            <a:ext cx="7211483" cy="5400675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90425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678518" y="260350"/>
            <a:ext cx="9884833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678517" y="1844675"/>
            <a:ext cx="9793816" cy="3816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dirty="0"/>
              <a:t>Click to 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</a:p>
        </p:txBody>
      </p:sp>
      <p:sp>
        <p:nvSpPr>
          <p:cNvPr id="1028" name="Rectangle 7"/>
          <p:cNvSpPr>
            <a:spLocks noChangeArrowheads="1"/>
          </p:cNvSpPr>
          <p:nvPr userDrawn="1"/>
        </p:nvSpPr>
        <p:spPr bwMode="auto">
          <a:xfrm>
            <a:off x="0" y="0"/>
            <a:ext cx="1007533" cy="6858000"/>
          </a:xfrm>
          <a:prstGeom prst="rect">
            <a:avLst/>
          </a:prstGeom>
          <a:solidFill>
            <a:srgbClr val="00328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400"/>
          </a:p>
        </p:txBody>
      </p:sp>
      <p:sp>
        <p:nvSpPr>
          <p:cNvPr id="1029" name="Rectangle 8"/>
          <p:cNvSpPr>
            <a:spLocks noChangeArrowheads="1"/>
          </p:cNvSpPr>
          <p:nvPr userDrawn="1"/>
        </p:nvSpPr>
        <p:spPr bwMode="auto">
          <a:xfrm>
            <a:off x="527051" y="0"/>
            <a:ext cx="287867" cy="6858000"/>
          </a:xfrm>
          <a:prstGeom prst="rect">
            <a:avLst/>
          </a:prstGeom>
          <a:gradFill rotWithShape="1">
            <a:gsLst>
              <a:gs pos="0">
                <a:srgbClr val="AED1EF">
                  <a:alpha val="70000"/>
                </a:srgbClr>
              </a:gs>
              <a:gs pos="100000">
                <a:srgbClr val="51616F">
                  <a:alpha val="0"/>
                </a:srgb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400"/>
          </a:p>
        </p:txBody>
      </p:sp>
      <p:sp>
        <p:nvSpPr>
          <p:cNvPr id="1030" name="Rectangle 12"/>
          <p:cNvSpPr>
            <a:spLocks noChangeArrowheads="1"/>
          </p:cNvSpPr>
          <p:nvPr userDrawn="1"/>
        </p:nvSpPr>
        <p:spPr bwMode="auto">
          <a:xfrm rot="-5400000">
            <a:off x="5988050" y="-4719637"/>
            <a:ext cx="215900" cy="12192000"/>
          </a:xfrm>
          <a:prstGeom prst="rect">
            <a:avLst/>
          </a:prstGeom>
          <a:gradFill rotWithShape="1">
            <a:gsLst>
              <a:gs pos="0">
                <a:srgbClr val="AED1EF">
                  <a:alpha val="60001"/>
                </a:srgbClr>
              </a:gs>
              <a:gs pos="100000">
                <a:srgbClr val="51616F">
                  <a:alpha val="0"/>
                </a:srgb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400"/>
          </a:p>
        </p:txBody>
      </p:sp>
      <p:pic>
        <p:nvPicPr>
          <p:cNvPr id="1031" name="Picture 13" descr="Logo and Title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0568" y="5876925"/>
            <a:ext cx="3545417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 userDrawn="1"/>
        </p:nvSpPr>
        <p:spPr>
          <a:xfrm>
            <a:off x="1663720" y="5931843"/>
            <a:ext cx="61446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2"/>
                </a:solidFill>
              </a:rPr>
              <a:t>DTS311TC Final Year Project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accent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accent2"/>
          </a:solidFill>
          <a:latin typeface="Arial" charset="0"/>
          <a:ea typeface="ＭＳ Ｐゴシック" pitchFamily="34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accent2"/>
          </a:solidFill>
          <a:latin typeface="Arial" charset="0"/>
          <a:ea typeface="ＭＳ Ｐゴシック" pitchFamily="34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accent2"/>
          </a:solidFill>
          <a:latin typeface="Arial" charset="0"/>
          <a:ea typeface="ＭＳ Ｐゴシック" pitchFamily="34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accent2"/>
          </a:solidFill>
          <a:latin typeface="Arial" charset="0"/>
          <a:ea typeface="ＭＳ Ｐゴシック" pitchFamily="34" charset="-128"/>
        </a:defRPr>
      </a:lvl5pPr>
      <a:lvl6pPr marL="457200" algn="l" rtl="0" fontAlgn="base">
        <a:spcBef>
          <a:spcPct val="0"/>
        </a:spcBef>
        <a:spcAft>
          <a:spcPct val="0"/>
        </a:spcAft>
        <a:defRPr sz="3000">
          <a:solidFill>
            <a:schemeClr val="accent2"/>
          </a:solidFill>
          <a:latin typeface="Arial" charset="0"/>
          <a:ea typeface="ＭＳ Ｐゴシック" pitchFamily="34" charset="-128"/>
        </a:defRPr>
      </a:lvl6pPr>
      <a:lvl7pPr marL="914400" algn="l" rtl="0" fontAlgn="base">
        <a:spcBef>
          <a:spcPct val="0"/>
        </a:spcBef>
        <a:spcAft>
          <a:spcPct val="0"/>
        </a:spcAft>
        <a:defRPr sz="3000">
          <a:solidFill>
            <a:schemeClr val="accent2"/>
          </a:solidFill>
          <a:latin typeface="Arial" charset="0"/>
          <a:ea typeface="ＭＳ Ｐゴシック" pitchFamily="34" charset="-128"/>
        </a:defRPr>
      </a:lvl7pPr>
      <a:lvl8pPr marL="1371600" algn="l" rtl="0" fontAlgn="base">
        <a:spcBef>
          <a:spcPct val="0"/>
        </a:spcBef>
        <a:spcAft>
          <a:spcPct val="0"/>
        </a:spcAft>
        <a:defRPr sz="3000">
          <a:solidFill>
            <a:schemeClr val="accent2"/>
          </a:solidFill>
          <a:latin typeface="Arial" charset="0"/>
          <a:ea typeface="ＭＳ Ｐゴシック" pitchFamily="34" charset="-128"/>
        </a:defRPr>
      </a:lvl8pPr>
      <a:lvl9pPr marL="1828800" algn="l" rtl="0" fontAlgn="base">
        <a:spcBef>
          <a:spcPct val="0"/>
        </a:spcBef>
        <a:spcAft>
          <a:spcPct val="0"/>
        </a:spcAft>
        <a:defRPr sz="3000">
          <a:solidFill>
            <a:schemeClr val="accent2"/>
          </a:solidFill>
          <a:latin typeface="Arial" charset="0"/>
          <a:ea typeface="ＭＳ Ｐゴシック" pitchFamily="34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q"/>
        <a:defRPr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1600">
          <a:solidFill>
            <a:schemeClr val="tx1"/>
          </a:solidFill>
          <a:latin typeface="+mn-lt"/>
          <a:ea typeface="+mn-ea"/>
        </a:defRPr>
      </a:lvl2pPr>
      <a:lvl3pPr marL="1200150" indent="-285750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§"/>
        <a:defRPr sz="1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defRPr sz="12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defRPr sz="1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defRPr sz="1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defRPr sz="1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defRPr sz="1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defRPr sz="1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hyperlink" Target="https://haoyi-zhang.github.io/WatermarkScope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Haoyi-Zhang/WatermarkScope/blob/main/RESULT_MANIFEST.jsonl" TargetMode="External"/><Relationship Id="rId3" Type="http://schemas.openxmlformats.org/officeDocument/2006/relationships/image" Target="../media/image4.jpeg"/><Relationship Id="rId7" Type="http://schemas.openxmlformats.org/officeDocument/2006/relationships/hyperlink" Target="https://github.com/Haoyi-Zhang/WatermarkScope/blob/main/docs/TRACEABILITY_MATRIX.md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github.com/Haoyi-Zhang/WatermarkScope/blob/main/CLAIM_BOUNDARIES.md" TargetMode="External"/><Relationship Id="rId5" Type="http://schemas.openxmlformats.org/officeDocument/2006/relationships/hyperlink" Target="https://github.com/Haoyi-Zhang/WatermarkScope" TargetMode="External"/><Relationship Id="rId4" Type="http://schemas.openxmlformats.org/officeDocument/2006/relationships/hyperlink" Target="https://haoyi-zhang.github.io/WatermarkScope/" TargetMode="External"/><Relationship Id="rId9" Type="http://schemas.openxmlformats.org/officeDocument/2006/relationships/hyperlink" Target="https://github.com/Haoyi-Zhang/WatermarkScope/blob/main/scripts/viva_check.py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github.com/Haoyi-Zhang/WatermarkScope/blob/main/scripts/viva_check.py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github.com/Haoyi-Zhang/WatermarkScope" TargetMode="External"/><Relationship Id="rId5" Type="http://schemas.openxmlformats.org/officeDocument/2006/relationships/image" Target="../media/image3.png"/><Relationship Id="rId4" Type="http://schemas.openxmlformats.org/officeDocument/2006/relationships/hyperlink" Target="https://haoyi-zhang.github.io/WatermarkScope/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7" Type="http://schemas.openxmlformats.org/officeDocument/2006/relationships/hyperlink" Target="https://haoyi-zhang.github.io/WatermarkScope/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github.com/Haoyi-Zhang/WatermarkScope/blob/main/scripts/viva_check.py" TargetMode="External"/><Relationship Id="rId5" Type="http://schemas.openxmlformats.org/officeDocument/2006/relationships/hyperlink" Target="https://github.com/Haoyi-Zhang/WatermarkScope/blob/main/docs/TRACEABILITY_MATRIX.md" TargetMode="External"/><Relationship Id="rId4" Type="http://schemas.openxmlformats.org/officeDocument/2006/relationships/hyperlink" Target="https://github.com/Haoyi-Zhang/WatermarkScope/blob/main/CLAIM_BOUNDARIES.md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59DD744C-ADE0-D52E-A01F-14310CE375CC}"/>
              </a:ext>
            </a:extLst>
          </p:cNvPr>
          <p:cNvSpPr/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003B7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3C03570-ADAB-4F7A-1B4B-72AC8189CAE8}"/>
              </a:ext>
            </a:extLst>
          </p:cNvPr>
          <p:cNvSpPr/>
          <p:nvPr/>
        </p:nvSpPr>
        <p:spPr bwMode="auto">
          <a:xfrm>
            <a:off x="0" y="0"/>
            <a:ext cx="889000" cy="6858000"/>
          </a:xfrm>
          <a:prstGeom prst="rect">
            <a:avLst/>
          </a:prstGeom>
          <a:solidFill>
            <a:srgbClr val="002B5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D8519D5-65A5-B15F-194B-4F1E0F83F85E}"/>
              </a:ext>
            </a:extLst>
          </p:cNvPr>
          <p:cNvSpPr/>
          <p:nvPr/>
        </p:nvSpPr>
        <p:spPr bwMode="auto">
          <a:xfrm>
            <a:off x="889000" y="0"/>
            <a:ext cx="114300" cy="6858000"/>
          </a:xfrm>
          <a:prstGeom prst="rect">
            <a:avLst/>
          </a:prstGeom>
          <a:solidFill>
            <a:srgbClr val="6A9CCB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4593973-A542-B352-3806-F648A1D16F27}"/>
              </a:ext>
            </a:extLst>
          </p:cNvPr>
          <p:cNvSpPr txBox="1"/>
          <p:nvPr/>
        </p:nvSpPr>
        <p:spPr>
          <a:xfrm>
            <a:off x="1422400" y="533400"/>
            <a:ext cx="25400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900" b="1">
                <a:solidFill>
                  <a:srgbClr val="BBD7F0"/>
                </a:solidFill>
              </a:rPr>
              <a:t>Final Year Project Viva</a:t>
            </a:r>
            <a:endParaRPr lang="zh-CN" altLang="en-US" sz="900" b="1">
              <a:solidFill>
                <a:srgbClr val="BBD7F0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6C75E2F-BD48-9035-F479-89192701DD26}"/>
              </a:ext>
            </a:extLst>
          </p:cNvPr>
          <p:cNvSpPr txBox="1"/>
          <p:nvPr/>
        </p:nvSpPr>
        <p:spPr>
          <a:xfrm>
            <a:off x="1422400" y="889000"/>
            <a:ext cx="91440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3100" b="1">
                <a:solidFill>
                  <a:srgbClr val="FFFFFF"/>
                </a:solidFill>
              </a:rPr>
              <a:t>WatermarkScope</a:t>
            </a:r>
            <a:endParaRPr lang="zh-CN" altLang="en-US" sz="3100" b="1">
              <a:solidFill>
                <a:srgbClr val="FFFFFF"/>
              </a:solidFill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968713B5-F5AB-67B1-1958-EDF871D338FA}"/>
              </a:ext>
            </a:extLst>
          </p:cNvPr>
          <p:cNvCxnSpPr/>
          <p:nvPr/>
        </p:nvCxnSpPr>
        <p:spPr bwMode="auto">
          <a:xfrm>
            <a:off x="1447800" y="1854200"/>
            <a:ext cx="9296400" cy="0"/>
          </a:xfrm>
          <a:prstGeom prst="line">
            <a:avLst/>
          </a:prstGeom>
          <a:solidFill>
            <a:schemeClr val="accent1"/>
          </a:solidFill>
          <a:ln w="13970" cap="flat" cmpd="sng" algn="ctr">
            <a:solidFill>
              <a:srgbClr val="7EB0DD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6CC9E51C-0E6C-92C5-CF81-4C2691121571}"/>
              </a:ext>
            </a:extLst>
          </p:cNvPr>
          <p:cNvSpPr txBox="1"/>
          <p:nvPr/>
        </p:nvSpPr>
        <p:spPr>
          <a:xfrm>
            <a:off x="11379200" y="584200"/>
            <a:ext cx="4064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r"/>
            <a:r>
              <a:rPr lang="en-US" altLang="zh-CN" sz="800">
                <a:solidFill>
                  <a:srgbClr val="BBD7F0"/>
                </a:solidFill>
              </a:rPr>
              <a:t>01</a:t>
            </a:r>
            <a:endParaRPr lang="zh-CN" altLang="en-US" sz="800">
              <a:solidFill>
                <a:srgbClr val="BBD7F0"/>
              </a:solidFill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D3448EC4-AC5C-F91B-D7D5-CCC479993641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3200" y="5689600"/>
            <a:ext cx="3556000" cy="647700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79AB76FD-54BF-8CB4-EC60-036498F0FF18}"/>
              </a:ext>
            </a:extLst>
          </p:cNvPr>
          <p:cNvSpPr txBox="1"/>
          <p:nvPr/>
        </p:nvSpPr>
        <p:spPr>
          <a:xfrm>
            <a:off x="1473200" y="1955800"/>
            <a:ext cx="88900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1900">
                <a:solidFill>
                  <a:srgbClr val="EAF4FF"/>
                </a:solidFill>
              </a:rPr>
              <a:t>A Benchmark-to-Audit Framework for Source-Code Watermarking in Code Generation Models</a:t>
            </a:r>
            <a:endParaRPr lang="zh-CN" altLang="en-US" sz="1900">
              <a:solidFill>
                <a:srgbClr val="EAF4FF"/>
              </a:solidFill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BA6F961-8068-1428-6DE3-0BDCFD7B384B}"/>
              </a:ext>
            </a:extLst>
          </p:cNvPr>
          <p:cNvSpPr/>
          <p:nvPr/>
        </p:nvSpPr>
        <p:spPr bwMode="auto">
          <a:xfrm>
            <a:off x="1473200" y="2870200"/>
            <a:ext cx="8788400" cy="939800"/>
          </a:xfrm>
          <a:prstGeom prst="rect">
            <a:avLst/>
          </a:prstGeom>
          <a:solidFill>
            <a:srgbClr val="0B4C92"/>
          </a:solidFill>
          <a:ln w="10160" cap="flat" cmpd="sng" algn="ctr">
            <a:solidFill>
              <a:srgbClr val="7EB0DD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2411EA6-E106-C60C-7BEA-0121F42CBC3C}"/>
              </a:ext>
            </a:extLst>
          </p:cNvPr>
          <p:cNvSpPr txBox="1"/>
          <p:nvPr/>
        </p:nvSpPr>
        <p:spPr>
          <a:xfrm>
            <a:off x="1803400" y="3098800"/>
            <a:ext cx="13970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900" b="1">
                <a:solidFill>
                  <a:srgbClr val="BBD7F0"/>
                </a:solidFill>
              </a:rPr>
              <a:t>One message</a:t>
            </a:r>
            <a:endParaRPr lang="zh-CN" altLang="en-US" sz="900" b="1">
              <a:solidFill>
                <a:srgbClr val="BBD7F0"/>
              </a:solidFill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69A1D20D-8779-E840-47F4-E87B3717AE5E}"/>
              </a:ext>
            </a:extLst>
          </p:cNvPr>
          <p:cNvSpPr txBox="1"/>
          <p:nvPr/>
        </p:nvSpPr>
        <p:spPr>
          <a:xfrm>
            <a:off x="1803400" y="3378200"/>
            <a:ext cx="78740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1500" b="1">
                <a:solidFill>
                  <a:srgbClr val="FFFFFF"/>
                </a:solidFill>
              </a:rPr>
              <a:t>Do not judge source-code watermarking by one detector score.</a:t>
            </a:r>
            <a:endParaRPr lang="zh-CN" altLang="en-US" sz="1500" b="1">
              <a:solidFill>
                <a:srgbClr val="FFFFFF"/>
              </a:solidFill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ECC8D25-EFC8-33D5-A061-FA430B79703E}"/>
              </a:ext>
            </a:extLst>
          </p:cNvPr>
          <p:cNvSpPr/>
          <p:nvPr/>
        </p:nvSpPr>
        <p:spPr bwMode="auto">
          <a:xfrm>
            <a:off x="7239000" y="4241800"/>
            <a:ext cx="3581400" cy="812800"/>
          </a:xfrm>
          <a:prstGeom prst="rect">
            <a:avLst/>
          </a:prstGeom>
          <a:solidFill>
            <a:srgbClr val="002B5C"/>
          </a:solidFill>
          <a:ln w="7620" cap="flat" cmpd="sng" algn="ctr">
            <a:solidFill>
              <a:srgbClr val="7EB0DD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766442F-CC44-9268-C842-271776CF8F1A}"/>
              </a:ext>
            </a:extLst>
          </p:cNvPr>
          <p:cNvSpPr txBox="1"/>
          <p:nvPr/>
        </p:nvSpPr>
        <p:spPr>
          <a:xfrm>
            <a:off x="7543800" y="4419600"/>
            <a:ext cx="15240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850" b="1">
                <a:solidFill>
                  <a:srgbClr val="BBD7F0"/>
                </a:solidFill>
              </a:rPr>
              <a:t>evidence contract</a:t>
            </a:r>
            <a:endParaRPr lang="zh-CN" altLang="en-US" sz="850" b="1">
              <a:solidFill>
                <a:srgbClr val="BBD7F0"/>
              </a:solidFill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7973F1AB-403C-243B-1522-0EAF1192FC7E}"/>
              </a:ext>
            </a:extLst>
          </p:cNvPr>
          <p:cNvSpPr/>
          <p:nvPr/>
        </p:nvSpPr>
        <p:spPr bwMode="auto">
          <a:xfrm>
            <a:off x="7543800" y="4724400"/>
            <a:ext cx="609600" cy="355600"/>
          </a:xfrm>
          <a:prstGeom prst="roundRect">
            <a:avLst/>
          </a:prstGeom>
          <a:solidFill>
            <a:srgbClr val="A32626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DA62F60-8D9D-8121-585E-ED537BF1249D}"/>
              </a:ext>
            </a:extLst>
          </p:cNvPr>
          <p:cNvSpPr txBox="1"/>
          <p:nvPr/>
        </p:nvSpPr>
        <p:spPr>
          <a:xfrm>
            <a:off x="7645400" y="4826000"/>
            <a:ext cx="4064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CN" sz="860" b="1">
                <a:solidFill>
                  <a:srgbClr val="FFFFFF"/>
                </a:solidFill>
              </a:rPr>
              <a:t>score</a:t>
            </a:r>
            <a:endParaRPr lang="zh-CN" altLang="en-US" sz="860" b="1">
              <a:solidFill>
                <a:srgbClr val="FFFFFF"/>
              </a:solidFill>
            </a:endParaRP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57C29AD5-428E-22BF-A07A-CB27F7BF23AD}"/>
              </a:ext>
            </a:extLst>
          </p:cNvPr>
          <p:cNvCxnSpPr/>
          <p:nvPr/>
        </p:nvCxnSpPr>
        <p:spPr bwMode="auto">
          <a:xfrm>
            <a:off x="8204200" y="4902200"/>
            <a:ext cx="25400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7EB0DD"/>
            </a:solidFill>
            <a:prstDash val="solid"/>
            <a:round/>
            <a:headEnd type="none" w="med" len="med"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D093F7BB-8775-A686-A95F-A306BD3A7A84}"/>
              </a:ext>
            </a:extLst>
          </p:cNvPr>
          <p:cNvSpPr/>
          <p:nvPr/>
        </p:nvSpPr>
        <p:spPr bwMode="auto">
          <a:xfrm>
            <a:off x="8534400" y="4724400"/>
            <a:ext cx="914400" cy="355600"/>
          </a:xfrm>
          <a:prstGeom prst="roundRect">
            <a:avLst/>
          </a:prstGeom>
          <a:solidFill>
            <a:srgbClr val="168E8B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3AA0C8B-3FEE-383B-5D8E-995C85BA7F32}"/>
              </a:ext>
            </a:extLst>
          </p:cNvPr>
          <p:cNvSpPr txBox="1"/>
          <p:nvPr/>
        </p:nvSpPr>
        <p:spPr>
          <a:xfrm>
            <a:off x="8636000" y="4826000"/>
            <a:ext cx="7112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CN" sz="860" b="1">
                <a:solidFill>
                  <a:srgbClr val="FFFFFF"/>
                </a:solidFill>
              </a:rPr>
              <a:t>controls</a:t>
            </a:r>
            <a:endParaRPr lang="zh-CN" altLang="en-US" sz="860" b="1">
              <a:solidFill>
                <a:srgbClr val="FFFFFF"/>
              </a:solidFill>
            </a:endParaRPr>
          </a:p>
        </p:txBody>
      </p: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74B08FA3-58CB-EC1A-932B-946A4A85074B}"/>
              </a:ext>
            </a:extLst>
          </p:cNvPr>
          <p:cNvCxnSpPr/>
          <p:nvPr/>
        </p:nvCxnSpPr>
        <p:spPr bwMode="auto">
          <a:xfrm>
            <a:off x="9499600" y="4902200"/>
            <a:ext cx="25400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7EB0DD"/>
            </a:solidFill>
            <a:prstDash val="solid"/>
            <a:round/>
            <a:headEnd type="none" w="med" len="med"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8784E96E-53D7-9CD2-8D84-BA840FB4C515}"/>
              </a:ext>
            </a:extLst>
          </p:cNvPr>
          <p:cNvSpPr/>
          <p:nvPr/>
        </p:nvSpPr>
        <p:spPr bwMode="auto">
          <a:xfrm>
            <a:off x="9829800" y="4724400"/>
            <a:ext cx="990600" cy="355600"/>
          </a:xfrm>
          <a:prstGeom prst="roundRect">
            <a:avLst/>
          </a:prstGeom>
          <a:solidFill>
            <a:srgbClr val="F2C14E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D4CBED6C-657A-7FD6-0A11-76D46DC06F9D}"/>
              </a:ext>
            </a:extLst>
          </p:cNvPr>
          <p:cNvSpPr txBox="1"/>
          <p:nvPr/>
        </p:nvSpPr>
        <p:spPr>
          <a:xfrm>
            <a:off x="9931400" y="4826000"/>
            <a:ext cx="7874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CN" sz="860" b="1">
                <a:solidFill>
                  <a:srgbClr val="071A3D"/>
                </a:solidFill>
              </a:rPr>
              <a:t>claim</a:t>
            </a:r>
            <a:endParaRPr lang="zh-CN" altLang="en-US" sz="860" b="1">
              <a:solidFill>
                <a:srgbClr val="071A3D"/>
              </a:solidFill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9812689A-1319-086A-01EF-66DC472FBB55}"/>
              </a:ext>
            </a:extLst>
          </p:cNvPr>
          <p:cNvSpPr txBox="1"/>
          <p:nvPr/>
        </p:nvSpPr>
        <p:spPr>
          <a:xfrm>
            <a:off x="1498600" y="4622800"/>
            <a:ext cx="33020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1100">
                <a:solidFill>
                  <a:srgbClr val="EAF4FF"/>
                </a:solidFill>
              </a:rPr>
              <a:t>Haoyi Zhang | 2254912</a:t>
            </a:r>
            <a:endParaRPr lang="zh-CN" altLang="en-US" sz="1100">
              <a:solidFill>
                <a:srgbClr val="EAF4FF"/>
              </a:solidFill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5FB50906-96D5-81DD-F01E-2EFE28E22A3F}"/>
              </a:ext>
            </a:extLst>
          </p:cNvPr>
          <p:cNvSpPr txBox="1"/>
          <p:nvPr/>
        </p:nvSpPr>
        <p:spPr>
          <a:xfrm>
            <a:off x="1498600" y="4978400"/>
            <a:ext cx="45720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1100">
                <a:solidFill>
                  <a:srgbClr val="EAF4FF"/>
                </a:solidFill>
              </a:rPr>
              <a:t>Supervisor: Md Maruf Hasan | 21 May 2026</a:t>
            </a:r>
            <a:endParaRPr lang="zh-CN" altLang="en-US" sz="1100">
              <a:solidFill>
                <a:srgbClr val="EAF4FF"/>
              </a:solidFill>
            </a:endParaRPr>
          </a:p>
        </p:txBody>
      </p:sp>
      <p:sp>
        <p:nvSpPr>
          <p:cNvPr id="27" name="WSHome_S1Panel">
            <a:extLst>
              <a:ext uri="{FF2B5EF4-FFF2-40B4-BE49-F238E27FC236}">
                <a16:creationId xmlns:a16="http://schemas.microsoft.com/office/drawing/2014/main" id="{39490EDC-CE87-A2F7-0C31-3E724946B616}"/>
              </a:ext>
            </a:extLst>
          </p:cNvPr>
          <p:cNvSpPr/>
          <p:nvPr/>
        </p:nvSpPr>
        <p:spPr bwMode="auto">
          <a:xfrm>
            <a:off x="9702800" y="939800"/>
            <a:ext cx="1422400" cy="17526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B0C4DE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pic>
        <p:nvPicPr>
          <p:cNvPr id="32" name="WSHome_S1QR">
            <a:hlinkClick r:id="rId4"/>
            <a:extLst>
              <a:ext uri="{FF2B5EF4-FFF2-40B4-BE49-F238E27FC236}">
                <a16:creationId xmlns:a16="http://schemas.microsoft.com/office/drawing/2014/main" id="{704382D5-A5EE-F68F-EBD5-F6CEA920B269}"/>
              </a:ext>
            </a:extLst>
          </p:cNvPr>
          <p:cNvPicPr>
            <a:picLocks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1400" y="1117600"/>
            <a:ext cx="965200" cy="965200"/>
          </a:xfrm>
          <a:prstGeom prst="rect">
            <a:avLst/>
          </a:prstGeom>
        </p:spPr>
      </p:pic>
      <p:sp>
        <p:nvSpPr>
          <p:cNvPr id="33" name="WSHome_S1Title">
            <a:extLst>
              <a:ext uri="{FF2B5EF4-FFF2-40B4-BE49-F238E27FC236}">
                <a16:creationId xmlns:a16="http://schemas.microsoft.com/office/drawing/2014/main" id="{C93A041F-DBBA-D25E-B75F-D8E81BA9C1D7}"/>
              </a:ext>
            </a:extLst>
          </p:cNvPr>
          <p:cNvSpPr txBox="1"/>
          <p:nvPr/>
        </p:nvSpPr>
        <p:spPr>
          <a:xfrm>
            <a:off x="9893300" y="2159000"/>
            <a:ext cx="1041400" cy="1261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20" b="1">
                <a:solidFill>
                  <a:srgbClr val="08111F"/>
                </a:solidFill>
                <a:latin typeface="Aptos" panose="020B0004020202020204" pitchFamily="34" charset="0"/>
              </a:rPr>
              <a:t>Project page</a:t>
            </a:r>
            <a:endParaRPr lang="zh-CN" altLang="en-US" sz="820" b="1">
              <a:solidFill>
                <a:srgbClr val="08111F"/>
              </a:solidFill>
              <a:latin typeface="Aptos" panose="020B0004020202020204" pitchFamily="34" charset="0"/>
            </a:endParaRPr>
          </a:p>
        </p:txBody>
      </p:sp>
      <p:sp>
        <p:nvSpPr>
          <p:cNvPr id="34" name="WSHome_S1Link">
            <a:hlinkClick r:id="rId4"/>
            <a:extLst>
              <a:ext uri="{FF2B5EF4-FFF2-40B4-BE49-F238E27FC236}">
                <a16:creationId xmlns:a16="http://schemas.microsoft.com/office/drawing/2014/main" id="{D55A4CF5-C00A-269B-B773-3BFD23DF6D67}"/>
              </a:ext>
            </a:extLst>
          </p:cNvPr>
          <p:cNvSpPr txBox="1"/>
          <p:nvPr/>
        </p:nvSpPr>
        <p:spPr>
          <a:xfrm>
            <a:off x="9893300" y="2349500"/>
            <a:ext cx="1041400" cy="1046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680">
                <a:solidFill>
                  <a:srgbClr val="4F617C"/>
                </a:solidFill>
                <a:latin typeface="Aptos" panose="020B0004020202020204" pitchFamily="34" charset="0"/>
              </a:rPr>
              <a:t>scan or click</a:t>
            </a:r>
            <a:endParaRPr lang="zh-CN" altLang="en-US" sz="680">
              <a:solidFill>
                <a:srgbClr val="4F617C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9376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 thruBlk="1"/>
      </p:transition>
    </mc:Choice>
    <mc:Fallback xmlns="">
      <p:transition spd="slow"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8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8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8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8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8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8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8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8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8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8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8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8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28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28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28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/>
      <p:bldP spid="14" grpId="0"/>
      <p:bldP spid="15" grpId="0" animBg="1"/>
      <p:bldP spid="16" grpId="0"/>
      <p:bldP spid="17" grpId="0" animBg="1"/>
      <p:bldP spid="18" grpId="0"/>
      <p:bldP spid="20" grpId="0" animBg="1"/>
      <p:bldP spid="21" grpId="0"/>
      <p:bldP spid="23" grpId="0" animBg="1"/>
      <p:bldP spid="24" grpId="0"/>
      <p:bldP spid="25" grpId="0"/>
      <p:bldP spid="26" grpId="0"/>
      <p:bldP spid="3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4AC7E50-3ED6-E255-C7BF-BE191220FFF2}"/>
              </a:ext>
            </a:extLst>
          </p:cNvPr>
          <p:cNvSpPr/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D166227-42FE-FA90-0E7B-19F3EC111550}"/>
              </a:ext>
            </a:extLst>
          </p:cNvPr>
          <p:cNvSpPr/>
          <p:nvPr/>
        </p:nvSpPr>
        <p:spPr bwMode="auto">
          <a:xfrm>
            <a:off x="0" y="0"/>
            <a:ext cx="685800" cy="6858000"/>
          </a:xfrm>
          <a:prstGeom prst="rect">
            <a:avLst/>
          </a:prstGeom>
          <a:solidFill>
            <a:srgbClr val="003B7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28F279A-A7BF-D996-F215-EC2C209A8FAD}"/>
              </a:ext>
            </a:extLst>
          </p:cNvPr>
          <p:cNvSpPr/>
          <p:nvPr/>
        </p:nvSpPr>
        <p:spPr bwMode="auto">
          <a:xfrm>
            <a:off x="685800" y="0"/>
            <a:ext cx="127000" cy="6858000"/>
          </a:xfrm>
          <a:prstGeom prst="rect">
            <a:avLst/>
          </a:prstGeom>
          <a:solidFill>
            <a:srgbClr val="6A9CCB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C01A09E-4D02-C9B7-40D3-863E6FBCFD28}"/>
              </a:ext>
            </a:extLst>
          </p:cNvPr>
          <p:cNvSpPr txBox="1"/>
          <p:nvPr/>
        </p:nvSpPr>
        <p:spPr>
          <a:xfrm>
            <a:off x="1168400" y="431800"/>
            <a:ext cx="25400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850" b="1">
                <a:solidFill>
                  <a:srgbClr val="5E7699"/>
                </a:solidFill>
              </a:rPr>
              <a:t>Problem</a:t>
            </a:r>
            <a:endParaRPr lang="zh-CN" altLang="en-US" sz="850" b="1">
              <a:solidFill>
                <a:srgbClr val="5E7699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6C2C66E-50C8-F221-C2AF-6EF83DDE4E4D}"/>
              </a:ext>
            </a:extLst>
          </p:cNvPr>
          <p:cNvSpPr txBox="1"/>
          <p:nvPr/>
        </p:nvSpPr>
        <p:spPr>
          <a:xfrm>
            <a:off x="1168400" y="736600"/>
            <a:ext cx="96520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b="1">
                <a:solidFill>
                  <a:srgbClr val="071A3D"/>
                </a:solidFill>
              </a:rPr>
              <a:t>Generated code moves after the watermark is created</a:t>
            </a:r>
            <a:endParaRPr lang="zh-CN" altLang="en-US" b="1">
              <a:solidFill>
                <a:srgbClr val="071A3D"/>
              </a:solidFill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CFE2422D-7145-1FE9-F1B1-03B6BEB45D4F}"/>
              </a:ext>
            </a:extLst>
          </p:cNvPr>
          <p:cNvCxnSpPr/>
          <p:nvPr/>
        </p:nvCxnSpPr>
        <p:spPr bwMode="auto">
          <a:xfrm>
            <a:off x="1168400" y="1473200"/>
            <a:ext cx="957580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C7D7EA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A8ED7ACC-C6CE-4AB8-01A5-B9741EF3C3B9}"/>
              </a:ext>
            </a:extLst>
          </p:cNvPr>
          <p:cNvSpPr txBox="1"/>
          <p:nvPr/>
        </p:nvSpPr>
        <p:spPr>
          <a:xfrm>
            <a:off x="11480800" y="558800"/>
            <a:ext cx="3302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r"/>
            <a:r>
              <a:rPr lang="en-US" altLang="zh-CN" sz="800">
                <a:solidFill>
                  <a:srgbClr val="5E7699"/>
                </a:solidFill>
              </a:rPr>
              <a:t>02</a:t>
            </a:r>
            <a:endParaRPr lang="zh-CN" altLang="en-US" sz="800">
              <a:solidFill>
                <a:srgbClr val="5E7699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8F63E07-72BF-6CC8-0594-A41A49784998}"/>
              </a:ext>
            </a:extLst>
          </p:cNvPr>
          <p:cNvSpPr/>
          <p:nvPr/>
        </p:nvSpPr>
        <p:spPr bwMode="auto">
          <a:xfrm>
            <a:off x="8204200" y="533400"/>
            <a:ext cx="381000" cy="50800"/>
          </a:xfrm>
          <a:prstGeom prst="rect">
            <a:avLst/>
          </a:prstGeom>
          <a:solidFill>
            <a:srgbClr val="F2C14E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DF16E59-2BE2-41AF-C3DF-6AC444D48C5D}"/>
              </a:ext>
            </a:extLst>
          </p:cNvPr>
          <p:cNvSpPr/>
          <p:nvPr/>
        </p:nvSpPr>
        <p:spPr bwMode="auto">
          <a:xfrm>
            <a:off x="8737600" y="533400"/>
            <a:ext cx="381000" cy="50800"/>
          </a:xfrm>
          <a:prstGeom prst="rect">
            <a:avLst/>
          </a:prstGeom>
          <a:solidFill>
            <a:srgbClr val="C7D7E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06E2987-76FA-FA65-1FA2-F9EA0E1DDA02}"/>
              </a:ext>
            </a:extLst>
          </p:cNvPr>
          <p:cNvSpPr/>
          <p:nvPr/>
        </p:nvSpPr>
        <p:spPr bwMode="auto">
          <a:xfrm>
            <a:off x="9271000" y="533400"/>
            <a:ext cx="381000" cy="50800"/>
          </a:xfrm>
          <a:prstGeom prst="rect">
            <a:avLst/>
          </a:prstGeom>
          <a:solidFill>
            <a:srgbClr val="C7D7E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624DE0C-C981-6EEC-5157-4A8BAD45CF86}"/>
              </a:ext>
            </a:extLst>
          </p:cNvPr>
          <p:cNvSpPr/>
          <p:nvPr/>
        </p:nvSpPr>
        <p:spPr bwMode="auto">
          <a:xfrm>
            <a:off x="9804400" y="533400"/>
            <a:ext cx="381000" cy="50800"/>
          </a:xfrm>
          <a:prstGeom prst="rect">
            <a:avLst/>
          </a:prstGeom>
          <a:solidFill>
            <a:srgbClr val="C7D7E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A62690D-6090-CDF1-DADC-0A227BF612A0}"/>
              </a:ext>
            </a:extLst>
          </p:cNvPr>
          <p:cNvSpPr/>
          <p:nvPr/>
        </p:nvSpPr>
        <p:spPr bwMode="auto">
          <a:xfrm>
            <a:off x="10337800" y="533400"/>
            <a:ext cx="381000" cy="50800"/>
          </a:xfrm>
          <a:prstGeom prst="rect">
            <a:avLst/>
          </a:prstGeom>
          <a:solidFill>
            <a:srgbClr val="C7D7E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753D95A-3CBF-037E-453C-B98C2C37F85A}"/>
              </a:ext>
            </a:extLst>
          </p:cNvPr>
          <p:cNvSpPr txBox="1"/>
          <p:nvPr/>
        </p:nvSpPr>
        <p:spPr>
          <a:xfrm>
            <a:off x="8204200" y="660400"/>
            <a:ext cx="24638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r"/>
            <a:r>
              <a:rPr lang="en-US" altLang="zh-CN" sz="680" b="1">
                <a:solidFill>
                  <a:srgbClr val="5E7699"/>
                </a:solidFill>
              </a:rPr>
              <a:t>Problem</a:t>
            </a:r>
            <a:endParaRPr lang="zh-CN" altLang="en-US" sz="680" b="1">
              <a:solidFill>
                <a:srgbClr val="5E7699"/>
              </a:solidFill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306C0AE1-7B69-820E-5390-C6B23B49F986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000" y="6248400"/>
            <a:ext cx="2413000" cy="431800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44D7C6A1-0ADB-1310-51E5-5D9F1FB4C70D}"/>
              </a:ext>
            </a:extLst>
          </p:cNvPr>
          <p:cNvSpPr txBox="1"/>
          <p:nvPr/>
        </p:nvSpPr>
        <p:spPr>
          <a:xfrm>
            <a:off x="1117600" y="6451600"/>
            <a:ext cx="26670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750">
                <a:solidFill>
                  <a:srgbClr val="6A7FA0"/>
                </a:solidFill>
              </a:rPr>
              <a:t>WatermarkScope FYP Viva</a:t>
            </a:r>
            <a:endParaRPr lang="zh-CN" altLang="en-US" sz="750">
              <a:solidFill>
                <a:srgbClr val="6A7FA0"/>
              </a:solidFill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C23C5B9-9F70-0714-C513-C25C8D6E8213}"/>
              </a:ext>
            </a:extLst>
          </p:cNvPr>
          <p:cNvSpPr txBox="1"/>
          <p:nvPr/>
        </p:nvSpPr>
        <p:spPr>
          <a:xfrm>
            <a:off x="4851400" y="6451600"/>
            <a:ext cx="21590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CN" sz="750">
                <a:solidFill>
                  <a:srgbClr val="6A7FA0"/>
                </a:solidFill>
              </a:rPr>
              <a:t>Haoyi Zhang | 2254912</a:t>
            </a:r>
            <a:endParaRPr lang="zh-CN" altLang="en-US" sz="750">
              <a:solidFill>
                <a:srgbClr val="6A7FA0"/>
              </a:solidFill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7103D43E-AB23-2B72-B66D-7A50434CB13D}"/>
              </a:ext>
            </a:extLst>
          </p:cNvPr>
          <p:cNvSpPr txBox="1"/>
          <p:nvPr/>
        </p:nvSpPr>
        <p:spPr>
          <a:xfrm>
            <a:off x="1168400" y="1752600"/>
            <a:ext cx="100330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1300" b="1">
                <a:solidFill>
                  <a:srgbClr val="071A3D"/>
                </a:solidFill>
              </a:rPr>
              <a:t>When code is copied, edited, translated, or reused, the original generation context becomes incomplete.</a:t>
            </a:r>
            <a:endParaRPr lang="zh-CN" altLang="en-US" sz="1300" b="1">
              <a:solidFill>
                <a:srgbClr val="071A3D"/>
              </a:solidFill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BE0286C-7FC2-9012-CBA4-CC2A5EE84A14}"/>
              </a:ext>
            </a:extLst>
          </p:cNvPr>
          <p:cNvSpPr/>
          <p:nvPr/>
        </p:nvSpPr>
        <p:spPr bwMode="auto">
          <a:xfrm>
            <a:off x="1320800" y="2209800"/>
            <a:ext cx="4089400" cy="2844800"/>
          </a:xfrm>
          <a:prstGeom prst="rect">
            <a:avLst/>
          </a:prstGeom>
          <a:solidFill>
            <a:srgbClr val="071A3D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958BFB0-70D8-0E05-CB4E-2E625A16DA7A}"/>
              </a:ext>
            </a:extLst>
          </p:cNvPr>
          <p:cNvSpPr txBox="1"/>
          <p:nvPr/>
        </p:nvSpPr>
        <p:spPr>
          <a:xfrm>
            <a:off x="1676400" y="2514600"/>
            <a:ext cx="19050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900" b="1">
                <a:solidFill>
                  <a:srgbClr val="8EC5FF"/>
                </a:solidFill>
              </a:rPr>
              <a:t>reused function</a:t>
            </a:r>
            <a:endParaRPr lang="zh-CN" altLang="en-US" sz="900" b="1">
              <a:solidFill>
                <a:srgbClr val="8EC5FF"/>
              </a:solidFill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5EDC1D55-4566-D0D6-BE33-8648D68F8308}"/>
              </a:ext>
            </a:extLst>
          </p:cNvPr>
          <p:cNvSpPr txBox="1"/>
          <p:nvPr/>
        </p:nvSpPr>
        <p:spPr>
          <a:xfrm>
            <a:off x="1676400" y="2997200"/>
            <a:ext cx="31496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1400">
                <a:solidFill>
                  <a:srgbClr val="FFFFFF"/>
                </a:solidFill>
                <a:latin typeface="Consolas" panose="020B0609020204030204" pitchFamily="49" charset="0"/>
              </a:rPr>
              <a:t>def normalize_name(x):</a:t>
            </a:r>
          </a:p>
          <a:p>
            <a:r>
              <a:rPr lang="en-US" altLang="zh-CN" sz="1400">
                <a:solidFill>
                  <a:srgbClr val="FFFFFF"/>
                </a:solidFill>
                <a:latin typeface="Consolas" panose="020B0609020204030204" pitchFamily="49" charset="0"/>
              </a:rPr>
              <a:t>    y = x.strip().lower()</a:t>
            </a:r>
          </a:p>
          <a:p>
            <a:r>
              <a:rPr lang="en-US" altLang="zh-CN" sz="1400">
                <a:solidFill>
                  <a:srgbClr val="FFFFFF"/>
                </a:solidFill>
                <a:latin typeface="Consolas" panose="020B0609020204030204" pitchFamily="49" charset="0"/>
              </a:rPr>
              <a:t>    return y.replace(' ', '_')</a:t>
            </a:r>
            <a:endParaRPr lang="zh-CN" altLang="en-US" sz="1400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2E3C6D31-25AA-DAA7-BFA5-A487AD96D5E9}"/>
              </a:ext>
            </a:extLst>
          </p:cNvPr>
          <p:cNvCxnSpPr/>
          <p:nvPr/>
        </p:nvCxnSpPr>
        <p:spPr bwMode="auto">
          <a:xfrm>
            <a:off x="1676400" y="4089400"/>
            <a:ext cx="3124200" cy="0"/>
          </a:xfrm>
          <a:prstGeom prst="line">
            <a:avLst/>
          </a:prstGeom>
          <a:solidFill>
            <a:schemeClr val="accent1"/>
          </a:solidFill>
          <a:ln w="11430" cap="flat" cmpd="sng" algn="ctr">
            <a:solidFill>
              <a:srgbClr val="8EC5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2CB4DB89-E9B3-20F9-EAE5-3B2C48C8EAE1}"/>
              </a:ext>
            </a:extLst>
          </p:cNvPr>
          <p:cNvSpPr txBox="1"/>
          <p:nvPr/>
        </p:nvSpPr>
        <p:spPr>
          <a:xfrm>
            <a:off x="1676400" y="4368800"/>
            <a:ext cx="30226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1000" b="1">
                <a:solidFill>
                  <a:srgbClr val="EAF4FF"/>
                </a:solidFill>
              </a:rPr>
              <a:t>The code still executes. The evidence context may not survive.</a:t>
            </a:r>
            <a:endParaRPr lang="zh-CN" altLang="en-US" sz="1000" b="1">
              <a:solidFill>
                <a:srgbClr val="EAF4FF"/>
              </a:solidFill>
            </a:endParaRPr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75304D79-9EE8-66C5-46D8-A053E9861B78}"/>
              </a:ext>
            </a:extLst>
          </p:cNvPr>
          <p:cNvSpPr/>
          <p:nvPr/>
        </p:nvSpPr>
        <p:spPr bwMode="auto">
          <a:xfrm>
            <a:off x="6273800" y="2565400"/>
            <a:ext cx="838200" cy="838200"/>
          </a:xfrm>
          <a:prstGeom prst="ellipse">
            <a:avLst/>
          </a:prstGeom>
          <a:solidFill>
            <a:srgbClr val="0B3F88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788BDF12-A9A1-91DA-466B-DB192FCC1245}"/>
              </a:ext>
            </a:extLst>
          </p:cNvPr>
          <p:cNvSpPr txBox="1"/>
          <p:nvPr/>
        </p:nvSpPr>
        <p:spPr>
          <a:xfrm>
            <a:off x="6553200" y="2819400"/>
            <a:ext cx="2540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CN" sz="1300" b="1">
                <a:solidFill>
                  <a:srgbClr val="FFFFFF"/>
                </a:solidFill>
              </a:rPr>
              <a:t>1</a:t>
            </a:r>
            <a:endParaRPr lang="zh-CN" altLang="en-US" sz="1300" b="1">
              <a:solidFill>
                <a:srgbClr val="FFFFFF"/>
              </a:solidFill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F85F09A-A4C7-B741-04EA-6B473E92F031}"/>
              </a:ext>
            </a:extLst>
          </p:cNvPr>
          <p:cNvSpPr txBox="1"/>
          <p:nvPr/>
        </p:nvSpPr>
        <p:spPr>
          <a:xfrm>
            <a:off x="6172200" y="3632200"/>
            <a:ext cx="10414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CN" sz="1050" b="1">
                <a:solidFill>
                  <a:srgbClr val="071A3D"/>
                </a:solidFill>
              </a:rPr>
              <a:t>Generate</a:t>
            </a:r>
            <a:endParaRPr lang="zh-CN" altLang="en-US" sz="1050" b="1">
              <a:solidFill>
                <a:srgbClr val="071A3D"/>
              </a:solidFill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D39DD846-AD55-0DC1-BD0D-7E666FB64CBD}"/>
              </a:ext>
            </a:extLst>
          </p:cNvPr>
          <p:cNvSpPr txBox="1"/>
          <p:nvPr/>
        </p:nvSpPr>
        <p:spPr>
          <a:xfrm>
            <a:off x="6045200" y="3937000"/>
            <a:ext cx="12954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CN" sz="800">
                <a:solidFill>
                  <a:srgbClr val="5E7699"/>
                </a:solidFill>
              </a:rPr>
              <a:t>model session</a:t>
            </a:r>
            <a:endParaRPr lang="zh-CN" altLang="en-US" sz="800">
              <a:solidFill>
                <a:srgbClr val="5E7699"/>
              </a:solidFill>
            </a:endParaRPr>
          </a:p>
        </p:txBody>
      </p: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E725F63D-0DAC-3995-7CB1-03E233C613D5}"/>
              </a:ext>
            </a:extLst>
          </p:cNvPr>
          <p:cNvCxnSpPr/>
          <p:nvPr/>
        </p:nvCxnSpPr>
        <p:spPr bwMode="auto">
          <a:xfrm>
            <a:off x="7162800" y="2984500"/>
            <a:ext cx="279400" cy="0"/>
          </a:xfrm>
          <a:prstGeom prst="line">
            <a:avLst/>
          </a:prstGeom>
          <a:solidFill>
            <a:schemeClr val="accent1"/>
          </a:solidFill>
          <a:ln w="20320" cap="flat" cmpd="sng" algn="ctr">
            <a:solidFill>
              <a:srgbClr val="003B7A"/>
            </a:solidFill>
            <a:prstDash val="solid"/>
            <a:round/>
            <a:headEnd type="none" w="med" len="med"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" name="椭圆 29">
            <a:extLst>
              <a:ext uri="{FF2B5EF4-FFF2-40B4-BE49-F238E27FC236}">
                <a16:creationId xmlns:a16="http://schemas.microsoft.com/office/drawing/2014/main" id="{B1F0343A-ABC6-AB4C-BF2B-5E3A03907848}"/>
              </a:ext>
            </a:extLst>
          </p:cNvPr>
          <p:cNvSpPr/>
          <p:nvPr/>
        </p:nvSpPr>
        <p:spPr bwMode="auto">
          <a:xfrm>
            <a:off x="7467600" y="2565400"/>
            <a:ext cx="838200" cy="838200"/>
          </a:xfrm>
          <a:prstGeom prst="ellipse">
            <a:avLst/>
          </a:prstGeom>
          <a:solidFill>
            <a:srgbClr val="168E8B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2471F445-3283-C0F8-8F84-77EAACC9D03C}"/>
              </a:ext>
            </a:extLst>
          </p:cNvPr>
          <p:cNvSpPr txBox="1"/>
          <p:nvPr/>
        </p:nvSpPr>
        <p:spPr>
          <a:xfrm>
            <a:off x="7747000" y="2819400"/>
            <a:ext cx="2540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CN" sz="1300" b="1">
                <a:solidFill>
                  <a:srgbClr val="FFFFFF"/>
                </a:solidFill>
              </a:rPr>
              <a:t>2</a:t>
            </a:r>
            <a:endParaRPr lang="zh-CN" altLang="en-US" sz="1300" b="1">
              <a:solidFill>
                <a:srgbClr val="FFFFFF"/>
              </a:solidFill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4A54FEAF-5A16-E4FE-C07C-14F028B79C4D}"/>
              </a:ext>
            </a:extLst>
          </p:cNvPr>
          <p:cNvSpPr txBox="1"/>
          <p:nvPr/>
        </p:nvSpPr>
        <p:spPr>
          <a:xfrm>
            <a:off x="7366000" y="3632200"/>
            <a:ext cx="10414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CN" sz="1050" b="1">
                <a:solidFill>
                  <a:srgbClr val="071A3D"/>
                </a:solidFill>
              </a:rPr>
              <a:t>Edit</a:t>
            </a:r>
            <a:endParaRPr lang="zh-CN" altLang="en-US" sz="1050" b="1">
              <a:solidFill>
                <a:srgbClr val="071A3D"/>
              </a:solidFill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101CD8A4-436F-428E-E9A3-B7392CF770DD}"/>
              </a:ext>
            </a:extLst>
          </p:cNvPr>
          <p:cNvSpPr txBox="1"/>
          <p:nvPr/>
        </p:nvSpPr>
        <p:spPr>
          <a:xfrm>
            <a:off x="7239000" y="3937000"/>
            <a:ext cx="12954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CN" sz="800">
                <a:solidFill>
                  <a:srgbClr val="5E7699"/>
                </a:solidFill>
              </a:rPr>
              <a:t>renaming / refactor</a:t>
            </a:r>
            <a:endParaRPr lang="zh-CN" altLang="en-US" sz="800">
              <a:solidFill>
                <a:srgbClr val="5E7699"/>
              </a:solidFill>
            </a:endParaRPr>
          </a:p>
        </p:txBody>
      </p: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FFC93919-5725-234D-6656-D3D341795FCA}"/>
              </a:ext>
            </a:extLst>
          </p:cNvPr>
          <p:cNvCxnSpPr/>
          <p:nvPr/>
        </p:nvCxnSpPr>
        <p:spPr bwMode="auto">
          <a:xfrm>
            <a:off x="8356600" y="2984500"/>
            <a:ext cx="279400" cy="0"/>
          </a:xfrm>
          <a:prstGeom prst="line">
            <a:avLst/>
          </a:prstGeom>
          <a:solidFill>
            <a:schemeClr val="accent1"/>
          </a:solidFill>
          <a:ln w="20320" cap="flat" cmpd="sng" algn="ctr">
            <a:solidFill>
              <a:srgbClr val="003B7A"/>
            </a:solidFill>
            <a:prstDash val="solid"/>
            <a:round/>
            <a:headEnd type="none" w="med" len="med"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5" name="椭圆 34">
            <a:extLst>
              <a:ext uri="{FF2B5EF4-FFF2-40B4-BE49-F238E27FC236}">
                <a16:creationId xmlns:a16="http://schemas.microsoft.com/office/drawing/2014/main" id="{FC30C698-EBDD-0391-3568-221CD2D48782}"/>
              </a:ext>
            </a:extLst>
          </p:cNvPr>
          <p:cNvSpPr/>
          <p:nvPr/>
        </p:nvSpPr>
        <p:spPr bwMode="auto">
          <a:xfrm>
            <a:off x="8661400" y="2565400"/>
            <a:ext cx="838200" cy="838200"/>
          </a:xfrm>
          <a:prstGeom prst="ellipse">
            <a:avLst/>
          </a:prstGeom>
          <a:solidFill>
            <a:srgbClr val="5B45C8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E8C9B9B7-6B02-6C1A-78C6-1DCF6F0DD060}"/>
              </a:ext>
            </a:extLst>
          </p:cNvPr>
          <p:cNvSpPr txBox="1"/>
          <p:nvPr/>
        </p:nvSpPr>
        <p:spPr>
          <a:xfrm>
            <a:off x="8940800" y="2819400"/>
            <a:ext cx="2540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CN" sz="1300" b="1">
                <a:solidFill>
                  <a:srgbClr val="FFFFFF"/>
                </a:solidFill>
              </a:rPr>
              <a:t>3</a:t>
            </a:r>
            <a:endParaRPr lang="zh-CN" altLang="en-US" sz="1300" b="1">
              <a:solidFill>
                <a:srgbClr val="FFFFFF"/>
              </a:solidFill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F43A2DE1-B721-F9E8-F23E-1858F149B34C}"/>
              </a:ext>
            </a:extLst>
          </p:cNvPr>
          <p:cNvSpPr txBox="1"/>
          <p:nvPr/>
        </p:nvSpPr>
        <p:spPr>
          <a:xfrm>
            <a:off x="8559800" y="3632200"/>
            <a:ext cx="10414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CN" sz="1050" b="1">
                <a:solidFill>
                  <a:srgbClr val="071A3D"/>
                </a:solidFill>
              </a:rPr>
              <a:t>Reuse</a:t>
            </a:r>
            <a:endParaRPr lang="zh-CN" altLang="en-US" sz="1050" b="1">
              <a:solidFill>
                <a:srgbClr val="071A3D"/>
              </a:solidFill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110DA6E3-404A-F814-A2B0-761A3574996D}"/>
              </a:ext>
            </a:extLst>
          </p:cNvPr>
          <p:cNvSpPr txBox="1"/>
          <p:nvPr/>
        </p:nvSpPr>
        <p:spPr>
          <a:xfrm>
            <a:off x="8432800" y="3937000"/>
            <a:ext cx="12954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CN" sz="800">
                <a:solidFill>
                  <a:srgbClr val="5E7699"/>
                </a:solidFill>
              </a:rPr>
              <a:t>new repository</a:t>
            </a:r>
            <a:endParaRPr lang="zh-CN" altLang="en-US" sz="800">
              <a:solidFill>
                <a:srgbClr val="5E7699"/>
              </a:solidFill>
            </a:endParaRPr>
          </a:p>
        </p:txBody>
      </p: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2D8910CF-DA9C-1EE3-FBF0-F39FA3032F32}"/>
              </a:ext>
            </a:extLst>
          </p:cNvPr>
          <p:cNvCxnSpPr/>
          <p:nvPr/>
        </p:nvCxnSpPr>
        <p:spPr bwMode="auto">
          <a:xfrm>
            <a:off x="9550400" y="2984500"/>
            <a:ext cx="279400" cy="0"/>
          </a:xfrm>
          <a:prstGeom prst="line">
            <a:avLst/>
          </a:prstGeom>
          <a:solidFill>
            <a:schemeClr val="accent1"/>
          </a:solidFill>
          <a:ln w="20320" cap="flat" cmpd="sng" algn="ctr">
            <a:solidFill>
              <a:srgbClr val="003B7A"/>
            </a:solidFill>
            <a:prstDash val="solid"/>
            <a:round/>
            <a:headEnd type="none" w="med" len="med"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0" name="椭圆 39">
            <a:extLst>
              <a:ext uri="{FF2B5EF4-FFF2-40B4-BE49-F238E27FC236}">
                <a16:creationId xmlns:a16="http://schemas.microsoft.com/office/drawing/2014/main" id="{9C824541-9BF4-92E3-C3A3-6BC0CABF9898}"/>
              </a:ext>
            </a:extLst>
          </p:cNvPr>
          <p:cNvSpPr/>
          <p:nvPr/>
        </p:nvSpPr>
        <p:spPr bwMode="auto">
          <a:xfrm>
            <a:off x="9855200" y="2565400"/>
            <a:ext cx="838200" cy="838200"/>
          </a:xfrm>
          <a:prstGeom prst="ellipse">
            <a:avLst/>
          </a:prstGeom>
          <a:solidFill>
            <a:srgbClr val="B85C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B6AF786F-126F-874C-627B-0229341D31CD}"/>
              </a:ext>
            </a:extLst>
          </p:cNvPr>
          <p:cNvSpPr txBox="1"/>
          <p:nvPr/>
        </p:nvSpPr>
        <p:spPr>
          <a:xfrm>
            <a:off x="10134600" y="2819400"/>
            <a:ext cx="2540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CN" sz="1300" b="1">
                <a:solidFill>
                  <a:srgbClr val="FFFFFF"/>
                </a:solidFill>
              </a:rPr>
              <a:t>4</a:t>
            </a:r>
            <a:endParaRPr lang="zh-CN" altLang="en-US" sz="1300" b="1">
              <a:solidFill>
                <a:srgbClr val="FFFFFF"/>
              </a:solidFill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43092638-B1F6-E57F-BF57-C8F20C7BF474}"/>
              </a:ext>
            </a:extLst>
          </p:cNvPr>
          <p:cNvSpPr txBox="1"/>
          <p:nvPr/>
        </p:nvSpPr>
        <p:spPr>
          <a:xfrm>
            <a:off x="9753600" y="3632200"/>
            <a:ext cx="10414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CN" sz="1050" b="1">
                <a:solidFill>
                  <a:srgbClr val="071A3D"/>
                </a:solidFill>
              </a:rPr>
              <a:t>Audit</a:t>
            </a:r>
            <a:endParaRPr lang="zh-CN" altLang="en-US" sz="1050" b="1">
              <a:solidFill>
                <a:srgbClr val="071A3D"/>
              </a:solidFill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FE822F86-EFAA-B3E8-7E75-E73FBCB2B85E}"/>
              </a:ext>
            </a:extLst>
          </p:cNvPr>
          <p:cNvSpPr txBox="1"/>
          <p:nvPr/>
        </p:nvSpPr>
        <p:spPr>
          <a:xfrm>
            <a:off x="9626600" y="3937000"/>
            <a:ext cx="12954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CN" sz="800">
                <a:solidFill>
                  <a:srgbClr val="5E7699"/>
                </a:solidFill>
              </a:rPr>
              <a:t>owner or risk claim</a:t>
            </a:r>
            <a:endParaRPr lang="zh-CN" altLang="en-US" sz="800">
              <a:solidFill>
                <a:srgbClr val="5E7699"/>
              </a:solidFill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F5F3D928-43E7-AF8F-8878-F96559CE70DB}"/>
              </a:ext>
            </a:extLst>
          </p:cNvPr>
          <p:cNvSpPr/>
          <p:nvPr/>
        </p:nvSpPr>
        <p:spPr bwMode="auto">
          <a:xfrm>
            <a:off x="2311400" y="5562600"/>
            <a:ext cx="7569200" cy="406400"/>
          </a:xfrm>
          <a:prstGeom prst="rect">
            <a:avLst/>
          </a:prstGeom>
          <a:solidFill>
            <a:srgbClr val="FFF8E8"/>
          </a:solidFill>
          <a:ln w="8890" cap="flat" cmpd="sng" algn="ctr">
            <a:solidFill>
              <a:srgbClr val="F2C14E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23F31C73-DAE2-705E-1E99-AA3E5744BEA8}"/>
              </a:ext>
            </a:extLst>
          </p:cNvPr>
          <p:cNvSpPr txBox="1"/>
          <p:nvPr/>
        </p:nvSpPr>
        <p:spPr>
          <a:xfrm>
            <a:off x="2463800" y="5676900"/>
            <a:ext cx="72644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CN" sz="1000" b="1">
                <a:solidFill>
                  <a:srgbClr val="071A3D"/>
                </a:solidFill>
              </a:rPr>
              <a:t>The viva question: what can I safely claim after this movement?</a:t>
            </a:r>
            <a:endParaRPr lang="zh-CN" altLang="en-US" sz="1000" b="1">
              <a:solidFill>
                <a:srgbClr val="071A3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6133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 thruBlk="1"/>
      </p:transition>
    </mc:Choice>
    <mc:Fallback xmlns="">
      <p:transition spd="slow"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8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8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8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8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8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8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8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8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8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8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8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8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8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28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8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8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8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28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28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28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28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8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28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28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28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2" grpId="0"/>
      <p:bldP spid="24" grpId="0"/>
      <p:bldP spid="25" grpId="0" animBg="1"/>
      <p:bldP spid="26" grpId="0"/>
      <p:bldP spid="27" grpId="0"/>
      <p:bldP spid="28" grpId="0"/>
      <p:bldP spid="30" grpId="0" animBg="1"/>
      <p:bldP spid="31" grpId="0"/>
      <p:bldP spid="32" grpId="0"/>
      <p:bldP spid="33" grpId="0"/>
      <p:bldP spid="35" grpId="0" animBg="1"/>
      <p:bldP spid="36" grpId="0"/>
      <p:bldP spid="37" grpId="0"/>
      <p:bldP spid="38" grpId="0"/>
      <p:bldP spid="40" grpId="0" animBg="1"/>
      <p:bldP spid="41" grpId="0"/>
      <p:bldP spid="42" grpId="0"/>
      <p:bldP spid="43" grpId="0"/>
      <p:bldP spid="44" grpId="0" animBg="1"/>
      <p:bldP spid="4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E570964-7875-5D67-CB83-946B29F748C5}"/>
              </a:ext>
            </a:extLst>
          </p:cNvPr>
          <p:cNvSpPr/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003B7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E5E0784-0CB1-3F73-9864-FC8AB81974EA}"/>
              </a:ext>
            </a:extLst>
          </p:cNvPr>
          <p:cNvSpPr/>
          <p:nvPr/>
        </p:nvSpPr>
        <p:spPr bwMode="auto">
          <a:xfrm>
            <a:off x="0" y="0"/>
            <a:ext cx="889000" cy="6858000"/>
          </a:xfrm>
          <a:prstGeom prst="rect">
            <a:avLst/>
          </a:prstGeom>
          <a:solidFill>
            <a:srgbClr val="002B5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AEC9BBC-C521-434F-D15A-1175765F3E6C}"/>
              </a:ext>
            </a:extLst>
          </p:cNvPr>
          <p:cNvSpPr/>
          <p:nvPr/>
        </p:nvSpPr>
        <p:spPr bwMode="auto">
          <a:xfrm>
            <a:off x="889000" y="0"/>
            <a:ext cx="114300" cy="6858000"/>
          </a:xfrm>
          <a:prstGeom prst="rect">
            <a:avLst/>
          </a:prstGeom>
          <a:solidFill>
            <a:srgbClr val="6A9CCB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D1C4C5B-03F7-FBB9-6958-A631DD805840}"/>
              </a:ext>
            </a:extLst>
          </p:cNvPr>
          <p:cNvSpPr txBox="1"/>
          <p:nvPr/>
        </p:nvSpPr>
        <p:spPr>
          <a:xfrm>
            <a:off x="1422400" y="533400"/>
            <a:ext cx="25400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900" b="1">
                <a:solidFill>
                  <a:srgbClr val="BBD7F0"/>
                </a:solidFill>
              </a:rPr>
              <a:t>Research Gap</a:t>
            </a:r>
            <a:endParaRPr lang="zh-CN" altLang="en-US" sz="900" b="1">
              <a:solidFill>
                <a:srgbClr val="BBD7F0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23CE885-F613-3833-669D-0072D5D74627}"/>
              </a:ext>
            </a:extLst>
          </p:cNvPr>
          <p:cNvSpPr txBox="1"/>
          <p:nvPr/>
        </p:nvSpPr>
        <p:spPr>
          <a:xfrm>
            <a:off x="1422400" y="889000"/>
            <a:ext cx="91440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2800" b="1">
                <a:solidFill>
                  <a:srgbClr val="FFFFFF"/>
                </a:solidFill>
              </a:rPr>
              <a:t>A score is not a claim until evidence is admitted</a:t>
            </a:r>
            <a:endParaRPr lang="zh-CN" altLang="en-US" sz="2800" b="1">
              <a:solidFill>
                <a:srgbClr val="FFFFFF"/>
              </a:solidFill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7291BA7C-C218-5AD0-68E0-3C600B7DF6BC}"/>
              </a:ext>
            </a:extLst>
          </p:cNvPr>
          <p:cNvCxnSpPr/>
          <p:nvPr/>
        </p:nvCxnSpPr>
        <p:spPr bwMode="auto">
          <a:xfrm>
            <a:off x="1447800" y="1854200"/>
            <a:ext cx="9296400" cy="0"/>
          </a:xfrm>
          <a:prstGeom prst="line">
            <a:avLst/>
          </a:prstGeom>
          <a:solidFill>
            <a:schemeClr val="accent1"/>
          </a:solidFill>
          <a:ln w="13970" cap="flat" cmpd="sng" algn="ctr">
            <a:solidFill>
              <a:srgbClr val="7EB0DD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A5710B75-38B2-0595-0A95-D57CC253E8C5}"/>
              </a:ext>
            </a:extLst>
          </p:cNvPr>
          <p:cNvSpPr txBox="1"/>
          <p:nvPr/>
        </p:nvSpPr>
        <p:spPr>
          <a:xfrm>
            <a:off x="11379200" y="584200"/>
            <a:ext cx="4064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r"/>
            <a:r>
              <a:rPr lang="en-US" altLang="zh-CN" sz="800">
                <a:solidFill>
                  <a:srgbClr val="BBD7F0"/>
                </a:solidFill>
              </a:rPr>
              <a:t>03</a:t>
            </a:r>
            <a:endParaRPr lang="zh-CN" altLang="en-US" sz="800">
              <a:solidFill>
                <a:srgbClr val="BBD7F0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1386355-0832-FC17-7D74-36182EC9A7FB}"/>
              </a:ext>
            </a:extLst>
          </p:cNvPr>
          <p:cNvSpPr/>
          <p:nvPr/>
        </p:nvSpPr>
        <p:spPr bwMode="auto">
          <a:xfrm>
            <a:off x="8204200" y="584200"/>
            <a:ext cx="381000" cy="50800"/>
          </a:xfrm>
          <a:prstGeom prst="rect">
            <a:avLst/>
          </a:prstGeom>
          <a:solidFill>
            <a:srgbClr val="F2C14E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94CEC8D-85E8-A28E-2A32-9D3ACFBBE799}"/>
              </a:ext>
            </a:extLst>
          </p:cNvPr>
          <p:cNvSpPr/>
          <p:nvPr/>
        </p:nvSpPr>
        <p:spPr bwMode="auto">
          <a:xfrm>
            <a:off x="8737600" y="584200"/>
            <a:ext cx="381000" cy="50800"/>
          </a:xfrm>
          <a:prstGeom prst="rect">
            <a:avLst/>
          </a:prstGeom>
          <a:solidFill>
            <a:srgbClr val="5E8FC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B518FF2-797C-2D8A-62F8-132273ABE89B}"/>
              </a:ext>
            </a:extLst>
          </p:cNvPr>
          <p:cNvSpPr/>
          <p:nvPr/>
        </p:nvSpPr>
        <p:spPr bwMode="auto">
          <a:xfrm>
            <a:off x="9271000" y="584200"/>
            <a:ext cx="381000" cy="50800"/>
          </a:xfrm>
          <a:prstGeom prst="rect">
            <a:avLst/>
          </a:prstGeom>
          <a:solidFill>
            <a:srgbClr val="5E8FC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2E6AA86-1647-97F6-243A-7E18562A08A5}"/>
              </a:ext>
            </a:extLst>
          </p:cNvPr>
          <p:cNvSpPr/>
          <p:nvPr/>
        </p:nvSpPr>
        <p:spPr bwMode="auto">
          <a:xfrm>
            <a:off x="9804400" y="584200"/>
            <a:ext cx="381000" cy="50800"/>
          </a:xfrm>
          <a:prstGeom prst="rect">
            <a:avLst/>
          </a:prstGeom>
          <a:solidFill>
            <a:srgbClr val="5E8FC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F0C5AE8-5ACC-083E-05E6-3E1DD9EAA39C}"/>
              </a:ext>
            </a:extLst>
          </p:cNvPr>
          <p:cNvSpPr/>
          <p:nvPr/>
        </p:nvSpPr>
        <p:spPr bwMode="auto">
          <a:xfrm>
            <a:off x="10337800" y="584200"/>
            <a:ext cx="381000" cy="50800"/>
          </a:xfrm>
          <a:prstGeom prst="rect">
            <a:avLst/>
          </a:prstGeom>
          <a:solidFill>
            <a:srgbClr val="5E8FC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3B57D6E-A6B9-9A24-A3EF-71FFA2E7F35E}"/>
              </a:ext>
            </a:extLst>
          </p:cNvPr>
          <p:cNvSpPr txBox="1"/>
          <p:nvPr/>
        </p:nvSpPr>
        <p:spPr>
          <a:xfrm>
            <a:off x="8204200" y="711200"/>
            <a:ext cx="24638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r"/>
            <a:r>
              <a:rPr lang="en-US" altLang="zh-CN" sz="680" b="1">
                <a:solidFill>
                  <a:srgbClr val="BBD7F0"/>
                </a:solidFill>
              </a:rPr>
              <a:t>Problem</a:t>
            </a:r>
            <a:endParaRPr lang="zh-CN" altLang="en-US" sz="680" b="1">
              <a:solidFill>
                <a:srgbClr val="BBD7F0"/>
              </a:solidFill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F3AFAAE5-2C12-1B75-30AB-2D5D38F575EC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3200" y="6248400"/>
            <a:ext cx="2311400" cy="419100"/>
          </a:xfrm>
          <a:prstGeom prst="rect">
            <a:avLst/>
          </a:prstGeom>
        </p:spPr>
      </p:pic>
      <p:sp>
        <p:nvSpPr>
          <p:cNvPr id="17" name="矩形 16">
            <a:extLst>
              <a:ext uri="{FF2B5EF4-FFF2-40B4-BE49-F238E27FC236}">
                <a16:creationId xmlns:a16="http://schemas.microsoft.com/office/drawing/2014/main" id="{DFBB95B9-248A-065B-223D-8DC472B70FFE}"/>
              </a:ext>
            </a:extLst>
          </p:cNvPr>
          <p:cNvSpPr/>
          <p:nvPr/>
        </p:nvSpPr>
        <p:spPr bwMode="auto">
          <a:xfrm>
            <a:off x="1549400" y="2108200"/>
            <a:ext cx="2997200" cy="1473200"/>
          </a:xfrm>
          <a:prstGeom prst="rect">
            <a:avLst/>
          </a:prstGeom>
          <a:solidFill>
            <a:srgbClr val="FFF1F1"/>
          </a:solidFill>
          <a:ln w="10160" cap="flat" cmpd="sng" algn="ctr">
            <a:solidFill>
              <a:srgbClr val="F1B7B7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9F64D6B9-2E1D-69C2-F952-56FBB626B561}"/>
              </a:ext>
            </a:extLst>
          </p:cNvPr>
          <p:cNvSpPr txBox="1"/>
          <p:nvPr/>
        </p:nvSpPr>
        <p:spPr>
          <a:xfrm>
            <a:off x="1854200" y="2387600"/>
            <a:ext cx="19812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1000" b="1">
                <a:solidFill>
                  <a:srgbClr val="A32626"/>
                </a:solidFill>
              </a:rPr>
              <a:t>unsafe shortcut</a:t>
            </a:r>
            <a:endParaRPr lang="zh-CN" altLang="en-US" sz="1000" b="1">
              <a:solidFill>
                <a:srgbClr val="A32626"/>
              </a:solidFill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C8D5C7E8-DB86-22A9-9BB2-A14287A52942}"/>
              </a:ext>
            </a:extLst>
          </p:cNvPr>
          <p:cNvSpPr txBox="1"/>
          <p:nvPr/>
        </p:nvSpPr>
        <p:spPr>
          <a:xfrm>
            <a:off x="1854200" y="2844800"/>
            <a:ext cx="20828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2300" b="1">
                <a:solidFill>
                  <a:srgbClr val="A32626"/>
                </a:solidFill>
              </a:rPr>
              <a:t>score is high</a:t>
            </a:r>
            <a:endParaRPr lang="zh-CN" altLang="en-US" sz="2300" b="1">
              <a:solidFill>
                <a:srgbClr val="A32626"/>
              </a:solidFill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6CFA2DA-9B49-5FFD-EBE7-99FB49D91D2B}"/>
              </a:ext>
            </a:extLst>
          </p:cNvPr>
          <p:cNvSpPr txBox="1"/>
          <p:nvPr/>
        </p:nvSpPr>
        <p:spPr>
          <a:xfrm>
            <a:off x="1854200" y="3276600"/>
            <a:ext cx="20828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860">
                <a:solidFill>
                  <a:srgbClr val="334155"/>
                </a:solidFill>
              </a:rPr>
              <a:t>therefore owner / source / risk is proven</a:t>
            </a:r>
            <a:endParaRPr lang="zh-CN" altLang="en-US" sz="860">
              <a:solidFill>
                <a:srgbClr val="334155"/>
              </a:solidFill>
            </a:endParaRPr>
          </a:p>
        </p:txBody>
      </p: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1E10F213-8C7C-020F-16D1-0E5D71D0BB52}"/>
              </a:ext>
            </a:extLst>
          </p:cNvPr>
          <p:cNvCxnSpPr/>
          <p:nvPr/>
        </p:nvCxnSpPr>
        <p:spPr bwMode="auto">
          <a:xfrm>
            <a:off x="4927600" y="2844800"/>
            <a:ext cx="584200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BBD7F0"/>
            </a:solidFill>
            <a:prstDash val="solid"/>
            <a:round/>
            <a:headEnd type="none" w="med" len="med"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" name="矩形 21">
            <a:extLst>
              <a:ext uri="{FF2B5EF4-FFF2-40B4-BE49-F238E27FC236}">
                <a16:creationId xmlns:a16="http://schemas.microsoft.com/office/drawing/2014/main" id="{A8EB78F7-97AC-6AED-BD91-D89793F0519B}"/>
              </a:ext>
            </a:extLst>
          </p:cNvPr>
          <p:cNvSpPr/>
          <p:nvPr/>
        </p:nvSpPr>
        <p:spPr bwMode="auto">
          <a:xfrm>
            <a:off x="5791200" y="2006600"/>
            <a:ext cx="4495800" cy="1778000"/>
          </a:xfrm>
          <a:prstGeom prst="rect">
            <a:avLst/>
          </a:prstGeom>
          <a:solidFill>
            <a:srgbClr val="F4F8FD"/>
          </a:solidFill>
          <a:ln w="10160" cap="flat" cmpd="sng" algn="ctr">
            <a:solidFill>
              <a:srgbClr val="C7D7EA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E25C271-A4E2-9E73-B37E-1965069AE336}"/>
              </a:ext>
            </a:extLst>
          </p:cNvPr>
          <p:cNvSpPr txBox="1"/>
          <p:nvPr/>
        </p:nvSpPr>
        <p:spPr>
          <a:xfrm>
            <a:off x="6121400" y="2286000"/>
            <a:ext cx="22860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1000" b="1">
                <a:solidFill>
                  <a:srgbClr val="003B7A"/>
                </a:solidFill>
              </a:rPr>
              <a:t>evidence contract</a:t>
            </a:r>
            <a:endParaRPr lang="zh-CN" altLang="en-US" sz="1000" b="1">
              <a:solidFill>
                <a:srgbClr val="003B7A"/>
              </a:solidFill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6A725C6A-3B03-5CC7-D47B-476D8834064B}"/>
              </a:ext>
            </a:extLst>
          </p:cNvPr>
          <p:cNvSpPr txBox="1"/>
          <p:nvPr/>
        </p:nvSpPr>
        <p:spPr>
          <a:xfrm>
            <a:off x="6121400" y="2794000"/>
            <a:ext cx="36322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1800" b="1">
                <a:solidFill>
                  <a:srgbClr val="071A3D"/>
                </a:solidFill>
                <a:latin typeface="Cambria Math" panose="02040503050406030204" pitchFamily="18" charset="0"/>
              </a:rPr>
              <a:t>claim = f(score, denominator, controls, artifact, boundary)</a:t>
            </a:r>
            <a:endParaRPr lang="zh-CN" altLang="en-US" sz="1800" b="1">
              <a:solidFill>
                <a:srgbClr val="071A3D"/>
              </a:solidFill>
              <a:latin typeface="Cambria Math" panose="02040503050406030204" pitchFamily="18" charset="0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171D61FD-9C6D-2D7A-94C2-E2FF93C2AFDB}"/>
              </a:ext>
            </a:extLst>
          </p:cNvPr>
          <p:cNvSpPr txBox="1"/>
          <p:nvPr/>
        </p:nvSpPr>
        <p:spPr>
          <a:xfrm>
            <a:off x="6121400" y="3429000"/>
            <a:ext cx="34798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900" b="1">
                <a:solidFill>
                  <a:srgbClr val="334155"/>
                </a:solidFill>
              </a:rPr>
              <a:t>The boundary is part of the result, not an afterthought.</a:t>
            </a:r>
            <a:endParaRPr lang="zh-CN" altLang="en-US" sz="900" b="1">
              <a:solidFill>
                <a:srgbClr val="334155"/>
              </a:solidFill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4AF8620-54D5-48A4-9E6B-F3212162FB6C}"/>
              </a:ext>
            </a:extLst>
          </p:cNvPr>
          <p:cNvSpPr/>
          <p:nvPr/>
        </p:nvSpPr>
        <p:spPr bwMode="auto">
          <a:xfrm>
            <a:off x="1600200" y="4572000"/>
            <a:ext cx="8661400" cy="660400"/>
          </a:xfrm>
          <a:prstGeom prst="rect">
            <a:avLst/>
          </a:prstGeom>
          <a:solidFill>
            <a:srgbClr val="0B4C92"/>
          </a:solidFill>
          <a:ln w="10160" cap="flat" cmpd="sng" algn="ctr">
            <a:solidFill>
              <a:srgbClr val="7EB0DD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C053D5BD-B3E0-73D2-43FA-5D0AFA1F0A0C}"/>
              </a:ext>
            </a:extLst>
          </p:cNvPr>
          <p:cNvSpPr txBox="1"/>
          <p:nvPr/>
        </p:nvSpPr>
        <p:spPr>
          <a:xfrm>
            <a:off x="1930400" y="4775200"/>
            <a:ext cx="22860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1000" b="1">
                <a:solidFill>
                  <a:srgbClr val="BBD7F0"/>
                </a:solidFill>
              </a:rPr>
              <a:t>WatermarkScope contribution</a:t>
            </a:r>
            <a:endParaRPr lang="zh-CN" altLang="en-US" sz="1000" b="1">
              <a:solidFill>
                <a:srgbClr val="BBD7F0"/>
              </a:solidFill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3BC43663-888D-4689-1864-D1FC3B0CBD80}"/>
              </a:ext>
            </a:extLst>
          </p:cNvPr>
          <p:cNvSpPr txBox="1"/>
          <p:nvPr/>
        </p:nvSpPr>
        <p:spPr>
          <a:xfrm>
            <a:off x="4241800" y="4762500"/>
            <a:ext cx="54610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1300" b="1">
                <a:solidFill>
                  <a:srgbClr val="FFFFFF"/>
                </a:solidFill>
              </a:rPr>
              <a:t>Turn watermark evaluation into auditable evidence admission.</a:t>
            </a:r>
            <a:endParaRPr lang="zh-CN" altLang="en-US" sz="1300" b="1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79977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 thruBlk="1"/>
      </p:transition>
    </mc:Choice>
    <mc:Fallback xmlns="">
      <p:transition spd="slow"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8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8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8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8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8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8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8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8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8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8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28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8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/>
      <p:bldP spid="19" grpId="0"/>
      <p:bldP spid="20" grpId="0"/>
      <p:bldP spid="22" grpId="0" animBg="1"/>
      <p:bldP spid="23" grpId="0"/>
      <p:bldP spid="24" grpId="0"/>
      <p:bldP spid="25" grpId="0"/>
      <p:bldP spid="26" grpId="0" animBg="1"/>
      <p:bldP spid="27" grpId="0"/>
      <p:bldP spid="2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BBA5924-7905-1C7A-5B8B-61C267FFC31F}"/>
              </a:ext>
            </a:extLst>
          </p:cNvPr>
          <p:cNvSpPr/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0E8E529-E369-D7AF-67D0-28CACCF177EC}"/>
              </a:ext>
            </a:extLst>
          </p:cNvPr>
          <p:cNvSpPr/>
          <p:nvPr/>
        </p:nvSpPr>
        <p:spPr bwMode="auto">
          <a:xfrm>
            <a:off x="0" y="0"/>
            <a:ext cx="685800" cy="6858000"/>
          </a:xfrm>
          <a:prstGeom prst="rect">
            <a:avLst/>
          </a:prstGeom>
          <a:solidFill>
            <a:srgbClr val="003B7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55CD9C1-F6B1-87AE-7164-17FB1AF401AA}"/>
              </a:ext>
            </a:extLst>
          </p:cNvPr>
          <p:cNvSpPr/>
          <p:nvPr/>
        </p:nvSpPr>
        <p:spPr bwMode="auto">
          <a:xfrm>
            <a:off x="685800" y="0"/>
            <a:ext cx="127000" cy="6858000"/>
          </a:xfrm>
          <a:prstGeom prst="rect">
            <a:avLst/>
          </a:prstGeom>
          <a:solidFill>
            <a:srgbClr val="6A9CCB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41E10EB-8CAE-583C-0C5B-F0094C74ED99}"/>
              </a:ext>
            </a:extLst>
          </p:cNvPr>
          <p:cNvSpPr txBox="1"/>
          <p:nvPr/>
        </p:nvSpPr>
        <p:spPr>
          <a:xfrm>
            <a:off x="1168400" y="431800"/>
            <a:ext cx="25400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850" b="1">
                <a:solidFill>
                  <a:srgbClr val="5E7699"/>
                </a:solidFill>
              </a:rPr>
              <a:t>Benchmark</a:t>
            </a:r>
            <a:endParaRPr lang="zh-CN" altLang="en-US" sz="850" b="1">
              <a:solidFill>
                <a:srgbClr val="5E7699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26E0309-360C-9EEB-BDFF-D500A6DAF53F}"/>
              </a:ext>
            </a:extLst>
          </p:cNvPr>
          <p:cNvSpPr txBox="1"/>
          <p:nvPr/>
        </p:nvSpPr>
        <p:spPr>
          <a:xfrm>
            <a:off x="1168400" y="736600"/>
            <a:ext cx="96520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2100" b="1">
                <a:solidFill>
                  <a:srgbClr val="071A3D"/>
                </a:solidFill>
              </a:rPr>
              <a:t>CodeMarkBench fixes what is counted before results are read</a:t>
            </a:r>
            <a:endParaRPr lang="zh-CN" altLang="en-US" sz="2100" b="1">
              <a:solidFill>
                <a:srgbClr val="071A3D"/>
              </a:solidFill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7FB1CF51-7907-06E5-4941-B2B842EE4E9A}"/>
              </a:ext>
            </a:extLst>
          </p:cNvPr>
          <p:cNvCxnSpPr/>
          <p:nvPr/>
        </p:nvCxnSpPr>
        <p:spPr bwMode="auto">
          <a:xfrm>
            <a:off x="1168400" y="1473200"/>
            <a:ext cx="957580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C7D7EA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AEB2BDE6-D0FE-DFC8-ECC4-41C1676B291E}"/>
              </a:ext>
            </a:extLst>
          </p:cNvPr>
          <p:cNvSpPr txBox="1"/>
          <p:nvPr/>
        </p:nvSpPr>
        <p:spPr>
          <a:xfrm>
            <a:off x="11480800" y="558800"/>
            <a:ext cx="3302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r"/>
            <a:r>
              <a:rPr lang="en-US" altLang="zh-CN" sz="800">
                <a:solidFill>
                  <a:srgbClr val="5E7699"/>
                </a:solidFill>
              </a:rPr>
              <a:t>04</a:t>
            </a:r>
            <a:endParaRPr lang="zh-CN" altLang="en-US" sz="800">
              <a:solidFill>
                <a:srgbClr val="5E7699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33445C6-53A6-9D1B-5946-723DF05A1AC7}"/>
              </a:ext>
            </a:extLst>
          </p:cNvPr>
          <p:cNvSpPr/>
          <p:nvPr/>
        </p:nvSpPr>
        <p:spPr bwMode="auto">
          <a:xfrm>
            <a:off x="8204200" y="533400"/>
            <a:ext cx="381000" cy="50800"/>
          </a:xfrm>
          <a:prstGeom prst="rect">
            <a:avLst/>
          </a:prstGeom>
          <a:solidFill>
            <a:srgbClr val="C7D7E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3F6F2F4-8FF3-69E8-D515-D658F699CE7C}"/>
              </a:ext>
            </a:extLst>
          </p:cNvPr>
          <p:cNvSpPr/>
          <p:nvPr/>
        </p:nvSpPr>
        <p:spPr bwMode="auto">
          <a:xfrm>
            <a:off x="8737600" y="533400"/>
            <a:ext cx="381000" cy="50800"/>
          </a:xfrm>
          <a:prstGeom prst="rect">
            <a:avLst/>
          </a:prstGeom>
          <a:solidFill>
            <a:srgbClr val="F2C14E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8449DE7-9319-776F-93DB-BD815B3FE06B}"/>
              </a:ext>
            </a:extLst>
          </p:cNvPr>
          <p:cNvSpPr/>
          <p:nvPr/>
        </p:nvSpPr>
        <p:spPr bwMode="auto">
          <a:xfrm>
            <a:off x="9271000" y="533400"/>
            <a:ext cx="381000" cy="50800"/>
          </a:xfrm>
          <a:prstGeom prst="rect">
            <a:avLst/>
          </a:prstGeom>
          <a:solidFill>
            <a:srgbClr val="C7D7E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7944813-0BE5-51DB-0113-BF46D4ABADB7}"/>
              </a:ext>
            </a:extLst>
          </p:cNvPr>
          <p:cNvSpPr/>
          <p:nvPr/>
        </p:nvSpPr>
        <p:spPr bwMode="auto">
          <a:xfrm>
            <a:off x="9804400" y="533400"/>
            <a:ext cx="381000" cy="50800"/>
          </a:xfrm>
          <a:prstGeom prst="rect">
            <a:avLst/>
          </a:prstGeom>
          <a:solidFill>
            <a:srgbClr val="C7D7E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F83B544-6778-684E-4985-C3CEF26B24AF}"/>
              </a:ext>
            </a:extLst>
          </p:cNvPr>
          <p:cNvSpPr/>
          <p:nvPr/>
        </p:nvSpPr>
        <p:spPr bwMode="auto">
          <a:xfrm>
            <a:off x="10337800" y="533400"/>
            <a:ext cx="381000" cy="50800"/>
          </a:xfrm>
          <a:prstGeom prst="rect">
            <a:avLst/>
          </a:prstGeom>
          <a:solidFill>
            <a:srgbClr val="C7D7E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2A3B888-3A09-6EC1-7001-5F18111A528F}"/>
              </a:ext>
            </a:extLst>
          </p:cNvPr>
          <p:cNvSpPr txBox="1"/>
          <p:nvPr/>
        </p:nvSpPr>
        <p:spPr>
          <a:xfrm>
            <a:off x="8204200" y="660400"/>
            <a:ext cx="24638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r"/>
            <a:r>
              <a:rPr lang="en-US" altLang="zh-CN" sz="680" b="1">
                <a:solidFill>
                  <a:srgbClr val="5E7699"/>
                </a:solidFill>
              </a:rPr>
              <a:t>Evidence</a:t>
            </a:r>
            <a:endParaRPr lang="zh-CN" altLang="en-US" sz="680" b="1">
              <a:solidFill>
                <a:srgbClr val="5E7699"/>
              </a:solidFill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B7199773-77B3-B734-9179-B5167CB2CF5E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000" y="6248400"/>
            <a:ext cx="2413000" cy="431800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B670AB9C-D163-9A53-2401-0972E1EFD6CB}"/>
              </a:ext>
            </a:extLst>
          </p:cNvPr>
          <p:cNvSpPr txBox="1"/>
          <p:nvPr/>
        </p:nvSpPr>
        <p:spPr>
          <a:xfrm>
            <a:off x="1117600" y="6451600"/>
            <a:ext cx="26670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750">
                <a:solidFill>
                  <a:srgbClr val="6A7FA0"/>
                </a:solidFill>
              </a:rPr>
              <a:t>WatermarkScope FYP Viva</a:t>
            </a:r>
            <a:endParaRPr lang="zh-CN" altLang="en-US" sz="750">
              <a:solidFill>
                <a:srgbClr val="6A7FA0"/>
              </a:solidFill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6F12093E-64A1-A356-C8FE-220D9722CA51}"/>
              </a:ext>
            </a:extLst>
          </p:cNvPr>
          <p:cNvSpPr txBox="1"/>
          <p:nvPr/>
        </p:nvSpPr>
        <p:spPr>
          <a:xfrm>
            <a:off x="4851400" y="6451600"/>
            <a:ext cx="21590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CN" sz="750">
                <a:solidFill>
                  <a:srgbClr val="6A7FA0"/>
                </a:solidFill>
              </a:rPr>
              <a:t>Haoyi Zhang | 2254912</a:t>
            </a:r>
            <a:endParaRPr lang="zh-CN" altLang="en-US" sz="750">
              <a:solidFill>
                <a:srgbClr val="6A7FA0"/>
              </a:solidFill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787AEDC3-BA56-7C34-80C0-1710A0EBA3BB}"/>
              </a:ext>
            </a:extLst>
          </p:cNvPr>
          <p:cNvSpPr txBox="1"/>
          <p:nvPr/>
        </p:nvSpPr>
        <p:spPr>
          <a:xfrm>
            <a:off x="1168400" y="1752600"/>
            <a:ext cx="100330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1280" b="1">
                <a:solidFill>
                  <a:srgbClr val="071A3D"/>
                </a:solidFill>
              </a:rPr>
              <a:t>A claim is only interpretable when the denominator and artifact row are fixed in advance.</a:t>
            </a:r>
            <a:endParaRPr lang="zh-CN" altLang="en-US" sz="1280" b="1">
              <a:solidFill>
                <a:srgbClr val="071A3D"/>
              </a:solidFill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C81AC66-035A-0251-0865-76F67FFCC81E}"/>
              </a:ext>
            </a:extLst>
          </p:cNvPr>
          <p:cNvSpPr/>
          <p:nvPr/>
        </p:nvSpPr>
        <p:spPr bwMode="auto">
          <a:xfrm>
            <a:off x="1371600" y="2362200"/>
            <a:ext cx="2844800" cy="2590800"/>
          </a:xfrm>
          <a:prstGeom prst="rect">
            <a:avLst/>
          </a:prstGeom>
          <a:solidFill>
            <a:srgbClr val="003B7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22B41E3-C03A-85ED-0081-B16EFC422C35}"/>
              </a:ext>
            </a:extLst>
          </p:cNvPr>
          <p:cNvSpPr txBox="1"/>
          <p:nvPr/>
        </p:nvSpPr>
        <p:spPr>
          <a:xfrm>
            <a:off x="1727200" y="2692400"/>
            <a:ext cx="17780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1000" b="1">
                <a:solidFill>
                  <a:srgbClr val="DCEBFA"/>
                </a:solidFill>
              </a:rPr>
              <a:t>locked surface</a:t>
            </a:r>
            <a:endParaRPr lang="zh-CN" altLang="en-US" sz="1000" b="1">
              <a:solidFill>
                <a:srgbClr val="DCEBFA"/>
              </a:solidFill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D00D8B7-F432-679C-F6EC-814D217B6D8C}"/>
              </a:ext>
            </a:extLst>
          </p:cNvPr>
          <p:cNvSpPr txBox="1"/>
          <p:nvPr/>
        </p:nvSpPr>
        <p:spPr>
          <a:xfrm>
            <a:off x="1727200" y="3200400"/>
            <a:ext cx="2108200" cy="45720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3400" b="1">
                <a:solidFill>
                  <a:srgbClr val="FFFFFF"/>
                </a:solidFill>
              </a:rPr>
              <a:t>140 / 140</a:t>
            </a:r>
            <a:endParaRPr lang="zh-CN" altLang="en-US" sz="3400" b="1">
              <a:solidFill>
                <a:srgbClr val="FFFFFF"/>
              </a:solidFill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A2C9AC15-8F80-0448-EE48-E8174DB447E4}"/>
              </a:ext>
            </a:extLst>
          </p:cNvPr>
          <p:cNvSpPr txBox="1"/>
          <p:nvPr/>
        </p:nvSpPr>
        <p:spPr>
          <a:xfrm>
            <a:off x="1727200" y="3886200"/>
            <a:ext cx="20828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1100" b="1">
                <a:solidFill>
                  <a:srgbClr val="DCEBFA"/>
                </a:solidFill>
              </a:rPr>
              <a:t>canonical executable runs</a:t>
            </a:r>
            <a:endParaRPr lang="zh-CN" altLang="en-US" sz="1100" b="1">
              <a:solidFill>
                <a:srgbClr val="DCEBFA"/>
              </a:solidFill>
            </a:endParaRPr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1CE8F1E5-0E29-4965-0128-AC8304B6D20B}"/>
              </a:ext>
            </a:extLst>
          </p:cNvPr>
          <p:cNvCxnSpPr/>
          <p:nvPr/>
        </p:nvCxnSpPr>
        <p:spPr bwMode="auto">
          <a:xfrm>
            <a:off x="1727200" y="4318000"/>
            <a:ext cx="2133600" cy="0"/>
          </a:xfrm>
          <a:prstGeom prst="line">
            <a:avLst/>
          </a:prstGeom>
          <a:solidFill>
            <a:schemeClr val="accent1"/>
          </a:solidFill>
          <a:ln w="11430" cap="flat" cmpd="sng" algn="ctr">
            <a:solidFill>
              <a:srgbClr val="8EC5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2104E47C-CBA3-AECC-4388-2A3361825274}"/>
              </a:ext>
            </a:extLst>
          </p:cNvPr>
          <p:cNvSpPr txBox="1"/>
          <p:nvPr/>
        </p:nvSpPr>
        <p:spPr>
          <a:xfrm>
            <a:off x="1727200" y="4521200"/>
            <a:ext cx="21082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880" b="1">
                <a:solidFill>
                  <a:srgbClr val="DCEBFA"/>
                </a:solidFill>
              </a:rPr>
              <a:t>counted before interpretation</a:t>
            </a:r>
            <a:endParaRPr lang="zh-CN" altLang="en-US" sz="880" b="1">
              <a:solidFill>
                <a:srgbClr val="DCEBFA"/>
              </a:solidFill>
            </a:endParaRPr>
          </a:p>
        </p:txBody>
      </p: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16B876A9-1B13-FAB7-F9F0-CBC723A4817D}"/>
              </a:ext>
            </a:extLst>
          </p:cNvPr>
          <p:cNvCxnSpPr/>
          <p:nvPr/>
        </p:nvCxnSpPr>
        <p:spPr bwMode="auto">
          <a:xfrm>
            <a:off x="4445000" y="3657600"/>
            <a:ext cx="685800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003B7A"/>
            </a:solidFill>
            <a:prstDash val="solid"/>
            <a:round/>
            <a:headEnd type="none" w="med" len="med"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7" name="矩形 26">
            <a:extLst>
              <a:ext uri="{FF2B5EF4-FFF2-40B4-BE49-F238E27FC236}">
                <a16:creationId xmlns:a16="http://schemas.microsoft.com/office/drawing/2014/main" id="{5D7B5669-41E6-CB80-A055-80E4569D4AC4}"/>
              </a:ext>
            </a:extLst>
          </p:cNvPr>
          <p:cNvSpPr/>
          <p:nvPr/>
        </p:nvSpPr>
        <p:spPr bwMode="auto">
          <a:xfrm>
            <a:off x="5435600" y="2336800"/>
            <a:ext cx="4953000" cy="2616200"/>
          </a:xfrm>
          <a:prstGeom prst="rect">
            <a:avLst/>
          </a:prstGeom>
          <a:solidFill>
            <a:srgbClr val="FFFFFF"/>
          </a:solidFill>
          <a:ln w="11430" cap="flat" cmpd="sng" algn="ctr">
            <a:solidFill>
              <a:srgbClr val="C7D7EA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0CD13CD2-9548-5E3C-8592-56410E384286}"/>
              </a:ext>
            </a:extLst>
          </p:cNvPr>
          <p:cNvSpPr txBox="1"/>
          <p:nvPr/>
        </p:nvSpPr>
        <p:spPr>
          <a:xfrm>
            <a:off x="5791200" y="2616200"/>
            <a:ext cx="26670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1000" b="1">
                <a:solidFill>
                  <a:srgbClr val="003B7A"/>
                </a:solidFill>
              </a:rPr>
              <a:t>admitted benchmark evidence</a:t>
            </a:r>
            <a:endParaRPr lang="zh-CN" altLang="en-US" sz="1000" b="1">
              <a:solidFill>
                <a:srgbClr val="003B7A"/>
              </a:solidFill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ADB8BA22-6C66-2C20-CF8C-601793876CCA}"/>
              </a:ext>
            </a:extLst>
          </p:cNvPr>
          <p:cNvSpPr txBox="1"/>
          <p:nvPr/>
        </p:nvSpPr>
        <p:spPr>
          <a:xfrm>
            <a:off x="5842000" y="3098800"/>
            <a:ext cx="3556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CN" sz="1400" b="1">
                <a:solidFill>
                  <a:srgbClr val="003B7A"/>
                </a:solidFill>
                <a:latin typeface="Cambria Math" panose="02040503050406030204" pitchFamily="18" charset="0"/>
              </a:rPr>
              <a:t>D</a:t>
            </a:r>
            <a:endParaRPr lang="zh-CN" altLang="en-US" sz="1400" b="1">
              <a:solidFill>
                <a:srgbClr val="003B7A"/>
              </a:solidFill>
              <a:latin typeface="Cambria Math" panose="02040503050406030204" pitchFamily="18" charset="0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B65F278F-FA02-5CCA-C896-1B7AA652203E}"/>
              </a:ext>
            </a:extLst>
          </p:cNvPr>
          <p:cNvSpPr txBox="1"/>
          <p:nvPr/>
        </p:nvSpPr>
        <p:spPr>
          <a:xfrm>
            <a:off x="6375400" y="3111500"/>
            <a:ext cx="14732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880" b="1">
                <a:solidFill>
                  <a:srgbClr val="5E7699"/>
                </a:solidFill>
              </a:rPr>
              <a:t>denominator</a:t>
            </a:r>
            <a:endParaRPr lang="zh-CN" altLang="en-US" sz="880" b="1">
              <a:solidFill>
                <a:srgbClr val="5E7699"/>
              </a:solidFill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A5BD8B8E-8A8C-D178-61CD-D2522AA56A31}"/>
              </a:ext>
            </a:extLst>
          </p:cNvPr>
          <p:cNvSpPr txBox="1"/>
          <p:nvPr/>
        </p:nvSpPr>
        <p:spPr>
          <a:xfrm>
            <a:off x="8051800" y="3111500"/>
            <a:ext cx="19050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980" b="1">
                <a:solidFill>
                  <a:srgbClr val="071A3D"/>
                </a:solidFill>
              </a:rPr>
              <a:t>140</a:t>
            </a:r>
            <a:endParaRPr lang="zh-CN" altLang="en-US" sz="980" b="1">
              <a:solidFill>
                <a:srgbClr val="071A3D"/>
              </a:solidFill>
            </a:endParaRPr>
          </a:p>
        </p:txBody>
      </p: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A26AC195-CABF-3E65-0938-1E1EFE2F46FB}"/>
              </a:ext>
            </a:extLst>
          </p:cNvPr>
          <p:cNvCxnSpPr/>
          <p:nvPr/>
        </p:nvCxnSpPr>
        <p:spPr bwMode="auto">
          <a:xfrm>
            <a:off x="5816600" y="3403600"/>
            <a:ext cx="4165600" cy="0"/>
          </a:xfrm>
          <a:prstGeom prst="line">
            <a:avLst/>
          </a:prstGeom>
          <a:solidFill>
            <a:schemeClr val="accent1"/>
          </a:solidFill>
          <a:ln w="8890" cap="flat" cmpd="sng" algn="ctr">
            <a:solidFill>
              <a:srgbClr val="D6E2F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3" name="文本框 32">
            <a:extLst>
              <a:ext uri="{FF2B5EF4-FFF2-40B4-BE49-F238E27FC236}">
                <a16:creationId xmlns:a16="http://schemas.microsoft.com/office/drawing/2014/main" id="{95B14F8F-2C20-8A46-A201-3BEBCB19AAC3}"/>
              </a:ext>
            </a:extLst>
          </p:cNvPr>
          <p:cNvSpPr txBox="1"/>
          <p:nvPr/>
        </p:nvSpPr>
        <p:spPr>
          <a:xfrm>
            <a:off x="5842000" y="3530600"/>
            <a:ext cx="3556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CN" sz="1400" b="1">
                <a:solidFill>
                  <a:srgbClr val="003B7A"/>
                </a:solidFill>
                <a:latin typeface="Cambria Math" panose="02040503050406030204" pitchFamily="18" charset="0"/>
              </a:rPr>
              <a:t>A</a:t>
            </a:r>
            <a:endParaRPr lang="zh-CN" altLang="en-US" sz="1400" b="1">
              <a:solidFill>
                <a:srgbClr val="003B7A"/>
              </a:solidFill>
              <a:latin typeface="Cambria Math" panose="02040503050406030204" pitchFamily="18" charset="0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21321958-81E4-5D72-EAF5-87EDF46455EE}"/>
              </a:ext>
            </a:extLst>
          </p:cNvPr>
          <p:cNvSpPr txBox="1"/>
          <p:nvPr/>
        </p:nvSpPr>
        <p:spPr>
          <a:xfrm>
            <a:off x="6375400" y="3543300"/>
            <a:ext cx="14732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880" b="1">
                <a:solidFill>
                  <a:srgbClr val="5E7699"/>
                </a:solidFill>
              </a:rPr>
              <a:t>artifact</a:t>
            </a:r>
            <a:endParaRPr lang="zh-CN" altLang="en-US" sz="880" b="1">
              <a:solidFill>
                <a:srgbClr val="5E7699"/>
              </a:solidFill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D8A9D032-9A84-E07A-0C0B-603B3CD21650}"/>
              </a:ext>
            </a:extLst>
          </p:cNvPr>
          <p:cNvSpPr txBox="1"/>
          <p:nvPr/>
        </p:nvSpPr>
        <p:spPr>
          <a:xfrm>
            <a:off x="8051800" y="3543300"/>
            <a:ext cx="19050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980" b="1">
                <a:solidFill>
                  <a:srgbClr val="071A3D"/>
                </a:solidFill>
              </a:rPr>
              <a:t>run_inventory.csv</a:t>
            </a:r>
            <a:endParaRPr lang="zh-CN" altLang="en-US" sz="980" b="1">
              <a:solidFill>
                <a:srgbClr val="071A3D"/>
              </a:solidFill>
            </a:endParaRPr>
          </a:p>
        </p:txBody>
      </p: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E114BBCF-2032-5051-3594-0BB9D0EAF051}"/>
              </a:ext>
            </a:extLst>
          </p:cNvPr>
          <p:cNvCxnSpPr/>
          <p:nvPr/>
        </p:nvCxnSpPr>
        <p:spPr bwMode="auto">
          <a:xfrm>
            <a:off x="5816600" y="3835400"/>
            <a:ext cx="4165600" cy="0"/>
          </a:xfrm>
          <a:prstGeom prst="line">
            <a:avLst/>
          </a:prstGeom>
          <a:solidFill>
            <a:schemeClr val="accent1"/>
          </a:solidFill>
          <a:ln w="8890" cap="flat" cmpd="sng" algn="ctr">
            <a:solidFill>
              <a:srgbClr val="D6E2F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7" name="文本框 36">
            <a:extLst>
              <a:ext uri="{FF2B5EF4-FFF2-40B4-BE49-F238E27FC236}">
                <a16:creationId xmlns:a16="http://schemas.microsoft.com/office/drawing/2014/main" id="{1FB360BC-16B9-134E-3F70-F8C8A4732F0A}"/>
              </a:ext>
            </a:extLst>
          </p:cNvPr>
          <p:cNvSpPr txBox="1"/>
          <p:nvPr/>
        </p:nvSpPr>
        <p:spPr>
          <a:xfrm>
            <a:off x="5842000" y="3962400"/>
            <a:ext cx="3556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CN" sz="1400" b="1">
                <a:solidFill>
                  <a:srgbClr val="003B7A"/>
                </a:solidFill>
                <a:latin typeface="Cambria Math" panose="02040503050406030204" pitchFamily="18" charset="0"/>
              </a:rPr>
              <a:t>H</a:t>
            </a:r>
            <a:endParaRPr lang="zh-CN" altLang="en-US" sz="1400" b="1">
              <a:solidFill>
                <a:srgbClr val="003B7A"/>
              </a:solidFill>
              <a:latin typeface="Cambria Math" panose="02040503050406030204" pitchFamily="18" charset="0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7F618277-BBDF-EC67-7FEA-3DD116B5B5FD}"/>
              </a:ext>
            </a:extLst>
          </p:cNvPr>
          <p:cNvSpPr txBox="1"/>
          <p:nvPr/>
        </p:nvSpPr>
        <p:spPr>
          <a:xfrm>
            <a:off x="6375400" y="3975100"/>
            <a:ext cx="14732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880" b="1">
                <a:solidFill>
                  <a:srgbClr val="5E7699"/>
                </a:solidFill>
              </a:rPr>
              <a:t>hash</a:t>
            </a:r>
            <a:endParaRPr lang="zh-CN" altLang="en-US" sz="880" b="1">
              <a:solidFill>
                <a:srgbClr val="5E7699"/>
              </a:solidFill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1469D4ED-5FD7-DEBB-8410-8BC8BA0EBBDF}"/>
              </a:ext>
            </a:extLst>
          </p:cNvPr>
          <p:cNvSpPr txBox="1"/>
          <p:nvPr/>
        </p:nvSpPr>
        <p:spPr>
          <a:xfrm>
            <a:off x="8051800" y="3975100"/>
            <a:ext cx="19050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980" b="1">
                <a:solidFill>
                  <a:srgbClr val="071A3D"/>
                </a:solidFill>
              </a:rPr>
              <a:t>sha256-bound row</a:t>
            </a:r>
            <a:endParaRPr lang="zh-CN" altLang="en-US" sz="980" b="1">
              <a:solidFill>
                <a:srgbClr val="071A3D"/>
              </a:solidFill>
            </a:endParaRPr>
          </a:p>
        </p:txBody>
      </p: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AE1A1B8F-7EA6-A087-8B0F-BF6A802E7AFB}"/>
              </a:ext>
            </a:extLst>
          </p:cNvPr>
          <p:cNvCxnSpPr/>
          <p:nvPr/>
        </p:nvCxnSpPr>
        <p:spPr bwMode="auto">
          <a:xfrm>
            <a:off x="5816600" y="4267200"/>
            <a:ext cx="4165600" cy="0"/>
          </a:xfrm>
          <a:prstGeom prst="line">
            <a:avLst/>
          </a:prstGeom>
          <a:solidFill>
            <a:schemeClr val="accent1"/>
          </a:solidFill>
          <a:ln w="8890" cap="flat" cmpd="sng" algn="ctr">
            <a:solidFill>
              <a:srgbClr val="D6E2F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1" name="文本框 40">
            <a:extLst>
              <a:ext uri="{FF2B5EF4-FFF2-40B4-BE49-F238E27FC236}">
                <a16:creationId xmlns:a16="http://schemas.microsoft.com/office/drawing/2014/main" id="{55149207-1DD9-492C-8E7F-8C367319FBB5}"/>
              </a:ext>
            </a:extLst>
          </p:cNvPr>
          <p:cNvSpPr txBox="1"/>
          <p:nvPr/>
        </p:nvSpPr>
        <p:spPr>
          <a:xfrm>
            <a:off x="5842000" y="4394200"/>
            <a:ext cx="3556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CN" sz="1400" b="1">
                <a:solidFill>
                  <a:srgbClr val="003B7A"/>
                </a:solidFill>
                <a:latin typeface="Cambria Math" panose="02040503050406030204" pitchFamily="18" charset="0"/>
              </a:rPr>
              <a:t>B</a:t>
            </a:r>
            <a:endParaRPr lang="zh-CN" altLang="en-US" sz="1400" b="1">
              <a:solidFill>
                <a:srgbClr val="003B7A"/>
              </a:solidFill>
              <a:latin typeface="Cambria Math" panose="02040503050406030204" pitchFamily="18" charset="0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712883A8-7633-8466-E450-0FECD4E7C90B}"/>
              </a:ext>
            </a:extLst>
          </p:cNvPr>
          <p:cNvSpPr txBox="1"/>
          <p:nvPr/>
        </p:nvSpPr>
        <p:spPr>
          <a:xfrm>
            <a:off x="6375400" y="4406900"/>
            <a:ext cx="14732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880" b="1">
                <a:solidFill>
                  <a:srgbClr val="5E7699"/>
                </a:solidFill>
              </a:rPr>
              <a:t>boundary</a:t>
            </a:r>
            <a:endParaRPr lang="zh-CN" altLang="en-US" sz="880" b="1">
              <a:solidFill>
                <a:srgbClr val="5E7699"/>
              </a:solidFill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0A56075E-B021-DFCB-9BF9-865F76A5E0BA}"/>
              </a:ext>
            </a:extLst>
          </p:cNvPr>
          <p:cNvSpPr txBox="1"/>
          <p:nvPr/>
        </p:nvSpPr>
        <p:spPr>
          <a:xfrm>
            <a:off x="8051800" y="4406900"/>
            <a:ext cx="19050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980" b="1">
                <a:solidFill>
                  <a:srgbClr val="071A3D"/>
                </a:solidFill>
              </a:rPr>
              <a:t>benchmark support only</a:t>
            </a:r>
            <a:endParaRPr lang="zh-CN" altLang="en-US" sz="980" b="1">
              <a:solidFill>
                <a:srgbClr val="071A3D"/>
              </a:solidFill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4D50CABE-7973-FBAB-EA66-A0854F2FC854}"/>
              </a:ext>
            </a:extLst>
          </p:cNvPr>
          <p:cNvSpPr/>
          <p:nvPr/>
        </p:nvSpPr>
        <p:spPr bwMode="auto">
          <a:xfrm>
            <a:off x="2514600" y="5334000"/>
            <a:ext cx="7162800" cy="457200"/>
          </a:xfrm>
          <a:prstGeom prst="rect">
            <a:avLst/>
          </a:prstGeom>
          <a:solidFill>
            <a:srgbClr val="FFF8E8"/>
          </a:solidFill>
          <a:ln w="10160" cap="flat" cmpd="sng" algn="ctr">
            <a:solidFill>
              <a:srgbClr val="F2C14E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EF8C63C1-0E44-D5E0-BF07-7561AB319F7C}"/>
              </a:ext>
            </a:extLst>
          </p:cNvPr>
          <p:cNvSpPr txBox="1"/>
          <p:nvPr/>
        </p:nvSpPr>
        <p:spPr>
          <a:xfrm>
            <a:off x="2870200" y="5473700"/>
            <a:ext cx="64516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CN" sz="1000" b="1">
                <a:solidFill>
                  <a:srgbClr val="071A3D"/>
                </a:solidFill>
              </a:rPr>
              <a:t>The row is admitted before the number is interpreted.</a:t>
            </a:r>
            <a:endParaRPr lang="zh-CN" altLang="en-US" sz="1000" b="1">
              <a:solidFill>
                <a:srgbClr val="071A3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9784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 thruBlk="1"/>
      </p:transition>
    </mc:Choice>
    <mc:Fallback xmlns="">
      <p:transition spd="slow"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8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8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8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8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8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8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8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8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8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8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8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8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28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28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28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28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28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8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28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28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28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28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8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28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28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28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/>
      <p:bldP spid="22" grpId="0"/>
      <p:bldP spid="23" grpId="0"/>
      <p:bldP spid="25" grpId="0"/>
      <p:bldP spid="27" grpId="0" animBg="1"/>
      <p:bldP spid="28" grpId="0"/>
      <p:bldP spid="29" grpId="0"/>
      <p:bldP spid="30" grpId="0"/>
      <p:bldP spid="31" grpId="0"/>
      <p:bldP spid="33" grpId="0"/>
      <p:bldP spid="34" grpId="0"/>
      <p:bldP spid="35" grpId="0"/>
      <p:bldP spid="37" grpId="0"/>
      <p:bldP spid="38" grpId="0"/>
      <p:bldP spid="39" grpId="0"/>
      <p:bldP spid="41" grpId="0"/>
      <p:bldP spid="42" grpId="0"/>
      <p:bldP spid="43" grpId="0"/>
      <p:bldP spid="44" grpId="0" animBg="1"/>
      <p:bldP spid="4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3BA4438-BE72-112C-3BDF-FB0E065B2057}"/>
              </a:ext>
            </a:extLst>
          </p:cNvPr>
          <p:cNvSpPr/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DF4B557-3E6C-40D0-26D2-1486099CB4F0}"/>
              </a:ext>
            </a:extLst>
          </p:cNvPr>
          <p:cNvSpPr/>
          <p:nvPr/>
        </p:nvSpPr>
        <p:spPr bwMode="auto">
          <a:xfrm>
            <a:off x="0" y="0"/>
            <a:ext cx="685800" cy="6858000"/>
          </a:xfrm>
          <a:prstGeom prst="rect">
            <a:avLst/>
          </a:prstGeom>
          <a:solidFill>
            <a:srgbClr val="003B7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B5C238A-5687-07EB-59E0-939D0CC364DC}"/>
              </a:ext>
            </a:extLst>
          </p:cNvPr>
          <p:cNvSpPr/>
          <p:nvPr/>
        </p:nvSpPr>
        <p:spPr bwMode="auto">
          <a:xfrm>
            <a:off x="685800" y="0"/>
            <a:ext cx="127000" cy="6858000"/>
          </a:xfrm>
          <a:prstGeom prst="rect">
            <a:avLst/>
          </a:prstGeom>
          <a:solidFill>
            <a:srgbClr val="6A9CCB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9E774AF-20D3-2AF0-3503-2C6798E54FCD}"/>
              </a:ext>
            </a:extLst>
          </p:cNvPr>
          <p:cNvSpPr txBox="1"/>
          <p:nvPr/>
        </p:nvSpPr>
        <p:spPr>
          <a:xfrm>
            <a:off x="1168400" y="431800"/>
            <a:ext cx="25400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850" b="1">
                <a:solidFill>
                  <a:srgbClr val="5E7699"/>
                </a:solidFill>
              </a:rPr>
              <a:t>Framework</a:t>
            </a:r>
            <a:endParaRPr lang="zh-CN" altLang="en-US" sz="850" b="1">
              <a:solidFill>
                <a:srgbClr val="5E7699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7DC63DF-978C-4648-6E21-26040B8B9D61}"/>
              </a:ext>
            </a:extLst>
          </p:cNvPr>
          <p:cNvSpPr txBox="1"/>
          <p:nvPr/>
        </p:nvSpPr>
        <p:spPr>
          <a:xfrm>
            <a:off x="1168400" y="736600"/>
            <a:ext cx="96520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b="1">
                <a:solidFill>
                  <a:srgbClr val="071A3D"/>
                </a:solidFill>
              </a:rPr>
              <a:t>Five audit questions, one shared evidence contract</a:t>
            </a:r>
            <a:endParaRPr lang="zh-CN" altLang="en-US" b="1">
              <a:solidFill>
                <a:srgbClr val="071A3D"/>
              </a:solidFill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417EB521-9E5F-85AE-7C0D-1B7387FD8D7E}"/>
              </a:ext>
            </a:extLst>
          </p:cNvPr>
          <p:cNvCxnSpPr/>
          <p:nvPr/>
        </p:nvCxnSpPr>
        <p:spPr bwMode="auto">
          <a:xfrm>
            <a:off x="1168400" y="1473200"/>
            <a:ext cx="957580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C7D7EA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099CFDBF-41DD-87C2-E1CB-4819FB9B2383}"/>
              </a:ext>
            </a:extLst>
          </p:cNvPr>
          <p:cNvSpPr txBox="1"/>
          <p:nvPr/>
        </p:nvSpPr>
        <p:spPr>
          <a:xfrm>
            <a:off x="11480800" y="558800"/>
            <a:ext cx="3302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r"/>
            <a:r>
              <a:rPr lang="en-US" altLang="zh-CN" sz="800">
                <a:solidFill>
                  <a:srgbClr val="5E7699"/>
                </a:solidFill>
              </a:rPr>
              <a:t>05</a:t>
            </a:r>
            <a:endParaRPr lang="zh-CN" altLang="en-US" sz="800">
              <a:solidFill>
                <a:srgbClr val="5E7699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B006C34-6EC2-6C36-9D82-A4A52A390588}"/>
              </a:ext>
            </a:extLst>
          </p:cNvPr>
          <p:cNvSpPr/>
          <p:nvPr/>
        </p:nvSpPr>
        <p:spPr bwMode="auto">
          <a:xfrm>
            <a:off x="8204200" y="533400"/>
            <a:ext cx="381000" cy="50800"/>
          </a:xfrm>
          <a:prstGeom prst="rect">
            <a:avLst/>
          </a:prstGeom>
          <a:solidFill>
            <a:srgbClr val="C7D7E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B8B5DBF-2026-10DD-51A7-C8F19E319E2A}"/>
              </a:ext>
            </a:extLst>
          </p:cNvPr>
          <p:cNvSpPr/>
          <p:nvPr/>
        </p:nvSpPr>
        <p:spPr bwMode="auto">
          <a:xfrm>
            <a:off x="8737600" y="533400"/>
            <a:ext cx="381000" cy="50800"/>
          </a:xfrm>
          <a:prstGeom prst="rect">
            <a:avLst/>
          </a:prstGeom>
          <a:solidFill>
            <a:srgbClr val="F2C14E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4641A7B-C321-F7ED-F202-F776D65803DC}"/>
              </a:ext>
            </a:extLst>
          </p:cNvPr>
          <p:cNvSpPr/>
          <p:nvPr/>
        </p:nvSpPr>
        <p:spPr bwMode="auto">
          <a:xfrm>
            <a:off x="9271000" y="533400"/>
            <a:ext cx="381000" cy="50800"/>
          </a:xfrm>
          <a:prstGeom prst="rect">
            <a:avLst/>
          </a:prstGeom>
          <a:solidFill>
            <a:srgbClr val="C7D7E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AC483A9-26A0-2103-1539-34E43C5EF274}"/>
              </a:ext>
            </a:extLst>
          </p:cNvPr>
          <p:cNvSpPr/>
          <p:nvPr/>
        </p:nvSpPr>
        <p:spPr bwMode="auto">
          <a:xfrm>
            <a:off x="9804400" y="533400"/>
            <a:ext cx="381000" cy="50800"/>
          </a:xfrm>
          <a:prstGeom prst="rect">
            <a:avLst/>
          </a:prstGeom>
          <a:solidFill>
            <a:srgbClr val="C7D7E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4D21A05-8BD3-441B-EC9C-04131947AA77}"/>
              </a:ext>
            </a:extLst>
          </p:cNvPr>
          <p:cNvSpPr/>
          <p:nvPr/>
        </p:nvSpPr>
        <p:spPr bwMode="auto">
          <a:xfrm>
            <a:off x="10337800" y="533400"/>
            <a:ext cx="381000" cy="50800"/>
          </a:xfrm>
          <a:prstGeom prst="rect">
            <a:avLst/>
          </a:prstGeom>
          <a:solidFill>
            <a:srgbClr val="C7D7E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803017A-F20A-31D7-414A-AA34768DBF91}"/>
              </a:ext>
            </a:extLst>
          </p:cNvPr>
          <p:cNvSpPr txBox="1"/>
          <p:nvPr/>
        </p:nvSpPr>
        <p:spPr>
          <a:xfrm>
            <a:off x="8204200" y="660400"/>
            <a:ext cx="24638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r"/>
            <a:r>
              <a:rPr lang="en-US" altLang="zh-CN" sz="680" b="1">
                <a:solidFill>
                  <a:srgbClr val="5E7699"/>
                </a:solidFill>
              </a:rPr>
              <a:t>Evidence</a:t>
            </a:r>
            <a:endParaRPr lang="zh-CN" altLang="en-US" sz="680" b="1">
              <a:solidFill>
                <a:srgbClr val="5E7699"/>
              </a:solidFill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BDA19201-7846-EAAA-66C1-26EAC788A69D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000" y="6248400"/>
            <a:ext cx="2413000" cy="431800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D0B78B6C-E5E6-BEB3-5FA0-335D3E5CEE7A}"/>
              </a:ext>
            </a:extLst>
          </p:cNvPr>
          <p:cNvSpPr txBox="1"/>
          <p:nvPr/>
        </p:nvSpPr>
        <p:spPr>
          <a:xfrm>
            <a:off x="1117600" y="6451600"/>
            <a:ext cx="26670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750">
                <a:solidFill>
                  <a:srgbClr val="6A7FA0"/>
                </a:solidFill>
              </a:rPr>
              <a:t>WatermarkScope FYP Viva</a:t>
            </a:r>
            <a:endParaRPr lang="zh-CN" altLang="en-US" sz="750">
              <a:solidFill>
                <a:srgbClr val="6A7FA0"/>
              </a:solidFill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B6B90DE-6D8F-F9A4-A0C5-CFED5EB48596}"/>
              </a:ext>
            </a:extLst>
          </p:cNvPr>
          <p:cNvSpPr txBox="1"/>
          <p:nvPr/>
        </p:nvSpPr>
        <p:spPr>
          <a:xfrm>
            <a:off x="4851400" y="6451600"/>
            <a:ext cx="21590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CN" sz="750">
                <a:solidFill>
                  <a:srgbClr val="6A7FA0"/>
                </a:solidFill>
              </a:rPr>
              <a:t>Haoyi Zhang | 2254912</a:t>
            </a:r>
            <a:endParaRPr lang="zh-CN" altLang="en-US" sz="750">
              <a:solidFill>
                <a:srgbClr val="6A7FA0"/>
              </a:solidFill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AE2A764C-3760-1EB5-C881-F1EBAE67ADD0}"/>
              </a:ext>
            </a:extLst>
          </p:cNvPr>
          <p:cNvSpPr txBox="1"/>
          <p:nvPr/>
        </p:nvSpPr>
        <p:spPr>
          <a:xfrm>
            <a:off x="1168400" y="1752600"/>
            <a:ext cx="100330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1280" b="1">
                <a:solidFill>
                  <a:srgbClr val="071A3D"/>
                </a:solidFill>
              </a:rPr>
              <a:t>The framework does not ask for one global score; it asks which claim survives the evidence contract.</a:t>
            </a:r>
            <a:endParaRPr lang="zh-CN" altLang="en-US" sz="1280" b="1">
              <a:solidFill>
                <a:srgbClr val="071A3D"/>
              </a:solidFill>
            </a:endParaRPr>
          </a:p>
        </p:txBody>
      </p: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6B9A8FD6-BFF3-3350-8CB8-92308AA14867}"/>
              </a:ext>
            </a:extLst>
          </p:cNvPr>
          <p:cNvCxnSpPr/>
          <p:nvPr/>
        </p:nvCxnSpPr>
        <p:spPr bwMode="auto">
          <a:xfrm>
            <a:off x="1498600" y="3276600"/>
            <a:ext cx="9169400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D6E2F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9B71ACC3-8367-0AA4-BEDC-22F869019793}"/>
              </a:ext>
            </a:extLst>
          </p:cNvPr>
          <p:cNvSpPr/>
          <p:nvPr/>
        </p:nvSpPr>
        <p:spPr bwMode="auto">
          <a:xfrm>
            <a:off x="1320800" y="2514600"/>
            <a:ext cx="1676400" cy="1778000"/>
          </a:xfrm>
          <a:prstGeom prst="rect">
            <a:avLst/>
          </a:prstGeom>
          <a:solidFill>
            <a:srgbClr val="FFFFFF"/>
          </a:solidFill>
          <a:ln w="11430" cap="flat" cmpd="sng" algn="ctr">
            <a:solidFill>
              <a:srgbClr val="C7D7EA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CD806D7-37E7-710D-0E9F-FEFFC2AD30DE}"/>
              </a:ext>
            </a:extLst>
          </p:cNvPr>
          <p:cNvSpPr/>
          <p:nvPr/>
        </p:nvSpPr>
        <p:spPr bwMode="auto">
          <a:xfrm>
            <a:off x="1320800" y="2514600"/>
            <a:ext cx="1676400" cy="533400"/>
          </a:xfrm>
          <a:prstGeom prst="rect">
            <a:avLst/>
          </a:prstGeom>
          <a:solidFill>
            <a:srgbClr val="0B3F88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44A701D-45A5-B288-D4EB-278E18478FB3}"/>
              </a:ext>
            </a:extLst>
          </p:cNvPr>
          <p:cNvSpPr txBox="1"/>
          <p:nvPr/>
        </p:nvSpPr>
        <p:spPr>
          <a:xfrm>
            <a:off x="1473200" y="2679700"/>
            <a:ext cx="3556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CN" sz="950" b="1">
                <a:solidFill>
                  <a:srgbClr val="DCEBFA"/>
                </a:solidFill>
              </a:rPr>
              <a:t>01</a:t>
            </a:r>
            <a:endParaRPr lang="zh-CN" altLang="en-US" sz="950" b="1">
              <a:solidFill>
                <a:srgbClr val="DCEBFA"/>
              </a:solidFill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D1199075-6EB9-12F4-D962-FE18FA887F17}"/>
              </a:ext>
            </a:extLst>
          </p:cNvPr>
          <p:cNvSpPr txBox="1"/>
          <p:nvPr/>
        </p:nvSpPr>
        <p:spPr>
          <a:xfrm>
            <a:off x="1854200" y="2654300"/>
            <a:ext cx="9652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CN" sz="1300" b="1">
                <a:solidFill>
                  <a:srgbClr val="FFFFFF"/>
                </a:solidFill>
              </a:rPr>
              <a:t>Count</a:t>
            </a:r>
            <a:endParaRPr lang="zh-CN" altLang="en-US" sz="1300" b="1">
              <a:solidFill>
                <a:srgbClr val="FFFFFF"/>
              </a:solidFill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B27BB5AB-0EF4-6DC6-41FE-467DBA3836E4}"/>
              </a:ext>
            </a:extLst>
          </p:cNvPr>
          <p:cNvSpPr txBox="1"/>
          <p:nvPr/>
        </p:nvSpPr>
        <p:spPr>
          <a:xfrm>
            <a:off x="1473200" y="3352800"/>
            <a:ext cx="13716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CN" sz="1200" b="1">
                <a:solidFill>
                  <a:srgbClr val="071A3D"/>
                </a:solidFill>
              </a:rPr>
              <a:t>CodeMarkBench</a:t>
            </a:r>
            <a:endParaRPr lang="zh-CN" altLang="en-US" sz="1200" b="1">
              <a:solidFill>
                <a:srgbClr val="071A3D"/>
              </a:solidFill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EC7636B2-23DA-DAB5-E6D7-FEA3CA50AD3E}"/>
              </a:ext>
            </a:extLst>
          </p:cNvPr>
          <p:cNvSpPr txBox="1"/>
          <p:nvPr/>
        </p:nvSpPr>
        <p:spPr>
          <a:xfrm>
            <a:off x="1473200" y="3759200"/>
            <a:ext cx="13716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CN" sz="940" b="1">
                <a:solidFill>
                  <a:srgbClr val="5E7699"/>
                </a:solidFill>
              </a:rPr>
              <a:t>fixed denominator</a:t>
            </a:r>
            <a:endParaRPr lang="zh-CN" altLang="en-US" sz="940" b="1">
              <a:solidFill>
                <a:srgbClr val="5E7699"/>
              </a:solidFill>
            </a:endParaRPr>
          </a:p>
        </p:txBody>
      </p: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3769B7C6-0614-F8B4-D9B0-888A102F4F5E}"/>
              </a:ext>
            </a:extLst>
          </p:cNvPr>
          <p:cNvCxnSpPr/>
          <p:nvPr/>
        </p:nvCxnSpPr>
        <p:spPr bwMode="auto">
          <a:xfrm>
            <a:off x="3022600" y="3403600"/>
            <a:ext cx="203200" cy="0"/>
          </a:xfrm>
          <a:prstGeom prst="line">
            <a:avLst/>
          </a:prstGeom>
          <a:solidFill>
            <a:schemeClr val="accent1"/>
          </a:solidFill>
          <a:ln w="16510" cap="flat" cmpd="sng" algn="ctr">
            <a:solidFill>
              <a:srgbClr val="003B7A"/>
            </a:solidFill>
            <a:prstDash val="solid"/>
            <a:round/>
            <a:headEnd type="none" w="med" len="med"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8" name="矩形 27">
            <a:extLst>
              <a:ext uri="{FF2B5EF4-FFF2-40B4-BE49-F238E27FC236}">
                <a16:creationId xmlns:a16="http://schemas.microsoft.com/office/drawing/2014/main" id="{0F7EF976-F47F-DE74-3BDF-7084425EA047}"/>
              </a:ext>
            </a:extLst>
          </p:cNvPr>
          <p:cNvSpPr/>
          <p:nvPr/>
        </p:nvSpPr>
        <p:spPr bwMode="auto">
          <a:xfrm>
            <a:off x="3276600" y="2514600"/>
            <a:ext cx="1676400" cy="1778000"/>
          </a:xfrm>
          <a:prstGeom prst="rect">
            <a:avLst/>
          </a:prstGeom>
          <a:solidFill>
            <a:srgbClr val="FFFFFF"/>
          </a:solidFill>
          <a:ln w="11430" cap="flat" cmpd="sng" algn="ctr">
            <a:solidFill>
              <a:srgbClr val="C7D7EA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9CF601A3-5337-4781-662F-4466D685A860}"/>
              </a:ext>
            </a:extLst>
          </p:cNvPr>
          <p:cNvSpPr/>
          <p:nvPr/>
        </p:nvSpPr>
        <p:spPr bwMode="auto">
          <a:xfrm>
            <a:off x="3276600" y="2514600"/>
            <a:ext cx="1676400" cy="533400"/>
          </a:xfrm>
          <a:prstGeom prst="rect">
            <a:avLst/>
          </a:prstGeom>
          <a:solidFill>
            <a:srgbClr val="168E8B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4FD1B52E-CE12-43F3-27F8-4C0706AF7C88}"/>
              </a:ext>
            </a:extLst>
          </p:cNvPr>
          <p:cNvSpPr txBox="1"/>
          <p:nvPr/>
        </p:nvSpPr>
        <p:spPr>
          <a:xfrm>
            <a:off x="3429000" y="2679700"/>
            <a:ext cx="3556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CN" sz="950" b="1">
                <a:solidFill>
                  <a:srgbClr val="DCEBFA"/>
                </a:solidFill>
              </a:rPr>
              <a:t>02</a:t>
            </a:r>
            <a:endParaRPr lang="zh-CN" altLang="en-US" sz="950" b="1">
              <a:solidFill>
                <a:srgbClr val="DCEBFA"/>
              </a:solidFill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FD28AD2E-238E-0C71-781E-4951EF89315B}"/>
              </a:ext>
            </a:extLst>
          </p:cNvPr>
          <p:cNvSpPr txBox="1"/>
          <p:nvPr/>
        </p:nvSpPr>
        <p:spPr>
          <a:xfrm>
            <a:off x="3810000" y="2654300"/>
            <a:ext cx="9652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CN" sz="1300" b="1">
                <a:solidFill>
                  <a:srgbClr val="FFFFFF"/>
                </a:solidFill>
              </a:rPr>
              <a:t>Recover</a:t>
            </a:r>
            <a:endParaRPr lang="zh-CN" altLang="en-US" sz="1300" b="1">
              <a:solidFill>
                <a:srgbClr val="FFFFFF"/>
              </a:solidFill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91CDE271-4D30-0F5F-58BD-D56EC2A296E3}"/>
              </a:ext>
            </a:extLst>
          </p:cNvPr>
          <p:cNvSpPr txBox="1"/>
          <p:nvPr/>
        </p:nvSpPr>
        <p:spPr>
          <a:xfrm>
            <a:off x="3429000" y="3352800"/>
            <a:ext cx="13716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CN" sz="1200" b="1">
                <a:solidFill>
                  <a:srgbClr val="071A3D"/>
                </a:solidFill>
              </a:rPr>
              <a:t>SemCodebook</a:t>
            </a:r>
            <a:endParaRPr lang="zh-CN" altLang="en-US" sz="1200" b="1">
              <a:solidFill>
                <a:srgbClr val="071A3D"/>
              </a:solidFill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190724BB-A408-ADAE-748B-01EB0E4066B0}"/>
              </a:ext>
            </a:extLst>
          </p:cNvPr>
          <p:cNvSpPr txBox="1"/>
          <p:nvPr/>
        </p:nvSpPr>
        <p:spPr>
          <a:xfrm>
            <a:off x="3429000" y="3759200"/>
            <a:ext cx="13716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CN" sz="940" b="1">
                <a:solidFill>
                  <a:srgbClr val="5E7699"/>
                </a:solidFill>
              </a:rPr>
              <a:t>provenance signal</a:t>
            </a:r>
            <a:endParaRPr lang="zh-CN" altLang="en-US" sz="940" b="1">
              <a:solidFill>
                <a:srgbClr val="5E7699"/>
              </a:solidFill>
            </a:endParaRPr>
          </a:p>
        </p:txBody>
      </p: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82FE2A9D-DAEF-6E35-45D4-34D2D7EBB9F2}"/>
              </a:ext>
            </a:extLst>
          </p:cNvPr>
          <p:cNvCxnSpPr/>
          <p:nvPr/>
        </p:nvCxnSpPr>
        <p:spPr bwMode="auto">
          <a:xfrm>
            <a:off x="4978400" y="3403600"/>
            <a:ext cx="203200" cy="0"/>
          </a:xfrm>
          <a:prstGeom prst="line">
            <a:avLst/>
          </a:prstGeom>
          <a:solidFill>
            <a:schemeClr val="accent1"/>
          </a:solidFill>
          <a:ln w="16510" cap="flat" cmpd="sng" algn="ctr">
            <a:solidFill>
              <a:srgbClr val="003B7A"/>
            </a:solidFill>
            <a:prstDash val="solid"/>
            <a:round/>
            <a:headEnd type="none" w="med" len="med"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5" name="矩形 34">
            <a:extLst>
              <a:ext uri="{FF2B5EF4-FFF2-40B4-BE49-F238E27FC236}">
                <a16:creationId xmlns:a16="http://schemas.microsoft.com/office/drawing/2014/main" id="{BD5ACE66-257E-918E-FBF4-059AD61226B2}"/>
              </a:ext>
            </a:extLst>
          </p:cNvPr>
          <p:cNvSpPr/>
          <p:nvPr/>
        </p:nvSpPr>
        <p:spPr bwMode="auto">
          <a:xfrm>
            <a:off x="5232400" y="2514600"/>
            <a:ext cx="1676400" cy="1778000"/>
          </a:xfrm>
          <a:prstGeom prst="rect">
            <a:avLst/>
          </a:prstGeom>
          <a:solidFill>
            <a:srgbClr val="FFFFFF"/>
          </a:solidFill>
          <a:ln w="11430" cap="flat" cmpd="sng" algn="ctr">
            <a:solidFill>
              <a:srgbClr val="C7D7EA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207E1321-7035-C431-741A-FD0758E3B09C}"/>
              </a:ext>
            </a:extLst>
          </p:cNvPr>
          <p:cNvSpPr/>
          <p:nvPr/>
        </p:nvSpPr>
        <p:spPr bwMode="auto">
          <a:xfrm>
            <a:off x="5232400" y="2514600"/>
            <a:ext cx="1676400" cy="533400"/>
          </a:xfrm>
          <a:prstGeom prst="rect">
            <a:avLst/>
          </a:prstGeom>
          <a:solidFill>
            <a:srgbClr val="5B45C8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47FC007A-DDA9-A4FE-5EE8-7AB2ED068A64}"/>
              </a:ext>
            </a:extLst>
          </p:cNvPr>
          <p:cNvSpPr txBox="1"/>
          <p:nvPr/>
        </p:nvSpPr>
        <p:spPr>
          <a:xfrm>
            <a:off x="5384800" y="2679700"/>
            <a:ext cx="3556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CN" sz="950" b="1">
                <a:solidFill>
                  <a:srgbClr val="DCEBFA"/>
                </a:solidFill>
              </a:rPr>
              <a:t>03</a:t>
            </a:r>
            <a:endParaRPr lang="zh-CN" altLang="en-US" sz="950" b="1">
              <a:solidFill>
                <a:srgbClr val="DCEBFA"/>
              </a:solidFill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14766233-CD2A-9ED7-D320-010AC067959A}"/>
              </a:ext>
            </a:extLst>
          </p:cNvPr>
          <p:cNvSpPr txBox="1"/>
          <p:nvPr/>
        </p:nvSpPr>
        <p:spPr>
          <a:xfrm>
            <a:off x="5765800" y="2654300"/>
            <a:ext cx="9652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CN" sz="1300" b="1">
                <a:solidFill>
                  <a:srgbClr val="FFFFFF"/>
                </a:solidFill>
              </a:rPr>
              <a:t>Audit</a:t>
            </a:r>
            <a:endParaRPr lang="zh-CN" altLang="en-US" sz="1300" b="1">
              <a:solidFill>
                <a:srgbClr val="FFFFFF"/>
              </a:solidFill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38ECB53E-CE92-21A7-E5E6-4EF520AF8544}"/>
              </a:ext>
            </a:extLst>
          </p:cNvPr>
          <p:cNvSpPr txBox="1"/>
          <p:nvPr/>
        </p:nvSpPr>
        <p:spPr>
          <a:xfrm>
            <a:off x="5384800" y="3352800"/>
            <a:ext cx="13716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CN" sz="1200" b="1">
                <a:solidFill>
                  <a:srgbClr val="071A3D"/>
                </a:solidFill>
              </a:rPr>
              <a:t>CodeDye</a:t>
            </a:r>
            <a:endParaRPr lang="zh-CN" altLang="en-US" sz="1200" b="1">
              <a:solidFill>
                <a:srgbClr val="071A3D"/>
              </a:solidFill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5B187981-8088-FE17-B0FE-35174411460D}"/>
              </a:ext>
            </a:extLst>
          </p:cNvPr>
          <p:cNvSpPr txBox="1"/>
          <p:nvPr/>
        </p:nvSpPr>
        <p:spPr>
          <a:xfrm>
            <a:off x="5384800" y="3759200"/>
            <a:ext cx="13716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CN" sz="940" b="1">
                <a:solidFill>
                  <a:srgbClr val="5E7699"/>
                </a:solidFill>
              </a:rPr>
              <a:t>black-box evidence</a:t>
            </a:r>
            <a:endParaRPr lang="zh-CN" altLang="en-US" sz="940" b="1">
              <a:solidFill>
                <a:srgbClr val="5E7699"/>
              </a:solidFill>
            </a:endParaRPr>
          </a:p>
        </p:txBody>
      </p: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0F7FE632-3A8B-A8F4-8E5E-9DCE62B8DBD8}"/>
              </a:ext>
            </a:extLst>
          </p:cNvPr>
          <p:cNvCxnSpPr/>
          <p:nvPr/>
        </p:nvCxnSpPr>
        <p:spPr bwMode="auto">
          <a:xfrm>
            <a:off x="6934200" y="3403600"/>
            <a:ext cx="203200" cy="0"/>
          </a:xfrm>
          <a:prstGeom prst="line">
            <a:avLst/>
          </a:prstGeom>
          <a:solidFill>
            <a:schemeClr val="accent1"/>
          </a:solidFill>
          <a:ln w="16510" cap="flat" cmpd="sng" algn="ctr">
            <a:solidFill>
              <a:srgbClr val="003B7A"/>
            </a:solidFill>
            <a:prstDash val="solid"/>
            <a:round/>
            <a:headEnd type="none" w="med" len="med"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2" name="矩形 41">
            <a:extLst>
              <a:ext uri="{FF2B5EF4-FFF2-40B4-BE49-F238E27FC236}">
                <a16:creationId xmlns:a16="http://schemas.microsoft.com/office/drawing/2014/main" id="{E924197C-E3D0-2D99-C55E-E2E6733FC335}"/>
              </a:ext>
            </a:extLst>
          </p:cNvPr>
          <p:cNvSpPr/>
          <p:nvPr/>
        </p:nvSpPr>
        <p:spPr bwMode="auto">
          <a:xfrm>
            <a:off x="7188200" y="2514600"/>
            <a:ext cx="1676400" cy="1778000"/>
          </a:xfrm>
          <a:prstGeom prst="rect">
            <a:avLst/>
          </a:prstGeom>
          <a:solidFill>
            <a:srgbClr val="FFFFFF"/>
          </a:solidFill>
          <a:ln w="11430" cap="flat" cmpd="sng" algn="ctr">
            <a:solidFill>
              <a:srgbClr val="C7D7EA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090C0A13-A64B-B5C9-75EE-B18E3C209021}"/>
              </a:ext>
            </a:extLst>
          </p:cNvPr>
          <p:cNvSpPr/>
          <p:nvPr/>
        </p:nvSpPr>
        <p:spPr bwMode="auto">
          <a:xfrm>
            <a:off x="7188200" y="2514600"/>
            <a:ext cx="1676400" cy="533400"/>
          </a:xfrm>
          <a:prstGeom prst="rect">
            <a:avLst/>
          </a:prstGeom>
          <a:solidFill>
            <a:srgbClr val="B85C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C7231C9A-473B-AD1B-C922-D6F5532EF0CC}"/>
              </a:ext>
            </a:extLst>
          </p:cNvPr>
          <p:cNvSpPr txBox="1"/>
          <p:nvPr/>
        </p:nvSpPr>
        <p:spPr>
          <a:xfrm>
            <a:off x="7340600" y="2679700"/>
            <a:ext cx="3556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CN" sz="950" b="1">
                <a:solidFill>
                  <a:srgbClr val="DCEBFA"/>
                </a:solidFill>
              </a:rPr>
              <a:t>04</a:t>
            </a:r>
            <a:endParaRPr lang="zh-CN" altLang="en-US" sz="950" b="1">
              <a:solidFill>
                <a:srgbClr val="DCEBFA"/>
              </a:solidFill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41CF00D3-9F35-A49E-D82E-AE03231D14AB}"/>
              </a:ext>
            </a:extLst>
          </p:cNvPr>
          <p:cNvSpPr txBox="1"/>
          <p:nvPr/>
        </p:nvSpPr>
        <p:spPr>
          <a:xfrm>
            <a:off x="7721600" y="2654300"/>
            <a:ext cx="9652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CN" sz="1300" b="1">
                <a:solidFill>
                  <a:srgbClr val="FFFFFF"/>
                </a:solidFill>
              </a:rPr>
              <a:t>Attribute</a:t>
            </a:r>
            <a:endParaRPr lang="zh-CN" altLang="en-US" sz="1300" b="1">
              <a:solidFill>
                <a:srgbClr val="FFFFFF"/>
              </a:solidFill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25C2B839-9DE9-1EC8-DEEA-07C5E6281422}"/>
              </a:ext>
            </a:extLst>
          </p:cNvPr>
          <p:cNvSpPr txBox="1"/>
          <p:nvPr/>
        </p:nvSpPr>
        <p:spPr>
          <a:xfrm>
            <a:off x="7340600" y="3352800"/>
            <a:ext cx="13716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CN" sz="1200" b="1">
                <a:solidFill>
                  <a:srgbClr val="071A3D"/>
                </a:solidFill>
              </a:rPr>
              <a:t>ProbeTrace</a:t>
            </a:r>
            <a:endParaRPr lang="zh-CN" altLang="en-US" sz="1200" b="1">
              <a:solidFill>
                <a:srgbClr val="071A3D"/>
              </a:solidFill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77FF52C3-A86F-1A00-3794-A4578600287D}"/>
              </a:ext>
            </a:extLst>
          </p:cNvPr>
          <p:cNvSpPr txBox="1"/>
          <p:nvPr/>
        </p:nvSpPr>
        <p:spPr>
          <a:xfrm>
            <a:off x="7340600" y="3759200"/>
            <a:ext cx="13716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CN" sz="940" b="1">
                <a:solidFill>
                  <a:srgbClr val="5E7699"/>
                </a:solidFill>
              </a:rPr>
              <a:t>owner boundary</a:t>
            </a:r>
            <a:endParaRPr lang="zh-CN" altLang="en-US" sz="940" b="1">
              <a:solidFill>
                <a:srgbClr val="5E7699"/>
              </a:solidFill>
            </a:endParaRPr>
          </a:p>
        </p:txBody>
      </p: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E810E34F-8B42-11E8-CA69-14B7DA4CCF32}"/>
              </a:ext>
            </a:extLst>
          </p:cNvPr>
          <p:cNvCxnSpPr/>
          <p:nvPr/>
        </p:nvCxnSpPr>
        <p:spPr bwMode="auto">
          <a:xfrm>
            <a:off x="8890000" y="3403600"/>
            <a:ext cx="203200" cy="0"/>
          </a:xfrm>
          <a:prstGeom prst="line">
            <a:avLst/>
          </a:prstGeom>
          <a:solidFill>
            <a:schemeClr val="accent1"/>
          </a:solidFill>
          <a:ln w="16510" cap="flat" cmpd="sng" algn="ctr">
            <a:solidFill>
              <a:srgbClr val="003B7A"/>
            </a:solidFill>
            <a:prstDash val="solid"/>
            <a:round/>
            <a:headEnd type="none" w="med" len="med"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9" name="矩形 48">
            <a:extLst>
              <a:ext uri="{FF2B5EF4-FFF2-40B4-BE49-F238E27FC236}">
                <a16:creationId xmlns:a16="http://schemas.microsoft.com/office/drawing/2014/main" id="{AC2E5C0D-3286-72AD-DA8C-2EEA982CD21D}"/>
              </a:ext>
            </a:extLst>
          </p:cNvPr>
          <p:cNvSpPr/>
          <p:nvPr/>
        </p:nvSpPr>
        <p:spPr bwMode="auto">
          <a:xfrm>
            <a:off x="9144000" y="2514600"/>
            <a:ext cx="1676400" cy="1778000"/>
          </a:xfrm>
          <a:prstGeom prst="rect">
            <a:avLst/>
          </a:prstGeom>
          <a:solidFill>
            <a:srgbClr val="FFFFFF"/>
          </a:solidFill>
          <a:ln w="11430" cap="flat" cmpd="sng" algn="ctr">
            <a:solidFill>
              <a:srgbClr val="C7D7EA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A3A62AF7-84FB-53CC-5569-2762897A5A10}"/>
              </a:ext>
            </a:extLst>
          </p:cNvPr>
          <p:cNvSpPr/>
          <p:nvPr/>
        </p:nvSpPr>
        <p:spPr bwMode="auto">
          <a:xfrm>
            <a:off x="9144000" y="2514600"/>
            <a:ext cx="1676400" cy="533400"/>
          </a:xfrm>
          <a:prstGeom prst="rect">
            <a:avLst/>
          </a:prstGeom>
          <a:solidFill>
            <a:srgbClr val="1F7A4D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1C711253-D6FC-CFF8-493E-D75A87CA9C26}"/>
              </a:ext>
            </a:extLst>
          </p:cNvPr>
          <p:cNvSpPr txBox="1"/>
          <p:nvPr/>
        </p:nvSpPr>
        <p:spPr>
          <a:xfrm>
            <a:off x="9296400" y="2679700"/>
            <a:ext cx="3556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CN" sz="950" b="1">
                <a:solidFill>
                  <a:srgbClr val="DCEBFA"/>
                </a:solidFill>
              </a:rPr>
              <a:t>05</a:t>
            </a:r>
            <a:endParaRPr lang="zh-CN" altLang="en-US" sz="950" b="1">
              <a:solidFill>
                <a:srgbClr val="DCEBFA"/>
              </a:solidFill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12B4B7CD-2913-C8EF-32E9-299B61E06921}"/>
              </a:ext>
            </a:extLst>
          </p:cNvPr>
          <p:cNvSpPr txBox="1"/>
          <p:nvPr/>
        </p:nvSpPr>
        <p:spPr>
          <a:xfrm>
            <a:off x="9677400" y="2654300"/>
            <a:ext cx="9652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CN" sz="1300" b="1">
                <a:solidFill>
                  <a:srgbClr val="FFFFFF"/>
                </a:solidFill>
              </a:rPr>
              <a:t>Triage</a:t>
            </a:r>
            <a:endParaRPr lang="zh-CN" altLang="en-US" sz="1300" b="1">
              <a:solidFill>
                <a:srgbClr val="FFFFFF"/>
              </a:solidFill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AA52573C-E616-FD9B-BB45-AC719E50F749}"/>
              </a:ext>
            </a:extLst>
          </p:cNvPr>
          <p:cNvSpPr txBox="1"/>
          <p:nvPr/>
        </p:nvSpPr>
        <p:spPr>
          <a:xfrm>
            <a:off x="9296400" y="3352800"/>
            <a:ext cx="13716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CN" sz="1200" b="1">
                <a:solidFill>
                  <a:srgbClr val="071A3D"/>
                </a:solidFill>
              </a:rPr>
              <a:t>SealAudit</a:t>
            </a:r>
            <a:endParaRPr lang="zh-CN" altLang="en-US" sz="1200" b="1">
              <a:solidFill>
                <a:srgbClr val="071A3D"/>
              </a:solidFill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F052FAE5-7E66-91E7-C1C5-A2273654019E}"/>
              </a:ext>
            </a:extLst>
          </p:cNvPr>
          <p:cNvSpPr txBox="1"/>
          <p:nvPr/>
        </p:nvSpPr>
        <p:spPr>
          <a:xfrm>
            <a:off x="9296400" y="3759200"/>
            <a:ext cx="13716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CN" sz="940" b="1">
                <a:solidFill>
                  <a:srgbClr val="5E7699"/>
                </a:solidFill>
              </a:rPr>
              <a:t>security surface</a:t>
            </a:r>
            <a:endParaRPr lang="zh-CN" altLang="en-US" sz="940" b="1">
              <a:solidFill>
                <a:srgbClr val="5E7699"/>
              </a:solidFill>
            </a:endParaRP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9AE2C5A6-AFA7-33B2-E358-14E8D3B221A6}"/>
              </a:ext>
            </a:extLst>
          </p:cNvPr>
          <p:cNvSpPr/>
          <p:nvPr/>
        </p:nvSpPr>
        <p:spPr bwMode="auto">
          <a:xfrm>
            <a:off x="1651000" y="4902200"/>
            <a:ext cx="8890000" cy="736600"/>
          </a:xfrm>
          <a:prstGeom prst="rect">
            <a:avLst/>
          </a:prstGeom>
          <a:solidFill>
            <a:srgbClr val="071A3D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E8066CBD-7796-3AA6-DB58-07EFB8686E79}"/>
              </a:ext>
            </a:extLst>
          </p:cNvPr>
          <p:cNvSpPr txBox="1"/>
          <p:nvPr/>
        </p:nvSpPr>
        <p:spPr>
          <a:xfrm>
            <a:off x="2006600" y="5130800"/>
            <a:ext cx="22098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1020" b="1">
                <a:solidFill>
                  <a:srgbClr val="8EC5FF"/>
                </a:solidFill>
              </a:rPr>
              <a:t>shared evidence contract</a:t>
            </a:r>
            <a:endParaRPr lang="zh-CN" altLang="en-US" sz="1020" b="1">
              <a:solidFill>
                <a:srgbClr val="8EC5FF"/>
              </a:solidFill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143BE127-E221-46D4-D748-31C1E3DF3002}"/>
              </a:ext>
            </a:extLst>
          </p:cNvPr>
          <p:cNvSpPr txBox="1"/>
          <p:nvPr/>
        </p:nvSpPr>
        <p:spPr>
          <a:xfrm>
            <a:off x="4394200" y="5105400"/>
            <a:ext cx="56896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CN" sz="1200" b="1">
                <a:solidFill>
                  <a:srgbClr val="FFFFFF"/>
                </a:solidFill>
              </a:rPr>
              <a:t>denominator  +  controls  +  artifact hash  +  access boundary  +  abstention</a:t>
            </a:r>
            <a:endParaRPr lang="zh-CN" altLang="en-US" sz="1200" b="1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37473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 thruBlk="1"/>
      </p:transition>
    </mc:Choice>
    <mc:Fallback xmlns="">
      <p:transition spd="slow"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3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3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3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3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3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3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3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3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3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3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3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3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3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3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3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3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/>
      <p:bldP spid="24" grpId="0"/>
      <p:bldP spid="25" grpId="0"/>
      <p:bldP spid="26" grpId="0"/>
      <p:bldP spid="28" grpId="0" animBg="1"/>
      <p:bldP spid="29" grpId="0" animBg="1"/>
      <p:bldP spid="30" grpId="0"/>
      <p:bldP spid="31" grpId="0"/>
      <p:bldP spid="32" grpId="0"/>
      <p:bldP spid="33" grpId="0"/>
      <p:bldP spid="35" grpId="0" animBg="1"/>
      <p:bldP spid="36" grpId="0" animBg="1"/>
      <p:bldP spid="37" grpId="0"/>
      <p:bldP spid="38" grpId="0"/>
      <p:bldP spid="39" grpId="0"/>
      <p:bldP spid="40" grpId="0"/>
      <p:bldP spid="42" grpId="0" animBg="1"/>
      <p:bldP spid="43" grpId="0" animBg="1"/>
      <p:bldP spid="44" grpId="0"/>
      <p:bldP spid="45" grpId="0"/>
      <p:bldP spid="46" grpId="0"/>
      <p:bldP spid="47" grpId="0"/>
      <p:bldP spid="49" grpId="0" animBg="1"/>
      <p:bldP spid="50" grpId="0" animBg="1"/>
      <p:bldP spid="51" grpId="0"/>
      <p:bldP spid="52" grpId="0"/>
      <p:bldP spid="53" grpId="0"/>
      <p:bldP spid="54" grpId="0"/>
      <p:bldP spid="55" grpId="0" animBg="1"/>
      <p:bldP spid="56" grpId="0"/>
      <p:bldP spid="5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56CE8567-BBBE-380A-8E6E-4062571024D1}"/>
              </a:ext>
            </a:extLst>
          </p:cNvPr>
          <p:cNvSpPr/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5B150DB-3D77-3B7E-4618-EF0A7E47EB73}"/>
              </a:ext>
            </a:extLst>
          </p:cNvPr>
          <p:cNvSpPr/>
          <p:nvPr/>
        </p:nvSpPr>
        <p:spPr bwMode="auto">
          <a:xfrm>
            <a:off x="0" y="0"/>
            <a:ext cx="685800" cy="6858000"/>
          </a:xfrm>
          <a:prstGeom prst="rect">
            <a:avLst/>
          </a:prstGeom>
          <a:solidFill>
            <a:srgbClr val="003B7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2300278-E439-DF15-5040-2BB1045632EE}"/>
              </a:ext>
            </a:extLst>
          </p:cNvPr>
          <p:cNvSpPr/>
          <p:nvPr/>
        </p:nvSpPr>
        <p:spPr bwMode="auto">
          <a:xfrm>
            <a:off x="685800" y="0"/>
            <a:ext cx="127000" cy="6858000"/>
          </a:xfrm>
          <a:prstGeom prst="rect">
            <a:avLst/>
          </a:prstGeom>
          <a:solidFill>
            <a:srgbClr val="6A9CCB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99241E7-DB5A-3218-D9E4-618457BF12C5}"/>
              </a:ext>
            </a:extLst>
          </p:cNvPr>
          <p:cNvSpPr txBox="1"/>
          <p:nvPr/>
        </p:nvSpPr>
        <p:spPr>
          <a:xfrm>
            <a:off x="1168400" y="431800"/>
            <a:ext cx="25400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850" b="1">
                <a:solidFill>
                  <a:srgbClr val="5E7699"/>
                </a:solidFill>
              </a:rPr>
              <a:t>Method</a:t>
            </a:r>
            <a:endParaRPr lang="zh-CN" altLang="en-US" sz="850" b="1">
              <a:solidFill>
                <a:srgbClr val="5E7699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217A88C-AB33-01FD-3A5A-0ED9D1F592F5}"/>
              </a:ext>
            </a:extLst>
          </p:cNvPr>
          <p:cNvSpPr txBox="1"/>
          <p:nvPr/>
        </p:nvSpPr>
        <p:spPr>
          <a:xfrm>
            <a:off x="1168400" y="736600"/>
            <a:ext cx="96520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b="1">
                <a:solidFill>
                  <a:srgbClr val="071A3D"/>
                </a:solidFill>
              </a:rPr>
              <a:t>Admission algorithm: evidence first, claim second</a:t>
            </a:r>
            <a:endParaRPr lang="zh-CN" altLang="en-US" b="1">
              <a:solidFill>
                <a:srgbClr val="071A3D"/>
              </a:solidFill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862EF158-319E-85B0-EE58-803B829F188B}"/>
              </a:ext>
            </a:extLst>
          </p:cNvPr>
          <p:cNvCxnSpPr/>
          <p:nvPr/>
        </p:nvCxnSpPr>
        <p:spPr bwMode="auto">
          <a:xfrm>
            <a:off x="1168400" y="1473200"/>
            <a:ext cx="957580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C7D7EA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C33F47C8-9069-8361-A1EE-879AF61AE96D}"/>
              </a:ext>
            </a:extLst>
          </p:cNvPr>
          <p:cNvSpPr txBox="1"/>
          <p:nvPr/>
        </p:nvSpPr>
        <p:spPr>
          <a:xfrm>
            <a:off x="11480800" y="558800"/>
            <a:ext cx="3302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r"/>
            <a:r>
              <a:rPr lang="en-US" altLang="zh-CN" sz="800">
                <a:solidFill>
                  <a:srgbClr val="5E7699"/>
                </a:solidFill>
              </a:rPr>
              <a:t>06</a:t>
            </a:r>
            <a:endParaRPr lang="zh-CN" altLang="en-US" sz="800">
              <a:solidFill>
                <a:srgbClr val="5E7699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181E1D1-483D-24CA-CB2E-2CC023BC2337}"/>
              </a:ext>
            </a:extLst>
          </p:cNvPr>
          <p:cNvSpPr/>
          <p:nvPr/>
        </p:nvSpPr>
        <p:spPr bwMode="auto">
          <a:xfrm>
            <a:off x="8204200" y="533400"/>
            <a:ext cx="381000" cy="50800"/>
          </a:xfrm>
          <a:prstGeom prst="rect">
            <a:avLst/>
          </a:prstGeom>
          <a:solidFill>
            <a:srgbClr val="C7D7E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B3EE63A-C559-0BC1-354D-6D890FE8B3F9}"/>
              </a:ext>
            </a:extLst>
          </p:cNvPr>
          <p:cNvSpPr/>
          <p:nvPr/>
        </p:nvSpPr>
        <p:spPr bwMode="auto">
          <a:xfrm>
            <a:off x="8737600" y="533400"/>
            <a:ext cx="381000" cy="50800"/>
          </a:xfrm>
          <a:prstGeom prst="rect">
            <a:avLst/>
          </a:prstGeom>
          <a:solidFill>
            <a:srgbClr val="F2C14E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28388D6-DCA4-F1F4-8A83-C63207DDA822}"/>
              </a:ext>
            </a:extLst>
          </p:cNvPr>
          <p:cNvSpPr/>
          <p:nvPr/>
        </p:nvSpPr>
        <p:spPr bwMode="auto">
          <a:xfrm>
            <a:off x="9271000" y="533400"/>
            <a:ext cx="381000" cy="50800"/>
          </a:xfrm>
          <a:prstGeom prst="rect">
            <a:avLst/>
          </a:prstGeom>
          <a:solidFill>
            <a:srgbClr val="C7D7E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8633F8E-4FBB-9F90-6239-5F5B4896EDF4}"/>
              </a:ext>
            </a:extLst>
          </p:cNvPr>
          <p:cNvSpPr/>
          <p:nvPr/>
        </p:nvSpPr>
        <p:spPr bwMode="auto">
          <a:xfrm>
            <a:off x="9804400" y="533400"/>
            <a:ext cx="381000" cy="50800"/>
          </a:xfrm>
          <a:prstGeom prst="rect">
            <a:avLst/>
          </a:prstGeom>
          <a:solidFill>
            <a:srgbClr val="C7D7E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C09BD6B-9A11-0E2F-7099-3C06445542D5}"/>
              </a:ext>
            </a:extLst>
          </p:cNvPr>
          <p:cNvSpPr/>
          <p:nvPr/>
        </p:nvSpPr>
        <p:spPr bwMode="auto">
          <a:xfrm>
            <a:off x="10337800" y="533400"/>
            <a:ext cx="381000" cy="50800"/>
          </a:xfrm>
          <a:prstGeom prst="rect">
            <a:avLst/>
          </a:prstGeom>
          <a:solidFill>
            <a:srgbClr val="C7D7E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C43ABE6-4E56-A7F0-CFF3-9A8CE13092F3}"/>
              </a:ext>
            </a:extLst>
          </p:cNvPr>
          <p:cNvSpPr txBox="1"/>
          <p:nvPr/>
        </p:nvSpPr>
        <p:spPr>
          <a:xfrm>
            <a:off x="8204200" y="660400"/>
            <a:ext cx="24638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r"/>
            <a:r>
              <a:rPr lang="en-US" altLang="zh-CN" sz="680" b="1">
                <a:solidFill>
                  <a:srgbClr val="5E7699"/>
                </a:solidFill>
              </a:rPr>
              <a:t>Evidence</a:t>
            </a:r>
            <a:endParaRPr lang="zh-CN" altLang="en-US" sz="680" b="1">
              <a:solidFill>
                <a:srgbClr val="5E7699"/>
              </a:solidFill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97F83941-E0D1-4FC0-2D7A-6DEE9EF028ED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000" y="6248400"/>
            <a:ext cx="2413000" cy="431800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5DF81C60-ADD8-D760-2EDF-EB0A3F1913F6}"/>
              </a:ext>
            </a:extLst>
          </p:cNvPr>
          <p:cNvSpPr txBox="1"/>
          <p:nvPr/>
        </p:nvSpPr>
        <p:spPr>
          <a:xfrm>
            <a:off x="1117600" y="6451600"/>
            <a:ext cx="26670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750">
                <a:solidFill>
                  <a:srgbClr val="6A7FA0"/>
                </a:solidFill>
              </a:rPr>
              <a:t>WatermarkScope FYP Viva</a:t>
            </a:r>
            <a:endParaRPr lang="zh-CN" altLang="en-US" sz="750">
              <a:solidFill>
                <a:srgbClr val="6A7FA0"/>
              </a:solidFill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460B33FD-06B2-9E85-209F-9CE35BC9C415}"/>
              </a:ext>
            </a:extLst>
          </p:cNvPr>
          <p:cNvSpPr txBox="1"/>
          <p:nvPr/>
        </p:nvSpPr>
        <p:spPr>
          <a:xfrm>
            <a:off x="4851400" y="6451600"/>
            <a:ext cx="21590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CN" sz="750">
                <a:solidFill>
                  <a:srgbClr val="6A7FA0"/>
                </a:solidFill>
              </a:rPr>
              <a:t>Haoyi Zhang | 2254912</a:t>
            </a:r>
            <a:endParaRPr lang="zh-CN" altLang="en-US" sz="750">
              <a:solidFill>
                <a:srgbClr val="6A7FA0"/>
              </a:solidFill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A12C8415-A1F4-C4BB-FEDA-5BF8BD6D81B8}"/>
              </a:ext>
            </a:extLst>
          </p:cNvPr>
          <p:cNvSpPr txBox="1"/>
          <p:nvPr/>
        </p:nvSpPr>
        <p:spPr>
          <a:xfrm>
            <a:off x="1168400" y="1752600"/>
            <a:ext cx="100330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1280" b="1">
                <a:solidFill>
                  <a:srgbClr val="071A3D"/>
                </a:solidFill>
              </a:rPr>
              <a:t>The implementation follows one rule: a claim is only reported after the evidence object passes the gates.</a:t>
            </a:r>
            <a:endParaRPr lang="zh-CN" altLang="en-US" sz="1280" b="1">
              <a:solidFill>
                <a:srgbClr val="071A3D"/>
              </a:solidFill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7CFB8AD-5792-BD7B-2C84-811F4C80371E}"/>
              </a:ext>
            </a:extLst>
          </p:cNvPr>
          <p:cNvSpPr/>
          <p:nvPr/>
        </p:nvSpPr>
        <p:spPr bwMode="auto">
          <a:xfrm>
            <a:off x="1320800" y="2489200"/>
            <a:ext cx="2641600" cy="2413000"/>
          </a:xfrm>
          <a:prstGeom prst="rect">
            <a:avLst/>
          </a:prstGeom>
          <a:solidFill>
            <a:srgbClr val="071A3D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624BF13-F9CA-2C9A-B25A-41F33E678C8D}"/>
              </a:ext>
            </a:extLst>
          </p:cNvPr>
          <p:cNvSpPr txBox="1"/>
          <p:nvPr/>
        </p:nvSpPr>
        <p:spPr>
          <a:xfrm>
            <a:off x="1676400" y="2819400"/>
            <a:ext cx="17780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1000" b="1">
                <a:solidFill>
                  <a:srgbClr val="8EC5FF"/>
                </a:solidFill>
              </a:rPr>
              <a:t>evidence object</a:t>
            </a:r>
            <a:endParaRPr lang="zh-CN" altLang="en-US" sz="1000" b="1">
              <a:solidFill>
                <a:srgbClr val="8EC5FF"/>
              </a:solidFill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BD29886-BE40-F21F-E516-F37630CEEC68}"/>
              </a:ext>
            </a:extLst>
          </p:cNvPr>
          <p:cNvSpPr txBox="1"/>
          <p:nvPr/>
        </p:nvSpPr>
        <p:spPr>
          <a:xfrm>
            <a:off x="1676400" y="3302000"/>
            <a:ext cx="19558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pt-BR" altLang="zh-CN" sz="1650" b="1">
                <a:solidFill>
                  <a:srgbClr val="FFFFFF"/>
                </a:solidFill>
                <a:latin typeface="Cambria Math" panose="02040503050406030204" pitchFamily="18" charset="0"/>
              </a:rPr>
              <a:t>E = &lt;D, C, A, H, B&gt;</a:t>
            </a:r>
            <a:endParaRPr lang="zh-CN" altLang="en-US" sz="1650" b="1">
              <a:solidFill>
                <a:srgbClr val="FFFFFF"/>
              </a:solidFill>
              <a:latin typeface="Cambria Math" panose="02040503050406030204" pitchFamily="18" charset="0"/>
            </a:endParaRPr>
          </a:p>
        </p:txBody>
      </p: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DC2FFDBC-184C-3ED8-9605-BA9A1FEC095A}"/>
              </a:ext>
            </a:extLst>
          </p:cNvPr>
          <p:cNvCxnSpPr/>
          <p:nvPr/>
        </p:nvCxnSpPr>
        <p:spPr bwMode="auto">
          <a:xfrm>
            <a:off x="1676400" y="3835400"/>
            <a:ext cx="1930400" cy="0"/>
          </a:xfrm>
          <a:prstGeom prst="line">
            <a:avLst/>
          </a:prstGeom>
          <a:solidFill>
            <a:schemeClr val="accent1"/>
          </a:solidFill>
          <a:ln w="11430" cap="flat" cmpd="sng" algn="ctr">
            <a:solidFill>
              <a:srgbClr val="8EC5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0D1A400A-27D4-C61E-EDB6-D346B088082C}"/>
              </a:ext>
            </a:extLst>
          </p:cNvPr>
          <p:cNvSpPr txBox="1"/>
          <p:nvPr/>
        </p:nvSpPr>
        <p:spPr>
          <a:xfrm>
            <a:off x="1676400" y="4013200"/>
            <a:ext cx="19050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1020">
                <a:solidFill>
                  <a:srgbClr val="EAF4FF"/>
                </a:solidFill>
              </a:rPr>
              <a:t>denominator</a:t>
            </a:r>
          </a:p>
          <a:p>
            <a:r>
              <a:rPr lang="en-US" altLang="zh-CN" sz="1020">
                <a:solidFill>
                  <a:srgbClr val="EAF4FF"/>
                </a:solidFill>
              </a:rPr>
              <a:t>controls</a:t>
            </a:r>
          </a:p>
          <a:p>
            <a:r>
              <a:rPr lang="en-US" altLang="zh-CN" sz="1020">
                <a:solidFill>
                  <a:srgbClr val="EAF4FF"/>
                </a:solidFill>
              </a:rPr>
              <a:t>artifact + hash</a:t>
            </a:r>
          </a:p>
          <a:p>
            <a:r>
              <a:rPr lang="en-US" altLang="zh-CN" sz="1020">
                <a:solidFill>
                  <a:srgbClr val="EAF4FF"/>
                </a:solidFill>
              </a:rPr>
              <a:t>boundary</a:t>
            </a:r>
            <a:endParaRPr lang="zh-CN" altLang="en-US" sz="1020">
              <a:solidFill>
                <a:srgbClr val="EAF4FF"/>
              </a:solidFill>
            </a:endParaRPr>
          </a:p>
        </p:txBody>
      </p: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B1A6C78A-D634-5987-92C9-02BA5F656B99}"/>
              </a:ext>
            </a:extLst>
          </p:cNvPr>
          <p:cNvCxnSpPr/>
          <p:nvPr/>
        </p:nvCxnSpPr>
        <p:spPr bwMode="auto">
          <a:xfrm>
            <a:off x="4089400" y="3581400"/>
            <a:ext cx="482600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003B7A"/>
            </a:solidFill>
            <a:prstDash val="solid"/>
            <a:round/>
            <a:headEnd type="none" w="med" len="med"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" name="矩形 25">
            <a:extLst>
              <a:ext uri="{FF2B5EF4-FFF2-40B4-BE49-F238E27FC236}">
                <a16:creationId xmlns:a16="http://schemas.microsoft.com/office/drawing/2014/main" id="{578E2FD7-3E88-FBC3-F175-30BE394CE703}"/>
              </a:ext>
            </a:extLst>
          </p:cNvPr>
          <p:cNvSpPr/>
          <p:nvPr/>
        </p:nvSpPr>
        <p:spPr bwMode="auto">
          <a:xfrm>
            <a:off x="4724400" y="2616200"/>
            <a:ext cx="1270000" cy="1574800"/>
          </a:xfrm>
          <a:prstGeom prst="rect">
            <a:avLst/>
          </a:prstGeom>
          <a:solidFill>
            <a:srgbClr val="F4F8FD"/>
          </a:solidFill>
          <a:ln w="10160" cap="flat" cmpd="sng" algn="ctr">
            <a:solidFill>
              <a:srgbClr val="C7D7EA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BF956EA-7660-6B53-B0C5-DB95FEFBC9FA}"/>
              </a:ext>
            </a:extLst>
          </p:cNvPr>
          <p:cNvSpPr txBox="1"/>
          <p:nvPr/>
        </p:nvSpPr>
        <p:spPr>
          <a:xfrm>
            <a:off x="4927600" y="2844800"/>
            <a:ext cx="8636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CN" sz="840" b="1">
                <a:solidFill>
                  <a:srgbClr val="5E7699"/>
                </a:solidFill>
              </a:rPr>
              <a:t>Gate 1</a:t>
            </a:r>
            <a:endParaRPr lang="zh-CN" altLang="en-US" sz="840" b="1">
              <a:solidFill>
                <a:srgbClr val="5E7699"/>
              </a:solidFill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3C965894-8800-36E3-447C-7F61881F0E50}"/>
              </a:ext>
            </a:extLst>
          </p:cNvPr>
          <p:cNvSpPr txBox="1"/>
          <p:nvPr/>
        </p:nvSpPr>
        <p:spPr>
          <a:xfrm>
            <a:off x="4851400" y="3225800"/>
            <a:ext cx="10160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CN" sz="1320" b="1">
                <a:solidFill>
                  <a:srgbClr val="003B7A"/>
                </a:solidFill>
              </a:rPr>
              <a:t>Freeze D</a:t>
            </a:r>
            <a:endParaRPr lang="zh-CN" altLang="en-US" sz="1320" b="1">
              <a:solidFill>
                <a:srgbClr val="003B7A"/>
              </a:solidFill>
            </a:endParaRPr>
          </a:p>
        </p:txBody>
      </p: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549DBCA3-D9FA-5C01-1BDD-2B953B9F43BC}"/>
              </a:ext>
            </a:extLst>
          </p:cNvPr>
          <p:cNvCxnSpPr/>
          <p:nvPr/>
        </p:nvCxnSpPr>
        <p:spPr bwMode="auto">
          <a:xfrm>
            <a:off x="4953000" y="3632200"/>
            <a:ext cx="812800" cy="0"/>
          </a:xfrm>
          <a:prstGeom prst="line">
            <a:avLst/>
          </a:prstGeom>
          <a:solidFill>
            <a:schemeClr val="accent1"/>
          </a:solidFill>
          <a:ln w="10160" cap="flat" cmpd="sng" algn="ctr">
            <a:solidFill>
              <a:srgbClr val="D6E2F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" name="文本框 29">
            <a:extLst>
              <a:ext uri="{FF2B5EF4-FFF2-40B4-BE49-F238E27FC236}">
                <a16:creationId xmlns:a16="http://schemas.microsoft.com/office/drawing/2014/main" id="{F2F5765E-776B-59B3-539B-AEB3434F36A1}"/>
              </a:ext>
            </a:extLst>
          </p:cNvPr>
          <p:cNvSpPr txBox="1"/>
          <p:nvPr/>
        </p:nvSpPr>
        <p:spPr>
          <a:xfrm>
            <a:off x="4851400" y="3835400"/>
            <a:ext cx="10160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CN" sz="820" b="1">
                <a:solidFill>
                  <a:srgbClr val="071A3D"/>
                </a:solidFill>
              </a:rPr>
              <a:t>fixed cases</a:t>
            </a:r>
            <a:endParaRPr lang="zh-CN" altLang="en-US" sz="820" b="1">
              <a:solidFill>
                <a:srgbClr val="071A3D"/>
              </a:solidFill>
            </a:endParaRPr>
          </a:p>
        </p:txBody>
      </p: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154371E9-8BF4-D6A2-4207-6C2086071312}"/>
              </a:ext>
            </a:extLst>
          </p:cNvPr>
          <p:cNvCxnSpPr/>
          <p:nvPr/>
        </p:nvCxnSpPr>
        <p:spPr bwMode="auto">
          <a:xfrm>
            <a:off x="6019800" y="3403600"/>
            <a:ext cx="177800" cy="0"/>
          </a:xfrm>
          <a:prstGeom prst="line">
            <a:avLst/>
          </a:prstGeom>
          <a:solidFill>
            <a:schemeClr val="accent1"/>
          </a:solidFill>
          <a:ln w="15240" cap="flat" cmpd="sng" algn="ctr">
            <a:solidFill>
              <a:srgbClr val="003B7A"/>
            </a:solidFill>
            <a:prstDash val="solid"/>
            <a:round/>
            <a:headEnd type="none" w="med" len="med"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2" name="矩形 31">
            <a:extLst>
              <a:ext uri="{FF2B5EF4-FFF2-40B4-BE49-F238E27FC236}">
                <a16:creationId xmlns:a16="http://schemas.microsoft.com/office/drawing/2014/main" id="{4E84C492-05BD-3444-EDC9-3758F3A0D334}"/>
              </a:ext>
            </a:extLst>
          </p:cNvPr>
          <p:cNvSpPr/>
          <p:nvPr/>
        </p:nvSpPr>
        <p:spPr bwMode="auto">
          <a:xfrm>
            <a:off x="6223000" y="2616200"/>
            <a:ext cx="1270000" cy="1574800"/>
          </a:xfrm>
          <a:prstGeom prst="rect">
            <a:avLst/>
          </a:prstGeom>
          <a:solidFill>
            <a:srgbClr val="F4F8FD"/>
          </a:solidFill>
          <a:ln w="10160" cap="flat" cmpd="sng" algn="ctr">
            <a:solidFill>
              <a:srgbClr val="C7D7EA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59D18FF0-E53D-8AF7-2C06-568986AB341B}"/>
              </a:ext>
            </a:extLst>
          </p:cNvPr>
          <p:cNvSpPr txBox="1"/>
          <p:nvPr/>
        </p:nvSpPr>
        <p:spPr>
          <a:xfrm>
            <a:off x="6426200" y="2844800"/>
            <a:ext cx="8636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CN" sz="840" b="1">
                <a:solidFill>
                  <a:srgbClr val="5E7699"/>
                </a:solidFill>
              </a:rPr>
              <a:t>Gate 2</a:t>
            </a:r>
            <a:endParaRPr lang="zh-CN" altLang="en-US" sz="840" b="1">
              <a:solidFill>
                <a:srgbClr val="5E7699"/>
              </a:solidFill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FFAB8303-598C-6724-0706-4029DADFD3F3}"/>
              </a:ext>
            </a:extLst>
          </p:cNvPr>
          <p:cNvSpPr txBox="1"/>
          <p:nvPr/>
        </p:nvSpPr>
        <p:spPr>
          <a:xfrm>
            <a:off x="6350000" y="3225800"/>
            <a:ext cx="10160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CN" sz="1320" b="1">
                <a:solidFill>
                  <a:srgbClr val="003B7A"/>
                </a:solidFill>
              </a:rPr>
              <a:t>Verify C</a:t>
            </a:r>
            <a:endParaRPr lang="zh-CN" altLang="en-US" sz="1320" b="1">
              <a:solidFill>
                <a:srgbClr val="003B7A"/>
              </a:solidFill>
            </a:endParaRPr>
          </a:p>
        </p:txBody>
      </p: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F43633EA-1F7B-2FC2-AF7E-F391A447533B}"/>
              </a:ext>
            </a:extLst>
          </p:cNvPr>
          <p:cNvCxnSpPr/>
          <p:nvPr/>
        </p:nvCxnSpPr>
        <p:spPr bwMode="auto">
          <a:xfrm>
            <a:off x="6451600" y="3632200"/>
            <a:ext cx="812800" cy="0"/>
          </a:xfrm>
          <a:prstGeom prst="line">
            <a:avLst/>
          </a:prstGeom>
          <a:solidFill>
            <a:schemeClr val="accent1"/>
          </a:solidFill>
          <a:ln w="10160" cap="flat" cmpd="sng" algn="ctr">
            <a:solidFill>
              <a:srgbClr val="D6E2F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6" name="文本框 35">
            <a:extLst>
              <a:ext uri="{FF2B5EF4-FFF2-40B4-BE49-F238E27FC236}">
                <a16:creationId xmlns:a16="http://schemas.microsoft.com/office/drawing/2014/main" id="{B5B60306-5750-BD96-58E7-312E4B1DFDD4}"/>
              </a:ext>
            </a:extLst>
          </p:cNvPr>
          <p:cNvSpPr txBox="1"/>
          <p:nvPr/>
        </p:nvSpPr>
        <p:spPr>
          <a:xfrm>
            <a:off x="6350000" y="3835400"/>
            <a:ext cx="10160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CN" sz="820" b="1">
                <a:solidFill>
                  <a:srgbClr val="071A3D"/>
                </a:solidFill>
              </a:rPr>
              <a:t>positive + negative</a:t>
            </a:r>
            <a:endParaRPr lang="zh-CN" altLang="en-US" sz="820" b="1">
              <a:solidFill>
                <a:srgbClr val="071A3D"/>
              </a:solidFill>
            </a:endParaRPr>
          </a:p>
        </p:txBody>
      </p: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8CE35FE2-3F15-8512-2353-FFAA30E3C20D}"/>
              </a:ext>
            </a:extLst>
          </p:cNvPr>
          <p:cNvCxnSpPr/>
          <p:nvPr/>
        </p:nvCxnSpPr>
        <p:spPr bwMode="auto">
          <a:xfrm>
            <a:off x="7518400" y="3403600"/>
            <a:ext cx="177800" cy="0"/>
          </a:xfrm>
          <a:prstGeom prst="line">
            <a:avLst/>
          </a:prstGeom>
          <a:solidFill>
            <a:schemeClr val="accent1"/>
          </a:solidFill>
          <a:ln w="15240" cap="flat" cmpd="sng" algn="ctr">
            <a:solidFill>
              <a:srgbClr val="003B7A"/>
            </a:solidFill>
            <a:prstDash val="solid"/>
            <a:round/>
            <a:headEnd type="none" w="med" len="med"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8" name="矩形 37">
            <a:extLst>
              <a:ext uri="{FF2B5EF4-FFF2-40B4-BE49-F238E27FC236}">
                <a16:creationId xmlns:a16="http://schemas.microsoft.com/office/drawing/2014/main" id="{18E6B9FA-4D11-82CF-194D-53CBA32CCD46}"/>
              </a:ext>
            </a:extLst>
          </p:cNvPr>
          <p:cNvSpPr/>
          <p:nvPr/>
        </p:nvSpPr>
        <p:spPr bwMode="auto">
          <a:xfrm>
            <a:off x="7721600" y="2616200"/>
            <a:ext cx="1270000" cy="1574800"/>
          </a:xfrm>
          <a:prstGeom prst="rect">
            <a:avLst/>
          </a:prstGeom>
          <a:solidFill>
            <a:srgbClr val="F4F8FD"/>
          </a:solidFill>
          <a:ln w="10160" cap="flat" cmpd="sng" algn="ctr">
            <a:solidFill>
              <a:srgbClr val="C7D7EA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3B879FD3-C270-6C5E-344F-305CF1BCD8A0}"/>
              </a:ext>
            </a:extLst>
          </p:cNvPr>
          <p:cNvSpPr txBox="1"/>
          <p:nvPr/>
        </p:nvSpPr>
        <p:spPr>
          <a:xfrm>
            <a:off x="7924800" y="2844800"/>
            <a:ext cx="8636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CN" sz="840" b="1">
                <a:solidFill>
                  <a:srgbClr val="5E7699"/>
                </a:solidFill>
              </a:rPr>
              <a:t>Gate 3</a:t>
            </a:r>
            <a:endParaRPr lang="zh-CN" altLang="en-US" sz="840" b="1">
              <a:solidFill>
                <a:srgbClr val="5E7699"/>
              </a:solidFill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49A8407F-445C-A243-1554-F327BDCF18A5}"/>
              </a:ext>
            </a:extLst>
          </p:cNvPr>
          <p:cNvSpPr txBox="1"/>
          <p:nvPr/>
        </p:nvSpPr>
        <p:spPr>
          <a:xfrm>
            <a:off x="7848600" y="3225800"/>
            <a:ext cx="10160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CN" sz="1320" b="1">
                <a:solidFill>
                  <a:srgbClr val="003B7A"/>
                </a:solidFill>
              </a:rPr>
              <a:t>Bind A,H</a:t>
            </a:r>
            <a:endParaRPr lang="zh-CN" altLang="en-US" sz="1320" b="1">
              <a:solidFill>
                <a:srgbClr val="003B7A"/>
              </a:solidFill>
            </a:endParaRPr>
          </a:p>
        </p:txBody>
      </p: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3C6C3EEE-79F8-E234-EA27-DB7623EE81E3}"/>
              </a:ext>
            </a:extLst>
          </p:cNvPr>
          <p:cNvCxnSpPr/>
          <p:nvPr/>
        </p:nvCxnSpPr>
        <p:spPr bwMode="auto">
          <a:xfrm>
            <a:off x="7950200" y="3632200"/>
            <a:ext cx="812800" cy="0"/>
          </a:xfrm>
          <a:prstGeom prst="line">
            <a:avLst/>
          </a:prstGeom>
          <a:solidFill>
            <a:schemeClr val="accent1"/>
          </a:solidFill>
          <a:ln w="10160" cap="flat" cmpd="sng" algn="ctr">
            <a:solidFill>
              <a:srgbClr val="D6E2F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2" name="文本框 41">
            <a:extLst>
              <a:ext uri="{FF2B5EF4-FFF2-40B4-BE49-F238E27FC236}">
                <a16:creationId xmlns:a16="http://schemas.microsoft.com/office/drawing/2014/main" id="{169389FC-5C85-D95D-C682-8F4ECEF52137}"/>
              </a:ext>
            </a:extLst>
          </p:cNvPr>
          <p:cNvSpPr txBox="1"/>
          <p:nvPr/>
        </p:nvSpPr>
        <p:spPr>
          <a:xfrm>
            <a:off x="7848600" y="3835400"/>
            <a:ext cx="10160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CN" sz="820" b="1">
                <a:solidFill>
                  <a:srgbClr val="071A3D"/>
                </a:solidFill>
              </a:rPr>
              <a:t>inspectable file</a:t>
            </a:r>
            <a:endParaRPr lang="zh-CN" altLang="en-US" sz="820" b="1">
              <a:solidFill>
                <a:srgbClr val="071A3D"/>
              </a:solidFill>
            </a:endParaRPr>
          </a:p>
        </p:txBody>
      </p: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426C18F8-FDCE-F2D8-894B-08F57AA162AD}"/>
              </a:ext>
            </a:extLst>
          </p:cNvPr>
          <p:cNvCxnSpPr/>
          <p:nvPr/>
        </p:nvCxnSpPr>
        <p:spPr bwMode="auto">
          <a:xfrm>
            <a:off x="9017000" y="3403600"/>
            <a:ext cx="177800" cy="0"/>
          </a:xfrm>
          <a:prstGeom prst="line">
            <a:avLst/>
          </a:prstGeom>
          <a:solidFill>
            <a:schemeClr val="accent1"/>
          </a:solidFill>
          <a:ln w="15240" cap="flat" cmpd="sng" algn="ctr">
            <a:solidFill>
              <a:srgbClr val="003B7A"/>
            </a:solidFill>
            <a:prstDash val="solid"/>
            <a:round/>
            <a:headEnd type="none" w="med" len="med"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4" name="矩形 43">
            <a:extLst>
              <a:ext uri="{FF2B5EF4-FFF2-40B4-BE49-F238E27FC236}">
                <a16:creationId xmlns:a16="http://schemas.microsoft.com/office/drawing/2014/main" id="{74369FDC-564B-21AD-6AEC-9A1BC304CEF5}"/>
              </a:ext>
            </a:extLst>
          </p:cNvPr>
          <p:cNvSpPr/>
          <p:nvPr/>
        </p:nvSpPr>
        <p:spPr bwMode="auto">
          <a:xfrm>
            <a:off x="9220200" y="2616200"/>
            <a:ext cx="1270000" cy="1574800"/>
          </a:xfrm>
          <a:prstGeom prst="rect">
            <a:avLst/>
          </a:prstGeom>
          <a:solidFill>
            <a:srgbClr val="F4F8FD"/>
          </a:solidFill>
          <a:ln w="10160" cap="flat" cmpd="sng" algn="ctr">
            <a:solidFill>
              <a:srgbClr val="C7D7EA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39F27D5A-CC07-F60F-1588-D363F22007E6}"/>
              </a:ext>
            </a:extLst>
          </p:cNvPr>
          <p:cNvSpPr txBox="1"/>
          <p:nvPr/>
        </p:nvSpPr>
        <p:spPr>
          <a:xfrm>
            <a:off x="9423400" y="2844800"/>
            <a:ext cx="8636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CN" sz="840" b="1">
                <a:solidFill>
                  <a:srgbClr val="5E7699"/>
                </a:solidFill>
              </a:rPr>
              <a:t>Gate 4</a:t>
            </a:r>
            <a:endParaRPr lang="zh-CN" altLang="en-US" sz="840" b="1">
              <a:solidFill>
                <a:srgbClr val="5E7699"/>
              </a:solidFill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E85FB780-1838-8FED-892B-9CBB250BD96B}"/>
              </a:ext>
            </a:extLst>
          </p:cNvPr>
          <p:cNvSpPr txBox="1"/>
          <p:nvPr/>
        </p:nvSpPr>
        <p:spPr>
          <a:xfrm>
            <a:off x="9347200" y="3225800"/>
            <a:ext cx="10160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CN" sz="1320" b="1">
                <a:solidFill>
                  <a:srgbClr val="003B7A"/>
                </a:solidFill>
              </a:rPr>
              <a:t>State B</a:t>
            </a:r>
            <a:endParaRPr lang="zh-CN" altLang="en-US" sz="1320" b="1">
              <a:solidFill>
                <a:srgbClr val="003B7A"/>
              </a:solidFill>
            </a:endParaRPr>
          </a:p>
        </p:txBody>
      </p:sp>
      <p:cxnSp>
        <p:nvCxnSpPr>
          <p:cNvPr id="47" name="直接连接符 46">
            <a:extLst>
              <a:ext uri="{FF2B5EF4-FFF2-40B4-BE49-F238E27FC236}">
                <a16:creationId xmlns:a16="http://schemas.microsoft.com/office/drawing/2014/main" id="{D9EEB8FC-851A-C271-B04A-5E3C8851620D}"/>
              </a:ext>
            </a:extLst>
          </p:cNvPr>
          <p:cNvCxnSpPr/>
          <p:nvPr/>
        </p:nvCxnSpPr>
        <p:spPr bwMode="auto">
          <a:xfrm>
            <a:off x="9448800" y="3632200"/>
            <a:ext cx="812800" cy="0"/>
          </a:xfrm>
          <a:prstGeom prst="line">
            <a:avLst/>
          </a:prstGeom>
          <a:solidFill>
            <a:schemeClr val="accent1"/>
          </a:solidFill>
          <a:ln w="10160" cap="flat" cmpd="sng" algn="ctr">
            <a:solidFill>
              <a:srgbClr val="D6E2F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8" name="文本框 47">
            <a:extLst>
              <a:ext uri="{FF2B5EF4-FFF2-40B4-BE49-F238E27FC236}">
                <a16:creationId xmlns:a16="http://schemas.microsoft.com/office/drawing/2014/main" id="{A9004C90-DAD6-70A8-68AC-6EF20B162CEA}"/>
              </a:ext>
            </a:extLst>
          </p:cNvPr>
          <p:cNvSpPr txBox="1"/>
          <p:nvPr/>
        </p:nvSpPr>
        <p:spPr>
          <a:xfrm>
            <a:off x="9347200" y="3835400"/>
            <a:ext cx="10160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CN" sz="820" b="1">
                <a:solidFill>
                  <a:srgbClr val="071A3D"/>
                </a:solidFill>
              </a:rPr>
              <a:t>allowed boundary</a:t>
            </a:r>
            <a:endParaRPr lang="zh-CN" altLang="en-US" sz="820" b="1">
              <a:solidFill>
                <a:srgbClr val="071A3D"/>
              </a:solidFill>
            </a:endParaRP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2126EDB9-4039-D1E1-F9A1-76C4D5DF9760}"/>
              </a:ext>
            </a:extLst>
          </p:cNvPr>
          <p:cNvSpPr/>
          <p:nvPr/>
        </p:nvSpPr>
        <p:spPr bwMode="auto">
          <a:xfrm>
            <a:off x="4724400" y="4851400"/>
            <a:ext cx="3098800" cy="609600"/>
          </a:xfrm>
          <a:prstGeom prst="rect">
            <a:avLst/>
          </a:prstGeom>
          <a:solidFill>
            <a:srgbClr val="FFF1F1"/>
          </a:solidFill>
          <a:ln w="8890" cap="flat" cmpd="sng" algn="ctr">
            <a:solidFill>
              <a:srgbClr val="E6A8A8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81BE13F3-B824-6540-D9A9-B3194EF980A1}"/>
              </a:ext>
            </a:extLst>
          </p:cNvPr>
          <p:cNvSpPr txBox="1"/>
          <p:nvPr/>
        </p:nvSpPr>
        <p:spPr>
          <a:xfrm>
            <a:off x="5003800" y="5041900"/>
            <a:ext cx="25400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CN" sz="950" b="1">
                <a:solidFill>
                  <a:srgbClr val="A32626"/>
                </a:solidFill>
              </a:rPr>
              <a:t>otherwise: abstain or mark support-only</a:t>
            </a:r>
            <a:endParaRPr lang="zh-CN" altLang="en-US" sz="950" b="1">
              <a:solidFill>
                <a:srgbClr val="A32626"/>
              </a:solidFill>
            </a:endParaRP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D2663F36-328C-269D-8456-3F11C5A1D81C}"/>
              </a:ext>
            </a:extLst>
          </p:cNvPr>
          <p:cNvSpPr/>
          <p:nvPr/>
        </p:nvSpPr>
        <p:spPr bwMode="auto">
          <a:xfrm>
            <a:off x="8661400" y="4851400"/>
            <a:ext cx="2260600" cy="609600"/>
          </a:xfrm>
          <a:prstGeom prst="rect">
            <a:avLst/>
          </a:prstGeom>
          <a:solidFill>
            <a:srgbClr val="003B7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0C663FE9-3B20-A4D5-6C38-E9EE42F2173E}"/>
              </a:ext>
            </a:extLst>
          </p:cNvPr>
          <p:cNvSpPr txBox="1"/>
          <p:nvPr/>
        </p:nvSpPr>
        <p:spPr>
          <a:xfrm>
            <a:off x="8966200" y="5003800"/>
            <a:ext cx="16510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CN" sz="1200" b="1">
                <a:solidFill>
                  <a:srgbClr val="FFFFFF"/>
                </a:solidFill>
              </a:rPr>
              <a:t>bounded claim</a:t>
            </a:r>
            <a:endParaRPr lang="zh-CN" altLang="en-US" sz="1200" b="1">
              <a:solidFill>
                <a:srgbClr val="FFFFFF"/>
              </a:solidFill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E5EAD725-949D-A13E-C635-6AF539D6A989}"/>
              </a:ext>
            </a:extLst>
          </p:cNvPr>
          <p:cNvSpPr txBox="1"/>
          <p:nvPr/>
        </p:nvSpPr>
        <p:spPr>
          <a:xfrm>
            <a:off x="8966200" y="5283200"/>
            <a:ext cx="16510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CN" sz="870" b="1">
                <a:solidFill>
                  <a:srgbClr val="DCEBFA"/>
                </a:solidFill>
              </a:rPr>
              <a:t>only after all gates pass</a:t>
            </a:r>
            <a:endParaRPr lang="zh-CN" altLang="en-US" sz="870" b="1">
              <a:solidFill>
                <a:srgbClr val="DCEBF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0073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 thruBlk="1"/>
      </p:transition>
    </mc:Choice>
    <mc:Fallback xmlns="">
      <p:transition spd="slow"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3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3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3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3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3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3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3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/>
      <p:bldP spid="22" grpId="0"/>
      <p:bldP spid="24" grpId="0"/>
      <p:bldP spid="26" grpId="0" animBg="1"/>
      <p:bldP spid="27" grpId="0"/>
      <p:bldP spid="28" grpId="0"/>
      <p:bldP spid="30" grpId="0"/>
      <p:bldP spid="38" grpId="0" animBg="1"/>
      <p:bldP spid="39" grpId="0"/>
      <p:bldP spid="40" grpId="0"/>
      <p:bldP spid="42" grpId="0"/>
      <p:bldP spid="44" grpId="0" animBg="1"/>
      <p:bldP spid="45" grpId="0"/>
      <p:bldP spid="46" grpId="0"/>
      <p:bldP spid="48" grpId="0"/>
      <p:bldP spid="49" grpId="0" animBg="1"/>
      <p:bldP spid="50" grpId="0"/>
      <p:bldP spid="51" grpId="0" animBg="1"/>
      <p:bldP spid="52" grpId="0"/>
      <p:bldP spid="5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0A07373A-AB55-F97B-D751-5A3EB9F137D7}"/>
              </a:ext>
            </a:extLst>
          </p:cNvPr>
          <p:cNvSpPr/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003B7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34CED21-DC65-1443-14B7-9436A928772F}"/>
              </a:ext>
            </a:extLst>
          </p:cNvPr>
          <p:cNvSpPr/>
          <p:nvPr/>
        </p:nvSpPr>
        <p:spPr bwMode="auto">
          <a:xfrm>
            <a:off x="0" y="0"/>
            <a:ext cx="889000" cy="6858000"/>
          </a:xfrm>
          <a:prstGeom prst="rect">
            <a:avLst/>
          </a:prstGeom>
          <a:solidFill>
            <a:srgbClr val="002B5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ADE79D7-7602-622D-C08B-094597AB3F79}"/>
              </a:ext>
            </a:extLst>
          </p:cNvPr>
          <p:cNvSpPr/>
          <p:nvPr/>
        </p:nvSpPr>
        <p:spPr bwMode="auto">
          <a:xfrm>
            <a:off x="889000" y="0"/>
            <a:ext cx="114300" cy="6858000"/>
          </a:xfrm>
          <a:prstGeom prst="rect">
            <a:avLst/>
          </a:prstGeom>
          <a:solidFill>
            <a:srgbClr val="6A9CCB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E70D3ED-9C00-1C24-C1D9-62EAEB8D8D23}"/>
              </a:ext>
            </a:extLst>
          </p:cNvPr>
          <p:cNvSpPr txBox="1"/>
          <p:nvPr/>
        </p:nvSpPr>
        <p:spPr>
          <a:xfrm>
            <a:off x="1422400" y="533400"/>
            <a:ext cx="25400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900" b="1">
                <a:solidFill>
                  <a:srgbClr val="BBD7F0"/>
                </a:solidFill>
              </a:rPr>
              <a:t>Results</a:t>
            </a:r>
            <a:endParaRPr lang="zh-CN" altLang="en-US" sz="900" b="1">
              <a:solidFill>
                <a:srgbClr val="BBD7F0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C193ADD-DDA2-D185-54F5-E0EFA8E1923D}"/>
              </a:ext>
            </a:extLst>
          </p:cNvPr>
          <p:cNvSpPr txBox="1"/>
          <p:nvPr/>
        </p:nvSpPr>
        <p:spPr>
          <a:xfrm>
            <a:off x="1422400" y="889000"/>
            <a:ext cx="91440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3100" b="1">
                <a:solidFill>
                  <a:srgbClr val="FFFFFF"/>
                </a:solidFill>
              </a:rPr>
              <a:t>Three surfaces are strong and easy to defend</a:t>
            </a:r>
            <a:endParaRPr lang="zh-CN" altLang="en-US" sz="3100" b="1">
              <a:solidFill>
                <a:srgbClr val="FFFFFF"/>
              </a:solidFill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25DBB433-5A15-A9B4-96E9-9997F6071BD2}"/>
              </a:ext>
            </a:extLst>
          </p:cNvPr>
          <p:cNvCxnSpPr/>
          <p:nvPr/>
        </p:nvCxnSpPr>
        <p:spPr bwMode="auto">
          <a:xfrm>
            <a:off x="1447800" y="1854200"/>
            <a:ext cx="9296400" cy="0"/>
          </a:xfrm>
          <a:prstGeom prst="line">
            <a:avLst/>
          </a:prstGeom>
          <a:solidFill>
            <a:schemeClr val="accent1"/>
          </a:solidFill>
          <a:ln w="13970" cap="flat" cmpd="sng" algn="ctr">
            <a:solidFill>
              <a:srgbClr val="7EB0DD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0AAFC3F0-7AE9-5A28-666F-84DDEF6D8C8D}"/>
              </a:ext>
            </a:extLst>
          </p:cNvPr>
          <p:cNvSpPr txBox="1"/>
          <p:nvPr/>
        </p:nvSpPr>
        <p:spPr>
          <a:xfrm>
            <a:off x="11379200" y="584200"/>
            <a:ext cx="4064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r"/>
            <a:r>
              <a:rPr lang="en-US" altLang="zh-CN" sz="800">
                <a:solidFill>
                  <a:srgbClr val="BBD7F0"/>
                </a:solidFill>
              </a:rPr>
              <a:t>07</a:t>
            </a:r>
            <a:endParaRPr lang="zh-CN" altLang="en-US" sz="800">
              <a:solidFill>
                <a:srgbClr val="BBD7F0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2C761EA-2076-C38C-C45B-30FB594F07D2}"/>
              </a:ext>
            </a:extLst>
          </p:cNvPr>
          <p:cNvSpPr/>
          <p:nvPr/>
        </p:nvSpPr>
        <p:spPr bwMode="auto">
          <a:xfrm>
            <a:off x="8204200" y="584200"/>
            <a:ext cx="381000" cy="50800"/>
          </a:xfrm>
          <a:prstGeom prst="rect">
            <a:avLst/>
          </a:prstGeom>
          <a:solidFill>
            <a:srgbClr val="5E8FC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0F3F2DC-1F75-D0A0-06CB-73637BFDDD23}"/>
              </a:ext>
            </a:extLst>
          </p:cNvPr>
          <p:cNvSpPr/>
          <p:nvPr/>
        </p:nvSpPr>
        <p:spPr bwMode="auto">
          <a:xfrm>
            <a:off x="8737600" y="584200"/>
            <a:ext cx="381000" cy="50800"/>
          </a:xfrm>
          <a:prstGeom prst="rect">
            <a:avLst/>
          </a:prstGeom>
          <a:solidFill>
            <a:srgbClr val="5E8FC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8F3B420-6C8F-00EC-5B87-77FCB1C19C94}"/>
              </a:ext>
            </a:extLst>
          </p:cNvPr>
          <p:cNvSpPr/>
          <p:nvPr/>
        </p:nvSpPr>
        <p:spPr bwMode="auto">
          <a:xfrm>
            <a:off x="9271000" y="584200"/>
            <a:ext cx="381000" cy="50800"/>
          </a:xfrm>
          <a:prstGeom prst="rect">
            <a:avLst/>
          </a:prstGeom>
          <a:solidFill>
            <a:srgbClr val="F2C14E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C26EB0C-08D8-073C-C1E9-9C05EE5DE5F1}"/>
              </a:ext>
            </a:extLst>
          </p:cNvPr>
          <p:cNvSpPr/>
          <p:nvPr/>
        </p:nvSpPr>
        <p:spPr bwMode="auto">
          <a:xfrm>
            <a:off x="9804400" y="584200"/>
            <a:ext cx="381000" cy="50800"/>
          </a:xfrm>
          <a:prstGeom prst="rect">
            <a:avLst/>
          </a:prstGeom>
          <a:solidFill>
            <a:srgbClr val="5E8FC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865C3A2-6DD6-C0E3-6C1B-06F5647308CB}"/>
              </a:ext>
            </a:extLst>
          </p:cNvPr>
          <p:cNvSpPr/>
          <p:nvPr/>
        </p:nvSpPr>
        <p:spPr bwMode="auto">
          <a:xfrm>
            <a:off x="10337800" y="584200"/>
            <a:ext cx="381000" cy="50800"/>
          </a:xfrm>
          <a:prstGeom prst="rect">
            <a:avLst/>
          </a:prstGeom>
          <a:solidFill>
            <a:srgbClr val="5E8FC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91365CE-E7ED-7469-F881-C88BCF9006D5}"/>
              </a:ext>
            </a:extLst>
          </p:cNvPr>
          <p:cNvSpPr txBox="1"/>
          <p:nvPr/>
        </p:nvSpPr>
        <p:spPr>
          <a:xfrm>
            <a:off x="8204200" y="711200"/>
            <a:ext cx="24638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r"/>
            <a:r>
              <a:rPr lang="en-US" altLang="zh-CN" sz="680" b="1">
                <a:solidFill>
                  <a:srgbClr val="BBD7F0"/>
                </a:solidFill>
              </a:rPr>
              <a:t>Results</a:t>
            </a:r>
            <a:endParaRPr lang="zh-CN" altLang="en-US" sz="680" b="1">
              <a:solidFill>
                <a:srgbClr val="BBD7F0"/>
              </a:solidFill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AD74E1B6-0B79-126E-7C00-57A236D2AABE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3200" y="6248400"/>
            <a:ext cx="2311400" cy="419100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7CC82165-5106-63D8-60BE-A2E4523F30D4}"/>
              </a:ext>
            </a:extLst>
          </p:cNvPr>
          <p:cNvSpPr txBox="1"/>
          <p:nvPr/>
        </p:nvSpPr>
        <p:spPr>
          <a:xfrm>
            <a:off x="1473200" y="2057400"/>
            <a:ext cx="91440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1300" b="1">
                <a:solidFill>
                  <a:srgbClr val="EAF4FF"/>
                </a:solidFill>
              </a:rPr>
              <a:t>These are the high-confidence evidence surfaces I would lead with during Q&amp;A.</a:t>
            </a:r>
            <a:endParaRPr lang="zh-CN" altLang="en-US" sz="1300" b="1">
              <a:solidFill>
                <a:srgbClr val="EAF4FF"/>
              </a:solidFill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0F8799F-4081-0168-33E3-76D40579FAC0}"/>
              </a:ext>
            </a:extLst>
          </p:cNvPr>
          <p:cNvSpPr/>
          <p:nvPr/>
        </p:nvSpPr>
        <p:spPr bwMode="auto">
          <a:xfrm>
            <a:off x="1473200" y="2692400"/>
            <a:ext cx="2768600" cy="2082800"/>
          </a:xfrm>
          <a:prstGeom prst="rect">
            <a:avLst/>
          </a:prstGeom>
          <a:solidFill>
            <a:srgbClr val="0B3F88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ABBDF076-3E1E-F5C6-C019-27580F9E1BF8}"/>
              </a:ext>
            </a:extLst>
          </p:cNvPr>
          <p:cNvSpPr txBox="1"/>
          <p:nvPr/>
        </p:nvSpPr>
        <p:spPr>
          <a:xfrm>
            <a:off x="1727200" y="2946400"/>
            <a:ext cx="22606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1050" b="1">
                <a:solidFill>
                  <a:srgbClr val="DCEBFA"/>
                </a:solidFill>
              </a:rPr>
              <a:t>Benchmark completion</a:t>
            </a:r>
            <a:endParaRPr lang="zh-CN" altLang="en-US" sz="1050" b="1">
              <a:solidFill>
                <a:srgbClr val="DCEBFA"/>
              </a:solidFill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264268C-516A-EE7D-8992-8D0648473BFB}"/>
              </a:ext>
            </a:extLst>
          </p:cNvPr>
          <p:cNvSpPr txBox="1"/>
          <p:nvPr/>
        </p:nvSpPr>
        <p:spPr>
          <a:xfrm>
            <a:off x="1727200" y="3429000"/>
            <a:ext cx="22606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3200" b="1">
                <a:solidFill>
                  <a:srgbClr val="FFFFFF"/>
                </a:solidFill>
              </a:rPr>
              <a:t>140 / 140</a:t>
            </a:r>
            <a:endParaRPr lang="zh-CN" altLang="en-US" sz="3200" b="1">
              <a:solidFill>
                <a:srgbClr val="FFFFFF"/>
              </a:solidFill>
            </a:endParaRPr>
          </a:p>
        </p:txBody>
      </p: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1016AEA2-9F5E-347B-42D7-C24D732E5C2C}"/>
              </a:ext>
            </a:extLst>
          </p:cNvPr>
          <p:cNvCxnSpPr/>
          <p:nvPr/>
        </p:nvCxnSpPr>
        <p:spPr bwMode="auto">
          <a:xfrm>
            <a:off x="1752600" y="4191000"/>
            <a:ext cx="2209800" cy="0"/>
          </a:xfrm>
          <a:prstGeom prst="line">
            <a:avLst/>
          </a:prstGeom>
          <a:solidFill>
            <a:schemeClr val="accent1"/>
          </a:solidFill>
          <a:ln w="11430" cap="flat" cmpd="sng" algn="ctr">
            <a:solidFill>
              <a:srgbClr val="9CC2E5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6847023F-6CC9-32FA-E04B-26FBDFA16EC4}"/>
              </a:ext>
            </a:extLst>
          </p:cNvPr>
          <p:cNvSpPr txBox="1"/>
          <p:nvPr/>
        </p:nvSpPr>
        <p:spPr>
          <a:xfrm>
            <a:off x="1727200" y="4368800"/>
            <a:ext cx="22606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850">
                <a:solidFill>
                  <a:srgbClr val="EAF4FF"/>
                </a:solidFill>
              </a:rPr>
              <a:t>canonical CodeMarkBench runs completed</a:t>
            </a:r>
            <a:endParaRPr lang="zh-CN" altLang="en-US" sz="850">
              <a:solidFill>
                <a:srgbClr val="EAF4FF"/>
              </a:solidFill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99D45C2-7985-585A-0B59-07E50B7362B1}"/>
              </a:ext>
            </a:extLst>
          </p:cNvPr>
          <p:cNvSpPr/>
          <p:nvPr/>
        </p:nvSpPr>
        <p:spPr bwMode="auto">
          <a:xfrm>
            <a:off x="4724400" y="2692400"/>
            <a:ext cx="3200400" cy="2082800"/>
          </a:xfrm>
          <a:prstGeom prst="rect">
            <a:avLst/>
          </a:prstGeom>
          <a:solidFill>
            <a:srgbClr val="168E8B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29C05E2C-6D6F-2E9E-6734-A51194D5BDB3}"/>
              </a:ext>
            </a:extLst>
          </p:cNvPr>
          <p:cNvSpPr txBox="1"/>
          <p:nvPr/>
        </p:nvSpPr>
        <p:spPr>
          <a:xfrm>
            <a:off x="4978400" y="2946400"/>
            <a:ext cx="26924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1050" b="1">
                <a:solidFill>
                  <a:srgbClr val="DCEBFA"/>
                </a:solidFill>
              </a:rPr>
              <a:t>White-box recovery</a:t>
            </a:r>
            <a:endParaRPr lang="zh-CN" altLang="en-US" sz="1050" b="1">
              <a:solidFill>
                <a:srgbClr val="DCEBFA"/>
              </a:solidFill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E3613331-EE1C-8185-FE6D-44E73654D390}"/>
              </a:ext>
            </a:extLst>
          </p:cNvPr>
          <p:cNvSpPr txBox="1"/>
          <p:nvPr/>
        </p:nvSpPr>
        <p:spPr>
          <a:xfrm>
            <a:off x="4978400" y="3327400"/>
            <a:ext cx="26924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2900" b="1">
                <a:solidFill>
                  <a:srgbClr val="FFFFFF"/>
                </a:solidFill>
              </a:rPr>
              <a:t>30,330 /</a:t>
            </a:r>
            <a:endParaRPr lang="zh-CN" altLang="en-US" sz="2900" b="1">
              <a:solidFill>
                <a:srgbClr val="FFFFFF"/>
              </a:solidFill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2E451C14-7502-B6F3-7C2C-FB1EF472A6DB}"/>
              </a:ext>
            </a:extLst>
          </p:cNvPr>
          <p:cNvSpPr txBox="1"/>
          <p:nvPr/>
        </p:nvSpPr>
        <p:spPr>
          <a:xfrm>
            <a:off x="4978400" y="3733800"/>
            <a:ext cx="26924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2900" b="1">
                <a:solidFill>
                  <a:srgbClr val="FFFFFF"/>
                </a:solidFill>
              </a:rPr>
              <a:t>31,200</a:t>
            </a:r>
            <a:endParaRPr lang="zh-CN" altLang="en-US" sz="2900" b="1">
              <a:solidFill>
                <a:srgbClr val="FFFFFF"/>
              </a:solidFill>
            </a:endParaRPr>
          </a:p>
        </p:txBody>
      </p: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0C0ABDB1-09C0-8C89-EE7C-23634E2D3926}"/>
              </a:ext>
            </a:extLst>
          </p:cNvPr>
          <p:cNvCxnSpPr/>
          <p:nvPr/>
        </p:nvCxnSpPr>
        <p:spPr bwMode="auto">
          <a:xfrm>
            <a:off x="5003800" y="4191000"/>
            <a:ext cx="2641600" cy="0"/>
          </a:xfrm>
          <a:prstGeom prst="line">
            <a:avLst/>
          </a:prstGeom>
          <a:solidFill>
            <a:schemeClr val="accent1"/>
          </a:solidFill>
          <a:ln w="11430" cap="flat" cmpd="sng" algn="ctr">
            <a:solidFill>
              <a:srgbClr val="9CC2E5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8" name="文本框 27">
            <a:extLst>
              <a:ext uri="{FF2B5EF4-FFF2-40B4-BE49-F238E27FC236}">
                <a16:creationId xmlns:a16="http://schemas.microsoft.com/office/drawing/2014/main" id="{C7F6CA87-7481-677A-D9D0-7B2EB3064E0E}"/>
              </a:ext>
            </a:extLst>
          </p:cNvPr>
          <p:cNvSpPr txBox="1"/>
          <p:nvPr/>
        </p:nvSpPr>
        <p:spPr>
          <a:xfrm>
            <a:off x="4978400" y="4368800"/>
            <a:ext cx="26924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850">
                <a:solidFill>
                  <a:srgbClr val="EAF4FF"/>
                </a:solidFill>
              </a:rPr>
              <a:t>SemCodebook recoveries; controls stayed at zero</a:t>
            </a:r>
            <a:endParaRPr lang="zh-CN" altLang="en-US" sz="850">
              <a:solidFill>
                <a:srgbClr val="EAF4FF"/>
              </a:solidFill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1A716EFE-68A8-F14A-1CBB-E351F99054DB}"/>
              </a:ext>
            </a:extLst>
          </p:cNvPr>
          <p:cNvSpPr/>
          <p:nvPr/>
        </p:nvSpPr>
        <p:spPr bwMode="auto">
          <a:xfrm>
            <a:off x="8407400" y="2692400"/>
            <a:ext cx="2311400" cy="2082800"/>
          </a:xfrm>
          <a:prstGeom prst="rect">
            <a:avLst/>
          </a:prstGeom>
          <a:solidFill>
            <a:srgbClr val="B85C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C3BF3AF8-68A1-E3A1-E49F-DECF840D13C8}"/>
              </a:ext>
            </a:extLst>
          </p:cNvPr>
          <p:cNvSpPr txBox="1"/>
          <p:nvPr/>
        </p:nvSpPr>
        <p:spPr>
          <a:xfrm>
            <a:off x="8661400" y="2946400"/>
            <a:ext cx="18034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1050" b="1">
                <a:solidFill>
                  <a:srgbClr val="DCEBFA"/>
                </a:solidFill>
              </a:rPr>
              <a:t>Owner attribution</a:t>
            </a:r>
            <a:endParaRPr lang="zh-CN" altLang="en-US" sz="1050" b="1">
              <a:solidFill>
                <a:srgbClr val="DCEBFA"/>
              </a:solidFill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CAA2A8BC-9AC5-24E5-E425-E2F528647820}"/>
              </a:ext>
            </a:extLst>
          </p:cNvPr>
          <p:cNvSpPr txBox="1"/>
          <p:nvPr/>
        </p:nvSpPr>
        <p:spPr>
          <a:xfrm>
            <a:off x="8661400" y="3429000"/>
            <a:ext cx="18034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3200" b="1">
                <a:solidFill>
                  <a:srgbClr val="FFFFFF"/>
                </a:solidFill>
              </a:rPr>
              <a:t>750 / 750</a:t>
            </a:r>
            <a:endParaRPr lang="zh-CN" altLang="en-US" sz="3200" b="1">
              <a:solidFill>
                <a:srgbClr val="FFFFFF"/>
              </a:solidFill>
            </a:endParaRPr>
          </a:p>
        </p:txBody>
      </p: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2923D5A8-0D6F-834A-68B8-D9451765EE5A}"/>
              </a:ext>
            </a:extLst>
          </p:cNvPr>
          <p:cNvCxnSpPr/>
          <p:nvPr/>
        </p:nvCxnSpPr>
        <p:spPr bwMode="auto">
          <a:xfrm>
            <a:off x="8686800" y="4191000"/>
            <a:ext cx="1752600" cy="0"/>
          </a:xfrm>
          <a:prstGeom prst="line">
            <a:avLst/>
          </a:prstGeom>
          <a:solidFill>
            <a:schemeClr val="accent1"/>
          </a:solidFill>
          <a:ln w="11430" cap="flat" cmpd="sng" algn="ctr">
            <a:solidFill>
              <a:srgbClr val="9CC2E5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3" name="文本框 32">
            <a:extLst>
              <a:ext uri="{FF2B5EF4-FFF2-40B4-BE49-F238E27FC236}">
                <a16:creationId xmlns:a16="http://schemas.microsoft.com/office/drawing/2014/main" id="{B33DC283-22D0-E0AF-E2EA-28230C232EDB}"/>
              </a:ext>
            </a:extLst>
          </p:cNvPr>
          <p:cNvSpPr txBox="1"/>
          <p:nvPr/>
        </p:nvSpPr>
        <p:spPr>
          <a:xfrm>
            <a:off x="8661400" y="4368800"/>
            <a:ext cx="18034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850">
                <a:solidFill>
                  <a:srgbClr val="EAF4FF"/>
                </a:solidFill>
              </a:rPr>
              <a:t>ProbeTrace scoped true-owner decisions</a:t>
            </a:r>
            <a:endParaRPr lang="zh-CN" altLang="en-US" sz="850">
              <a:solidFill>
                <a:srgbClr val="EAF4FF"/>
              </a:solidFill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68DA9931-F311-1A60-012B-D329BA399158}"/>
              </a:ext>
            </a:extLst>
          </p:cNvPr>
          <p:cNvSpPr/>
          <p:nvPr/>
        </p:nvSpPr>
        <p:spPr bwMode="auto">
          <a:xfrm>
            <a:off x="1981200" y="5105400"/>
            <a:ext cx="8229600" cy="50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60DC9A58-903C-DDA1-E431-BCA934C6225A}"/>
              </a:ext>
            </a:extLst>
          </p:cNvPr>
          <p:cNvSpPr txBox="1"/>
          <p:nvPr/>
        </p:nvSpPr>
        <p:spPr>
          <a:xfrm>
            <a:off x="2362200" y="5257800"/>
            <a:ext cx="74676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CN" sz="1020" b="1">
                <a:solidFill>
                  <a:srgbClr val="071A3D"/>
                </a:solidFill>
              </a:rPr>
              <a:t>Important qualifier: these are access-specific results, not a universal watermarking guarantee.</a:t>
            </a:r>
            <a:endParaRPr lang="zh-CN" altLang="en-US" sz="1020" b="1">
              <a:solidFill>
                <a:srgbClr val="071A3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5927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 thruBlk="1"/>
      </p:transition>
    </mc:Choice>
    <mc:Fallback xmlns="">
      <p:transition spd="slow"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/>
      <p:bldP spid="20" grpId="0"/>
      <p:bldP spid="22" grpId="0"/>
      <p:bldP spid="23" grpId="0" animBg="1"/>
      <p:bldP spid="24" grpId="0"/>
      <p:bldP spid="25" grpId="0"/>
      <p:bldP spid="26" grpId="0"/>
      <p:bldP spid="28" grpId="0"/>
      <p:bldP spid="29" grpId="0" animBg="1"/>
      <p:bldP spid="30" grpId="0"/>
      <p:bldP spid="31" grpId="0"/>
      <p:bldP spid="33" grpId="0"/>
      <p:bldP spid="34" grpId="0" animBg="1"/>
      <p:bldP spid="3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9CB3F92F-8648-E582-97C4-45681EDB2BC2}"/>
              </a:ext>
            </a:extLst>
          </p:cNvPr>
          <p:cNvSpPr/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A1EBBC0-7908-1728-532B-18A34CC7C9A6}"/>
              </a:ext>
            </a:extLst>
          </p:cNvPr>
          <p:cNvSpPr/>
          <p:nvPr/>
        </p:nvSpPr>
        <p:spPr bwMode="auto">
          <a:xfrm>
            <a:off x="0" y="0"/>
            <a:ext cx="685800" cy="6858000"/>
          </a:xfrm>
          <a:prstGeom prst="rect">
            <a:avLst/>
          </a:prstGeom>
          <a:solidFill>
            <a:srgbClr val="003B7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CDD285E-6286-B40B-C458-C20C51F9DB64}"/>
              </a:ext>
            </a:extLst>
          </p:cNvPr>
          <p:cNvSpPr/>
          <p:nvPr/>
        </p:nvSpPr>
        <p:spPr bwMode="auto">
          <a:xfrm>
            <a:off x="685800" y="0"/>
            <a:ext cx="127000" cy="6858000"/>
          </a:xfrm>
          <a:prstGeom prst="rect">
            <a:avLst/>
          </a:prstGeom>
          <a:solidFill>
            <a:srgbClr val="6A9CCB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A568756-F223-0E8C-3968-7BDCC74FE38F}"/>
              </a:ext>
            </a:extLst>
          </p:cNvPr>
          <p:cNvSpPr txBox="1"/>
          <p:nvPr/>
        </p:nvSpPr>
        <p:spPr>
          <a:xfrm>
            <a:off x="1168400" y="431800"/>
            <a:ext cx="25400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850" b="1">
                <a:solidFill>
                  <a:srgbClr val="5E7699"/>
                </a:solidFill>
              </a:rPr>
              <a:t>Results</a:t>
            </a:r>
            <a:endParaRPr lang="zh-CN" altLang="en-US" sz="850" b="1">
              <a:solidFill>
                <a:srgbClr val="5E7699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6F7152F-87A0-8939-0414-9D68B5124F11}"/>
              </a:ext>
            </a:extLst>
          </p:cNvPr>
          <p:cNvSpPr txBox="1"/>
          <p:nvPr/>
        </p:nvSpPr>
        <p:spPr>
          <a:xfrm>
            <a:off x="1168400" y="736600"/>
            <a:ext cx="96520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b="1">
                <a:solidFill>
                  <a:srgbClr val="071A3D"/>
                </a:solidFill>
              </a:rPr>
              <a:t>Conservative evidence prevents overclaiming</a:t>
            </a:r>
            <a:endParaRPr lang="zh-CN" altLang="en-US" b="1">
              <a:solidFill>
                <a:srgbClr val="071A3D"/>
              </a:solidFill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DE9687E5-35DD-D1ED-F8BE-2BB202116680}"/>
              </a:ext>
            </a:extLst>
          </p:cNvPr>
          <p:cNvCxnSpPr/>
          <p:nvPr/>
        </p:nvCxnSpPr>
        <p:spPr bwMode="auto">
          <a:xfrm>
            <a:off x="1168400" y="1473200"/>
            <a:ext cx="957580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C7D7EA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6A184696-3E64-67FF-B6EB-8AC9C5214F8A}"/>
              </a:ext>
            </a:extLst>
          </p:cNvPr>
          <p:cNvSpPr txBox="1"/>
          <p:nvPr/>
        </p:nvSpPr>
        <p:spPr>
          <a:xfrm>
            <a:off x="11480800" y="558800"/>
            <a:ext cx="3302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r"/>
            <a:r>
              <a:rPr lang="en-US" altLang="zh-CN" sz="800">
                <a:solidFill>
                  <a:srgbClr val="5E7699"/>
                </a:solidFill>
              </a:rPr>
              <a:t>08</a:t>
            </a:r>
            <a:endParaRPr lang="zh-CN" altLang="en-US" sz="800">
              <a:solidFill>
                <a:srgbClr val="5E7699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C6ECC23-F265-0B50-F483-CC363F492AFE}"/>
              </a:ext>
            </a:extLst>
          </p:cNvPr>
          <p:cNvSpPr/>
          <p:nvPr/>
        </p:nvSpPr>
        <p:spPr bwMode="auto">
          <a:xfrm>
            <a:off x="8204200" y="533400"/>
            <a:ext cx="381000" cy="50800"/>
          </a:xfrm>
          <a:prstGeom prst="rect">
            <a:avLst/>
          </a:prstGeom>
          <a:solidFill>
            <a:srgbClr val="C7D7E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8215C95-C7EB-A85F-BBE4-FA9C4F8404F6}"/>
              </a:ext>
            </a:extLst>
          </p:cNvPr>
          <p:cNvSpPr/>
          <p:nvPr/>
        </p:nvSpPr>
        <p:spPr bwMode="auto">
          <a:xfrm>
            <a:off x="8737600" y="533400"/>
            <a:ext cx="381000" cy="50800"/>
          </a:xfrm>
          <a:prstGeom prst="rect">
            <a:avLst/>
          </a:prstGeom>
          <a:solidFill>
            <a:srgbClr val="C7D7E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5F84EF4-37F1-F864-A4D1-470E533A9523}"/>
              </a:ext>
            </a:extLst>
          </p:cNvPr>
          <p:cNvSpPr/>
          <p:nvPr/>
        </p:nvSpPr>
        <p:spPr bwMode="auto">
          <a:xfrm>
            <a:off x="9271000" y="533400"/>
            <a:ext cx="381000" cy="50800"/>
          </a:xfrm>
          <a:prstGeom prst="rect">
            <a:avLst/>
          </a:prstGeom>
          <a:solidFill>
            <a:srgbClr val="F2C14E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0F85053-1CFF-71DA-9BDA-3F33579964FE}"/>
              </a:ext>
            </a:extLst>
          </p:cNvPr>
          <p:cNvSpPr/>
          <p:nvPr/>
        </p:nvSpPr>
        <p:spPr bwMode="auto">
          <a:xfrm>
            <a:off x="9804400" y="533400"/>
            <a:ext cx="381000" cy="50800"/>
          </a:xfrm>
          <a:prstGeom prst="rect">
            <a:avLst/>
          </a:prstGeom>
          <a:solidFill>
            <a:srgbClr val="C7D7E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CE37460-72C6-E3C1-EF45-9DFD2D5F7F6B}"/>
              </a:ext>
            </a:extLst>
          </p:cNvPr>
          <p:cNvSpPr/>
          <p:nvPr/>
        </p:nvSpPr>
        <p:spPr bwMode="auto">
          <a:xfrm>
            <a:off x="10337800" y="533400"/>
            <a:ext cx="381000" cy="50800"/>
          </a:xfrm>
          <a:prstGeom prst="rect">
            <a:avLst/>
          </a:prstGeom>
          <a:solidFill>
            <a:srgbClr val="C7D7E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645B991-0B71-7E34-5515-262EB94C0FED}"/>
              </a:ext>
            </a:extLst>
          </p:cNvPr>
          <p:cNvSpPr txBox="1"/>
          <p:nvPr/>
        </p:nvSpPr>
        <p:spPr>
          <a:xfrm>
            <a:off x="8204200" y="660400"/>
            <a:ext cx="24638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r"/>
            <a:r>
              <a:rPr lang="en-US" altLang="zh-CN" sz="680" b="1">
                <a:solidFill>
                  <a:srgbClr val="5E7699"/>
                </a:solidFill>
              </a:rPr>
              <a:t>Results</a:t>
            </a:r>
            <a:endParaRPr lang="zh-CN" altLang="en-US" sz="680" b="1">
              <a:solidFill>
                <a:srgbClr val="5E7699"/>
              </a:solidFill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3BE3AD10-3CD0-8C1E-7056-7C9D51D41651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000" y="6248400"/>
            <a:ext cx="2413000" cy="431800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C9FEE853-9A73-572A-674A-4AB6DB46F724}"/>
              </a:ext>
            </a:extLst>
          </p:cNvPr>
          <p:cNvSpPr txBox="1"/>
          <p:nvPr/>
        </p:nvSpPr>
        <p:spPr>
          <a:xfrm>
            <a:off x="1117600" y="6451600"/>
            <a:ext cx="26670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750">
                <a:solidFill>
                  <a:srgbClr val="6A7FA0"/>
                </a:solidFill>
              </a:rPr>
              <a:t>WatermarkScope FYP Viva</a:t>
            </a:r>
            <a:endParaRPr lang="zh-CN" altLang="en-US" sz="750">
              <a:solidFill>
                <a:srgbClr val="6A7FA0"/>
              </a:solidFill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70275EB0-69FD-BB4F-1618-F5DCD237512A}"/>
              </a:ext>
            </a:extLst>
          </p:cNvPr>
          <p:cNvSpPr txBox="1"/>
          <p:nvPr/>
        </p:nvSpPr>
        <p:spPr>
          <a:xfrm>
            <a:off x="4851400" y="6451600"/>
            <a:ext cx="21590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CN" sz="750">
                <a:solidFill>
                  <a:srgbClr val="6A7FA0"/>
                </a:solidFill>
              </a:rPr>
              <a:t>Haoyi Zhang | 2254912</a:t>
            </a:r>
            <a:endParaRPr lang="zh-CN" altLang="en-US" sz="750">
              <a:solidFill>
                <a:srgbClr val="6A7FA0"/>
              </a:solidFill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8B16330E-53FF-2E40-698D-63DA88B03835}"/>
              </a:ext>
            </a:extLst>
          </p:cNvPr>
          <p:cNvSpPr txBox="1"/>
          <p:nvPr/>
        </p:nvSpPr>
        <p:spPr>
          <a:xfrm>
            <a:off x="1168400" y="1752600"/>
            <a:ext cx="100330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1260" b="1">
                <a:solidFill>
                  <a:srgbClr val="071A3D"/>
                </a:solidFill>
              </a:rPr>
              <a:t>Two stages deliberately report abstention or sparse evidence instead of forcing a misleading success number.</a:t>
            </a:r>
            <a:endParaRPr lang="zh-CN" altLang="en-US" sz="1260" b="1">
              <a:solidFill>
                <a:srgbClr val="071A3D"/>
              </a:solidFill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B1E20BD-FB0E-5E1F-D11A-08325CC44A8D}"/>
              </a:ext>
            </a:extLst>
          </p:cNvPr>
          <p:cNvSpPr/>
          <p:nvPr/>
        </p:nvSpPr>
        <p:spPr bwMode="auto">
          <a:xfrm>
            <a:off x="1295400" y="2438400"/>
            <a:ext cx="4495800" cy="2743200"/>
          </a:xfrm>
          <a:prstGeom prst="rect">
            <a:avLst/>
          </a:prstGeom>
          <a:solidFill>
            <a:srgbClr val="FFFFFF"/>
          </a:solidFill>
          <a:ln w="11430" cap="flat" cmpd="sng" algn="ctr">
            <a:solidFill>
              <a:srgbClr val="D6E2F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819CDDA-9233-A4A6-10AF-79F22413F5B9}"/>
              </a:ext>
            </a:extLst>
          </p:cNvPr>
          <p:cNvSpPr/>
          <p:nvPr/>
        </p:nvSpPr>
        <p:spPr bwMode="auto">
          <a:xfrm>
            <a:off x="1295400" y="2438400"/>
            <a:ext cx="4495800" cy="660400"/>
          </a:xfrm>
          <a:prstGeom prst="rect">
            <a:avLst/>
          </a:prstGeom>
          <a:solidFill>
            <a:srgbClr val="5B45C8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231674B-DBDC-FE4E-E113-46FAFF3B8142}"/>
              </a:ext>
            </a:extLst>
          </p:cNvPr>
          <p:cNvSpPr txBox="1"/>
          <p:nvPr/>
        </p:nvSpPr>
        <p:spPr>
          <a:xfrm>
            <a:off x="1676400" y="2654300"/>
            <a:ext cx="15240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1800" b="1">
                <a:solidFill>
                  <a:srgbClr val="FFFFFF"/>
                </a:solidFill>
              </a:rPr>
              <a:t>CodeDye</a:t>
            </a:r>
            <a:endParaRPr lang="zh-CN" altLang="en-US" sz="1800" b="1">
              <a:solidFill>
                <a:srgbClr val="FFFFFF"/>
              </a:solidFill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215E338-FB67-BD27-8780-7A0D40632871}"/>
              </a:ext>
            </a:extLst>
          </p:cNvPr>
          <p:cNvSpPr txBox="1"/>
          <p:nvPr/>
        </p:nvSpPr>
        <p:spPr>
          <a:xfrm>
            <a:off x="3835400" y="2705100"/>
            <a:ext cx="14986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r"/>
            <a:r>
              <a:rPr lang="en-US" altLang="zh-CN" sz="960" b="1">
                <a:solidFill>
                  <a:srgbClr val="EDE8FF"/>
                </a:solidFill>
              </a:rPr>
              <a:t>black-box null audit</a:t>
            </a:r>
            <a:endParaRPr lang="zh-CN" altLang="en-US" sz="960" b="1">
              <a:solidFill>
                <a:srgbClr val="EDE8FF"/>
              </a:solidFill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C3496CFD-2C59-38C4-A06B-142CB22A4B66}"/>
              </a:ext>
            </a:extLst>
          </p:cNvPr>
          <p:cNvSpPr txBox="1"/>
          <p:nvPr/>
        </p:nvSpPr>
        <p:spPr>
          <a:xfrm>
            <a:off x="1676400" y="3454400"/>
            <a:ext cx="18288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3100" b="1">
                <a:solidFill>
                  <a:srgbClr val="071A3D"/>
                </a:solidFill>
              </a:rPr>
              <a:t>4 / 300</a:t>
            </a:r>
            <a:endParaRPr lang="zh-CN" altLang="en-US" sz="3100" b="1">
              <a:solidFill>
                <a:srgbClr val="071A3D"/>
              </a:solidFill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0C4B239-AFE1-2F99-B0F8-BB8676355DEF}"/>
              </a:ext>
            </a:extLst>
          </p:cNvPr>
          <p:cNvSpPr/>
          <p:nvPr/>
        </p:nvSpPr>
        <p:spPr bwMode="auto">
          <a:xfrm>
            <a:off x="1676400" y="4165600"/>
            <a:ext cx="3200400" cy="355600"/>
          </a:xfrm>
          <a:prstGeom prst="rect">
            <a:avLst/>
          </a:prstGeom>
          <a:solidFill>
            <a:srgbClr val="EAF4FF"/>
          </a:solidFill>
          <a:ln w="7620" cap="flat" cmpd="sng" algn="ctr">
            <a:solidFill>
              <a:srgbClr val="C7D7EA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4429B5AC-7F8B-FC72-4CF6-F1A37CA2B5AA}"/>
              </a:ext>
            </a:extLst>
          </p:cNvPr>
          <p:cNvSpPr txBox="1"/>
          <p:nvPr/>
        </p:nvSpPr>
        <p:spPr>
          <a:xfrm>
            <a:off x="1905000" y="4267200"/>
            <a:ext cx="27178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CN" sz="960" b="1">
                <a:solidFill>
                  <a:srgbClr val="003B7A"/>
                </a:solidFill>
              </a:rPr>
              <a:t>allowed: sparse live signal</a:t>
            </a:r>
            <a:endParaRPr lang="zh-CN" altLang="en-US" sz="960" b="1">
              <a:solidFill>
                <a:srgbClr val="003B7A"/>
              </a:solidFill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51F105B4-A58A-D03E-B6EB-D2D3C26C2062}"/>
              </a:ext>
            </a:extLst>
          </p:cNvPr>
          <p:cNvSpPr txBox="1"/>
          <p:nvPr/>
        </p:nvSpPr>
        <p:spPr>
          <a:xfrm>
            <a:off x="1676400" y="4775200"/>
            <a:ext cx="27940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1120" b="1">
                <a:solidFill>
                  <a:srgbClr val="A32626"/>
                </a:solidFill>
              </a:rPr>
              <a:t>refuse: prevalence or recall</a:t>
            </a:r>
            <a:endParaRPr lang="zh-CN" altLang="en-US" sz="1120" b="1">
              <a:solidFill>
                <a:srgbClr val="A32626"/>
              </a:solidFill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56A012A-A871-A1D2-5A6A-A4292B0D7567}"/>
              </a:ext>
            </a:extLst>
          </p:cNvPr>
          <p:cNvSpPr/>
          <p:nvPr/>
        </p:nvSpPr>
        <p:spPr bwMode="auto">
          <a:xfrm>
            <a:off x="6400800" y="2438400"/>
            <a:ext cx="4495800" cy="2743200"/>
          </a:xfrm>
          <a:prstGeom prst="rect">
            <a:avLst/>
          </a:prstGeom>
          <a:solidFill>
            <a:srgbClr val="FFFFFF"/>
          </a:solidFill>
          <a:ln w="11430" cap="flat" cmpd="sng" algn="ctr">
            <a:solidFill>
              <a:srgbClr val="D6E2F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F42B0BD2-5C92-FB0B-212E-A9C6C4226635}"/>
              </a:ext>
            </a:extLst>
          </p:cNvPr>
          <p:cNvSpPr/>
          <p:nvPr/>
        </p:nvSpPr>
        <p:spPr bwMode="auto">
          <a:xfrm>
            <a:off x="6400800" y="2438400"/>
            <a:ext cx="4495800" cy="660400"/>
          </a:xfrm>
          <a:prstGeom prst="rect">
            <a:avLst/>
          </a:prstGeom>
          <a:solidFill>
            <a:srgbClr val="1F7A4D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7180D382-A805-63AF-03E1-8813499E5BB2}"/>
              </a:ext>
            </a:extLst>
          </p:cNvPr>
          <p:cNvSpPr txBox="1"/>
          <p:nvPr/>
        </p:nvSpPr>
        <p:spPr>
          <a:xfrm>
            <a:off x="6781800" y="2654300"/>
            <a:ext cx="16510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1800" b="1">
                <a:solidFill>
                  <a:srgbClr val="FFFFFF"/>
                </a:solidFill>
              </a:rPr>
              <a:t>SealAudit</a:t>
            </a:r>
            <a:endParaRPr lang="zh-CN" altLang="en-US" sz="1800" b="1">
              <a:solidFill>
                <a:srgbClr val="FFFFFF"/>
              </a:solidFill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022D26F0-DB09-47D0-4378-C8FA99123881}"/>
              </a:ext>
            </a:extLst>
          </p:cNvPr>
          <p:cNvSpPr txBox="1"/>
          <p:nvPr/>
        </p:nvSpPr>
        <p:spPr>
          <a:xfrm>
            <a:off x="8890000" y="2705100"/>
            <a:ext cx="15494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r"/>
            <a:r>
              <a:rPr lang="en-US" altLang="zh-CN" sz="960" b="1">
                <a:solidFill>
                  <a:srgbClr val="E6F7EF"/>
                </a:solidFill>
              </a:rPr>
              <a:t>marker-hidden triage</a:t>
            </a:r>
            <a:endParaRPr lang="zh-CN" altLang="en-US" sz="960" b="1">
              <a:solidFill>
                <a:srgbClr val="E6F7EF"/>
              </a:solidFill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5AF74170-5244-FA0E-F0CC-5E5ED21E309C}"/>
              </a:ext>
            </a:extLst>
          </p:cNvPr>
          <p:cNvSpPr txBox="1"/>
          <p:nvPr/>
        </p:nvSpPr>
        <p:spPr>
          <a:xfrm>
            <a:off x="6781800" y="3454400"/>
            <a:ext cx="20828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3000" b="1">
                <a:solidFill>
                  <a:srgbClr val="071A3D"/>
                </a:solidFill>
              </a:rPr>
              <a:t>320 / 960</a:t>
            </a:r>
            <a:endParaRPr lang="zh-CN" altLang="en-US" sz="3000" b="1">
              <a:solidFill>
                <a:srgbClr val="071A3D"/>
              </a:solidFill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89666FE4-81C5-F311-D282-1F928B8893C6}"/>
              </a:ext>
            </a:extLst>
          </p:cNvPr>
          <p:cNvSpPr/>
          <p:nvPr/>
        </p:nvSpPr>
        <p:spPr bwMode="auto">
          <a:xfrm>
            <a:off x="6781800" y="4165600"/>
            <a:ext cx="3200400" cy="355600"/>
          </a:xfrm>
          <a:prstGeom prst="rect">
            <a:avLst/>
          </a:prstGeom>
          <a:solidFill>
            <a:srgbClr val="EAF4FF"/>
          </a:solidFill>
          <a:ln w="7620" cap="flat" cmpd="sng" algn="ctr">
            <a:solidFill>
              <a:srgbClr val="C7D7EA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D534E2DD-2313-CC2A-BF93-AAFD0B195A40}"/>
              </a:ext>
            </a:extLst>
          </p:cNvPr>
          <p:cNvSpPr txBox="1"/>
          <p:nvPr/>
        </p:nvSpPr>
        <p:spPr>
          <a:xfrm>
            <a:off x="7010400" y="4267200"/>
            <a:ext cx="27178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CN" sz="960" b="1">
                <a:solidFill>
                  <a:srgbClr val="003B7A"/>
                </a:solidFill>
              </a:rPr>
              <a:t>allowed: selective security triage</a:t>
            </a:r>
            <a:endParaRPr lang="zh-CN" altLang="en-US" sz="960" b="1">
              <a:solidFill>
                <a:srgbClr val="003B7A"/>
              </a:solidFill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546AACFA-FC2A-A8B5-1CD0-6A36DF5B628B}"/>
              </a:ext>
            </a:extLst>
          </p:cNvPr>
          <p:cNvSpPr txBox="1"/>
          <p:nvPr/>
        </p:nvSpPr>
        <p:spPr>
          <a:xfrm>
            <a:off x="6781800" y="4775200"/>
            <a:ext cx="29210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1120" b="1">
                <a:solidFill>
                  <a:srgbClr val="A32626"/>
                </a:solidFill>
              </a:rPr>
              <a:t>refuse: full safety certificate</a:t>
            </a:r>
            <a:endParaRPr lang="zh-CN" altLang="en-US" sz="1120" b="1">
              <a:solidFill>
                <a:srgbClr val="A32626"/>
              </a:solidFill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9CEBE9DC-5FA8-2F33-52E7-FB08F4005965}"/>
              </a:ext>
            </a:extLst>
          </p:cNvPr>
          <p:cNvSpPr/>
          <p:nvPr/>
        </p:nvSpPr>
        <p:spPr bwMode="auto">
          <a:xfrm>
            <a:off x="2514600" y="5511800"/>
            <a:ext cx="7162800" cy="457200"/>
          </a:xfrm>
          <a:prstGeom prst="rect">
            <a:avLst/>
          </a:prstGeom>
          <a:solidFill>
            <a:srgbClr val="071A3D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51630D9C-70CC-7229-BF95-1D974B6AA326}"/>
              </a:ext>
            </a:extLst>
          </p:cNvPr>
          <p:cNvSpPr txBox="1"/>
          <p:nvPr/>
        </p:nvSpPr>
        <p:spPr>
          <a:xfrm>
            <a:off x="2870200" y="5651500"/>
            <a:ext cx="64516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CN" sz="1000" b="1">
                <a:solidFill>
                  <a:srgbClr val="FFFFFF"/>
                </a:solidFill>
              </a:rPr>
              <a:t>Conservative reporting protects the thesis from claims the evidence cannot carry.</a:t>
            </a:r>
            <a:endParaRPr lang="zh-CN" altLang="en-US" sz="1000" b="1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1194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 thruBlk="1"/>
      </p:transition>
    </mc:Choice>
    <mc:Fallback xmlns="">
      <p:transition spd="slow"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3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3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32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2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/>
      <p:bldP spid="23" grpId="0"/>
      <p:bldP spid="24" grpId="0"/>
      <p:bldP spid="25" grpId="0" animBg="1"/>
      <p:bldP spid="26" grpId="0"/>
      <p:bldP spid="27" grpId="0"/>
      <p:bldP spid="28" grpId="0" animBg="1"/>
      <p:bldP spid="29" grpId="0" animBg="1"/>
      <p:bldP spid="30" grpId="0"/>
      <p:bldP spid="31" grpId="0"/>
      <p:bldP spid="32" grpId="0"/>
      <p:bldP spid="33" grpId="0" animBg="1"/>
      <p:bldP spid="34" grpId="0"/>
      <p:bldP spid="35" grpId="0"/>
      <p:bldP spid="36" grpId="0" animBg="1"/>
      <p:bldP spid="3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13BDB1AF-0488-D9AE-B36F-6780E4A38701}"/>
              </a:ext>
            </a:extLst>
          </p:cNvPr>
          <p:cNvSpPr/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7BA77CC-A34C-6E73-CDA8-F5A46E27279D}"/>
              </a:ext>
            </a:extLst>
          </p:cNvPr>
          <p:cNvSpPr/>
          <p:nvPr/>
        </p:nvSpPr>
        <p:spPr bwMode="auto">
          <a:xfrm>
            <a:off x="0" y="0"/>
            <a:ext cx="685800" cy="6858000"/>
          </a:xfrm>
          <a:prstGeom prst="rect">
            <a:avLst/>
          </a:prstGeom>
          <a:solidFill>
            <a:srgbClr val="003B7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1A29489-4E69-F36B-B27A-351F37BE5C5B}"/>
              </a:ext>
            </a:extLst>
          </p:cNvPr>
          <p:cNvSpPr/>
          <p:nvPr/>
        </p:nvSpPr>
        <p:spPr bwMode="auto">
          <a:xfrm>
            <a:off x="685800" y="0"/>
            <a:ext cx="127000" cy="6858000"/>
          </a:xfrm>
          <a:prstGeom prst="rect">
            <a:avLst/>
          </a:prstGeom>
          <a:solidFill>
            <a:srgbClr val="6A9CCB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1213F88-3DA2-ED6A-5DDB-FC1F878BEE22}"/>
              </a:ext>
            </a:extLst>
          </p:cNvPr>
          <p:cNvSpPr txBox="1"/>
          <p:nvPr/>
        </p:nvSpPr>
        <p:spPr>
          <a:xfrm>
            <a:off x="1168400" y="431800"/>
            <a:ext cx="25400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850" b="1">
                <a:solidFill>
                  <a:srgbClr val="5E7699"/>
                </a:solidFill>
              </a:rPr>
              <a:t>Demo 1</a:t>
            </a:r>
            <a:endParaRPr lang="zh-CN" altLang="en-US" sz="850" b="1">
              <a:solidFill>
                <a:srgbClr val="5E7699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1239BB9-845A-3016-C2E0-26E495DF9F51}"/>
              </a:ext>
            </a:extLst>
          </p:cNvPr>
          <p:cNvSpPr txBox="1"/>
          <p:nvPr/>
        </p:nvSpPr>
        <p:spPr>
          <a:xfrm>
            <a:off x="1168400" y="736600"/>
            <a:ext cx="96520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b="1">
                <a:solidFill>
                  <a:srgbClr val="071A3D"/>
                </a:solidFill>
              </a:rPr>
              <a:t>Repository walkthrough: from claim to evidence</a:t>
            </a:r>
            <a:endParaRPr lang="zh-CN" altLang="en-US" b="1">
              <a:solidFill>
                <a:srgbClr val="071A3D"/>
              </a:solidFill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C275B9E1-FD20-C24F-701A-CFE932014931}"/>
              </a:ext>
            </a:extLst>
          </p:cNvPr>
          <p:cNvCxnSpPr/>
          <p:nvPr/>
        </p:nvCxnSpPr>
        <p:spPr bwMode="auto">
          <a:xfrm>
            <a:off x="1168400" y="1473200"/>
            <a:ext cx="957580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C7D7EA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FE3C6746-15DA-0370-40AD-B1A0A5E64CDB}"/>
              </a:ext>
            </a:extLst>
          </p:cNvPr>
          <p:cNvSpPr txBox="1"/>
          <p:nvPr/>
        </p:nvSpPr>
        <p:spPr>
          <a:xfrm>
            <a:off x="11480800" y="558800"/>
            <a:ext cx="3302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r"/>
            <a:r>
              <a:rPr lang="en-US" altLang="zh-CN" sz="800">
                <a:solidFill>
                  <a:srgbClr val="5E7699"/>
                </a:solidFill>
              </a:rPr>
              <a:t>09</a:t>
            </a:r>
            <a:endParaRPr lang="zh-CN" altLang="en-US" sz="800">
              <a:solidFill>
                <a:srgbClr val="5E7699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E694B56-0DB0-BEDE-EE09-01BE0F6190B8}"/>
              </a:ext>
            </a:extLst>
          </p:cNvPr>
          <p:cNvSpPr/>
          <p:nvPr/>
        </p:nvSpPr>
        <p:spPr bwMode="auto">
          <a:xfrm>
            <a:off x="8204200" y="533400"/>
            <a:ext cx="381000" cy="50800"/>
          </a:xfrm>
          <a:prstGeom prst="rect">
            <a:avLst/>
          </a:prstGeom>
          <a:solidFill>
            <a:srgbClr val="C7D7E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6AFBD02-BB26-7BB3-F8FC-72CA25AB314A}"/>
              </a:ext>
            </a:extLst>
          </p:cNvPr>
          <p:cNvSpPr/>
          <p:nvPr/>
        </p:nvSpPr>
        <p:spPr bwMode="auto">
          <a:xfrm>
            <a:off x="8737600" y="533400"/>
            <a:ext cx="381000" cy="50800"/>
          </a:xfrm>
          <a:prstGeom prst="rect">
            <a:avLst/>
          </a:prstGeom>
          <a:solidFill>
            <a:srgbClr val="C7D7E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CB1F5F7-BED6-E160-C679-96552874DDA8}"/>
              </a:ext>
            </a:extLst>
          </p:cNvPr>
          <p:cNvSpPr/>
          <p:nvPr/>
        </p:nvSpPr>
        <p:spPr bwMode="auto">
          <a:xfrm>
            <a:off x="9271000" y="533400"/>
            <a:ext cx="381000" cy="50800"/>
          </a:xfrm>
          <a:prstGeom prst="rect">
            <a:avLst/>
          </a:prstGeom>
          <a:solidFill>
            <a:srgbClr val="C7D7E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0242920-1D60-2556-2A7D-8421E25A52AC}"/>
              </a:ext>
            </a:extLst>
          </p:cNvPr>
          <p:cNvSpPr/>
          <p:nvPr/>
        </p:nvSpPr>
        <p:spPr bwMode="auto">
          <a:xfrm>
            <a:off x="9804400" y="533400"/>
            <a:ext cx="381000" cy="50800"/>
          </a:xfrm>
          <a:prstGeom prst="rect">
            <a:avLst/>
          </a:prstGeom>
          <a:solidFill>
            <a:srgbClr val="F2C14E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5F5C88A-3404-3274-FE9B-392D9B4EA5FD}"/>
              </a:ext>
            </a:extLst>
          </p:cNvPr>
          <p:cNvSpPr/>
          <p:nvPr/>
        </p:nvSpPr>
        <p:spPr bwMode="auto">
          <a:xfrm>
            <a:off x="10337800" y="533400"/>
            <a:ext cx="381000" cy="50800"/>
          </a:xfrm>
          <a:prstGeom prst="rect">
            <a:avLst/>
          </a:prstGeom>
          <a:solidFill>
            <a:srgbClr val="C7D7E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7CF9335-2EE3-1CBA-0238-45EF6DFBD752}"/>
              </a:ext>
            </a:extLst>
          </p:cNvPr>
          <p:cNvSpPr txBox="1"/>
          <p:nvPr/>
        </p:nvSpPr>
        <p:spPr>
          <a:xfrm>
            <a:off x="8204200" y="660400"/>
            <a:ext cx="24638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r"/>
            <a:r>
              <a:rPr lang="en-US" altLang="zh-CN" sz="680" b="1">
                <a:solidFill>
                  <a:srgbClr val="5E7699"/>
                </a:solidFill>
              </a:rPr>
              <a:t>Demo</a:t>
            </a:r>
            <a:endParaRPr lang="zh-CN" altLang="en-US" sz="680" b="1">
              <a:solidFill>
                <a:srgbClr val="5E7699"/>
              </a:solidFill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099E227B-625F-5493-E949-C69840B5FCF5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000" y="6248400"/>
            <a:ext cx="2413000" cy="431800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BC8B0892-A6D4-9D36-54B5-DCD04AEB354F}"/>
              </a:ext>
            </a:extLst>
          </p:cNvPr>
          <p:cNvSpPr txBox="1"/>
          <p:nvPr/>
        </p:nvSpPr>
        <p:spPr>
          <a:xfrm>
            <a:off x="1117600" y="6451600"/>
            <a:ext cx="26670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750">
                <a:solidFill>
                  <a:srgbClr val="6A7FA0"/>
                </a:solidFill>
              </a:rPr>
              <a:t>WatermarkScope FYP Viva</a:t>
            </a:r>
            <a:endParaRPr lang="zh-CN" altLang="en-US" sz="750">
              <a:solidFill>
                <a:srgbClr val="6A7FA0"/>
              </a:solidFill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61C3A0D1-D28B-8A6F-118E-ACEF948CCF23}"/>
              </a:ext>
            </a:extLst>
          </p:cNvPr>
          <p:cNvSpPr txBox="1"/>
          <p:nvPr/>
        </p:nvSpPr>
        <p:spPr>
          <a:xfrm>
            <a:off x="4851400" y="6451600"/>
            <a:ext cx="21590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CN" sz="750">
                <a:solidFill>
                  <a:srgbClr val="6A7FA0"/>
                </a:solidFill>
              </a:rPr>
              <a:t>Haoyi Zhang | 2254912</a:t>
            </a:r>
            <a:endParaRPr lang="zh-CN" altLang="en-US" sz="750">
              <a:solidFill>
                <a:srgbClr val="6A7FA0"/>
              </a:solidFill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C8B17BE1-7983-97AD-6137-A741CBD9744A}"/>
              </a:ext>
            </a:extLst>
          </p:cNvPr>
          <p:cNvSpPr txBox="1"/>
          <p:nvPr/>
        </p:nvSpPr>
        <p:spPr>
          <a:xfrm>
            <a:off x="1168400" y="1752600"/>
            <a:ext cx="100330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1240" b="1">
                <a:solidFill>
                  <a:srgbClr val="071A3D"/>
                </a:solidFill>
              </a:rPr>
              <a:t>Video target: about 90 seconds. The point is to show that the submitted claims can be inspected in the repository.</a:t>
            </a:r>
            <a:endParaRPr lang="zh-CN" altLang="en-US" sz="1240" b="1">
              <a:solidFill>
                <a:srgbClr val="071A3D"/>
              </a:solidFill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23FB023-EB6A-4A5A-0BFE-A815061983F6}"/>
              </a:ext>
            </a:extLst>
          </p:cNvPr>
          <p:cNvSpPr/>
          <p:nvPr/>
        </p:nvSpPr>
        <p:spPr bwMode="auto">
          <a:xfrm>
            <a:off x="1320800" y="2336800"/>
            <a:ext cx="9093200" cy="2413000"/>
          </a:xfrm>
          <a:prstGeom prst="rect">
            <a:avLst/>
          </a:prstGeom>
          <a:solidFill>
            <a:srgbClr val="F4F8FD"/>
          </a:solidFill>
          <a:ln w="10160" cap="flat" cmpd="sng" algn="ctr">
            <a:solidFill>
              <a:srgbClr val="C7D7EA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2051656-9C1A-6685-5E65-59C6F9782EE1}"/>
              </a:ext>
            </a:extLst>
          </p:cNvPr>
          <p:cNvSpPr txBox="1"/>
          <p:nvPr/>
        </p:nvSpPr>
        <p:spPr>
          <a:xfrm>
            <a:off x="1625600" y="2590800"/>
            <a:ext cx="21590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1000" b="1">
                <a:solidFill>
                  <a:srgbClr val="003B7A"/>
                </a:solidFill>
              </a:rPr>
              <a:t>90-second demo route</a:t>
            </a:r>
            <a:endParaRPr lang="zh-CN" altLang="en-US" sz="1000" b="1">
              <a:solidFill>
                <a:srgbClr val="003B7A"/>
              </a:solidFill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E0FDE9DE-FC7C-1F87-FABF-D912AC0C4778}"/>
              </a:ext>
            </a:extLst>
          </p:cNvPr>
          <p:cNvSpPr/>
          <p:nvPr/>
        </p:nvSpPr>
        <p:spPr bwMode="auto">
          <a:xfrm>
            <a:off x="1651000" y="3124200"/>
            <a:ext cx="1320800" cy="838200"/>
          </a:xfrm>
          <a:prstGeom prst="rect">
            <a:avLst/>
          </a:prstGeom>
          <a:solidFill>
            <a:srgbClr val="0B3F88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2D29D5E-D229-8C17-AD7D-6B7C014A4082}"/>
              </a:ext>
            </a:extLst>
          </p:cNvPr>
          <p:cNvSpPr txBox="1"/>
          <p:nvPr/>
        </p:nvSpPr>
        <p:spPr>
          <a:xfrm>
            <a:off x="1752600" y="3327400"/>
            <a:ext cx="11176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CN" sz="1100" b="1">
                <a:solidFill>
                  <a:srgbClr val="FFFFFF"/>
                </a:solidFill>
              </a:rPr>
              <a:t>README</a:t>
            </a:r>
            <a:endParaRPr lang="zh-CN" altLang="en-US" sz="1100" b="1">
              <a:solidFill>
                <a:srgbClr val="FFFFFF"/>
              </a:solidFill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49F60FBC-AB4A-DAF0-245F-0FBD9612274D}"/>
              </a:ext>
            </a:extLst>
          </p:cNvPr>
          <p:cNvSpPr txBox="1"/>
          <p:nvPr/>
        </p:nvSpPr>
        <p:spPr>
          <a:xfrm>
            <a:off x="1778000" y="3683000"/>
            <a:ext cx="10668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CN" sz="870" b="1">
                <a:solidFill>
                  <a:srgbClr val="EAF4FF"/>
                </a:solidFill>
              </a:rPr>
              <a:t>project map</a:t>
            </a:r>
            <a:endParaRPr lang="zh-CN" altLang="en-US" sz="870" b="1">
              <a:solidFill>
                <a:srgbClr val="EAF4FF"/>
              </a:solidFill>
            </a:endParaRPr>
          </a:p>
        </p:txBody>
      </p: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A568519A-9335-548C-DBD0-1AB13CFA4BFE}"/>
              </a:ext>
            </a:extLst>
          </p:cNvPr>
          <p:cNvCxnSpPr/>
          <p:nvPr/>
        </p:nvCxnSpPr>
        <p:spPr bwMode="auto">
          <a:xfrm>
            <a:off x="3022600" y="3543300"/>
            <a:ext cx="254000" cy="0"/>
          </a:xfrm>
          <a:prstGeom prst="line">
            <a:avLst/>
          </a:prstGeom>
          <a:solidFill>
            <a:schemeClr val="accent1"/>
          </a:solidFill>
          <a:ln w="17780" cap="flat" cmpd="sng" algn="ctr">
            <a:solidFill>
              <a:srgbClr val="003B7A"/>
            </a:solidFill>
            <a:prstDash val="solid"/>
            <a:round/>
            <a:headEnd type="none" w="med" len="med"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" name="矩形 25">
            <a:extLst>
              <a:ext uri="{FF2B5EF4-FFF2-40B4-BE49-F238E27FC236}">
                <a16:creationId xmlns:a16="http://schemas.microsoft.com/office/drawing/2014/main" id="{135E09DE-1D3B-6A2B-ACDC-21F426BA1DF7}"/>
              </a:ext>
            </a:extLst>
          </p:cNvPr>
          <p:cNvSpPr/>
          <p:nvPr/>
        </p:nvSpPr>
        <p:spPr bwMode="auto">
          <a:xfrm>
            <a:off x="3327400" y="3124200"/>
            <a:ext cx="1320800" cy="838200"/>
          </a:xfrm>
          <a:prstGeom prst="rect">
            <a:avLst/>
          </a:prstGeom>
          <a:solidFill>
            <a:srgbClr val="168E8B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93A2789-0E01-0099-AB5B-BE70A5360817}"/>
              </a:ext>
            </a:extLst>
          </p:cNvPr>
          <p:cNvSpPr txBox="1"/>
          <p:nvPr/>
        </p:nvSpPr>
        <p:spPr>
          <a:xfrm>
            <a:off x="3429000" y="3327400"/>
            <a:ext cx="11176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CN" sz="1100" b="1">
                <a:solidFill>
                  <a:srgbClr val="FFFFFF"/>
                </a:solidFill>
              </a:rPr>
              <a:t>Boundaries</a:t>
            </a:r>
            <a:endParaRPr lang="zh-CN" altLang="en-US" sz="1100" b="1">
              <a:solidFill>
                <a:srgbClr val="FFFFFF"/>
              </a:solidFill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D6235EA5-A54B-87E5-25EF-6FC8CB52C01D}"/>
              </a:ext>
            </a:extLst>
          </p:cNvPr>
          <p:cNvSpPr txBox="1"/>
          <p:nvPr/>
        </p:nvSpPr>
        <p:spPr>
          <a:xfrm>
            <a:off x="3454400" y="3683000"/>
            <a:ext cx="10668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CN" sz="870" b="1">
                <a:solidFill>
                  <a:srgbClr val="EAF4FF"/>
                </a:solidFill>
              </a:rPr>
              <a:t>what can be claimed</a:t>
            </a:r>
            <a:endParaRPr lang="zh-CN" altLang="en-US" sz="870" b="1">
              <a:solidFill>
                <a:srgbClr val="EAF4FF"/>
              </a:solidFill>
            </a:endParaRPr>
          </a:p>
        </p:txBody>
      </p: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C7C9DB39-DAEC-B17B-1640-B8ACE265C7F2}"/>
              </a:ext>
            </a:extLst>
          </p:cNvPr>
          <p:cNvCxnSpPr/>
          <p:nvPr/>
        </p:nvCxnSpPr>
        <p:spPr bwMode="auto">
          <a:xfrm>
            <a:off x="4699000" y="3543300"/>
            <a:ext cx="254000" cy="0"/>
          </a:xfrm>
          <a:prstGeom prst="line">
            <a:avLst/>
          </a:prstGeom>
          <a:solidFill>
            <a:schemeClr val="accent1"/>
          </a:solidFill>
          <a:ln w="17780" cap="flat" cmpd="sng" algn="ctr">
            <a:solidFill>
              <a:srgbClr val="003B7A"/>
            </a:solidFill>
            <a:prstDash val="solid"/>
            <a:round/>
            <a:headEnd type="none" w="med" len="med"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" name="矩形 29">
            <a:extLst>
              <a:ext uri="{FF2B5EF4-FFF2-40B4-BE49-F238E27FC236}">
                <a16:creationId xmlns:a16="http://schemas.microsoft.com/office/drawing/2014/main" id="{B3F4AB5D-5DCE-6561-AD95-C9881E29F22C}"/>
              </a:ext>
            </a:extLst>
          </p:cNvPr>
          <p:cNvSpPr/>
          <p:nvPr/>
        </p:nvSpPr>
        <p:spPr bwMode="auto">
          <a:xfrm>
            <a:off x="5003800" y="3124200"/>
            <a:ext cx="1320800" cy="838200"/>
          </a:xfrm>
          <a:prstGeom prst="rect">
            <a:avLst/>
          </a:prstGeom>
          <a:solidFill>
            <a:srgbClr val="5B45C8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599EB4C0-AB77-9A09-0D53-C0795B16C9F5}"/>
              </a:ext>
            </a:extLst>
          </p:cNvPr>
          <p:cNvSpPr txBox="1"/>
          <p:nvPr/>
        </p:nvSpPr>
        <p:spPr>
          <a:xfrm>
            <a:off x="5105400" y="3327400"/>
            <a:ext cx="11176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CN" sz="1100" b="1">
                <a:solidFill>
                  <a:srgbClr val="FFFFFF"/>
                </a:solidFill>
              </a:rPr>
              <a:t>Traceability</a:t>
            </a:r>
            <a:endParaRPr lang="zh-CN" altLang="en-US" sz="1100" b="1">
              <a:solidFill>
                <a:srgbClr val="FFFFFF"/>
              </a:solidFill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9ED73103-1541-1867-A1C0-550EDE71F123}"/>
              </a:ext>
            </a:extLst>
          </p:cNvPr>
          <p:cNvSpPr txBox="1"/>
          <p:nvPr/>
        </p:nvSpPr>
        <p:spPr>
          <a:xfrm>
            <a:off x="5130800" y="3683000"/>
            <a:ext cx="10668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CN" sz="870" b="1">
                <a:solidFill>
                  <a:srgbClr val="EAF4FF"/>
                </a:solidFill>
              </a:rPr>
              <a:t>claim -&gt; artifact</a:t>
            </a:r>
            <a:endParaRPr lang="zh-CN" altLang="en-US" sz="870" b="1">
              <a:solidFill>
                <a:srgbClr val="EAF4FF"/>
              </a:solidFill>
            </a:endParaRPr>
          </a:p>
        </p:txBody>
      </p: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37135A22-B630-209D-4B85-F4DCEB3B4D66}"/>
              </a:ext>
            </a:extLst>
          </p:cNvPr>
          <p:cNvCxnSpPr/>
          <p:nvPr/>
        </p:nvCxnSpPr>
        <p:spPr bwMode="auto">
          <a:xfrm>
            <a:off x="6375400" y="3543300"/>
            <a:ext cx="254000" cy="0"/>
          </a:xfrm>
          <a:prstGeom prst="line">
            <a:avLst/>
          </a:prstGeom>
          <a:solidFill>
            <a:schemeClr val="accent1"/>
          </a:solidFill>
          <a:ln w="17780" cap="flat" cmpd="sng" algn="ctr">
            <a:solidFill>
              <a:srgbClr val="003B7A"/>
            </a:solidFill>
            <a:prstDash val="solid"/>
            <a:round/>
            <a:headEnd type="none" w="med" len="med"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4" name="矩形 33">
            <a:extLst>
              <a:ext uri="{FF2B5EF4-FFF2-40B4-BE49-F238E27FC236}">
                <a16:creationId xmlns:a16="http://schemas.microsoft.com/office/drawing/2014/main" id="{8C814A10-53B8-9704-A6E0-60B0AFFF961F}"/>
              </a:ext>
            </a:extLst>
          </p:cNvPr>
          <p:cNvSpPr/>
          <p:nvPr/>
        </p:nvSpPr>
        <p:spPr bwMode="auto">
          <a:xfrm>
            <a:off x="6680200" y="3124200"/>
            <a:ext cx="1320800" cy="838200"/>
          </a:xfrm>
          <a:prstGeom prst="rect">
            <a:avLst/>
          </a:prstGeom>
          <a:solidFill>
            <a:srgbClr val="B85C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5F57B4E3-B56F-670A-26DF-F8A63BEFE72D}"/>
              </a:ext>
            </a:extLst>
          </p:cNvPr>
          <p:cNvSpPr txBox="1"/>
          <p:nvPr/>
        </p:nvSpPr>
        <p:spPr>
          <a:xfrm>
            <a:off x="6781800" y="3327400"/>
            <a:ext cx="11176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CN" sz="1100" b="1">
                <a:solidFill>
                  <a:srgbClr val="FFFFFF"/>
                </a:solidFill>
              </a:rPr>
              <a:t>Manifest</a:t>
            </a:r>
            <a:endParaRPr lang="zh-CN" altLang="en-US" sz="1100" b="1">
              <a:solidFill>
                <a:srgbClr val="FFFFFF"/>
              </a:solidFill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5B689206-0B0D-FD16-670D-FD594A9C9D71}"/>
              </a:ext>
            </a:extLst>
          </p:cNvPr>
          <p:cNvSpPr txBox="1"/>
          <p:nvPr/>
        </p:nvSpPr>
        <p:spPr>
          <a:xfrm>
            <a:off x="6807200" y="3683000"/>
            <a:ext cx="10668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CN" sz="870" b="1">
                <a:solidFill>
                  <a:srgbClr val="EAF4FF"/>
                </a:solidFill>
              </a:rPr>
              <a:t>hash-locked rows</a:t>
            </a:r>
            <a:endParaRPr lang="zh-CN" altLang="en-US" sz="870" b="1">
              <a:solidFill>
                <a:srgbClr val="EAF4FF"/>
              </a:solidFill>
            </a:endParaRPr>
          </a:p>
        </p:txBody>
      </p: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2DE1D405-C102-24E9-B000-FCEB851521FC}"/>
              </a:ext>
            </a:extLst>
          </p:cNvPr>
          <p:cNvCxnSpPr/>
          <p:nvPr/>
        </p:nvCxnSpPr>
        <p:spPr bwMode="auto">
          <a:xfrm>
            <a:off x="8051800" y="3543300"/>
            <a:ext cx="254000" cy="0"/>
          </a:xfrm>
          <a:prstGeom prst="line">
            <a:avLst/>
          </a:prstGeom>
          <a:solidFill>
            <a:schemeClr val="accent1"/>
          </a:solidFill>
          <a:ln w="17780" cap="flat" cmpd="sng" algn="ctr">
            <a:solidFill>
              <a:srgbClr val="003B7A"/>
            </a:solidFill>
            <a:prstDash val="solid"/>
            <a:round/>
            <a:headEnd type="none" w="med" len="med"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8" name="矩形 37">
            <a:extLst>
              <a:ext uri="{FF2B5EF4-FFF2-40B4-BE49-F238E27FC236}">
                <a16:creationId xmlns:a16="http://schemas.microsoft.com/office/drawing/2014/main" id="{C1C1A321-BCA7-65FB-A4BD-C4D6E0AAD380}"/>
              </a:ext>
            </a:extLst>
          </p:cNvPr>
          <p:cNvSpPr/>
          <p:nvPr/>
        </p:nvSpPr>
        <p:spPr bwMode="auto">
          <a:xfrm>
            <a:off x="8356600" y="3124200"/>
            <a:ext cx="1320800" cy="838200"/>
          </a:xfrm>
          <a:prstGeom prst="rect">
            <a:avLst/>
          </a:prstGeom>
          <a:solidFill>
            <a:srgbClr val="1F7A4D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1FF668D1-6E18-D216-1D90-39F6921AEE49}"/>
              </a:ext>
            </a:extLst>
          </p:cNvPr>
          <p:cNvSpPr txBox="1"/>
          <p:nvPr/>
        </p:nvSpPr>
        <p:spPr>
          <a:xfrm>
            <a:off x="8458200" y="3327400"/>
            <a:ext cx="11176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CN" sz="1100" b="1">
                <a:solidFill>
                  <a:srgbClr val="FFFFFF"/>
                </a:solidFill>
              </a:rPr>
              <a:t>Check</a:t>
            </a:r>
            <a:endParaRPr lang="zh-CN" altLang="en-US" sz="1100" b="1">
              <a:solidFill>
                <a:srgbClr val="FFFFFF"/>
              </a:solidFill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3509A4E5-41F1-C108-DB90-859BB99628E9}"/>
              </a:ext>
            </a:extLst>
          </p:cNvPr>
          <p:cNvSpPr txBox="1"/>
          <p:nvPr/>
        </p:nvSpPr>
        <p:spPr>
          <a:xfrm>
            <a:off x="8483600" y="3683000"/>
            <a:ext cx="10668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CN" sz="870" b="1">
                <a:solidFill>
                  <a:srgbClr val="EAF4FF"/>
                </a:solidFill>
              </a:rPr>
              <a:t>viva_check.py</a:t>
            </a:r>
            <a:endParaRPr lang="zh-CN" altLang="en-US" sz="870" b="1">
              <a:solidFill>
                <a:srgbClr val="EAF4FF"/>
              </a:solidFill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BC9F1E5F-B7D6-CCC2-7976-A5045C56C005}"/>
              </a:ext>
            </a:extLst>
          </p:cNvPr>
          <p:cNvSpPr/>
          <p:nvPr/>
        </p:nvSpPr>
        <p:spPr bwMode="auto">
          <a:xfrm>
            <a:off x="1397000" y="5105400"/>
            <a:ext cx="2514600" cy="584200"/>
          </a:xfrm>
          <a:prstGeom prst="rect">
            <a:avLst/>
          </a:prstGeom>
          <a:solidFill>
            <a:srgbClr val="071A3D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1D3E8BD3-86B8-C5F5-676A-465FFEB921EA}"/>
              </a:ext>
            </a:extLst>
          </p:cNvPr>
          <p:cNvSpPr txBox="1"/>
          <p:nvPr/>
        </p:nvSpPr>
        <p:spPr>
          <a:xfrm>
            <a:off x="1676400" y="5232400"/>
            <a:ext cx="10160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880" b="1">
                <a:solidFill>
                  <a:srgbClr val="8EC5FF"/>
                </a:solidFill>
              </a:rPr>
              <a:t>0:00 - 0:25</a:t>
            </a:r>
            <a:endParaRPr lang="zh-CN" altLang="en-US" sz="880" b="1">
              <a:solidFill>
                <a:srgbClr val="8EC5FF"/>
              </a:solidFill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B5EFD666-67CC-7FD3-459D-B105829DB1FA}"/>
              </a:ext>
            </a:extLst>
          </p:cNvPr>
          <p:cNvSpPr txBox="1"/>
          <p:nvPr/>
        </p:nvSpPr>
        <p:spPr>
          <a:xfrm>
            <a:off x="1676400" y="5461000"/>
            <a:ext cx="17780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860" b="1">
                <a:solidFill>
                  <a:srgbClr val="FFFFFF"/>
                </a:solidFill>
              </a:rPr>
              <a:t>open repo and thesis claim</a:t>
            </a:r>
            <a:endParaRPr lang="zh-CN" altLang="en-US" sz="860" b="1">
              <a:solidFill>
                <a:srgbClr val="FFFFFF"/>
              </a:solidFill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AE36299C-E9D0-5653-9BD9-FE957951E399}"/>
              </a:ext>
            </a:extLst>
          </p:cNvPr>
          <p:cNvSpPr/>
          <p:nvPr/>
        </p:nvSpPr>
        <p:spPr bwMode="auto">
          <a:xfrm>
            <a:off x="4140200" y="5105400"/>
            <a:ext cx="2514600" cy="584200"/>
          </a:xfrm>
          <a:prstGeom prst="rect">
            <a:avLst/>
          </a:prstGeom>
          <a:solidFill>
            <a:srgbClr val="FFF8E8"/>
          </a:solidFill>
          <a:ln w="10160" cap="flat" cmpd="sng" algn="ctr">
            <a:solidFill>
              <a:srgbClr val="F2C14E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D7805F1F-ED94-56D8-2241-0DE0559A0914}"/>
              </a:ext>
            </a:extLst>
          </p:cNvPr>
          <p:cNvSpPr txBox="1"/>
          <p:nvPr/>
        </p:nvSpPr>
        <p:spPr>
          <a:xfrm>
            <a:off x="4419600" y="5232400"/>
            <a:ext cx="10160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880" b="1">
                <a:solidFill>
                  <a:srgbClr val="5A3510"/>
                </a:solidFill>
              </a:rPr>
              <a:t>0:25 - 1:05</a:t>
            </a:r>
            <a:endParaRPr lang="zh-CN" altLang="en-US" sz="880" b="1">
              <a:solidFill>
                <a:srgbClr val="5A3510"/>
              </a:solidFill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DFB6252B-B636-9210-65E3-B57CD9D2E154}"/>
              </a:ext>
            </a:extLst>
          </p:cNvPr>
          <p:cNvSpPr txBox="1"/>
          <p:nvPr/>
        </p:nvSpPr>
        <p:spPr>
          <a:xfrm>
            <a:off x="4419600" y="5461000"/>
            <a:ext cx="17526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860" b="1">
                <a:solidFill>
                  <a:srgbClr val="071A3D"/>
                </a:solidFill>
              </a:rPr>
              <a:t>follow boundary and trace row</a:t>
            </a:r>
            <a:endParaRPr lang="zh-CN" altLang="en-US" sz="860" b="1">
              <a:solidFill>
                <a:srgbClr val="071A3D"/>
              </a:solidFill>
            </a:endParaRP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30F928A6-F9B4-7A46-7F45-8DC2FA59E6D7}"/>
              </a:ext>
            </a:extLst>
          </p:cNvPr>
          <p:cNvSpPr/>
          <p:nvPr/>
        </p:nvSpPr>
        <p:spPr bwMode="auto">
          <a:xfrm>
            <a:off x="6883400" y="5105400"/>
            <a:ext cx="3530600" cy="584200"/>
          </a:xfrm>
          <a:prstGeom prst="rect">
            <a:avLst/>
          </a:prstGeom>
          <a:solidFill>
            <a:srgbClr val="EAF4FF"/>
          </a:solidFill>
          <a:ln w="10160" cap="flat" cmpd="sng" algn="ctr">
            <a:solidFill>
              <a:srgbClr val="C7D7EA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77A79B80-A722-DCAA-F556-5879881FCB32}"/>
              </a:ext>
            </a:extLst>
          </p:cNvPr>
          <p:cNvSpPr txBox="1"/>
          <p:nvPr/>
        </p:nvSpPr>
        <p:spPr>
          <a:xfrm>
            <a:off x="7162800" y="5232400"/>
            <a:ext cx="10160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880" b="1">
                <a:solidFill>
                  <a:srgbClr val="003B7A"/>
                </a:solidFill>
              </a:rPr>
              <a:t>1:05 - 1:30</a:t>
            </a:r>
            <a:endParaRPr lang="zh-CN" altLang="en-US" sz="880" b="1">
              <a:solidFill>
                <a:srgbClr val="003B7A"/>
              </a:solidFill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2EF35FAA-FC5B-A191-71C4-6600F4499901}"/>
              </a:ext>
            </a:extLst>
          </p:cNvPr>
          <p:cNvSpPr txBox="1"/>
          <p:nvPr/>
        </p:nvSpPr>
        <p:spPr>
          <a:xfrm>
            <a:off x="8432800" y="5232400"/>
            <a:ext cx="14986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860" b="1">
                <a:solidFill>
                  <a:srgbClr val="071A3D"/>
                </a:solidFill>
              </a:rPr>
              <a:t>show manifest hash and local check result</a:t>
            </a:r>
            <a:endParaRPr lang="zh-CN" altLang="en-US" sz="860" b="1">
              <a:solidFill>
                <a:srgbClr val="071A3D"/>
              </a:solidFill>
            </a:endParaRPr>
          </a:p>
        </p:txBody>
      </p:sp>
      <p:sp>
        <p:nvSpPr>
          <p:cNvPr id="50" name="WSHome_S9PageBtn" descr="Clickable link: https://haoyi-zhang.github.io/WatermarkScope/">
            <a:hlinkClick r:id="rId4"/>
            <a:extLst>
              <a:ext uri="{FF2B5EF4-FFF2-40B4-BE49-F238E27FC236}">
                <a16:creationId xmlns:a16="http://schemas.microsoft.com/office/drawing/2014/main" id="{0567DD0B-97E6-F07D-A238-1D26CB68064A}"/>
              </a:ext>
            </a:extLst>
          </p:cNvPr>
          <p:cNvSpPr/>
          <p:nvPr/>
        </p:nvSpPr>
        <p:spPr bwMode="auto">
          <a:xfrm>
            <a:off x="9499600" y="1828800"/>
            <a:ext cx="1168400" cy="279400"/>
          </a:xfrm>
          <a:prstGeom prst="rect">
            <a:avLst/>
          </a:prstGeom>
          <a:solidFill>
            <a:srgbClr val="08111F"/>
          </a:solidFill>
          <a:ln w="9525" cap="flat" cmpd="sng" algn="ctr">
            <a:solidFill>
              <a:srgbClr val="08111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85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ptos" panose="020B0004020202020204" pitchFamily="34" charset="0"/>
                <a:ea typeface="ＭＳ Ｐゴシック" pitchFamily="34" charset="-128"/>
              </a:rPr>
              <a:t>Project page</a:t>
            </a:r>
            <a:endParaRPr kumimoji="0" lang="zh-CN" altLang="en-US" sz="85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ptos" panose="020B0004020202020204" pitchFamily="34" charset="0"/>
              <a:ea typeface="ＭＳ Ｐゴシック" pitchFamily="34" charset="-128"/>
            </a:endParaRPr>
          </a:p>
        </p:txBody>
      </p:sp>
      <p:sp>
        <p:nvSpPr>
          <p:cNvPr id="57" name="WSHome_S9RepoBtn" descr="Clickable link: https://github.com/Haoyi-Zhang/WatermarkScope">
            <a:hlinkClick r:id="rId5"/>
            <a:extLst>
              <a:ext uri="{FF2B5EF4-FFF2-40B4-BE49-F238E27FC236}">
                <a16:creationId xmlns:a16="http://schemas.microsoft.com/office/drawing/2014/main" id="{CDF99170-09C2-D698-2511-CD67D002A898}"/>
              </a:ext>
            </a:extLst>
          </p:cNvPr>
          <p:cNvSpPr/>
          <p:nvPr/>
        </p:nvSpPr>
        <p:spPr bwMode="auto">
          <a:xfrm>
            <a:off x="10744200" y="1828800"/>
            <a:ext cx="787400" cy="279400"/>
          </a:xfrm>
          <a:prstGeom prst="rect">
            <a:avLst/>
          </a:prstGeom>
          <a:solidFill>
            <a:srgbClr val="08111F"/>
          </a:solidFill>
          <a:ln w="9525" cap="flat" cmpd="sng" algn="ctr">
            <a:solidFill>
              <a:srgbClr val="08111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85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ptos" panose="020B0004020202020204" pitchFamily="34" charset="0"/>
                <a:ea typeface="ＭＳ Ｐゴシック" pitchFamily="34" charset="-128"/>
              </a:rPr>
              <a:t>Repo</a:t>
            </a:r>
            <a:endParaRPr kumimoji="0" lang="zh-CN" altLang="en-US" sz="85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ptos" panose="020B0004020202020204" pitchFamily="34" charset="0"/>
              <a:ea typeface="ＭＳ Ｐゴシック" pitchFamily="34" charset="-128"/>
            </a:endParaRPr>
          </a:p>
        </p:txBody>
      </p:sp>
      <p:sp>
        <p:nvSpPr>
          <p:cNvPr id="58" name="WSHome_S9Hint">
            <a:extLst>
              <a:ext uri="{FF2B5EF4-FFF2-40B4-BE49-F238E27FC236}">
                <a16:creationId xmlns:a16="http://schemas.microsoft.com/office/drawing/2014/main" id="{E35781A7-C479-8E30-B073-F93457CDA0AF}"/>
              </a:ext>
            </a:extLst>
          </p:cNvPr>
          <p:cNvSpPr txBox="1"/>
          <p:nvPr/>
        </p:nvSpPr>
        <p:spPr>
          <a:xfrm>
            <a:off x="9499600" y="2159000"/>
            <a:ext cx="2006600" cy="1046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680">
                <a:solidFill>
                  <a:srgbClr val="4F617C"/>
                </a:solidFill>
                <a:latin typeface="Aptos" panose="020B0004020202020204" pitchFamily="34" charset="0"/>
              </a:rPr>
              <a:t>Start demo here, then follow the route below.</a:t>
            </a:r>
            <a:endParaRPr lang="zh-CN" altLang="en-US" sz="680">
              <a:solidFill>
                <a:srgbClr val="4F617C"/>
              </a:solidFill>
              <a:latin typeface="Aptos" panose="020B0004020202020204" pitchFamily="34" charset="0"/>
            </a:endParaRPr>
          </a:p>
        </p:txBody>
      </p:sp>
      <p:sp>
        <p:nvSpPr>
          <p:cNvPr id="59" name="WSHome_S9Hit_README" descr="Clickable route node: README">
            <a:hlinkClick r:id="rId5"/>
            <a:extLst>
              <a:ext uri="{FF2B5EF4-FFF2-40B4-BE49-F238E27FC236}">
                <a16:creationId xmlns:a16="http://schemas.microsoft.com/office/drawing/2014/main" id="{229A20F6-1CC2-A48A-9555-FF44C8B67400}"/>
              </a:ext>
            </a:extLst>
          </p:cNvPr>
          <p:cNvSpPr/>
          <p:nvPr/>
        </p:nvSpPr>
        <p:spPr bwMode="auto">
          <a:xfrm>
            <a:off x="1625600" y="3124200"/>
            <a:ext cx="1346200" cy="863600"/>
          </a:xfrm>
          <a:prstGeom prst="rect">
            <a:avLst/>
          </a:prstGeom>
          <a:solidFill>
            <a:srgbClr val="FFFFFF">
              <a:alpha val="0"/>
            </a:srgbClr>
          </a:solidFill>
          <a:ln w="9525" cap="flat" cmpd="sng" algn="ctr">
            <a:solidFill>
              <a:srgbClr val="FFFFFF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60" name="WSHome_S9Hit_Boundaries" descr="Clickable route node: Boundaries">
            <a:hlinkClick r:id="rId6"/>
            <a:extLst>
              <a:ext uri="{FF2B5EF4-FFF2-40B4-BE49-F238E27FC236}">
                <a16:creationId xmlns:a16="http://schemas.microsoft.com/office/drawing/2014/main" id="{4CD191A7-2186-00DE-A46E-F42B5880449B}"/>
              </a:ext>
            </a:extLst>
          </p:cNvPr>
          <p:cNvSpPr/>
          <p:nvPr/>
        </p:nvSpPr>
        <p:spPr bwMode="auto">
          <a:xfrm>
            <a:off x="3340100" y="3124200"/>
            <a:ext cx="1346200" cy="863600"/>
          </a:xfrm>
          <a:prstGeom prst="rect">
            <a:avLst/>
          </a:prstGeom>
          <a:solidFill>
            <a:srgbClr val="FFFFFF">
              <a:alpha val="0"/>
            </a:srgbClr>
          </a:solidFill>
          <a:ln w="9525" cap="flat" cmpd="sng" algn="ctr">
            <a:solidFill>
              <a:srgbClr val="FFFFFF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61" name="WSHome_S9Hit_Traceability" descr="Clickable route node: Traceability">
            <a:hlinkClick r:id="rId7"/>
            <a:extLst>
              <a:ext uri="{FF2B5EF4-FFF2-40B4-BE49-F238E27FC236}">
                <a16:creationId xmlns:a16="http://schemas.microsoft.com/office/drawing/2014/main" id="{84106CFB-8359-E2A4-3B95-9EB1162B1F1B}"/>
              </a:ext>
            </a:extLst>
          </p:cNvPr>
          <p:cNvSpPr/>
          <p:nvPr/>
        </p:nvSpPr>
        <p:spPr bwMode="auto">
          <a:xfrm>
            <a:off x="5003800" y="3124200"/>
            <a:ext cx="1346200" cy="863600"/>
          </a:xfrm>
          <a:prstGeom prst="rect">
            <a:avLst/>
          </a:prstGeom>
          <a:solidFill>
            <a:srgbClr val="FFFFFF">
              <a:alpha val="0"/>
            </a:srgbClr>
          </a:solidFill>
          <a:ln w="9525" cap="flat" cmpd="sng" algn="ctr">
            <a:solidFill>
              <a:srgbClr val="FFFFFF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62" name="WSHome_S9Hit_Manifest" descr="Clickable route node: Manifest">
            <a:hlinkClick r:id="rId8"/>
            <a:extLst>
              <a:ext uri="{FF2B5EF4-FFF2-40B4-BE49-F238E27FC236}">
                <a16:creationId xmlns:a16="http://schemas.microsoft.com/office/drawing/2014/main" id="{FBE0F2F9-2188-592A-A286-7918277AEB12}"/>
              </a:ext>
            </a:extLst>
          </p:cNvPr>
          <p:cNvSpPr/>
          <p:nvPr/>
        </p:nvSpPr>
        <p:spPr bwMode="auto">
          <a:xfrm>
            <a:off x="6680200" y="3124200"/>
            <a:ext cx="1346200" cy="863600"/>
          </a:xfrm>
          <a:prstGeom prst="rect">
            <a:avLst/>
          </a:prstGeom>
          <a:solidFill>
            <a:srgbClr val="FFFFFF">
              <a:alpha val="0"/>
            </a:srgbClr>
          </a:solidFill>
          <a:ln w="9525" cap="flat" cmpd="sng" algn="ctr">
            <a:solidFill>
              <a:srgbClr val="FFFFFF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63" name="WSHome_S9Hit_Check" descr="Clickable route node: Check">
            <a:hlinkClick r:id="rId9"/>
            <a:extLst>
              <a:ext uri="{FF2B5EF4-FFF2-40B4-BE49-F238E27FC236}">
                <a16:creationId xmlns:a16="http://schemas.microsoft.com/office/drawing/2014/main" id="{2D120793-0D26-E21F-E81C-F8382FC6432B}"/>
              </a:ext>
            </a:extLst>
          </p:cNvPr>
          <p:cNvSpPr/>
          <p:nvPr/>
        </p:nvSpPr>
        <p:spPr bwMode="auto">
          <a:xfrm>
            <a:off x="8356600" y="3124200"/>
            <a:ext cx="1346200" cy="863600"/>
          </a:xfrm>
          <a:prstGeom prst="rect">
            <a:avLst/>
          </a:prstGeom>
          <a:solidFill>
            <a:srgbClr val="FFFFFF">
              <a:alpha val="0"/>
            </a:srgbClr>
          </a:solidFill>
          <a:ln w="9525" cap="flat" cmpd="sng" algn="ctr">
            <a:solidFill>
              <a:srgbClr val="FFFFFF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6384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 thruBlk="1"/>
      </p:transition>
    </mc:Choice>
    <mc:Fallback xmlns="">
      <p:transition spd="slow"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8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8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8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8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8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8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8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8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8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8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28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8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8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28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8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28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28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28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28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8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28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28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28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28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28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28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28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28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28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28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/>
      <p:bldP spid="22" grpId="0" animBg="1"/>
      <p:bldP spid="23" grpId="0"/>
      <p:bldP spid="24" grpId="0"/>
      <p:bldP spid="26" grpId="0" animBg="1"/>
      <p:bldP spid="27" grpId="0"/>
      <p:bldP spid="28" grpId="0"/>
      <p:bldP spid="30" grpId="0" animBg="1"/>
      <p:bldP spid="31" grpId="0"/>
      <p:bldP spid="32" grpId="0"/>
      <p:bldP spid="34" grpId="0" animBg="1"/>
      <p:bldP spid="35" grpId="0"/>
      <p:bldP spid="36" grpId="0"/>
      <p:bldP spid="38" grpId="0" animBg="1"/>
      <p:bldP spid="39" grpId="0"/>
      <p:bldP spid="40" grpId="0"/>
      <p:bldP spid="41" grpId="0" animBg="1"/>
      <p:bldP spid="42" grpId="0"/>
      <p:bldP spid="43" grpId="0"/>
      <p:bldP spid="44" grpId="0" animBg="1"/>
      <p:bldP spid="45" grpId="0"/>
      <p:bldP spid="46" grpId="0"/>
      <p:bldP spid="47" grpId="0" animBg="1"/>
      <p:bldP spid="48" grpId="0"/>
      <p:bldP spid="4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343D5A3-8D5D-D3AD-2101-287666B403F9}"/>
              </a:ext>
            </a:extLst>
          </p:cNvPr>
          <p:cNvSpPr/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003B7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9E92A57-A55F-433A-5F28-2F144BE60E8B}"/>
              </a:ext>
            </a:extLst>
          </p:cNvPr>
          <p:cNvSpPr/>
          <p:nvPr/>
        </p:nvSpPr>
        <p:spPr bwMode="auto">
          <a:xfrm>
            <a:off x="0" y="0"/>
            <a:ext cx="889000" cy="6858000"/>
          </a:xfrm>
          <a:prstGeom prst="rect">
            <a:avLst/>
          </a:prstGeom>
          <a:solidFill>
            <a:srgbClr val="002B5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02DBAEB-57F3-AE5A-6217-D5F513365D88}"/>
              </a:ext>
            </a:extLst>
          </p:cNvPr>
          <p:cNvSpPr/>
          <p:nvPr/>
        </p:nvSpPr>
        <p:spPr bwMode="auto">
          <a:xfrm>
            <a:off x="889000" y="0"/>
            <a:ext cx="114300" cy="6858000"/>
          </a:xfrm>
          <a:prstGeom prst="rect">
            <a:avLst/>
          </a:prstGeom>
          <a:solidFill>
            <a:srgbClr val="6A9CCB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8220473-E282-68E0-3209-CDC3183DC55A}"/>
              </a:ext>
            </a:extLst>
          </p:cNvPr>
          <p:cNvSpPr txBox="1"/>
          <p:nvPr/>
        </p:nvSpPr>
        <p:spPr>
          <a:xfrm>
            <a:off x="1422400" y="533400"/>
            <a:ext cx="25400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900" b="1">
                <a:solidFill>
                  <a:srgbClr val="BBD7F0"/>
                </a:solidFill>
              </a:rPr>
              <a:t>Demo 2</a:t>
            </a:r>
            <a:endParaRPr lang="zh-CN" altLang="en-US" sz="900" b="1">
              <a:solidFill>
                <a:srgbClr val="BBD7F0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2F2D6C6-252C-F1E5-955F-EC991FAA9328}"/>
              </a:ext>
            </a:extLst>
          </p:cNvPr>
          <p:cNvSpPr txBox="1"/>
          <p:nvPr/>
        </p:nvSpPr>
        <p:spPr>
          <a:xfrm>
            <a:off x="1422400" y="889000"/>
            <a:ext cx="91440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3100" b="1">
                <a:solidFill>
                  <a:srgbClr val="FFFFFF"/>
                </a:solidFill>
              </a:rPr>
              <a:t>Live consistency check</a:t>
            </a:r>
            <a:endParaRPr lang="zh-CN" altLang="en-US" sz="3100" b="1">
              <a:solidFill>
                <a:srgbClr val="FFFFFF"/>
              </a:solidFill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8A1CF227-BDB1-FF28-1D28-E0D99DD8BE90}"/>
              </a:ext>
            </a:extLst>
          </p:cNvPr>
          <p:cNvCxnSpPr/>
          <p:nvPr/>
        </p:nvCxnSpPr>
        <p:spPr bwMode="auto">
          <a:xfrm>
            <a:off x="1447800" y="1854200"/>
            <a:ext cx="9296400" cy="0"/>
          </a:xfrm>
          <a:prstGeom prst="line">
            <a:avLst/>
          </a:prstGeom>
          <a:solidFill>
            <a:schemeClr val="accent1"/>
          </a:solidFill>
          <a:ln w="13970" cap="flat" cmpd="sng" algn="ctr">
            <a:solidFill>
              <a:srgbClr val="7EB0DD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92B87D20-2E4D-4193-BDC7-98E603F31BA1}"/>
              </a:ext>
            </a:extLst>
          </p:cNvPr>
          <p:cNvSpPr txBox="1"/>
          <p:nvPr/>
        </p:nvSpPr>
        <p:spPr>
          <a:xfrm>
            <a:off x="11379200" y="584200"/>
            <a:ext cx="4064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r"/>
            <a:r>
              <a:rPr lang="en-US" altLang="zh-CN" sz="800">
                <a:solidFill>
                  <a:srgbClr val="BBD7F0"/>
                </a:solidFill>
              </a:rPr>
              <a:t>10</a:t>
            </a:r>
            <a:endParaRPr lang="zh-CN" altLang="en-US" sz="800">
              <a:solidFill>
                <a:srgbClr val="BBD7F0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3153314-C923-F114-1503-F3F33D4AA186}"/>
              </a:ext>
            </a:extLst>
          </p:cNvPr>
          <p:cNvSpPr/>
          <p:nvPr/>
        </p:nvSpPr>
        <p:spPr bwMode="auto">
          <a:xfrm>
            <a:off x="8204200" y="584200"/>
            <a:ext cx="381000" cy="50800"/>
          </a:xfrm>
          <a:prstGeom prst="rect">
            <a:avLst/>
          </a:prstGeom>
          <a:solidFill>
            <a:srgbClr val="5E8FC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2703194-617F-890F-DD41-5EEC48A46998}"/>
              </a:ext>
            </a:extLst>
          </p:cNvPr>
          <p:cNvSpPr/>
          <p:nvPr/>
        </p:nvSpPr>
        <p:spPr bwMode="auto">
          <a:xfrm>
            <a:off x="8737600" y="584200"/>
            <a:ext cx="381000" cy="50800"/>
          </a:xfrm>
          <a:prstGeom prst="rect">
            <a:avLst/>
          </a:prstGeom>
          <a:solidFill>
            <a:srgbClr val="5E8FC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9717C0A-3024-CFC2-B3BE-BBB531587BAF}"/>
              </a:ext>
            </a:extLst>
          </p:cNvPr>
          <p:cNvSpPr/>
          <p:nvPr/>
        </p:nvSpPr>
        <p:spPr bwMode="auto">
          <a:xfrm>
            <a:off x="9271000" y="584200"/>
            <a:ext cx="381000" cy="50800"/>
          </a:xfrm>
          <a:prstGeom prst="rect">
            <a:avLst/>
          </a:prstGeom>
          <a:solidFill>
            <a:srgbClr val="5E8FC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339A98E-1CBC-89DF-03BC-E5E94DA8CF0E}"/>
              </a:ext>
            </a:extLst>
          </p:cNvPr>
          <p:cNvSpPr/>
          <p:nvPr/>
        </p:nvSpPr>
        <p:spPr bwMode="auto">
          <a:xfrm>
            <a:off x="9804400" y="584200"/>
            <a:ext cx="381000" cy="50800"/>
          </a:xfrm>
          <a:prstGeom prst="rect">
            <a:avLst/>
          </a:prstGeom>
          <a:solidFill>
            <a:srgbClr val="F2C14E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E7135BA-2FA5-FEC1-81BF-B9431B2AEA8F}"/>
              </a:ext>
            </a:extLst>
          </p:cNvPr>
          <p:cNvSpPr/>
          <p:nvPr/>
        </p:nvSpPr>
        <p:spPr bwMode="auto">
          <a:xfrm>
            <a:off x="10337800" y="584200"/>
            <a:ext cx="381000" cy="50800"/>
          </a:xfrm>
          <a:prstGeom prst="rect">
            <a:avLst/>
          </a:prstGeom>
          <a:solidFill>
            <a:srgbClr val="5E8FC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7C2826B-BA89-F496-F7BF-648ABAE12C42}"/>
              </a:ext>
            </a:extLst>
          </p:cNvPr>
          <p:cNvSpPr txBox="1"/>
          <p:nvPr/>
        </p:nvSpPr>
        <p:spPr>
          <a:xfrm>
            <a:off x="8204200" y="711200"/>
            <a:ext cx="24638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r"/>
            <a:r>
              <a:rPr lang="en-US" altLang="zh-CN" sz="680" b="1">
                <a:solidFill>
                  <a:srgbClr val="BBD7F0"/>
                </a:solidFill>
              </a:rPr>
              <a:t>Demo</a:t>
            </a:r>
            <a:endParaRPr lang="zh-CN" altLang="en-US" sz="680" b="1">
              <a:solidFill>
                <a:srgbClr val="BBD7F0"/>
              </a:solidFill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F56A94E8-25A6-7940-B12F-897F608BF19D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3200" y="6248400"/>
            <a:ext cx="2311400" cy="419100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0688B6CD-079A-E22F-B539-1D6ACF6B66C1}"/>
              </a:ext>
            </a:extLst>
          </p:cNvPr>
          <p:cNvSpPr txBox="1"/>
          <p:nvPr/>
        </p:nvSpPr>
        <p:spPr>
          <a:xfrm>
            <a:off x="1473200" y="2108200"/>
            <a:ext cx="91440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1300" b="1">
                <a:solidFill>
                  <a:srgbClr val="EAF4FF"/>
                </a:solidFill>
              </a:rPr>
              <a:t>Video or live run: about 60 seconds. This is a fast integrity check, not a full GPU/API rerun.</a:t>
            </a:r>
            <a:endParaRPr lang="zh-CN" altLang="en-US" sz="1300" b="1">
              <a:solidFill>
                <a:srgbClr val="EAF4FF"/>
              </a:solidFill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DB96DD2-A38A-5699-4909-1B5CE8E7D36F}"/>
              </a:ext>
            </a:extLst>
          </p:cNvPr>
          <p:cNvSpPr/>
          <p:nvPr/>
        </p:nvSpPr>
        <p:spPr bwMode="auto">
          <a:xfrm>
            <a:off x="1422400" y="2616200"/>
            <a:ext cx="6908800" cy="3022600"/>
          </a:xfrm>
          <a:prstGeom prst="rect">
            <a:avLst/>
          </a:prstGeom>
          <a:solidFill>
            <a:srgbClr val="071A3D"/>
          </a:solidFill>
          <a:ln w="10160" cap="flat" cmpd="sng" algn="ctr">
            <a:solidFill>
              <a:srgbClr val="8EC5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D1A021A0-596E-AA85-0AEB-160372835C41}"/>
              </a:ext>
            </a:extLst>
          </p:cNvPr>
          <p:cNvSpPr txBox="1"/>
          <p:nvPr/>
        </p:nvSpPr>
        <p:spPr>
          <a:xfrm>
            <a:off x="1803400" y="2870200"/>
            <a:ext cx="13970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900" b="1">
                <a:solidFill>
                  <a:srgbClr val="8EC5FF"/>
                </a:solidFill>
              </a:rPr>
              <a:t>PowerShell</a:t>
            </a:r>
            <a:endParaRPr lang="zh-CN" altLang="en-US" sz="900" b="1">
              <a:solidFill>
                <a:srgbClr val="8EC5FF"/>
              </a:solidFill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EC9D2F9-2884-BD56-50E0-761367385AB5}"/>
              </a:ext>
            </a:extLst>
          </p:cNvPr>
          <p:cNvSpPr txBox="1"/>
          <p:nvPr/>
        </p:nvSpPr>
        <p:spPr>
          <a:xfrm>
            <a:off x="1803400" y="3276600"/>
            <a:ext cx="54610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1500">
                <a:solidFill>
                  <a:srgbClr val="FFFFFF"/>
                </a:solidFill>
                <a:latin typeface="Consolas" panose="020B0609020204030204" pitchFamily="49" charset="0"/>
              </a:rPr>
              <a:t>python scripts\viva_check.py</a:t>
            </a:r>
            <a:endParaRPr lang="zh-CN" altLang="en-US" sz="1500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31AE0C0F-C960-BC94-4108-EFDF64D99960}"/>
              </a:ext>
            </a:extLst>
          </p:cNvPr>
          <p:cNvCxnSpPr/>
          <p:nvPr/>
        </p:nvCxnSpPr>
        <p:spPr bwMode="auto">
          <a:xfrm>
            <a:off x="1803400" y="3835400"/>
            <a:ext cx="5994400" cy="0"/>
          </a:xfrm>
          <a:prstGeom prst="line">
            <a:avLst/>
          </a:prstGeom>
          <a:solidFill>
            <a:schemeClr val="accent1"/>
          </a:solidFill>
          <a:ln w="10160" cap="flat" cmpd="sng" algn="ctr">
            <a:solidFill>
              <a:srgbClr val="8EC5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E9F544D9-0525-7DC3-1310-119531D0D050}"/>
              </a:ext>
            </a:extLst>
          </p:cNvPr>
          <p:cNvSpPr txBox="1"/>
          <p:nvPr/>
        </p:nvSpPr>
        <p:spPr>
          <a:xfrm>
            <a:off x="1803400" y="4089400"/>
            <a:ext cx="53340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1220">
                <a:solidFill>
                  <a:srgbClr val="FFFFFF"/>
                </a:solidFill>
                <a:latin typeface="Consolas" panose="020B0609020204030204" pitchFamily="49" charset="0"/>
              </a:rPr>
              <a:t>[OK] documents present</a:t>
            </a:r>
          </a:p>
          <a:p>
            <a:r>
              <a:rPr lang="en-US" altLang="zh-CN" sz="1220">
                <a:solidFill>
                  <a:srgbClr val="FFFFFF"/>
                </a:solidFill>
                <a:latin typeface="Consolas" panose="020B0609020204030204" pitchFamily="49" charset="0"/>
              </a:rPr>
              <a:t>[OK] manifest covers modules</a:t>
            </a:r>
          </a:p>
          <a:p>
            <a:r>
              <a:rPr lang="en-US" altLang="zh-CN" sz="1220">
                <a:solidFill>
                  <a:srgbClr val="FFFFFF"/>
                </a:solidFill>
                <a:latin typeface="Consolas" panose="020B0609020204030204" pitchFamily="49" charset="0"/>
              </a:rPr>
              <a:t>[OK] 71 hashes verified</a:t>
            </a:r>
          </a:p>
          <a:p>
            <a:r>
              <a:rPr lang="en-US" altLang="zh-CN" sz="1220">
                <a:solidFill>
                  <a:srgbClr val="FFFFFF"/>
                </a:solidFill>
                <a:latin typeface="Consolas" panose="020B0609020204030204" pitchFamily="49" charset="0"/>
              </a:rPr>
              <a:t>[OK] claim boundaries present</a:t>
            </a:r>
          </a:p>
          <a:p>
            <a:r>
              <a:rPr lang="en-US" altLang="zh-CN" sz="1220">
                <a:solidFill>
                  <a:srgbClr val="FFFFFF"/>
                </a:solidFill>
                <a:latin typeface="Consolas" panose="020B0609020204030204" pitchFamily="49" charset="0"/>
              </a:rPr>
              <a:t>[OK] viva check passed</a:t>
            </a:r>
            <a:endParaRPr lang="zh-CN" altLang="en-US" sz="1220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190AB9E-FE4F-D2F2-CF3C-500D4B72A1E4}"/>
              </a:ext>
            </a:extLst>
          </p:cNvPr>
          <p:cNvSpPr/>
          <p:nvPr/>
        </p:nvSpPr>
        <p:spPr bwMode="auto">
          <a:xfrm>
            <a:off x="8712200" y="2717800"/>
            <a:ext cx="2057400" cy="7366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172DF8B3-EE6E-FCD2-D0B0-8E4052DC81DF}"/>
              </a:ext>
            </a:extLst>
          </p:cNvPr>
          <p:cNvSpPr txBox="1"/>
          <p:nvPr/>
        </p:nvSpPr>
        <p:spPr>
          <a:xfrm>
            <a:off x="8991600" y="2921000"/>
            <a:ext cx="10160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1050" b="1">
                <a:solidFill>
                  <a:srgbClr val="003B7A"/>
                </a:solidFill>
              </a:rPr>
              <a:t>proves</a:t>
            </a:r>
            <a:endParaRPr lang="zh-CN" altLang="en-US" sz="1050" b="1">
              <a:solidFill>
                <a:srgbClr val="003B7A"/>
              </a:solidFill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02639142-8B48-CDFF-90B0-A0691C446B7A}"/>
              </a:ext>
            </a:extLst>
          </p:cNvPr>
          <p:cNvSpPr txBox="1"/>
          <p:nvPr/>
        </p:nvSpPr>
        <p:spPr>
          <a:xfrm>
            <a:off x="8991600" y="3200400"/>
            <a:ext cx="13716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940" b="1">
                <a:solidFill>
                  <a:srgbClr val="071A3D"/>
                </a:solidFill>
              </a:rPr>
              <a:t>files, hashes, claim links</a:t>
            </a:r>
            <a:endParaRPr lang="zh-CN" altLang="en-US" sz="940" b="1">
              <a:solidFill>
                <a:srgbClr val="071A3D"/>
              </a:solidFill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EC2337CC-DE56-6717-A903-1F236D53F1F7}"/>
              </a:ext>
            </a:extLst>
          </p:cNvPr>
          <p:cNvSpPr/>
          <p:nvPr/>
        </p:nvSpPr>
        <p:spPr bwMode="auto">
          <a:xfrm>
            <a:off x="8712200" y="3733800"/>
            <a:ext cx="2057400" cy="736600"/>
          </a:xfrm>
          <a:prstGeom prst="rect">
            <a:avLst/>
          </a:prstGeom>
          <a:solidFill>
            <a:srgbClr val="FFF8E8"/>
          </a:solidFill>
          <a:ln w="10160" cap="flat" cmpd="sng" algn="ctr">
            <a:solidFill>
              <a:srgbClr val="F2C14E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5914C98D-EC89-673A-5AFD-647EE4CA510E}"/>
              </a:ext>
            </a:extLst>
          </p:cNvPr>
          <p:cNvSpPr txBox="1"/>
          <p:nvPr/>
        </p:nvSpPr>
        <p:spPr>
          <a:xfrm>
            <a:off x="8991600" y="3937000"/>
            <a:ext cx="12700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1050" b="1">
                <a:solidFill>
                  <a:srgbClr val="5A3510"/>
                </a:solidFill>
              </a:rPr>
              <a:t>does not prove</a:t>
            </a:r>
            <a:endParaRPr lang="zh-CN" altLang="en-US" sz="1050" b="1">
              <a:solidFill>
                <a:srgbClr val="5A3510"/>
              </a:solidFill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1CDD9402-FE2B-F096-EAE7-42D63D8EAA77}"/>
              </a:ext>
            </a:extLst>
          </p:cNvPr>
          <p:cNvSpPr txBox="1"/>
          <p:nvPr/>
        </p:nvSpPr>
        <p:spPr>
          <a:xfrm>
            <a:off x="8991600" y="4216400"/>
            <a:ext cx="13716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940" b="1">
                <a:solidFill>
                  <a:srgbClr val="071A3D"/>
                </a:solidFill>
              </a:rPr>
              <a:t>full GPU/API rerun</a:t>
            </a:r>
            <a:endParaRPr lang="zh-CN" altLang="en-US" sz="940" b="1">
              <a:solidFill>
                <a:srgbClr val="071A3D"/>
              </a:solidFill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231FB4DA-665E-17D1-773A-10831F6694FB}"/>
              </a:ext>
            </a:extLst>
          </p:cNvPr>
          <p:cNvSpPr/>
          <p:nvPr/>
        </p:nvSpPr>
        <p:spPr bwMode="auto">
          <a:xfrm>
            <a:off x="8712200" y="4749800"/>
            <a:ext cx="2057400" cy="736600"/>
          </a:xfrm>
          <a:prstGeom prst="rect">
            <a:avLst/>
          </a:prstGeom>
          <a:solidFill>
            <a:srgbClr val="EAF4FF"/>
          </a:solidFill>
          <a:ln w="10160" cap="flat" cmpd="sng" algn="ctr">
            <a:solidFill>
              <a:srgbClr val="7EB0DD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60E6E1C1-3DA8-399D-9404-A8B7ABB58690}"/>
              </a:ext>
            </a:extLst>
          </p:cNvPr>
          <p:cNvSpPr txBox="1"/>
          <p:nvPr/>
        </p:nvSpPr>
        <p:spPr>
          <a:xfrm>
            <a:off x="8991600" y="4953000"/>
            <a:ext cx="10160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1050" b="1">
                <a:solidFill>
                  <a:srgbClr val="003B7A"/>
                </a:solidFill>
              </a:rPr>
              <a:t>fallback</a:t>
            </a:r>
            <a:endParaRPr lang="zh-CN" altLang="en-US" sz="1050" b="1">
              <a:solidFill>
                <a:srgbClr val="003B7A"/>
              </a:solidFill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5B9AF095-60C7-1113-0B15-509326D5CC61}"/>
              </a:ext>
            </a:extLst>
          </p:cNvPr>
          <p:cNvSpPr txBox="1"/>
          <p:nvPr/>
        </p:nvSpPr>
        <p:spPr>
          <a:xfrm>
            <a:off x="8991600" y="5232400"/>
            <a:ext cx="13716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880" b="1">
                <a:solidFill>
                  <a:srgbClr val="071A3D"/>
                </a:solidFill>
              </a:rPr>
              <a:t>play recorded demo</a:t>
            </a:r>
            <a:endParaRPr lang="zh-CN" altLang="en-US" sz="880" b="1">
              <a:solidFill>
                <a:srgbClr val="071A3D"/>
              </a:solidFill>
            </a:endParaRPr>
          </a:p>
        </p:txBody>
      </p:sp>
      <p:sp>
        <p:nvSpPr>
          <p:cNvPr id="33" name="WSHome_S10CheckBtn" descr="Clickable link: https://github.com/Haoyi-Zhang/WatermarkScope/blob/main/scripts/viva_check.py">
            <a:hlinkClick r:id="rId4"/>
            <a:extLst>
              <a:ext uri="{FF2B5EF4-FFF2-40B4-BE49-F238E27FC236}">
                <a16:creationId xmlns:a16="http://schemas.microsoft.com/office/drawing/2014/main" id="{DADCE5DB-9107-7E6D-1A00-16037A9E3C79}"/>
              </a:ext>
            </a:extLst>
          </p:cNvPr>
          <p:cNvSpPr/>
          <p:nvPr/>
        </p:nvSpPr>
        <p:spPr bwMode="auto">
          <a:xfrm>
            <a:off x="8813800" y="5156200"/>
            <a:ext cx="1854200" cy="304800"/>
          </a:xfrm>
          <a:prstGeom prst="rect">
            <a:avLst/>
          </a:prstGeom>
          <a:solidFill>
            <a:srgbClr val="F8FBFF"/>
          </a:solidFill>
          <a:ln w="9525" cap="flat" cmpd="sng" algn="ctr">
            <a:solidFill>
              <a:srgbClr val="F8FB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850" b="1" i="0" u="none" strike="noStrike" cap="none" normalizeH="0" baseline="0">
                <a:ln>
                  <a:noFill/>
                </a:ln>
                <a:solidFill>
                  <a:srgbClr val="08111F"/>
                </a:solidFill>
                <a:effectLst/>
                <a:latin typeface="Aptos" panose="020B0004020202020204" pitchFamily="34" charset="0"/>
                <a:ea typeface="ＭＳ Ｐゴシック" pitchFamily="34" charset="-128"/>
              </a:rPr>
              <a:t>Open viva_check.py</a:t>
            </a:r>
            <a:endParaRPr kumimoji="0" lang="zh-CN" altLang="en-US" sz="850" b="1" i="0" u="none" strike="noStrike" cap="none" normalizeH="0" baseline="0">
              <a:ln>
                <a:noFill/>
              </a:ln>
              <a:solidFill>
                <a:srgbClr val="08111F"/>
              </a:solidFill>
              <a:effectLst/>
              <a:latin typeface="Aptos" panose="020B0004020202020204" pitchFamily="34" charset="0"/>
              <a:ea typeface="ＭＳ Ｐゴシック" pitchFamily="34" charset="-128"/>
            </a:endParaRPr>
          </a:p>
        </p:txBody>
      </p:sp>
      <p:sp>
        <p:nvSpPr>
          <p:cNvPr id="34" name="WSHome_S10Note">
            <a:extLst>
              <a:ext uri="{FF2B5EF4-FFF2-40B4-BE49-F238E27FC236}">
                <a16:creationId xmlns:a16="http://schemas.microsoft.com/office/drawing/2014/main" id="{9A3F920C-CA7F-2403-B7EB-31069666F57B}"/>
              </a:ext>
            </a:extLst>
          </p:cNvPr>
          <p:cNvSpPr txBox="1"/>
          <p:nvPr/>
        </p:nvSpPr>
        <p:spPr>
          <a:xfrm>
            <a:off x="8813800" y="5511800"/>
            <a:ext cx="1905000" cy="2092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680">
                <a:solidFill>
                  <a:srgbClr val="C6D5EA"/>
                </a:solidFill>
                <a:latin typeface="Aptos" panose="020B0004020202020204" pitchFamily="34" charset="0"/>
              </a:rPr>
              <a:t>Integrity and traceability check; not a full GPU/API rerun.</a:t>
            </a:r>
            <a:endParaRPr lang="zh-CN" altLang="en-US" sz="680">
              <a:solidFill>
                <a:srgbClr val="C6D5EA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4415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 thruBlk="1"/>
      </p:transition>
    </mc:Choice>
    <mc:Fallback xmlns="">
      <p:transition spd="slow"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/>
      <p:bldP spid="20" grpId="0"/>
      <p:bldP spid="22" grpId="0"/>
      <p:bldP spid="23" grpId="0" animBg="1"/>
      <p:bldP spid="24" grpId="0"/>
      <p:bldP spid="25" grpId="0"/>
      <p:bldP spid="26" grpId="0" animBg="1"/>
      <p:bldP spid="27" grpId="0"/>
      <p:bldP spid="28" grpId="0"/>
      <p:bldP spid="29" grpId="0" animBg="1"/>
      <p:bldP spid="30" grpId="0"/>
      <p:bldP spid="3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B23EA33-414B-7795-8CF5-4BF8D8427D25}"/>
              </a:ext>
            </a:extLst>
          </p:cNvPr>
          <p:cNvSpPr/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EFCF3C1-D0B8-C8AE-4C7D-83E37147A409}"/>
              </a:ext>
            </a:extLst>
          </p:cNvPr>
          <p:cNvSpPr/>
          <p:nvPr/>
        </p:nvSpPr>
        <p:spPr bwMode="auto">
          <a:xfrm>
            <a:off x="0" y="0"/>
            <a:ext cx="685800" cy="6858000"/>
          </a:xfrm>
          <a:prstGeom prst="rect">
            <a:avLst/>
          </a:prstGeom>
          <a:solidFill>
            <a:srgbClr val="003B7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3956BAB-5533-59A7-00D1-D20CFE4A7BE5}"/>
              </a:ext>
            </a:extLst>
          </p:cNvPr>
          <p:cNvSpPr/>
          <p:nvPr/>
        </p:nvSpPr>
        <p:spPr bwMode="auto">
          <a:xfrm>
            <a:off x="685800" y="0"/>
            <a:ext cx="127000" cy="6858000"/>
          </a:xfrm>
          <a:prstGeom prst="rect">
            <a:avLst/>
          </a:prstGeom>
          <a:solidFill>
            <a:srgbClr val="6A9CCB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21F1FAE-63D8-4B4E-19FB-C1CB89C7A3EB}"/>
              </a:ext>
            </a:extLst>
          </p:cNvPr>
          <p:cNvSpPr txBox="1"/>
          <p:nvPr/>
        </p:nvSpPr>
        <p:spPr>
          <a:xfrm>
            <a:off x="1168400" y="431800"/>
            <a:ext cx="25400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850" b="1">
                <a:solidFill>
                  <a:srgbClr val="5E7699"/>
                </a:solidFill>
              </a:rPr>
              <a:t>Interpretation</a:t>
            </a:r>
            <a:endParaRPr lang="zh-CN" altLang="en-US" sz="850" b="1">
              <a:solidFill>
                <a:srgbClr val="5E7699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FEC9759-9824-88CC-9027-06BFD55352AD}"/>
              </a:ext>
            </a:extLst>
          </p:cNvPr>
          <p:cNvSpPr txBox="1"/>
          <p:nvPr/>
        </p:nvSpPr>
        <p:spPr>
          <a:xfrm>
            <a:off x="1168400" y="736600"/>
            <a:ext cx="96520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2100" b="1">
                <a:solidFill>
                  <a:srgbClr val="071A3D"/>
                </a:solidFill>
              </a:rPr>
              <a:t>Defensibility comes from saying no at the right boundary</a:t>
            </a:r>
            <a:endParaRPr lang="zh-CN" altLang="en-US" sz="2100" b="1">
              <a:solidFill>
                <a:srgbClr val="071A3D"/>
              </a:solidFill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B20AD173-D17E-834D-2709-80089E25A5C0}"/>
              </a:ext>
            </a:extLst>
          </p:cNvPr>
          <p:cNvCxnSpPr/>
          <p:nvPr/>
        </p:nvCxnSpPr>
        <p:spPr bwMode="auto">
          <a:xfrm>
            <a:off x="1168400" y="1473200"/>
            <a:ext cx="957580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C7D7EA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860132D4-299A-F71E-9DE6-3CC69E9BB484}"/>
              </a:ext>
            </a:extLst>
          </p:cNvPr>
          <p:cNvSpPr txBox="1"/>
          <p:nvPr/>
        </p:nvSpPr>
        <p:spPr>
          <a:xfrm>
            <a:off x="11480800" y="558800"/>
            <a:ext cx="3302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r"/>
            <a:r>
              <a:rPr lang="en-US" altLang="zh-CN" sz="800">
                <a:solidFill>
                  <a:srgbClr val="5E7699"/>
                </a:solidFill>
              </a:rPr>
              <a:t>11</a:t>
            </a:r>
            <a:endParaRPr lang="zh-CN" altLang="en-US" sz="800">
              <a:solidFill>
                <a:srgbClr val="5E7699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3CEF767-F743-9BCA-DCF5-1CF480124841}"/>
              </a:ext>
            </a:extLst>
          </p:cNvPr>
          <p:cNvSpPr/>
          <p:nvPr/>
        </p:nvSpPr>
        <p:spPr bwMode="auto">
          <a:xfrm>
            <a:off x="8204200" y="533400"/>
            <a:ext cx="381000" cy="50800"/>
          </a:xfrm>
          <a:prstGeom prst="rect">
            <a:avLst/>
          </a:prstGeom>
          <a:solidFill>
            <a:srgbClr val="C7D7E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DB7D7E6-62FF-EB05-A8FA-4932541E17D5}"/>
              </a:ext>
            </a:extLst>
          </p:cNvPr>
          <p:cNvSpPr/>
          <p:nvPr/>
        </p:nvSpPr>
        <p:spPr bwMode="auto">
          <a:xfrm>
            <a:off x="8737600" y="533400"/>
            <a:ext cx="381000" cy="50800"/>
          </a:xfrm>
          <a:prstGeom prst="rect">
            <a:avLst/>
          </a:prstGeom>
          <a:solidFill>
            <a:srgbClr val="C7D7E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C2D88D3-6A18-BB9B-A80D-4DD23FED6D5F}"/>
              </a:ext>
            </a:extLst>
          </p:cNvPr>
          <p:cNvSpPr/>
          <p:nvPr/>
        </p:nvSpPr>
        <p:spPr bwMode="auto">
          <a:xfrm>
            <a:off x="9271000" y="533400"/>
            <a:ext cx="381000" cy="50800"/>
          </a:xfrm>
          <a:prstGeom prst="rect">
            <a:avLst/>
          </a:prstGeom>
          <a:solidFill>
            <a:srgbClr val="C7D7E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AEA2FAF-162A-FC68-F1BF-9273EB41E395}"/>
              </a:ext>
            </a:extLst>
          </p:cNvPr>
          <p:cNvSpPr/>
          <p:nvPr/>
        </p:nvSpPr>
        <p:spPr bwMode="auto">
          <a:xfrm>
            <a:off x="9804400" y="533400"/>
            <a:ext cx="381000" cy="50800"/>
          </a:xfrm>
          <a:prstGeom prst="rect">
            <a:avLst/>
          </a:prstGeom>
          <a:solidFill>
            <a:srgbClr val="C7D7E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9BFD665-44BA-9FE6-C450-E6496EDD956B}"/>
              </a:ext>
            </a:extLst>
          </p:cNvPr>
          <p:cNvSpPr/>
          <p:nvPr/>
        </p:nvSpPr>
        <p:spPr bwMode="auto">
          <a:xfrm>
            <a:off x="10337800" y="533400"/>
            <a:ext cx="381000" cy="50800"/>
          </a:xfrm>
          <a:prstGeom prst="rect">
            <a:avLst/>
          </a:prstGeom>
          <a:solidFill>
            <a:srgbClr val="F2C14E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0EF2A9A-67BC-79C9-FE01-6AA0A856B446}"/>
              </a:ext>
            </a:extLst>
          </p:cNvPr>
          <p:cNvSpPr txBox="1"/>
          <p:nvPr/>
        </p:nvSpPr>
        <p:spPr>
          <a:xfrm>
            <a:off x="8204200" y="660400"/>
            <a:ext cx="24638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r"/>
            <a:r>
              <a:rPr lang="en-US" altLang="zh-CN" sz="680" b="1">
                <a:solidFill>
                  <a:srgbClr val="5E7699"/>
                </a:solidFill>
              </a:rPr>
              <a:t>Defense</a:t>
            </a:r>
            <a:endParaRPr lang="zh-CN" altLang="en-US" sz="680" b="1">
              <a:solidFill>
                <a:srgbClr val="5E7699"/>
              </a:solidFill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D744BE86-BB4B-409B-654F-2DDA2B7060FD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000" y="6248400"/>
            <a:ext cx="2413000" cy="431800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890BED68-AFCA-7E98-9078-EBDCFB46E926}"/>
              </a:ext>
            </a:extLst>
          </p:cNvPr>
          <p:cNvSpPr txBox="1"/>
          <p:nvPr/>
        </p:nvSpPr>
        <p:spPr>
          <a:xfrm>
            <a:off x="1117600" y="6451600"/>
            <a:ext cx="26670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750">
                <a:solidFill>
                  <a:srgbClr val="6A7FA0"/>
                </a:solidFill>
              </a:rPr>
              <a:t>WatermarkScope FYP Viva</a:t>
            </a:r>
            <a:endParaRPr lang="zh-CN" altLang="en-US" sz="750">
              <a:solidFill>
                <a:srgbClr val="6A7FA0"/>
              </a:solidFill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89AFBC52-8986-5FB6-6CD4-74D8EA118D6D}"/>
              </a:ext>
            </a:extLst>
          </p:cNvPr>
          <p:cNvSpPr txBox="1"/>
          <p:nvPr/>
        </p:nvSpPr>
        <p:spPr>
          <a:xfrm>
            <a:off x="4851400" y="6451600"/>
            <a:ext cx="21590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CN" sz="750">
                <a:solidFill>
                  <a:srgbClr val="6A7FA0"/>
                </a:solidFill>
              </a:rPr>
              <a:t>Haoyi Zhang | 2254912</a:t>
            </a:r>
            <a:endParaRPr lang="zh-CN" altLang="en-US" sz="750">
              <a:solidFill>
                <a:srgbClr val="6A7FA0"/>
              </a:solidFill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C17F1DD7-27A2-DB3D-27C0-8C2F18F6307E}"/>
              </a:ext>
            </a:extLst>
          </p:cNvPr>
          <p:cNvSpPr txBox="1"/>
          <p:nvPr/>
        </p:nvSpPr>
        <p:spPr>
          <a:xfrm>
            <a:off x="1168400" y="1752600"/>
            <a:ext cx="100330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1320" b="1">
                <a:solidFill>
                  <a:srgbClr val="071A3D"/>
                </a:solidFill>
              </a:rPr>
              <a:t>In Q&amp;A, answer first; then attach the answer to a boundary.</a:t>
            </a:r>
            <a:endParaRPr lang="zh-CN" altLang="en-US" sz="1320" b="1">
              <a:solidFill>
                <a:srgbClr val="071A3D"/>
              </a:solidFill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AC42109-A498-3392-9C1F-9100A6660B3F}"/>
              </a:ext>
            </a:extLst>
          </p:cNvPr>
          <p:cNvSpPr/>
          <p:nvPr/>
        </p:nvSpPr>
        <p:spPr bwMode="auto">
          <a:xfrm>
            <a:off x="1244600" y="2336800"/>
            <a:ext cx="9702800" cy="838200"/>
          </a:xfrm>
          <a:prstGeom prst="rect">
            <a:avLst/>
          </a:prstGeom>
          <a:solidFill>
            <a:srgbClr val="003B7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9ACD204-CEBF-95E4-AE3E-081602C7A0EA}"/>
              </a:ext>
            </a:extLst>
          </p:cNvPr>
          <p:cNvSpPr txBox="1"/>
          <p:nvPr/>
        </p:nvSpPr>
        <p:spPr>
          <a:xfrm>
            <a:off x="1676400" y="2590800"/>
            <a:ext cx="15240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1900" b="1">
                <a:solidFill>
                  <a:srgbClr val="FFFFFF"/>
                </a:solidFill>
              </a:rPr>
              <a:t>Defend</a:t>
            </a:r>
            <a:endParaRPr lang="zh-CN" altLang="en-US" sz="1900" b="1">
              <a:solidFill>
                <a:srgbClr val="FFFFFF"/>
              </a:solidFill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6401309-4CDA-B301-66AC-81E11B7072EA}"/>
              </a:ext>
            </a:extLst>
          </p:cNvPr>
          <p:cNvSpPr txBox="1"/>
          <p:nvPr/>
        </p:nvSpPr>
        <p:spPr>
          <a:xfrm>
            <a:off x="3581400" y="2628900"/>
            <a:ext cx="67310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1120" b="1">
                <a:solidFill>
                  <a:srgbClr val="EAF4FF"/>
                </a:solidFill>
              </a:rPr>
              <a:t>fixed denominators  |  zero negative controls  |  artifact hashes  |  repository traceability</a:t>
            </a:r>
            <a:endParaRPr lang="zh-CN" altLang="en-US" sz="1120" b="1">
              <a:solidFill>
                <a:srgbClr val="EAF4FF"/>
              </a:solidFill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124E194-DB16-2EC9-03AD-9798F5926DD5}"/>
              </a:ext>
            </a:extLst>
          </p:cNvPr>
          <p:cNvSpPr/>
          <p:nvPr/>
        </p:nvSpPr>
        <p:spPr bwMode="auto">
          <a:xfrm>
            <a:off x="1244600" y="3429000"/>
            <a:ext cx="9702800" cy="838200"/>
          </a:xfrm>
          <a:prstGeom prst="rect">
            <a:avLst/>
          </a:prstGeom>
          <a:solidFill>
            <a:srgbClr val="FFF8E8"/>
          </a:solidFill>
          <a:ln w="10160" cap="flat" cmpd="sng" algn="ctr">
            <a:solidFill>
              <a:srgbClr val="F2C14E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D9BB5C98-BFF0-521D-93F3-2178D8C2C973}"/>
              </a:ext>
            </a:extLst>
          </p:cNvPr>
          <p:cNvSpPr txBox="1"/>
          <p:nvPr/>
        </p:nvSpPr>
        <p:spPr>
          <a:xfrm>
            <a:off x="1676400" y="3683000"/>
            <a:ext cx="15240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1900" b="1">
                <a:solidFill>
                  <a:srgbClr val="5A3510"/>
                </a:solidFill>
              </a:rPr>
              <a:t>Qualify</a:t>
            </a:r>
            <a:endParaRPr lang="zh-CN" altLang="en-US" sz="1900" b="1">
              <a:solidFill>
                <a:srgbClr val="5A3510"/>
              </a:solidFill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B89A9740-D704-7E8C-4306-8EDA2DF53DA6}"/>
              </a:ext>
            </a:extLst>
          </p:cNvPr>
          <p:cNvSpPr txBox="1"/>
          <p:nvPr/>
        </p:nvSpPr>
        <p:spPr>
          <a:xfrm>
            <a:off x="3581400" y="3721100"/>
            <a:ext cx="67310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1100" b="1">
                <a:solidFill>
                  <a:srgbClr val="071A3D"/>
                </a:solidFill>
              </a:rPr>
              <a:t>access model  |  dataset surface  |  admitted denominator  |  demo is not a full rerun</a:t>
            </a:r>
            <a:endParaRPr lang="zh-CN" altLang="en-US" sz="1100" b="1">
              <a:solidFill>
                <a:srgbClr val="071A3D"/>
              </a:solidFill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E851D525-7233-61B3-4F04-46A0D1AD319B}"/>
              </a:ext>
            </a:extLst>
          </p:cNvPr>
          <p:cNvSpPr/>
          <p:nvPr/>
        </p:nvSpPr>
        <p:spPr bwMode="auto">
          <a:xfrm>
            <a:off x="1244600" y="4521200"/>
            <a:ext cx="9702800" cy="838200"/>
          </a:xfrm>
          <a:prstGeom prst="rect">
            <a:avLst/>
          </a:prstGeom>
          <a:solidFill>
            <a:srgbClr val="FFF1F1"/>
          </a:solidFill>
          <a:ln w="10160" cap="flat" cmpd="sng" algn="ctr">
            <a:solidFill>
              <a:srgbClr val="E6A8A8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ABFE89CA-3493-3D3D-C5D7-2B3A93521BE4}"/>
              </a:ext>
            </a:extLst>
          </p:cNvPr>
          <p:cNvSpPr txBox="1"/>
          <p:nvPr/>
        </p:nvSpPr>
        <p:spPr>
          <a:xfrm>
            <a:off x="1676400" y="4775200"/>
            <a:ext cx="15240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1900" b="1">
                <a:solidFill>
                  <a:srgbClr val="A32626"/>
                </a:solidFill>
              </a:rPr>
              <a:t>Refuse</a:t>
            </a:r>
            <a:endParaRPr lang="zh-CN" altLang="en-US" sz="1900" b="1">
              <a:solidFill>
                <a:srgbClr val="A32626"/>
              </a:solidFill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4F0BD47D-9422-9E9C-ABD5-1D8249346AB7}"/>
              </a:ext>
            </a:extLst>
          </p:cNvPr>
          <p:cNvSpPr txBox="1"/>
          <p:nvPr/>
        </p:nvSpPr>
        <p:spPr>
          <a:xfrm>
            <a:off x="3581400" y="4813300"/>
            <a:ext cx="67310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1100" b="1">
                <a:solidFill>
                  <a:srgbClr val="A32626"/>
                </a:solidFill>
              </a:rPr>
              <a:t>universal detection  |  legal authorship  |  cross-provider guarantee  |  full safety certificate</a:t>
            </a:r>
            <a:endParaRPr lang="zh-CN" altLang="en-US" sz="1100" b="1">
              <a:solidFill>
                <a:srgbClr val="A32626"/>
              </a:solidFill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5C523EAE-2242-2CC8-3B9B-FF68D198F243}"/>
              </a:ext>
            </a:extLst>
          </p:cNvPr>
          <p:cNvSpPr/>
          <p:nvPr/>
        </p:nvSpPr>
        <p:spPr bwMode="auto">
          <a:xfrm>
            <a:off x="1955800" y="5689600"/>
            <a:ext cx="8280400" cy="406400"/>
          </a:xfrm>
          <a:prstGeom prst="rect">
            <a:avLst/>
          </a:prstGeom>
          <a:solidFill>
            <a:srgbClr val="071A3D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F71B3D81-E800-4519-04A4-8DA803627128}"/>
              </a:ext>
            </a:extLst>
          </p:cNvPr>
          <p:cNvSpPr txBox="1"/>
          <p:nvPr/>
        </p:nvSpPr>
        <p:spPr>
          <a:xfrm>
            <a:off x="2260600" y="5803900"/>
            <a:ext cx="76708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CN" sz="880" b="1">
                <a:solidFill>
                  <a:srgbClr val="FFFFFF"/>
                </a:solidFill>
              </a:rPr>
              <a:t>Publication plan: CodeMarkBench -&gt; TOSEM; four method studies -&gt; EMNLP-style submissions.</a:t>
            </a:r>
            <a:endParaRPr lang="zh-CN" altLang="en-US" sz="880" b="1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4236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 thruBlk="1"/>
      </p:transition>
    </mc:Choice>
    <mc:Fallback xmlns="">
      <p:transition spd="slow"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/>
      <p:bldP spid="22" grpId="0"/>
      <p:bldP spid="23" grpId="0" animBg="1"/>
      <p:bldP spid="24" grpId="0"/>
      <p:bldP spid="25" grpId="0"/>
      <p:bldP spid="26" grpId="0" animBg="1"/>
      <p:bldP spid="27" grpId="0"/>
      <p:bldP spid="28" grpId="0"/>
      <p:bldP spid="29" grpId="0" animBg="1"/>
      <p:bldP spid="3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9DC10CDB-DC36-A164-679F-BFF6BF247CE6}"/>
              </a:ext>
            </a:extLst>
          </p:cNvPr>
          <p:cNvSpPr/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003B7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11460C2-11A3-A638-F291-2ED2212F6209}"/>
              </a:ext>
            </a:extLst>
          </p:cNvPr>
          <p:cNvSpPr/>
          <p:nvPr/>
        </p:nvSpPr>
        <p:spPr bwMode="auto">
          <a:xfrm>
            <a:off x="0" y="0"/>
            <a:ext cx="889000" cy="6858000"/>
          </a:xfrm>
          <a:prstGeom prst="rect">
            <a:avLst/>
          </a:prstGeom>
          <a:solidFill>
            <a:srgbClr val="002B5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3A8A69D-C4E9-9C28-2898-E7AC035114D7}"/>
              </a:ext>
            </a:extLst>
          </p:cNvPr>
          <p:cNvSpPr/>
          <p:nvPr/>
        </p:nvSpPr>
        <p:spPr bwMode="auto">
          <a:xfrm>
            <a:off x="889000" y="0"/>
            <a:ext cx="114300" cy="6858000"/>
          </a:xfrm>
          <a:prstGeom prst="rect">
            <a:avLst/>
          </a:prstGeom>
          <a:solidFill>
            <a:srgbClr val="6A9CCB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B8B4D61-81B1-5926-F9EF-8558219A3A12}"/>
              </a:ext>
            </a:extLst>
          </p:cNvPr>
          <p:cNvSpPr txBox="1"/>
          <p:nvPr/>
        </p:nvSpPr>
        <p:spPr>
          <a:xfrm>
            <a:off x="1422400" y="533400"/>
            <a:ext cx="25400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900" b="1">
                <a:solidFill>
                  <a:srgbClr val="BBD7F0"/>
                </a:solidFill>
              </a:rPr>
              <a:t>Closing</a:t>
            </a:r>
            <a:endParaRPr lang="zh-CN" altLang="en-US" sz="900" b="1">
              <a:solidFill>
                <a:srgbClr val="BBD7F0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269CF6F-C290-5F45-C6E2-F8897B6C9EE9}"/>
              </a:ext>
            </a:extLst>
          </p:cNvPr>
          <p:cNvSpPr txBox="1"/>
          <p:nvPr/>
        </p:nvSpPr>
        <p:spPr>
          <a:xfrm>
            <a:off x="1422400" y="889000"/>
            <a:ext cx="91440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3100" b="1">
                <a:solidFill>
                  <a:srgbClr val="FFFFFF"/>
                </a:solidFill>
              </a:rPr>
              <a:t>Thank you</a:t>
            </a:r>
            <a:endParaRPr lang="zh-CN" altLang="en-US" sz="3100" b="1">
              <a:solidFill>
                <a:srgbClr val="FFFFFF"/>
              </a:solidFill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040B4E49-6782-8EE0-E109-DA69527F718C}"/>
              </a:ext>
            </a:extLst>
          </p:cNvPr>
          <p:cNvCxnSpPr/>
          <p:nvPr/>
        </p:nvCxnSpPr>
        <p:spPr bwMode="auto">
          <a:xfrm>
            <a:off x="1447800" y="1854200"/>
            <a:ext cx="9296400" cy="0"/>
          </a:xfrm>
          <a:prstGeom prst="line">
            <a:avLst/>
          </a:prstGeom>
          <a:solidFill>
            <a:schemeClr val="accent1"/>
          </a:solidFill>
          <a:ln w="13970" cap="flat" cmpd="sng" algn="ctr">
            <a:solidFill>
              <a:srgbClr val="7EB0DD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AD797C17-0B19-1602-9C32-357AA015E71F}"/>
              </a:ext>
            </a:extLst>
          </p:cNvPr>
          <p:cNvSpPr txBox="1"/>
          <p:nvPr/>
        </p:nvSpPr>
        <p:spPr>
          <a:xfrm>
            <a:off x="11379200" y="584200"/>
            <a:ext cx="4064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r"/>
            <a:r>
              <a:rPr lang="en-US" altLang="zh-CN" sz="800">
                <a:solidFill>
                  <a:srgbClr val="BBD7F0"/>
                </a:solidFill>
              </a:rPr>
              <a:t>12</a:t>
            </a:r>
            <a:endParaRPr lang="zh-CN" altLang="en-US" sz="800">
              <a:solidFill>
                <a:srgbClr val="BBD7F0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4CB2041-E82C-11A6-35C6-B5DB2148CD11}"/>
              </a:ext>
            </a:extLst>
          </p:cNvPr>
          <p:cNvSpPr/>
          <p:nvPr/>
        </p:nvSpPr>
        <p:spPr bwMode="auto">
          <a:xfrm>
            <a:off x="8204200" y="584200"/>
            <a:ext cx="381000" cy="50800"/>
          </a:xfrm>
          <a:prstGeom prst="rect">
            <a:avLst/>
          </a:prstGeom>
          <a:solidFill>
            <a:srgbClr val="5E8FC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9DC57B1-4072-C629-B62F-9C383C07E12B}"/>
              </a:ext>
            </a:extLst>
          </p:cNvPr>
          <p:cNvSpPr/>
          <p:nvPr/>
        </p:nvSpPr>
        <p:spPr bwMode="auto">
          <a:xfrm>
            <a:off x="8737600" y="584200"/>
            <a:ext cx="381000" cy="50800"/>
          </a:xfrm>
          <a:prstGeom prst="rect">
            <a:avLst/>
          </a:prstGeom>
          <a:solidFill>
            <a:srgbClr val="5E8FC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5FFAD89-5E3E-3029-049D-4583C30F2A2B}"/>
              </a:ext>
            </a:extLst>
          </p:cNvPr>
          <p:cNvSpPr/>
          <p:nvPr/>
        </p:nvSpPr>
        <p:spPr bwMode="auto">
          <a:xfrm>
            <a:off x="9271000" y="584200"/>
            <a:ext cx="381000" cy="50800"/>
          </a:xfrm>
          <a:prstGeom prst="rect">
            <a:avLst/>
          </a:prstGeom>
          <a:solidFill>
            <a:srgbClr val="5E8FC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8746DC2-BF85-C11F-E86F-B1C87C400271}"/>
              </a:ext>
            </a:extLst>
          </p:cNvPr>
          <p:cNvSpPr/>
          <p:nvPr/>
        </p:nvSpPr>
        <p:spPr bwMode="auto">
          <a:xfrm>
            <a:off x="9804400" y="584200"/>
            <a:ext cx="381000" cy="50800"/>
          </a:xfrm>
          <a:prstGeom prst="rect">
            <a:avLst/>
          </a:prstGeom>
          <a:solidFill>
            <a:srgbClr val="5E8FC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C8C0700-B9E5-13C2-F100-28EE817DCB93}"/>
              </a:ext>
            </a:extLst>
          </p:cNvPr>
          <p:cNvSpPr/>
          <p:nvPr/>
        </p:nvSpPr>
        <p:spPr bwMode="auto">
          <a:xfrm>
            <a:off x="10337800" y="584200"/>
            <a:ext cx="381000" cy="50800"/>
          </a:xfrm>
          <a:prstGeom prst="rect">
            <a:avLst/>
          </a:prstGeom>
          <a:solidFill>
            <a:srgbClr val="F2C14E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88A14CB-2541-FE68-23DB-7BB90B8FDF92}"/>
              </a:ext>
            </a:extLst>
          </p:cNvPr>
          <p:cNvSpPr txBox="1"/>
          <p:nvPr/>
        </p:nvSpPr>
        <p:spPr>
          <a:xfrm>
            <a:off x="8204200" y="711200"/>
            <a:ext cx="24638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r"/>
            <a:r>
              <a:rPr lang="en-US" altLang="zh-CN" sz="680" b="1">
                <a:solidFill>
                  <a:srgbClr val="BBD7F0"/>
                </a:solidFill>
              </a:rPr>
              <a:t>Defense</a:t>
            </a:r>
            <a:endParaRPr lang="zh-CN" altLang="en-US" sz="680" b="1">
              <a:solidFill>
                <a:srgbClr val="BBD7F0"/>
              </a:solidFill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86AED150-D9F7-113C-9B18-E5BD8094EBED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3200" y="5689600"/>
            <a:ext cx="3556000" cy="647700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A81D30B8-5E35-1018-6E9E-36CD9BA94F2F}"/>
              </a:ext>
            </a:extLst>
          </p:cNvPr>
          <p:cNvSpPr txBox="1"/>
          <p:nvPr/>
        </p:nvSpPr>
        <p:spPr>
          <a:xfrm>
            <a:off x="1498600" y="1930400"/>
            <a:ext cx="38100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2800" b="1">
                <a:solidFill>
                  <a:srgbClr val="FFFFFF"/>
                </a:solidFill>
              </a:rPr>
              <a:t>Questions?</a:t>
            </a:r>
            <a:endParaRPr lang="zh-CN" altLang="en-US" sz="2800" b="1">
              <a:solidFill>
                <a:srgbClr val="FFFFFF"/>
              </a:solidFill>
            </a:endParaRPr>
          </a:p>
        </p:txBody>
      </p: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C400BE41-7979-BF4D-3849-80C421B85ADA}"/>
              </a:ext>
            </a:extLst>
          </p:cNvPr>
          <p:cNvCxnSpPr/>
          <p:nvPr/>
        </p:nvCxnSpPr>
        <p:spPr bwMode="auto">
          <a:xfrm>
            <a:off x="1498600" y="2717800"/>
            <a:ext cx="8915400" cy="0"/>
          </a:xfrm>
          <a:prstGeom prst="line">
            <a:avLst/>
          </a:prstGeom>
          <a:solidFill>
            <a:schemeClr val="accent1"/>
          </a:solidFill>
          <a:ln w="13970" cap="flat" cmpd="sng" algn="ctr">
            <a:solidFill>
              <a:srgbClr val="7EB0DD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9" name="矩形 18">
            <a:extLst>
              <a:ext uri="{FF2B5EF4-FFF2-40B4-BE49-F238E27FC236}">
                <a16:creationId xmlns:a16="http://schemas.microsoft.com/office/drawing/2014/main" id="{D5D3DAAA-1D1E-FE3D-0F7F-D8E595B5DED2}"/>
              </a:ext>
            </a:extLst>
          </p:cNvPr>
          <p:cNvSpPr/>
          <p:nvPr/>
        </p:nvSpPr>
        <p:spPr bwMode="auto">
          <a:xfrm>
            <a:off x="1498600" y="3149600"/>
            <a:ext cx="7747000" cy="1117600"/>
          </a:xfrm>
          <a:prstGeom prst="rect">
            <a:avLst/>
          </a:prstGeom>
          <a:solidFill>
            <a:srgbClr val="0B4C92"/>
          </a:solidFill>
          <a:ln w="10160" cap="flat" cmpd="sng" algn="ctr">
            <a:solidFill>
              <a:srgbClr val="7EB0DD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9C44421-35EC-4019-FED2-4C4986404352}"/>
              </a:ext>
            </a:extLst>
          </p:cNvPr>
          <p:cNvSpPr txBox="1"/>
          <p:nvPr/>
        </p:nvSpPr>
        <p:spPr>
          <a:xfrm>
            <a:off x="1854200" y="3378200"/>
            <a:ext cx="13970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1000" b="1">
                <a:solidFill>
                  <a:srgbClr val="BBD7F0"/>
                </a:solidFill>
              </a:rPr>
              <a:t>Takeaway</a:t>
            </a:r>
            <a:endParaRPr lang="zh-CN" altLang="en-US" sz="1000" b="1">
              <a:solidFill>
                <a:srgbClr val="BBD7F0"/>
              </a:solidFill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6B6E81B-AF10-5352-569C-B5C39E6FAA92}"/>
              </a:ext>
            </a:extLst>
          </p:cNvPr>
          <p:cNvSpPr txBox="1"/>
          <p:nvPr/>
        </p:nvSpPr>
        <p:spPr>
          <a:xfrm>
            <a:off x="1854200" y="3708400"/>
            <a:ext cx="67818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1320" b="1">
                <a:solidFill>
                  <a:srgbClr val="FFFFFF"/>
                </a:solidFill>
              </a:rPr>
              <a:t>WatermarkScope evaluates source-code watermarking as bounded evidence, not as one detector score.</a:t>
            </a:r>
            <a:endParaRPr lang="zh-CN" altLang="en-US" sz="1320" b="1">
              <a:solidFill>
                <a:srgbClr val="FFFFFF"/>
              </a:solidFill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302D593-19E3-6E0E-3715-1C1175135CD9}"/>
              </a:ext>
            </a:extLst>
          </p:cNvPr>
          <p:cNvSpPr/>
          <p:nvPr/>
        </p:nvSpPr>
        <p:spPr bwMode="auto">
          <a:xfrm>
            <a:off x="1498600" y="4572000"/>
            <a:ext cx="7747000" cy="660400"/>
          </a:xfrm>
          <a:prstGeom prst="rect">
            <a:avLst/>
          </a:prstGeom>
          <a:solidFill>
            <a:srgbClr val="002B5C"/>
          </a:solidFill>
          <a:ln w="7620" cap="flat" cmpd="sng" algn="ctr">
            <a:solidFill>
              <a:srgbClr val="7EB0DD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4ECEA7F-C555-7F91-6D12-A4B2EF7FEB0C}"/>
              </a:ext>
            </a:extLst>
          </p:cNvPr>
          <p:cNvSpPr txBox="1"/>
          <p:nvPr/>
        </p:nvSpPr>
        <p:spPr>
          <a:xfrm>
            <a:off x="1854200" y="4749800"/>
            <a:ext cx="13970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1000" b="1">
                <a:solidFill>
                  <a:srgbClr val="BBD7F0"/>
                </a:solidFill>
              </a:rPr>
              <a:t>Q&amp;A anchors</a:t>
            </a:r>
            <a:endParaRPr lang="zh-CN" altLang="en-US" sz="1000" b="1">
              <a:solidFill>
                <a:srgbClr val="BBD7F0"/>
              </a:solidFill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53F4021C-B7D5-C711-0A1A-CB027F35CF44}"/>
              </a:ext>
            </a:extLst>
          </p:cNvPr>
          <p:cNvSpPr txBox="1"/>
          <p:nvPr/>
        </p:nvSpPr>
        <p:spPr>
          <a:xfrm>
            <a:off x="3454400" y="4749800"/>
            <a:ext cx="51308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1050" b="1">
                <a:solidFill>
                  <a:srgbClr val="FFFFFF"/>
                </a:solidFill>
              </a:rPr>
              <a:t>contribution  |  why not one score  |  demo validity  |  claim boundaries</a:t>
            </a:r>
            <a:endParaRPr lang="zh-CN" altLang="en-US" sz="1050" b="1">
              <a:solidFill>
                <a:srgbClr val="FFFFFF"/>
              </a:solidFill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5F56A5EA-A807-01A5-744C-39ECB315C25D}"/>
              </a:ext>
            </a:extLst>
          </p:cNvPr>
          <p:cNvSpPr txBox="1"/>
          <p:nvPr/>
        </p:nvSpPr>
        <p:spPr>
          <a:xfrm>
            <a:off x="1524000" y="5461000"/>
            <a:ext cx="71120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1050">
                <a:solidFill>
                  <a:srgbClr val="EAF4FF"/>
                </a:solidFill>
              </a:rPr>
              <a:t>Repository: https://github.com/Haoyi-Zhang/WatermarkScope</a:t>
            </a:r>
            <a:endParaRPr lang="zh-CN" altLang="en-US" sz="1050">
              <a:solidFill>
                <a:srgbClr val="EAF4FF"/>
              </a:solidFill>
            </a:endParaRPr>
          </a:p>
        </p:txBody>
      </p:sp>
      <p:sp>
        <p:nvSpPr>
          <p:cNvPr id="26" name="WSHome_S12Panel">
            <a:extLst>
              <a:ext uri="{FF2B5EF4-FFF2-40B4-BE49-F238E27FC236}">
                <a16:creationId xmlns:a16="http://schemas.microsoft.com/office/drawing/2014/main" id="{A15B1CCB-140D-D346-DCCB-E881910DA094}"/>
              </a:ext>
            </a:extLst>
          </p:cNvPr>
          <p:cNvSpPr/>
          <p:nvPr/>
        </p:nvSpPr>
        <p:spPr bwMode="auto">
          <a:xfrm>
            <a:off x="8940800" y="3200400"/>
            <a:ext cx="1955800" cy="21082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B0C4DE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pic>
        <p:nvPicPr>
          <p:cNvPr id="32" name="WSHome_S12QR">
            <a:hlinkClick r:id="rId4"/>
            <a:extLst>
              <a:ext uri="{FF2B5EF4-FFF2-40B4-BE49-F238E27FC236}">
                <a16:creationId xmlns:a16="http://schemas.microsoft.com/office/drawing/2014/main" id="{F7CF372C-2913-5F4B-4269-EC50AC921A32}"/>
              </a:ext>
            </a:extLst>
          </p:cNvPr>
          <p:cNvPicPr>
            <a:picLocks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5600" y="3403600"/>
            <a:ext cx="1320800" cy="1320800"/>
          </a:xfrm>
          <a:prstGeom prst="rect">
            <a:avLst/>
          </a:prstGeom>
        </p:spPr>
      </p:pic>
      <p:sp>
        <p:nvSpPr>
          <p:cNvPr id="33" name="WSHome_S12Title">
            <a:extLst>
              <a:ext uri="{FF2B5EF4-FFF2-40B4-BE49-F238E27FC236}">
                <a16:creationId xmlns:a16="http://schemas.microsoft.com/office/drawing/2014/main" id="{EF62C3A9-E02B-2233-2530-8168E869CB5C}"/>
              </a:ext>
            </a:extLst>
          </p:cNvPr>
          <p:cNvSpPr txBox="1"/>
          <p:nvPr/>
        </p:nvSpPr>
        <p:spPr>
          <a:xfrm>
            <a:off x="9169400" y="4800600"/>
            <a:ext cx="1473200" cy="1292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40" b="1">
                <a:solidFill>
                  <a:srgbClr val="08111F"/>
                </a:solidFill>
                <a:latin typeface="Aptos" panose="020B0004020202020204" pitchFamily="34" charset="0"/>
              </a:rPr>
              <a:t>Project page for Q&amp;A</a:t>
            </a:r>
            <a:endParaRPr lang="zh-CN" altLang="en-US" sz="840" b="1">
              <a:solidFill>
                <a:srgbClr val="08111F"/>
              </a:solidFill>
              <a:latin typeface="Aptos" panose="020B0004020202020204" pitchFamily="34" charset="0"/>
            </a:endParaRPr>
          </a:p>
        </p:txBody>
      </p:sp>
      <p:sp>
        <p:nvSpPr>
          <p:cNvPr id="34" name="WSHome_S12PageBtn" descr="Clickable link: https://haoyi-zhang.github.io/WatermarkScope/">
            <a:hlinkClick r:id="rId4"/>
            <a:extLst>
              <a:ext uri="{FF2B5EF4-FFF2-40B4-BE49-F238E27FC236}">
                <a16:creationId xmlns:a16="http://schemas.microsoft.com/office/drawing/2014/main" id="{1DA786A1-34CA-B1DE-588F-32E9C8195D5F}"/>
              </a:ext>
            </a:extLst>
          </p:cNvPr>
          <p:cNvSpPr/>
          <p:nvPr/>
        </p:nvSpPr>
        <p:spPr bwMode="auto">
          <a:xfrm>
            <a:off x="9169400" y="5029200"/>
            <a:ext cx="660400" cy="228600"/>
          </a:xfrm>
          <a:prstGeom prst="rect">
            <a:avLst/>
          </a:prstGeom>
          <a:solidFill>
            <a:srgbClr val="08111F"/>
          </a:solidFill>
          <a:ln w="9525" cap="flat" cmpd="sng" algn="ctr">
            <a:solidFill>
              <a:srgbClr val="08111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85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ptos" panose="020B0004020202020204" pitchFamily="34" charset="0"/>
                <a:ea typeface="ＭＳ Ｐゴシック" pitchFamily="34" charset="-128"/>
              </a:rPr>
              <a:t>Page</a:t>
            </a:r>
            <a:endParaRPr kumimoji="0" lang="zh-CN" altLang="en-US" sz="85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ptos" panose="020B0004020202020204" pitchFamily="34" charset="0"/>
              <a:ea typeface="ＭＳ Ｐゴシック" pitchFamily="34" charset="-128"/>
            </a:endParaRPr>
          </a:p>
        </p:txBody>
      </p:sp>
      <p:sp>
        <p:nvSpPr>
          <p:cNvPr id="35" name="WSHome_S12RepoBtn" descr="Clickable link: https://github.com/Haoyi-Zhang/WatermarkScope">
            <a:hlinkClick r:id="rId6"/>
            <a:extLst>
              <a:ext uri="{FF2B5EF4-FFF2-40B4-BE49-F238E27FC236}">
                <a16:creationId xmlns:a16="http://schemas.microsoft.com/office/drawing/2014/main" id="{DA18D713-07B1-C082-4F0F-82DB1E47A43B}"/>
              </a:ext>
            </a:extLst>
          </p:cNvPr>
          <p:cNvSpPr/>
          <p:nvPr/>
        </p:nvSpPr>
        <p:spPr bwMode="auto">
          <a:xfrm>
            <a:off x="9906000" y="5029200"/>
            <a:ext cx="660400" cy="228600"/>
          </a:xfrm>
          <a:prstGeom prst="rect">
            <a:avLst/>
          </a:prstGeom>
          <a:solidFill>
            <a:srgbClr val="08111F"/>
          </a:solidFill>
          <a:ln w="9525" cap="flat" cmpd="sng" algn="ctr">
            <a:solidFill>
              <a:srgbClr val="08111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85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ptos" panose="020B0004020202020204" pitchFamily="34" charset="0"/>
                <a:ea typeface="ＭＳ Ｐゴシック" pitchFamily="34" charset="-128"/>
              </a:rPr>
              <a:t>Repo</a:t>
            </a:r>
            <a:endParaRPr kumimoji="0" lang="zh-CN" altLang="en-US" sz="85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ptos" panose="020B0004020202020204" pitchFamily="34" charset="0"/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61766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 thruBlk="1"/>
      </p:transition>
    </mc:Choice>
    <mc:Fallback xmlns="">
      <p:transition spd="slow"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/>
      <p:bldP spid="21" grpId="0"/>
      <p:bldP spid="22" grpId="0" animBg="1"/>
      <p:bldP spid="23" grpId="0"/>
      <p:bldP spid="2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195AAF9E-A75E-ED27-E8DD-7EC12C7F6824}"/>
              </a:ext>
            </a:extLst>
          </p:cNvPr>
          <p:cNvSpPr/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A5C2384-7B0A-9E44-F0D4-C6B58C9E6D4E}"/>
              </a:ext>
            </a:extLst>
          </p:cNvPr>
          <p:cNvSpPr/>
          <p:nvPr/>
        </p:nvSpPr>
        <p:spPr bwMode="auto">
          <a:xfrm>
            <a:off x="0" y="0"/>
            <a:ext cx="685800" cy="6858000"/>
          </a:xfrm>
          <a:prstGeom prst="rect">
            <a:avLst/>
          </a:prstGeom>
          <a:solidFill>
            <a:srgbClr val="003B7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C200D7B-AB08-488D-8DAF-6D808291EE24}"/>
              </a:ext>
            </a:extLst>
          </p:cNvPr>
          <p:cNvSpPr/>
          <p:nvPr/>
        </p:nvSpPr>
        <p:spPr bwMode="auto">
          <a:xfrm>
            <a:off x="685800" y="0"/>
            <a:ext cx="127000" cy="6858000"/>
          </a:xfrm>
          <a:prstGeom prst="rect">
            <a:avLst/>
          </a:prstGeom>
          <a:solidFill>
            <a:srgbClr val="6A9CCB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DADED5B-6993-46FF-BAED-FAD7EF0ADC72}"/>
              </a:ext>
            </a:extLst>
          </p:cNvPr>
          <p:cNvSpPr txBox="1"/>
          <p:nvPr/>
        </p:nvSpPr>
        <p:spPr>
          <a:xfrm>
            <a:off x="1168400" y="431800"/>
            <a:ext cx="25400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850" b="1">
                <a:solidFill>
                  <a:srgbClr val="5E7699"/>
                </a:solidFill>
              </a:rPr>
              <a:t>Backup</a:t>
            </a:r>
            <a:endParaRPr lang="zh-CN" altLang="en-US" sz="850" b="1">
              <a:solidFill>
                <a:srgbClr val="5E7699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64694F7-987B-4B76-4307-63E8DCEA717A}"/>
              </a:ext>
            </a:extLst>
          </p:cNvPr>
          <p:cNvSpPr txBox="1"/>
          <p:nvPr/>
        </p:nvSpPr>
        <p:spPr>
          <a:xfrm>
            <a:off x="1168400" y="736600"/>
            <a:ext cx="96520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b="1">
                <a:solidFill>
                  <a:srgbClr val="071A3D"/>
                </a:solidFill>
              </a:rPr>
              <a:t>Formula and notation reference</a:t>
            </a:r>
            <a:endParaRPr lang="zh-CN" altLang="en-US" b="1">
              <a:solidFill>
                <a:srgbClr val="071A3D"/>
              </a:solidFill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1C5AE5FE-DC31-DD21-9907-656B340B290C}"/>
              </a:ext>
            </a:extLst>
          </p:cNvPr>
          <p:cNvCxnSpPr/>
          <p:nvPr/>
        </p:nvCxnSpPr>
        <p:spPr bwMode="auto">
          <a:xfrm>
            <a:off x="1168400" y="1473200"/>
            <a:ext cx="957580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C7D7EA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077C4071-93D2-CEE4-0F29-2AF9F8A5894D}"/>
              </a:ext>
            </a:extLst>
          </p:cNvPr>
          <p:cNvSpPr txBox="1"/>
          <p:nvPr/>
        </p:nvSpPr>
        <p:spPr>
          <a:xfrm>
            <a:off x="11480800" y="558800"/>
            <a:ext cx="3302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r"/>
            <a:r>
              <a:rPr lang="en-US" altLang="zh-CN" sz="800">
                <a:solidFill>
                  <a:srgbClr val="5E7699"/>
                </a:solidFill>
              </a:rPr>
              <a:t>B1</a:t>
            </a:r>
            <a:endParaRPr lang="zh-CN" altLang="en-US" sz="800">
              <a:solidFill>
                <a:srgbClr val="5E7699"/>
              </a:solidFill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23A0C986-5BF8-837A-A145-302EA7936B26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000" y="6248400"/>
            <a:ext cx="2413000" cy="431800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D9232D02-13D0-553B-DD4D-242EF982C767}"/>
              </a:ext>
            </a:extLst>
          </p:cNvPr>
          <p:cNvSpPr txBox="1"/>
          <p:nvPr/>
        </p:nvSpPr>
        <p:spPr>
          <a:xfrm>
            <a:off x="1117600" y="6451600"/>
            <a:ext cx="26670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750">
                <a:solidFill>
                  <a:srgbClr val="6A7FA0"/>
                </a:solidFill>
              </a:rPr>
              <a:t>WatermarkScope FYP Viva</a:t>
            </a:r>
            <a:endParaRPr lang="zh-CN" altLang="en-US" sz="750">
              <a:solidFill>
                <a:srgbClr val="6A7FA0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9E46C30-001B-55A2-A941-52A6775808B4}"/>
              </a:ext>
            </a:extLst>
          </p:cNvPr>
          <p:cNvSpPr txBox="1"/>
          <p:nvPr/>
        </p:nvSpPr>
        <p:spPr>
          <a:xfrm>
            <a:off x="4851400" y="6451600"/>
            <a:ext cx="21590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CN" sz="750">
                <a:solidFill>
                  <a:srgbClr val="6A7FA0"/>
                </a:solidFill>
              </a:rPr>
              <a:t>Haoyi Zhang | 2254912</a:t>
            </a:r>
            <a:endParaRPr lang="zh-CN" altLang="en-US" sz="750">
              <a:solidFill>
                <a:srgbClr val="6A7FA0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7AEF736-87C1-E06D-B926-09493DEDA8DA}"/>
              </a:ext>
            </a:extLst>
          </p:cNvPr>
          <p:cNvSpPr/>
          <p:nvPr/>
        </p:nvSpPr>
        <p:spPr bwMode="auto">
          <a:xfrm>
            <a:off x="1422400" y="1955800"/>
            <a:ext cx="9144000" cy="609600"/>
          </a:xfrm>
          <a:prstGeom prst="rect">
            <a:avLst/>
          </a:prstGeom>
          <a:solidFill>
            <a:srgbClr val="F4F8FD"/>
          </a:solidFill>
          <a:ln w="8890" cap="flat" cmpd="sng" algn="ctr">
            <a:solidFill>
              <a:srgbClr val="D6E2F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7BFBD63-6CBF-7B8E-7D4D-C3F13A06AC4C}"/>
              </a:ext>
            </a:extLst>
          </p:cNvPr>
          <p:cNvSpPr txBox="1"/>
          <p:nvPr/>
        </p:nvSpPr>
        <p:spPr>
          <a:xfrm>
            <a:off x="1752600" y="2120900"/>
            <a:ext cx="20320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1000" b="1">
                <a:solidFill>
                  <a:srgbClr val="003B7A"/>
                </a:solidFill>
              </a:rPr>
              <a:t>Evidence object</a:t>
            </a:r>
            <a:endParaRPr lang="zh-CN" altLang="en-US" sz="1000" b="1">
              <a:solidFill>
                <a:srgbClr val="003B7A"/>
              </a:solidFill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BC10110-53FA-AC6D-B428-9B0E9FFA4D55}"/>
              </a:ext>
            </a:extLst>
          </p:cNvPr>
          <p:cNvSpPr txBox="1"/>
          <p:nvPr/>
        </p:nvSpPr>
        <p:spPr>
          <a:xfrm>
            <a:off x="3860800" y="2108200"/>
            <a:ext cx="62230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1050">
                <a:solidFill>
                  <a:srgbClr val="071A3D"/>
                </a:solidFill>
                <a:latin typeface="Cambria Math" panose="02040503050406030204" pitchFamily="18" charset="0"/>
              </a:rPr>
              <a:t>E = &lt;D, C, A, H, B&gt;: denominator, controls, artifact, hash, boundary</a:t>
            </a:r>
            <a:endParaRPr lang="zh-CN" altLang="en-US" sz="1050">
              <a:solidFill>
                <a:srgbClr val="071A3D"/>
              </a:solidFill>
              <a:latin typeface="Cambria Math" panose="02040503050406030204" pitchFamily="18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61CABA3-6DAB-9FD5-B26A-4D074FB28E8A}"/>
              </a:ext>
            </a:extLst>
          </p:cNvPr>
          <p:cNvSpPr/>
          <p:nvPr/>
        </p:nvSpPr>
        <p:spPr bwMode="auto">
          <a:xfrm>
            <a:off x="1422400" y="2921000"/>
            <a:ext cx="9144000" cy="609600"/>
          </a:xfrm>
          <a:prstGeom prst="rect">
            <a:avLst/>
          </a:prstGeom>
          <a:solidFill>
            <a:srgbClr val="F4F8FD"/>
          </a:solidFill>
          <a:ln w="8890" cap="flat" cmpd="sng" algn="ctr">
            <a:solidFill>
              <a:srgbClr val="D6E2F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49E1644A-46C4-2149-F03D-9F385BB4880D}"/>
              </a:ext>
            </a:extLst>
          </p:cNvPr>
          <p:cNvSpPr txBox="1"/>
          <p:nvPr/>
        </p:nvSpPr>
        <p:spPr>
          <a:xfrm>
            <a:off x="1752600" y="3086100"/>
            <a:ext cx="20320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1000" b="1">
                <a:solidFill>
                  <a:srgbClr val="003B7A"/>
                </a:solidFill>
              </a:rPr>
              <a:t>Admission rule</a:t>
            </a:r>
            <a:endParaRPr lang="zh-CN" altLang="en-US" sz="1000" b="1">
              <a:solidFill>
                <a:srgbClr val="003B7A"/>
              </a:solidFill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4AEDE8DB-B708-A8D0-71D7-22879C684740}"/>
              </a:ext>
            </a:extLst>
          </p:cNvPr>
          <p:cNvSpPr txBox="1"/>
          <p:nvPr/>
        </p:nvSpPr>
        <p:spPr>
          <a:xfrm>
            <a:off x="3860800" y="3073400"/>
            <a:ext cx="62230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1050">
                <a:solidFill>
                  <a:srgbClr val="071A3D"/>
                </a:solidFill>
                <a:latin typeface="Cambria Math" panose="02040503050406030204" pitchFamily="18" charset="0"/>
              </a:rPr>
              <a:t>admit(E, c) = 1 iff E supports claim c inside boundary B</a:t>
            </a:r>
            <a:endParaRPr lang="zh-CN" altLang="en-US" sz="1050">
              <a:solidFill>
                <a:srgbClr val="071A3D"/>
              </a:solidFill>
              <a:latin typeface="Cambria Math" panose="02040503050406030204" pitchFamily="18" charset="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D38A87B-B818-9BA9-3D15-833698870E20}"/>
              </a:ext>
            </a:extLst>
          </p:cNvPr>
          <p:cNvSpPr/>
          <p:nvPr/>
        </p:nvSpPr>
        <p:spPr bwMode="auto">
          <a:xfrm>
            <a:off x="1422400" y="3886200"/>
            <a:ext cx="9144000" cy="609600"/>
          </a:xfrm>
          <a:prstGeom prst="rect">
            <a:avLst/>
          </a:prstGeom>
          <a:solidFill>
            <a:srgbClr val="F4F8FD"/>
          </a:solidFill>
          <a:ln w="8890" cap="flat" cmpd="sng" algn="ctr">
            <a:solidFill>
              <a:srgbClr val="D6E2F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F15119C-EC06-8011-912A-38ECBF8E9C69}"/>
              </a:ext>
            </a:extLst>
          </p:cNvPr>
          <p:cNvSpPr txBox="1"/>
          <p:nvPr/>
        </p:nvSpPr>
        <p:spPr>
          <a:xfrm>
            <a:off x="1752600" y="4051300"/>
            <a:ext cx="20320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1000" b="1">
                <a:solidFill>
                  <a:srgbClr val="003B7A"/>
                </a:solidFill>
              </a:rPr>
              <a:t>False-positive guard</a:t>
            </a:r>
            <a:endParaRPr lang="zh-CN" altLang="en-US" sz="1000" b="1">
              <a:solidFill>
                <a:srgbClr val="003B7A"/>
              </a:solidFill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2862DBE-C405-C0B5-24C2-471A366908E3}"/>
              </a:ext>
            </a:extLst>
          </p:cNvPr>
          <p:cNvSpPr txBox="1"/>
          <p:nvPr/>
        </p:nvSpPr>
        <p:spPr>
          <a:xfrm>
            <a:off x="3860800" y="4038600"/>
            <a:ext cx="62230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1050">
                <a:solidFill>
                  <a:srgbClr val="071A3D"/>
                </a:solidFill>
                <a:latin typeface="Cambria Math" panose="02040503050406030204" pitchFamily="18" charset="0"/>
              </a:rPr>
              <a:t>negative controls must remain zero before promoting owner/source claims</a:t>
            </a:r>
            <a:endParaRPr lang="zh-CN" altLang="en-US" sz="1050">
              <a:solidFill>
                <a:srgbClr val="071A3D"/>
              </a:solidFill>
              <a:latin typeface="Cambria Math" panose="02040503050406030204" pitchFamily="18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AC8B571-7FC5-26C4-64D5-93C12535BB7C}"/>
              </a:ext>
            </a:extLst>
          </p:cNvPr>
          <p:cNvSpPr/>
          <p:nvPr/>
        </p:nvSpPr>
        <p:spPr bwMode="auto">
          <a:xfrm>
            <a:off x="1422400" y="4851400"/>
            <a:ext cx="9144000" cy="609600"/>
          </a:xfrm>
          <a:prstGeom prst="rect">
            <a:avLst/>
          </a:prstGeom>
          <a:solidFill>
            <a:srgbClr val="F4F8FD"/>
          </a:solidFill>
          <a:ln w="8890" cap="flat" cmpd="sng" algn="ctr">
            <a:solidFill>
              <a:srgbClr val="D6E2F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9173D74-AE3E-9319-26D4-3DA4705611BD}"/>
              </a:ext>
            </a:extLst>
          </p:cNvPr>
          <p:cNvSpPr txBox="1"/>
          <p:nvPr/>
        </p:nvSpPr>
        <p:spPr>
          <a:xfrm>
            <a:off x="1752600" y="5016500"/>
            <a:ext cx="20320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1000" b="1">
                <a:solidFill>
                  <a:srgbClr val="003B7A"/>
                </a:solidFill>
              </a:rPr>
              <a:t>Abstention</a:t>
            </a:r>
            <a:endParaRPr lang="zh-CN" altLang="en-US" sz="1000" b="1">
              <a:solidFill>
                <a:srgbClr val="003B7A"/>
              </a:solidFill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9CB6C4D1-864D-03D1-7E20-C0B6F16A9F0F}"/>
              </a:ext>
            </a:extLst>
          </p:cNvPr>
          <p:cNvSpPr txBox="1"/>
          <p:nvPr/>
        </p:nvSpPr>
        <p:spPr>
          <a:xfrm>
            <a:off x="3860800" y="5003800"/>
            <a:ext cx="62230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1050">
                <a:solidFill>
                  <a:srgbClr val="071A3D"/>
                </a:solidFill>
                <a:latin typeface="Cambria Math" panose="02040503050406030204" pitchFamily="18" charset="0"/>
              </a:rPr>
              <a:t>insufficient evidence is reported as abstain, not forced success</a:t>
            </a:r>
            <a:endParaRPr lang="zh-CN" altLang="en-US" sz="1050">
              <a:solidFill>
                <a:srgbClr val="071A3D"/>
              </a:solidFill>
              <a:latin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83724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 thruBlk="1"/>
      </p:transition>
    </mc:Choice>
    <mc:Fallback xmlns="">
      <p:transition spd="slow">
        <p:fade thruBlk="1"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1EAB958-1CA7-6794-92F8-429A7EDED7CD}"/>
              </a:ext>
            </a:extLst>
          </p:cNvPr>
          <p:cNvSpPr/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1B20AA0-B9E4-130D-817D-75E4D1016732}"/>
              </a:ext>
            </a:extLst>
          </p:cNvPr>
          <p:cNvSpPr/>
          <p:nvPr/>
        </p:nvSpPr>
        <p:spPr bwMode="auto">
          <a:xfrm>
            <a:off x="0" y="0"/>
            <a:ext cx="685800" cy="6858000"/>
          </a:xfrm>
          <a:prstGeom prst="rect">
            <a:avLst/>
          </a:prstGeom>
          <a:solidFill>
            <a:srgbClr val="003B7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589685C-1A0A-2F37-C205-5F6431C11EDC}"/>
              </a:ext>
            </a:extLst>
          </p:cNvPr>
          <p:cNvSpPr/>
          <p:nvPr/>
        </p:nvSpPr>
        <p:spPr bwMode="auto">
          <a:xfrm>
            <a:off x="685800" y="0"/>
            <a:ext cx="127000" cy="6858000"/>
          </a:xfrm>
          <a:prstGeom prst="rect">
            <a:avLst/>
          </a:prstGeom>
          <a:solidFill>
            <a:srgbClr val="6A9CCB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7243756-D7BE-62FF-9DE7-ADA3EE7271B2}"/>
              </a:ext>
            </a:extLst>
          </p:cNvPr>
          <p:cNvSpPr txBox="1"/>
          <p:nvPr/>
        </p:nvSpPr>
        <p:spPr>
          <a:xfrm>
            <a:off x="1168400" y="431800"/>
            <a:ext cx="25400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850" b="1">
                <a:solidFill>
                  <a:srgbClr val="5E7699"/>
                </a:solidFill>
              </a:rPr>
              <a:t>Backup</a:t>
            </a:r>
            <a:endParaRPr lang="zh-CN" altLang="en-US" sz="850" b="1">
              <a:solidFill>
                <a:srgbClr val="5E7699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E55BE82-130D-E86C-1286-975A2DDE9235}"/>
              </a:ext>
            </a:extLst>
          </p:cNvPr>
          <p:cNvSpPr txBox="1"/>
          <p:nvPr/>
        </p:nvSpPr>
        <p:spPr>
          <a:xfrm>
            <a:off x="1168400" y="736600"/>
            <a:ext cx="96520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b="1">
                <a:solidFill>
                  <a:srgbClr val="071A3D"/>
                </a:solidFill>
              </a:rPr>
              <a:t>Reviewer-facing result table</a:t>
            </a:r>
            <a:endParaRPr lang="zh-CN" altLang="en-US" b="1">
              <a:solidFill>
                <a:srgbClr val="071A3D"/>
              </a:solidFill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42B5A47E-78B5-A062-2B0F-42ECBEE5E59D}"/>
              </a:ext>
            </a:extLst>
          </p:cNvPr>
          <p:cNvCxnSpPr/>
          <p:nvPr/>
        </p:nvCxnSpPr>
        <p:spPr bwMode="auto">
          <a:xfrm>
            <a:off x="1168400" y="1473200"/>
            <a:ext cx="957580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C7D7EA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39886C1C-43FF-7BC4-6B0A-6B12DB597A8C}"/>
              </a:ext>
            </a:extLst>
          </p:cNvPr>
          <p:cNvSpPr txBox="1"/>
          <p:nvPr/>
        </p:nvSpPr>
        <p:spPr>
          <a:xfrm>
            <a:off x="11480800" y="558800"/>
            <a:ext cx="3302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r"/>
            <a:r>
              <a:rPr lang="en-US" altLang="zh-CN" sz="800">
                <a:solidFill>
                  <a:srgbClr val="5E7699"/>
                </a:solidFill>
              </a:rPr>
              <a:t>B2</a:t>
            </a:r>
            <a:endParaRPr lang="zh-CN" altLang="en-US" sz="800">
              <a:solidFill>
                <a:srgbClr val="5E7699"/>
              </a:solidFill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FDB8263D-AF38-811C-EEF7-73B7E56E6819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000" y="6248400"/>
            <a:ext cx="2413000" cy="431800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0C030B23-5E16-30AF-147A-4E4E8DDC0A83}"/>
              </a:ext>
            </a:extLst>
          </p:cNvPr>
          <p:cNvSpPr txBox="1"/>
          <p:nvPr/>
        </p:nvSpPr>
        <p:spPr>
          <a:xfrm>
            <a:off x="1117600" y="6451600"/>
            <a:ext cx="26670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750">
                <a:solidFill>
                  <a:srgbClr val="6A7FA0"/>
                </a:solidFill>
              </a:rPr>
              <a:t>WatermarkScope FYP Viva</a:t>
            </a:r>
            <a:endParaRPr lang="zh-CN" altLang="en-US" sz="750">
              <a:solidFill>
                <a:srgbClr val="6A7FA0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B2869CF-6AB3-0E3E-1FE0-5192B08FE28B}"/>
              </a:ext>
            </a:extLst>
          </p:cNvPr>
          <p:cNvSpPr txBox="1"/>
          <p:nvPr/>
        </p:nvSpPr>
        <p:spPr>
          <a:xfrm>
            <a:off x="4851400" y="6451600"/>
            <a:ext cx="21590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CN" sz="750">
                <a:solidFill>
                  <a:srgbClr val="6A7FA0"/>
                </a:solidFill>
              </a:rPr>
              <a:t>Haoyi Zhang | 2254912</a:t>
            </a:r>
            <a:endParaRPr lang="zh-CN" altLang="en-US" sz="750">
              <a:solidFill>
                <a:srgbClr val="6A7FA0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B2D3706-70D5-4492-6514-3BE1E5FE6E6A}"/>
              </a:ext>
            </a:extLst>
          </p:cNvPr>
          <p:cNvSpPr/>
          <p:nvPr/>
        </p:nvSpPr>
        <p:spPr bwMode="auto">
          <a:xfrm>
            <a:off x="1143000" y="1905000"/>
            <a:ext cx="1778000" cy="381000"/>
          </a:xfrm>
          <a:prstGeom prst="rect">
            <a:avLst/>
          </a:prstGeom>
          <a:solidFill>
            <a:srgbClr val="003B7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5B9A608-FA84-650F-296F-BD2AC3F11B8A}"/>
              </a:ext>
            </a:extLst>
          </p:cNvPr>
          <p:cNvSpPr txBox="1"/>
          <p:nvPr/>
        </p:nvSpPr>
        <p:spPr>
          <a:xfrm>
            <a:off x="1244600" y="2019300"/>
            <a:ext cx="15748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850" b="1">
                <a:solidFill>
                  <a:srgbClr val="FFFFFF"/>
                </a:solidFill>
              </a:rPr>
              <a:t>Stage</a:t>
            </a:r>
            <a:endParaRPr lang="zh-CN" altLang="en-US" sz="850" b="1">
              <a:solidFill>
                <a:srgbClr val="FFFFFF"/>
              </a:solidFill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9DB6AAF-1E81-6F5F-69A1-9B092C22E7DE}"/>
              </a:ext>
            </a:extLst>
          </p:cNvPr>
          <p:cNvSpPr/>
          <p:nvPr/>
        </p:nvSpPr>
        <p:spPr bwMode="auto">
          <a:xfrm>
            <a:off x="3111500" y="1905000"/>
            <a:ext cx="2159000" cy="381000"/>
          </a:xfrm>
          <a:prstGeom prst="rect">
            <a:avLst/>
          </a:prstGeom>
          <a:solidFill>
            <a:srgbClr val="003B7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4998BF-8420-FA42-CC17-987CAC52EAA3}"/>
              </a:ext>
            </a:extLst>
          </p:cNvPr>
          <p:cNvSpPr txBox="1"/>
          <p:nvPr/>
        </p:nvSpPr>
        <p:spPr>
          <a:xfrm>
            <a:off x="3213100" y="2019300"/>
            <a:ext cx="19558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850" b="1">
                <a:solidFill>
                  <a:srgbClr val="FFFFFF"/>
                </a:solidFill>
              </a:rPr>
              <a:t>Main surface</a:t>
            </a:r>
            <a:endParaRPr lang="zh-CN" altLang="en-US" sz="850" b="1">
              <a:solidFill>
                <a:srgbClr val="FFFFFF"/>
              </a:solidFill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A06788A-6872-EFC7-BCD7-A3F6F40373D8}"/>
              </a:ext>
            </a:extLst>
          </p:cNvPr>
          <p:cNvSpPr/>
          <p:nvPr/>
        </p:nvSpPr>
        <p:spPr bwMode="auto">
          <a:xfrm>
            <a:off x="5461000" y="1905000"/>
            <a:ext cx="2413000" cy="381000"/>
          </a:xfrm>
          <a:prstGeom prst="rect">
            <a:avLst/>
          </a:prstGeom>
          <a:solidFill>
            <a:srgbClr val="003B7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B701D95A-1B26-2B70-10AA-3DF9384DBC58}"/>
              </a:ext>
            </a:extLst>
          </p:cNvPr>
          <p:cNvSpPr txBox="1"/>
          <p:nvPr/>
        </p:nvSpPr>
        <p:spPr>
          <a:xfrm>
            <a:off x="5562600" y="2019300"/>
            <a:ext cx="22098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850" b="1">
                <a:solidFill>
                  <a:srgbClr val="FFFFFF"/>
                </a:solidFill>
              </a:rPr>
              <a:t>Control surface</a:t>
            </a:r>
            <a:endParaRPr lang="zh-CN" altLang="en-US" sz="850" b="1">
              <a:solidFill>
                <a:srgbClr val="FFFFFF"/>
              </a:solidFill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E24238A-8A85-26FB-FFAB-2B4B8B88BFFF}"/>
              </a:ext>
            </a:extLst>
          </p:cNvPr>
          <p:cNvSpPr/>
          <p:nvPr/>
        </p:nvSpPr>
        <p:spPr bwMode="auto">
          <a:xfrm>
            <a:off x="8064500" y="1905000"/>
            <a:ext cx="2667000" cy="381000"/>
          </a:xfrm>
          <a:prstGeom prst="rect">
            <a:avLst/>
          </a:prstGeom>
          <a:solidFill>
            <a:srgbClr val="003B7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F31F16A-F575-7ADB-1660-886FAFAAB5A2}"/>
              </a:ext>
            </a:extLst>
          </p:cNvPr>
          <p:cNvSpPr txBox="1"/>
          <p:nvPr/>
        </p:nvSpPr>
        <p:spPr>
          <a:xfrm>
            <a:off x="8166100" y="2019300"/>
            <a:ext cx="24638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850" b="1">
                <a:solidFill>
                  <a:srgbClr val="FFFFFF"/>
                </a:solidFill>
              </a:rPr>
              <a:t>Claim boundary</a:t>
            </a:r>
            <a:endParaRPr lang="zh-CN" altLang="en-US" sz="850" b="1">
              <a:solidFill>
                <a:srgbClr val="FFFFFF"/>
              </a:solidFill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BA53BE6-E34D-D7F0-F6E2-6EBF3959EE36}"/>
              </a:ext>
            </a:extLst>
          </p:cNvPr>
          <p:cNvSpPr/>
          <p:nvPr/>
        </p:nvSpPr>
        <p:spPr bwMode="auto">
          <a:xfrm>
            <a:off x="1143000" y="2311400"/>
            <a:ext cx="1778000" cy="533400"/>
          </a:xfrm>
          <a:prstGeom prst="rect">
            <a:avLst/>
          </a:prstGeom>
          <a:solidFill>
            <a:srgbClr val="F4F8FD"/>
          </a:solidFill>
          <a:ln w="6350" cap="flat" cmpd="sng" algn="ctr">
            <a:solidFill>
              <a:srgbClr val="D6E2F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10082BF-757E-77A7-591D-8E01CC2D3C73}"/>
              </a:ext>
            </a:extLst>
          </p:cNvPr>
          <p:cNvSpPr txBox="1"/>
          <p:nvPr/>
        </p:nvSpPr>
        <p:spPr>
          <a:xfrm>
            <a:off x="1244600" y="2463800"/>
            <a:ext cx="15748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820" b="1">
                <a:solidFill>
                  <a:srgbClr val="071A3D"/>
                </a:solidFill>
              </a:rPr>
              <a:t>CodeMarkBench</a:t>
            </a:r>
            <a:endParaRPr lang="zh-CN" altLang="en-US" sz="820" b="1">
              <a:solidFill>
                <a:srgbClr val="071A3D"/>
              </a:solidFill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5C4CDC7-906F-1DB9-A812-A0267D13C7A2}"/>
              </a:ext>
            </a:extLst>
          </p:cNvPr>
          <p:cNvSpPr/>
          <p:nvPr/>
        </p:nvSpPr>
        <p:spPr bwMode="auto">
          <a:xfrm>
            <a:off x="3111500" y="2311400"/>
            <a:ext cx="2159000" cy="533400"/>
          </a:xfrm>
          <a:prstGeom prst="rect">
            <a:avLst/>
          </a:prstGeom>
          <a:solidFill>
            <a:srgbClr val="F4F8FD"/>
          </a:solidFill>
          <a:ln w="6350" cap="flat" cmpd="sng" algn="ctr">
            <a:solidFill>
              <a:srgbClr val="D6E2F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F4C978BE-375D-AF1A-E065-8BC8410F51FF}"/>
              </a:ext>
            </a:extLst>
          </p:cNvPr>
          <p:cNvSpPr txBox="1"/>
          <p:nvPr/>
        </p:nvSpPr>
        <p:spPr>
          <a:xfrm>
            <a:off x="3213100" y="2463800"/>
            <a:ext cx="19558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820">
                <a:solidFill>
                  <a:srgbClr val="071A3D"/>
                </a:solidFill>
              </a:rPr>
              <a:t>140/140 runs</a:t>
            </a:r>
            <a:endParaRPr lang="zh-CN" altLang="en-US" sz="820">
              <a:solidFill>
                <a:srgbClr val="071A3D"/>
              </a:solidFill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A928995-CF7E-3912-5301-AA6F821B1587}"/>
              </a:ext>
            </a:extLst>
          </p:cNvPr>
          <p:cNvSpPr/>
          <p:nvPr/>
        </p:nvSpPr>
        <p:spPr bwMode="auto">
          <a:xfrm>
            <a:off x="5461000" y="2311400"/>
            <a:ext cx="2413000" cy="533400"/>
          </a:xfrm>
          <a:prstGeom prst="rect">
            <a:avLst/>
          </a:prstGeom>
          <a:solidFill>
            <a:srgbClr val="F4F8FD"/>
          </a:solidFill>
          <a:ln w="6350" cap="flat" cmpd="sng" algn="ctr">
            <a:solidFill>
              <a:srgbClr val="D6E2F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11B0A77D-7FD5-A4AC-CFC8-9730A75B1942}"/>
              </a:ext>
            </a:extLst>
          </p:cNvPr>
          <p:cNvSpPr txBox="1"/>
          <p:nvPr/>
        </p:nvSpPr>
        <p:spPr>
          <a:xfrm>
            <a:off x="5562600" y="2463800"/>
            <a:ext cx="22098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820">
                <a:solidFill>
                  <a:srgbClr val="071A3D"/>
                </a:solidFill>
              </a:rPr>
              <a:t>fixed inventory</a:t>
            </a:r>
            <a:endParaRPr lang="zh-CN" altLang="en-US" sz="820">
              <a:solidFill>
                <a:srgbClr val="071A3D"/>
              </a:solidFill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4F6E2C21-8A91-8594-EC7D-413DB30F8890}"/>
              </a:ext>
            </a:extLst>
          </p:cNvPr>
          <p:cNvSpPr/>
          <p:nvPr/>
        </p:nvSpPr>
        <p:spPr bwMode="auto">
          <a:xfrm>
            <a:off x="8064500" y="2311400"/>
            <a:ext cx="2667000" cy="533400"/>
          </a:xfrm>
          <a:prstGeom prst="rect">
            <a:avLst/>
          </a:prstGeom>
          <a:solidFill>
            <a:srgbClr val="F4F8FD"/>
          </a:solidFill>
          <a:ln w="6350" cap="flat" cmpd="sng" algn="ctr">
            <a:solidFill>
              <a:srgbClr val="D6E2F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C97D518B-8372-3D5B-8F95-33833D2DD07A}"/>
              </a:ext>
            </a:extLst>
          </p:cNvPr>
          <p:cNvSpPr txBox="1"/>
          <p:nvPr/>
        </p:nvSpPr>
        <p:spPr>
          <a:xfrm>
            <a:off x="8166100" y="2463800"/>
            <a:ext cx="24638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820">
                <a:solidFill>
                  <a:srgbClr val="071A3D"/>
                </a:solidFill>
              </a:rPr>
              <a:t>benchmark support</a:t>
            </a:r>
            <a:endParaRPr lang="zh-CN" altLang="en-US" sz="820">
              <a:solidFill>
                <a:srgbClr val="071A3D"/>
              </a:solidFill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B5F1AC6-3BE7-591B-EB64-831FDE34858C}"/>
              </a:ext>
            </a:extLst>
          </p:cNvPr>
          <p:cNvSpPr/>
          <p:nvPr/>
        </p:nvSpPr>
        <p:spPr bwMode="auto">
          <a:xfrm>
            <a:off x="1143000" y="2895600"/>
            <a:ext cx="1778000" cy="53340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D6E2F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CE354889-CEDE-A477-7AAB-D6B83B846216}"/>
              </a:ext>
            </a:extLst>
          </p:cNvPr>
          <p:cNvSpPr txBox="1"/>
          <p:nvPr/>
        </p:nvSpPr>
        <p:spPr>
          <a:xfrm>
            <a:off x="1244600" y="3048000"/>
            <a:ext cx="15748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820" b="1">
                <a:solidFill>
                  <a:srgbClr val="071A3D"/>
                </a:solidFill>
              </a:rPr>
              <a:t>SemCodebook</a:t>
            </a:r>
            <a:endParaRPr lang="zh-CN" altLang="en-US" sz="820" b="1">
              <a:solidFill>
                <a:srgbClr val="071A3D"/>
              </a:solidFill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9451B2B4-A9A7-BA0D-4D2C-B610CA316A2A}"/>
              </a:ext>
            </a:extLst>
          </p:cNvPr>
          <p:cNvSpPr/>
          <p:nvPr/>
        </p:nvSpPr>
        <p:spPr bwMode="auto">
          <a:xfrm>
            <a:off x="3111500" y="2895600"/>
            <a:ext cx="2159000" cy="53340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D6E2F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38DD4B6F-30A6-E264-DE58-163AA02FCDD8}"/>
              </a:ext>
            </a:extLst>
          </p:cNvPr>
          <p:cNvSpPr txBox="1"/>
          <p:nvPr/>
        </p:nvSpPr>
        <p:spPr>
          <a:xfrm>
            <a:off x="3213100" y="3048000"/>
            <a:ext cx="19558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820">
                <a:solidFill>
                  <a:srgbClr val="071A3D"/>
                </a:solidFill>
              </a:rPr>
              <a:t>30,330/31,200</a:t>
            </a:r>
            <a:endParaRPr lang="zh-CN" altLang="en-US" sz="820">
              <a:solidFill>
                <a:srgbClr val="071A3D"/>
              </a:solidFill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CB1EBFFC-C583-D1E7-50A5-0F8F27328E1B}"/>
              </a:ext>
            </a:extLst>
          </p:cNvPr>
          <p:cNvSpPr/>
          <p:nvPr/>
        </p:nvSpPr>
        <p:spPr bwMode="auto">
          <a:xfrm>
            <a:off x="5461000" y="2895600"/>
            <a:ext cx="2413000" cy="53340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D6E2F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FCEBC665-5F11-93FA-06E1-4AA69CE02D1A}"/>
              </a:ext>
            </a:extLst>
          </p:cNvPr>
          <p:cNvSpPr txBox="1"/>
          <p:nvPr/>
        </p:nvSpPr>
        <p:spPr>
          <a:xfrm>
            <a:off x="5562600" y="3048000"/>
            <a:ext cx="22098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820">
                <a:solidFill>
                  <a:srgbClr val="071A3D"/>
                </a:solidFill>
              </a:rPr>
              <a:t>0/62,400 + 0/62,400</a:t>
            </a:r>
            <a:endParaRPr lang="zh-CN" altLang="en-US" sz="820">
              <a:solidFill>
                <a:srgbClr val="071A3D"/>
              </a:solidFill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5345B2AC-5A0E-88F9-5D1F-8370F6B29160}"/>
              </a:ext>
            </a:extLst>
          </p:cNvPr>
          <p:cNvSpPr/>
          <p:nvPr/>
        </p:nvSpPr>
        <p:spPr bwMode="auto">
          <a:xfrm>
            <a:off x="8064500" y="2895600"/>
            <a:ext cx="2667000" cy="53340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D6E2F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85B5A230-EF27-1903-35FE-1776C705AB0D}"/>
              </a:ext>
            </a:extLst>
          </p:cNvPr>
          <p:cNvSpPr txBox="1"/>
          <p:nvPr/>
        </p:nvSpPr>
        <p:spPr>
          <a:xfrm>
            <a:off x="8166100" y="3048000"/>
            <a:ext cx="24638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820">
                <a:solidFill>
                  <a:srgbClr val="071A3D"/>
                </a:solidFill>
              </a:rPr>
              <a:t>white-box only</a:t>
            </a:r>
            <a:endParaRPr lang="zh-CN" altLang="en-US" sz="820">
              <a:solidFill>
                <a:srgbClr val="071A3D"/>
              </a:solidFill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F5BF4971-D250-2A06-1CAB-E9C77558B6C8}"/>
              </a:ext>
            </a:extLst>
          </p:cNvPr>
          <p:cNvSpPr/>
          <p:nvPr/>
        </p:nvSpPr>
        <p:spPr bwMode="auto">
          <a:xfrm>
            <a:off x="1143000" y="3479800"/>
            <a:ext cx="1778000" cy="533400"/>
          </a:xfrm>
          <a:prstGeom prst="rect">
            <a:avLst/>
          </a:prstGeom>
          <a:solidFill>
            <a:srgbClr val="F4F8FD"/>
          </a:solidFill>
          <a:ln w="6350" cap="flat" cmpd="sng" algn="ctr">
            <a:solidFill>
              <a:srgbClr val="D6E2F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B0D06A5C-E34E-CFB9-7B72-1340238A5985}"/>
              </a:ext>
            </a:extLst>
          </p:cNvPr>
          <p:cNvSpPr txBox="1"/>
          <p:nvPr/>
        </p:nvSpPr>
        <p:spPr>
          <a:xfrm>
            <a:off x="1244600" y="3632200"/>
            <a:ext cx="15748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820" b="1">
                <a:solidFill>
                  <a:srgbClr val="071A3D"/>
                </a:solidFill>
              </a:rPr>
              <a:t>CodeDye</a:t>
            </a:r>
            <a:endParaRPr lang="zh-CN" altLang="en-US" sz="820" b="1">
              <a:solidFill>
                <a:srgbClr val="071A3D"/>
              </a:solidFill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80176B98-7DC8-27E8-6A94-94257F682EA6}"/>
              </a:ext>
            </a:extLst>
          </p:cNvPr>
          <p:cNvSpPr/>
          <p:nvPr/>
        </p:nvSpPr>
        <p:spPr bwMode="auto">
          <a:xfrm>
            <a:off x="3111500" y="3479800"/>
            <a:ext cx="2159000" cy="533400"/>
          </a:xfrm>
          <a:prstGeom prst="rect">
            <a:avLst/>
          </a:prstGeom>
          <a:solidFill>
            <a:srgbClr val="F4F8FD"/>
          </a:solidFill>
          <a:ln w="6350" cap="flat" cmpd="sng" algn="ctr">
            <a:solidFill>
              <a:srgbClr val="D6E2F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B4F5F731-6BF3-0EA9-343D-8AC5C7440A87}"/>
              </a:ext>
            </a:extLst>
          </p:cNvPr>
          <p:cNvSpPr txBox="1"/>
          <p:nvPr/>
        </p:nvSpPr>
        <p:spPr>
          <a:xfrm>
            <a:off x="3213100" y="3632200"/>
            <a:ext cx="19558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820">
                <a:solidFill>
                  <a:srgbClr val="071A3D"/>
                </a:solidFill>
              </a:rPr>
              <a:t>4/300 sparse signals</a:t>
            </a:r>
            <a:endParaRPr lang="zh-CN" altLang="en-US" sz="820">
              <a:solidFill>
                <a:srgbClr val="071A3D"/>
              </a:solidFill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9ED2B8D6-F128-1B3E-A513-C957E29F0278}"/>
              </a:ext>
            </a:extLst>
          </p:cNvPr>
          <p:cNvSpPr/>
          <p:nvPr/>
        </p:nvSpPr>
        <p:spPr bwMode="auto">
          <a:xfrm>
            <a:off x="5461000" y="3479800"/>
            <a:ext cx="2413000" cy="533400"/>
          </a:xfrm>
          <a:prstGeom prst="rect">
            <a:avLst/>
          </a:prstGeom>
          <a:solidFill>
            <a:srgbClr val="F4F8FD"/>
          </a:solidFill>
          <a:ln w="6350" cap="flat" cmpd="sng" algn="ctr">
            <a:solidFill>
              <a:srgbClr val="D6E2F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3110B8B1-6F77-4DA2-7E4D-C6930D1D63D1}"/>
              </a:ext>
            </a:extLst>
          </p:cNvPr>
          <p:cNvSpPr txBox="1"/>
          <p:nvPr/>
        </p:nvSpPr>
        <p:spPr>
          <a:xfrm>
            <a:off x="5562600" y="3632200"/>
            <a:ext cx="22098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820">
                <a:solidFill>
                  <a:srgbClr val="071A3D"/>
                </a:solidFill>
              </a:rPr>
              <a:t>170/300 positive; 0/300 negative</a:t>
            </a:r>
            <a:endParaRPr lang="zh-CN" altLang="en-US" sz="820">
              <a:solidFill>
                <a:srgbClr val="071A3D"/>
              </a:solidFill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60E25C1A-2E9A-F489-198A-F39C50314D83}"/>
              </a:ext>
            </a:extLst>
          </p:cNvPr>
          <p:cNvSpPr/>
          <p:nvPr/>
        </p:nvSpPr>
        <p:spPr bwMode="auto">
          <a:xfrm>
            <a:off x="8064500" y="3479800"/>
            <a:ext cx="2667000" cy="533400"/>
          </a:xfrm>
          <a:prstGeom prst="rect">
            <a:avLst/>
          </a:prstGeom>
          <a:solidFill>
            <a:srgbClr val="F4F8FD"/>
          </a:solidFill>
          <a:ln w="6350" cap="flat" cmpd="sng" algn="ctr">
            <a:solidFill>
              <a:srgbClr val="D6E2F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0B0DE060-223E-B7B0-3226-002A2BED4A5A}"/>
              </a:ext>
            </a:extLst>
          </p:cNvPr>
          <p:cNvSpPr txBox="1"/>
          <p:nvPr/>
        </p:nvSpPr>
        <p:spPr>
          <a:xfrm>
            <a:off x="8166100" y="3632200"/>
            <a:ext cx="24638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820">
                <a:solidFill>
                  <a:srgbClr val="071A3D"/>
                </a:solidFill>
              </a:rPr>
              <a:t>not prevalence</a:t>
            </a:r>
            <a:endParaRPr lang="zh-CN" altLang="en-US" sz="820">
              <a:solidFill>
                <a:srgbClr val="071A3D"/>
              </a:solidFill>
            </a:endParaRP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2EC7EFB5-2530-E768-D6F8-19C3F8CE9C4D}"/>
              </a:ext>
            </a:extLst>
          </p:cNvPr>
          <p:cNvSpPr/>
          <p:nvPr/>
        </p:nvSpPr>
        <p:spPr bwMode="auto">
          <a:xfrm>
            <a:off x="1143000" y="4064000"/>
            <a:ext cx="1778000" cy="53340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D6E2F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526852E9-F113-76E8-56AA-C05568D734D1}"/>
              </a:ext>
            </a:extLst>
          </p:cNvPr>
          <p:cNvSpPr txBox="1"/>
          <p:nvPr/>
        </p:nvSpPr>
        <p:spPr>
          <a:xfrm>
            <a:off x="1244600" y="4216400"/>
            <a:ext cx="15748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820" b="1">
                <a:solidFill>
                  <a:srgbClr val="071A3D"/>
                </a:solidFill>
              </a:rPr>
              <a:t>ProbeTrace</a:t>
            </a:r>
            <a:endParaRPr lang="zh-CN" altLang="en-US" sz="820" b="1">
              <a:solidFill>
                <a:srgbClr val="071A3D"/>
              </a:solidFill>
            </a:endParaRP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589BBC2D-52BE-45E8-A2BA-462A76D4BC81}"/>
              </a:ext>
            </a:extLst>
          </p:cNvPr>
          <p:cNvSpPr/>
          <p:nvPr/>
        </p:nvSpPr>
        <p:spPr bwMode="auto">
          <a:xfrm>
            <a:off x="3111500" y="4064000"/>
            <a:ext cx="2159000" cy="53340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D6E2F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785B6D48-F7FF-5A61-69BE-06E71E136FCA}"/>
              </a:ext>
            </a:extLst>
          </p:cNvPr>
          <p:cNvSpPr txBox="1"/>
          <p:nvPr/>
        </p:nvSpPr>
        <p:spPr>
          <a:xfrm>
            <a:off x="3213100" y="4216400"/>
            <a:ext cx="19558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820">
                <a:solidFill>
                  <a:srgbClr val="071A3D"/>
                </a:solidFill>
              </a:rPr>
              <a:t>750/750 owner decisions</a:t>
            </a:r>
            <a:endParaRPr lang="zh-CN" altLang="en-US" sz="820">
              <a:solidFill>
                <a:srgbClr val="071A3D"/>
              </a:solidFill>
            </a:endParaRP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124A0F81-62E4-82BC-189E-42F21015D308}"/>
              </a:ext>
            </a:extLst>
          </p:cNvPr>
          <p:cNvSpPr/>
          <p:nvPr/>
        </p:nvSpPr>
        <p:spPr bwMode="auto">
          <a:xfrm>
            <a:off x="5461000" y="4064000"/>
            <a:ext cx="2413000" cy="53340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D6E2F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855FD7FD-DE31-33AD-C236-39618A5F56F3}"/>
              </a:ext>
            </a:extLst>
          </p:cNvPr>
          <p:cNvSpPr txBox="1"/>
          <p:nvPr/>
        </p:nvSpPr>
        <p:spPr>
          <a:xfrm>
            <a:off x="5562600" y="4216400"/>
            <a:ext cx="22098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820">
                <a:solidFill>
                  <a:srgbClr val="071A3D"/>
                </a:solidFill>
              </a:rPr>
              <a:t>0/5,250 controls</a:t>
            </a:r>
            <a:endParaRPr lang="zh-CN" altLang="en-US" sz="820">
              <a:solidFill>
                <a:srgbClr val="071A3D"/>
              </a:solidFill>
            </a:endParaRP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130D83C8-6CBA-895E-56E1-A15874E2F3F6}"/>
              </a:ext>
            </a:extLst>
          </p:cNvPr>
          <p:cNvSpPr/>
          <p:nvPr/>
        </p:nvSpPr>
        <p:spPr bwMode="auto">
          <a:xfrm>
            <a:off x="8064500" y="4064000"/>
            <a:ext cx="2667000" cy="53340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D6E2F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D9C8928F-DC0B-CF1B-5877-823C99038823}"/>
              </a:ext>
            </a:extLst>
          </p:cNvPr>
          <p:cNvSpPr txBox="1"/>
          <p:nvPr/>
        </p:nvSpPr>
        <p:spPr>
          <a:xfrm>
            <a:off x="8166100" y="4216400"/>
            <a:ext cx="24638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820">
                <a:solidFill>
                  <a:srgbClr val="071A3D"/>
                </a:solidFill>
              </a:rPr>
              <a:t>DeepSeek-only scope</a:t>
            </a:r>
            <a:endParaRPr lang="zh-CN" altLang="en-US" sz="820">
              <a:solidFill>
                <a:srgbClr val="071A3D"/>
              </a:solidFill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25F9457C-7858-81F6-0AC1-4A6A6BAE4E29}"/>
              </a:ext>
            </a:extLst>
          </p:cNvPr>
          <p:cNvSpPr/>
          <p:nvPr/>
        </p:nvSpPr>
        <p:spPr bwMode="auto">
          <a:xfrm>
            <a:off x="1143000" y="4648200"/>
            <a:ext cx="1778000" cy="533400"/>
          </a:xfrm>
          <a:prstGeom prst="rect">
            <a:avLst/>
          </a:prstGeom>
          <a:solidFill>
            <a:srgbClr val="F4F8FD"/>
          </a:solidFill>
          <a:ln w="6350" cap="flat" cmpd="sng" algn="ctr">
            <a:solidFill>
              <a:srgbClr val="D6E2F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53705D20-09FB-D4CF-85CE-3E7E9DB907B2}"/>
              </a:ext>
            </a:extLst>
          </p:cNvPr>
          <p:cNvSpPr txBox="1"/>
          <p:nvPr/>
        </p:nvSpPr>
        <p:spPr>
          <a:xfrm>
            <a:off x="1244600" y="4800600"/>
            <a:ext cx="15748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820" b="1">
                <a:solidFill>
                  <a:srgbClr val="071A3D"/>
                </a:solidFill>
              </a:rPr>
              <a:t>SealAudit</a:t>
            </a:r>
            <a:endParaRPr lang="zh-CN" altLang="en-US" sz="820" b="1">
              <a:solidFill>
                <a:srgbClr val="071A3D"/>
              </a:solidFill>
            </a:endParaRP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1D57332F-606C-597C-BB4C-0FF495481F19}"/>
              </a:ext>
            </a:extLst>
          </p:cNvPr>
          <p:cNvSpPr/>
          <p:nvPr/>
        </p:nvSpPr>
        <p:spPr bwMode="auto">
          <a:xfrm>
            <a:off x="3111500" y="4648200"/>
            <a:ext cx="2159000" cy="533400"/>
          </a:xfrm>
          <a:prstGeom prst="rect">
            <a:avLst/>
          </a:prstGeom>
          <a:solidFill>
            <a:srgbClr val="F4F8FD"/>
          </a:solidFill>
          <a:ln w="6350" cap="flat" cmpd="sng" algn="ctr">
            <a:solidFill>
              <a:srgbClr val="D6E2F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8102BAC2-0A39-ABE3-9E98-921C8BE03FDA}"/>
              </a:ext>
            </a:extLst>
          </p:cNvPr>
          <p:cNvSpPr txBox="1"/>
          <p:nvPr/>
        </p:nvSpPr>
        <p:spPr>
          <a:xfrm>
            <a:off x="3213100" y="4800600"/>
            <a:ext cx="19558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820">
                <a:solidFill>
                  <a:srgbClr val="071A3D"/>
                </a:solidFill>
              </a:rPr>
              <a:t>320/960 decisive</a:t>
            </a:r>
            <a:endParaRPr lang="zh-CN" altLang="en-US" sz="820">
              <a:solidFill>
                <a:srgbClr val="071A3D"/>
              </a:solidFill>
            </a:endParaRP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C7C4EA77-7896-7393-5054-02A221935F54}"/>
              </a:ext>
            </a:extLst>
          </p:cNvPr>
          <p:cNvSpPr/>
          <p:nvPr/>
        </p:nvSpPr>
        <p:spPr bwMode="auto">
          <a:xfrm>
            <a:off x="5461000" y="4648200"/>
            <a:ext cx="2413000" cy="533400"/>
          </a:xfrm>
          <a:prstGeom prst="rect">
            <a:avLst/>
          </a:prstGeom>
          <a:solidFill>
            <a:srgbClr val="F4F8FD"/>
          </a:solidFill>
          <a:ln w="6350" cap="flat" cmpd="sng" algn="ctr">
            <a:solidFill>
              <a:srgbClr val="D6E2F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D83893AC-A8BA-AC45-BD5E-3D8B37CAC0FB}"/>
              </a:ext>
            </a:extLst>
          </p:cNvPr>
          <p:cNvSpPr txBox="1"/>
          <p:nvPr/>
        </p:nvSpPr>
        <p:spPr>
          <a:xfrm>
            <a:off x="5562600" y="4800600"/>
            <a:ext cx="22098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820">
                <a:solidFill>
                  <a:srgbClr val="071A3D"/>
                </a:solidFill>
              </a:rPr>
              <a:t>0 unsafe pass</a:t>
            </a:r>
            <a:endParaRPr lang="zh-CN" altLang="en-US" sz="820">
              <a:solidFill>
                <a:srgbClr val="071A3D"/>
              </a:solidFill>
            </a:endParaRP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1CD1E4C1-9C12-D9EB-58DC-A15781F47700}"/>
              </a:ext>
            </a:extLst>
          </p:cNvPr>
          <p:cNvSpPr/>
          <p:nvPr/>
        </p:nvSpPr>
        <p:spPr bwMode="auto">
          <a:xfrm>
            <a:off x="8064500" y="4648200"/>
            <a:ext cx="2667000" cy="533400"/>
          </a:xfrm>
          <a:prstGeom prst="rect">
            <a:avLst/>
          </a:prstGeom>
          <a:solidFill>
            <a:srgbClr val="F4F8FD"/>
          </a:solidFill>
          <a:ln w="6350" cap="flat" cmpd="sng" algn="ctr">
            <a:solidFill>
              <a:srgbClr val="D6E2F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CCB0E0C5-C7D7-4E97-633A-C8E7DFE58FCB}"/>
              </a:ext>
            </a:extLst>
          </p:cNvPr>
          <p:cNvSpPr txBox="1"/>
          <p:nvPr/>
        </p:nvSpPr>
        <p:spPr>
          <a:xfrm>
            <a:off x="8166100" y="4800600"/>
            <a:ext cx="24638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820">
                <a:solidFill>
                  <a:srgbClr val="071A3D"/>
                </a:solidFill>
              </a:rPr>
              <a:t>selective triage</a:t>
            </a:r>
            <a:endParaRPr lang="zh-CN" altLang="en-US" sz="820">
              <a:solidFill>
                <a:srgbClr val="071A3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0320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 thruBlk="1"/>
      </p:transition>
    </mc:Choice>
    <mc:Fallback xmlns="">
      <p:transition spd="slow">
        <p:fade thruBlk="1"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1C587C9D-1E42-A4C8-128D-F2CECB45CCCC}"/>
              </a:ext>
            </a:extLst>
          </p:cNvPr>
          <p:cNvSpPr/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56B9C3F-9747-DBDB-361E-6A217E160601}"/>
              </a:ext>
            </a:extLst>
          </p:cNvPr>
          <p:cNvSpPr/>
          <p:nvPr/>
        </p:nvSpPr>
        <p:spPr bwMode="auto">
          <a:xfrm>
            <a:off x="0" y="0"/>
            <a:ext cx="685800" cy="6858000"/>
          </a:xfrm>
          <a:prstGeom prst="rect">
            <a:avLst/>
          </a:prstGeom>
          <a:solidFill>
            <a:srgbClr val="003B7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3422F3F-32F4-F24E-B717-E2E8C3C2A5BA}"/>
              </a:ext>
            </a:extLst>
          </p:cNvPr>
          <p:cNvSpPr/>
          <p:nvPr/>
        </p:nvSpPr>
        <p:spPr bwMode="auto">
          <a:xfrm>
            <a:off x="685800" y="0"/>
            <a:ext cx="127000" cy="6858000"/>
          </a:xfrm>
          <a:prstGeom prst="rect">
            <a:avLst/>
          </a:prstGeom>
          <a:solidFill>
            <a:srgbClr val="6A9CCB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C1E5A75-B738-F7A6-AF93-6E5D2212B7E2}"/>
              </a:ext>
            </a:extLst>
          </p:cNvPr>
          <p:cNvSpPr txBox="1"/>
          <p:nvPr/>
        </p:nvSpPr>
        <p:spPr>
          <a:xfrm>
            <a:off x="1168400" y="431800"/>
            <a:ext cx="25400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850" b="1">
                <a:solidFill>
                  <a:srgbClr val="5E7699"/>
                </a:solidFill>
              </a:rPr>
              <a:t>Backup</a:t>
            </a:r>
            <a:endParaRPr lang="zh-CN" altLang="en-US" sz="850" b="1">
              <a:solidFill>
                <a:srgbClr val="5E7699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FCE6485-3366-C720-35FF-6D359B60444E}"/>
              </a:ext>
            </a:extLst>
          </p:cNvPr>
          <p:cNvSpPr txBox="1"/>
          <p:nvPr/>
        </p:nvSpPr>
        <p:spPr>
          <a:xfrm>
            <a:off x="1168400" y="736600"/>
            <a:ext cx="96520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b="1">
                <a:solidFill>
                  <a:srgbClr val="071A3D"/>
                </a:solidFill>
              </a:rPr>
              <a:t>Exact demo commands and fallback plan</a:t>
            </a:r>
            <a:endParaRPr lang="zh-CN" altLang="en-US" b="1">
              <a:solidFill>
                <a:srgbClr val="071A3D"/>
              </a:solidFill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7DD79196-E938-185C-0345-8CFC45E20CB3}"/>
              </a:ext>
            </a:extLst>
          </p:cNvPr>
          <p:cNvCxnSpPr/>
          <p:nvPr/>
        </p:nvCxnSpPr>
        <p:spPr bwMode="auto">
          <a:xfrm>
            <a:off x="1168400" y="1473200"/>
            <a:ext cx="957580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C7D7EA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6A8C6938-E254-18C2-B9A6-C0E82B03DD3F}"/>
              </a:ext>
            </a:extLst>
          </p:cNvPr>
          <p:cNvSpPr txBox="1"/>
          <p:nvPr/>
        </p:nvSpPr>
        <p:spPr>
          <a:xfrm>
            <a:off x="11480800" y="558800"/>
            <a:ext cx="3302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r"/>
            <a:r>
              <a:rPr lang="en-US" altLang="zh-CN" sz="800">
                <a:solidFill>
                  <a:srgbClr val="5E7699"/>
                </a:solidFill>
              </a:rPr>
              <a:t>B3</a:t>
            </a:r>
            <a:endParaRPr lang="zh-CN" altLang="en-US" sz="800">
              <a:solidFill>
                <a:srgbClr val="5E7699"/>
              </a:solidFill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44E10ECF-BF23-0126-BB87-19940CCDA512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000" y="6248400"/>
            <a:ext cx="2413000" cy="431800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C03A5E83-96B9-BEE0-6E3C-54EE05FFD996}"/>
              </a:ext>
            </a:extLst>
          </p:cNvPr>
          <p:cNvSpPr txBox="1"/>
          <p:nvPr/>
        </p:nvSpPr>
        <p:spPr>
          <a:xfrm>
            <a:off x="1117600" y="6451600"/>
            <a:ext cx="26670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750">
                <a:solidFill>
                  <a:srgbClr val="6A7FA0"/>
                </a:solidFill>
              </a:rPr>
              <a:t>WatermarkScope FYP Viva</a:t>
            </a:r>
            <a:endParaRPr lang="zh-CN" altLang="en-US" sz="750">
              <a:solidFill>
                <a:srgbClr val="6A7FA0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E5F4325-96DA-CDA0-372F-C86B80EF9DB0}"/>
              </a:ext>
            </a:extLst>
          </p:cNvPr>
          <p:cNvSpPr txBox="1"/>
          <p:nvPr/>
        </p:nvSpPr>
        <p:spPr>
          <a:xfrm>
            <a:off x="4851400" y="6451600"/>
            <a:ext cx="21590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CN" sz="750">
                <a:solidFill>
                  <a:srgbClr val="6A7FA0"/>
                </a:solidFill>
              </a:rPr>
              <a:t>Haoyi Zhang | 2254912</a:t>
            </a:r>
            <a:endParaRPr lang="zh-CN" altLang="en-US" sz="750">
              <a:solidFill>
                <a:srgbClr val="6A7FA0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4DC2CEB-4BB6-B648-91EC-5D27F752F5C1}"/>
              </a:ext>
            </a:extLst>
          </p:cNvPr>
          <p:cNvSpPr/>
          <p:nvPr/>
        </p:nvSpPr>
        <p:spPr bwMode="auto">
          <a:xfrm>
            <a:off x="1422400" y="2032000"/>
            <a:ext cx="9144000" cy="1803400"/>
          </a:xfrm>
          <a:prstGeom prst="rect">
            <a:avLst/>
          </a:prstGeom>
          <a:solidFill>
            <a:srgbClr val="071A3D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314BD93-021E-041F-9844-9CFA4EA1AC0F}"/>
              </a:ext>
            </a:extLst>
          </p:cNvPr>
          <p:cNvSpPr txBox="1"/>
          <p:nvPr/>
        </p:nvSpPr>
        <p:spPr>
          <a:xfrm>
            <a:off x="1752600" y="2336800"/>
            <a:ext cx="15240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900" b="1">
                <a:solidFill>
                  <a:srgbClr val="8EC5FF"/>
                </a:solidFill>
              </a:rPr>
              <a:t>commands</a:t>
            </a:r>
            <a:endParaRPr lang="zh-CN" altLang="en-US" sz="900" b="1">
              <a:solidFill>
                <a:srgbClr val="8EC5FF"/>
              </a:solidFill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63745C4-0A1E-782E-1C10-2D7D83701612}"/>
              </a:ext>
            </a:extLst>
          </p:cNvPr>
          <p:cNvSpPr txBox="1"/>
          <p:nvPr/>
        </p:nvSpPr>
        <p:spPr>
          <a:xfrm>
            <a:off x="1752600" y="2743200"/>
            <a:ext cx="71120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1100">
                <a:solidFill>
                  <a:srgbClr val="FFFFFF"/>
                </a:solidFill>
                <a:latin typeface="Consolas" panose="020B0609020204030204" pitchFamily="49" charset="0"/>
              </a:rPr>
              <a:t>cd 'E:\4-25\zhy\EMNLP 2026\CodeMark-FYP-Dissertation'</a:t>
            </a:r>
          </a:p>
          <a:p>
            <a:r>
              <a:rPr lang="en-US" altLang="zh-CN" sz="1100">
                <a:solidFill>
                  <a:srgbClr val="FFFFFF"/>
                </a:solidFill>
                <a:latin typeface="Consolas" panose="020B0609020204030204" pitchFamily="49" charset="0"/>
              </a:rPr>
              <a:t>python scripts\viva_check.py</a:t>
            </a:r>
          </a:p>
          <a:p>
            <a:r>
              <a:rPr lang="en-US" altLang="zh-CN" sz="1100">
                <a:solidFill>
                  <a:srgbClr val="FFFFFF"/>
                </a:solidFill>
                <a:latin typeface="Consolas" panose="020B0609020204030204" pitchFamily="49" charset="0"/>
              </a:rPr>
              <a:t>python scripts\check_project_snapshots.py</a:t>
            </a:r>
          </a:p>
          <a:p>
            <a:r>
              <a:rPr lang="en-US" altLang="zh-CN" sz="1100">
                <a:solidFill>
                  <a:srgbClr val="FFFFFF"/>
                </a:solidFill>
                <a:latin typeface="Consolas" panose="020B0609020204030204" pitchFamily="49" charset="0"/>
              </a:rPr>
              <a:t>python scripts\check_preserved_results.py</a:t>
            </a:r>
            <a:endParaRPr lang="zh-CN" altLang="en-US" sz="1100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72EC6FB-4067-0168-D218-43A7A942E44D}"/>
              </a:ext>
            </a:extLst>
          </p:cNvPr>
          <p:cNvSpPr/>
          <p:nvPr/>
        </p:nvSpPr>
        <p:spPr bwMode="auto">
          <a:xfrm>
            <a:off x="1422400" y="4267200"/>
            <a:ext cx="9144000" cy="685800"/>
          </a:xfrm>
          <a:prstGeom prst="rect">
            <a:avLst/>
          </a:prstGeom>
          <a:solidFill>
            <a:srgbClr val="FFF8E8"/>
          </a:solidFill>
          <a:ln w="10160" cap="flat" cmpd="sng" algn="ctr">
            <a:solidFill>
              <a:srgbClr val="F2C14E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C3F1840-41EE-E11E-AB92-357D85358956}"/>
              </a:ext>
            </a:extLst>
          </p:cNvPr>
          <p:cNvSpPr txBox="1"/>
          <p:nvPr/>
        </p:nvSpPr>
        <p:spPr>
          <a:xfrm>
            <a:off x="1752600" y="4495800"/>
            <a:ext cx="15240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950" b="1">
                <a:solidFill>
                  <a:srgbClr val="5A3510"/>
                </a:solidFill>
              </a:rPr>
              <a:t>Fallback</a:t>
            </a:r>
            <a:endParaRPr lang="zh-CN" altLang="en-US" sz="950" b="1">
              <a:solidFill>
                <a:srgbClr val="5A3510"/>
              </a:solidFill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7B39F5C3-975F-9BE9-8294-25C6122AB02C}"/>
              </a:ext>
            </a:extLst>
          </p:cNvPr>
          <p:cNvSpPr txBox="1"/>
          <p:nvPr/>
        </p:nvSpPr>
        <p:spPr>
          <a:xfrm>
            <a:off x="3149600" y="4495800"/>
            <a:ext cx="66040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950" b="1">
                <a:solidFill>
                  <a:srgbClr val="071A3D"/>
                </a:solidFill>
              </a:rPr>
              <a:t>If the projector or network fails, play the two short videos and show the repository locally.</a:t>
            </a:r>
            <a:endParaRPr lang="zh-CN" altLang="en-US" sz="950" b="1">
              <a:solidFill>
                <a:srgbClr val="071A3D"/>
              </a:solidFill>
            </a:endParaRPr>
          </a:p>
        </p:txBody>
      </p:sp>
      <p:sp>
        <p:nvSpPr>
          <p:cNvPr id="22" name="WSHome_S15Claim" descr="Clickable link: https://github.com/Haoyi-Zhang/WatermarkScope/blob/main/CLAIM_BOUNDARIES.md">
            <a:hlinkClick r:id="rId4"/>
            <a:extLst>
              <a:ext uri="{FF2B5EF4-FFF2-40B4-BE49-F238E27FC236}">
                <a16:creationId xmlns:a16="http://schemas.microsoft.com/office/drawing/2014/main" id="{8F1B7BF7-496E-9A0A-1DA1-834402439EA3}"/>
              </a:ext>
            </a:extLst>
          </p:cNvPr>
          <p:cNvSpPr/>
          <p:nvPr/>
        </p:nvSpPr>
        <p:spPr bwMode="auto">
          <a:xfrm>
            <a:off x="1041400" y="5156200"/>
            <a:ext cx="1270000" cy="279400"/>
          </a:xfrm>
          <a:prstGeom prst="rect">
            <a:avLst/>
          </a:prstGeom>
          <a:solidFill>
            <a:srgbClr val="08111F"/>
          </a:solidFill>
          <a:ln w="9525" cap="flat" cmpd="sng" algn="ctr">
            <a:solidFill>
              <a:srgbClr val="08111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85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ptos" panose="020B0004020202020204" pitchFamily="34" charset="0"/>
                <a:ea typeface="ＭＳ Ｐゴシック" pitchFamily="34" charset="-128"/>
              </a:rPr>
              <a:t>Claim boundaries</a:t>
            </a:r>
            <a:endParaRPr kumimoji="0" lang="zh-CN" altLang="en-US" sz="85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ptos" panose="020B0004020202020204" pitchFamily="34" charset="0"/>
              <a:ea typeface="ＭＳ Ｐゴシック" pitchFamily="34" charset="-128"/>
            </a:endParaRPr>
          </a:p>
        </p:txBody>
      </p:sp>
      <p:sp>
        <p:nvSpPr>
          <p:cNvPr id="23" name="WSHome_S15Trace" descr="Clickable link: https://github.com/Haoyi-Zhang/WatermarkScope/blob/main/docs/TRACEABILITY_MATRIX.md">
            <a:hlinkClick r:id="rId5"/>
            <a:extLst>
              <a:ext uri="{FF2B5EF4-FFF2-40B4-BE49-F238E27FC236}">
                <a16:creationId xmlns:a16="http://schemas.microsoft.com/office/drawing/2014/main" id="{E2A89B5E-CCD1-FF1B-4372-374897C7F89C}"/>
              </a:ext>
            </a:extLst>
          </p:cNvPr>
          <p:cNvSpPr/>
          <p:nvPr/>
        </p:nvSpPr>
        <p:spPr bwMode="auto">
          <a:xfrm>
            <a:off x="2413000" y="5156200"/>
            <a:ext cx="1168400" cy="279400"/>
          </a:xfrm>
          <a:prstGeom prst="rect">
            <a:avLst/>
          </a:prstGeom>
          <a:solidFill>
            <a:srgbClr val="08111F"/>
          </a:solidFill>
          <a:ln w="9525" cap="flat" cmpd="sng" algn="ctr">
            <a:solidFill>
              <a:srgbClr val="08111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85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ptos" panose="020B0004020202020204" pitchFamily="34" charset="0"/>
                <a:ea typeface="ＭＳ Ｐゴシック" pitchFamily="34" charset="-128"/>
              </a:rPr>
              <a:t>Traceability</a:t>
            </a:r>
            <a:endParaRPr kumimoji="0" lang="zh-CN" altLang="en-US" sz="85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ptos" panose="020B0004020202020204" pitchFamily="34" charset="0"/>
              <a:ea typeface="ＭＳ Ｐゴシック" pitchFamily="34" charset="-128"/>
            </a:endParaRPr>
          </a:p>
        </p:txBody>
      </p:sp>
      <p:sp>
        <p:nvSpPr>
          <p:cNvPr id="24" name="WSHome_S15Check" descr="Clickable link: https://github.com/Haoyi-Zhang/WatermarkScope/blob/main/scripts/viva_check.py">
            <a:hlinkClick r:id="rId6"/>
            <a:extLst>
              <a:ext uri="{FF2B5EF4-FFF2-40B4-BE49-F238E27FC236}">
                <a16:creationId xmlns:a16="http://schemas.microsoft.com/office/drawing/2014/main" id="{E9DAED79-549E-4097-53FF-FF0CDABA830B}"/>
              </a:ext>
            </a:extLst>
          </p:cNvPr>
          <p:cNvSpPr/>
          <p:nvPr/>
        </p:nvSpPr>
        <p:spPr bwMode="auto">
          <a:xfrm>
            <a:off x="3683000" y="5156200"/>
            <a:ext cx="1143000" cy="279400"/>
          </a:xfrm>
          <a:prstGeom prst="rect">
            <a:avLst/>
          </a:prstGeom>
          <a:solidFill>
            <a:srgbClr val="08111F"/>
          </a:solidFill>
          <a:ln w="9525" cap="flat" cmpd="sng" algn="ctr">
            <a:solidFill>
              <a:srgbClr val="08111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85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ptos" panose="020B0004020202020204" pitchFamily="34" charset="0"/>
                <a:ea typeface="ＭＳ Ｐゴシック" pitchFamily="34" charset="-128"/>
              </a:rPr>
              <a:t>viva_check.py</a:t>
            </a:r>
            <a:endParaRPr kumimoji="0" lang="zh-CN" altLang="en-US" sz="85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ptos" panose="020B0004020202020204" pitchFamily="34" charset="0"/>
              <a:ea typeface="ＭＳ Ｐゴシック" pitchFamily="34" charset="-128"/>
            </a:endParaRPr>
          </a:p>
        </p:txBody>
      </p:sp>
      <p:sp>
        <p:nvSpPr>
          <p:cNvPr id="25" name="WSHome_S15Page" descr="Clickable link: https://haoyi-zhang.github.io/WatermarkScope/">
            <a:hlinkClick r:id="rId7"/>
            <a:extLst>
              <a:ext uri="{FF2B5EF4-FFF2-40B4-BE49-F238E27FC236}">
                <a16:creationId xmlns:a16="http://schemas.microsoft.com/office/drawing/2014/main" id="{94FBF9AB-443B-5A4F-097C-EA04BC7247CB}"/>
              </a:ext>
            </a:extLst>
          </p:cNvPr>
          <p:cNvSpPr/>
          <p:nvPr/>
        </p:nvSpPr>
        <p:spPr bwMode="auto">
          <a:xfrm>
            <a:off x="4927600" y="5156200"/>
            <a:ext cx="1117600" cy="279400"/>
          </a:xfrm>
          <a:prstGeom prst="rect">
            <a:avLst/>
          </a:prstGeom>
          <a:solidFill>
            <a:srgbClr val="08111F"/>
          </a:solidFill>
          <a:ln w="9525" cap="flat" cmpd="sng" algn="ctr">
            <a:solidFill>
              <a:srgbClr val="08111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85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ptos" panose="020B0004020202020204" pitchFamily="34" charset="0"/>
                <a:ea typeface="ＭＳ Ｐゴシック" pitchFamily="34" charset="-128"/>
              </a:rPr>
              <a:t>Project page</a:t>
            </a:r>
            <a:endParaRPr kumimoji="0" lang="zh-CN" altLang="en-US" sz="85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ptos" panose="020B0004020202020204" pitchFamily="34" charset="0"/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86925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 thruBlk="1"/>
      </p:transition>
    </mc:Choice>
    <mc:Fallback xmlns="">
      <p:transition spd="slow">
        <p:fade thruBlk="1"/>
      </p:transition>
    </mc:Fallback>
  </mc:AlternateContent>
</p:sld>
</file>

<file path=ppt/theme/theme1.xml><?xml version="1.0" encoding="utf-8"?>
<a:theme xmlns:a="http://schemas.openxmlformats.org/drawingml/2006/main" name="Blank Presentation">
  <a:themeElements>
    <a:clrScheme name="Blank Presentation 13">
      <a:dk1>
        <a:srgbClr val="000000"/>
      </a:dk1>
      <a:lt1>
        <a:srgbClr val="FFFFFF"/>
      </a:lt1>
      <a:dk2>
        <a:srgbClr val="9567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 Presentation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34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34" charset="-128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3">
        <a:dk1>
          <a:srgbClr val="000000"/>
        </a:dk1>
        <a:lt1>
          <a:srgbClr val="FFFFFF"/>
        </a:lt1>
        <a:dk2>
          <a:srgbClr val="9567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408</TotalTime>
  <Words>1834</Words>
  <Application>Microsoft Office PowerPoint</Application>
  <PresentationFormat>宽屏</PresentationFormat>
  <Paragraphs>341</Paragraphs>
  <Slides>15</Slides>
  <Notes>15</Notes>
  <HiddenSlides>3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3" baseType="lpstr">
      <vt:lpstr>等线</vt:lpstr>
      <vt:lpstr>SimSun</vt:lpstr>
      <vt:lpstr>Aptos</vt:lpstr>
      <vt:lpstr>Arial</vt:lpstr>
      <vt:lpstr>Cambria Math</vt:lpstr>
      <vt:lpstr>Consolas</vt:lpstr>
      <vt:lpstr>Wingdings</vt:lpstr>
      <vt:lpstr>Blank Presentation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Krusty Morris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Krusty Morris</dc:creator>
  <cp:lastModifiedBy>周率 圆</cp:lastModifiedBy>
  <cp:revision>35</cp:revision>
  <dcterms:created xsi:type="dcterms:W3CDTF">2007-01-16T13:11:17Z</dcterms:created>
  <dcterms:modified xsi:type="dcterms:W3CDTF">2026-05-13T11:37:33Z</dcterms:modified>
</cp:coreProperties>
</file>