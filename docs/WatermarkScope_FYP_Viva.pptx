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BBCB70-1D17-4533-B526-8128BCC9D0B4}" type="datetimeFigureOut">
              <a:rPr lang="zh-CN" altLang="en-US" smtClean="0"/>
              <a:t>2026/5/14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D19553-C48B-4D03-BDA2-C13F7408F6BC}" type="slidenum">
              <a:rPr lang="zh-CN" altLang="en-US" smtClean="0"/>
              <a:t>‹#›</a:t>
            </a:fld>
            <a:endParaRPr lang="zh-CN" altLang="en-US"/>
          </a:p>
        </p:txBody>
      </p:sp>
    </p:spTree>
    <p:extLst>
      <p:ext uri="{BB962C8B-B14F-4D97-AF65-F5344CB8AC3E}">
        <p14:creationId xmlns:p14="http://schemas.microsoft.com/office/powerpoint/2010/main" val="25438226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The point of the project is simple: a source-code watermark result should be treated as bounded evidence, not as one detector score.</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a:t>
            </a:fld>
            <a:endParaRPr lang="zh-CN" altLang="en-US"/>
          </a:p>
        </p:txBody>
      </p:sp>
    </p:spTree>
    <p:extLst>
      <p:ext uri="{BB962C8B-B14F-4D97-AF65-F5344CB8AC3E}">
        <p14:creationId xmlns:p14="http://schemas.microsoft.com/office/powerpoint/2010/main" val="1232942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presentation is organized as a story. I will not read the thesis. I will explain why the problem matters, how I controlled evidence, what the results show, and how the examiner can inspect the artifacts.</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2</a:t>
            </a:fld>
            <a:endParaRPr lang="zh-CN" altLang="en-US"/>
          </a:p>
        </p:txBody>
      </p:sp>
    </p:spTree>
    <p:extLst>
      <p:ext uri="{BB962C8B-B14F-4D97-AF65-F5344CB8AC3E}">
        <p14:creationId xmlns:p14="http://schemas.microsoft.com/office/powerpoint/2010/main" val="1292301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practical issue is movement. Generated code can be edited, translated, or reused. So the project asks: after this movement, what evidence is still valid?</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3</a:t>
            </a:fld>
            <a:endParaRPr lang="zh-CN" altLang="en-US"/>
          </a:p>
        </p:txBody>
      </p:sp>
    </p:spTree>
    <p:extLst>
      <p:ext uri="{BB962C8B-B14F-4D97-AF65-F5344CB8AC3E}">
        <p14:creationId xmlns:p14="http://schemas.microsoft.com/office/powerpoint/2010/main" val="2034422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main research gap. A detector score can be useful, but by itself it does not say what claim is allowed. I therefore build an evidence contract around every result.</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4</a:t>
            </a:fld>
            <a:endParaRPr lang="zh-CN" altLang="en-US"/>
          </a:p>
        </p:txBody>
      </p:sp>
    </p:spTree>
    <p:extLst>
      <p:ext uri="{BB962C8B-B14F-4D97-AF65-F5344CB8AC3E}">
        <p14:creationId xmlns:p14="http://schemas.microsoft.com/office/powerpoint/2010/main" val="39912109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project structure. The important point is not just the five names. The important point is that every stage has an admitted evidence object and a bounded claim.</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5</a:t>
            </a:fld>
            <a:endParaRPr lang="zh-CN" altLang="en-US"/>
          </a:p>
        </p:txBody>
      </p:sp>
    </p:spTree>
    <p:extLst>
      <p:ext uri="{BB962C8B-B14F-4D97-AF65-F5344CB8AC3E}">
        <p14:creationId xmlns:p14="http://schemas.microsoft.com/office/powerpoint/2010/main" val="15949029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method is deliberately simple. I first freeze the evidence object: denominator, controls, artifact, hash, and boundary. Only after that do I interpret a result.</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6</a:t>
            </a:fld>
            <a:endParaRPr lang="zh-CN" altLang="en-US"/>
          </a:p>
        </p:txBody>
      </p:sp>
    </p:spTree>
    <p:extLst>
      <p:ext uri="{BB962C8B-B14F-4D97-AF65-F5344CB8AC3E}">
        <p14:creationId xmlns:p14="http://schemas.microsoft.com/office/powerpoint/2010/main" val="17783682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the submitted dissertation, the defensible snapshot is: 140 out of 140 benchmark runs, 23,342 out of 24,000 SemCodebook recoveries with zero negative-control hits, and 300 out of 300 ProbeTrace scoped decisions with zero false-owner controls.</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7</a:t>
            </a:fld>
            <a:endParaRPr lang="zh-CN" altLang="en-US"/>
          </a:p>
        </p:txBody>
      </p:sp>
    </p:spTree>
    <p:extLst>
      <p:ext uri="{BB962C8B-B14F-4D97-AF65-F5344CB8AC3E}">
        <p14:creationId xmlns:p14="http://schemas.microsoft.com/office/powerpoint/2010/main" val="9468970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conservative part is important. CodeDye does not become a prevalence claim, and SealAudit does not force every case into a label. Abstention is part of the evidence design.</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8</a:t>
            </a:fld>
            <a:endParaRPr lang="zh-CN" altLang="en-US"/>
          </a:p>
        </p:txBody>
      </p:sp>
    </p:spTree>
    <p:extLst>
      <p:ext uri="{BB962C8B-B14F-4D97-AF65-F5344CB8AC3E}">
        <p14:creationId xmlns:p14="http://schemas.microsoft.com/office/powerpoint/2010/main" val="14769333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why the benchmark matters. It is not only a final accuracy number. It shows the tradeoff between executable robustness and release scale.</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9</a:t>
            </a:fld>
            <a:endParaRPr lang="zh-CN" altLang="en-US"/>
          </a:p>
        </p:txBody>
      </p:sp>
    </p:spTree>
    <p:extLst>
      <p:ext uri="{BB962C8B-B14F-4D97-AF65-F5344CB8AC3E}">
        <p14:creationId xmlns:p14="http://schemas.microsoft.com/office/powerpoint/2010/main" val="19318248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Demo one should be around 90 seconds. Start from the project page. Show the main pipeline, then open the repository, then claim boundaries, traceability matrix, and manifest. The point is not to run everything; the point is to show that claims are inspectable.</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10</a:t>
            </a:fld>
            <a:endParaRPr lang="zh-CN" altLang="en-US"/>
          </a:p>
        </p:txBody>
      </p:sp>
    </p:spTree>
    <p:extLst>
      <p:ext uri="{BB962C8B-B14F-4D97-AF65-F5344CB8AC3E}">
        <p14:creationId xmlns:p14="http://schemas.microsoft.com/office/powerpoint/2010/main" val="2353356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Demo two is about 60 seconds. Run or show the viva check. Be explicit: this check verifies the submitted repository surface and hashes. It does not rerun long experiments.</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11</a:t>
            </a:fld>
            <a:endParaRPr lang="zh-CN" altLang="en-US"/>
          </a:p>
        </p:txBody>
      </p:sp>
    </p:spTree>
    <p:extLst>
      <p:ext uri="{BB962C8B-B14F-4D97-AF65-F5344CB8AC3E}">
        <p14:creationId xmlns:p14="http://schemas.microsoft.com/office/powerpoint/2010/main" val="18579468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questions, answer first, then attach the answer to a boundary. I can defend the evidence. I should qualify the access model and dataset surface. I should refuse universal or legal claims.</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12</a:t>
            </a:fld>
            <a:endParaRPr lang="zh-CN" altLang="en-US"/>
          </a:p>
        </p:txBody>
      </p:sp>
    </p:spTree>
    <p:extLst>
      <p:ext uri="{BB962C8B-B14F-4D97-AF65-F5344CB8AC3E}">
        <p14:creationId xmlns:p14="http://schemas.microsoft.com/office/powerpoint/2010/main" val="23449991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future work, the repository is organized so the integrated FYP artifact can become separate paper workstreams. I should be clear that these are planned targets, not acceptance claims.</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13</a:t>
            </a:fld>
            <a:endParaRPr lang="zh-CN" altLang="en-US"/>
          </a:p>
        </p:txBody>
      </p:sp>
    </p:spTree>
    <p:extLst>
      <p:ext uri="{BB962C8B-B14F-4D97-AF65-F5344CB8AC3E}">
        <p14:creationId xmlns:p14="http://schemas.microsoft.com/office/powerpoint/2010/main" val="19564176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happy to answer questions.</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14</a:t>
            </a:fld>
            <a:endParaRPr lang="zh-CN" altLang="en-US"/>
          </a:p>
        </p:txBody>
      </p:sp>
    </p:spTree>
    <p:extLst>
      <p:ext uri="{BB962C8B-B14F-4D97-AF65-F5344CB8AC3E}">
        <p14:creationId xmlns:p14="http://schemas.microsoft.com/office/powerpoint/2010/main" val="7754280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Backup slide. The formula is not meant to look complicated. It simply says that a result is interpreted only after the evidence object has been admitted.</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15</a:t>
            </a:fld>
            <a:endParaRPr lang="zh-CN" altLang="en-US"/>
          </a:p>
        </p:txBody>
      </p:sp>
    </p:spTree>
    <p:extLst>
      <p:ext uri="{BB962C8B-B14F-4D97-AF65-F5344CB8AC3E}">
        <p14:creationId xmlns:p14="http://schemas.microsoft.com/office/powerpoint/2010/main" val="1968320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Backup slide. Use these as short Q&amp;A answers if needed.</a:t>
            </a:r>
            <a:endParaRPr lang="zh-CN" altLang="en-US"/>
          </a:p>
        </p:txBody>
      </p:sp>
      <p:sp>
        <p:nvSpPr>
          <p:cNvPr id="4" name="灯片编号占位符 3"/>
          <p:cNvSpPr>
            <a:spLocks noGrp="1"/>
          </p:cNvSpPr>
          <p:nvPr>
            <p:ph type="sldNum" sz="quarter" idx="5"/>
          </p:nvPr>
        </p:nvSpPr>
        <p:spPr/>
        <p:txBody>
          <a:bodyPr/>
          <a:lstStyle/>
          <a:p>
            <a:fld id="{17D19553-C48B-4D03-BDA2-C13F7408F6BC}" type="slidenum">
              <a:rPr lang="zh-CN" altLang="en-US" smtClean="0"/>
              <a:t>16</a:t>
            </a:fld>
            <a:endParaRPr lang="zh-CN" altLang="en-US"/>
          </a:p>
        </p:txBody>
      </p:sp>
    </p:spTree>
    <p:extLst>
      <p:ext uri="{BB962C8B-B14F-4D97-AF65-F5344CB8AC3E}">
        <p14:creationId xmlns:p14="http://schemas.microsoft.com/office/powerpoint/2010/main" val="16058530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F51E3E0-06C1-6402-FF9C-68886C8C1C00}"/>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ACC674B-17C9-3A12-7145-5A1B4AB0D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B941403-EA15-4891-7669-F209DD0C7A06}"/>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58DD5985-BFB1-A749-6771-7F7A5E1C1AD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5821B91-E5AD-365C-FFBD-872D041E0922}"/>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3835982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ED4141-669F-ECA5-5E58-F91C228070E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06B554C-3FBE-F5BD-A56D-DF6F0A44FE43}"/>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56A3E90-277B-AC4C-DAE9-7F3F9C5B287F}"/>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773F445E-B2E4-8C4E-5825-A6A1A1D6CC2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B1689C8-790C-FC68-E677-A516EC5302FC}"/>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1635483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8FB60E-6FE7-B724-6D8D-AD5EA84D493A}"/>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C551A897-5BA5-B06C-5DFB-26CC2132A20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BD361D7D-F521-6BD0-C896-5E8AE655369B}"/>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B4A1637D-2043-2A56-A852-A738664D7C1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60A2643-B10C-E44D-78AB-7CDBFA09737A}"/>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25319705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BBC0D1-3EC4-04C4-F6EA-9ACB1C21CA0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7E8CB3E-9AAA-4562-5A19-5063A4937DEC}"/>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3D3BAD4-9270-0DF9-6F29-1B866EDD5D9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4D652E2-9420-B043-E10A-3C632A1A2CF1}"/>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1C41101F-E7A8-C074-9942-B5AC929026E7}"/>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7C4A55D-3021-E1DA-9DEB-E490AAB4D8F0}"/>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21642623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E7D93CD-7843-72ED-896D-9187E254FEF4}"/>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7D5E339B-04E4-A408-C8EB-9C2B8C6EB2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40598E3E-43A1-F45F-38CC-1C616313599A}"/>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4F53B770-7E37-2E27-50DD-B0D60899B11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85C1C96-1C15-0CCE-B159-23D91662E388}"/>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12B23EDC-34E7-385D-24CD-937BB8F601DF}"/>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8" name="页脚占位符 7">
            <a:extLst>
              <a:ext uri="{FF2B5EF4-FFF2-40B4-BE49-F238E27FC236}">
                <a16:creationId xmlns:a16="http://schemas.microsoft.com/office/drawing/2014/main" id="{E77F207F-F794-2558-D8ED-CF5052E35BCE}"/>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5FF51BE9-0355-F095-C80F-02B3CDDD0D49}"/>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42624441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7E6B9C-6584-8490-83AA-B98C38677E82}"/>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5E58597A-5F4B-3EAE-C09D-37BDE6229B6F}"/>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4" name="页脚占位符 3">
            <a:extLst>
              <a:ext uri="{FF2B5EF4-FFF2-40B4-BE49-F238E27FC236}">
                <a16:creationId xmlns:a16="http://schemas.microsoft.com/office/drawing/2014/main" id="{52BC1516-B6A7-933A-8020-F1C25480842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A04B1A9B-FB72-7DB9-03BA-9800334B0599}"/>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2273769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709F0BBB-4540-58D9-1424-B72E51ED890A}"/>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3" name="页脚占位符 2">
            <a:extLst>
              <a:ext uri="{FF2B5EF4-FFF2-40B4-BE49-F238E27FC236}">
                <a16:creationId xmlns:a16="http://schemas.microsoft.com/office/drawing/2014/main" id="{2CEED92D-5D26-DD41-BD0B-38E1585678EC}"/>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E442B6D2-B5C2-D744-C538-8A66E0094693}"/>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158558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6450B8A-CC61-E026-F149-2F0E9EA097F6}"/>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58BD2228-43B1-3976-A8B8-8A0198E87A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4CE5342A-0ECB-35B4-9D61-099834AFA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E4465EC3-1B80-5521-F758-7F8192CC1C96}"/>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19AA842E-B3FB-A1AE-4759-385C54FC09A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EE6BEB3-FACF-501F-7187-1CED3E66EC29}"/>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3331103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CF544B-6A64-C1E2-F5F9-8F5D4C4B9F2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BD2474DE-A7CE-2129-BD31-4CF2189C75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6BF559E6-937E-F0C0-AC5B-DEC4573E00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D4DE520-F96B-FA55-B659-E2E3C41F46C9}"/>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6" name="页脚占位符 5">
            <a:extLst>
              <a:ext uri="{FF2B5EF4-FFF2-40B4-BE49-F238E27FC236}">
                <a16:creationId xmlns:a16="http://schemas.microsoft.com/office/drawing/2014/main" id="{B156BA6E-5DBC-ECE4-AF21-F519F18B9EF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9978AE5-1778-DB83-13D4-4B20B99F6850}"/>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32263704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2D4930-2100-0341-C978-37A6FAFD7933}"/>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A49B6466-0179-0112-C938-BDF4165760A7}"/>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975FA63-6541-D112-EB6A-D394C8BCE535}"/>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91C7AED7-AA95-E419-895F-387C775DC35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FB914ED-F7F1-855F-14D3-952B0FC8F8B6}"/>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2124310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E0D4CC7-B535-14C3-BB79-33395D4BA88F}"/>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4F16ACAE-AB36-2AD3-21D6-A1FA2279640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2B1CA2B-AF48-9D66-7B93-0A0DA01EF83C}"/>
              </a:ext>
            </a:extLst>
          </p:cNvPr>
          <p:cNvSpPr>
            <a:spLocks noGrp="1"/>
          </p:cNvSpPr>
          <p:nvPr>
            <p:ph type="dt" sz="half" idx="10"/>
          </p:nvPr>
        </p:nvSpPr>
        <p:spPr/>
        <p:txBody>
          <a:bodyPr/>
          <a:lstStyle/>
          <a:p>
            <a:fld id="{6DADD656-4731-4A00-8EB8-E13ACEB57B07}"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1DF57EF8-EE0C-3D97-6F67-1410B67010E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CAA6452-D233-E3C2-53BF-4353450A7DF0}"/>
              </a:ext>
            </a:extLst>
          </p:cNvPr>
          <p:cNvSpPr>
            <a:spLocks noGrp="1"/>
          </p:cNvSpPr>
          <p:nvPr>
            <p:ph type="sldNum" sz="quarter" idx="12"/>
          </p:nvPr>
        </p:nvSpPr>
        <p:spPr/>
        <p:txBody>
          <a:body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12271455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B00E0392-EAFE-1EB2-38D2-E1AB9CC7C9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07C7AB04-01D5-66E5-4FB1-82C90DD15E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4BF86831-9980-374A-7FF7-65C6140A03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ADD656-4731-4A00-8EB8-E13ACEB57B07}" type="datetimeFigureOut">
              <a:rPr lang="zh-CN" altLang="en-US" smtClean="0"/>
              <a:t>2026/5/14</a:t>
            </a:fld>
            <a:endParaRPr lang="zh-CN" altLang="en-US"/>
          </a:p>
        </p:txBody>
      </p:sp>
      <p:sp>
        <p:nvSpPr>
          <p:cNvPr id="5" name="页脚占位符 4">
            <a:extLst>
              <a:ext uri="{FF2B5EF4-FFF2-40B4-BE49-F238E27FC236}">
                <a16:creationId xmlns:a16="http://schemas.microsoft.com/office/drawing/2014/main" id="{35F91B64-ADD9-A1AE-F918-4E765DB8F1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9D4123A3-98F8-DC97-1295-7D25C9D53E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5D3BD71-BD51-4A94-BFDA-01348E1EB70F}" type="slidenum">
              <a:rPr lang="zh-CN" altLang="en-US" smtClean="0"/>
              <a:t>‹#›</a:t>
            </a:fld>
            <a:endParaRPr lang="zh-CN" altLang="en-US"/>
          </a:p>
        </p:txBody>
      </p:sp>
    </p:spTree>
    <p:extLst>
      <p:ext uri="{BB962C8B-B14F-4D97-AF65-F5344CB8AC3E}">
        <p14:creationId xmlns:p14="http://schemas.microsoft.com/office/powerpoint/2010/main" val="15181787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github.com/Haoyi-Zhang/WatermarkScope/blob/main/docs/TRACEABILITY_MATRIX.md" TargetMode="External"/><Relationship Id="rId5" Type="http://schemas.openxmlformats.org/officeDocument/2006/relationships/hyperlink" Target="https://github.com/Haoyi-Zhang/WatermarkScope/blob/main/CLAIM_BOUNDARIES.md"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haoyi-zhang.github.io/WatermarkScop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hyperlink" Target="https://github.com/Haoyi-Zhang/WatermarkScope/blob/main/RESULT_MANIFEST.jsonl" TargetMode="External"/><Relationship Id="rId4" Type="http://schemas.openxmlformats.org/officeDocument/2006/relationships/hyperlink" Target="https://github.com/Haoyi-Zhang/WatermarkScope/blob/main/scripts/viva_check.py"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hyperlink" Target="https://github.com/Haoyi-Zhang/WatermarkScope/blob/main/CLAIM_BOUNDARIES.md"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github.com/Haoyi-Zhang/WatermarkScope" TargetMode="Externa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hyperlink" Target="https://github.com/Haoyi-Zhang/WatermarkScope/blob/main/CLAIM_BOUNDARIES.md" TargetMode="Externa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84B7695C-C835-DF30-D420-A2E83A705C8F}"/>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7E86BEEF-5A7F-181F-4B8D-0016BD399C16}"/>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2F553449-D449-FBFB-B45C-725B81AE11FD}"/>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6E961E7A-9122-13DB-2EB8-CE5A0EE6FF1C}"/>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B204651C-26BB-6B96-D70C-0B4195D209E6}"/>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1C57103C-879C-954E-3FD5-A1ADED9BBB9A}"/>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F25E1F29-5779-1863-16F6-58CDCED90D8B}"/>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A74C8A74-2661-1CB1-1992-A74596D40F57}"/>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63935AED-666F-FCB2-024B-15E69D1C66D9}"/>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7D9DB72C-1E77-D792-E95E-E0FA5DB7F48B}"/>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85670AD4-7024-02F6-C5CD-6048AA49873A}"/>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C2983D0E-007E-250A-ADA3-D0C291E7CDA3}"/>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CF55C992-35AD-F092-75C0-DF643D77E8B6}"/>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AAF16914-4E6C-59A1-53A9-6A7AFEB1856A}"/>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55401DB9-1FC5-FA61-E206-6626CCEE7EB3}"/>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F19CEC85-E0D0-D011-D4E2-36AE896B9187}"/>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283197B0-90A9-1A94-7C9C-3A0326586EF4}"/>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39F26505-6223-25A2-7C15-6AEA2B547ABB}"/>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FE7B0D78-511D-9FB9-ED53-114D5F77D7F7}"/>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9EB60434-311B-2705-A2E6-BB267FD0E4E9}"/>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BF3872AD-2517-8A1F-E32D-E4CFFBB1ADD2}"/>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AEEBD4FA-C2FC-863A-D1F0-DBD6EBE7FED9}"/>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BD4355F4-8140-4776-6DD4-835FEBA89677}"/>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96BBBEC7-7CB0-9595-A1D5-186FC26DFD3E}"/>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4F6F8591-4E28-B2C0-3EB9-412F0DF95799}"/>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6BF64B5A-8E71-2927-1ED3-41CD3F1C66BA}"/>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0101EE8B-6FB7-7A28-1519-8B54A583FCF2}"/>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F7E3D722-6413-D4D0-A7D6-3E3455BA8A7D}"/>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01</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387E09FE-5E26-3151-D3BC-CAFB613F8411}"/>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FINAL YEAR PROJECT VIVA</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C6FB28AD-D3D7-763A-31A3-F660D0B78BFC}"/>
              </a:ext>
            </a:extLst>
          </p:cNvPr>
          <p:cNvSpPr txBox="1"/>
          <p:nvPr/>
        </p:nvSpPr>
        <p:spPr>
          <a:xfrm>
            <a:off x="685800" y="1219200"/>
            <a:ext cx="8636000" cy="276999"/>
          </a:xfrm>
          <a:prstGeom prst="rect">
            <a:avLst/>
          </a:prstGeom>
          <a:noFill/>
        </p:spPr>
        <p:txBody>
          <a:bodyPr vert="horz" wrap="square" lIns="0" tIns="0" rIns="0" bIns="0" rtlCol="0">
            <a:noAutofit/>
          </a:bodyPr>
          <a:lstStyle/>
          <a:p>
            <a:r>
              <a:rPr lang="en-US" altLang="zh-CN" sz="4600" b="1">
                <a:solidFill>
                  <a:srgbClr val="FFFFFF"/>
                </a:solidFill>
                <a:latin typeface="Aptos" panose="020B0004020202020204" pitchFamily="34" charset="0"/>
              </a:rPr>
              <a:t>WatermarkScope</a:t>
            </a:r>
            <a:endParaRPr lang="zh-CN" altLang="en-US" sz="46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0222F254-6ECD-B3BC-9BC2-C4C4601ABC6D}"/>
              </a:ext>
            </a:extLst>
          </p:cNvPr>
          <p:cNvSpPr txBox="1"/>
          <p:nvPr/>
        </p:nvSpPr>
        <p:spPr>
          <a:xfrm>
            <a:off x="736600" y="2171700"/>
            <a:ext cx="8763000" cy="276999"/>
          </a:xfrm>
          <a:prstGeom prst="rect">
            <a:avLst/>
          </a:prstGeom>
          <a:noFill/>
        </p:spPr>
        <p:txBody>
          <a:bodyPr vert="horz" wrap="square" lIns="0" tIns="0" rIns="0" bIns="0" rtlCol="0">
            <a:noAutofit/>
          </a:bodyPr>
          <a:lstStyle/>
          <a:p>
            <a:r>
              <a:rPr lang="en-US" altLang="zh-CN" sz="2100" b="1">
                <a:solidFill>
                  <a:srgbClr val="FFFFFF"/>
                </a:solidFill>
                <a:latin typeface="Aptos" panose="020B0004020202020204" pitchFamily="34" charset="0"/>
              </a:rPr>
              <a:t>A benchmark-to-audit framework for source-code watermarking in code generation models.</a:t>
            </a:r>
            <a:endParaRPr lang="zh-CN" altLang="en-US" sz="2100" b="1">
              <a:solidFill>
                <a:srgbClr val="FFFFFF"/>
              </a:solidFill>
              <a:latin typeface="Aptos" panose="020B0004020202020204" pitchFamily="34" charset="0"/>
            </a:endParaRPr>
          </a:p>
        </p:txBody>
      </p:sp>
      <p:cxnSp>
        <p:nvCxnSpPr>
          <p:cNvPr id="33" name="cover-rule">
            <a:extLst>
              <a:ext uri="{FF2B5EF4-FFF2-40B4-BE49-F238E27FC236}">
                <a16:creationId xmlns:a16="http://schemas.microsoft.com/office/drawing/2014/main" id="{251F75B7-97F9-2730-BBB9-780E3A8F2D4D}"/>
              </a:ext>
            </a:extLst>
          </p:cNvPr>
          <p:cNvCxnSpPr/>
          <p:nvPr/>
        </p:nvCxnSpPr>
        <p:spPr>
          <a:xfrm>
            <a:off x="736600" y="3200400"/>
            <a:ext cx="8077200" cy="0"/>
          </a:xfrm>
          <a:prstGeom prst="line">
            <a:avLst/>
          </a:prstGeom>
          <a:ln w="15240">
            <a:solidFill>
              <a:srgbClr val="A4CAF5"/>
            </a:solidFill>
          </a:ln>
        </p:spPr>
        <p:style>
          <a:lnRef idx="1">
            <a:schemeClr val="accent1"/>
          </a:lnRef>
          <a:fillRef idx="0">
            <a:schemeClr val="accent1"/>
          </a:fillRef>
          <a:effectRef idx="0">
            <a:schemeClr val="accent1"/>
          </a:effectRef>
          <a:fontRef idx="minor">
            <a:schemeClr val="tx1"/>
          </a:fontRef>
        </p:style>
      </p:cxnSp>
      <p:sp>
        <p:nvSpPr>
          <p:cNvPr id="34" name="thesis-box">
            <a:extLst>
              <a:ext uri="{FF2B5EF4-FFF2-40B4-BE49-F238E27FC236}">
                <a16:creationId xmlns:a16="http://schemas.microsoft.com/office/drawing/2014/main" id="{5F6A71E0-F486-6828-EA8A-793977B7A1AA}"/>
              </a:ext>
            </a:extLst>
          </p:cNvPr>
          <p:cNvSpPr/>
          <p:nvPr/>
        </p:nvSpPr>
        <p:spPr>
          <a:xfrm>
            <a:off x="736600" y="3708400"/>
            <a:ext cx="8255000" cy="685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thesis-k">
            <a:extLst>
              <a:ext uri="{FF2B5EF4-FFF2-40B4-BE49-F238E27FC236}">
                <a16:creationId xmlns:a16="http://schemas.microsoft.com/office/drawing/2014/main" id="{632D624A-7A1E-DCEE-0A94-6C8C88525D41}"/>
              </a:ext>
            </a:extLst>
          </p:cNvPr>
          <p:cNvSpPr txBox="1"/>
          <p:nvPr/>
        </p:nvSpPr>
        <p:spPr>
          <a:xfrm>
            <a:off x="1066800" y="3898900"/>
            <a:ext cx="1524000" cy="276999"/>
          </a:xfrm>
          <a:prstGeom prst="rect">
            <a:avLst/>
          </a:prstGeom>
          <a:noFill/>
        </p:spPr>
        <p:txBody>
          <a:bodyPr vert="horz" wrap="square" lIns="0" tIns="0" rIns="0" bIns="0" rtlCol="0">
            <a:noAutofit/>
          </a:bodyPr>
          <a:lstStyle/>
          <a:p>
            <a:r>
              <a:rPr lang="en-US" altLang="zh-CN" sz="720" b="1">
                <a:solidFill>
                  <a:srgbClr val="CDE1F8"/>
                </a:solidFill>
                <a:latin typeface="Aptos" panose="020B0004020202020204" pitchFamily="34" charset="0"/>
              </a:rPr>
              <a:t>ONE SENTENCE</a:t>
            </a:r>
            <a:endParaRPr lang="zh-CN" altLang="en-US" sz="720" b="1">
              <a:solidFill>
                <a:srgbClr val="CDE1F8"/>
              </a:solidFill>
              <a:latin typeface="Aptos" panose="020B0004020202020204" pitchFamily="34" charset="0"/>
            </a:endParaRPr>
          </a:p>
        </p:txBody>
      </p:sp>
      <p:sp>
        <p:nvSpPr>
          <p:cNvPr id="36" name="thesis">
            <a:extLst>
              <a:ext uri="{FF2B5EF4-FFF2-40B4-BE49-F238E27FC236}">
                <a16:creationId xmlns:a16="http://schemas.microsoft.com/office/drawing/2014/main" id="{37F01708-D214-F414-CDE2-E4992119FCE6}"/>
              </a:ext>
            </a:extLst>
          </p:cNvPr>
          <p:cNvSpPr txBox="1"/>
          <p:nvPr/>
        </p:nvSpPr>
        <p:spPr>
          <a:xfrm>
            <a:off x="1066800" y="4140200"/>
            <a:ext cx="7112000" cy="276999"/>
          </a:xfrm>
          <a:prstGeom prst="rect">
            <a:avLst/>
          </a:prstGeom>
          <a:noFill/>
        </p:spPr>
        <p:txBody>
          <a:bodyPr vert="horz" wrap="square" lIns="0" tIns="0" rIns="0" bIns="0" rtlCol="0">
            <a:noAutofit/>
          </a:bodyPr>
          <a:lstStyle/>
          <a:p>
            <a:r>
              <a:rPr lang="en-US" altLang="zh-CN" sz="1550" b="1">
                <a:solidFill>
                  <a:srgbClr val="FFFFFF"/>
                </a:solidFill>
                <a:latin typeface="Aptos" panose="020B0004020202020204" pitchFamily="34" charset="0"/>
              </a:rPr>
              <a:t>Do not judge source-code watermarking by one detector score.</a:t>
            </a:r>
            <a:endParaRPr lang="zh-CN" altLang="en-US" sz="1550" b="1">
              <a:solidFill>
                <a:srgbClr val="FFFFFF"/>
              </a:solidFill>
              <a:latin typeface="Aptos" panose="020B0004020202020204" pitchFamily="34" charset="0"/>
            </a:endParaRPr>
          </a:p>
        </p:txBody>
      </p:sp>
      <p:pic>
        <p:nvPicPr>
          <p:cNvPr id="38" name="图片 37">
            <a:hlinkClick r:id="rId3"/>
            <a:extLst>
              <a:ext uri="{FF2B5EF4-FFF2-40B4-BE49-F238E27FC236}">
                <a16:creationId xmlns:a16="http://schemas.microsoft.com/office/drawing/2014/main" id="{344BBF56-5747-4B6C-24C4-A4F347B2A13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677400" y="1295400"/>
            <a:ext cx="1422400" cy="1422400"/>
          </a:xfrm>
          <a:prstGeom prst="rect">
            <a:avLst/>
          </a:prstGeom>
        </p:spPr>
      </p:pic>
      <p:sp>
        <p:nvSpPr>
          <p:cNvPr id="39" name="qr-caption-bg">
            <a:extLst>
              <a:ext uri="{FF2B5EF4-FFF2-40B4-BE49-F238E27FC236}">
                <a16:creationId xmlns:a16="http://schemas.microsoft.com/office/drawing/2014/main" id="{70753880-FF5F-D2CF-1134-BC6A0ED06EEA}"/>
              </a:ext>
            </a:extLst>
          </p:cNvPr>
          <p:cNvSpPr/>
          <p:nvPr/>
        </p:nvSpPr>
        <p:spPr>
          <a:xfrm>
            <a:off x="9474200" y="2921000"/>
            <a:ext cx="1828800" cy="7620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qr-cap1">
            <a:extLst>
              <a:ext uri="{FF2B5EF4-FFF2-40B4-BE49-F238E27FC236}">
                <a16:creationId xmlns:a16="http://schemas.microsoft.com/office/drawing/2014/main" id="{D7C24AC8-E3EE-720A-65DE-BD64B2E1C93A}"/>
              </a:ext>
            </a:extLst>
          </p:cNvPr>
          <p:cNvSpPr txBox="1"/>
          <p:nvPr/>
        </p:nvSpPr>
        <p:spPr>
          <a:xfrm>
            <a:off x="9702800" y="3098800"/>
            <a:ext cx="13716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Project page</a:t>
            </a:r>
            <a:endParaRPr lang="zh-CN" altLang="en-US" sz="800" b="1">
              <a:solidFill>
                <a:srgbClr val="004080"/>
              </a:solidFill>
              <a:latin typeface="Aptos" panose="020B0004020202020204" pitchFamily="34" charset="0"/>
            </a:endParaRPr>
          </a:p>
        </p:txBody>
      </p:sp>
      <p:sp>
        <p:nvSpPr>
          <p:cNvPr id="41" name="qr-cap2">
            <a:extLst>
              <a:ext uri="{FF2B5EF4-FFF2-40B4-BE49-F238E27FC236}">
                <a16:creationId xmlns:a16="http://schemas.microsoft.com/office/drawing/2014/main" id="{3B7F99B9-2367-B308-33C7-04D3CC123CB1}"/>
              </a:ext>
            </a:extLst>
          </p:cNvPr>
          <p:cNvSpPr txBox="1"/>
          <p:nvPr/>
        </p:nvSpPr>
        <p:spPr>
          <a:xfrm>
            <a:off x="9702800" y="3340100"/>
            <a:ext cx="1397000" cy="276999"/>
          </a:xfrm>
          <a:prstGeom prst="rect">
            <a:avLst/>
          </a:prstGeom>
          <a:noFill/>
        </p:spPr>
        <p:txBody>
          <a:bodyPr vert="horz" wrap="square" lIns="0" tIns="0" rIns="0" bIns="0" rtlCol="0">
            <a:noAutofit/>
          </a:bodyPr>
          <a:lstStyle/>
          <a:p>
            <a:r>
              <a:rPr lang="en-US" altLang="zh-CN" sz="670">
                <a:solidFill>
                  <a:srgbClr val="536580"/>
                </a:solidFill>
                <a:latin typeface="Aptos" panose="020B0004020202020204" pitchFamily="34" charset="0"/>
              </a:rPr>
              <a:t>slides, repo, evidence</a:t>
            </a:r>
            <a:endParaRPr lang="zh-CN" altLang="en-US" sz="670">
              <a:solidFill>
                <a:srgbClr val="536580"/>
              </a:solidFill>
              <a:latin typeface="Aptos" panose="020B0004020202020204" pitchFamily="34" charset="0"/>
            </a:endParaRPr>
          </a:p>
        </p:txBody>
      </p:sp>
      <p:sp>
        <p:nvSpPr>
          <p:cNvPr id="42" name="name">
            <a:extLst>
              <a:ext uri="{FF2B5EF4-FFF2-40B4-BE49-F238E27FC236}">
                <a16:creationId xmlns:a16="http://schemas.microsoft.com/office/drawing/2014/main" id="{2B3EBCDC-34B5-8B45-2B67-3991B751D48D}"/>
              </a:ext>
            </a:extLst>
          </p:cNvPr>
          <p:cNvSpPr txBox="1"/>
          <p:nvPr/>
        </p:nvSpPr>
        <p:spPr>
          <a:xfrm>
            <a:off x="736600" y="5003800"/>
            <a:ext cx="4572000" cy="276999"/>
          </a:xfrm>
          <a:prstGeom prst="rect">
            <a:avLst/>
          </a:prstGeom>
          <a:noFill/>
        </p:spPr>
        <p:txBody>
          <a:bodyPr vert="horz" wrap="square" lIns="0" tIns="0" rIns="0" bIns="0" rtlCol="0">
            <a:noAutofit/>
          </a:bodyPr>
          <a:lstStyle/>
          <a:p>
            <a:r>
              <a:rPr lang="en-US" altLang="zh-CN" sz="1050">
                <a:solidFill>
                  <a:srgbClr val="FFFFFF"/>
                </a:solidFill>
                <a:latin typeface="Aptos" panose="020B0004020202020204" pitchFamily="34" charset="0"/>
              </a:rPr>
              <a:t>Haoyi Zhang | 2254912</a:t>
            </a:r>
            <a:endParaRPr lang="zh-CN" altLang="en-US" sz="1050">
              <a:solidFill>
                <a:srgbClr val="FFFFFF"/>
              </a:solidFill>
              <a:latin typeface="Aptos" panose="020B0004020202020204" pitchFamily="34" charset="0"/>
            </a:endParaRPr>
          </a:p>
        </p:txBody>
      </p:sp>
      <p:sp>
        <p:nvSpPr>
          <p:cNvPr id="43" name="sup">
            <a:extLst>
              <a:ext uri="{FF2B5EF4-FFF2-40B4-BE49-F238E27FC236}">
                <a16:creationId xmlns:a16="http://schemas.microsoft.com/office/drawing/2014/main" id="{4C7A70B1-5657-8BB2-393D-E6A33E3E90AB}"/>
              </a:ext>
            </a:extLst>
          </p:cNvPr>
          <p:cNvSpPr txBox="1"/>
          <p:nvPr/>
        </p:nvSpPr>
        <p:spPr>
          <a:xfrm>
            <a:off x="736600" y="5384800"/>
            <a:ext cx="5715000" cy="276999"/>
          </a:xfrm>
          <a:prstGeom prst="rect">
            <a:avLst/>
          </a:prstGeom>
          <a:noFill/>
        </p:spPr>
        <p:txBody>
          <a:bodyPr vert="horz" wrap="square" lIns="0" tIns="0" rIns="0" bIns="0" rtlCol="0">
            <a:noAutofit/>
          </a:bodyPr>
          <a:lstStyle/>
          <a:p>
            <a:r>
              <a:rPr lang="en-US" altLang="zh-CN" sz="1050">
                <a:solidFill>
                  <a:srgbClr val="FFFFFF"/>
                </a:solidFill>
                <a:latin typeface="Aptos" panose="020B0004020202020204" pitchFamily="34" charset="0"/>
              </a:rPr>
              <a:t>Supervisor: Md Maruf Hasan | Viva: 21 May 2026</a:t>
            </a:r>
            <a:endParaRPr lang="zh-CN" altLang="en-US" sz="1050">
              <a:solidFill>
                <a:srgbClr val="FFFFFF"/>
              </a:solidFill>
              <a:latin typeface="Aptos" panose="020B0004020202020204" pitchFamily="34" charset="0"/>
            </a:endParaRPr>
          </a:p>
        </p:txBody>
      </p:sp>
      <p:pic>
        <p:nvPicPr>
          <p:cNvPr id="45" name="图片 44">
            <a:extLst>
              <a:ext uri="{FF2B5EF4-FFF2-40B4-BE49-F238E27FC236}">
                <a16:creationId xmlns:a16="http://schemas.microsoft.com/office/drawing/2014/main" id="{868A5B32-5D23-1A92-D4A3-A7326349F7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146723352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C08F3CA7-6EDE-1D0C-D8D2-2619041BD784}"/>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0D0309D0-3431-1F63-295A-6AB72BDE50B1}"/>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84FBB985-0C77-2A9B-F3E2-6AAA9935137B}"/>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C7AB45C2-B494-F4BA-756B-779478451035}"/>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F7568743-FE98-D425-5534-50E6EA05EA6C}"/>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52FE01C1-A037-4B5A-D8BD-265299CF6902}"/>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02</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0D1E1C92-9866-303D-BFC7-511BD594B7DA}"/>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STORY</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4E7145B8-9E00-AF08-6356-C157F76DEE6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807A7F33-B426-3836-6561-A497CADA71BE}"/>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The 10-minute story</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104B91CA-0191-9CC1-EAB0-1206B319E15C}"/>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I will explain the problem, the evidence contract, the result surface, and the live demo route.</a:t>
            </a:r>
            <a:endParaRPr lang="zh-CN" altLang="en-US" sz="950">
              <a:solidFill>
                <a:srgbClr val="536580"/>
              </a:solidFill>
              <a:latin typeface="Aptos" panose="020B0004020202020204" pitchFamily="34" charset="0"/>
            </a:endParaRPr>
          </a:p>
        </p:txBody>
      </p:sp>
      <p:sp>
        <p:nvSpPr>
          <p:cNvPr id="13" name="story-card-0">
            <a:extLst>
              <a:ext uri="{FF2B5EF4-FFF2-40B4-BE49-F238E27FC236}">
                <a16:creationId xmlns:a16="http://schemas.microsoft.com/office/drawing/2014/main" id="{168BD7C2-CA1F-366B-1F41-4FD0DEC006AE}"/>
              </a:ext>
            </a:extLst>
          </p:cNvPr>
          <p:cNvSpPr/>
          <p:nvPr/>
        </p:nvSpPr>
        <p:spPr>
          <a:xfrm>
            <a:off x="8890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tory-top-0">
            <a:extLst>
              <a:ext uri="{FF2B5EF4-FFF2-40B4-BE49-F238E27FC236}">
                <a16:creationId xmlns:a16="http://schemas.microsoft.com/office/drawing/2014/main" id="{3C64AA64-E6B4-C114-8A64-B25A45B7CF25}"/>
              </a:ext>
            </a:extLst>
          </p:cNvPr>
          <p:cNvSpPr/>
          <p:nvPr/>
        </p:nvSpPr>
        <p:spPr>
          <a:xfrm>
            <a:off x="889000" y="2235200"/>
            <a:ext cx="2235200" cy="889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tory-num-0">
            <a:extLst>
              <a:ext uri="{FF2B5EF4-FFF2-40B4-BE49-F238E27FC236}">
                <a16:creationId xmlns:a16="http://schemas.microsoft.com/office/drawing/2014/main" id="{3C8F295A-1F5F-1CC5-F3D0-B185FDF15B50}"/>
              </a:ext>
            </a:extLst>
          </p:cNvPr>
          <p:cNvSpPr txBox="1"/>
          <p:nvPr/>
        </p:nvSpPr>
        <p:spPr>
          <a:xfrm>
            <a:off x="11176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01</a:t>
            </a:r>
            <a:endParaRPr lang="zh-CN" altLang="en-US" sz="900" b="1">
              <a:solidFill>
                <a:srgbClr val="536580"/>
              </a:solidFill>
              <a:latin typeface="Aptos" panose="020B0004020202020204" pitchFamily="34" charset="0"/>
            </a:endParaRPr>
          </a:p>
        </p:txBody>
      </p:sp>
      <p:sp>
        <p:nvSpPr>
          <p:cNvPr id="16" name="story-title-0">
            <a:extLst>
              <a:ext uri="{FF2B5EF4-FFF2-40B4-BE49-F238E27FC236}">
                <a16:creationId xmlns:a16="http://schemas.microsoft.com/office/drawing/2014/main" id="{65749B2A-E48E-1257-8909-A75638DE043E}"/>
              </a:ext>
            </a:extLst>
          </p:cNvPr>
          <p:cNvSpPr txBox="1"/>
          <p:nvPr/>
        </p:nvSpPr>
        <p:spPr>
          <a:xfrm>
            <a:off x="11176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Problem</a:t>
            </a:r>
            <a:endParaRPr lang="zh-CN" altLang="en-US" sz="1700" b="1">
              <a:solidFill>
                <a:srgbClr val="0D182C"/>
              </a:solidFill>
              <a:latin typeface="Aptos" panose="020B0004020202020204" pitchFamily="34" charset="0"/>
            </a:endParaRPr>
          </a:p>
        </p:txBody>
      </p:sp>
      <p:sp>
        <p:nvSpPr>
          <p:cNvPr id="17" name="story-sub-0">
            <a:extLst>
              <a:ext uri="{FF2B5EF4-FFF2-40B4-BE49-F238E27FC236}">
                <a16:creationId xmlns:a16="http://schemas.microsoft.com/office/drawing/2014/main" id="{2036B3C9-376A-4961-0D3C-ACBDB1DA0981}"/>
              </a:ext>
            </a:extLst>
          </p:cNvPr>
          <p:cNvSpPr txBox="1"/>
          <p:nvPr/>
        </p:nvSpPr>
        <p:spPr>
          <a:xfrm>
            <a:off x="11176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Generated code is copied, edited, translated, and reused.</a:t>
            </a:r>
            <a:endParaRPr lang="zh-CN" altLang="en-US" sz="920">
              <a:solidFill>
                <a:srgbClr val="536580"/>
              </a:solidFill>
              <a:latin typeface="Aptos" panose="020B0004020202020204" pitchFamily="34" charset="0"/>
            </a:endParaRPr>
          </a:p>
        </p:txBody>
      </p:sp>
      <p:cxnSp>
        <p:nvCxnSpPr>
          <p:cNvPr id="18" name="story-line-0">
            <a:extLst>
              <a:ext uri="{FF2B5EF4-FFF2-40B4-BE49-F238E27FC236}">
                <a16:creationId xmlns:a16="http://schemas.microsoft.com/office/drawing/2014/main" id="{C7117F9A-682D-27F1-4A16-4262D221F990}"/>
              </a:ext>
            </a:extLst>
          </p:cNvPr>
          <p:cNvCxnSpPr/>
          <p:nvPr/>
        </p:nvCxnSpPr>
        <p:spPr>
          <a:xfrm>
            <a:off x="31242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19" name="story-card-1">
            <a:extLst>
              <a:ext uri="{FF2B5EF4-FFF2-40B4-BE49-F238E27FC236}">
                <a16:creationId xmlns:a16="http://schemas.microsoft.com/office/drawing/2014/main" id="{D63BBF10-8981-966E-8B58-A4D030C7709A}"/>
              </a:ext>
            </a:extLst>
          </p:cNvPr>
          <p:cNvSpPr/>
          <p:nvPr/>
        </p:nvSpPr>
        <p:spPr>
          <a:xfrm>
            <a:off x="36068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tory-top-1">
            <a:extLst>
              <a:ext uri="{FF2B5EF4-FFF2-40B4-BE49-F238E27FC236}">
                <a16:creationId xmlns:a16="http://schemas.microsoft.com/office/drawing/2014/main" id="{0E3004D3-D512-CD55-B4F9-3707BCE75CDC}"/>
              </a:ext>
            </a:extLst>
          </p:cNvPr>
          <p:cNvSpPr/>
          <p:nvPr/>
        </p:nvSpPr>
        <p:spPr>
          <a:xfrm>
            <a:off x="3606800" y="2235200"/>
            <a:ext cx="2235200" cy="889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tory-num-1">
            <a:extLst>
              <a:ext uri="{FF2B5EF4-FFF2-40B4-BE49-F238E27FC236}">
                <a16:creationId xmlns:a16="http://schemas.microsoft.com/office/drawing/2014/main" id="{BC4458E8-A007-9CC8-191D-C7CA57CD54F6}"/>
              </a:ext>
            </a:extLst>
          </p:cNvPr>
          <p:cNvSpPr txBox="1"/>
          <p:nvPr/>
        </p:nvSpPr>
        <p:spPr>
          <a:xfrm>
            <a:off x="38354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02</a:t>
            </a:r>
            <a:endParaRPr lang="zh-CN" altLang="en-US" sz="900" b="1">
              <a:solidFill>
                <a:srgbClr val="536580"/>
              </a:solidFill>
              <a:latin typeface="Aptos" panose="020B0004020202020204" pitchFamily="34" charset="0"/>
            </a:endParaRPr>
          </a:p>
        </p:txBody>
      </p:sp>
      <p:sp>
        <p:nvSpPr>
          <p:cNvPr id="22" name="story-title-1">
            <a:extLst>
              <a:ext uri="{FF2B5EF4-FFF2-40B4-BE49-F238E27FC236}">
                <a16:creationId xmlns:a16="http://schemas.microsoft.com/office/drawing/2014/main" id="{B22F4050-A8D3-3F09-47D3-E5AC55729C3D}"/>
              </a:ext>
            </a:extLst>
          </p:cNvPr>
          <p:cNvSpPr txBox="1"/>
          <p:nvPr/>
        </p:nvSpPr>
        <p:spPr>
          <a:xfrm>
            <a:off x="38354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Method</a:t>
            </a:r>
            <a:endParaRPr lang="zh-CN" altLang="en-US" sz="1700" b="1">
              <a:solidFill>
                <a:srgbClr val="0D182C"/>
              </a:solidFill>
              <a:latin typeface="Aptos" panose="020B0004020202020204" pitchFamily="34" charset="0"/>
            </a:endParaRPr>
          </a:p>
        </p:txBody>
      </p:sp>
      <p:sp>
        <p:nvSpPr>
          <p:cNvPr id="23" name="story-sub-1">
            <a:extLst>
              <a:ext uri="{FF2B5EF4-FFF2-40B4-BE49-F238E27FC236}">
                <a16:creationId xmlns:a16="http://schemas.microsoft.com/office/drawing/2014/main" id="{F7EF28A9-18C0-87E5-9353-6EA62A5C976B}"/>
              </a:ext>
            </a:extLst>
          </p:cNvPr>
          <p:cNvSpPr txBox="1"/>
          <p:nvPr/>
        </p:nvSpPr>
        <p:spPr>
          <a:xfrm>
            <a:off x="38354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Freeze denominator, controls, artifact, hash, and claim boundary.</a:t>
            </a:r>
            <a:endParaRPr lang="zh-CN" altLang="en-US" sz="920">
              <a:solidFill>
                <a:srgbClr val="536580"/>
              </a:solidFill>
              <a:latin typeface="Aptos" panose="020B0004020202020204" pitchFamily="34" charset="0"/>
            </a:endParaRPr>
          </a:p>
        </p:txBody>
      </p:sp>
      <p:cxnSp>
        <p:nvCxnSpPr>
          <p:cNvPr id="24" name="story-line-1">
            <a:extLst>
              <a:ext uri="{FF2B5EF4-FFF2-40B4-BE49-F238E27FC236}">
                <a16:creationId xmlns:a16="http://schemas.microsoft.com/office/drawing/2014/main" id="{9262FF6F-3382-F030-82D6-E170F0B8E221}"/>
              </a:ext>
            </a:extLst>
          </p:cNvPr>
          <p:cNvCxnSpPr/>
          <p:nvPr/>
        </p:nvCxnSpPr>
        <p:spPr>
          <a:xfrm>
            <a:off x="58420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25" name="story-card-2">
            <a:extLst>
              <a:ext uri="{FF2B5EF4-FFF2-40B4-BE49-F238E27FC236}">
                <a16:creationId xmlns:a16="http://schemas.microsoft.com/office/drawing/2014/main" id="{30EC9A5E-822F-CF71-F36E-C21F45E6B500}"/>
              </a:ext>
            </a:extLst>
          </p:cNvPr>
          <p:cNvSpPr/>
          <p:nvPr/>
        </p:nvSpPr>
        <p:spPr>
          <a:xfrm>
            <a:off x="63246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tory-top-2">
            <a:extLst>
              <a:ext uri="{FF2B5EF4-FFF2-40B4-BE49-F238E27FC236}">
                <a16:creationId xmlns:a16="http://schemas.microsoft.com/office/drawing/2014/main" id="{6240CDB1-0DDB-6D62-0101-0B7578B38E0E}"/>
              </a:ext>
            </a:extLst>
          </p:cNvPr>
          <p:cNvSpPr/>
          <p:nvPr/>
        </p:nvSpPr>
        <p:spPr>
          <a:xfrm>
            <a:off x="6324600" y="2235200"/>
            <a:ext cx="2235200" cy="889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story-num-2">
            <a:extLst>
              <a:ext uri="{FF2B5EF4-FFF2-40B4-BE49-F238E27FC236}">
                <a16:creationId xmlns:a16="http://schemas.microsoft.com/office/drawing/2014/main" id="{27BA98D5-3CF2-BDE1-C53C-0301C1CAFA01}"/>
              </a:ext>
            </a:extLst>
          </p:cNvPr>
          <p:cNvSpPr txBox="1"/>
          <p:nvPr/>
        </p:nvSpPr>
        <p:spPr>
          <a:xfrm>
            <a:off x="65532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03</a:t>
            </a:r>
            <a:endParaRPr lang="zh-CN" altLang="en-US" sz="900" b="1">
              <a:solidFill>
                <a:srgbClr val="536580"/>
              </a:solidFill>
              <a:latin typeface="Aptos" panose="020B0004020202020204" pitchFamily="34" charset="0"/>
            </a:endParaRPr>
          </a:p>
        </p:txBody>
      </p:sp>
      <p:sp>
        <p:nvSpPr>
          <p:cNvPr id="28" name="story-title-2">
            <a:extLst>
              <a:ext uri="{FF2B5EF4-FFF2-40B4-BE49-F238E27FC236}">
                <a16:creationId xmlns:a16="http://schemas.microsoft.com/office/drawing/2014/main" id="{00147A7F-1A70-8182-8F93-4ACCD146A605}"/>
              </a:ext>
            </a:extLst>
          </p:cNvPr>
          <p:cNvSpPr txBox="1"/>
          <p:nvPr/>
        </p:nvSpPr>
        <p:spPr>
          <a:xfrm>
            <a:off x="65532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Evidence</a:t>
            </a:r>
            <a:endParaRPr lang="zh-CN" altLang="en-US" sz="1700" b="1">
              <a:solidFill>
                <a:srgbClr val="0D182C"/>
              </a:solidFill>
              <a:latin typeface="Aptos" panose="020B0004020202020204" pitchFamily="34" charset="0"/>
            </a:endParaRPr>
          </a:p>
        </p:txBody>
      </p:sp>
      <p:sp>
        <p:nvSpPr>
          <p:cNvPr id="29" name="story-sub-2">
            <a:extLst>
              <a:ext uri="{FF2B5EF4-FFF2-40B4-BE49-F238E27FC236}">
                <a16:creationId xmlns:a16="http://schemas.microsoft.com/office/drawing/2014/main" id="{775F5E45-07A6-8E4E-3B49-D11BC7AA1765}"/>
              </a:ext>
            </a:extLst>
          </p:cNvPr>
          <p:cNvSpPr txBox="1"/>
          <p:nvPr/>
        </p:nvSpPr>
        <p:spPr>
          <a:xfrm>
            <a:off x="65532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Report positive evidence together with abstention and controls.</a:t>
            </a:r>
            <a:endParaRPr lang="zh-CN" altLang="en-US" sz="920">
              <a:solidFill>
                <a:srgbClr val="536580"/>
              </a:solidFill>
              <a:latin typeface="Aptos" panose="020B0004020202020204" pitchFamily="34" charset="0"/>
            </a:endParaRPr>
          </a:p>
        </p:txBody>
      </p:sp>
      <p:cxnSp>
        <p:nvCxnSpPr>
          <p:cNvPr id="30" name="story-line-2">
            <a:extLst>
              <a:ext uri="{FF2B5EF4-FFF2-40B4-BE49-F238E27FC236}">
                <a16:creationId xmlns:a16="http://schemas.microsoft.com/office/drawing/2014/main" id="{9369619D-C41D-BC00-E23A-076AF1C07732}"/>
              </a:ext>
            </a:extLst>
          </p:cNvPr>
          <p:cNvCxnSpPr/>
          <p:nvPr/>
        </p:nvCxnSpPr>
        <p:spPr>
          <a:xfrm>
            <a:off x="8559800" y="3416300"/>
            <a:ext cx="482600" cy="0"/>
          </a:xfrm>
          <a:prstGeom prst="line">
            <a:avLst/>
          </a:prstGeom>
          <a:ln w="25400">
            <a:solidFill>
              <a:srgbClr val="D2DCEB"/>
            </a:solidFill>
          </a:ln>
        </p:spPr>
        <p:style>
          <a:lnRef idx="1">
            <a:schemeClr val="accent1"/>
          </a:lnRef>
          <a:fillRef idx="0">
            <a:schemeClr val="accent1"/>
          </a:fillRef>
          <a:effectRef idx="0">
            <a:schemeClr val="accent1"/>
          </a:effectRef>
          <a:fontRef idx="minor">
            <a:schemeClr val="tx1"/>
          </a:fontRef>
        </p:style>
      </p:cxnSp>
      <p:sp>
        <p:nvSpPr>
          <p:cNvPr id="31" name="story-card-3">
            <a:extLst>
              <a:ext uri="{FF2B5EF4-FFF2-40B4-BE49-F238E27FC236}">
                <a16:creationId xmlns:a16="http://schemas.microsoft.com/office/drawing/2014/main" id="{88C42403-FDD9-EBB2-11DB-8A46944DC592}"/>
              </a:ext>
            </a:extLst>
          </p:cNvPr>
          <p:cNvSpPr/>
          <p:nvPr/>
        </p:nvSpPr>
        <p:spPr>
          <a:xfrm>
            <a:off x="9042400" y="2235200"/>
            <a:ext cx="2235200" cy="2362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tory-top-3">
            <a:extLst>
              <a:ext uri="{FF2B5EF4-FFF2-40B4-BE49-F238E27FC236}">
                <a16:creationId xmlns:a16="http://schemas.microsoft.com/office/drawing/2014/main" id="{5C188D5E-9A8E-EB5F-054D-77E761953F68}"/>
              </a:ext>
            </a:extLst>
          </p:cNvPr>
          <p:cNvSpPr/>
          <p:nvPr/>
        </p:nvSpPr>
        <p:spPr>
          <a:xfrm>
            <a:off x="9042400" y="2235200"/>
            <a:ext cx="2235200" cy="889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tory-num-3">
            <a:extLst>
              <a:ext uri="{FF2B5EF4-FFF2-40B4-BE49-F238E27FC236}">
                <a16:creationId xmlns:a16="http://schemas.microsoft.com/office/drawing/2014/main" id="{E686232E-3F82-5821-A3C5-660587E849A0}"/>
              </a:ext>
            </a:extLst>
          </p:cNvPr>
          <p:cNvSpPr txBox="1"/>
          <p:nvPr/>
        </p:nvSpPr>
        <p:spPr>
          <a:xfrm>
            <a:off x="9271000" y="2590800"/>
            <a:ext cx="533400" cy="276999"/>
          </a:xfrm>
          <a:prstGeom prst="rect">
            <a:avLst/>
          </a:prstGeom>
          <a:noFill/>
        </p:spPr>
        <p:txBody>
          <a:bodyPr vert="horz" wrap="square" lIns="0" tIns="0" rIns="0" bIns="0" rtlCol="0">
            <a:noAutofit/>
          </a:bodyPr>
          <a:lstStyle/>
          <a:p>
            <a:r>
              <a:rPr lang="en-US" altLang="zh-CN" sz="900" b="1">
                <a:solidFill>
                  <a:srgbClr val="536580"/>
                </a:solidFill>
                <a:latin typeface="Aptos" panose="020B0004020202020204" pitchFamily="34" charset="0"/>
              </a:rPr>
              <a:t>04</a:t>
            </a:r>
            <a:endParaRPr lang="zh-CN" altLang="en-US" sz="900" b="1">
              <a:solidFill>
                <a:srgbClr val="536580"/>
              </a:solidFill>
              <a:latin typeface="Aptos" panose="020B0004020202020204" pitchFamily="34" charset="0"/>
            </a:endParaRPr>
          </a:p>
        </p:txBody>
      </p:sp>
      <p:sp>
        <p:nvSpPr>
          <p:cNvPr id="34" name="story-title-3">
            <a:extLst>
              <a:ext uri="{FF2B5EF4-FFF2-40B4-BE49-F238E27FC236}">
                <a16:creationId xmlns:a16="http://schemas.microsoft.com/office/drawing/2014/main" id="{1AFE1906-B049-74D9-22D9-BDB3656993C1}"/>
              </a:ext>
            </a:extLst>
          </p:cNvPr>
          <p:cNvSpPr txBox="1"/>
          <p:nvPr/>
        </p:nvSpPr>
        <p:spPr>
          <a:xfrm>
            <a:off x="9271000" y="2997200"/>
            <a:ext cx="1676400" cy="276999"/>
          </a:xfrm>
          <a:prstGeom prst="rect">
            <a:avLst/>
          </a:prstGeom>
          <a:noFill/>
        </p:spPr>
        <p:txBody>
          <a:bodyPr vert="horz" wrap="square" lIns="0" tIns="0" rIns="0" bIns="0" rtlCol="0">
            <a:noAutofit/>
          </a:bodyPr>
          <a:lstStyle/>
          <a:p>
            <a:r>
              <a:rPr lang="en-US" altLang="zh-CN" sz="1700" b="1">
                <a:solidFill>
                  <a:srgbClr val="0D182C"/>
                </a:solidFill>
                <a:latin typeface="Aptos" panose="020B0004020202020204" pitchFamily="34" charset="0"/>
              </a:rPr>
              <a:t>Demo</a:t>
            </a:r>
            <a:endParaRPr lang="zh-CN" altLang="en-US" sz="1700" b="1">
              <a:solidFill>
                <a:srgbClr val="0D182C"/>
              </a:solidFill>
              <a:latin typeface="Aptos" panose="020B0004020202020204" pitchFamily="34" charset="0"/>
            </a:endParaRPr>
          </a:p>
        </p:txBody>
      </p:sp>
      <p:sp>
        <p:nvSpPr>
          <p:cNvPr id="35" name="story-sub-3">
            <a:extLst>
              <a:ext uri="{FF2B5EF4-FFF2-40B4-BE49-F238E27FC236}">
                <a16:creationId xmlns:a16="http://schemas.microsoft.com/office/drawing/2014/main" id="{9D9CA356-2077-64DD-63BD-41A61515C5E8}"/>
              </a:ext>
            </a:extLst>
          </p:cNvPr>
          <p:cNvSpPr txBox="1"/>
          <p:nvPr/>
        </p:nvSpPr>
        <p:spPr>
          <a:xfrm>
            <a:off x="9271000" y="3632200"/>
            <a:ext cx="1676400" cy="276999"/>
          </a:xfrm>
          <a:prstGeom prst="rect">
            <a:avLst/>
          </a:prstGeom>
          <a:noFill/>
        </p:spPr>
        <p:txBody>
          <a:bodyPr vert="horz" wrap="square" lIns="0" tIns="0" rIns="0" bIns="0" rtlCol="0">
            <a:noAutofit/>
          </a:bodyPr>
          <a:lstStyle/>
          <a:p>
            <a:r>
              <a:rPr lang="en-US" altLang="zh-CN" sz="920">
                <a:solidFill>
                  <a:srgbClr val="536580"/>
                </a:solidFill>
                <a:latin typeface="Aptos" panose="020B0004020202020204" pitchFamily="34" charset="0"/>
              </a:rPr>
              <a:t>Show the submitted artifacts through the project page and repository.</a:t>
            </a:r>
            <a:endParaRPr lang="zh-CN" altLang="en-US" sz="920">
              <a:solidFill>
                <a:srgbClr val="536580"/>
              </a:solidFill>
              <a:latin typeface="Aptos" panose="020B0004020202020204" pitchFamily="34" charset="0"/>
            </a:endParaRPr>
          </a:p>
        </p:txBody>
      </p:sp>
      <p:sp>
        <p:nvSpPr>
          <p:cNvPr id="36" name="time-box">
            <a:extLst>
              <a:ext uri="{FF2B5EF4-FFF2-40B4-BE49-F238E27FC236}">
                <a16:creationId xmlns:a16="http://schemas.microsoft.com/office/drawing/2014/main" id="{984BC41F-4908-D8BC-8F1E-282546065234}"/>
              </a:ext>
            </a:extLst>
          </p:cNvPr>
          <p:cNvSpPr/>
          <p:nvPr/>
        </p:nvSpPr>
        <p:spPr>
          <a:xfrm>
            <a:off x="1676400" y="5181600"/>
            <a:ext cx="8839200" cy="4318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time-text">
            <a:extLst>
              <a:ext uri="{FF2B5EF4-FFF2-40B4-BE49-F238E27FC236}">
                <a16:creationId xmlns:a16="http://schemas.microsoft.com/office/drawing/2014/main" id="{499D0C20-59C9-0301-0364-E07DEA806A45}"/>
              </a:ext>
            </a:extLst>
          </p:cNvPr>
          <p:cNvSpPr txBox="1"/>
          <p:nvPr/>
        </p:nvSpPr>
        <p:spPr>
          <a:xfrm>
            <a:off x="1955800" y="5321300"/>
            <a:ext cx="8255000" cy="276999"/>
          </a:xfrm>
          <a:prstGeom prst="rect">
            <a:avLst/>
          </a:prstGeom>
          <a:noFill/>
        </p:spPr>
        <p:txBody>
          <a:bodyPr vert="horz" wrap="square" lIns="0" tIns="0" rIns="0" bIns="0" rtlCol="0">
            <a:noAutofit/>
          </a:bodyPr>
          <a:lstStyle/>
          <a:p>
            <a:r>
              <a:rPr lang="en-US" altLang="zh-CN" sz="870" b="1">
                <a:solidFill>
                  <a:srgbClr val="004080"/>
                </a:solidFill>
                <a:latin typeface="Aptos" panose="020B0004020202020204" pitchFamily="34" charset="0"/>
              </a:rPr>
              <a:t>Target rhythm: 8 slides for the core story, 2 demo slides, 1 defense slide, then Q&amp;A.</a:t>
            </a:r>
            <a:endParaRPr lang="zh-CN" altLang="en-US" sz="870" b="1">
              <a:solidFill>
                <a:srgbClr val="004080"/>
              </a:solidFill>
              <a:latin typeface="Aptos" panose="020B0004020202020204" pitchFamily="34" charset="0"/>
            </a:endParaRPr>
          </a:p>
        </p:txBody>
      </p:sp>
    </p:spTree>
    <p:extLst>
      <p:ext uri="{BB962C8B-B14F-4D97-AF65-F5344CB8AC3E}">
        <p14:creationId xmlns:p14="http://schemas.microsoft.com/office/powerpoint/2010/main" val="1528814054"/>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D4568F0F-FFB4-7D92-A364-3668477591A8}"/>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6BF4C0CD-0F92-C312-4AD1-51A04D923334}"/>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7E77ABEC-F04E-7716-7317-D3C9B4BF69E3}"/>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03BB9080-4D93-8690-9644-8403830C16C9}"/>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344E0C01-099D-4FDC-D61A-4081A00A3222}"/>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EB4A5D1C-25DC-3CE4-02B4-235452259284}"/>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03</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01AA75E5-9016-94DB-6713-A919C6A0B5F6}"/>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PROBLEM</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DE723E01-5F1E-9225-B934-65962993C4A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47A6281E-50AF-3FE1-E65B-75B179D4CE00}"/>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Generated code moves after generation</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2242852B-B1F8-6373-E284-19EADFC92973}"/>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Once code leaves the chat window, the original context is no longer enough.</a:t>
            </a:r>
            <a:endParaRPr lang="zh-CN" altLang="en-US" sz="950">
              <a:solidFill>
                <a:srgbClr val="536580"/>
              </a:solidFill>
              <a:latin typeface="Aptos" panose="020B0004020202020204" pitchFamily="34" charset="0"/>
            </a:endParaRPr>
          </a:p>
        </p:txBody>
      </p:sp>
      <p:sp>
        <p:nvSpPr>
          <p:cNvPr id="13" name="code-panel">
            <a:extLst>
              <a:ext uri="{FF2B5EF4-FFF2-40B4-BE49-F238E27FC236}">
                <a16:creationId xmlns:a16="http://schemas.microsoft.com/office/drawing/2014/main" id="{E5E1A966-6468-40A0-4D88-9F8E50C29FBF}"/>
              </a:ext>
            </a:extLst>
          </p:cNvPr>
          <p:cNvSpPr/>
          <p:nvPr/>
        </p:nvSpPr>
        <p:spPr>
          <a:xfrm>
            <a:off x="889000" y="2006600"/>
            <a:ext cx="3810000" cy="2667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ode-title">
            <a:extLst>
              <a:ext uri="{FF2B5EF4-FFF2-40B4-BE49-F238E27FC236}">
                <a16:creationId xmlns:a16="http://schemas.microsoft.com/office/drawing/2014/main" id="{FCED5905-137B-1471-D3AA-E6BB9A04AC41}"/>
              </a:ext>
            </a:extLst>
          </p:cNvPr>
          <p:cNvSpPr txBox="1"/>
          <p:nvPr/>
        </p:nvSpPr>
        <p:spPr>
          <a:xfrm>
            <a:off x="1193800" y="2286000"/>
            <a:ext cx="1524000" cy="276999"/>
          </a:xfrm>
          <a:prstGeom prst="rect">
            <a:avLst/>
          </a:prstGeom>
          <a:noFill/>
        </p:spPr>
        <p:txBody>
          <a:bodyPr vert="horz" wrap="square" lIns="0" tIns="0" rIns="0" bIns="0" rtlCol="0">
            <a:noAutofit/>
          </a:bodyPr>
          <a:lstStyle/>
          <a:p>
            <a:r>
              <a:rPr lang="en-US" altLang="zh-CN" sz="800" b="1">
                <a:solidFill>
                  <a:srgbClr val="C3DCF8"/>
                </a:solidFill>
                <a:latin typeface="Aptos" panose="020B0004020202020204" pitchFamily="34" charset="0"/>
              </a:rPr>
              <a:t>Generated snippet</a:t>
            </a:r>
            <a:endParaRPr lang="zh-CN" altLang="en-US" sz="800" b="1">
              <a:solidFill>
                <a:srgbClr val="C3DCF8"/>
              </a:solidFill>
              <a:latin typeface="Aptos" panose="020B0004020202020204" pitchFamily="34" charset="0"/>
            </a:endParaRPr>
          </a:p>
        </p:txBody>
      </p:sp>
      <p:sp>
        <p:nvSpPr>
          <p:cNvPr id="15" name="code">
            <a:extLst>
              <a:ext uri="{FF2B5EF4-FFF2-40B4-BE49-F238E27FC236}">
                <a16:creationId xmlns:a16="http://schemas.microsoft.com/office/drawing/2014/main" id="{3DA38827-EDE4-A7C8-C622-8556E0518AA1}"/>
              </a:ext>
            </a:extLst>
          </p:cNvPr>
          <p:cNvSpPr txBox="1"/>
          <p:nvPr/>
        </p:nvSpPr>
        <p:spPr>
          <a:xfrm>
            <a:off x="1193800" y="2705100"/>
            <a:ext cx="3098800" cy="276999"/>
          </a:xfrm>
          <a:prstGeom prst="rect">
            <a:avLst/>
          </a:prstGeom>
          <a:noFill/>
        </p:spPr>
        <p:txBody>
          <a:bodyPr vert="horz" wrap="square" lIns="0" tIns="0" rIns="0" bIns="0" rtlCol="0">
            <a:noAutofit/>
          </a:bodyPr>
          <a:lstStyle/>
          <a:p>
            <a:r>
              <a:rPr lang="en-US" altLang="zh-CN" sz="1200">
                <a:solidFill>
                  <a:srgbClr val="FFFFFF"/>
                </a:solidFill>
                <a:latin typeface="Consolas" panose="020B0609020204030204" pitchFamily="49" charset="0"/>
              </a:rPr>
              <a:t>def normalize_name(s):
    t = s.strip().lower()
    return t.replace('_', '-')
# later: copied, edited, translated</a:t>
            </a:r>
            <a:endParaRPr lang="zh-CN" altLang="en-US" sz="1200">
              <a:solidFill>
                <a:srgbClr val="FFFFFF"/>
              </a:solidFill>
              <a:latin typeface="Consolas" panose="020B0609020204030204" pitchFamily="49" charset="0"/>
            </a:endParaRPr>
          </a:p>
        </p:txBody>
      </p:sp>
      <p:sp>
        <p:nvSpPr>
          <p:cNvPr id="16" name="flow-box-0">
            <a:extLst>
              <a:ext uri="{FF2B5EF4-FFF2-40B4-BE49-F238E27FC236}">
                <a16:creationId xmlns:a16="http://schemas.microsoft.com/office/drawing/2014/main" id="{75506A75-CCD1-F0F5-BD8C-4B1CA7138828}"/>
              </a:ext>
            </a:extLst>
          </p:cNvPr>
          <p:cNvSpPr/>
          <p:nvPr/>
        </p:nvSpPr>
        <p:spPr>
          <a:xfrm>
            <a:off x="5588000" y="2463800"/>
            <a:ext cx="1041400" cy="10414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flow-title-0">
            <a:extLst>
              <a:ext uri="{FF2B5EF4-FFF2-40B4-BE49-F238E27FC236}">
                <a16:creationId xmlns:a16="http://schemas.microsoft.com/office/drawing/2014/main" id="{E1C94494-952E-B6B8-6B48-FD2448CD643A}"/>
              </a:ext>
            </a:extLst>
          </p:cNvPr>
          <p:cNvSpPr txBox="1"/>
          <p:nvPr/>
        </p:nvSpPr>
        <p:spPr>
          <a:xfrm>
            <a:off x="57150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Generate</a:t>
            </a:r>
            <a:endParaRPr lang="zh-CN" altLang="en-US" sz="950" b="1">
              <a:solidFill>
                <a:srgbClr val="FFFFFF"/>
              </a:solidFill>
              <a:latin typeface="Aptos" panose="020B0004020202020204" pitchFamily="34" charset="0"/>
            </a:endParaRPr>
          </a:p>
        </p:txBody>
      </p:sp>
      <p:sp>
        <p:nvSpPr>
          <p:cNvPr id="18" name="flow-sub-0">
            <a:extLst>
              <a:ext uri="{FF2B5EF4-FFF2-40B4-BE49-F238E27FC236}">
                <a16:creationId xmlns:a16="http://schemas.microsoft.com/office/drawing/2014/main" id="{65C051EB-D22B-6D97-F915-978100A1FCCA}"/>
              </a:ext>
            </a:extLst>
          </p:cNvPr>
          <p:cNvSpPr txBox="1"/>
          <p:nvPr/>
        </p:nvSpPr>
        <p:spPr>
          <a:xfrm>
            <a:off x="57150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model output</a:t>
            </a:r>
            <a:endParaRPr lang="zh-CN" altLang="en-US" sz="680">
              <a:solidFill>
                <a:srgbClr val="FFFFFF"/>
              </a:solidFill>
              <a:latin typeface="Aptos" panose="020B0004020202020204" pitchFamily="34" charset="0"/>
            </a:endParaRPr>
          </a:p>
        </p:txBody>
      </p:sp>
      <p:cxnSp>
        <p:nvCxnSpPr>
          <p:cNvPr id="19" name="flow-arrow-0">
            <a:extLst>
              <a:ext uri="{FF2B5EF4-FFF2-40B4-BE49-F238E27FC236}">
                <a16:creationId xmlns:a16="http://schemas.microsoft.com/office/drawing/2014/main" id="{DC7A5306-463D-47D5-6170-DAD10334E72C}"/>
              </a:ext>
            </a:extLst>
          </p:cNvPr>
          <p:cNvCxnSpPr/>
          <p:nvPr/>
        </p:nvCxnSpPr>
        <p:spPr>
          <a:xfrm>
            <a:off x="66802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0" name="flow-box-1">
            <a:extLst>
              <a:ext uri="{FF2B5EF4-FFF2-40B4-BE49-F238E27FC236}">
                <a16:creationId xmlns:a16="http://schemas.microsoft.com/office/drawing/2014/main" id="{AFF4CFE3-6A9B-3846-0C12-8F8E956BFD7B}"/>
              </a:ext>
            </a:extLst>
          </p:cNvPr>
          <p:cNvSpPr/>
          <p:nvPr/>
        </p:nvSpPr>
        <p:spPr>
          <a:xfrm>
            <a:off x="7010400" y="2463800"/>
            <a:ext cx="1041400" cy="10414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flow-title-1">
            <a:extLst>
              <a:ext uri="{FF2B5EF4-FFF2-40B4-BE49-F238E27FC236}">
                <a16:creationId xmlns:a16="http://schemas.microsoft.com/office/drawing/2014/main" id="{66C85D84-F6C3-76B0-30A6-8AE1545D6AD3}"/>
              </a:ext>
            </a:extLst>
          </p:cNvPr>
          <p:cNvSpPr txBox="1"/>
          <p:nvPr/>
        </p:nvSpPr>
        <p:spPr>
          <a:xfrm>
            <a:off x="71374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Edit</a:t>
            </a:r>
            <a:endParaRPr lang="zh-CN" altLang="en-US" sz="950" b="1">
              <a:solidFill>
                <a:srgbClr val="FFFFFF"/>
              </a:solidFill>
              <a:latin typeface="Aptos" panose="020B0004020202020204" pitchFamily="34" charset="0"/>
            </a:endParaRPr>
          </a:p>
        </p:txBody>
      </p:sp>
      <p:sp>
        <p:nvSpPr>
          <p:cNvPr id="22" name="flow-sub-1">
            <a:extLst>
              <a:ext uri="{FF2B5EF4-FFF2-40B4-BE49-F238E27FC236}">
                <a16:creationId xmlns:a16="http://schemas.microsoft.com/office/drawing/2014/main" id="{7A66EE8A-082E-578E-E183-B6F92CC39413}"/>
              </a:ext>
            </a:extLst>
          </p:cNvPr>
          <p:cNvSpPr txBox="1"/>
          <p:nvPr/>
        </p:nvSpPr>
        <p:spPr>
          <a:xfrm>
            <a:off x="71374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human change</a:t>
            </a:r>
            <a:endParaRPr lang="zh-CN" altLang="en-US" sz="680">
              <a:solidFill>
                <a:srgbClr val="FFFFFF"/>
              </a:solidFill>
              <a:latin typeface="Aptos" panose="020B0004020202020204" pitchFamily="34" charset="0"/>
            </a:endParaRPr>
          </a:p>
        </p:txBody>
      </p:sp>
      <p:cxnSp>
        <p:nvCxnSpPr>
          <p:cNvPr id="23" name="flow-arrow-1">
            <a:extLst>
              <a:ext uri="{FF2B5EF4-FFF2-40B4-BE49-F238E27FC236}">
                <a16:creationId xmlns:a16="http://schemas.microsoft.com/office/drawing/2014/main" id="{77ADF257-6D56-BD70-9BB4-1CA116468743}"/>
              </a:ext>
            </a:extLst>
          </p:cNvPr>
          <p:cNvCxnSpPr/>
          <p:nvPr/>
        </p:nvCxnSpPr>
        <p:spPr>
          <a:xfrm>
            <a:off x="81026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4" name="flow-box-2">
            <a:extLst>
              <a:ext uri="{FF2B5EF4-FFF2-40B4-BE49-F238E27FC236}">
                <a16:creationId xmlns:a16="http://schemas.microsoft.com/office/drawing/2014/main" id="{28C7A680-65BF-54C7-3705-FCE9CDFF765E}"/>
              </a:ext>
            </a:extLst>
          </p:cNvPr>
          <p:cNvSpPr/>
          <p:nvPr/>
        </p:nvSpPr>
        <p:spPr>
          <a:xfrm>
            <a:off x="8432800" y="2463800"/>
            <a:ext cx="1041400" cy="10414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flow-title-2">
            <a:extLst>
              <a:ext uri="{FF2B5EF4-FFF2-40B4-BE49-F238E27FC236}">
                <a16:creationId xmlns:a16="http://schemas.microsoft.com/office/drawing/2014/main" id="{FB03DA0A-ECA1-D367-8FD0-A25DBFF4ACA1}"/>
              </a:ext>
            </a:extLst>
          </p:cNvPr>
          <p:cNvSpPr txBox="1"/>
          <p:nvPr/>
        </p:nvSpPr>
        <p:spPr>
          <a:xfrm>
            <a:off x="85598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Reuse</a:t>
            </a:r>
            <a:endParaRPr lang="zh-CN" altLang="en-US" sz="950" b="1">
              <a:solidFill>
                <a:srgbClr val="FFFFFF"/>
              </a:solidFill>
              <a:latin typeface="Aptos" panose="020B0004020202020204" pitchFamily="34" charset="0"/>
            </a:endParaRPr>
          </a:p>
        </p:txBody>
      </p:sp>
      <p:sp>
        <p:nvSpPr>
          <p:cNvPr id="26" name="flow-sub-2">
            <a:extLst>
              <a:ext uri="{FF2B5EF4-FFF2-40B4-BE49-F238E27FC236}">
                <a16:creationId xmlns:a16="http://schemas.microsoft.com/office/drawing/2014/main" id="{B59070D7-E433-C5CB-A577-032E6D2ECEC6}"/>
              </a:ext>
            </a:extLst>
          </p:cNvPr>
          <p:cNvSpPr txBox="1"/>
          <p:nvPr/>
        </p:nvSpPr>
        <p:spPr>
          <a:xfrm>
            <a:off x="85598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new repo</a:t>
            </a:r>
            <a:endParaRPr lang="zh-CN" altLang="en-US" sz="680">
              <a:solidFill>
                <a:srgbClr val="FFFFFF"/>
              </a:solidFill>
              <a:latin typeface="Aptos" panose="020B0004020202020204" pitchFamily="34" charset="0"/>
            </a:endParaRPr>
          </a:p>
        </p:txBody>
      </p:sp>
      <p:cxnSp>
        <p:nvCxnSpPr>
          <p:cNvPr id="27" name="flow-arrow-2">
            <a:extLst>
              <a:ext uri="{FF2B5EF4-FFF2-40B4-BE49-F238E27FC236}">
                <a16:creationId xmlns:a16="http://schemas.microsoft.com/office/drawing/2014/main" id="{1793082A-2280-4609-1AC1-9BEA643A463D}"/>
              </a:ext>
            </a:extLst>
          </p:cNvPr>
          <p:cNvCxnSpPr/>
          <p:nvPr/>
        </p:nvCxnSpPr>
        <p:spPr>
          <a:xfrm>
            <a:off x="9525000" y="2984500"/>
            <a:ext cx="279400" cy="0"/>
          </a:xfrm>
          <a:prstGeom prst="line">
            <a:avLst/>
          </a:prstGeom>
          <a:ln w="25400">
            <a:solidFill>
              <a:srgbClr val="536580"/>
            </a:solidFill>
          </a:ln>
        </p:spPr>
        <p:style>
          <a:lnRef idx="1">
            <a:schemeClr val="accent1"/>
          </a:lnRef>
          <a:fillRef idx="0">
            <a:schemeClr val="accent1"/>
          </a:fillRef>
          <a:effectRef idx="0">
            <a:schemeClr val="accent1"/>
          </a:effectRef>
          <a:fontRef idx="minor">
            <a:schemeClr val="tx1"/>
          </a:fontRef>
        </p:style>
      </p:cxnSp>
      <p:sp>
        <p:nvSpPr>
          <p:cNvPr id="28" name="flow-box-3">
            <a:extLst>
              <a:ext uri="{FF2B5EF4-FFF2-40B4-BE49-F238E27FC236}">
                <a16:creationId xmlns:a16="http://schemas.microsoft.com/office/drawing/2014/main" id="{BEC4E65B-0349-FBD1-8E27-C9C62A399703}"/>
              </a:ext>
            </a:extLst>
          </p:cNvPr>
          <p:cNvSpPr/>
          <p:nvPr/>
        </p:nvSpPr>
        <p:spPr>
          <a:xfrm>
            <a:off x="9855200" y="2463800"/>
            <a:ext cx="1041400" cy="10414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flow-title-3">
            <a:extLst>
              <a:ext uri="{FF2B5EF4-FFF2-40B4-BE49-F238E27FC236}">
                <a16:creationId xmlns:a16="http://schemas.microsoft.com/office/drawing/2014/main" id="{F9240566-86FD-3970-3F5D-56B1121B1E35}"/>
              </a:ext>
            </a:extLst>
          </p:cNvPr>
          <p:cNvSpPr txBox="1"/>
          <p:nvPr/>
        </p:nvSpPr>
        <p:spPr>
          <a:xfrm>
            <a:off x="9982200" y="2743200"/>
            <a:ext cx="787400" cy="276999"/>
          </a:xfrm>
          <a:prstGeom prst="rect">
            <a:avLst/>
          </a:prstGeom>
          <a:noFill/>
        </p:spPr>
        <p:txBody>
          <a:bodyPr vert="horz" wrap="square" lIns="0" tIns="0" rIns="0" bIns="0" rtlCol="0">
            <a:noAutofit/>
          </a:bodyPr>
          <a:lstStyle/>
          <a:p>
            <a:r>
              <a:rPr lang="en-US" altLang="zh-CN" sz="950" b="1">
                <a:solidFill>
                  <a:srgbClr val="FFFFFF"/>
                </a:solidFill>
                <a:latin typeface="Aptos" panose="020B0004020202020204" pitchFamily="34" charset="0"/>
              </a:rPr>
              <a:t>Audit</a:t>
            </a:r>
            <a:endParaRPr lang="zh-CN" altLang="en-US" sz="950" b="1">
              <a:solidFill>
                <a:srgbClr val="FFFFFF"/>
              </a:solidFill>
              <a:latin typeface="Aptos" panose="020B0004020202020204" pitchFamily="34" charset="0"/>
            </a:endParaRPr>
          </a:p>
        </p:txBody>
      </p:sp>
      <p:sp>
        <p:nvSpPr>
          <p:cNvPr id="30" name="flow-sub-3">
            <a:extLst>
              <a:ext uri="{FF2B5EF4-FFF2-40B4-BE49-F238E27FC236}">
                <a16:creationId xmlns:a16="http://schemas.microsoft.com/office/drawing/2014/main" id="{DB8C508C-95C4-AF60-3495-09699DD55B25}"/>
              </a:ext>
            </a:extLst>
          </p:cNvPr>
          <p:cNvSpPr txBox="1"/>
          <p:nvPr/>
        </p:nvSpPr>
        <p:spPr>
          <a:xfrm>
            <a:off x="9982200" y="3086100"/>
            <a:ext cx="787400" cy="276999"/>
          </a:xfrm>
          <a:prstGeom prst="rect">
            <a:avLst/>
          </a:prstGeom>
          <a:noFill/>
        </p:spPr>
        <p:txBody>
          <a:bodyPr vert="horz" wrap="square" lIns="0" tIns="0" rIns="0" bIns="0" rtlCol="0">
            <a:noAutofit/>
          </a:bodyPr>
          <a:lstStyle/>
          <a:p>
            <a:r>
              <a:rPr lang="en-US" altLang="zh-CN" sz="680">
                <a:solidFill>
                  <a:srgbClr val="FFFFFF"/>
                </a:solidFill>
                <a:latin typeface="Aptos" panose="020B0004020202020204" pitchFamily="34" charset="0"/>
              </a:rPr>
              <a:t>bounded claim</a:t>
            </a:r>
            <a:endParaRPr lang="zh-CN" altLang="en-US" sz="680">
              <a:solidFill>
                <a:srgbClr val="FFFFFF"/>
              </a:solidFill>
              <a:latin typeface="Aptos" panose="020B0004020202020204" pitchFamily="34" charset="0"/>
            </a:endParaRPr>
          </a:p>
        </p:txBody>
      </p:sp>
      <p:sp>
        <p:nvSpPr>
          <p:cNvPr id="31" name="question">
            <a:extLst>
              <a:ext uri="{FF2B5EF4-FFF2-40B4-BE49-F238E27FC236}">
                <a16:creationId xmlns:a16="http://schemas.microsoft.com/office/drawing/2014/main" id="{F1B59AB5-3A4E-E0BB-6229-BF0E3F9F705B}"/>
              </a:ext>
            </a:extLst>
          </p:cNvPr>
          <p:cNvSpPr/>
          <p:nvPr/>
        </p:nvSpPr>
        <p:spPr>
          <a:xfrm>
            <a:off x="2057400" y="5283200"/>
            <a:ext cx="8077200" cy="457200"/>
          </a:xfrm>
          <a:prstGeom prst="rect">
            <a:avLst/>
          </a:prstGeom>
          <a:solidFill>
            <a:srgbClr val="FFF5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question-text">
            <a:extLst>
              <a:ext uri="{FF2B5EF4-FFF2-40B4-BE49-F238E27FC236}">
                <a16:creationId xmlns:a16="http://schemas.microsoft.com/office/drawing/2014/main" id="{A5F9955E-673A-435D-7042-9730BEFE8552}"/>
              </a:ext>
            </a:extLst>
          </p:cNvPr>
          <p:cNvSpPr txBox="1"/>
          <p:nvPr/>
        </p:nvSpPr>
        <p:spPr>
          <a:xfrm>
            <a:off x="2463800" y="5422900"/>
            <a:ext cx="7289800" cy="276999"/>
          </a:xfrm>
          <a:prstGeom prst="rect">
            <a:avLst/>
          </a:prstGeom>
          <a:noFill/>
        </p:spPr>
        <p:txBody>
          <a:bodyPr vert="horz" wrap="square" lIns="0" tIns="0" rIns="0" bIns="0" rtlCol="0">
            <a:noAutofit/>
          </a:bodyPr>
          <a:lstStyle/>
          <a:p>
            <a:r>
              <a:rPr lang="en-US" altLang="zh-CN" sz="920" b="1">
                <a:solidFill>
                  <a:srgbClr val="5C3A0C"/>
                </a:solidFill>
                <a:latin typeface="Aptos" panose="020B0004020202020204" pitchFamily="34" charset="0"/>
              </a:rPr>
              <a:t>The viva question: what can still be claimed after the code has moved?</a:t>
            </a:r>
            <a:endParaRPr lang="zh-CN" altLang="en-US" sz="920" b="1">
              <a:solidFill>
                <a:srgbClr val="5C3A0C"/>
              </a:solidFill>
              <a:latin typeface="Aptos" panose="020B0004020202020204" pitchFamily="34" charset="0"/>
            </a:endParaRPr>
          </a:p>
        </p:txBody>
      </p:sp>
    </p:spTree>
    <p:extLst>
      <p:ext uri="{BB962C8B-B14F-4D97-AF65-F5344CB8AC3E}">
        <p14:creationId xmlns:p14="http://schemas.microsoft.com/office/powerpoint/2010/main" val="4658248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48513B30-C594-75E9-F70E-521DFD3005AA}"/>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5DB1B082-4B37-430D-85CA-BF67623A6B94}"/>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2F4A69D3-5647-3375-F8DD-F90B8384652E}"/>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D8823734-634D-6CF2-0107-ED847AD335E1}"/>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9D7BC23B-40B6-EC54-14F8-EC6F10D2CFC8}"/>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F26F5862-BAF1-C32E-465F-2239D4EC19C7}"/>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9C6FCEA1-0967-1600-777C-F7C6162EFD57}"/>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5E31101F-031F-93AD-2F7A-B1968BD55BA4}"/>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E448EDDE-D1F2-5D6B-C02B-8FDFFCBDCC9D}"/>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A491C81F-2F9C-0B2B-F4D5-45F2B30A3913}"/>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DF65D1FD-8AEC-666F-895D-3607A2B7DC7A}"/>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95856226-4FC0-A665-7ED1-F13AC225D7D7}"/>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E5514939-5543-5315-BECB-53719A678FC0}"/>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3AAB34D7-829A-FE68-EEB0-0F7257B039A8}"/>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5802C594-13DF-73E7-275A-AFF6D137AC56}"/>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C1EFCFF7-0935-3406-B515-67B8ADFAC00A}"/>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79DFDE3F-02CF-87A0-47C1-07F3E68D0D0B}"/>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C3C9B329-F238-DE8A-6F3E-23A674867E08}"/>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59E58225-AE28-D0E2-932C-C25B43C576DC}"/>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41FF659A-EFFD-0EA8-CA73-459C31D83EF5}"/>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50F7C5CD-3E94-96B9-AEC1-C7E25A02BA76}"/>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10E54CCE-BD2E-FACD-26E6-4FD0B6CDF381}"/>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C45B53FA-ACAF-CE22-28BF-912589EEF33A}"/>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DF5A73F6-1FCB-6977-0A4B-8578BEA9EF7B}"/>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B53511CD-D1F1-BBD6-DA44-3F40D9E885C8}"/>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5181B877-DD51-3706-1D54-19D803072564}"/>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15AC78B8-F1D1-7EDC-5E51-FA6AB0640045}"/>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21C67D39-BB4B-3996-6C80-113EB3389B3B}"/>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04</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32B3E9F0-352E-3C14-FE53-27BCFAAE5990}"/>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RESEARCH GAP</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620D8AC4-580C-B1E9-9869-C90C5E65A023}"/>
              </a:ext>
            </a:extLst>
          </p:cNvPr>
          <p:cNvSpPr txBox="1"/>
          <p:nvPr/>
        </p:nvSpPr>
        <p:spPr>
          <a:xfrm>
            <a:off x="685800" y="711200"/>
            <a:ext cx="9652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A score is not a claim until evidence is admitted</a:t>
            </a:r>
            <a:endParaRPr lang="zh-CN" altLang="en-US" sz="2700" b="1">
              <a:solidFill>
                <a:srgbClr val="FFFFFF"/>
              </a:solidFill>
              <a:latin typeface="Aptos" panose="020B0004020202020204" pitchFamily="34" charset="0"/>
            </a:endParaRPr>
          </a:p>
        </p:txBody>
      </p:sp>
      <p:cxnSp>
        <p:nvCxnSpPr>
          <p:cNvPr id="32" name="gap-rule">
            <a:extLst>
              <a:ext uri="{FF2B5EF4-FFF2-40B4-BE49-F238E27FC236}">
                <a16:creationId xmlns:a16="http://schemas.microsoft.com/office/drawing/2014/main" id="{27FD9E8A-F366-4DB0-5D36-840ACC033798}"/>
              </a:ext>
            </a:extLst>
          </p:cNvPr>
          <p:cNvCxnSpPr/>
          <p:nvPr/>
        </p:nvCxnSpPr>
        <p:spPr>
          <a:xfrm>
            <a:off x="736600" y="1447800"/>
            <a:ext cx="9931400" cy="0"/>
          </a:xfrm>
          <a:prstGeom prst="line">
            <a:avLst/>
          </a:prstGeom>
          <a:ln w="15240">
            <a:solidFill>
              <a:srgbClr val="96BEEB"/>
            </a:solidFill>
          </a:ln>
        </p:spPr>
        <p:style>
          <a:lnRef idx="1">
            <a:schemeClr val="accent1"/>
          </a:lnRef>
          <a:fillRef idx="0">
            <a:schemeClr val="accent1"/>
          </a:fillRef>
          <a:effectRef idx="0">
            <a:schemeClr val="accent1"/>
          </a:effectRef>
          <a:fontRef idx="minor">
            <a:schemeClr val="tx1"/>
          </a:fontRef>
        </p:style>
      </p:cxnSp>
      <p:sp>
        <p:nvSpPr>
          <p:cNvPr id="33" name="left-card">
            <a:extLst>
              <a:ext uri="{FF2B5EF4-FFF2-40B4-BE49-F238E27FC236}">
                <a16:creationId xmlns:a16="http://schemas.microsoft.com/office/drawing/2014/main" id="{F91D9AF8-AAD2-E463-B0B3-3314B9077490}"/>
              </a:ext>
            </a:extLst>
          </p:cNvPr>
          <p:cNvSpPr/>
          <p:nvPr/>
        </p:nvSpPr>
        <p:spPr>
          <a:xfrm>
            <a:off x="1092200" y="2235200"/>
            <a:ext cx="3429000" cy="1625600"/>
          </a:xfrm>
          <a:prstGeom prst="rect">
            <a:avLst/>
          </a:prstGeom>
          <a:solidFill>
            <a:srgbClr val="FFE6E8"/>
          </a:solidFill>
          <a:ln w="12700">
            <a:solidFill>
              <a:srgbClr val="FFAAB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left-k">
            <a:extLst>
              <a:ext uri="{FF2B5EF4-FFF2-40B4-BE49-F238E27FC236}">
                <a16:creationId xmlns:a16="http://schemas.microsoft.com/office/drawing/2014/main" id="{ABC7B8C2-063F-07FD-F298-6970708C65B9}"/>
              </a:ext>
            </a:extLst>
          </p:cNvPr>
          <p:cNvSpPr txBox="1"/>
          <p:nvPr/>
        </p:nvSpPr>
        <p:spPr>
          <a:xfrm>
            <a:off x="1422400" y="2514600"/>
            <a:ext cx="1397000" cy="276999"/>
          </a:xfrm>
          <a:prstGeom prst="rect">
            <a:avLst/>
          </a:prstGeom>
          <a:noFill/>
        </p:spPr>
        <p:txBody>
          <a:bodyPr vert="horz" wrap="square" lIns="0" tIns="0" rIns="0" bIns="0" rtlCol="0">
            <a:noAutofit/>
          </a:bodyPr>
          <a:lstStyle/>
          <a:p>
            <a:r>
              <a:rPr lang="en-US" altLang="zh-CN" sz="800" b="1">
                <a:solidFill>
                  <a:srgbClr val="C52B38"/>
                </a:solidFill>
                <a:latin typeface="Aptos" panose="020B0004020202020204" pitchFamily="34" charset="0"/>
              </a:rPr>
              <a:t>Unsafe shortcut</a:t>
            </a:r>
            <a:endParaRPr lang="zh-CN" altLang="en-US" sz="800" b="1">
              <a:solidFill>
                <a:srgbClr val="C52B38"/>
              </a:solidFill>
              <a:latin typeface="Aptos" panose="020B0004020202020204" pitchFamily="34" charset="0"/>
            </a:endParaRPr>
          </a:p>
        </p:txBody>
      </p:sp>
      <p:sp>
        <p:nvSpPr>
          <p:cNvPr id="35" name="left-main">
            <a:extLst>
              <a:ext uri="{FF2B5EF4-FFF2-40B4-BE49-F238E27FC236}">
                <a16:creationId xmlns:a16="http://schemas.microsoft.com/office/drawing/2014/main" id="{714DD937-F6BD-F05C-6304-4048210B5FC9}"/>
              </a:ext>
            </a:extLst>
          </p:cNvPr>
          <p:cNvSpPr txBox="1"/>
          <p:nvPr/>
        </p:nvSpPr>
        <p:spPr>
          <a:xfrm>
            <a:off x="1422400" y="2959100"/>
            <a:ext cx="2286000" cy="276999"/>
          </a:xfrm>
          <a:prstGeom prst="rect">
            <a:avLst/>
          </a:prstGeom>
          <a:noFill/>
        </p:spPr>
        <p:txBody>
          <a:bodyPr vert="horz" wrap="square" lIns="0" tIns="0" rIns="0" bIns="0" rtlCol="0">
            <a:noAutofit/>
          </a:bodyPr>
          <a:lstStyle/>
          <a:p>
            <a:r>
              <a:rPr lang="en-US" altLang="zh-CN" sz="2400" b="1">
                <a:solidFill>
                  <a:srgbClr val="8A202B"/>
                </a:solidFill>
                <a:latin typeface="Aptos" panose="020B0004020202020204" pitchFamily="34" charset="0"/>
              </a:rPr>
              <a:t>score is high</a:t>
            </a:r>
            <a:endParaRPr lang="zh-CN" altLang="en-US" sz="2400" b="1">
              <a:solidFill>
                <a:srgbClr val="8A202B"/>
              </a:solidFill>
              <a:latin typeface="Aptos" panose="020B0004020202020204" pitchFamily="34" charset="0"/>
            </a:endParaRPr>
          </a:p>
        </p:txBody>
      </p:sp>
      <p:cxnSp>
        <p:nvCxnSpPr>
          <p:cNvPr id="36" name="gap-arrow">
            <a:extLst>
              <a:ext uri="{FF2B5EF4-FFF2-40B4-BE49-F238E27FC236}">
                <a16:creationId xmlns:a16="http://schemas.microsoft.com/office/drawing/2014/main" id="{C59B44C2-5C2D-BD33-96C5-17E2D092C56E}"/>
              </a:ext>
            </a:extLst>
          </p:cNvPr>
          <p:cNvCxnSpPr/>
          <p:nvPr/>
        </p:nvCxnSpPr>
        <p:spPr>
          <a:xfrm>
            <a:off x="5003800" y="3048000"/>
            <a:ext cx="1295400" cy="0"/>
          </a:xfrm>
          <a:prstGeom prst="line">
            <a:avLst/>
          </a:prstGeom>
          <a:ln w="38100">
            <a:solidFill>
              <a:srgbClr val="BEDCFF"/>
            </a:solidFill>
          </a:ln>
        </p:spPr>
        <p:style>
          <a:lnRef idx="1">
            <a:schemeClr val="accent1"/>
          </a:lnRef>
          <a:fillRef idx="0">
            <a:schemeClr val="accent1"/>
          </a:fillRef>
          <a:effectRef idx="0">
            <a:schemeClr val="accent1"/>
          </a:effectRef>
          <a:fontRef idx="minor">
            <a:schemeClr val="tx1"/>
          </a:fontRef>
        </p:style>
      </p:cxnSp>
      <p:sp>
        <p:nvSpPr>
          <p:cNvPr id="37" name="right-card">
            <a:extLst>
              <a:ext uri="{FF2B5EF4-FFF2-40B4-BE49-F238E27FC236}">
                <a16:creationId xmlns:a16="http://schemas.microsoft.com/office/drawing/2014/main" id="{8EF93208-498D-9B1F-12CD-E2E9F928464F}"/>
              </a:ext>
            </a:extLst>
          </p:cNvPr>
          <p:cNvSpPr/>
          <p:nvPr/>
        </p:nvSpPr>
        <p:spPr>
          <a:xfrm>
            <a:off x="6781800" y="2108200"/>
            <a:ext cx="4165600" cy="1905000"/>
          </a:xfrm>
          <a:prstGeom prst="rect">
            <a:avLst/>
          </a:prstGeom>
          <a:solidFill>
            <a:srgbClr val="FFFFFF"/>
          </a:solidFill>
          <a:ln w="1270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right-k">
            <a:extLst>
              <a:ext uri="{FF2B5EF4-FFF2-40B4-BE49-F238E27FC236}">
                <a16:creationId xmlns:a16="http://schemas.microsoft.com/office/drawing/2014/main" id="{42BFC4E7-D46C-731D-9737-ABDF50258DF3}"/>
              </a:ext>
            </a:extLst>
          </p:cNvPr>
          <p:cNvSpPr txBox="1"/>
          <p:nvPr/>
        </p:nvSpPr>
        <p:spPr>
          <a:xfrm>
            <a:off x="7137400" y="2413000"/>
            <a:ext cx="1676400" cy="276999"/>
          </a:xfrm>
          <a:prstGeom prst="rect">
            <a:avLst/>
          </a:prstGeom>
          <a:noFill/>
        </p:spPr>
        <p:txBody>
          <a:bodyPr vert="horz" wrap="square" lIns="0" tIns="0" rIns="0" bIns="0" rtlCol="0">
            <a:noAutofit/>
          </a:bodyPr>
          <a:lstStyle/>
          <a:p>
            <a:r>
              <a:rPr lang="en-US" altLang="zh-CN" sz="800" b="1">
                <a:solidFill>
                  <a:srgbClr val="536580"/>
                </a:solidFill>
                <a:latin typeface="Aptos" panose="020B0004020202020204" pitchFamily="34" charset="0"/>
              </a:rPr>
              <a:t>Evidence contract</a:t>
            </a:r>
            <a:endParaRPr lang="zh-CN" altLang="en-US" sz="800" b="1">
              <a:solidFill>
                <a:srgbClr val="536580"/>
              </a:solidFill>
              <a:latin typeface="Aptos" panose="020B0004020202020204" pitchFamily="34" charset="0"/>
            </a:endParaRPr>
          </a:p>
        </p:txBody>
      </p:sp>
      <p:sp>
        <p:nvSpPr>
          <p:cNvPr id="39" name="right-main">
            <a:extLst>
              <a:ext uri="{FF2B5EF4-FFF2-40B4-BE49-F238E27FC236}">
                <a16:creationId xmlns:a16="http://schemas.microsoft.com/office/drawing/2014/main" id="{847C1B69-0D8E-7F00-5257-1DC777C8E3B1}"/>
              </a:ext>
            </a:extLst>
          </p:cNvPr>
          <p:cNvSpPr txBox="1"/>
          <p:nvPr/>
        </p:nvSpPr>
        <p:spPr>
          <a:xfrm>
            <a:off x="7137400" y="2844800"/>
            <a:ext cx="3175000" cy="276999"/>
          </a:xfrm>
          <a:prstGeom prst="rect">
            <a:avLst/>
          </a:prstGeom>
          <a:noFill/>
        </p:spPr>
        <p:txBody>
          <a:bodyPr vert="horz" wrap="square" lIns="0" tIns="0" rIns="0" bIns="0" rtlCol="0">
            <a:noAutofit/>
          </a:bodyPr>
          <a:lstStyle/>
          <a:p>
            <a:r>
              <a:rPr lang="en-US" altLang="zh-CN" b="1">
                <a:solidFill>
                  <a:srgbClr val="0D182C"/>
                </a:solidFill>
                <a:latin typeface="Aptos" panose="020B0004020202020204" pitchFamily="34" charset="0"/>
              </a:rPr>
              <a:t>claim = f(score, denominator, controls, artifact, boundary)</a:t>
            </a:r>
            <a:endParaRPr lang="zh-CN" altLang="en-US" b="1">
              <a:solidFill>
                <a:srgbClr val="0D182C"/>
              </a:solidFill>
              <a:latin typeface="Aptos" panose="020B0004020202020204" pitchFamily="34" charset="0"/>
            </a:endParaRPr>
          </a:p>
        </p:txBody>
      </p:sp>
      <p:sp>
        <p:nvSpPr>
          <p:cNvPr id="40" name="claim-bar">
            <a:extLst>
              <a:ext uri="{FF2B5EF4-FFF2-40B4-BE49-F238E27FC236}">
                <a16:creationId xmlns:a16="http://schemas.microsoft.com/office/drawing/2014/main" id="{1DB3F329-F8D3-B8FC-C380-776ACA83DEBD}"/>
              </a:ext>
            </a:extLst>
          </p:cNvPr>
          <p:cNvSpPr/>
          <p:nvPr/>
        </p:nvSpPr>
        <p:spPr>
          <a:xfrm>
            <a:off x="1524000" y="4851400"/>
            <a:ext cx="9144000" cy="558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claim-text">
            <a:extLst>
              <a:ext uri="{FF2B5EF4-FFF2-40B4-BE49-F238E27FC236}">
                <a16:creationId xmlns:a16="http://schemas.microsoft.com/office/drawing/2014/main" id="{2D24271D-F078-40A1-FF48-4E858DC2AE4B}"/>
              </a:ext>
            </a:extLst>
          </p:cNvPr>
          <p:cNvSpPr txBox="1"/>
          <p:nvPr/>
        </p:nvSpPr>
        <p:spPr>
          <a:xfrm>
            <a:off x="1905000" y="5041900"/>
            <a:ext cx="8382000" cy="276999"/>
          </a:xfrm>
          <a:prstGeom prst="rect">
            <a:avLst/>
          </a:prstGeom>
          <a:noFill/>
        </p:spPr>
        <p:txBody>
          <a:bodyPr vert="horz" wrap="square" lIns="0" tIns="0" rIns="0" bIns="0" rtlCol="0">
            <a:noAutofit/>
          </a:bodyPr>
          <a:lstStyle/>
          <a:p>
            <a:r>
              <a:rPr lang="en-US" altLang="zh-CN" sz="1080" b="1">
                <a:solidFill>
                  <a:srgbClr val="FFFFFF"/>
                </a:solidFill>
                <a:latin typeface="Aptos" panose="020B0004020202020204" pitchFamily="34" charset="0"/>
              </a:rPr>
              <a:t>Contribution: turn watermark evaluation into auditable evidence admission.</a:t>
            </a:r>
            <a:endParaRPr lang="zh-CN" altLang="en-US" sz="1080" b="1">
              <a:solidFill>
                <a:srgbClr val="FFFFFF"/>
              </a:solidFill>
              <a:latin typeface="Aptos" panose="020B0004020202020204" pitchFamily="34" charset="0"/>
            </a:endParaRPr>
          </a:p>
        </p:txBody>
      </p:sp>
      <p:pic>
        <p:nvPicPr>
          <p:cNvPr id="43" name="图片 42">
            <a:extLst>
              <a:ext uri="{FF2B5EF4-FFF2-40B4-BE49-F238E27FC236}">
                <a16:creationId xmlns:a16="http://schemas.microsoft.com/office/drawing/2014/main" id="{00131F36-5273-102E-7083-088C8854110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2159857896"/>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03206A9B-9816-9F70-2659-20D351CEA50D}"/>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1CF7E263-88C5-387A-767F-9D06F12C00CD}"/>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20E54E6F-5EF1-7F34-BAF7-56606CE35426}"/>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F57BC1D9-22A5-D188-59EC-87A01BE07AA6}"/>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87438515-3EED-A6A0-C56A-5002833E6ED6}"/>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8EFB7033-5113-815B-6314-88EA0B021C36}"/>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05</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142DA701-2114-368B-D6CC-9D03D57B95E3}"/>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FRAMEWORK</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E9A76EB7-EDA5-BEF6-0BCD-C7778CC6BF4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B40972DC-372A-4CD9-4DCD-BEE87B4CFE86}"/>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WatermarkScope: five questions, one contract</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3095F495-B26B-6FD3-1A9C-45C7A17D3A56}"/>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framework separates benchmark, provenance, black-box audit, owner attribution, and security triage.</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CF28ED43-13CD-4461-FEAF-E83FEF2737FF}"/>
              </a:ext>
            </a:extLst>
          </p:cNvPr>
          <p:cNvSpPr/>
          <p:nvPr/>
        </p:nvSpPr>
        <p:spPr>
          <a:xfrm>
            <a:off x="685800" y="1676400"/>
            <a:ext cx="10820400" cy="3124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framework-figure">
            <a:extLst>
              <a:ext uri="{FF2B5EF4-FFF2-40B4-BE49-F238E27FC236}">
                <a16:creationId xmlns:a16="http://schemas.microsoft.com/office/drawing/2014/main" id="{A5ACA931-8643-EC82-C79E-ADA74D01936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944305" y="1930400"/>
            <a:ext cx="6303390" cy="2590800"/>
          </a:xfrm>
          <a:prstGeom prst="rect">
            <a:avLst/>
          </a:prstGeom>
        </p:spPr>
      </p:pic>
      <p:sp>
        <p:nvSpPr>
          <p:cNvPr id="16" name="takeaway">
            <a:extLst>
              <a:ext uri="{FF2B5EF4-FFF2-40B4-BE49-F238E27FC236}">
                <a16:creationId xmlns:a16="http://schemas.microsoft.com/office/drawing/2014/main" id="{003AB74E-99E0-91BB-C451-2171D16268B3}"/>
              </a:ext>
            </a:extLst>
          </p:cNvPr>
          <p:cNvSpPr/>
          <p:nvPr/>
        </p:nvSpPr>
        <p:spPr>
          <a:xfrm>
            <a:off x="1193800" y="5257800"/>
            <a:ext cx="9804400" cy="457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akeaway-text">
            <a:extLst>
              <a:ext uri="{FF2B5EF4-FFF2-40B4-BE49-F238E27FC236}">
                <a16:creationId xmlns:a16="http://schemas.microsoft.com/office/drawing/2014/main" id="{E0763E78-1D12-4BCF-5579-A11AA1322ACE}"/>
              </a:ext>
            </a:extLst>
          </p:cNvPr>
          <p:cNvSpPr txBox="1"/>
          <p:nvPr/>
        </p:nvSpPr>
        <p:spPr>
          <a:xfrm>
            <a:off x="1574800" y="5410200"/>
            <a:ext cx="9017000" cy="276999"/>
          </a:xfrm>
          <a:prstGeom prst="rect">
            <a:avLst/>
          </a:prstGeom>
          <a:noFill/>
        </p:spPr>
        <p:txBody>
          <a:bodyPr vert="horz" wrap="square" lIns="0" tIns="0" rIns="0" bIns="0" rtlCol="0">
            <a:noAutofit/>
          </a:bodyPr>
          <a:lstStyle/>
          <a:p>
            <a:r>
              <a:rPr lang="en-US" altLang="zh-CN" sz="880" b="1">
                <a:solidFill>
                  <a:srgbClr val="FFFFFF"/>
                </a:solidFill>
                <a:latin typeface="Aptos" panose="020B0004020202020204" pitchFamily="34" charset="0"/>
              </a:rPr>
              <a:t>A broader claim needs a new admitted evidence object; it cannot borrow another stage's denominator.</a:t>
            </a:r>
            <a:endParaRPr lang="zh-CN" altLang="en-US" sz="880" b="1">
              <a:solidFill>
                <a:srgbClr val="FFFFFF"/>
              </a:solidFill>
              <a:latin typeface="Aptos" panose="020B0004020202020204" pitchFamily="34" charset="0"/>
            </a:endParaRPr>
          </a:p>
        </p:txBody>
      </p:sp>
      <p:sp>
        <p:nvSpPr>
          <p:cNvPr id="18" name="claim-link">
            <a:hlinkClick r:id="rId5"/>
            <a:extLst>
              <a:ext uri="{FF2B5EF4-FFF2-40B4-BE49-F238E27FC236}">
                <a16:creationId xmlns:a16="http://schemas.microsoft.com/office/drawing/2014/main" id="{99815090-7FB3-9AE1-9F29-4D61C85A7A94}"/>
              </a:ext>
            </a:extLst>
          </p:cNvPr>
          <p:cNvSpPr/>
          <p:nvPr/>
        </p:nvSpPr>
        <p:spPr>
          <a:xfrm>
            <a:off x="9271000" y="12192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Boundaries</a:t>
            </a:r>
            <a:endParaRPr lang="zh-CN" altLang="en-US" sz="850" b="1">
              <a:solidFill>
                <a:srgbClr val="FFFFFF"/>
              </a:solidFill>
              <a:latin typeface="Aptos" panose="020B0004020202020204" pitchFamily="34" charset="0"/>
            </a:endParaRPr>
          </a:p>
        </p:txBody>
      </p:sp>
      <p:sp>
        <p:nvSpPr>
          <p:cNvPr id="19" name="trace-link">
            <a:hlinkClick r:id="rId6"/>
            <a:extLst>
              <a:ext uri="{FF2B5EF4-FFF2-40B4-BE49-F238E27FC236}">
                <a16:creationId xmlns:a16="http://schemas.microsoft.com/office/drawing/2014/main" id="{CA4DDCBC-6979-A0D9-14C8-F6337F3E7EE6}"/>
              </a:ext>
            </a:extLst>
          </p:cNvPr>
          <p:cNvSpPr/>
          <p:nvPr/>
        </p:nvSpPr>
        <p:spPr>
          <a:xfrm>
            <a:off x="10464800" y="1219200"/>
            <a:ext cx="990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Trace</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1018726875"/>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CCF0A745-4C1E-0AF6-3370-676976002701}"/>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6EF4816F-2803-D5EE-F6F9-26868105F1CC}"/>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EF71DC84-4B83-E5FA-A465-9804EF8FA3AD}"/>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E33C3DB6-819B-1DDC-E1F4-FDAAEC490DDA}"/>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940F567C-6042-C433-1C7F-85E6CB0F7B9C}"/>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4E01A12B-83F6-BED8-2B50-72004CA55209}"/>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06</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A6A49515-C0BB-C625-85BF-56ADA4FF1EB8}"/>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METHOD</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0CA845A2-7BBC-BBC1-9599-C8B4F518BBE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2966FC0D-9C84-83FE-7B8C-321707D6763A}"/>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Evidence is frozen first; interpretation comes second</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5D6A64BC-C15C-EF38-A271-E03D81FFA18F}"/>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admission rule is intentionally conservative.</a:t>
            </a:r>
            <a:endParaRPr lang="zh-CN" altLang="en-US" sz="950">
              <a:solidFill>
                <a:srgbClr val="536580"/>
              </a:solidFill>
              <a:latin typeface="Aptos" panose="020B0004020202020204" pitchFamily="34" charset="0"/>
            </a:endParaRPr>
          </a:p>
        </p:txBody>
      </p:sp>
      <p:sp>
        <p:nvSpPr>
          <p:cNvPr id="13" name="formula">
            <a:extLst>
              <a:ext uri="{FF2B5EF4-FFF2-40B4-BE49-F238E27FC236}">
                <a16:creationId xmlns:a16="http://schemas.microsoft.com/office/drawing/2014/main" id="{A083B572-A2C3-5F52-38F0-AB4FE149180B}"/>
              </a:ext>
            </a:extLst>
          </p:cNvPr>
          <p:cNvSpPr/>
          <p:nvPr/>
        </p:nvSpPr>
        <p:spPr>
          <a:xfrm>
            <a:off x="812800" y="1841500"/>
            <a:ext cx="3556000" cy="1778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main">
            <a:extLst>
              <a:ext uri="{FF2B5EF4-FFF2-40B4-BE49-F238E27FC236}">
                <a16:creationId xmlns:a16="http://schemas.microsoft.com/office/drawing/2014/main" id="{A8ECF2EE-C15E-A13A-B145-D1D79A03DC4A}"/>
              </a:ext>
            </a:extLst>
          </p:cNvPr>
          <p:cNvSpPr txBox="1"/>
          <p:nvPr/>
        </p:nvSpPr>
        <p:spPr>
          <a:xfrm>
            <a:off x="1168400" y="2260600"/>
            <a:ext cx="2819400" cy="276999"/>
          </a:xfrm>
          <a:prstGeom prst="rect">
            <a:avLst/>
          </a:prstGeom>
          <a:noFill/>
        </p:spPr>
        <p:txBody>
          <a:bodyPr vert="horz" wrap="square" lIns="0" tIns="0" rIns="0" bIns="0" rtlCol="0">
            <a:noAutofit/>
          </a:bodyPr>
          <a:lstStyle/>
          <a:p>
            <a:r>
              <a:rPr lang="pt-BR" altLang="zh-CN" sz="2200" b="1">
                <a:solidFill>
                  <a:srgbClr val="FFFFFF"/>
                </a:solidFill>
                <a:latin typeface="Consolas" panose="020B0609020204030204" pitchFamily="49" charset="0"/>
              </a:rPr>
              <a:t>E = &lt;D, C, A, H, B&gt;</a:t>
            </a:r>
            <a:endParaRPr lang="zh-CN" altLang="en-US" sz="2200" b="1">
              <a:solidFill>
                <a:srgbClr val="FFFFFF"/>
              </a:solidFill>
              <a:latin typeface="Consolas" panose="020B0609020204030204" pitchFamily="49" charset="0"/>
            </a:endParaRPr>
          </a:p>
        </p:txBody>
      </p:sp>
      <p:sp>
        <p:nvSpPr>
          <p:cNvPr id="15" name="formula-sub">
            <a:extLst>
              <a:ext uri="{FF2B5EF4-FFF2-40B4-BE49-F238E27FC236}">
                <a16:creationId xmlns:a16="http://schemas.microsoft.com/office/drawing/2014/main" id="{B44B1CAA-94B9-91AF-F195-008D82169401}"/>
              </a:ext>
            </a:extLst>
          </p:cNvPr>
          <p:cNvSpPr txBox="1"/>
          <p:nvPr/>
        </p:nvSpPr>
        <p:spPr>
          <a:xfrm>
            <a:off x="1168400" y="2946400"/>
            <a:ext cx="2692400" cy="276999"/>
          </a:xfrm>
          <a:prstGeom prst="rect">
            <a:avLst/>
          </a:prstGeom>
          <a:noFill/>
        </p:spPr>
        <p:txBody>
          <a:bodyPr vert="horz" wrap="square" lIns="0" tIns="0" rIns="0" bIns="0" rtlCol="0">
            <a:noAutofit/>
          </a:bodyPr>
          <a:lstStyle/>
          <a:p>
            <a:r>
              <a:rPr lang="en-US" altLang="zh-CN" sz="800">
                <a:solidFill>
                  <a:srgbClr val="CEE2F8"/>
                </a:solidFill>
                <a:latin typeface="Aptos" panose="020B0004020202020204" pitchFamily="34" charset="0"/>
              </a:rPr>
              <a:t>denominator, controls, artifact, hash, boundary</a:t>
            </a:r>
            <a:endParaRPr lang="zh-CN" altLang="en-US" sz="800">
              <a:solidFill>
                <a:srgbClr val="CEE2F8"/>
              </a:solidFill>
              <a:latin typeface="Aptos" panose="020B0004020202020204" pitchFamily="34" charset="0"/>
            </a:endParaRPr>
          </a:p>
        </p:txBody>
      </p:sp>
      <p:sp>
        <p:nvSpPr>
          <p:cNvPr id="16" name="fig-frame">
            <a:extLst>
              <a:ext uri="{FF2B5EF4-FFF2-40B4-BE49-F238E27FC236}">
                <a16:creationId xmlns:a16="http://schemas.microsoft.com/office/drawing/2014/main" id="{EC26C0D1-FD76-A5E0-2394-C195C28B5F27}"/>
              </a:ext>
            </a:extLst>
          </p:cNvPr>
          <p:cNvSpPr/>
          <p:nvPr/>
        </p:nvSpPr>
        <p:spPr>
          <a:xfrm>
            <a:off x="4953000" y="1676400"/>
            <a:ext cx="6045200" cy="2413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contract-stack">
            <a:extLst>
              <a:ext uri="{FF2B5EF4-FFF2-40B4-BE49-F238E27FC236}">
                <a16:creationId xmlns:a16="http://schemas.microsoft.com/office/drawing/2014/main" id="{F444913F-7A3A-A7A4-B822-0E83CBC6C52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703083" y="1930400"/>
            <a:ext cx="4545034" cy="1905000"/>
          </a:xfrm>
          <a:prstGeom prst="rect">
            <a:avLst/>
          </a:prstGeom>
        </p:spPr>
      </p:pic>
      <p:sp>
        <p:nvSpPr>
          <p:cNvPr id="19" name="gate-0">
            <a:extLst>
              <a:ext uri="{FF2B5EF4-FFF2-40B4-BE49-F238E27FC236}">
                <a16:creationId xmlns:a16="http://schemas.microsoft.com/office/drawing/2014/main" id="{A93C3065-244F-B348-0680-16B1C3A83E7F}"/>
              </a:ext>
            </a:extLst>
          </p:cNvPr>
          <p:cNvSpPr/>
          <p:nvPr/>
        </p:nvSpPr>
        <p:spPr>
          <a:xfrm>
            <a:off x="9144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gate-band-0">
            <a:extLst>
              <a:ext uri="{FF2B5EF4-FFF2-40B4-BE49-F238E27FC236}">
                <a16:creationId xmlns:a16="http://schemas.microsoft.com/office/drawing/2014/main" id="{4C0990BE-09FB-9ED5-99EC-B581A0964DAC}"/>
              </a:ext>
            </a:extLst>
          </p:cNvPr>
          <p:cNvSpPr/>
          <p:nvPr/>
        </p:nvSpPr>
        <p:spPr>
          <a:xfrm>
            <a:off x="914400" y="4749800"/>
            <a:ext cx="76200" cy="6604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gate-title-0">
            <a:extLst>
              <a:ext uri="{FF2B5EF4-FFF2-40B4-BE49-F238E27FC236}">
                <a16:creationId xmlns:a16="http://schemas.microsoft.com/office/drawing/2014/main" id="{E4A8C44B-8260-C830-053A-F2984351ACDF}"/>
              </a:ext>
            </a:extLst>
          </p:cNvPr>
          <p:cNvSpPr txBox="1"/>
          <p:nvPr/>
        </p:nvSpPr>
        <p:spPr>
          <a:xfrm>
            <a:off x="11684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Freeze D</a:t>
            </a:r>
            <a:endParaRPr lang="zh-CN" altLang="en-US" sz="900" b="1">
              <a:solidFill>
                <a:srgbClr val="0D182C"/>
              </a:solidFill>
              <a:latin typeface="Aptos" panose="020B0004020202020204" pitchFamily="34" charset="0"/>
            </a:endParaRPr>
          </a:p>
        </p:txBody>
      </p:sp>
      <p:sp>
        <p:nvSpPr>
          <p:cNvPr id="22" name="gate-sub-0">
            <a:extLst>
              <a:ext uri="{FF2B5EF4-FFF2-40B4-BE49-F238E27FC236}">
                <a16:creationId xmlns:a16="http://schemas.microsoft.com/office/drawing/2014/main" id="{1537D93A-4DE1-8C40-D433-8A05A0B7A581}"/>
              </a:ext>
            </a:extLst>
          </p:cNvPr>
          <p:cNvSpPr txBox="1"/>
          <p:nvPr/>
        </p:nvSpPr>
        <p:spPr>
          <a:xfrm>
            <a:off x="11684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no denominator drift</a:t>
            </a:r>
            <a:endParaRPr lang="zh-CN" altLang="en-US" sz="720">
              <a:solidFill>
                <a:srgbClr val="536580"/>
              </a:solidFill>
              <a:latin typeface="Aptos" panose="020B0004020202020204" pitchFamily="34" charset="0"/>
            </a:endParaRPr>
          </a:p>
        </p:txBody>
      </p:sp>
      <p:sp>
        <p:nvSpPr>
          <p:cNvPr id="23" name="gate-1">
            <a:extLst>
              <a:ext uri="{FF2B5EF4-FFF2-40B4-BE49-F238E27FC236}">
                <a16:creationId xmlns:a16="http://schemas.microsoft.com/office/drawing/2014/main" id="{2F906E98-B2D5-B105-454C-B8CDA33A49BD}"/>
              </a:ext>
            </a:extLst>
          </p:cNvPr>
          <p:cNvSpPr/>
          <p:nvPr/>
        </p:nvSpPr>
        <p:spPr>
          <a:xfrm>
            <a:off x="36322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gate-band-1">
            <a:extLst>
              <a:ext uri="{FF2B5EF4-FFF2-40B4-BE49-F238E27FC236}">
                <a16:creationId xmlns:a16="http://schemas.microsoft.com/office/drawing/2014/main" id="{13EC59A6-9274-0089-0969-F1A9428ACDDB}"/>
              </a:ext>
            </a:extLst>
          </p:cNvPr>
          <p:cNvSpPr/>
          <p:nvPr/>
        </p:nvSpPr>
        <p:spPr>
          <a:xfrm>
            <a:off x="3632200" y="4749800"/>
            <a:ext cx="76200" cy="6604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gate-title-1">
            <a:extLst>
              <a:ext uri="{FF2B5EF4-FFF2-40B4-BE49-F238E27FC236}">
                <a16:creationId xmlns:a16="http://schemas.microsoft.com/office/drawing/2014/main" id="{FCA07540-15CF-5BCB-EA81-570B29DB6AF1}"/>
              </a:ext>
            </a:extLst>
          </p:cNvPr>
          <p:cNvSpPr txBox="1"/>
          <p:nvPr/>
        </p:nvSpPr>
        <p:spPr>
          <a:xfrm>
            <a:off x="38862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Verify C</a:t>
            </a:r>
            <a:endParaRPr lang="zh-CN" altLang="en-US" sz="900" b="1">
              <a:solidFill>
                <a:srgbClr val="0D182C"/>
              </a:solidFill>
              <a:latin typeface="Aptos" panose="020B0004020202020204" pitchFamily="34" charset="0"/>
            </a:endParaRPr>
          </a:p>
        </p:txBody>
      </p:sp>
      <p:sp>
        <p:nvSpPr>
          <p:cNvPr id="26" name="gate-sub-1">
            <a:extLst>
              <a:ext uri="{FF2B5EF4-FFF2-40B4-BE49-F238E27FC236}">
                <a16:creationId xmlns:a16="http://schemas.microsoft.com/office/drawing/2014/main" id="{03B47D24-D0D6-A312-469C-1952FE11DE6D}"/>
              </a:ext>
            </a:extLst>
          </p:cNvPr>
          <p:cNvSpPr txBox="1"/>
          <p:nvPr/>
        </p:nvSpPr>
        <p:spPr>
          <a:xfrm>
            <a:off x="38862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controls before outcome</a:t>
            </a:r>
            <a:endParaRPr lang="zh-CN" altLang="en-US" sz="720">
              <a:solidFill>
                <a:srgbClr val="536580"/>
              </a:solidFill>
              <a:latin typeface="Aptos" panose="020B0004020202020204" pitchFamily="34" charset="0"/>
            </a:endParaRPr>
          </a:p>
        </p:txBody>
      </p:sp>
      <p:sp>
        <p:nvSpPr>
          <p:cNvPr id="27" name="gate-2">
            <a:extLst>
              <a:ext uri="{FF2B5EF4-FFF2-40B4-BE49-F238E27FC236}">
                <a16:creationId xmlns:a16="http://schemas.microsoft.com/office/drawing/2014/main" id="{12135765-8C45-798A-4056-888A6489C435}"/>
              </a:ext>
            </a:extLst>
          </p:cNvPr>
          <p:cNvSpPr/>
          <p:nvPr/>
        </p:nvSpPr>
        <p:spPr>
          <a:xfrm>
            <a:off x="63500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gate-band-2">
            <a:extLst>
              <a:ext uri="{FF2B5EF4-FFF2-40B4-BE49-F238E27FC236}">
                <a16:creationId xmlns:a16="http://schemas.microsoft.com/office/drawing/2014/main" id="{0EC539DF-7446-3EAC-4AFA-3CFE97B44599}"/>
              </a:ext>
            </a:extLst>
          </p:cNvPr>
          <p:cNvSpPr/>
          <p:nvPr/>
        </p:nvSpPr>
        <p:spPr>
          <a:xfrm>
            <a:off x="6350000" y="4749800"/>
            <a:ext cx="76200" cy="6604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gate-title-2">
            <a:extLst>
              <a:ext uri="{FF2B5EF4-FFF2-40B4-BE49-F238E27FC236}">
                <a16:creationId xmlns:a16="http://schemas.microsoft.com/office/drawing/2014/main" id="{FE0BE3B8-AD54-C06F-75E7-47639F8ECBF1}"/>
              </a:ext>
            </a:extLst>
          </p:cNvPr>
          <p:cNvSpPr txBox="1"/>
          <p:nvPr/>
        </p:nvSpPr>
        <p:spPr>
          <a:xfrm>
            <a:off x="66040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Bind A/H</a:t>
            </a:r>
            <a:endParaRPr lang="zh-CN" altLang="en-US" sz="900" b="1">
              <a:solidFill>
                <a:srgbClr val="0D182C"/>
              </a:solidFill>
              <a:latin typeface="Aptos" panose="020B0004020202020204" pitchFamily="34" charset="0"/>
            </a:endParaRPr>
          </a:p>
        </p:txBody>
      </p:sp>
      <p:sp>
        <p:nvSpPr>
          <p:cNvPr id="30" name="gate-sub-2">
            <a:extLst>
              <a:ext uri="{FF2B5EF4-FFF2-40B4-BE49-F238E27FC236}">
                <a16:creationId xmlns:a16="http://schemas.microsoft.com/office/drawing/2014/main" id="{3A793155-4579-22BC-E573-E38A6D1C00B3}"/>
              </a:ext>
            </a:extLst>
          </p:cNvPr>
          <p:cNvSpPr txBox="1"/>
          <p:nvPr/>
        </p:nvSpPr>
        <p:spPr>
          <a:xfrm>
            <a:off x="66040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artifact plus hash</a:t>
            </a:r>
            <a:endParaRPr lang="zh-CN" altLang="en-US" sz="720">
              <a:solidFill>
                <a:srgbClr val="536580"/>
              </a:solidFill>
              <a:latin typeface="Aptos" panose="020B0004020202020204" pitchFamily="34" charset="0"/>
            </a:endParaRPr>
          </a:p>
        </p:txBody>
      </p:sp>
      <p:sp>
        <p:nvSpPr>
          <p:cNvPr id="31" name="gate-3">
            <a:extLst>
              <a:ext uri="{FF2B5EF4-FFF2-40B4-BE49-F238E27FC236}">
                <a16:creationId xmlns:a16="http://schemas.microsoft.com/office/drawing/2014/main" id="{FDBD67A1-CB69-E5C2-9BC5-D25965A86CBA}"/>
              </a:ext>
            </a:extLst>
          </p:cNvPr>
          <p:cNvSpPr/>
          <p:nvPr/>
        </p:nvSpPr>
        <p:spPr>
          <a:xfrm>
            <a:off x="9067800" y="4749800"/>
            <a:ext cx="2235200" cy="660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gate-band-3">
            <a:extLst>
              <a:ext uri="{FF2B5EF4-FFF2-40B4-BE49-F238E27FC236}">
                <a16:creationId xmlns:a16="http://schemas.microsoft.com/office/drawing/2014/main" id="{E3D24DD4-636E-3ED8-69C1-8401DAC8DBF3}"/>
              </a:ext>
            </a:extLst>
          </p:cNvPr>
          <p:cNvSpPr/>
          <p:nvPr/>
        </p:nvSpPr>
        <p:spPr>
          <a:xfrm>
            <a:off x="9067800" y="4749800"/>
            <a:ext cx="76200" cy="6604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gate-title-3">
            <a:extLst>
              <a:ext uri="{FF2B5EF4-FFF2-40B4-BE49-F238E27FC236}">
                <a16:creationId xmlns:a16="http://schemas.microsoft.com/office/drawing/2014/main" id="{14E44798-0782-2A23-8CB2-C219DA4E2082}"/>
              </a:ext>
            </a:extLst>
          </p:cNvPr>
          <p:cNvSpPr txBox="1"/>
          <p:nvPr/>
        </p:nvSpPr>
        <p:spPr>
          <a:xfrm>
            <a:off x="9321800" y="4902200"/>
            <a:ext cx="1625600" cy="276999"/>
          </a:xfrm>
          <a:prstGeom prst="rect">
            <a:avLst/>
          </a:prstGeom>
          <a:noFill/>
        </p:spPr>
        <p:txBody>
          <a:bodyPr vert="horz" wrap="square" lIns="0" tIns="0" rIns="0" bIns="0" rtlCol="0">
            <a:noAutofit/>
          </a:bodyPr>
          <a:lstStyle/>
          <a:p>
            <a:r>
              <a:rPr lang="en-US" altLang="zh-CN" sz="900" b="1">
                <a:solidFill>
                  <a:srgbClr val="0D182C"/>
                </a:solidFill>
                <a:latin typeface="Aptos" panose="020B0004020202020204" pitchFamily="34" charset="0"/>
              </a:rPr>
              <a:t>State B</a:t>
            </a:r>
            <a:endParaRPr lang="zh-CN" altLang="en-US" sz="900" b="1">
              <a:solidFill>
                <a:srgbClr val="0D182C"/>
              </a:solidFill>
              <a:latin typeface="Aptos" panose="020B0004020202020204" pitchFamily="34" charset="0"/>
            </a:endParaRPr>
          </a:p>
        </p:txBody>
      </p:sp>
      <p:sp>
        <p:nvSpPr>
          <p:cNvPr id="34" name="gate-sub-3">
            <a:extLst>
              <a:ext uri="{FF2B5EF4-FFF2-40B4-BE49-F238E27FC236}">
                <a16:creationId xmlns:a16="http://schemas.microsoft.com/office/drawing/2014/main" id="{CAFD38AC-7212-BB8C-6B60-2A1F6B3DB60F}"/>
              </a:ext>
            </a:extLst>
          </p:cNvPr>
          <p:cNvSpPr txBox="1"/>
          <p:nvPr/>
        </p:nvSpPr>
        <p:spPr>
          <a:xfrm>
            <a:off x="9321800" y="5168900"/>
            <a:ext cx="16764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explicit boundary</a:t>
            </a:r>
            <a:endParaRPr lang="zh-CN" altLang="en-US" sz="720">
              <a:solidFill>
                <a:srgbClr val="536580"/>
              </a:solidFill>
              <a:latin typeface="Aptos" panose="020B0004020202020204" pitchFamily="34" charset="0"/>
            </a:endParaRPr>
          </a:p>
        </p:txBody>
      </p:sp>
    </p:spTree>
    <p:extLst>
      <p:ext uri="{BB962C8B-B14F-4D97-AF65-F5344CB8AC3E}">
        <p14:creationId xmlns:p14="http://schemas.microsoft.com/office/powerpoint/2010/main" val="62838393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5739FF5B-3613-1F68-D937-76306FB7D2C9}"/>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F48517D9-5575-1FE3-CA0A-8304C7792277}"/>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01E50D38-AE3C-778B-2F5D-81B52030BD51}"/>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9C492DEE-9C64-08C9-9988-FA5C26886524}"/>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15AFE37F-9345-48A4-5E51-C4BBD7F689AD}"/>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7838245A-9BD2-0543-FB8D-E646A4093167}"/>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FEA306C5-E449-4749-7FC3-82CE5F4164D4}"/>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7220BB88-5772-B250-8279-72D44BCCB1C7}"/>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F456E44B-921A-E290-8D89-9878FD455B8B}"/>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9560C7C3-2777-8F98-65EE-970A6D60F0C6}"/>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6C9D99F1-B566-6A12-DCFA-2E4B0034AFFE}"/>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A357E17B-505E-E0A7-5CDB-A0D451DF7D60}"/>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D99B0BFA-C18F-5B74-7D8C-B24A40D7AE66}"/>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AA77DE56-77D3-66CD-7DD1-C11A45A648E2}"/>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9E5A7A3F-8893-B685-35C5-1CD821D79959}"/>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057F7E01-BAC9-8E52-BB55-81950EE877D0}"/>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49237FA4-4CBD-674C-716F-948F02631CC8}"/>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25E2A00E-B846-C05A-3505-9A14D1C861FB}"/>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390033CC-5196-F325-AE13-FDB0D1A280E8}"/>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51638600-B0F3-261B-DD5D-AB4EFA520A34}"/>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2F3D61F4-730A-F833-AD96-83647C26D2CE}"/>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47173AE8-EEAF-6267-A3C5-8597F3F23410}"/>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A2AC87CA-017A-AAC8-CCDE-7EE18BF98536}"/>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512F8694-48B4-C17D-B73C-B9E63856E881}"/>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81A300D7-73EC-0B31-5C9D-6302075FBFFB}"/>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D34AD4E1-B4F0-2099-3D8D-FFC87BB18DCA}"/>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98B42FDB-4EC4-0AD7-02C6-841838016D94}"/>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49567506-3DC9-1F15-0EE2-EE34646E5B85}"/>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07</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AFB400D8-0905-05B0-551A-147942C2212A}"/>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RESULTS</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ECFCE90F-E918-96D7-8EA8-93A2B67BD581}"/>
              </a:ext>
            </a:extLst>
          </p:cNvPr>
          <p:cNvSpPr txBox="1"/>
          <p:nvPr/>
        </p:nvSpPr>
        <p:spPr>
          <a:xfrm>
            <a:off x="685800" y="635000"/>
            <a:ext cx="9906000" cy="276999"/>
          </a:xfrm>
          <a:prstGeom prst="rect">
            <a:avLst/>
          </a:prstGeom>
          <a:noFill/>
        </p:spPr>
        <p:txBody>
          <a:bodyPr vert="horz" wrap="square" lIns="0" tIns="0" rIns="0" bIns="0" rtlCol="0">
            <a:noAutofit/>
          </a:bodyPr>
          <a:lstStyle/>
          <a:p>
            <a:r>
              <a:rPr lang="en-US" altLang="zh-CN" sz="2800" b="1">
                <a:solidFill>
                  <a:srgbClr val="FFFFFF"/>
                </a:solidFill>
                <a:latin typeface="Aptos" panose="020B0004020202020204" pitchFamily="34" charset="0"/>
              </a:rPr>
              <a:t>Submitted FYP evidence surface</a:t>
            </a:r>
            <a:endParaRPr lang="zh-CN" altLang="en-US" sz="28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618AF016-16B9-FC93-0D8E-19FDE8F9A6DD}"/>
              </a:ext>
            </a:extLst>
          </p:cNvPr>
          <p:cNvSpPr txBox="1"/>
          <p:nvPr/>
        </p:nvSpPr>
        <p:spPr>
          <a:xfrm>
            <a:off x="736600" y="1219200"/>
            <a:ext cx="9652000" cy="276999"/>
          </a:xfrm>
          <a:prstGeom prst="rect">
            <a:avLst/>
          </a:prstGeom>
          <a:noFill/>
        </p:spPr>
        <p:txBody>
          <a:bodyPr vert="horz" wrap="square" lIns="0" tIns="0" rIns="0" bIns="0" rtlCol="0">
            <a:noAutofit/>
          </a:bodyPr>
          <a:lstStyle/>
          <a:p>
            <a:r>
              <a:rPr lang="en-US" altLang="zh-CN" sz="980">
                <a:solidFill>
                  <a:srgbClr val="CDE1F8"/>
                </a:solidFill>
                <a:latin typeface="Aptos" panose="020B0004020202020204" pitchFamily="34" charset="0"/>
              </a:rPr>
              <a:t>The headline results are useful because every number carries its denominator and boundary.</a:t>
            </a:r>
            <a:endParaRPr lang="zh-CN" altLang="en-US" sz="980">
              <a:solidFill>
                <a:srgbClr val="CDE1F8"/>
              </a:solidFill>
              <a:latin typeface="Aptos" panose="020B0004020202020204" pitchFamily="34" charset="0"/>
            </a:endParaRPr>
          </a:p>
        </p:txBody>
      </p:sp>
      <p:sp>
        <p:nvSpPr>
          <p:cNvPr id="33" name="metric-0">
            <a:extLst>
              <a:ext uri="{FF2B5EF4-FFF2-40B4-BE49-F238E27FC236}">
                <a16:creationId xmlns:a16="http://schemas.microsoft.com/office/drawing/2014/main" id="{4D628684-1396-44F5-F0AB-98F7AA68D9C7}"/>
              </a:ext>
            </a:extLst>
          </p:cNvPr>
          <p:cNvSpPr/>
          <p:nvPr/>
        </p:nvSpPr>
        <p:spPr>
          <a:xfrm>
            <a:off x="685800" y="1854200"/>
            <a:ext cx="1981200" cy="20828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metric-band-0">
            <a:extLst>
              <a:ext uri="{FF2B5EF4-FFF2-40B4-BE49-F238E27FC236}">
                <a16:creationId xmlns:a16="http://schemas.microsoft.com/office/drawing/2014/main" id="{DD2F4EF6-9592-54C2-E0D7-A2E2BF9AC187}"/>
              </a:ext>
            </a:extLst>
          </p:cNvPr>
          <p:cNvSpPr/>
          <p:nvPr/>
        </p:nvSpPr>
        <p:spPr>
          <a:xfrm>
            <a:off x="685800" y="1854200"/>
            <a:ext cx="1981200" cy="889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metric-label-0">
            <a:extLst>
              <a:ext uri="{FF2B5EF4-FFF2-40B4-BE49-F238E27FC236}">
                <a16:creationId xmlns:a16="http://schemas.microsoft.com/office/drawing/2014/main" id="{C4A78281-21E5-09E8-97E1-392B121D2572}"/>
              </a:ext>
            </a:extLst>
          </p:cNvPr>
          <p:cNvSpPr txBox="1"/>
          <p:nvPr/>
        </p:nvSpPr>
        <p:spPr>
          <a:xfrm>
            <a:off x="914400" y="2235200"/>
            <a:ext cx="14986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Benchmark</a:t>
            </a:r>
            <a:endParaRPr lang="zh-CN" altLang="en-US" sz="800" b="1">
              <a:solidFill>
                <a:srgbClr val="BCD6F4"/>
              </a:solidFill>
              <a:latin typeface="Aptos" panose="020B0004020202020204" pitchFamily="34" charset="0"/>
            </a:endParaRPr>
          </a:p>
        </p:txBody>
      </p:sp>
      <p:sp>
        <p:nvSpPr>
          <p:cNvPr id="36" name="metric-value-0">
            <a:extLst>
              <a:ext uri="{FF2B5EF4-FFF2-40B4-BE49-F238E27FC236}">
                <a16:creationId xmlns:a16="http://schemas.microsoft.com/office/drawing/2014/main" id="{5455325B-3558-711D-71D8-91058FF53B61}"/>
              </a:ext>
            </a:extLst>
          </p:cNvPr>
          <p:cNvSpPr txBox="1"/>
          <p:nvPr/>
        </p:nvSpPr>
        <p:spPr>
          <a:xfrm>
            <a:off x="914400" y="2794000"/>
            <a:ext cx="1625600" cy="276999"/>
          </a:xfrm>
          <a:prstGeom prst="rect">
            <a:avLst/>
          </a:prstGeom>
          <a:noFill/>
        </p:spPr>
        <p:txBody>
          <a:bodyPr vert="horz" wrap="square" lIns="0" tIns="0" rIns="0" bIns="0" rtlCol="0">
            <a:noAutofit/>
          </a:bodyPr>
          <a:lstStyle/>
          <a:p>
            <a:r>
              <a:rPr lang="en-US" altLang="zh-CN" sz="1950" b="1">
                <a:solidFill>
                  <a:srgbClr val="FFFFFF"/>
                </a:solidFill>
                <a:latin typeface="Aptos" panose="020B0004020202020204" pitchFamily="34" charset="0"/>
              </a:rPr>
              <a:t>140/140</a:t>
            </a:r>
            <a:endParaRPr lang="zh-CN" altLang="en-US" sz="1950" b="1">
              <a:solidFill>
                <a:srgbClr val="FFFFFF"/>
              </a:solidFill>
              <a:latin typeface="Aptos" panose="020B0004020202020204" pitchFamily="34" charset="0"/>
            </a:endParaRPr>
          </a:p>
        </p:txBody>
      </p:sp>
      <p:sp>
        <p:nvSpPr>
          <p:cNvPr id="37" name="metric-note-0">
            <a:extLst>
              <a:ext uri="{FF2B5EF4-FFF2-40B4-BE49-F238E27FC236}">
                <a16:creationId xmlns:a16="http://schemas.microsoft.com/office/drawing/2014/main" id="{3D62B0EE-4103-A521-EEA8-D9DCB40A108F}"/>
              </a:ext>
            </a:extLst>
          </p:cNvPr>
          <p:cNvSpPr txBox="1"/>
          <p:nvPr/>
        </p:nvSpPr>
        <p:spPr>
          <a:xfrm>
            <a:off x="914400" y="3429000"/>
            <a:ext cx="14986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canonical runs</a:t>
            </a:r>
            <a:endParaRPr lang="zh-CN" altLang="en-US" sz="720">
              <a:solidFill>
                <a:srgbClr val="C4DAF6"/>
              </a:solidFill>
              <a:latin typeface="Aptos" panose="020B0004020202020204" pitchFamily="34" charset="0"/>
            </a:endParaRPr>
          </a:p>
        </p:txBody>
      </p:sp>
      <p:sp>
        <p:nvSpPr>
          <p:cNvPr id="38" name="metric-1">
            <a:extLst>
              <a:ext uri="{FF2B5EF4-FFF2-40B4-BE49-F238E27FC236}">
                <a16:creationId xmlns:a16="http://schemas.microsoft.com/office/drawing/2014/main" id="{8E2B163B-7491-F246-9828-88DCBBB6C114}"/>
              </a:ext>
            </a:extLst>
          </p:cNvPr>
          <p:cNvSpPr/>
          <p:nvPr/>
        </p:nvSpPr>
        <p:spPr>
          <a:xfrm>
            <a:off x="2921000" y="1854200"/>
            <a:ext cx="1981200" cy="20828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metric-band-1">
            <a:extLst>
              <a:ext uri="{FF2B5EF4-FFF2-40B4-BE49-F238E27FC236}">
                <a16:creationId xmlns:a16="http://schemas.microsoft.com/office/drawing/2014/main" id="{F34C2B1C-48E1-3314-24B1-65CC359E42FD}"/>
              </a:ext>
            </a:extLst>
          </p:cNvPr>
          <p:cNvSpPr/>
          <p:nvPr/>
        </p:nvSpPr>
        <p:spPr>
          <a:xfrm>
            <a:off x="2921000" y="1854200"/>
            <a:ext cx="1981200" cy="889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metric-label-1">
            <a:extLst>
              <a:ext uri="{FF2B5EF4-FFF2-40B4-BE49-F238E27FC236}">
                <a16:creationId xmlns:a16="http://schemas.microsoft.com/office/drawing/2014/main" id="{7AA24871-758D-9D24-DAE2-4944E247F97E}"/>
              </a:ext>
            </a:extLst>
          </p:cNvPr>
          <p:cNvSpPr txBox="1"/>
          <p:nvPr/>
        </p:nvSpPr>
        <p:spPr>
          <a:xfrm>
            <a:off x="3149600" y="2235200"/>
            <a:ext cx="14986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Provenance</a:t>
            </a:r>
            <a:endParaRPr lang="zh-CN" altLang="en-US" sz="800" b="1">
              <a:solidFill>
                <a:srgbClr val="BCD6F4"/>
              </a:solidFill>
              <a:latin typeface="Aptos" panose="020B0004020202020204" pitchFamily="34" charset="0"/>
            </a:endParaRPr>
          </a:p>
        </p:txBody>
      </p:sp>
      <p:sp>
        <p:nvSpPr>
          <p:cNvPr id="41" name="metric-value-1">
            <a:extLst>
              <a:ext uri="{FF2B5EF4-FFF2-40B4-BE49-F238E27FC236}">
                <a16:creationId xmlns:a16="http://schemas.microsoft.com/office/drawing/2014/main" id="{4E299BA1-154C-DDD2-6051-CB4F83D7A39F}"/>
              </a:ext>
            </a:extLst>
          </p:cNvPr>
          <p:cNvSpPr txBox="1"/>
          <p:nvPr/>
        </p:nvSpPr>
        <p:spPr>
          <a:xfrm>
            <a:off x="3149600" y="2794000"/>
            <a:ext cx="1625600" cy="276999"/>
          </a:xfrm>
          <a:prstGeom prst="rect">
            <a:avLst/>
          </a:prstGeom>
          <a:noFill/>
        </p:spPr>
        <p:txBody>
          <a:bodyPr vert="horz" wrap="square" lIns="0" tIns="0" rIns="0" bIns="0" rtlCol="0">
            <a:noAutofit/>
          </a:bodyPr>
          <a:lstStyle/>
          <a:p>
            <a:r>
              <a:rPr lang="en-US" altLang="zh-CN" sz="1950" b="1">
                <a:solidFill>
                  <a:srgbClr val="FFFFFF"/>
                </a:solidFill>
                <a:latin typeface="Aptos" panose="020B0004020202020204" pitchFamily="34" charset="0"/>
              </a:rPr>
              <a:t>23,342/24,000</a:t>
            </a:r>
            <a:endParaRPr lang="zh-CN" altLang="en-US" sz="1950" b="1">
              <a:solidFill>
                <a:srgbClr val="FFFFFF"/>
              </a:solidFill>
              <a:latin typeface="Aptos" panose="020B0004020202020204" pitchFamily="34" charset="0"/>
            </a:endParaRPr>
          </a:p>
        </p:txBody>
      </p:sp>
      <p:sp>
        <p:nvSpPr>
          <p:cNvPr id="42" name="metric-note-1">
            <a:extLst>
              <a:ext uri="{FF2B5EF4-FFF2-40B4-BE49-F238E27FC236}">
                <a16:creationId xmlns:a16="http://schemas.microsoft.com/office/drawing/2014/main" id="{5F7B7918-4823-DEB1-83DB-B897735688FC}"/>
              </a:ext>
            </a:extLst>
          </p:cNvPr>
          <p:cNvSpPr txBox="1"/>
          <p:nvPr/>
        </p:nvSpPr>
        <p:spPr>
          <a:xfrm>
            <a:off x="3149600" y="3429000"/>
            <a:ext cx="14986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0/48,000 controls</a:t>
            </a:r>
            <a:endParaRPr lang="zh-CN" altLang="en-US" sz="720">
              <a:solidFill>
                <a:srgbClr val="C4DAF6"/>
              </a:solidFill>
              <a:latin typeface="Aptos" panose="020B0004020202020204" pitchFamily="34" charset="0"/>
            </a:endParaRPr>
          </a:p>
        </p:txBody>
      </p:sp>
      <p:sp>
        <p:nvSpPr>
          <p:cNvPr id="43" name="metric-2">
            <a:extLst>
              <a:ext uri="{FF2B5EF4-FFF2-40B4-BE49-F238E27FC236}">
                <a16:creationId xmlns:a16="http://schemas.microsoft.com/office/drawing/2014/main" id="{7A0074D8-74C7-4593-1534-05773DD7E61D}"/>
              </a:ext>
            </a:extLst>
          </p:cNvPr>
          <p:cNvSpPr/>
          <p:nvPr/>
        </p:nvSpPr>
        <p:spPr>
          <a:xfrm>
            <a:off x="5156200" y="1854200"/>
            <a:ext cx="1981200" cy="20828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metric-band-2">
            <a:extLst>
              <a:ext uri="{FF2B5EF4-FFF2-40B4-BE49-F238E27FC236}">
                <a16:creationId xmlns:a16="http://schemas.microsoft.com/office/drawing/2014/main" id="{8684979F-EEB5-1871-1589-D961919C09B5}"/>
              </a:ext>
            </a:extLst>
          </p:cNvPr>
          <p:cNvSpPr/>
          <p:nvPr/>
        </p:nvSpPr>
        <p:spPr>
          <a:xfrm>
            <a:off x="5156200" y="1854200"/>
            <a:ext cx="1981200" cy="889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metric-label-2">
            <a:extLst>
              <a:ext uri="{FF2B5EF4-FFF2-40B4-BE49-F238E27FC236}">
                <a16:creationId xmlns:a16="http://schemas.microsoft.com/office/drawing/2014/main" id="{70958CA8-0192-313D-14CE-E5956D08A8FC}"/>
              </a:ext>
            </a:extLst>
          </p:cNvPr>
          <p:cNvSpPr txBox="1"/>
          <p:nvPr/>
        </p:nvSpPr>
        <p:spPr>
          <a:xfrm>
            <a:off x="5384800" y="2235200"/>
            <a:ext cx="14986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Null audit</a:t>
            </a:r>
            <a:endParaRPr lang="zh-CN" altLang="en-US" sz="800" b="1">
              <a:solidFill>
                <a:srgbClr val="BCD6F4"/>
              </a:solidFill>
              <a:latin typeface="Aptos" panose="020B0004020202020204" pitchFamily="34" charset="0"/>
            </a:endParaRPr>
          </a:p>
        </p:txBody>
      </p:sp>
      <p:sp>
        <p:nvSpPr>
          <p:cNvPr id="46" name="metric-value-2">
            <a:extLst>
              <a:ext uri="{FF2B5EF4-FFF2-40B4-BE49-F238E27FC236}">
                <a16:creationId xmlns:a16="http://schemas.microsoft.com/office/drawing/2014/main" id="{3FC87910-29F7-80CA-BB91-924647207A9B}"/>
              </a:ext>
            </a:extLst>
          </p:cNvPr>
          <p:cNvSpPr txBox="1"/>
          <p:nvPr/>
        </p:nvSpPr>
        <p:spPr>
          <a:xfrm>
            <a:off x="5384800" y="2794000"/>
            <a:ext cx="1625600" cy="276999"/>
          </a:xfrm>
          <a:prstGeom prst="rect">
            <a:avLst/>
          </a:prstGeom>
          <a:noFill/>
        </p:spPr>
        <p:txBody>
          <a:bodyPr vert="horz" wrap="square" lIns="0" tIns="0" rIns="0" bIns="0" rtlCol="0">
            <a:noAutofit/>
          </a:bodyPr>
          <a:lstStyle/>
          <a:p>
            <a:r>
              <a:rPr lang="en-US" altLang="zh-CN" sz="1950" b="1">
                <a:solidFill>
                  <a:srgbClr val="FFFFFF"/>
                </a:solidFill>
                <a:latin typeface="Aptos" panose="020B0004020202020204" pitchFamily="34" charset="0"/>
              </a:rPr>
              <a:t>6/300</a:t>
            </a:r>
            <a:endParaRPr lang="zh-CN" altLang="en-US" sz="1950" b="1">
              <a:solidFill>
                <a:srgbClr val="FFFFFF"/>
              </a:solidFill>
              <a:latin typeface="Aptos" panose="020B0004020202020204" pitchFamily="34" charset="0"/>
            </a:endParaRPr>
          </a:p>
        </p:txBody>
      </p:sp>
      <p:sp>
        <p:nvSpPr>
          <p:cNvPr id="47" name="metric-note-2">
            <a:extLst>
              <a:ext uri="{FF2B5EF4-FFF2-40B4-BE49-F238E27FC236}">
                <a16:creationId xmlns:a16="http://schemas.microsoft.com/office/drawing/2014/main" id="{6E85415D-1832-49C8-283D-6D2B1C3EFAFC}"/>
              </a:ext>
            </a:extLst>
          </p:cNvPr>
          <p:cNvSpPr txBox="1"/>
          <p:nvPr/>
        </p:nvSpPr>
        <p:spPr>
          <a:xfrm>
            <a:off x="5384800" y="3429000"/>
            <a:ext cx="14986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sparse live signal</a:t>
            </a:r>
            <a:endParaRPr lang="zh-CN" altLang="en-US" sz="720">
              <a:solidFill>
                <a:srgbClr val="C4DAF6"/>
              </a:solidFill>
              <a:latin typeface="Aptos" panose="020B0004020202020204" pitchFamily="34" charset="0"/>
            </a:endParaRPr>
          </a:p>
        </p:txBody>
      </p:sp>
      <p:sp>
        <p:nvSpPr>
          <p:cNvPr id="48" name="metric-3">
            <a:extLst>
              <a:ext uri="{FF2B5EF4-FFF2-40B4-BE49-F238E27FC236}">
                <a16:creationId xmlns:a16="http://schemas.microsoft.com/office/drawing/2014/main" id="{A383EF44-4D79-E6C6-D2A8-2BC3AA5F9831}"/>
              </a:ext>
            </a:extLst>
          </p:cNvPr>
          <p:cNvSpPr/>
          <p:nvPr/>
        </p:nvSpPr>
        <p:spPr>
          <a:xfrm>
            <a:off x="7391400" y="1854200"/>
            <a:ext cx="1981200" cy="20828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metric-band-3">
            <a:extLst>
              <a:ext uri="{FF2B5EF4-FFF2-40B4-BE49-F238E27FC236}">
                <a16:creationId xmlns:a16="http://schemas.microsoft.com/office/drawing/2014/main" id="{C05A60A5-1B98-8B61-D498-D2700F3CB69F}"/>
              </a:ext>
            </a:extLst>
          </p:cNvPr>
          <p:cNvSpPr/>
          <p:nvPr/>
        </p:nvSpPr>
        <p:spPr>
          <a:xfrm>
            <a:off x="7391400" y="1854200"/>
            <a:ext cx="1981200" cy="889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metric-label-3">
            <a:extLst>
              <a:ext uri="{FF2B5EF4-FFF2-40B4-BE49-F238E27FC236}">
                <a16:creationId xmlns:a16="http://schemas.microsoft.com/office/drawing/2014/main" id="{8984F5BE-7D1F-BCE6-34D3-5F40C2E97E2D}"/>
              </a:ext>
            </a:extLst>
          </p:cNvPr>
          <p:cNvSpPr txBox="1"/>
          <p:nvPr/>
        </p:nvSpPr>
        <p:spPr>
          <a:xfrm>
            <a:off x="7620000" y="2235200"/>
            <a:ext cx="14986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Attribution</a:t>
            </a:r>
            <a:endParaRPr lang="zh-CN" altLang="en-US" sz="800" b="1">
              <a:solidFill>
                <a:srgbClr val="BCD6F4"/>
              </a:solidFill>
              <a:latin typeface="Aptos" panose="020B0004020202020204" pitchFamily="34" charset="0"/>
            </a:endParaRPr>
          </a:p>
        </p:txBody>
      </p:sp>
      <p:sp>
        <p:nvSpPr>
          <p:cNvPr id="51" name="metric-value-3">
            <a:extLst>
              <a:ext uri="{FF2B5EF4-FFF2-40B4-BE49-F238E27FC236}">
                <a16:creationId xmlns:a16="http://schemas.microsoft.com/office/drawing/2014/main" id="{F494D3CE-619F-AE78-9681-EE0614D5DBA8}"/>
              </a:ext>
            </a:extLst>
          </p:cNvPr>
          <p:cNvSpPr txBox="1"/>
          <p:nvPr/>
        </p:nvSpPr>
        <p:spPr>
          <a:xfrm>
            <a:off x="7620000" y="2794000"/>
            <a:ext cx="1625600" cy="276999"/>
          </a:xfrm>
          <a:prstGeom prst="rect">
            <a:avLst/>
          </a:prstGeom>
          <a:noFill/>
        </p:spPr>
        <p:txBody>
          <a:bodyPr vert="horz" wrap="square" lIns="0" tIns="0" rIns="0" bIns="0" rtlCol="0">
            <a:noAutofit/>
          </a:bodyPr>
          <a:lstStyle/>
          <a:p>
            <a:r>
              <a:rPr lang="en-US" altLang="zh-CN" sz="1950" b="1">
                <a:solidFill>
                  <a:srgbClr val="FFFFFF"/>
                </a:solidFill>
                <a:latin typeface="Aptos" panose="020B0004020202020204" pitchFamily="34" charset="0"/>
              </a:rPr>
              <a:t>300/300</a:t>
            </a:r>
            <a:endParaRPr lang="zh-CN" altLang="en-US" sz="1950" b="1">
              <a:solidFill>
                <a:srgbClr val="FFFFFF"/>
              </a:solidFill>
              <a:latin typeface="Aptos" panose="020B0004020202020204" pitchFamily="34" charset="0"/>
            </a:endParaRPr>
          </a:p>
        </p:txBody>
      </p:sp>
      <p:sp>
        <p:nvSpPr>
          <p:cNvPr id="52" name="metric-note-3">
            <a:extLst>
              <a:ext uri="{FF2B5EF4-FFF2-40B4-BE49-F238E27FC236}">
                <a16:creationId xmlns:a16="http://schemas.microsoft.com/office/drawing/2014/main" id="{CADD6CFC-C52C-731E-296A-4AAE2AA32A7B}"/>
              </a:ext>
            </a:extLst>
          </p:cNvPr>
          <p:cNvSpPr txBox="1"/>
          <p:nvPr/>
        </p:nvSpPr>
        <p:spPr>
          <a:xfrm>
            <a:off x="7620000" y="3429000"/>
            <a:ext cx="14986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0/1,200 controls</a:t>
            </a:r>
            <a:endParaRPr lang="zh-CN" altLang="en-US" sz="720">
              <a:solidFill>
                <a:srgbClr val="C4DAF6"/>
              </a:solidFill>
              <a:latin typeface="Aptos" panose="020B0004020202020204" pitchFamily="34" charset="0"/>
            </a:endParaRPr>
          </a:p>
        </p:txBody>
      </p:sp>
      <p:sp>
        <p:nvSpPr>
          <p:cNvPr id="53" name="metric-4">
            <a:extLst>
              <a:ext uri="{FF2B5EF4-FFF2-40B4-BE49-F238E27FC236}">
                <a16:creationId xmlns:a16="http://schemas.microsoft.com/office/drawing/2014/main" id="{E95F3DC7-63BB-1046-88B1-DAFC419301DD}"/>
              </a:ext>
            </a:extLst>
          </p:cNvPr>
          <p:cNvSpPr/>
          <p:nvPr/>
        </p:nvSpPr>
        <p:spPr>
          <a:xfrm>
            <a:off x="9626600" y="1854200"/>
            <a:ext cx="1981200" cy="2082800"/>
          </a:xfrm>
          <a:prstGeom prst="rect">
            <a:avLst/>
          </a:prstGeom>
          <a:solidFill>
            <a:srgbClr val="0D2A57"/>
          </a:solidFill>
          <a:ln w="12700">
            <a:solidFill>
              <a:srgbClr val="4782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metric-band-4">
            <a:extLst>
              <a:ext uri="{FF2B5EF4-FFF2-40B4-BE49-F238E27FC236}">
                <a16:creationId xmlns:a16="http://schemas.microsoft.com/office/drawing/2014/main" id="{B88EFBD0-17E5-75FC-B7DA-6F5CD7451DBA}"/>
              </a:ext>
            </a:extLst>
          </p:cNvPr>
          <p:cNvSpPr/>
          <p:nvPr/>
        </p:nvSpPr>
        <p:spPr>
          <a:xfrm>
            <a:off x="9626600" y="1854200"/>
            <a:ext cx="1981200" cy="889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metric-label-4">
            <a:extLst>
              <a:ext uri="{FF2B5EF4-FFF2-40B4-BE49-F238E27FC236}">
                <a16:creationId xmlns:a16="http://schemas.microsoft.com/office/drawing/2014/main" id="{7CE5E9B2-E273-EB7A-CC4A-AE6525557EB6}"/>
              </a:ext>
            </a:extLst>
          </p:cNvPr>
          <p:cNvSpPr txBox="1"/>
          <p:nvPr/>
        </p:nvSpPr>
        <p:spPr>
          <a:xfrm>
            <a:off x="9855200" y="2235200"/>
            <a:ext cx="1498600" cy="276999"/>
          </a:xfrm>
          <a:prstGeom prst="rect">
            <a:avLst/>
          </a:prstGeom>
          <a:noFill/>
        </p:spPr>
        <p:txBody>
          <a:bodyPr vert="horz" wrap="square" lIns="0" tIns="0" rIns="0" bIns="0" rtlCol="0">
            <a:noAutofit/>
          </a:bodyPr>
          <a:lstStyle/>
          <a:p>
            <a:r>
              <a:rPr lang="en-US" altLang="zh-CN" sz="800" b="1">
                <a:solidFill>
                  <a:srgbClr val="BCD6F4"/>
                </a:solidFill>
                <a:latin typeface="Aptos" panose="020B0004020202020204" pitchFamily="34" charset="0"/>
              </a:rPr>
              <a:t>Triage</a:t>
            </a:r>
            <a:endParaRPr lang="zh-CN" altLang="en-US" sz="800" b="1">
              <a:solidFill>
                <a:srgbClr val="BCD6F4"/>
              </a:solidFill>
              <a:latin typeface="Aptos" panose="020B0004020202020204" pitchFamily="34" charset="0"/>
            </a:endParaRPr>
          </a:p>
        </p:txBody>
      </p:sp>
      <p:sp>
        <p:nvSpPr>
          <p:cNvPr id="56" name="metric-value-4">
            <a:extLst>
              <a:ext uri="{FF2B5EF4-FFF2-40B4-BE49-F238E27FC236}">
                <a16:creationId xmlns:a16="http://schemas.microsoft.com/office/drawing/2014/main" id="{7A908698-56CC-51ED-F401-5CE4256C79AC}"/>
              </a:ext>
            </a:extLst>
          </p:cNvPr>
          <p:cNvSpPr txBox="1"/>
          <p:nvPr/>
        </p:nvSpPr>
        <p:spPr>
          <a:xfrm>
            <a:off x="9855200" y="2794000"/>
            <a:ext cx="1625600" cy="276999"/>
          </a:xfrm>
          <a:prstGeom prst="rect">
            <a:avLst/>
          </a:prstGeom>
          <a:noFill/>
        </p:spPr>
        <p:txBody>
          <a:bodyPr vert="horz" wrap="square" lIns="0" tIns="0" rIns="0" bIns="0" rtlCol="0">
            <a:noAutofit/>
          </a:bodyPr>
          <a:lstStyle/>
          <a:p>
            <a:r>
              <a:rPr lang="en-US" altLang="zh-CN" sz="1950" b="1">
                <a:solidFill>
                  <a:srgbClr val="FFFFFF"/>
                </a:solidFill>
                <a:latin typeface="Aptos" panose="020B0004020202020204" pitchFamily="34" charset="0"/>
              </a:rPr>
              <a:t>81/960</a:t>
            </a:r>
            <a:endParaRPr lang="zh-CN" altLang="en-US" sz="1950" b="1">
              <a:solidFill>
                <a:srgbClr val="FFFFFF"/>
              </a:solidFill>
              <a:latin typeface="Aptos" panose="020B0004020202020204" pitchFamily="34" charset="0"/>
            </a:endParaRPr>
          </a:p>
        </p:txBody>
      </p:sp>
      <p:sp>
        <p:nvSpPr>
          <p:cNvPr id="57" name="metric-note-4">
            <a:extLst>
              <a:ext uri="{FF2B5EF4-FFF2-40B4-BE49-F238E27FC236}">
                <a16:creationId xmlns:a16="http://schemas.microsoft.com/office/drawing/2014/main" id="{4913BB67-5085-D8AF-9194-FBFC6EB55796}"/>
              </a:ext>
            </a:extLst>
          </p:cNvPr>
          <p:cNvSpPr txBox="1"/>
          <p:nvPr/>
        </p:nvSpPr>
        <p:spPr>
          <a:xfrm>
            <a:off x="9855200" y="3429000"/>
            <a:ext cx="1498600" cy="276999"/>
          </a:xfrm>
          <a:prstGeom prst="rect">
            <a:avLst/>
          </a:prstGeom>
          <a:noFill/>
        </p:spPr>
        <p:txBody>
          <a:bodyPr vert="horz" wrap="square" lIns="0" tIns="0" rIns="0" bIns="0" rtlCol="0">
            <a:noAutofit/>
          </a:bodyPr>
          <a:lstStyle/>
          <a:p>
            <a:r>
              <a:rPr lang="en-US" altLang="zh-CN" sz="720">
                <a:solidFill>
                  <a:srgbClr val="C4DAF6"/>
                </a:solidFill>
                <a:latin typeface="Aptos" panose="020B0004020202020204" pitchFamily="34" charset="0"/>
              </a:rPr>
              <a:t>0 unsafe passes</a:t>
            </a:r>
            <a:endParaRPr lang="zh-CN" altLang="en-US" sz="720">
              <a:solidFill>
                <a:srgbClr val="C4DAF6"/>
              </a:solidFill>
              <a:latin typeface="Aptos" panose="020B0004020202020204" pitchFamily="34" charset="0"/>
            </a:endParaRPr>
          </a:p>
        </p:txBody>
      </p:sp>
      <p:sp>
        <p:nvSpPr>
          <p:cNvPr id="58" name="claim-strip">
            <a:extLst>
              <a:ext uri="{FF2B5EF4-FFF2-40B4-BE49-F238E27FC236}">
                <a16:creationId xmlns:a16="http://schemas.microsoft.com/office/drawing/2014/main" id="{C6ECFB2A-A7C3-9058-5037-59B1AF283EFE}"/>
              </a:ext>
            </a:extLst>
          </p:cNvPr>
          <p:cNvSpPr/>
          <p:nvPr/>
        </p:nvSpPr>
        <p:spPr>
          <a:xfrm>
            <a:off x="1219200" y="4495800"/>
            <a:ext cx="9753600" cy="660400"/>
          </a:xfrm>
          <a:prstGeom prst="rect">
            <a:avLst/>
          </a:prstGeom>
          <a:solidFill>
            <a:srgbClr val="071C3E"/>
          </a:solidFill>
          <a:ln w="12700">
            <a:solidFill>
              <a:srgbClr val="4E82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claim-strip-k">
            <a:extLst>
              <a:ext uri="{FF2B5EF4-FFF2-40B4-BE49-F238E27FC236}">
                <a16:creationId xmlns:a16="http://schemas.microsoft.com/office/drawing/2014/main" id="{A886B573-1A65-D0BD-C81B-43C56F23C1C6}"/>
              </a:ext>
            </a:extLst>
          </p:cNvPr>
          <p:cNvSpPr txBox="1"/>
          <p:nvPr/>
        </p:nvSpPr>
        <p:spPr>
          <a:xfrm>
            <a:off x="1600200" y="4699000"/>
            <a:ext cx="1524000" cy="276999"/>
          </a:xfrm>
          <a:prstGeom prst="rect">
            <a:avLst/>
          </a:prstGeom>
          <a:noFill/>
        </p:spPr>
        <p:txBody>
          <a:bodyPr vert="horz" wrap="square" lIns="0" tIns="0" rIns="0" bIns="0" rtlCol="0">
            <a:noAutofit/>
          </a:bodyPr>
          <a:lstStyle/>
          <a:p>
            <a:r>
              <a:rPr lang="en-US" altLang="zh-CN" sz="720" b="1">
                <a:solidFill>
                  <a:srgbClr val="BEDCFF"/>
                </a:solidFill>
                <a:latin typeface="Aptos" panose="020B0004020202020204" pitchFamily="34" charset="0"/>
              </a:rPr>
              <a:t>INTERPRETATION</a:t>
            </a:r>
            <a:endParaRPr lang="zh-CN" altLang="en-US" sz="720" b="1">
              <a:solidFill>
                <a:srgbClr val="BEDCFF"/>
              </a:solidFill>
              <a:latin typeface="Aptos" panose="020B0004020202020204" pitchFamily="34" charset="0"/>
            </a:endParaRPr>
          </a:p>
        </p:txBody>
      </p:sp>
      <p:sp>
        <p:nvSpPr>
          <p:cNvPr id="60" name="claim-strip-t">
            <a:extLst>
              <a:ext uri="{FF2B5EF4-FFF2-40B4-BE49-F238E27FC236}">
                <a16:creationId xmlns:a16="http://schemas.microsoft.com/office/drawing/2014/main" id="{119455B3-62FC-C366-EB5B-BDC8C13EB332}"/>
              </a:ext>
            </a:extLst>
          </p:cNvPr>
          <p:cNvSpPr txBox="1"/>
          <p:nvPr/>
        </p:nvSpPr>
        <p:spPr>
          <a:xfrm>
            <a:off x="3632200" y="4686300"/>
            <a:ext cx="69596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No number is promoted without denominator, controls, artifact, and boundary.</a:t>
            </a:r>
            <a:endParaRPr lang="zh-CN" altLang="en-US" sz="1050" b="1">
              <a:solidFill>
                <a:srgbClr val="FFFFFF"/>
              </a:solidFill>
              <a:latin typeface="Aptos" panose="020B0004020202020204" pitchFamily="34" charset="0"/>
            </a:endParaRPr>
          </a:p>
        </p:txBody>
      </p:sp>
      <p:sp>
        <p:nvSpPr>
          <p:cNvPr id="61" name="caveat-box">
            <a:extLst>
              <a:ext uri="{FF2B5EF4-FFF2-40B4-BE49-F238E27FC236}">
                <a16:creationId xmlns:a16="http://schemas.microsoft.com/office/drawing/2014/main" id="{0D58A69E-C379-A351-6AF1-E668CDA052E8}"/>
              </a:ext>
            </a:extLst>
          </p:cNvPr>
          <p:cNvSpPr/>
          <p:nvPr/>
        </p:nvSpPr>
        <p:spPr>
          <a:xfrm>
            <a:off x="1955800" y="5588000"/>
            <a:ext cx="8280400" cy="381000"/>
          </a:xfrm>
          <a:prstGeom prst="rect">
            <a:avLst/>
          </a:prstGeom>
          <a:solidFill>
            <a:srgbClr val="FFF7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caveat">
            <a:extLst>
              <a:ext uri="{FF2B5EF4-FFF2-40B4-BE49-F238E27FC236}">
                <a16:creationId xmlns:a16="http://schemas.microsoft.com/office/drawing/2014/main" id="{9CAD5747-D809-0221-70A9-161618213ED0}"/>
              </a:ext>
            </a:extLst>
          </p:cNvPr>
          <p:cNvSpPr txBox="1"/>
          <p:nvPr/>
        </p:nvSpPr>
        <p:spPr>
          <a:xfrm>
            <a:off x="2311400" y="5702300"/>
            <a:ext cx="7569200" cy="276999"/>
          </a:xfrm>
          <a:prstGeom prst="rect">
            <a:avLst/>
          </a:prstGeom>
          <a:noFill/>
        </p:spPr>
        <p:txBody>
          <a:bodyPr vert="horz" wrap="square" lIns="0" tIns="0" rIns="0" bIns="0" rtlCol="0">
            <a:noAutofit/>
          </a:bodyPr>
          <a:lstStyle/>
          <a:p>
            <a:r>
              <a:rPr lang="en-US" altLang="zh-CN" sz="810" b="1">
                <a:solidFill>
                  <a:srgbClr val="5C3A0C"/>
                </a:solidFill>
                <a:latin typeface="Aptos" panose="020B0004020202020204" pitchFamily="34" charset="0"/>
              </a:rPr>
              <a:t>Important qualifier: access-specific results, not a universal watermarking guarantee.</a:t>
            </a:r>
            <a:endParaRPr lang="zh-CN" altLang="en-US" sz="810" b="1">
              <a:solidFill>
                <a:srgbClr val="5C3A0C"/>
              </a:solidFill>
              <a:latin typeface="Aptos" panose="020B0004020202020204" pitchFamily="34" charset="0"/>
            </a:endParaRPr>
          </a:p>
        </p:txBody>
      </p:sp>
      <p:pic>
        <p:nvPicPr>
          <p:cNvPr id="64" name="图片 63">
            <a:extLst>
              <a:ext uri="{FF2B5EF4-FFF2-40B4-BE49-F238E27FC236}">
                <a16:creationId xmlns:a16="http://schemas.microsoft.com/office/drawing/2014/main" id="{F4833AFD-7F9E-5655-F774-87FA10A54EC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3512759281"/>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250"/>
                                        <p:tgtEl>
                                          <p:spTgt spid="33"/>
                                        </p:tgtEl>
                                      </p:cBhvr>
                                    </p:animEffect>
                                  </p:childTnLst>
                                </p:cTn>
                              </p:par>
                            </p:childTnLst>
                          </p:cTn>
                        </p:par>
                        <p:par>
                          <p:cTn id="8" fill="hold">
                            <p:stCondLst>
                              <p:cond delay="250"/>
                            </p:stCondLst>
                            <p:childTnLst>
                              <p:par>
                                <p:cTn id="9" presetID="10" presetClass="entr" presetSubtype="0" fill="hold" grpId="0" nodeType="after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250"/>
                                        <p:tgtEl>
                                          <p:spTgt spid="38"/>
                                        </p:tgtEl>
                                      </p:cBhvr>
                                    </p:animEffect>
                                  </p:childTnLst>
                                </p:cTn>
                              </p:par>
                            </p:childTnLst>
                          </p:cTn>
                        </p:par>
                        <p:par>
                          <p:cTn id="12" fill="hold">
                            <p:stCondLst>
                              <p:cond delay="500"/>
                            </p:stCondLst>
                            <p:childTnLst>
                              <p:par>
                                <p:cTn id="13" presetID="10" presetClass="entr" presetSubtype="0" fill="hold" grpId="0" nodeType="afterEffect">
                                  <p:stCondLst>
                                    <p:cond delay="0"/>
                                  </p:stCondLst>
                                  <p:childTnLst>
                                    <p:set>
                                      <p:cBhvr>
                                        <p:cTn id="14" dur="1" fill="hold">
                                          <p:stCondLst>
                                            <p:cond delay="0"/>
                                          </p:stCondLst>
                                        </p:cTn>
                                        <p:tgtEl>
                                          <p:spTgt spid="43"/>
                                        </p:tgtEl>
                                        <p:attrNameLst>
                                          <p:attrName>style.visibility</p:attrName>
                                        </p:attrNameLst>
                                      </p:cBhvr>
                                      <p:to>
                                        <p:strVal val="visible"/>
                                      </p:to>
                                    </p:set>
                                    <p:animEffect transition="in" filter="fade">
                                      <p:cBhvr>
                                        <p:cTn id="15" dur="250"/>
                                        <p:tgtEl>
                                          <p:spTgt spid="43"/>
                                        </p:tgtEl>
                                      </p:cBhvr>
                                    </p:animEffect>
                                  </p:childTnLst>
                                </p:cTn>
                              </p:par>
                            </p:childTnLst>
                          </p:cTn>
                        </p:par>
                        <p:par>
                          <p:cTn id="16" fill="hold">
                            <p:stCondLst>
                              <p:cond delay="750"/>
                            </p:stCondLst>
                            <p:childTnLst>
                              <p:par>
                                <p:cTn id="17" presetID="10" presetClass="entr" presetSubtype="0" fill="hold" grpId="0" nodeType="afterEffect">
                                  <p:stCondLst>
                                    <p:cond delay="0"/>
                                  </p:stCondLst>
                                  <p:childTnLst>
                                    <p:set>
                                      <p:cBhvr>
                                        <p:cTn id="18" dur="1" fill="hold">
                                          <p:stCondLst>
                                            <p:cond delay="0"/>
                                          </p:stCondLst>
                                        </p:cTn>
                                        <p:tgtEl>
                                          <p:spTgt spid="48"/>
                                        </p:tgtEl>
                                        <p:attrNameLst>
                                          <p:attrName>style.visibility</p:attrName>
                                        </p:attrNameLst>
                                      </p:cBhvr>
                                      <p:to>
                                        <p:strVal val="visible"/>
                                      </p:to>
                                    </p:set>
                                    <p:animEffect transition="in" filter="fade">
                                      <p:cBhvr>
                                        <p:cTn id="19" dur="250"/>
                                        <p:tgtEl>
                                          <p:spTgt spid="48"/>
                                        </p:tgtEl>
                                      </p:cBhvr>
                                    </p:animEffect>
                                  </p:childTnLst>
                                </p:cTn>
                              </p:par>
                            </p:childTnLst>
                          </p:cTn>
                        </p:par>
                        <p:par>
                          <p:cTn id="20" fill="hold">
                            <p:stCondLst>
                              <p:cond delay="1000"/>
                            </p:stCondLst>
                            <p:childTnLst>
                              <p:par>
                                <p:cTn id="21" presetID="10" presetClass="entr" presetSubtype="0" fill="hold" grpId="0" nodeType="after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fade">
                                      <p:cBhvr>
                                        <p:cTn id="23" dur="2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8" grpId="0" animBg="1"/>
      <p:bldP spid="43" grpId="0" animBg="1"/>
      <p:bldP spid="48"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EBB9342B-7E84-83E3-C2A2-0368CD33CECD}"/>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F641A1B4-BA61-D3C1-A6A0-C4D0D05B3346}"/>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0126934C-151E-09A1-C6C0-440CD836D21E}"/>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D21E8892-AB58-B7F3-C107-09312491897C}"/>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2B2C28FC-6EE3-328F-1367-1AD1B0D3578E}"/>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46DF15FC-6F53-CCE1-8E22-28E6F532FB47}"/>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08</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2D7BD755-832B-5639-6E0E-971E5A49B494}"/>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RESULTS</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5ACBAE71-70D4-89CF-6A3F-6998A8A7300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7BDDD0AA-1FC1-7EC6-2652-02270445CF01}"/>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Conservative evidence prevents overclaiming</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B0951EBA-5C78-45A5-9B49-75B92FB7F0BE}"/>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black-box and triage stages are valuable because they keep null results and abstention visible.</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5807D388-C31D-B798-2496-F3CBBFCA617D}"/>
              </a:ext>
            </a:extLst>
          </p:cNvPr>
          <p:cNvSpPr/>
          <p:nvPr/>
        </p:nvSpPr>
        <p:spPr>
          <a:xfrm>
            <a:off x="889000" y="1651000"/>
            <a:ext cx="10414000" cy="29972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blackbox-table">
            <a:extLst>
              <a:ext uri="{FF2B5EF4-FFF2-40B4-BE49-F238E27FC236}">
                <a16:creationId xmlns:a16="http://schemas.microsoft.com/office/drawing/2014/main" id="{0241AE5D-859F-7719-9EDD-F74DAA60A09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11586" y="1930400"/>
            <a:ext cx="5768828" cy="2413000"/>
          </a:xfrm>
          <a:prstGeom prst="rect">
            <a:avLst/>
          </a:prstGeom>
        </p:spPr>
      </p:pic>
      <p:sp>
        <p:nvSpPr>
          <p:cNvPr id="16" name="left">
            <a:extLst>
              <a:ext uri="{FF2B5EF4-FFF2-40B4-BE49-F238E27FC236}">
                <a16:creationId xmlns:a16="http://schemas.microsoft.com/office/drawing/2014/main" id="{01C7A480-3D3A-5C33-FA69-42E4EE9C660A}"/>
              </a:ext>
            </a:extLst>
          </p:cNvPr>
          <p:cNvSpPr/>
          <p:nvPr/>
        </p:nvSpPr>
        <p:spPr>
          <a:xfrm>
            <a:off x="1193800" y="5029200"/>
            <a:ext cx="4495800" cy="6858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left-main">
            <a:extLst>
              <a:ext uri="{FF2B5EF4-FFF2-40B4-BE49-F238E27FC236}">
                <a16:creationId xmlns:a16="http://schemas.microsoft.com/office/drawing/2014/main" id="{E7CECA01-EFE6-570C-1907-B7E69821ED29}"/>
              </a:ext>
            </a:extLst>
          </p:cNvPr>
          <p:cNvSpPr txBox="1"/>
          <p:nvPr/>
        </p:nvSpPr>
        <p:spPr>
          <a:xfrm>
            <a:off x="1524000" y="5232400"/>
            <a:ext cx="3810000" cy="276999"/>
          </a:xfrm>
          <a:prstGeom prst="rect">
            <a:avLst/>
          </a:prstGeom>
          <a:noFill/>
        </p:spPr>
        <p:txBody>
          <a:bodyPr vert="horz" wrap="square" lIns="0" tIns="0" rIns="0" bIns="0" rtlCol="0">
            <a:noAutofit/>
          </a:bodyPr>
          <a:lstStyle/>
          <a:p>
            <a:r>
              <a:rPr lang="en-US" altLang="zh-CN" sz="850" b="1">
                <a:solidFill>
                  <a:srgbClr val="004080"/>
                </a:solidFill>
                <a:latin typeface="Aptos" panose="020B0004020202020204" pitchFamily="34" charset="0"/>
              </a:rPr>
              <a:t>CodeDye: 6/300 sparse live signals, with controls reported separately.</a:t>
            </a:r>
            <a:endParaRPr lang="zh-CN" altLang="en-US" sz="850" b="1">
              <a:solidFill>
                <a:srgbClr val="004080"/>
              </a:solidFill>
              <a:latin typeface="Aptos" panose="020B0004020202020204" pitchFamily="34" charset="0"/>
            </a:endParaRPr>
          </a:p>
        </p:txBody>
      </p:sp>
      <p:sp>
        <p:nvSpPr>
          <p:cNvPr id="18" name="right">
            <a:extLst>
              <a:ext uri="{FF2B5EF4-FFF2-40B4-BE49-F238E27FC236}">
                <a16:creationId xmlns:a16="http://schemas.microsoft.com/office/drawing/2014/main" id="{CAD95ED1-F96C-C234-2EC1-B7FE3BE73BEB}"/>
              </a:ext>
            </a:extLst>
          </p:cNvPr>
          <p:cNvSpPr/>
          <p:nvPr/>
        </p:nvSpPr>
        <p:spPr>
          <a:xfrm>
            <a:off x="6502400" y="5029200"/>
            <a:ext cx="4495800" cy="685800"/>
          </a:xfrm>
          <a:prstGeom prst="rect">
            <a:avLst/>
          </a:prstGeom>
          <a:solidFill>
            <a:srgbClr val="FFF5E0"/>
          </a:solidFill>
          <a:ln w="12700">
            <a:solidFill>
              <a:srgbClr val="F5BE4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ight-main">
            <a:extLst>
              <a:ext uri="{FF2B5EF4-FFF2-40B4-BE49-F238E27FC236}">
                <a16:creationId xmlns:a16="http://schemas.microsoft.com/office/drawing/2014/main" id="{842AC343-20E9-9EC0-6617-EC0E67DEEAB0}"/>
              </a:ext>
            </a:extLst>
          </p:cNvPr>
          <p:cNvSpPr txBox="1"/>
          <p:nvPr/>
        </p:nvSpPr>
        <p:spPr>
          <a:xfrm>
            <a:off x="6832600" y="5232400"/>
            <a:ext cx="3810000" cy="276999"/>
          </a:xfrm>
          <a:prstGeom prst="rect">
            <a:avLst/>
          </a:prstGeom>
          <a:noFill/>
        </p:spPr>
        <p:txBody>
          <a:bodyPr vert="horz" wrap="square" lIns="0" tIns="0" rIns="0" bIns="0" rtlCol="0">
            <a:noAutofit/>
          </a:bodyPr>
          <a:lstStyle/>
          <a:p>
            <a:r>
              <a:rPr lang="en-US" altLang="zh-CN" sz="850" b="1">
                <a:solidFill>
                  <a:srgbClr val="5C3A0C"/>
                </a:solidFill>
                <a:latin typeface="Aptos" panose="020B0004020202020204" pitchFamily="34" charset="0"/>
              </a:rPr>
              <a:t>SealAudit: 81/960 decisive triage outcomes; nondecisive rows are not relabeled.</a:t>
            </a:r>
            <a:endParaRPr lang="zh-CN" altLang="en-US" sz="850" b="1">
              <a:solidFill>
                <a:srgbClr val="5C3A0C"/>
              </a:solidFill>
              <a:latin typeface="Aptos" panose="020B0004020202020204" pitchFamily="34" charset="0"/>
            </a:endParaRPr>
          </a:p>
        </p:txBody>
      </p:sp>
    </p:spTree>
    <p:extLst>
      <p:ext uri="{BB962C8B-B14F-4D97-AF65-F5344CB8AC3E}">
        <p14:creationId xmlns:p14="http://schemas.microsoft.com/office/powerpoint/2010/main" val="4282357703"/>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2AAB01E7-1538-BF7A-60BF-9418FCB001F2}"/>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A0ED0D2D-DE6F-CD73-BA15-1EEA857AE5B8}"/>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1B92A501-A884-49BC-7644-11B02774F02B}"/>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10FE2F29-B0A8-BD57-3D65-0704496C43EF}"/>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7D999F83-5992-B306-3502-A95755F010F0}"/>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026B463A-71F8-601B-CB5D-B922B01B4212}"/>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09</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F671D954-81DD-1C33-0822-A272C48E2B21}"/>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EVALUATION</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FF98A262-6AF6-72B5-4D28-B3F3659FEE2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5447A3E4-5C60-5082-F528-E18646879EA9}"/>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The evaluation reports tradeoffs, not only wins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53E03418-97B9-F1F7-62AD-5FF76772E9B4}"/>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A strong viva answer should show where the method is robust and where the boundary is.</a:t>
            </a:r>
            <a:endParaRPr lang="zh-CN" altLang="en-US" sz="950">
              <a:solidFill>
                <a:srgbClr val="536580"/>
              </a:solidFill>
              <a:latin typeface="Aptos" panose="020B0004020202020204" pitchFamily="34" charset="0"/>
            </a:endParaRPr>
          </a:p>
        </p:txBody>
      </p:sp>
      <p:sp>
        <p:nvSpPr>
          <p:cNvPr id="13" name="fig-frame">
            <a:extLst>
              <a:ext uri="{FF2B5EF4-FFF2-40B4-BE49-F238E27FC236}">
                <a16:creationId xmlns:a16="http://schemas.microsoft.com/office/drawing/2014/main" id="{CA028FE3-4826-84F1-57D9-3D40DA5D7A2F}"/>
              </a:ext>
            </a:extLst>
          </p:cNvPr>
          <p:cNvSpPr/>
          <p:nvPr/>
        </p:nvSpPr>
        <p:spPr>
          <a:xfrm>
            <a:off x="889000" y="1701800"/>
            <a:ext cx="10414000" cy="31750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tradeoff">
            <a:extLst>
              <a:ext uri="{FF2B5EF4-FFF2-40B4-BE49-F238E27FC236}">
                <a16:creationId xmlns:a16="http://schemas.microsoft.com/office/drawing/2014/main" id="{85345A17-F2B1-6923-B3A8-4606652D4DA2}"/>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967841" y="1930400"/>
            <a:ext cx="6256319" cy="2667000"/>
          </a:xfrm>
          <a:prstGeom prst="rect">
            <a:avLst/>
          </a:prstGeom>
        </p:spPr>
      </p:pic>
      <p:sp>
        <p:nvSpPr>
          <p:cNvPr id="16" name="message">
            <a:extLst>
              <a:ext uri="{FF2B5EF4-FFF2-40B4-BE49-F238E27FC236}">
                <a16:creationId xmlns:a16="http://schemas.microsoft.com/office/drawing/2014/main" id="{D370DB31-1138-DE95-DADF-3104062DFB64}"/>
              </a:ext>
            </a:extLst>
          </p:cNvPr>
          <p:cNvSpPr/>
          <p:nvPr/>
        </p:nvSpPr>
        <p:spPr>
          <a:xfrm>
            <a:off x="2209800" y="5257800"/>
            <a:ext cx="7772400" cy="457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message-text">
            <a:extLst>
              <a:ext uri="{FF2B5EF4-FFF2-40B4-BE49-F238E27FC236}">
                <a16:creationId xmlns:a16="http://schemas.microsoft.com/office/drawing/2014/main" id="{A532BB55-42DB-7711-6E7F-1944974E467C}"/>
              </a:ext>
            </a:extLst>
          </p:cNvPr>
          <p:cNvSpPr txBox="1"/>
          <p:nvPr/>
        </p:nvSpPr>
        <p:spPr>
          <a:xfrm>
            <a:off x="2616200" y="5410200"/>
            <a:ext cx="6985000" cy="276999"/>
          </a:xfrm>
          <a:prstGeom prst="rect">
            <a:avLst/>
          </a:prstGeom>
          <a:noFill/>
        </p:spPr>
        <p:txBody>
          <a:bodyPr vert="horz" wrap="square" lIns="0" tIns="0" rIns="0" bIns="0" rtlCol="0">
            <a:noAutofit/>
          </a:bodyPr>
          <a:lstStyle/>
          <a:p>
            <a:r>
              <a:rPr lang="en-US" altLang="zh-CN" sz="880" b="1">
                <a:solidFill>
                  <a:srgbClr val="FFFFFF"/>
                </a:solidFill>
                <a:latin typeface="Aptos" panose="020B0004020202020204" pitchFamily="34" charset="0"/>
              </a:rPr>
              <a:t>The framework makes release scale and robustness visible before any claim is made.</a:t>
            </a:r>
            <a:endParaRPr lang="zh-CN" altLang="en-US" sz="880" b="1">
              <a:solidFill>
                <a:srgbClr val="FFFFFF"/>
              </a:solidFill>
              <a:latin typeface="Aptos" panose="020B0004020202020204" pitchFamily="34" charset="0"/>
            </a:endParaRPr>
          </a:p>
        </p:txBody>
      </p:sp>
    </p:spTree>
    <p:extLst>
      <p:ext uri="{BB962C8B-B14F-4D97-AF65-F5344CB8AC3E}">
        <p14:creationId xmlns:p14="http://schemas.microsoft.com/office/powerpoint/2010/main" val="804996914"/>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61B09E7C-B94A-39D1-C3D3-74EC8DEAE388}"/>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E299B6B5-3C93-2567-2BA3-8955B804DA10}"/>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4EEDEA6B-820C-A24D-ECED-000B2B283575}"/>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AD50C712-378C-2A8A-320E-87550EA47474}"/>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3BA7CC75-FF82-3179-3270-AF5704520CB8}"/>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4E196D0A-7245-2F7F-D8A5-AD832BB485A7}"/>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84310148-5F64-481A-D156-150B893D015D}"/>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C473FACA-3EE4-5B4F-F26C-EAAD0E0E1DC6}"/>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C241A5A5-A320-1762-000B-80562CA9A4EB}"/>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9D4C3903-3508-05E7-0991-5039C34A45D6}"/>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F1D0542B-069D-F785-DC77-550E3DE0F9B3}"/>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9AC02922-F1A2-BF6A-4891-05B199E5A542}"/>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036BA9B2-E856-3D25-ED29-9B8730984A8E}"/>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F314B5C9-D1CF-82D2-A245-8582AE805940}"/>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3D8E8167-D3BB-D07E-F458-C87E79DDE3AB}"/>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51CDE924-539E-DC8B-8E6B-37C70ED55329}"/>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EE40D340-D65A-7EA2-46B9-E9AD6780C586}"/>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71E67BE8-829E-FFFE-708E-F02463D2248B}"/>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15C2E582-2281-4A57-52F7-7336FA16DD38}"/>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58FAE318-CEA6-23F2-09DC-03D7F173D75C}"/>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A269E10B-0E82-B675-E983-382A69D004E6}"/>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DEDC663D-D272-C588-9F0F-AD1DE404E285}"/>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44756CB9-17BD-546F-E791-14B6812AF66D}"/>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3CB42545-7C1E-0E4F-A07D-92790A8DCCAF}"/>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BBAD131C-1389-CEF1-0B6D-CD274960D2C9}"/>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80E17951-36AD-EDC9-8E3C-32A45B23D028}"/>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D8D839B8-5E4A-1885-B7B3-8DF0CFB5EA8C}"/>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AE80EA1C-D251-9F2D-A4CF-F8B89CFEA79F}"/>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10</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2263DE95-9D40-DBDC-0DB6-C6457908A43B}"/>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DEMO 1</a:t>
            </a:r>
            <a:endParaRPr lang="zh-CN" altLang="en-US" sz="700" b="1">
              <a:solidFill>
                <a:srgbClr val="BEDCFF"/>
              </a:solidFill>
              <a:latin typeface="Aptos" panose="020B0004020202020204" pitchFamily="34" charset="0"/>
            </a:endParaRPr>
          </a:p>
        </p:txBody>
      </p:sp>
      <p:sp>
        <p:nvSpPr>
          <p:cNvPr id="31" name="title">
            <a:extLst>
              <a:ext uri="{FF2B5EF4-FFF2-40B4-BE49-F238E27FC236}">
                <a16:creationId xmlns:a16="http://schemas.microsoft.com/office/drawing/2014/main" id="{E18217E9-B303-1C72-B90E-20AF7554D16E}"/>
              </a:ext>
            </a:extLst>
          </p:cNvPr>
          <p:cNvSpPr txBox="1"/>
          <p:nvPr/>
        </p:nvSpPr>
        <p:spPr>
          <a:xfrm>
            <a:off x="685800" y="685800"/>
            <a:ext cx="9144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Project page walkthrough: 90 seconds</a:t>
            </a:r>
            <a:endParaRPr lang="zh-CN" altLang="en-US" sz="2700" b="1">
              <a:solidFill>
                <a:srgbClr val="FFFFFF"/>
              </a:solidFill>
              <a:latin typeface="Aptos" panose="020B0004020202020204" pitchFamily="34" charset="0"/>
            </a:endParaRPr>
          </a:p>
        </p:txBody>
      </p:sp>
      <p:sp>
        <p:nvSpPr>
          <p:cNvPr id="32" name="subtitle">
            <a:extLst>
              <a:ext uri="{FF2B5EF4-FFF2-40B4-BE49-F238E27FC236}">
                <a16:creationId xmlns:a16="http://schemas.microsoft.com/office/drawing/2014/main" id="{697EE91A-AA03-545D-482E-33E936E6A298}"/>
              </a:ext>
            </a:extLst>
          </p:cNvPr>
          <p:cNvSpPr txBox="1"/>
          <p:nvPr/>
        </p:nvSpPr>
        <p:spPr>
          <a:xfrm>
            <a:off x="736600" y="1295400"/>
            <a:ext cx="9144000" cy="276999"/>
          </a:xfrm>
          <a:prstGeom prst="rect">
            <a:avLst/>
          </a:prstGeom>
          <a:noFill/>
        </p:spPr>
        <p:txBody>
          <a:bodyPr vert="horz" wrap="square" lIns="0" tIns="0" rIns="0" bIns="0" rtlCol="0">
            <a:noAutofit/>
          </a:bodyPr>
          <a:lstStyle/>
          <a:p>
            <a:r>
              <a:rPr lang="en-US" altLang="zh-CN" sz="980">
                <a:solidFill>
                  <a:srgbClr val="CDE1F8"/>
                </a:solidFill>
                <a:latin typeface="Aptos" panose="020B0004020202020204" pitchFamily="34" charset="0"/>
              </a:rPr>
              <a:t>Purpose: show the examiner where the submitted claim can be inspected.</a:t>
            </a:r>
            <a:endParaRPr lang="zh-CN" altLang="en-US" sz="980">
              <a:solidFill>
                <a:srgbClr val="CDE1F8"/>
              </a:solidFill>
              <a:latin typeface="Aptos" panose="020B0004020202020204" pitchFamily="34" charset="0"/>
            </a:endParaRPr>
          </a:p>
        </p:txBody>
      </p:sp>
      <p:sp>
        <p:nvSpPr>
          <p:cNvPr id="33" name="shot-frame">
            <a:extLst>
              <a:ext uri="{FF2B5EF4-FFF2-40B4-BE49-F238E27FC236}">
                <a16:creationId xmlns:a16="http://schemas.microsoft.com/office/drawing/2014/main" id="{F509A8DB-B690-65AB-4E20-14612BA5407F}"/>
              </a:ext>
            </a:extLst>
          </p:cNvPr>
          <p:cNvSpPr/>
          <p:nvPr/>
        </p:nvSpPr>
        <p:spPr>
          <a:xfrm>
            <a:off x="685800" y="1854200"/>
            <a:ext cx="8026400" cy="3606800"/>
          </a:xfrm>
          <a:prstGeom prst="rect">
            <a:avLst/>
          </a:prstGeom>
          <a:solidFill>
            <a:srgbClr val="051126"/>
          </a:solidFill>
          <a:ln w="12700">
            <a:solidFill>
              <a:srgbClr val="5087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homepage-shot">
            <a:extLst>
              <a:ext uri="{FF2B5EF4-FFF2-40B4-BE49-F238E27FC236}">
                <a16:creationId xmlns:a16="http://schemas.microsoft.com/office/drawing/2014/main" id="{8CE6C55C-6FFA-59C9-840A-D1B0C77EABA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297583" y="2006600"/>
            <a:ext cx="6802834" cy="3098800"/>
          </a:xfrm>
          <a:prstGeom prst="rect">
            <a:avLst/>
          </a:prstGeom>
        </p:spPr>
      </p:pic>
      <p:sp>
        <p:nvSpPr>
          <p:cNvPr id="36" name="route">
            <a:extLst>
              <a:ext uri="{FF2B5EF4-FFF2-40B4-BE49-F238E27FC236}">
                <a16:creationId xmlns:a16="http://schemas.microsoft.com/office/drawing/2014/main" id="{400DB1B1-51FA-E5D9-6786-88C85030810B}"/>
              </a:ext>
            </a:extLst>
          </p:cNvPr>
          <p:cNvSpPr/>
          <p:nvPr/>
        </p:nvSpPr>
        <p:spPr>
          <a:xfrm>
            <a:off x="9067800" y="1854200"/>
            <a:ext cx="2260600" cy="2565400"/>
          </a:xfrm>
          <a:prstGeom prst="rect">
            <a:avLst/>
          </a:prstGeom>
          <a:solidFill>
            <a:srgbClr val="0A244E"/>
          </a:solidFill>
          <a:ln w="12700">
            <a:solidFill>
              <a:srgbClr val="5087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route-title">
            <a:extLst>
              <a:ext uri="{FF2B5EF4-FFF2-40B4-BE49-F238E27FC236}">
                <a16:creationId xmlns:a16="http://schemas.microsoft.com/office/drawing/2014/main" id="{C0F5AC81-035A-6E78-0FAD-0B724E579243}"/>
              </a:ext>
            </a:extLst>
          </p:cNvPr>
          <p:cNvSpPr txBox="1"/>
          <p:nvPr/>
        </p:nvSpPr>
        <p:spPr>
          <a:xfrm>
            <a:off x="9372600" y="2133600"/>
            <a:ext cx="1600200" cy="276999"/>
          </a:xfrm>
          <a:prstGeom prst="rect">
            <a:avLst/>
          </a:prstGeom>
          <a:noFill/>
        </p:spPr>
        <p:txBody>
          <a:bodyPr vert="horz" wrap="square" lIns="0" tIns="0" rIns="0" bIns="0" rtlCol="0">
            <a:noAutofit/>
          </a:bodyPr>
          <a:lstStyle/>
          <a:p>
            <a:r>
              <a:rPr lang="en-US" altLang="zh-CN" sz="1000" b="1">
                <a:solidFill>
                  <a:srgbClr val="FFFFFF"/>
                </a:solidFill>
                <a:latin typeface="Aptos" panose="020B0004020202020204" pitchFamily="34" charset="0"/>
              </a:rPr>
              <a:t>Demo route</a:t>
            </a:r>
            <a:endParaRPr lang="zh-CN" altLang="en-US" sz="1000" b="1">
              <a:solidFill>
                <a:srgbClr val="FFFFFF"/>
              </a:solidFill>
              <a:latin typeface="Aptos" panose="020B0004020202020204" pitchFamily="34" charset="0"/>
            </a:endParaRPr>
          </a:p>
        </p:txBody>
      </p:sp>
      <p:sp>
        <p:nvSpPr>
          <p:cNvPr id="38" name="route-dot-0">
            <a:extLst>
              <a:ext uri="{FF2B5EF4-FFF2-40B4-BE49-F238E27FC236}">
                <a16:creationId xmlns:a16="http://schemas.microsoft.com/office/drawing/2014/main" id="{E497945F-6FC2-F88C-0125-6D88896739D5}"/>
              </a:ext>
            </a:extLst>
          </p:cNvPr>
          <p:cNvSpPr/>
          <p:nvPr/>
        </p:nvSpPr>
        <p:spPr>
          <a:xfrm>
            <a:off x="9372600" y="2565400"/>
            <a:ext cx="228600" cy="228600"/>
          </a:xfrm>
          <a:prstGeom prst="rect">
            <a:avLst/>
          </a:prstGeom>
          <a:solidFill>
            <a:srgbClr val="2369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route-num-0">
            <a:extLst>
              <a:ext uri="{FF2B5EF4-FFF2-40B4-BE49-F238E27FC236}">
                <a16:creationId xmlns:a16="http://schemas.microsoft.com/office/drawing/2014/main" id="{F0B3B8E0-E507-8385-C58B-B6239D66F4B3}"/>
              </a:ext>
            </a:extLst>
          </p:cNvPr>
          <p:cNvSpPr txBox="1"/>
          <p:nvPr/>
        </p:nvSpPr>
        <p:spPr>
          <a:xfrm>
            <a:off x="9436100" y="2616200"/>
            <a:ext cx="101600" cy="276999"/>
          </a:xfrm>
          <a:prstGeom prst="rect">
            <a:avLst/>
          </a:prstGeom>
          <a:noFill/>
        </p:spPr>
        <p:txBody>
          <a:bodyPr vert="horz" wrap="square" lIns="0" tIns="0" rIns="0" bIns="0" rtlCol="0">
            <a:noAutofit/>
          </a:bodyPr>
          <a:lstStyle/>
          <a:p>
            <a:r>
              <a:rPr lang="en-US" altLang="zh-CN" sz="580" b="1">
                <a:solidFill>
                  <a:srgbClr val="FFFFFF"/>
                </a:solidFill>
                <a:latin typeface="Aptos" panose="020B0004020202020204" pitchFamily="34" charset="0"/>
              </a:rPr>
              <a:t>1</a:t>
            </a:r>
            <a:endParaRPr lang="zh-CN" altLang="en-US" sz="580" b="1">
              <a:solidFill>
                <a:srgbClr val="FFFFFF"/>
              </a:solidFill>
              <a:latin typeface="Aptos" panose="020B0004020202020204" pitchFamily="34" charset="0"/>
            </a:endParaRPr>
          </a:p>
        </p:txBody>
      </p:sp>
      <p:sp>
        <p:nvSpPr>
          <p:cNvPr id="40" name="route-item-0">
            <a:extLst>
              <a:ext uri="{FF2B5EF4-FFF2-40B4-BE49-F238E27FC236}">
                <a16:creationId xmlns:a16="http://schemas.microsoft.com/office/drawing/2014/main" id="{A7062E20-94DA-4388-A400-D142300F0D1D}"/>
              </a:ext>
            </a:extLst>
          </p:cNvPr>
          <p:cNvSpPr txBox="1"/>
          <p:nvPr/>
        </p:nvSpPr>
        <p:spPr>
          <a:xfrm>
            <a:off x="9728200" y="2590800"/>
            <a:ext cx="1219200" cy="276999"/>
          </a:xfrm>
          <a:prstGeom prst="rect">
            <a:avLst/>
          </a:prstGeom>
          <a:noFill/>
        </p:spPr>
        <p:txBody>
          <a:bodyPr vert="horz" wrap="square" lIns="0" tIns="0" rIns="0" bIns="0" rtlCol="0">
            <a:noAutofit/>
          </a:bodyPr>
          <a:lstStyle/>
          <a:p>
            <a:r>
              <a:rPr lang="en-US" altLang="zh-CN" sz="770" b="1">
                <a:solidFill>
                  <a:srgbClr val="D6E8FA"/>
                </a:solidFill>
                <a:latin typeface="Aptos" panose="020B0004020202020204" pitchFamily="34" charset="0"/>
              </a:rPr>
              <a:t>Project page</a:t>
            </a:r>
            <a:endParaRPr lang="zh-CN" altLang="en-US" sz="770" b="1">
              <a:solidFill>
                <a:srgbClr val="D6E8FA"/>
              </a:solidFill>
              <a:latin typeface="Aptos" panose="020B0004020202020204" pitchFamily="34" charset="0"/>
            </a:endParaRPr>
          </a:p>
        </p:txBody>
      </p:sp>
      <p:sp>
        <p:nvSpPr>
          <p:cNvPr id="41" name="route-dot-1">
            <a:extLst>
              <a:ext uri="{FF2B5EF4-FFF2-40B4-BE49-F238E27FC236}">
                <a16:creationId xmlns:a16="http://schemas.microsoft.com/office/drawing/2014/main" id="{EAB7302F-6ACC-2CD9-330C-507665422C8E}"/>
              </a:ext>
            </a:extLst>
          </p:cNvPr>
          <p:cNvSpPr/>
          <p:nvPr/>
        </p:nvSpPr>
        <p:spPr>
          <a:xfrm>
            <a:off x="9372600" y="2895600"/>
            <a:ext cx="228600" cy="228600"/>
          </a:xfrm>
          <a:prstGeom prst="rect">
            <a:avLst/>
          </a:prstGeom>
          <a:solidFill>
            <a:srgbClr val="00AABE"/>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route-num-1">
            <a:extLst>
              <a:ext uri="{FF2B5EF4-FFF2-40B4-BE49-F238E27FC236}">
                <a16:creationId xmlns:a16="http://schemas.microsoft.com/office/drawing/2014/main" id="{B3040B0C-B88D-AAC9-B21D-98D5545207FE}"/>
              </a:ext>
            </a:extLst>
          </p:cNvPr>
          <p:cNvSpPr txBox="1"/>
          <p:nvPr/>
        </p:nvSpPr>
        <p:spPr>
          <a:xfrm>
            <a:off x="9436100" y="2946400"/>
            <a:ext cx="101600" cy="276999"/>
          </a:xfrm>
          <a:prstGeom prst="rect">
            <a:avLst/>
          </a:prstGeom>
          <a:noFill/>
        </p:spPr>
        <p:txBody>
          <a:bodyPr vert="horz" wrap="square" lIns="0" tIns="0" rIns="0" bIns="0" rtlCol="0">
            <a:noAutofit/>
          </a:bodyPr>
          <a:lstStyle/>
          <a:p>
            <a:r>
              <a:rPr lang="en-US" altLang="zh-CN" sz="580" b="1">
                <a:solidFill>
                  <a:srgbClr val="FFFFFF"/>
                </a:solidFill>
                <a:latin typeface="Aptos" panose="020B0004020202020204" pitchFamily="34" charset="0"/>
              </a:rPr>
              <a:t>2</a:t>
            </a:r>
            <a:endParaRPr lang="zh-CN" altLang="en-US" sz="580" b="1">
              <a:solidFill>
                <a:srgbClr val="FFFFFF"/>
              </a:solidFill>
              <a:latin typeface="Aptos" panose="020B0004020202020204" pitchFamily="34" charset="0"/>
            </a:endParaRPr>
          </a:p>
        </p:txBody>
      </p:sp>
      <p:sp>
        <p:nvSpPr>
          <p:cNvPr id="43" name="route-item-1">
            <a:extLst>
              <a:ext uri="{FF2B5EF4-FFF2-40B4-BE49-F238E27FC236}">
                <a16:creationId xmlns:a16="http://schemas.microsoft.com/office/drawing/2014/main" id="{6B0F675D-3604-5FBE-D258-C5928A8271CD}"/>
              </a:ext>
            </a:extLst>
          </p:cNvPr>
          <p:cNvSpPr txBox="1"/>
          <p:nvPr/>
        </p:nvSpPr>
        <p:spPr>
          <a:xfrm>
            <a:off x="9728200" y="2921000"/>
            <a:ext cx="1219200" cy="276999"/>
          </a:xfrm>
          <a:prstGeom prst="rect">
            <a:avLst/>
          </a:prstGeom>
          <a:noFill/>
        </p:spPr>
        <p:txBody>
          <a:bodyPr vert="horz" wrap="square" lIns="0" tIns="0" rIns="0" bIns="0" rtlCol="0">
            <a:noAutofit/>
          </a:bodyPr>
          <a:lstStyle/>
          <a:p>
            <a:r>
              <a:rPr lang="en-US" altLang="zh-CN" sz="770" b="1">
                <a:solidFill>
                  <a:srgbClr val="D6E8FA"/>
                </a:solidFill>
                <a:latin typeface="Aptos" panose="020B0004020202020204" pitchFamily="34" charset="0"/>
              </a:rPr>
              <a:t>Repository</a:t>
            </a:r>
            <a:endParaRPr lang="zh-CN" altLang="en-US" sz="770" b="1">
              <a:solidFill>
                <a:srgbClr val="D6E8FA"/>
              </a:solidFill>
              <a:latin typeface="Aptos" panose="020B0004020202020204" pitchFamily="34" charset="0"/>
            </a:endParaRPr>
          </a:p>
        </p:txBody>
      </p:sp>
      <p:sp>
        <p:nvSpPr>
          <p:cNvPr id="44" name="route-dot-2">
            <a:extLst>
              <a:ext uri="{FF2B5EF4-FFF2-40B4-BE49-F238E27FC236}">
                <a16:creationId xmlns:a16="http://schemas.microsoft.com/office/drawing/2014/main" id="{0F4038DC-7852-7A28-7CCB-397F75C03F3F}"/>
              </a:ext>
            </a:extLst>
          </p:cNvPr>
          <p:cNvSpPr/>
          <p:nvPr/>
        </p:nvSpPr>
        <p:spPr>
          <a:xfrm>
            <a:off x="9372600" y="3225800"/>
            <a:ext cx="228600" cy="228600"/>
          </a:xfrm>
          <a:prstGeom prst="rect">
            <a:avLst/>
          </a:prstGeom>
          <a:solidFill>
            <a:srgbClr val="784CD2"/>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route-num-2">
            <a:extLst>
              <a:ext uri="{FF2B5EF4-FFF2-40B4-BE49-F238E27FC236}">
                <a16:creationId xmlns:a16="http://schemas.microsoft.com/office/drawing/2014/main" id="{041D0CDF-C4CA-B05F-3127-E092D7DFBFCB}"/>
              </a:ext>
            </a:extLst>
          </p:cNvPr>
          <p:cNvSpPr txBox="1"/>
          <p:nvPr/>
        </p:nvSpPr>
        <p:spPr>
          <a:xfrm>
            <a:off x="9436100" y="3276600"/>
            <a:ext cx="101600" cy="276999"/>
          </a:xfrm>
          <a:prstGeom prst="rect">
            <a:avLst/>
          </a:prstGeom>
          <a:noFill/>
        </p:spPr>
        <p:txBody>
          <a:bodyPr vert="horz" wrap="square" lIns="0" tIns="0" rIns="0" bIns="0" rtlCol="0">
            <a:noAutofit/>
          </a:bodyPr>
          <a:lstStyle/>
          <a:p>
            <a:r>
              <a:rPr lang="en-US" altLang="zh-CN" sz="580" b="1">
                <a:solidFill>
                  <a:srgbClr val="FFFFFF"/>
                </a:solidFill>
                <a:latin typeface="Aptos" panose="020B0004020202020204" pitchFamily="34" charset="0"/>
              </a:rPr>
              <a:t>3</a:t>
            </a:r>
            <a:endParaRPr lang="zh-CN" altLang="en-US" sz="580" b="1">
              <a:solidFill>
                <a:srgbClr val="FFFFFF"/>
              </a:solidFill>
              <a:latin typeface="Aptos" panose="020B0004020202020204" pitchFamily="34" charset="0"/>
            </a:endParaRPr>
          </a:p>
        </p:txBody>
      </p:sp>
      <p:sp>
        <p:nvSpPr>
          <p:cNvPr id="46" name="route-item-2">
            <a:extLst>
              <a:ext uri="{FF2B5EF4-FFF2-40B4-BE49-F238E27FC236}">
                <a16:creationId xmlns:a16="http://schemas.microsoft.com/office/drawing/2014/main" id="{B3446E1E-5D85-6A05-A1D9-2117B8AF3EEC}"/>
              </a:ext>
            </a:extLst>
          </p:cNvPr>
          <p:cNvSpPr txBox="1"/>
          <p:nvPr/>
        </p:nvSpPr>
        <p:spPr>
          <a:xfrm>
            <a:off x="9728200" y="3251200"/>
            <a:ext cx="1219200" cy="276999"/>
          </a:xfrm>
          <a:prstGeom prst="rect">
            <a:avLst/>
          </a:prstGeom>
          <a:noFill/>
        </p:spPr>
        <p:txBody>
          <a:bodyPr vert="horz" wrap="square" lIns="0" tIns="0" rIns="0" bIns="0" rtlCol="0">
            <a:noAutofit/>
          </a:bodyPr>
          <a:lstStyle/>
          <a:p>
            <a:r>
              <a:rPr lang="en-US" altLang="zh-CN" sz="770" b="1">
                <a:solidFill>
                  <a:srgbClr val="D6E8FA"/>
                </a:solidFill>
                <a:latin typeface="Aptos" panose="020B0004020202020204" pitchFamily="34" charset="0"/>
              </a:rPr>
              <a:t>Claim boundaries</a:t>
            </a:r>
            <a:endParaRPr lang="zh-CN" altLang="en-US" sz="770" b="1">
              <a:solidFill>
                <a:srgbClr val="D6E8FA"/>
              </a:solidFill>
              <a:latin typeface="Aptos" panose="020B0004020202020204" pitchFamily="34" charset="0"/>
            </a:endParaRPr>
          </a:p>
        </p:txBody>
      </p:sp>
      <p:sp>
        <p:nvSpPr>
          <p:cNvPr id="47" name="route-dot-3">
            <a:extLst>
              <a:ext uri="{FF2B5EF4-FFF2-40B4-BE49-F238E27FC236}">
                <a16:creationId xmlns:a16="http://schemas.microsoft.com/office/drawing/2014/main" id="{A112EA2F-B965-26FC-D32E-CBD21156B732}"/>
              </a:ext>
            </a:extLst>
          </p:cNvPr>
          <p:cNvSpPr/>
          <p:nvPr/>
        </p:nvSpPr>
        <p:spPr>
          <a:xfrm>
            <a:off x="9372600" y="3556000"/>
            <a:ext cx="228600" cy="228600"/>
          </a:xfrm>
          <a:prstGeom prst="rect">
            <a:avLst/>
          </a:prstGeom>
          <a:solidFill>
            <a:srgbClr val="EE9122"/>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route-num-3">
            <a:extLst>
              <a:ext uri="{FF2B5EF4-FFF2-40B4-BE49-F238E27FC236}">
                <a16:creationId xmlns:a16="http://schemas.microsoft.com/office/drawing/2014/main" id="{40AD6EC5-39F6-3081-999E-8A60A38CAC25}"/>
              </a:ext>
            </a:extLst>
          </p:cNvPr>
          <p:cNvSpPr txBox="1"/>
          <p:nvPr/>
        </p:nvSpPr>
        <p:spPr>
          <a:xfrm>
            <a:off x="9436100" y="3606800"/>
            <a:ext cx="101600" cy="276999"/>
          </a:xfrm>
          <a:prstGeom prst="rect">
            <a:avLst/>
          </a:prstGeom>
          <a:noFill/>
        </p:spPr>
        <p:txBody>
          <a:bodyPr vert="horz" wrap="square" lIns="0" tIns="0" rIns="0" bIns="0" rtlCol="0">
            <a:noAutofit/>
          </a:bodyPr>
          <a:lstStyle/>
          <a:p>
            <a:r>
              <a:rPr lang="en-US" altLang="zh-CN" sz="580" b="1">
                <a:solidFill>
                  <a:srgbClr val="FFFFFF"/>
                </a:solidFill>
                <a:latin typeface="Aptos" panose="020B0004020202020204" pitchFamily="34" charset="0"/>
              </a:rPr>
              <a:t>4</a:t>
            </a:r>
            <a:endParaRPr lang="zh-CN" altLang="en-US" sz="580" b="1">
              <a:solidFill>
                <a:srgbClr val="FFFFFF"/>
              </a:solidFill>
              <a:latin typeface="Aptos" panose="020B0004020202020204" pitchFamily="34" charset="0"/>
            </a:endParaRPr>
          </a:p>
        </p:txBody>
      </p:sp>
      <p:sp>
        <p:nvSpPr>
          <p:cNvPr id="49" name="route-item-3">
            <a:extLst>
              <a:ext uri="{FF2B5EF4-FFF2-40B4-BE49-F238E27FC236}">
                <a16:creationId xmlns:a16="http://schemas.microsoft.com/office/drawing/2014/main" id="{C3F6B8AE-40DD-1DE1-0087-00F20E72D325}"/>
              </a:ext>
            </a:extLst>
          </p:cNvPr>
          <p:cNvSpPr txBox="1"/>
          <p:nvPr/>
        </p:nvSpPr>
        <p:spPr>
          <a:xfrm>
            <a:off x="9728200" y="3581400"/>
            <a:ext cx="1219200" cy="276999"/>
          </a:xfrm>
          <a:prstGeom prst="rect">
            <a:avLst/>
          </a:prstGeom>
          <a:noFill/>
        </p:spPr>
        <p:txBody>
          <a:bodyPr vert="horz" wrap="square" lIns="0" tIns="0" rIns="0" bIns="0" rtlCol="0">
            <a:noAutofit/>
          </a:bodyPr>
          <a:lstStyle/>
          <a:p>
            <a:r>
              <a:rPr lang="en-US" altLang="zh-CN" sz="770" b="1">
                <a:solidFill>
                  <a:srgbClr val="D6E8FA"/>
                </a:solidFill>
                <a:latin typeface="Aptos" panose="020B0004020202020204" pitchFamily="34" charset="0"/>
              </a:rPr>
              <a:t>Traceability</a:t>
            </a:r>
            <a:endParaRPr lang="zh-CN" altLang="en-US" sz="770" b="1">
              <a:solidFill>
                <a:srgbClr val="D6E8FA"/>
              </a:solidFill>
              <a:latin typeface="Aptos" panose="020B0004020202020204" pitchFamily="34" charset="0"/>
            </a:endParaRPr>
          </a:p>
        </p:txBody>
      </p:sp>
      <p:sp>
        <p:nvSpPr>
          <p:cNvPr id="50" name="route-dot-4">
            <a:extLst>
              <a:ext uri="{FF2B5EF4-FFF2-40B4-BE49-F238E27FC236}">
                <a16:creationId xmlns:a16="http://schemas.microsoft.com/office/drawing/2014/main" id="{CDFCDB22-93B6-01B8-07BB-51787AA1BE50}"/>
              </a:ext>
            </a:extLst>
          </p:cNvPr>
          <p:cNvSpPr/>
          <p:nvPr/>
        </p:nvSpPr>
        <p:spPr>
          <a:xfrm>
            <a:off x="9372600" y="3886200"/>
            <a:ext cx="228600" cy="228600"/>
          </a:xfrm>
          <a:prstGeom prst="rect">
            <a:avLst/>
          </a:prstGeom>
          <a:solidFill>
            <a:srgbClr val="008E66"/>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route-num-4">
            <a:extLst>
              <a:ext uri="{FF2B5EF4-FFF2-40B4-BE49-F238E27FC236}">
                <a16:creationId xmlns:a16="http://schemas.microsoft.com/office/drawing/2014/main" id="{F08E8EBE-7176-64B1-EA56-2E1141BE1529}"/>
              </a:ext>
            </a:extLst>
          </p:cNvPr>
          <p:cNvSpPr txBox="1"/>
          <p:nvPr/>
        </p:nvSpPr>
        <p:spPr>
          <a:xfrm>
            <a:off x="9436100" y="3937000"/>
            <a:ext cx="101600" cy="276999"/>
          </a:xfrm>
          <a:prstGeom prst="rect">
            <a:avLst/>
          </a:prstGeom>
          <a:noFill/>
        </p:spPr>
        <p:txBody>
          <a:bodyPr vert="horz" wrap="square" lIns="0" tIns="0" rIns="0" bIns="0" rtlCol="0">
            <a:noAutofit/>
          </a:bodyPr>
          <a:lstStyle/>
          <a:p>
            <a:r>
              <a:rPr lang="en-US" altLang="zh-CN" sz="580" b="1">
                <a:solidFill>
                  <a:srgbClr val="FFFFFF"/>
                </a:solidFill>
                <a:latin typeface="Aptos" panose="020B0004020202020204" pitchFamily="34" charset="0"/>
              </a:rPr>
              <a:t>5</a:t>
            </a:r>
            <a:endParaRPr lang="zh-CN" altLang="en-US" sz="580" b="1">
              <a:solidFill>
                <a:srgbClr val="FFFFFF"/>
              </a:solidFill>
              <a:latin typeface="Aptos" panose="020B0004020202020204" pitchFamily="34" charset="0"/>
            </a:endParaRPr>
          </a:p>
        </p:txBody>
      </p:sp>
      <p:sp>
        <p:nvSpPr>
          <p:cNvPr id="52" name="route-item-4">
            <a:extLst>
              <a:ext uri="{FF2B5EF4-FFF2-40B4-BE49-F238E27FC236}">
                <a16:creationId xmlns:a16="http://schemas.microsoft.com/office/drawing/2014/main" id="{C4F67B63-3A92-C709-623D-69AFDE38FCD9}"/>
              </a:ext>
            </a:extLst>
          </p:cNvPr>
          <p:cNvSpPr txBox="1"/>
          <p:nvPr/>
        </p:nvSpPr>
        <p:spPr>
          <a:xfrm>
            <a:off x="9728200" y="3911600"/>
            <a:ext cx="1219200" cy="276999"/>
          </a:xfrm>
          <a:prstGeom prst="rect">
            <a:avLst/>
          </a:prstGeom>
          <a:noFill/>
        </p:spPr>
        <p:txBody>
          <a:bodyPr vert="horz" wrap="square" lIns="0" tIns="0" rIns="0" bIns="0" rtlCol="0">
            <a:noAutofit/>
          </a:bodyPr>
          <a:lstStyle/>
          <a:p>
            <a:r>
              <a:rPr lang="en-US" altLang="zh-CN" sz="770" b="1">
                <a:solidFill>
                  <a:srgbClr val="D6E8FA"/>
                </a:solidFill>
                <a:latin typeface="Aptos" panose="020B0004020202020204" pitchFamily="34" charset="0"/>
              </a:rPr>
              <a:t>Manifest</a:t>
            </a:r>
            <a:endParaRPr lang="zh-CN" altLang="en-US" sz="770" b="1">
              <a:solidFill>
                <a:srgbClr val="D6E8FA"/>
              </a:solidFill>
              <a:latin typeface="Aptos" panose="020B0004020202020204" pitchFamily="34" charset="0"/>
            </a:endParaRPr>
          </a:p>
        </p:txBody>
      </p:sp>
      <p:sp>
        <p:nvSpPr>
          <p:cNvPr id="53" name="demo-caption">
            <a:extLst>
              <a:ext uri="{FF2B5EF4-FFF2-40B4-BE49-F238E27FC236}">
                <a16:creationId xmlns:a16="http://schemas.microsoft.com/office/drawing/2014/main" id="{6089AFD0-F9F6-9445-04FE-B20964FF443A}"/>
              </a:ext>
            </a:extLst>
          </p:cNvPr>
          <p:cNvSpPr/>
          <p:nvPr/>
        </p:nvSpPr>
        <p:spPr>
          <a:xfrm>
            <a:off x="1092200" y="5003800"/>
            <a:ext cx="7112000" cy="3048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demo-caption-text">
            <a:extLst>
              <a:ext uri="{FF2B5EF4-FFF2-40B4-BE49-F238E27FC236}">
                <a16:creationId xmlns:a16="http://schemas.microsoft.com/office/drawing/2014/main" id="{3B77477A-6A4D-376D-AFC6-D53A5F77A2B3}"/>
              </a:ext>
            </a:extLst>
          </p:cNvPr>
          <p:cNvSpPr txBox="1"/>
          <p:nvPr/>
        </p:nvSpPr>
        <p:spPr>
          <a:xfrm>
            <a:off x="1397000" y="5092700"/>
            <a:ext cx="6502400" cy="276999"/>
          </a:xfrm>
          <a:prstGeom prst="rect">
            <a:avLst/>
          </a:prstGeom>
          <a:noFill/>
        </p:spPr>
        <p:txBody>
          <a:bodyPr vert="horz" wrap="square" lIns="0" tIns="0" rIns="0" bIns="0" rtlCol="0">
            <a:noAutofit/>
          </a:bodyPr>
          <a:lstStyle/>
          <a:p>
            <a:r>
              <a:rPr lang="en-US" altLang="zh-CN" sz="690" b="1">
                <a:solidFill>
                  <a:srgbClr val="FFFFFF"/>
                </a:solidFill>
                <a:latin typeface="Aptos" panose="020B0004020202020204" pitchFamily="34" charset="0"/>
              </a:rPr>
              <a:t>Use the page as the entry point; use GitHub only when the examiner asks for the artifact.</a:t>
            </a:r>
            <a:endParaRPr lang="zh-CN" altLang="en-US" sz="690" b="1">
              <a:solidFill>
                <a:srgbClr val="FFFFFF"/>
              </a:solidFill>
              <a:latin typeface="Aptos" panose="020B0004020202020204" pitchFamily="34" charset="0"/>
            </a:endParaRPr>
          </a:p>
        </p:txBody>
      </p:sp>
      <p:pic>
        <p:nvPicPr>
          <p:cNvPr id="56" name="图片 55">
            <a:hlinkClick r:id="rId4"/>
            <a:extLst>
              <a:ext uri="{FF2B5EF4-FFF2-40B4-BE49-F238E27FC236}">
                <a16:creationId xmlns:a16="http://schemas.microsoft.com/office/drawing/2014/main" id="{F05916D1-5E9A-0DAF-95DE-131E7353CA1A}"/>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9194800" y="4749800"/>
            <a:ext cx="1168400" cy="1168400"/>
          </a:xfrm>
          <a:prstGeom prst="rect">
            <a:avLst/>
          </a:prstGeom>
        </p:spPr>
      </p:pic>
      <p:sp>
        <p:nvSpPr>
          <p:cNvPr id="57" name="open-page">
            <a:hlinkClick r:id="rId4"/>
            <a:extLst>
              <a:ext uri="{FF2B5EF4-FFF2-40B4-BE49-F238E27FC236}">
                <a16:creationId xmlns:a16="http://schemas.microsoft.com/office/drawing/2014/main" id="{4AE10DA7-FE47-9BAC-B55A-D2D58BE298FA}"/>
              </a:ext>
            </a:extLst>
          </p:cNvPr>
          <p:cNvSpPr/>
          <p:nvPr/>
        </p:nvSpPr>
        <p:spPr>
          <a:xfrm>
            <a:off x="10464800" y="4978400"/>
            <a:ext cx="8636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Open page</a:t>
            </a:r>
            <a:endParaRPr lang="zh-CN" altLang="en-US" sz="850" b="1">
              <a:solidFill>
                <a:srgbClr val="004080"/>
              </a:solidFill>
              <a:latin typeface="Aptos" panose="020B0004020202020204" pitchFamily="34" charset="0"/>
            </a:endParaRPr>
          </a:p>
        </p:txBody>
      </p:sp>
      <p:pic>
        <p:nvPicPr>
          <p:cNvPr id="59" name="图片 58">
            <a:extLst>
              <a:ext uri="{FF2B5EF4-FFF2-40B4-BE49-F238E27FC236}">
                <a16:creationId xmlns:a16="http://schemas.microsoft.com/office/drawing/2014/main" id="{322D5B39-C9A9-136E-448E-E8112AA96E01}"/>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4073593194"/>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2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5B0A9FD8-A2DD-F52E-BCF5-3C021979708A}"/>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7E36D876-05AE-4F5B-8304-25354B2254BD}"/>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0A24279B-3D83-CC45-21AC-3E9E05185673}"/>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6F7CC908-4A6E-4EB2-F7B3-341DD439B4A0}"/>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8AC41556-9C17-2263-3274-1E07594EF949}"/>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3A14BDFE-259C-7AC0-7718-288BBC8BC1EB}"/>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11</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9A7F64F5-27E0-CC70-4221-9CD4FD03F1E3}"/>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DEMO 2</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E55D7D23-F085-32C1-DB14-49A01139F3C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16CCEA60-C7EE-AE10-7B87-C3F6324E5DD9}"/>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Repository check: 60 seconds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80CE461C-1E93-FBEC-34FF-44157749B001}"/>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This is a lightweight integrity check, not a full GPU or API rerun.</a:t>
            </a:r>
            <a:endParaRPr lang="zh-CN" altLang="en-US" sz="950">
              <a:solidFill>
                <a:srgbClr val="536580"/>
              </a:solidFill>
              <a:latin typeface="Aptos" panose="020B0004020202020204" pitchFamily="34" charset="0"/>
            </a:endParaRPr>
          </a:p>
        </p:txBody>
      </p:sp>
      <p:sp>
        <p:nvSpPr>
          <p:cNvPr id="13" name="terminal">
            <a:extLst>
              <a:ext uri="{FF2B5EF4-FFF2-40B4-BE49-F238E27FC236}">
                <a16:creationId xmlns:a16="http://schemas.microsoft.com/office/drawing/2014/main" id="{61DA02F9-0753-FF5A-C161-7371233AC050}"/>
              </a:ext>
            </a:extLst>
          </p:cNvPr>
          <p:cNvSpPr/>
          <p:nvPr/>
        </p:nvSpPr>
        <p:spPr>
          <a:xfrm>
            <a:off x="889000" y="1905000"/>
            <a:ext cx="6604000" cy="2921000"/>
          </a:xfrm>
          <a:prstGeom prst="rect">
            <a:avLst/>
          </a:prstGeom>
          <a:solidFill>
            <a:srgbClr val="03204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title">
            <a:extLst>
              <a:ext uri="{FF2B5EF4-FFF2-40B4-BE49-F238E27FC236}">
                <a16:creationId xmlns:a16="http://schemas.microsoft.com/office/drawing/2014/main" id="{5DE53C77-ADBC-645D-79EC-23E9FDB08104}"/>
              </a:ext>
            </a:extLst>
          </p:cNvPr>
          <p:cNvSpPr txBox="1"/>
          <p:nvPr/>
        </p:nvSpPr>
        <p:spPr>
          <a:xfrm>
            <a:off x="1193800" y="2209800"/>
            <a:ext cx="2286000" cy="276999"/>
          </a:xfrm>
          <a:prstGeom prst="rect">
            <a:avLst/>
          </a:prstGeom>
          <a:noFill/>
        </p:spPr>
        <p:txBody>
          <a:bodyPr vert="horz" wrap="square" lIns="0" tIns="0" rIns="0" bIns="0" rtlCol="0">
            <a:noAutofit/>
          </a:bodyPr>
          <a:lstStyle/>
          <a:p>
            <a:r>
              <a:rPr lang="en-US" altLang="zh-CN" sz="800" b="1">
                <a:solidFill>
                  <a:srgbClr val="BEDCFF"/>
                </a:solidFill>
                <a:latin typeface="Aptos" panose="020B0004020202020204" pitchFamily="34" charset="0"/>
              </a:rPr>
              <a:t>PowerShell / repository root</a:t>
            </a:r>
            <a:endParaRPr lang="zh-CN" altLang="en-US" sz="800" b="1">
              <a:solidFill>
                <a:srgbClr val="BEDCFF"/>
              </a:solidFill>
              <a:latin typeface="Aptos" panose="020B0004020202020204" pitchFamily="34" charset="0"/>
            </a:endParaRPr>
          </a:p>
        </p:txBody>
      </p:sp>
      <p:cxnSp>
        <p:nvCxnSpPr>
          <p:cNvPr id="15" name="term-rule">
            <a:extLst>
              <a:ext uri="{FF2B5EF4-FFF2-40B4-BE49-F238E27FC236}">
                <a16:creationId xmlns:a16="http://schemas.microsoft.com/office/drawing/2014/main" id="{3BD3747D-31E4-643E-1899-0EDC192468FA}"/>
              </a:ext>
            </a:extLst>
          </p:cNvPr>
          <p:cNvCxnSpPr/>
          <p:nvPr/>
        </p:nvCxnSpPr>
        <p:spPr>
          <a:xfrm>
            <a:off x="1193800" y="2514600"/>
            <a:ext cx="5918200" cy="0"/>
          </a:xfrm>
          <a:prstGeom prst="line">
            <a:avLst/>
          </a:prstGeom>
          <a:ln w="12700">
            <a:solidFill>
              <a:srgbClr val="4673AF"/>
            </a:solidFill>
          </a:ln>
        </p:spPr>
        <p:style>
          <a:lnRef idx="1">
            <a:schemeClr val="accent1"/>
          </a:lnRef>
          <a:fillRef idx="0">
            <a:schemeClr val="accent1"/>
          </a:fillRef>
          <a:effectRef idx="0">
            <a:schemeClr val="accent1"/>
          </a:effectRef>
          <a:fontRef idx="minor">
            <a:schemeClr val="tx1"/>
          </a:fontRef>
        </p:style>
      </p:cxnSp>
      <p:sp>
        <p:nvSpPr>
          <p:cNvPr id="16" name="terminal-text">
            <a:extLst>
              <a:ext uri="{FF2B5EF4-FFF2-40B4-BE49-F238E27FC236}">
                <a16:creationId xmlns:a16="http://schemas.microsoft.com/office/drawing/2014/main" id="{D4CFB558-894E-5C21-52F2-A96B54BB8544}"/>
              </a:ext>
            </a:extLst>
          </p:cNvPr>
          <p:cNvSpPr txBox="1"/>
          <p:nvPr/>
        </p:nvSpPr>
        <p:spPr>
          <a:xfrm>
            <a:off x="1193800" y="2768600"/>
            <a:ext cx="5715000" cy="276999"/>
          </a:xfrm>
          <a:prstGeom prst="rect">
            <a:avLst/>
          </a:prstGeom>
          <a:noFill/>
        </p:spPr>
        <p:txBody>
          <a:bodyPr vert="horz" wrap="square" lIns="0" tIns="0" rIns="0" bIns="0" rtlCol="0">
            <a:noAutofit/>
          </a:bodyPr>
          <a:lstStyle/>
          <a:p>
            <a:r>
              <a:rPr lang="en-US" altLang="zh-CN" sz="1100">
                <a:solidFill>
                  <a:srgbClr val="FFFFFF"/>
                </a:solidFill>
                <a:latin typeface="Consolas" panose="020B0609020204030204" pitchFamily="49" charset="0"/>
              </a:rPr>
              <a:t>python scripts\\viva_check.py
[OK] Viva-facing documents present
[OK] Result manifest covers modules
[OK] Manifest artifact hashes verified
[OK] Claim boundaries are present
[OK] Viva check passed</a:t>
            </a:r>
            <a:endParaRPr lang="zh-CN" altLang="en-US" sz="1100">
              <a:solidFill>
                <a:srgbClr val="FFFFFF"/>
              </a:solidFill>
              <a:latin typeface="Consolas" panose="020B0609020204030204" pitchFamily="49" charset="0"/>
            </a:endParaRPr>
          </a:p>
        </p:txBody>
      </p:sp>
      <p:sp>
        <p:nvSpPr>
          <p:cNvPr id="17" name="check-0">
            <a:extLst>
              <a:ext uri="{FF2B5EF4-FFF2-40B4-BE49-F238E27FC236}">
                <a16:creationId xmlns:a16="http://schemas.microsoft.com/office/drawing/2014/main" id="{35D08866-090F-5BEA-A74C-4663861ED213}"/>
              </a:ext>
            </a:extLst>
          </p:cNvPr>
          <p:cNvSpPr/>
          <p:nvPr/>
        </p:nvSpPr>
        <p:spPr>
          <a:xfrm>
            <a:off x="8204200" y="2082800"/>
            <a:ext cx="2540000" cy="609600"/>
          </a:xfrm>
          <a:prstGeom prst="rect">
            <a:avLst/>
          </a:prstGeom>
          <a:solidFill>
            <a:srgbClr val="E7F1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heck-title-0">
            <a:extLst>
              <a:ext uri="{FF2B5EF4-FFF2-40B4-BE49-F238E27FC236}">
                <a16:creationId xmlns:a16="http://schemas.microsoft.com/office/drawing/2014/main" id="{4DBA109B-E54D-430C-706B-0DFC23ED4FA4}"/>
              </a:ext>
            </a:extLst>
          </p:cNvPr>
          <p:cNvSpPr txBox="1"/>
          <p:nvPr/>
        </p:nvSpPr>
        <p:spPr>
          <a:xfrm>
            <a:off x="8509000" y="2209800"/>
            <a:ext cx="1524000" cy="276999"/>
          </a:xfrm>
          <a:prstGeom prst="rect">
            <a:avLst/>
          </a:prstGeom>
          <a:noFill/>
        </p:spPr>
        <p:txBody>
          <a:bodyPr vert="horz" wrap="square" lIns="0" tIns="0" rIns="0" bIns="0" rtlCol="0">
            <a:noAutofit/>
          </a:bodyPr>
          <a:lstStyle/>
          <a:p>
            <a:r>
              <a:rPr lang="en-US" altLang="zh-CN" sz="800" b="1">
                <a:solidFill>
                  <a:srgbClr val="004080"/>
                </a:solidFill>
                <a:latin typeface="Aptos" panose="020B0004020202020204" pitchFamily="34" charset="0"/>
              </a:rPr>
              <a:t>Proves</a:t>
            </a:r>
            <a:endParaRPr lang="zh-CN" altLang="en-US" sz="800" b="1">
              <a:solidFill>
                <a:srgbClr val="004080"/>
              </a:solidFill>
              <a:latin typeface="Aptos" panose="020B0004020202020204" pitchFamily="34" charset="0"/>
            </a:endParaRPr>
          </a:p>
        </p:txBody>
      </p:sp>
      <p:sp>
        <p:nvSpPr>
          <p:cNvPr id="19" name="check-sub-0">
            <a:extLst>
              <a:ext uri="{FF2B5EF4-FFF2-40B4-BE49-F238E27FC236}">
                <a16:creationId xmlns:a16="http://schemas.microsoft.com/office/drawing/2014/main" id="{F082B458-D70F-E76B-1E12-2B122BA51FBE}"/>
              </a:ext>
            </a:extLst>
          </p:cNvPr>
          <p:cNvSpPr txBox="1"/>
          <p:nvPr/>
        </p:nvSpPr>
        <p:spPr>
          <a:xfrm>
            <a:off x="8509000" y="24384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files, hashes, links</a:t>
            </a:r>
            <a:endParaRPr lang="zh-CN" altLang="en-US" sz="720">
              <a:solidFill>
                <a:srgbClr val="536580"/>
              </a:solidFill>
              <a:latin typeface="Aptos" panose="020B0004020202020204" pitchFamily="34" charset="0"/>
            </a:endParaRPr>
          </a:p>
        </p:txBody>
      </p:sp>
      <p:sp>
        <p:nvSpPr>
          <p:cNvPr id="20" name="check-1">
            <a:extLst>
              <a:ext uri="{FF2B5EF4-FFF2-40B4-BE49-F238E27FC236}">
                <a16:creationId xmlns:a16="http://schemas.microsoft.com/office/drawing/2014/main" id="{801F5328-A006-0C87-F6FB-7DA666A947A7}"/>
              </a:ext>
            </a:extLst>
          </p:cNvPr>
          <p:cNvSpPr/>
          <p:nvPr/>
        </p:nvSpPr>
        <p:spPr>
          <a:xfrm>
            <a:off x="8204200" y="3048000"/>
            <a:ext cx="2540000" cy="609600"/>
          </a:xfrm>
          <a:prstGeom prst="rect">
            <a:avLst/>
          </a:prstGeom>
          <a:solidFill>
            <a:srgbClr val="FFF5E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heck-title-1">
            <a:extLst>
              <a:ext uri="{FF2B5EF4-FFF2-40B4-BE49-F238E27FC236}">
                <a16:creationId xmlns:a16="http://schemas.microsoft.com/office/drawing/2014/main" id="{24147A8D-E3AF-3609-5309-132C85A0E2F8}"/>
              </a:ext>
            </a:extLst>
          </p:cNvPr>
          <p:cNvSpPr txBox="1"/>
          <p:nvPr/>
        </p:nvSpPr>
        <p:spPr>
          <a:xfrm>
            <a:off x="8509000" y="3175000"/>
            <a:ext cx="1524000" cy="276999"/>
          </a:xfrm>
          <a:prstGeom prst="rect">
            <a:avLst/>
          </a:prstGeom>
          <a:noFill/>
        </p:spPr>
        <p:txBody>
          <a:bodyPr vert="horz" wrap="square" lIns="0" tIns="0" rIns="0" bIns="0" rtlCol="0">
            <a:noAutofit/>
          </a:bodyPr>
          <a:lstStyle/>
          <a:p>
            <a:r>
              <a:rPr lang="en-US" altLang="zh-CN" sz="800" b="1">
                <a:solidFill>
                  <a:srgbClr val="5C3A0C"/>
                </a:solidFill>
                <a:latin typeface="Aptos" panose="020B0004020202020204" pitchFamily="34" charset="0"/>
              </a:rPr>
              <a:t>Does not prove</a:t>
            </a:r>
            <a:endParaRPr lang="zh-CN" altLang="en-US" sz="800" b="1">
              <a:solidFill>
                <a:srgbClr val="5C3A0C"/>
              </a:solidFill>
              <a:latin typeface="Aptos" panose="020B0004020202020204" pitchFamily="34" charset="0"/>
            </a:endParaRPr>
          </a:p>
        </p:txBody>
      </p:sp>
      <p:sp>
        <p:nvSpPr>
          <p:cNvPr id="22" name="check-sub-1">
            <a:extLst>
              <a:ext uri="{FF2B5EF4-FFF2-40B4-BE49-F238E27FC236}">
                <a16:creationId xmlns:a16="http://schemas.microsoft.com/office/drawing/2014/main" id="{EE9FE060-586E-CF64-02DE-71FECC5FF3EE}"/>
              </a:ext>
            </a:extLst>
          </p:cNvPr>
          <p:cNvSpPr txBox="1"/>
          <p:nvPr/>
        </p:nvSpPr>
        <p:spPr>
          <a:xfrm>
            <a:off x="8509000" y="34036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full GPU/API rerun</a:t>
            </a:r>
            <a:endParaRPr lang="zh-CN" altLang="en-US" sz="720">
              <a:solidFill>
                <a:srgbClr val="536580"/>
              </a:solidFill>
              <a:latin typeface="Aptos" panose="020B0004020202020204" pitchFamily="34" charset="0"/>
            </a:endParaRPr>
          </a:p>
        </p:txBody>
      </p:sp>
      <p:sp>
        <p:nvSpPr>
          <p:cNvPr id="23" name="check-2">
            <a:extLst>
              <a:ext uri="{FF2B5EF4-FFF2-40B4-BE49-F238E27FC236}">
                <a16:creationId xmlns:a16="http://schemas.microsoft.com/office/drawing/2014/main" id="{AB3AE63D-5AD1-DE0E-C400-812F292CD8A8}"/>
              </a:ext>
            </a:extLst>
          </p:cNvPr>
          <p:cNvSpPr/>
          <p:nvPr/>
        </p:nvSpPr>
        <p:spPr>
          <a:xfrm>
            <a:off x="8204200" y="4013200"/>
            <a:ext cx="2540000" cy="609600"/>
          </a:xfrm>
          <a:prstGeom prst="rect">
            <a:avLst/>
          </a:prstGeom>
          <a:solidFill>
            <a:srgbClr val="FFEBED"/>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heck-title-2">
            <a:extLst>
              <a:ext uri="{FF2B5EF4-FFF2-40B4-BE49-F238E27FC236}">
                <a16:creationId xmlns:a16="http://schemas.microsoft.com/office/drawing/2014/main" id="{246E4E76-0C40-7717-DF35-1AA2021FFD36}"/>
              </a:ext>
            </a:extLst>
          </p:cNvPr>
          <p:cNvSpPr txBox="1"/>
          <p:nvPr/>
        </p:nvSpPr>
        <p:spPr>
          <a:xfrm>
            <a:off x="8509000" y="4140200"/>
            <a:ext cx="1524000" cy="276999"/>
          </a:xfrm>
          <a:prstGeom prst="rect">
            <a:avLst/>
          </a:prstGeom>
          <a:noFill/>
        </p:spPr>
        <p:txBody>
          <a:bodyPr vert="horz" wrap="square" lIns="0" tIns="0" rIns="0" bIns="0" rtlCol="0">
            <a:noAutofit/>
          </a:bodyPr>
          <a:lstStyle/>
          <a:p>
            <a:r>
              <a:rPr lang="en-US" altLang="zh-CN" sz="800" b="1">
                <a:solidFill>
                  <a:srgbClr val="C52B38"/>
                </a:solidFill>
                <a:latin typeface="Aptos" panose="020B0004020202020204" pitchFamily="34" charset="0"/>
              </a:rPr>
              <a:t>Fallback</a:t>
            </a:r>
            <a:endParaRPr lang="zh-CN" altLang="en-US" sz="800" b="1">
              <a:solidFill>
                <a:srgbClr val="C52B38"/>
              </a:solidFill>
              <a:latin typeface="Aptos" panose="020B0004020202020204" pitchFamily="34" charset="0"/>
            </a:endParaRPr>
          </a:p>
        </p:txBody>
      </p:sp>
      <p:sp>
        <p:nvSpPr>
          <p:cNvPr id="25" name="check-sub-2">
            <a:extLst>
              <a:ext uri="{FF2B5EF4-FFF2-40B4-BE49-F238E27FC236}">
                <a16:creationId xmlns:a16="http://schemas.microsoft.com/office/drawing/2014/main" id="{6B87A194-797A-3090-0591-C1429F7DD2C3}"/>
              </a:ext>
            </a:extLst>
          </p:cNvPr>
          <p:cNvSpPr txBox="1"/>
          <p:nvPr/>
        </p:nvSpPr>
        <p:spPr>
          <a:xfrm>
            <a:off x="8509000" y="4368800"/>
            <a:ext cx="1778000" cy="276999"/>
          </a:xfrm>
          <a:prstGeom prst="rect">
            <a:avLst/>
          </a:prstGeom>
          <a:noFill/>
        </p:spPr>
        <p:txBody>
          <a:bodyPr vert="horz" wrap="square" lIns="0" tIns="0" rIns="0" bIns="0" rtlCol="0">
            <a:noAutofit/>
          </a:bodyPr>
          <a:lstStyle/>
          <a:p>
            <a:r>
              <a:rPr lang="en-US" altLang="zh-CN" sz="720">
                <a:solidFill>
                  <a:srgbClr val="536580"/>
                </a:solidFill>
                <a:latin typeface="Aptos" panose="020B0004020202020204" pitchFamily="34" charset="0"/>
              </a:rPr>
              <a:t>play recorded demo</a:t>
            </a:r>
            <a:endParaRPr lang="zh-CN" altLang="en-US" sz="720">
              <a:solidFill>
                <a:srgbClr val="536580"/>
              </a:solidFill>
              <a:latin typeface="Aptos" panose="020B0004020202020204" pitchFamily="34" charset="0"/>
            </a:endParaRPr>
          </a:p>
        </p:txBody>
      </p:sp>
      <p:sp>
        <p:nvSpPr>
          <p:cNvPr id="26" name="script-link">
            <a:hlinkClick r:id="rId4"/>
            <a:extLst>
              <a:ext uri="{FF2B5EF4-FFF2-40B4-BE49-F238E27FC236}">
                <a16:creationId xmlns:a16="http://schemas.microsoft.com/office/drawing/2014/main" id="{BA4100B1-0DCE-AB30-682A-FAE025456621}"/>
              </a:ext>
            </a:extLst>
          </p:cNvPr>
          <p:cNvSpPr/>
          <p:nvPr/>
        </p:nvSpPr>
        <p:spPr>
          <a:xfrm>
            <a:off x="8204200" y="52324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viva_check.py</a:t>
            </a:r>
            <a:endParaRPr lang="zh-CN" altLang="en-US" sz="850" b="1">
              <a:solidFill>
                <a:srgbClr val="FFFFFF"/>
              </a:solidFill>
              <a:latin typeface="Aptos" panose="020B0004020202020204" pitchFamily="34" charset="0"/>
            </a:endParaRPr>
          </a:p>
        </p:txBody>
      </p:sp>
      <p:sp>
        <p:nvSpPr>
          <p:cNvPr id="27" name="manifest-link">
            <a:hlinkClick r:id="rId5"/>
            <a:extLst>
              <a:ext uri="{FF2B5EF4-FFF2-40B4-BE49-F238E27FC236}">
                <a16:creationId xmlns:a16="http://schemas.microsoft.com/office/drawing/2014/main" id="{B43A1C55-4D07-71AF-1773-040BEFA0C07A}"/>
              </a:ext>
            </a:extLst>
          </p:cNvPr>
          <p:cNvSpPr/>
          <p:nvPr/>
        </p:nvSpPr>
        <p:spPr>
          <a:xfrm>
            <a:off x="9423400" y="5232400"/>
            <a:ext cx="10922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Manifest</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364623141"/>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977BB31B-19E3-5F02-E17A-63285D069DA4}"/>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8D6E5F15-71CE-F6A2-CCEB-BEA2364AEBC6}"/>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DB4CC93D-A84F-2A75-3984-01C4D048CDFD}"/>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3E67F96B-5686-4E8B-9124-29324D46478A}"/>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517F82D5-4216-39A1-8488-8C1B98CCC487}"/>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E4999577-8DD4-C172-D657-28FDDB21E9F0}"/>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12</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C391D997-A90F-FEB5-8F75-78942D7FB245}"/>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DEFENSE</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840595A0-388D-039F-D526-372CF03D203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9DCA57FF-AAD8-D95E-5BBB-B651C6FA40C5}"/>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In Q&amp;A, defend the evidence and refuse unsupported claims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792E0E5F-A652-986F-1ACF-7AD532F58C7C}"/>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safest answer is direct, bounded, and tied to an artifact.</a:t>
            </a:r>
            <a:endParaRPr lang="zh-CN" altLang="en-US" sz="950">
              <a:solidFill>
                <a:srgbClr val="536580"/>
              </a:solidFill>
              <a:latin typeface="Aptos" panose="020B0004020202020204" pitchFamily="34" charset="0"/>
            </a:endParaRPr>
          </a:p>
        </p:txBody>
      </p:sp>
      <p:sp>
        <p:nvSpPr>
          <p:cNvPr id="13" name="def-row-0">
            <a:extLst>
              <a:ext uri="{FF2B5EF4-FFF2-40B4-BE49-F238E27FC236}">
                <a16:creationId xmlns:a16="http://schemas.microsoft.com/office/drawing/2014/main" id="{42B0A097-3968-4346-4101-DBDCE190085F}"/>
              </a:ext>
            </a:extLst>
          </p:cNvPr>
          <p:cNvSpPr/>
          <p:nvPr/>
        </p:nvSpPr>
        <p:spPr>
          <a:xfrm>
            <a:off x="914400" y="1905000"/>
            <a:ext cx="10363200" cy="736600"/>
          </a:xfrm>
          <a:prstGeom prst="rect">
            <a:avLst/>
          </a:prstGeom>
          <a:solidFill>
            <a:srgbClr val="00408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ef-label-0">
            <a:extLst>
              <a:ext uri="{FF2B5EF4-FFF2-40B4-BE49-F238E27FC236}">
                <a16:creationId xmlns:a16="http://schemas.microsoft.com/office/drawing/2014/main" id="{1962BAF0-EE75-05A4-B885-6D9C03B084B8}"/>
              </a:ext>
            </a:extLst>
          </p:cNvPr>
          <p:cNvSpPr txBox="1"/>
          <p:nvPr/>
        </p:nvSpPr>
        <p:spPr>
          <a:xfrm>
            <a:off x="1320800" y="2146300"/>
            <a:ext cx="1651000" cy="276999"/>
          </a:xfrm>
          <a:prstGeom prst="rect">
            <a:avLst/>
          </a:prstGeom>
          <a:noFill/>
        </p:spPr>
        <p:txBody>
          <a:bodyPr vert="horz" wrap="square" lIns="0" tIns="0" rIns="0" bIns="0" rtlCol="0">
            <a:noAutofit/>
          </a:bodyPr>
          <a:lstStyle/>
          <a:p>
            <a:r>
              <a:rPr lang="en-US" altLang="zh-CN" sz="1000" b="1">
                <a:solidFill>
                  <a:srgbClr val="FFFFFF"/>
                </a:solidFill>
                <a:latin typeface="Aptos" panose="020B0004020202020204" pitchFamily="34" charset="0"/>
              </a:rPr>
              <a:t>Defend</a:t>
            </a:r>
            <a:endParaRPr lang="zh-CN" altLang="en-US" sz="1000" b="1">
              <a:solidFill>
                <a:srgbClr val="FFFFFF"/>
              </a:solidFill>
              <a:latin typeface="Aptos" panose="020B0004020202020204" pitchFamily="34" charset="0"/>
            </a:endParaRPr>
          </a:p>
        </p:txBody>
      </p:sp>
      <p:sp>
        <p:nvSpPr>
          <p:cNvPr id="15" name="def-text-0">
            <a:extLst>
              <a:ext uri="{FF2B5EF4-FFF2-40B4-BE49-F238E27FC236}">
                <a16:creationId xmlns:a16="http://schemas.microsoft.com/office/drawing/2014/main" id="{BA275712-8F3F-B0B1-7BE3-AEC3720C0360}"/>
              </a:ext>
            </a:extLst>
          </p:cNvPr>
          <p:cNvSpPr txBox="1"/>
          <p:nvPr/>
        </p:nvSpPr>
        <p:spPr>
          <a:xfrm>
            <a:off x="3225800" y="2146300"/>
            <a:ext cx="73660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fixed denominators | executable controls | artifact hashes | repository traceability</a:t>
            </a:r>
            <a:endParaRPr lang="zh-CN" altLang="en-US" sz="900" b="1">
              <a:solidFill>
                <a:srgbClr val="FFFFFF"/>
              </a:solidFill>
              <a:latin typeface="Aptos" panose="020B0004020202020204" pitchFamily="34" charset="0"/>
            </a:endParaRPr>
          </a:p>
        </p:txBody>
      </p:sp>
      <p:sp>
        <p:nvSpPr>
          <p:cNvPr id="16" name="def-row-1">
            <a:extLst>
              <a:ext uri="{FF2B5EF4-FFF2-40B4-BE49-F238E27FC236}">
                <a16:creationId xmlns:a16="http://schemas.microsoft.com/office/drawing/2014/main" id="{927A80E6-CC55-6D21-54D4-7EEA779D2EEE}"/>
              </a:ext>
            </a:extLst>
          </p:cNvPr>
          <p:cNvSpPr/>
          <p:nvPr/>
        </p:nvSpPr>
        <p:spPr>
          <a:xfrm>
            <a:off x="914400" y="3022600"/>
            <a:ext cx="10363200" cy="736600"/>
          </a:xfrm>
          <a:prstGeom prst="rect">
            <a:avLst/>
          </a:prstGeom>
          <a:solidFill>
            <a:srgbClr val="FFF5E0"/>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def-label-1">
            <a:extLst>
              <a:ext uri="{FF2B5EF4-FFF2-40B4-BE49-F238E27FC236}">
                <a16:creationId xmlns:a16="http://schemas.microsoft.com/office/drawing/2014/main" id="{8FB933BA-BA4E-255A-6302-C726612BA7B7}"/>
              </a:ext>
            </a:extLst>
          </p:cNvPr>
          <p:cNvSpPr txBox="1"/>
          <p:nvPr/>
        </p:nvSpPr>
        <p:spPr>
          <a:xfrm>
            <a:off x="1320800" y="3263900"/>
            <a:ext cx="1651000" cy="276999"/>
          </a:xfrm>
          <a:prstGeom prst="rect">
            <a:avLst/>
          </a:prstGeom>
          <a:noFill/>
        </p:spPr>
        <p:txBody>
          <a:bodyPr vert="horz" wrap="square" lIns="0" tIns="0" rIns="0" bIns="0" rtlCol="0">
            <a:noAutofit/>
          </a:bodyPr>
          <a:lstStyle/>
          <a:p>
            <a:r>
              <a:rPr lang="en-US" altLang="zh-CN" sz="1000" b="1">
                <a:solidFill>
                  <a:srgbClr val="5C3A0C"/>
                </a:solidFill>
                <a:latin typeface="Aptos" panose="020B0004020202020204" pitchFamily="34" charset="0"/>
              </a:rPr>
              <a:t>Qualify</a:t>
            </a:r>
            <a:endParaRPr lang="zh-CN" altLang="en-US" sz="1000" b="1">
              <a:solidFill>
                <a:srgbClr val="5C3A0C"/>
              </a:solidFill>
              <a:latin typeface="Aptos" panose="020B0004020202020204" pitchFamily="34" charset="0"/>
            </a:endParaRPr>
          </a:p>
        </p:txBody>
      </p:sp>
      <p:sp>
        <p:nvSpPr>
          <p:cNvPr id="18" name="def-text-1">
            <a:extLst>
              <a:ext uri="{FF2B5EF4-FFF2-40B4-BE49-F238E27FC236}">
                <a16:creationId xmlns:a16="http://schemas.microsoft.com/office/drawing/2014/main" id="{037E5C09-D2D3-6DA8-D7DC-8C0C3370E91A}"/>
              </a:ext>
            </a:extLst>
          </p:cNvPr>
          <p:cNvSpPr txBox="1"/>
          <p:nvPr/>
        </p:nvSpPr>
        <p:spPr>
          <a:xfrm>
            <a:off x="3225800" y="3263900"/>
            <a:ext cx="7366000" cy="276999"/>
          </a:xfrm>
          <a:prstGeom prst="rect">
            <a:avLst/>
          </a:prstGeom>
          <a:noFill/>
        </p:spPr>
        <p:txBody>
          <a:bodyPr vert="horz" wrap="square" lIns="0" tIns="0" rIns="0" bIns="0" rtlCol="0">
            <a:noAutofit/>
          </a:bodyPr>
          <a:lstStyle/>
          <a:p>
            <a:r>
              <a:rPr lang="en-US" altLang="zh-CN" sz="900" b="1">
                <a:solidFill>
                  <a:srgbClr val="5C3A0C"/>
                </a:solidFill>
                <a:latin typeface="Aptos" panose="020B0004020202020204" pitchFamily="34" charset="0"/>
              </a:rPr>
              <a:t>access model | dataset surface | admitted denominator | demo is not a full rerun</a:t>
            </a:r>
            <a:endParaRPr lang="zh-CN" altLang="en-US" sz="900" b="1">
              <a:solidFill>
                <a:srgbClr val="5C3A0C"/>
              </a:solidFill>
              <a:latin typeface="Aptos" panose="020B0004020202020204" pitchFamily="34" charset="0"/>
            </a:endParaRPr>
          </a:p>
        </p:txBody>
      </p:sp>
      <p:sp>
        <p:nvSpPr>
          <p:cNvPr id="19" name="def-row-2">
            <a:extLst>
              <a:ext uri="{FF2B5EF4-FFF2-40B4-BE49-F238E27FC236}">
                <a16:creationId xmlns:a16="http://schemas.microsoft.com/office/drawing/2014/main" id="{DCBC3B8E-CC1E-10CC-3475-B6D3B8A9AFD3}"/>
              </a:ext>
            </a:extLst>
          </p:cNvPr>
          <p:cNvSpPr/>
          <p:nvPr/>
        </p:nvSpPr>
        <p:spPr>
          <a:xfrm>
            <a:off x="914400" y="4140200"/>
            <a:ext cx="10363200" cy="736600"/>
          </a:xfrm>
          <a:prstGeom prst="rect">
            <a:avLst/>
          </a:prstGeom>
          <a:solidFill>
            <a:srgbClr val="FFEBED"/>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def-label-2">
            <a:extLst>
              <a:ext uri="{FF2B5EF4-FFF2-40B4-BE49-F238E27FC236}">
                <a16:creationId xmlns:a16="http://schemas.microsoft.com/office/drawing/2014/main" id="{A2C2114D-E8A9-5E2A-3B75-676005BAAA5F}"/>
              </a:ext>
            </a:extLst>
          </p:cNvPr>
          <p:cNvSpPr txBox="1"/>
          <p:nvPr/>
        </p:nvSpPr>
        <p:spPr>
          <a:xfrm>
            <a:off x="1320800" y="4381500"/>
            <a:ext cx="1651000" cy="276999"/>
          </a:xfrm>
          <a:prstGeom prst="rect">
            <a:avLst/>
          </a:prstGeom>
          <a:noFill/>
        </p:spPr>
        <p:txBody>
          <a:bodyPr vert="horz" wrap="square" lIns="0" tIns="0" rIns="0" bIns="0" rtlCol="0">
            <a:noAutofit/>
          </a:bodyPr>
          <a:lstStyle/>
          <a:p>
            <a:r>
              <a:rPr lang="en-US" altLang="zh-CN" sz="1000" b="1">
                <a:solidFill>
                  <a:srgbClr val="C52B38"/>
                </a:solidFill>
                <a:latin typeface="Aptos" panose="020B0004020202020204" pitchFamily="34" charset="0"/>
              </a:rPr>
              <a:t>Refuse</a:t>
            </a:r>
            <a:endParaRPr lang="zh-CN" altLang="en-US" sz="1000" b="1">
              <a:solidFill>
                <a:srgbClr val="C52B38"/>
              </a:solidFill>
              <a:latin typeface="Aptos" panose="020B0004020202020204" pitchFamily="34" charset="0"/>
            </a:endParaRPr>
          </a:p>
        </p:txBody>
      </p:sp>
      <p:sp>
        <p:nvSpPr>
          <p:cNvPr id="21" name="def-text-2">
            <a:extLst>
              <a:ext uri="{FF2B5EF4-FFF2-40B4-BE49-F238E27FC236}">
                <a16:creationId xmlns:a16="http://schemas.microsoft.com/office/drawing/2014/main" id="{D3837056-22CC-C48E-AA99-784142E116E3}"/>
              </a:ext>
            </a:extLst>
          </p:cNvPr>
          <p:cNvSpPr txBox="1"/>
          <p:nvPr/>
        </p:nvSpPr>
        <p:spPr>
          <a:xfrm>
            <a:off x="3225800" y="4381500"/>
            <a:ext cx="7366000" cy="276999"/>
          </a:xfrm>
          <a:prstGeom prst="rect">
            <a:avLst/>
          </a:prstGeom>
          <a:noFill/>
        </p:spPr>
        <p:txBody>
          <a:bodyPr vert="horz" wrap="square" lIns="0" tIns="0" rIns="0" bIns="0" rtlCol="0">
            <a:noAutofit/>
          </a:bodyPr>
          <a:lstStyle/>
          <a:p>
            <a:r>
              <a:rPr lang="en-US" altLang="zh-CN" sz="900" b="1">
                <a:solidFill>
                  <a:srgbClr val="C52B38"/>
                </a:solidFill>
                <a:latin typeface="Aptos" panose="020B0004020202020204" pitchFamily="34" charset="0"/>
              </a:rPr>
              <a:t>universal detection | legal authorship | provider-general guarantee | safety certificate</a:t>
            </a:r>
            <a:endParaRPr lang="zh-CN" altLang="en-US" sz="900" b="1">
              <a:solidFill>
                <a:srgbClr val="C52B38"/>
              </a:solidFill>
              <a:latin typeface="Aptos" panose="020B0004020202020204" pitchFamily="34" charset="0"/>
            </a:endParaRPr>
          </a:p>
        </p:txBody>
      </p:sp>
      <p:sp>
        <p:nvSpPr>
          <p:cNvPr id="22" name="boundaries-link">
            <a:hlinkClick r:id="rId4"/>
            <a:extLst>
              <a:ext uri="{FF2B5EF4-FFF2-40B4-BE49-F238E27FC236}">
                <a16:creationId xmlns:a16="http://schemas.microsoft.com/office/drawing/2014/main" id="{E73F20DD-D421-FCD0-6041-D403E1B6F457}"/>
              </a:ext>
            </a:extLst>
          </p:cNvPr>
          <p:cNvSpPr/>
          <p:nvPr/>
        </p:nvSpPr>
        <p:spPr>
          <a:xfrm>
            <a:off x="9169400" y="5232400"/>
            <a:ext cx="1371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Claim boundaries</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1189071874"/>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8F257184-0FB7-DA34-5D84-604A0CB3793A}"/>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DDC89367-0C75-B651-A6AF-B31BCA1B2FB2}"/>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71CB55C6-8FC5-7171-AF85-5E26A028FCA7}"/>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9F99F7FB-79E0-C7BB-05BA-51A3D0DA180F}"/>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0E654F56-238A-8660-3C3D-9B6187EC6FB1}"/>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806D1433-85FD-C09A-2C5C-64A0FF4B4120}"/>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13</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A21D51FF-4588-23C9-2983-70F284345FC4}"/>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NEXT STEPS</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F69C418A-6EBA-9275-F5DF-E7E2A699A0F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A593D091-0459-2C3D-2576-B209CC1A8A26}"/>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From FYP artifact to paper workstreams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4A009321-B13A-0BB8-1AB4-BA70B72273C7}"/>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The dissertation is one integrated artifact; the future papers remain planned targets, not accepted work.</a:t>
            </a:r>
            <a:endParaRPr lang="zh-CN" altLang="en-US" sz="950">
              <a:solidFill>
                <a:srgbClr val="536580"/>
              </a:solidFill>
              <a:latin typeface="Aptos" panose="020B0004020202020204" pitchFamily="34" charset="0"/>
            </a:endParaRPr>
          </a:p>
        </p:txBody>
      </p:sp>
      <p:sp>
        <p:nvSpPr>
          <p:cNvPr id="13" name="spine">
            <a:extLst>
              <a:ext uri="{FF2B5EF4-FFF2-40B4-BE49-F238E27FC236}">
                <a16:creationId xmlns:a16="http://schemas.microsoft.com/office/drawing/2014/main" id="{EF96F849-9A89-31E3-AF45-494D6A68ACCC}"/>
              </a:ext>
            </a:extLst>
          </p:cNvPr>
          <p:cNvSpPr/>
          <p:nvPr/>
        </p:nvSpPr>
        <p:spPr>
          <a:xfrm>
            <a:off x="1270000" y="3098800"/>
            <a:ext cx="9652000" cy="38100"/>
          </a:xfrm>
          <a:prstGeom prst="rect">
            <a:avLst/>
          </a:prstGeom>
          <a:solidFill>
            <a:srgbClr val="D2DCEB"/>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node-0">
            <a:extLst>
              <a:ext uri="{FF2B5EF4-FFF2-40B4-BE49-F238E27FC236}">
                <a16:creationId xmlns:a16="http://schemas.microsoft.com/office/drawing/2014/main" id="{61E8BE79-6B1D-54F8-FDE3-4E15C15372B2}"/>
              </a:ext>
            </a:extLst>
          </p:cNvPr>
          <p:cNvSpPr/>
          <p:nvPr/>
        </p:nvSpPr>
        <p:spPr>
          <a:xfrm>
            <a:off x="1600200" y="2794000"/>
            <a:ext cx="609600" cy="609600"/>
          </a:xfrm>
          <a:prstGeom prst="rect">
            <a:avLst/>
          </a:prstGeom>
          <a:solidFill>
            <a:srgbClr val="2369C8"/>
          </a:solidFill>
          <a:ln w="12700">
            <a:solidFill>
              <a:srgbClr val="2369C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node-num-0">
            <a:extLst>
              <a:ext uri="{FF2B5EF4-FFF2-40B4-BE49-F238E27FC236}">
                <a16:creationId xmlns:a16="http://schemas.microsoft.com/office/drawing/2014/main" id="{41DBB8A2-B15B-EEBF-E24A-DD7B26E55B81}"/>
              </a:ext>
            </a:extLst>
          </p:cNvPr>
          <p:cNvSpPr txBox="1"/>
          <p:nvPr/>
        </p:nvSpPr>
        <p:spPr>
          <a:xfrm>
            <a:off x="1790700" y="2984500"/>
            <a:ext cx="2286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1</a:t>
            </a:r>
            <a:endParaRPr lang="zh-CN" altLang="en-US" sz="900" b="1">
              <a:solidFill>
                <a:srgbClr val="FFFFFF"/>
              </a:solidFill>
              <a:latin typeface="Aptos" panose="020B0004020202020204" pitchFamily="34" charset="0"/>
            </a:endParaRPr>
          </a:p>
        </p:txBody>
      </p:sp>
      <p:sp>
        <p:nvSpPr>
          <p:cNvPr id="16" name="lane-kind-0">
            <a:extLst>
              <a:ext uri="{FF2B5EF4-FFF2-40B4-BE49-F238E27FC236}">
                <a16:creationId xmlns:a16="http://schemas.microsoft.com/office/drawing/2014/main" id="{E9F3A675-D7F7-EA66-7327-09C0875CDF62}"/>
              </a:ext>
            </a:extLst>
          </p:cNvPr>
          <p:cNvSpPr txBox="1"/>
          <p:nvPr/>
        </p:nvSpPr>
        <p:spPr>
          <a:xfrm>
            <a:off x="939800" y="2082800"/>
            <a:ext cx="1905000" cy="276999"/>
          </a:xfrm>
          <a:prstGeom prst="rect">
            <a:avLst/>
          </a:prstGeom>
          <a:noFill/>
        </p:spPr>
        <p:txBody>
          <a:bodyPr vert="horz" wrap="square" lIns="0" tIns="0" rIns="0" bIns="0" rtlCol="0">
            <a:noAutofit/>
          </a:bodyPr>
          <a:lstStyle/>
          <a:p>
            <a:r>
              <a:rPr lang="en-US" altLang="zh-CN" sz="700" b="1">
                <a:solidFill>
                  <a:srgbClr val="536580"/>
                </a:solidFill>
                <a:latin typeface="Aptos" panose="020B0004020202020204" pitchFamily="34" charset="0"/>
              </a:rPr>
              <a:t>Benchmark</a:t>
            </a:r>
            <a:endParaRPr lang="zh-CN" altLang="en-US" sz="700" b="1">
              <a:solidFill>
                <a:srgbClr val="536580"/>
              </a:solidFill>
              <a:latin typeface="Aptos" panose="020B0004020202020204" pitchFamily="34" charset="0"/>
            </a:endParaRPr>
          </a:p>
        </p:txBody>
      </p:sp>
      <p:sp>
        <p:nvSpPr>
          <p:cNvPr id="17" name="lane-title-0">
            <a:extLst>
              <a:ext uri="{FF2B5EF4-FFF2-40B4-BE49-F238E27FC236}">
                <a16:creationId xmlns:a16="http://schemas.microsoft.com/office/drawing/2014/main" id="{107B1CA7-17E6-9874-3537-84FF0ECCDFB7}"/>
              </a:ext>
            </a:extLst>
          </p:cNvPr>
          <p:cNvSpPr txBox="1"/>
          <p:nvPr/>
        </p:nvSpPr>
        <p:spPr>
          <a:xfrm>
            <a:off x="939800" y="2336800"/>
            <a:ext cx="1905000" cy="276999"/>
          </a:xfrm>
          <a:prstGeom prst="rect">
            <a:avLst/>
          </a:prstGeom>
          <a:noFill/>
        </p:spPr>
        <p:txBody>
          <a:bodyPr vert="horz" wrap="square" lIns="0" tIns="0" rIns="0" bIns="0" rtlCol="0">
            <a:noAutofit/>
          </a:bodyPr>
          <a:lstStyle/>
          <a:p>
            <a:r>
              <a:rPr lang="en-US" altLang="zh-CN" sz="1150" b="1">
                <a:solidFill>
                  <a:srgbClr val="0D182C"/>
                </a:solidFill>
                <a:latin typeface="Aptos" panose="020B0004020202020204" pitchFamily="34" charset="0"/>
              </a:rPr>
              <a:t>CodeMarkBench</a:t>
            </a:r>
            <a:endParaRPr lang="zh-CN" altLang="en-US" sz="1150" b="1">
              <a:solidFill>
                <a:srgbClr val="0D182C"/>
              </a:solidFill>
              <a:latin typeface="Aptos" panose="020B0004020202020204" pitchFamily="34" charset="0"/>
            </a:endParaRPr>
          </a:p>
        </p:txBody>
      </p:sp>
      <p:sp>
        <p:nvSpPr>
          <p:cNvPr id="18" name="lane-target-box-0">
            <a:extLst>
              <a:ext uri="{FF2B5EF4-FFF2-40B4-BE49-F238E27FC236}">
                <a16:creationId xmlns:a16="http://schemas.microsoft.com/office/drawing/2014/main" id="{0EAAADD2-831D-E668-814C-C3B3BBAB9EDC}"/>
              </a:ext>
            </a:extLst>
          </p:cNvPr>
          <p:cNvSpPr/>
          <p:nvPr/>
        </p:nvSpPr>
        <p:spPr>
          <a:xfrm>
            <a:off x="939800" y="3708400"/>
            <a:ext cx="1905000" cy="381000"/>
          </a:xfrm>
          <a:prstGeom prst="rect">
            <a:avLst/>
          </a:prstGeom>
          <a:solidFill>
            <a:srgbClr val="EFF6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lane-target-0">
            <a:extLst>
              <a:ext uri="{FF2B5EF4-FFF2-40B4-BE49-F238E27FC236}">
                <a16:creationId xmlns:a16="http://schemas.microsoft.com/office/drawing/2014/main" id="{B030AE9E-1D4C-287C-D14B-DCDA3191FBD3}"/>
              </a:ext>
            </a:extLst>
          </p:cNvPr>
          <p:cNvSpPr txBox="1"/>
          <p:nvPr/>
        </p:nvSpPr>
        <p:spPr>
          <a:xfrm>
            <a:off x="1143000" y="3835400"/>
            <a:ext cx="1498600" cy="276999"/>
          </a:xfrm>
          <a:prstGeom prst="rect">
            <a:avLst/>
          </a:prstGeom>
          <a:noFill/>
        </p:spPr>
        <p:txBody>
          <a:bodyPr vert="horz" wrap="square" lIns="0" tIns="0" rIns="0" bIns="0" rtlCol="0">
            <a:noAutofit/>
          </a:bodyPr>
          <a:lstStyle/>
          <a:p>
            <a:r>
              <a:rPr lang="en-US" altLang="zh-CN" sz="720" b="1">
                <a:solidFill>
                  <a:srgbClr val="004080"/>
                </a:solidFill>
                <a:latin typeface="Aptos" panose="020B0004020202020204" pitchFamily="34" charset="0"/>
              </a:rPr>
              <a:t>TOSEM target</a:t>
            </a:r>
            <a:endParaRPr lang="zh-CN" altLang="en-US" sz="720" b="1">
              <a:solidFill>
                <a:srgbClr val="004080"/>
              </a:solidFill>
              <a:latin typeface="Aptos" panose="020B0004020202020204" pitchFamily="34" charset="0"/>
            </a:endParaRPr>
          </a:p>
        </p:txBody>
      </p:sp>
      <p:sp>
        <p:nvSpPr>
          <p:cNvPr id="20" name="lane-sub-0">
            <a:extLst>
              <a:ext uri="{FF2B5EF4-FFF2-40B4-BE49-F238E27FC236}">
                <a16:creationId xmlns:a16="http://schemas.microsoft.com/office/drawing/2014/main" id="{B65954C4-18DD-2755-DFC3-AC76AB152B9F}"/>
              </a:ext>
            </a:extLst>
          </p:cNvPr>
          <p:cNvSpPr txBox="1"/>
          <p:nvPr/>
        </p:nvSpPr>
        <p:spPr>
          <a:xfrm>
            <a:off x="939800" y="4318000"/>
            <a:ext cx="19050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executable denominator</a:t>
            </a:r>
            <a:endParaRPr lang="zh-CN" altLang="en-US" sz="740">
              <a:solidFill>
                <a:srgbClr val="536580"/>
              </a:solidFill>
              <a:latin typeface="Aptos" panose="020B0004020202020204" pitchFamily="34" charset="0"/>
            </a:endParaRPr>
          </a:p>
        </p:txBody>
      </p:sp>
      <p:sp>
        <p:nvSpPr>
          <p:cNvPr id="21" name="node-1">
            <a:extLst>
              <a:ext uri="{FF2B5EF4-FFF2-40B4-BE49-F238E27FC236}">
                <a16:creationId xmlns:a16="http://schemas.microsoft.com/office/drawing/2014/main" id="{0915D067-8266-B042-8359-CE0DB1AE3707}"/>
              </a:ext>
            </a:extLst>
          </p:cNvPr>
          <p:cNvSpPr/>
          <p:nvPr/>
        </p:nvSpPr>
        <p:spPr>
          <a:xfrm>
            <a:off x="3860800" y="2794000"/>
            <a:ext cx="609600" cy="609600"/>
          </a:xfrm>
          <a:prstGeom prst="rect">
            <a:avLst/>
          </a:prstGeom>
          <a:solidFill>
            <a:srgbClr val="00AABE"/>
          </a:solidFill>
          <a:ln w="12700">
            <a:solidFill>
              <a:srgbClr val="00AA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node-num-1">
            <a:extLst>
              <a:ext uri="{FF2B5EF4-FFF2-40B4-BE49-F238E27FC236}">
                <a16:creationId xmlns:a16="http://schemas.microsoft.com/office/drawing/2014/main" id="{20C0B2FA-9CC1-98B4-D40F-651565E986E0}"/>
              </a:ext>
            </a:extLst>
          </p:cNvPr>
          <p:cNvSpPr txBox="1"/>
          <p:nvPr/>
        </p:nvSpPr>
        <p:spPr>
          <a:xfrm>
            <a:off x="4051300" y="2984500"/>
            <a:ext cx="2286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2</a:t>
            </a:r>
            <a:endParaRPr lang="zh-CN" altLang="en-US" sz="900" b="1">
              <a:solidFill>
                <a:srgbClr val="FFFFFF"/>
              </a:solidFill>
              <a:latin typeface="Aptos" panose="020B0004020202020204" pitchFamily="34" charset="0"/>
            </a:endParaRPr>
          </a:p>
        </p:txBody>
      </p:sp>
      <p:sp>
        <p:nvSpPr>
          <p:cNvPr id="23" name="lane-kind-1">
            <a:extLst>
              <a:ext uri="{FF2B5EF4-FFF2-40B4-BE49-F238E27FC236}">
                <a16:creationId xmlns:a16="http://schemas.microsoft.com/office/drawing/2014/main" id="{4017E17E-5D8C-AC9F-6DA9-005A96D4967E}"/>
              </a:ext>
            </a:extLst>
          </p:cNvPr>
          <p:cNvSpPr txBox="1"/>
          <p:nvPr/>
        </p:nvSpPr>
        <p:spPr>
          <a:xfrm>
            <a:off x="3200400" y="2082800"/>
            <a:ext cx="1905000" cy="276999"/>
          </a:xfrm>
          <a:prstGeom prst="rect">
            <a:avLst/>
          </a:prstGeom>
          <a:noFill/>
        </p:spPr>
        <p:txBody>
          <a:bodyPr vert="horz" wrap="square" lIns="0" tIns="0" rIns="0" bIns="0" rtlCol="0">
            <a:noAutofit/>
          </a:bodyPr>
          <a:lstStyle/>
          <a:p>
            <a:r>
              <a:rPr lang="en-US" altLang="zh-CN" sz="700" b="1">
                <a:solidFill>
                  <a:srgbClr val="536580"/>
                </a:solidFill>
                <a:latin typeface="Aptos" panose="020B0004020202020204" pitchFamily="34" charset="0"/>
              </a:rPr>
              <a:t>White-box</a:t>
            </a:r>
            <a:endParaRPr lang="zh-CN" altLang="en-US" sz="700" b="1">
              <a:solidFill>
                <a:srgbClr val="536580"/>
              </a:solidFill>
              <a:latin typeface="Aptos" panose="020B0004020202020204" pitchFamily="34" charset="0"/>
            </a:endParaRPr>
          </a:p>
        </p:txBody>
      </p:sp>
      <p:sp>
        <p:nvSpPr>
          <p:cNvPr id="24" name="lane-title-1">
            <a:extLst>
              <a:ext uri="{FF2B5EF4-FFF2-40B4-BE49-F238E27FC236}">
                <a16:creationId xmlns:a16="http://schemas.microsoft.com/office/drawing/2014/main" id="{4E746853-52A1-9B03-250C-F145266DCBEF}"/>
              </a:ext>
            </a:extLst>
          </p:cNvPr>
          <p:cNvSpPr txBox="1"/>
          <p:nvPr/>
        </p:nvSpPr>
        <p:spPr>
          <a:xfrm>
            <a:off x="3200400" y="2336800"/>
            <a:ext cx="1905000" cy="276999"/>
          </a:xfrm>
          <a:prstGeom prst="rect">
            <a:avLst/>
          </a:prstGeom>
          <a:noFill/>
        </p:spPr>
        <p:txBody>
          <a:bodyPr vert="horz" wrap="square" lIns="0" tIns="0" rIns="0" bIns="0" rtlCol="0">
            <a:noAutofit/>
          </a:bodyPr>
          <a:lstStyle/>
          <a:p>
            <a:r>
              <a:rPr lang="en-US" altLang="zh-CN" sz="1150" b="1">
                <a:solidFill>
                  <a:srgbClr val="0D182C"/>
                </a:solidFill>
                <a:latin typeface="Aptos" panose="020B0004020202020204" pitchFamily="34" charset="0"/>
              </a:rPr>
              <a:t>SemCodebook</a:t>
            </a:r>
            <a:endParaRPr lang="zh-CN" altLang="en-US" sz="1150" b="1">
              <a:solidFill>
                <a:srgbClr val="0D182C"/>
              </a:solidFill>
              <a:latin typeface="Aptos" panose="020B0004020202020204" pitchFamily="34" charset="0"/>
            </a:endParaRPr>
          </a:p>
        </p:txBody>
      </p:sp>
      <p:sp>
        <p:nvSpPr>
          <p:cNvPr id="25" name="lane-target-box-1">
            <a:extLst>
              <a:ext uri="{FF2B5EF4-FFF2-40B4-BE49-F238E27FC236}">
                <a16:creationId xmlns:a16="http://schemas.microsoft.com/office/drawing/2014/main" id="{A412B472-3F5F-B6E3-F935-433B090985AC}"/>
              </a:ext>
            </a:extLst>
          </p:cNvPr>
          <p:cNvSpPr/>
          <p:nvPr/>
        </p:nvSpPr>
        <p:spPr>
          <a:xfrm>
            <a:off x="3200400" y="3708400"/>
            <a:ext cx="1905000" cy="381000"/>
          </a:xfrm>
          <a:prstGeom prst="rect">
            <a:avLst/>
          </a:prstGeom>
          <a:solidFill>
            <a:srgbClr val="EFF6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lane-target-1">
            <a:extLst>
              <a:ext uri="{FF2B5EF4-FFF2-40B4-BE49-F238E27FC236}">
                <a16:creationId xmlns:a16="http://schemas.microsoft.com/office/drawing/2014/main" id="{47B0669B-B073-DBC1-E4DA-6DA208BA5FB6}"/>
              </a:ext>
            </a:extLst>
          </p:cNvPr>
          <p:cNvSpPr txBox="1"/>
          <p:nvPr/>
        </p:nvSpPr>
        <p:spPr>
          <a:xfrm>
            <a:off x="3403600" y="3835400"/>
            <a:ext cx="1498600" cy="276999"/>
          </a:xfrm>
          <a:prstGeom prst="rect">
            <a:avLst/>
          </a:prstGeom>
          <a:noFill/>
        </p:spPr>
        <p:txBody>
          <a:bodyPr vert="horz" wrap="square" lIns="0" tIns="0" rIns="0" bIns="0" rtlCol="0">
            <a:noAutofit/>
          </a:bodyPr>
          <a:lstStyle/>
          <a:p>
            <a:r>
              <a:rPr lang="en-US" altLang="zh-CN" sz="720" b="1">
                <a:solidFill>
                  <a:srgbClr val="004080"/>
                </a:solidFill>
                <a:latin typeface="Aptos" panose="020B0004020202020204" pitchFamily="34" charset="0"/>
              </a:rPr>
              <a:t>EMNLP target</a:t>
            </a:r>
            <a:endParaRPr lang="zh-CN" altLang="en-US" sz="720" b="1">
              <a:solidFill>
                <a:srgbClr val="004080"/>
              </a:solidFill>
              <a:latin typeface="Aptos" panose="020B0004020202020204" pitchFamily="34" charset="0"/>
            </a:endParaRPr>
          </a:p>
        </p:txBody>
      </p:sp>
      <p:sp>
        <p:nvSpPr>
          <p:cNvPr id="27" name="lane-sub-1">
            <a:extLst>
              <a:ext uri="{FF2B5EF4-FFF2-40B4-BE49-F238E27FC236}">
                <a16:creationId xmlns:a16="http://schemas.microsoft.com/office/drawing/2014/main" id="{3D92C410-79C0-E812-7923-EBEBD46821FF}"/>
              </a:ext>
            </a:extLst>
          </p:cNvPr>
          <p:cNvSpPr txBox="1"/>
          <p:nvPr/>
        </p:nvSpPr>
        <p:spPr>
          <a:xfrm>
            <a:off x="3200400" y="4318000"/>
            <a:ext cx="19050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provenance recovery</a:t>
            </a:r>
            <a:endParaRPr lang="zh-CN" altLang="en-US" sz="740">
              <a:solidFill>
                <a:srgbClr val="536580"/>
              </a:solidFill>
              <a:latin typeface="Aptos" panose="020B0004020202020204" pitchFamily="34" charset="0"/>
            </a:endParaRPr>
          </a:p>
        </p:txBody>
      </p:sp>
      <p:sp>
        <p:nvSpPr>
          <p:cNvPr id="28" name="node-2">
            <a:extLst>
              <a:ext uri="{FF2B5EF4-FFF2-40B4-BE49-F238E27FC236}">
                <a16:creationId xmlns:a16="http://schemas.microsoft.com/office/drawing/2014/main" id="{452C2B55-7577-8E42-BB18-D8AD7634F83C}"/>
              </a:ext>
            </a:extLst>
          </p:cNvPr>
          <p:cNvSpPr/>
          <p:nvPr/>
        </p:nvSpPr>
        <p:spPr>
          <a:xfrm>
            <a:off x="6121400" y="2794000"/>
            <a:ext cx="609600" cy="609600"/>
          </a:xfrm>
          <a:prstGeom prst="rect">
            <a:avLst/>
          </a:prstGeom>
          <a:solidFill>
            <a:srgbClr val="784CD2"/>
          </a:solidFill>
          <a:ln w="12700">
            <a:solidFill>
              <a:srgbClr val="784CD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node-num-2">
            <a:extLst>
              <a:ext uri="{FF2B5EF4-FFF2-40B4-BE49-F238E27FC236}">
                <a16:creationId xmlns:a16="http://schemas.microsoft.com/office/drawing/2014/main" id="{23467D98-04C7-06F2-211D-B0D167A647B8}"/>
              </a:ext>
            </a:extLst>
          </p:cNvPr>
          <p:cNvSpPr txBox="1"/>
          <p:nvPr/>
        </p:nvSpPr>
        <p:spPr>
          <a:xfrm>
            <a:off x="6311900" y="2984500"/>
            <a:ext cx="2286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3</a:t>
            </a:r>
            <a:endParaRPr lang="zh-CN" altLang="en-US" sz="900" b="1">
              <a:solidFill>
                <a:srgbClr val="FFFFFF"/>
              </a:solidFill>
              <a:latin typeface="Aptos" panose="020B0004020202020204" pitchFamily="34" charset="0"/>
            </a:endParaRPr>
          </a:p>
        </p:txBody>
      </p:sp>
      <p:sp>
        <p:nvSpPr>
          <p:cNvPr id="30" name="lane-kind-2">
            <a:extLst>
              <a:ext uri="{FF2B5EF4-FFF2-40B4-BE49-F238E27FC236}">
                <a16:creationId xmlns:a16="http://schemas.microsoft.com/office/drawing/2014/main" id="{D7C5856F-FBAF-5868-9C5F-BB7A8A583D08}"/>
              </a:ext>
            </a:extLst>
          </p:cNvPr>
          <p:cNvSpPr txBox="1"/>
          <p:nvPr/>
        </p:nvSpPr>
        <p:spPr>
          <a:xfrm>
            <a:off x="5461000" y="2082800"/>
            <a:ext cx="1905000" cy="276999"/>
          </a:xfrm>
          <a:prstGeom prst="rect">
            <a:avLst/>
          </a:prstGeom>
          <a:noFill/>
        </p:spPr>
        <p:txBody>
          <a:bodyPr vert="horz" wrap="square" lIns="0" tIns="0" rIns="0" bIns="0" rtlCol="0">
            <a:noAutofit/>
          </a:bodyPr>
          <a:lstStyle/>
          <a:p>
            <a:r>
              <a:rPr lang="en-US" altLang="zh-CN" sz="700" b="1">
                <a:solidFill>
                  <a:srgbClr val="536580"/>
                </a:solidFill>
                <a:latin typeface="Aptos" panose="020B0004020202020204" pitchFamily="34" charset="0"/>
              </a:rPr>
              <a:t>Black-box</a:t>
            </a:r>
            <a:endParaRPr lang="zh-CN" altLang="en-US" sz="700" b="1">
              <a:solidFill>
                <a:srgbClr val="536580"/>
              </a:solidFill>
              <a:latin typeface="Aptos" panose="020B0004020202020204" pitchFamily="34" charset="0"/>
            </a:endParaRPr>
          </a:p>
        </p:txBody>
      </p:sp>
      <p:sp>
        <p:nvSpPr>
          <p:cNvPr id="31" name="lane-title-2">
            <a:extLst>
              <a:ext uri="{FF2B5EF4-FFF2-40B4-BE49-F238E27FC236}">
                <a16:creationId xmlns:a16="http://schemas.microsoft.com/office/drawing/2014/main" id="{7D8FA798-8C2D-B14C-E8D3-8D925C750ED2}"/>
              </a:ext>
            </a:extLst>
          </p:cNvPr>
          <p:cNvSpPr txBox="1"/>
          <p:nvPr/>
        </p:nvSpPr>
        <p:spPr>
          <a:xfrm>
            <a:off x="5461000" y="2336800"/>
            <a:ext cx="1905000" cy="276999"/>
          </a:xfrm>
          <a:prstGeom prst="rect">
            <a:avLst/>
          </a:prstGeom>
          <a:noFill/>
        </p:spPr>
        <p:txBody>
          <a:bodyPr vert="horz" wrap="square" lIns="0" tIns="0" rIns="0" bIns="0" rtlCol="0">
            <a:noAutofit/>
          </a:bodyPr>
          <a:lstStyle/>
          <a:p>
            <a:r>
              <a:rPr lang="en-US" altLang="zh-CN" sz="1150" b="1">
                <a:solidFill>
                  <a:srgbClr val="0D182C"/>
                </a:solidFill>
                <a:latin typeface="Aptos" panose="020B0004020202020204" pitchFamily="34" charset="0"/>
              </a:rPr>
              <a:t>CodeDye</a:t>
            </a:r>
            <a:endParaRPr lang="zh-CN" altLang="en-US" sz="1150" b="1">
              <a:solidFill>
                <a:srgbClr val="0D182C"/>
              </a:solidFill>
              <a:latin typeface="Aptos" panose="020B0004020202020204" pitchFamily="34" charset="0"/>
            </a:endParaRPr>
          </a:p>
        </p:txBody>
      </p:sp>
      <p:sp>
        <p:nvSpPr>
          <p:cNvPr id="32" name="lane-target-box-2">
            <a:extLst>
              <a:ext uri="{FF2B5EF4-FFF2-40B4-BE49-F238E27FC236}">
                <a16:creationId xmlns:a16="http://schemas.microsoft.com/office/drawing/2014/main" id="{2C742F6F-B5A2-ACE4-D689-1F1E34AA3684}"/>
              </a:ext>
            </a:extLst>
          </p:cNvPr>
          <p:cNvSpPr/>
          <p:nvPr/>
        </p:nvSpPr>
        <p:spPr>
          <a:xfrm>
            <a:off x="5461000" y="3708400"/>
            <a:ext cx="1905000" cy="381000"/>
          </a:xfrm>
          <a:prstGeom prst="rect">
            <a:avLst/>
          </a:prstGeom>
          <a:solidFill>
            <a:srgbClr val="EFF6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lane-target-2">
            <a:extLst>
              <a:ext uri="{FF2B5EF4-FFF2-40B4-BE49-F238E27FC236}">
                <a16:creationId xmlns:a16="http://schemas.microsoft.com/office/drawing/2014/main" id="{0D7FD51E-5626-7A4B-9D79-B8FB584B35BB}"/>
              </a:ext>
            </a:extLst>
          </p:cNvPr>
          <p:cNvSpPr txBox="1"/>
          <p:nvPr/>
        </p:nvSpPr>
        <p:spPr>
          <a:xfrm>
            <a:off x="5664200" y="3835400"/>
            <a:ext cx="1498600" cy="276999"/>
          </a:xfrm>
          <a:prstGeom prst="rect">
            <a:avLst/>
          </a:prstGeom>
          <a:noFill/>
        </p:spPr>
        <p:txBody>
          <a:bodyPr vert="horz" wrap="square" lIns="0" tIns="0" rIns="0" bIns="0" rtlCol="0">
            <a:noAutofit/>
          </a:bodyPr>
          <a:lstStyle/>
          <a:p>
            <a:r>
              <a:rPr lang="en-US" altLang="zh-CN" sz="720" b="1">
                <a:solidFill>
                  <a:srgbClr val="004080"/>
                </a:solidFill>
                <a:latin typeface="Aptos" panose="020B0004020202020204" pitchFamily="34" charset="0"/>
              </a:rPr>
              <a:t>EMNLP target</a:t>
            </a:r>
            <a:endParaRPr lang="zh-CN" altLang="en-US" sz="720" b="1">
              <a:solidFill>
                <a:srgbClr val="004080"/>
              </a:solidFill>
              <a:latin typeface="Aptos" panose="020B0004020202020204" pitchFamily="34" charset="0"/>
            </a:endParaRPr>
          </a:p>
        </p:txBody>
      </p:sp>
      <p:sp>
        <p:nvSpPr>
          <p:cNvPr id="34" name="lane-sub-2">
            <a:extLst>
              <a:ext uri="{FF2B5EF4-FFF2-40B4-BE49-F238E27FC236}">
                <a16:creationId xmlns:a16="http://schemas.microsoft.com/office/drawing/2014/main" id="{E321A664-5E70-2645-8D2F-A4BF3E1F3085}"/>
              </a:ext>
            </a:extLst>
          </p:cNvPr>
          <p:cNvSpPr txBox="1"/>
          <p:nvPr/>
        </p:nvSpPr>
        <p:spPr>
          <a:xfrm>
            <a:off x="5461000" y="4318000"/>
            <a:ext cx="19050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null-audit evidence</a:t>
            </a:r>
            <a:endParaRPr lang="zh-CN" altLang="en-US" sz="740">
              <a:solidFill>
                <a:srgbClr val="536580"/>
              </a:solidFill>
              <a:latin typeface="Aptos" panose="020B0004020202020204" pitchFamily="34" charset="0"/>
            </a:endParaRPr>
          </a:p>
        </p:txBody>
      </p:sp>
      <p:sp>
        <p:nvSpPr>
          <p:cNvPr id="35" name="node-3">
            <a:extLst>
              <a:ext uri="{FF2B5EF4-FFF2-40B4-BE49-F238E27FC236}">
                <a16:creationId xmlns:a16="http://schemas.microsoft.com/office/drawing/2014/main" id="{64E730B3-42DA-13E7-268E-73A62B926E0B}"/>
              </a:ext>
            </a:extLst>
          </p:cNvPr>
          <p:cNvSpPr/>
          <p:nvPr/>
        </p:nvSpPr>
        <p:spPr>
          <a:xfrm>
            <a:off x="8382000" y="2794000"/>
            <a:ext cx="609600" cy="609600"/>
          </a:xfrm>
          <a:prstGeom prst="rect">
            <a:avLst/>
          </a:prstGeom>
          <a:solidFill>
            <a:srgbClr val="EE9122"/>
          </a:solidFill>
          <a:ln w="12700">
            <a:solidFill>
              <a:srgbClr val="EE91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node-num-3">
            <a:extLst>
              <a:ext uri="{FF2B5EF4-FFF2-40B4-BE49-F238E27FC236}">
                <a16:creationId xmlns:a16="http://schemas.microsoft.com/office/drawing/2014/main" id="{A0BDB74F-4146-63DE-2632-D32B8EDADEBE}"/>
              </a:ext>
            </a:extLst>
          </p:cNvPr>
          <p:cNvSpPr txBox="1"/>
          <p:nvPr/>
        </p:nvSpPr>
        <p:spPr>
          <a:xfrm>
            <a:off x="8572500" y="2984500"/>
            <a:ext cx="2286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4</a:t>
            </a:r>
            <a:endParaRPr lang="zh-CN" altLang="en-US" sz="900" b="1">
              <a:solidFill>
                <a:srgbClr val="FFFFFF"/>
              </a:solidFill>
              <a:latin typeface="Aptos" panose="020B0004020202020204" pitchFamily="34" charset="0"/>
            </a:endParaRPr>
          </a:p>
        </p:txBody>
      </p:sp>
      <p:sp>
        <p:nvSpPr>
          <p:cNvPr id="37" name="lane-kind-3">
            <a:extLst>
              <a:ext uri="{FF2B5EF4-FFF2-40B4-BE49-F238E27FC236}">
                <a16:creationId xmlns:a16="http://schemas.microsoft.com/office/drawing/2014/main" id="{C0ED5600-E4D5-75FE-AD30-B95B7FE5A580}"/>
              </a:ext>
            </a:extLst>
          </p:cNvPr>
          <p:cNvSpPr txBox="1"/>
          <p:nvPr/>
        </p:nvSpPr>
        <p:spPr>
          <a:xfrm>
            <a:off x="7721600" y="2082800"/>
            <a:ext cx="1905000" cy="276999"/>
          </a:xfrm>
          <a:prstGeom prst="rect">
            <a:avLst/>
          </a:prstGeom>
          <a:noFill/>
        </p:spPr>
        <p:txBody>
          <a:bodyPr vert="horz" wrap="square" lIns="0" tIns="0" rIns="0" bIns="0" rtlCol="0">
            <a:noAutofit/>
          </a:bodyPr>
          <a:lstStyle/>
          <a:p>
            <a:r>
              <a:rPr lang="en-US" altLang="zh-CN" sz="700" b="1">
                <a:solidFill>
                  <a:srgbClr val="536580"/>
                </a:solidFill>
                <a:latin typeface="Aptos" panose="020B0004020202020204" pitchFamily="34" charset="0"/>
              </a:rPr>
              <a:t>Owner</a:t>
            </a:r>
            <a:endParaRPr lang="zh-CN" altLang="en-US" sz="700" b="1">
              <a:solidFill>
                <a:srgbClr val="536580"/>
              </a:solidFill>
              <a:latin typeface="Aptos" panose="020B0004020202020204" pitchFamily="34" charset="0"/>
            </a:endParaRPr>
          </a:p>
        </p:txBody>
      </p:sp>
      <p:sp>
        <p:nvSpPr>
          <p:cNvPr id="38" name="lane-title-3">
            <a:extLst>
              <a:ext uri="{FF2B5EF4-FFF2-40B4-BE49-F238E27FC236}">
                <a16:creationId xmlns:a16="http://schemas.microsoft.com/office/drawing/2014/main" id="{E61D5C47-F402-41D9-A33A-C54F1FC98532}"/>
              </a:ext>
            </a:extLst>
          </p:cNvPr>
          <p:cNvSpPr txBox="1"/>
          <p:nvPr/>
        </p:nvSpPr>
        <p:spPr>
          <a:xfrm>
            <a:off x="7721600" y="2336800"/>
            <a:ext cx="1905000" cy="276999"/>
          </a:xfrm>
          <a:prstGeom prst="rect">
            <a:avLst/>
          </a:prstGeom>
          <a:noFill/>
        </p:spPr>
        <p:txBody>
          <a:bodyPr vert="horz" wrap="square" lIns="0" tIns="0" rIns="0" bIns="0" rtlCol="0">
            <a:noAutofit/>
          </a:bodyPr>
          <a:lstStyle/>
          <a:p>
            <a:r>
              <a:rPr lang="en-US" altLang="zh-CN" sz="1150" b="1">
                <a:solidFill>
                  <a:srgbClr val="0D182C"/>
                </a:solidFill>
                <a:latin typeface="Aptos" panose="020B0004020202020204" pitchFamily="34" charset="0"/>
              </a:rPr>
              <a:t>ProbeTrace</a:t>
            </a:r>
            <a:endParaRPr lang="zh-CN" altLang="en-US" sz="1150" b="1">
              <a:solidFill>
                <a:srgbClr val="0D182C"/>
              </a:solidFill>
              <a:latin typeface="Aptos" panose="020B0004020202020204" pitchFamily="34" charset="0"/>
            </a:endParaRPr>
          </a:p>
        </p:txBody>
      </p:sp>
      <p:sp>
        <p:nvSpPr>
          <p:cNvPr id="39" name="lane-target-box-3">
            <a:extLst>
              <a:ext uri="{FF2B5EF4-FFF2-40B4-BE49-F238E27FC236}">
                <a16:creationId xmlns:a16="http://schemas.microsoft.com/office/drawing/2014/main" id="{D4C4F3B6-5BA1-E922-BFC6-455D1E046232}"/>
              </a:ext>
            </a:extLst>
          </p:cNvPr>
          <p:cNvSpPr/>
          <p:nvPr/>
        </p:nvSpPr>
        <p:spPr>
          <a:xfrm>
            <a:off x="7721600" y="3708400"/>
            <a:ext cx="1905000" cy="381000"/>
          </a:xfrm>
          <a:prstGeom prst="rect">
            <a:avLst/>
          </a:prstGeom>
          <a:solidFill>
            <a:srgbClr val="EFF6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lane-target-3">
            <a:extLst>
              <a:ext uri="{FF2B5EF4-FFF2-40B4-BE49-F238E27FC236}">
                <a16:creationId xmlns:a16="http://schemas.microsoft.com/office/drawing/2014/main" id="{866A48F0-A613-D3B8-033B-FF619187F449}"/>
              </a:ext>
            </a:extLst>
          </p:cNvPr>
          <p:cNvSpPr txBox="1"/>
          <p:nvPr/>
        </p:nvSpPr>
        <p:spPr>
          <a:xfrm>
            <a:off x="7924800" y="3835400"/>
            <a:ext cx="1498600" cy="276999"/>
          </a:xfrm>
          <a:prstGeom prst="rect">
            <a:avLst/>
          </a:prstGeom>
          <a:noFill/>
        </p:spPr>
        <p:txBody>
          <a:bodyPr vert="horz" wrap="square" lIns="0" tIns="0" rIns="0" bIns="0" rtlCol="0">
            <a:noAutofit/>
          </a:bodyPr>
          <a:lstStyle/>
          <a:p>
            <a:r>
              <a:rPr lang="en-US" altLang="zh-CN" sz="720" b="1">
                <a:solidFill>
                  <a:srgbClr val="004080"/>
                </a:solidFill>
                <a:latin typeface="Aptos" panose="020B0004020202020204" pitchFamily="34" charset="0"/>
              </a:rPr>
              <a:t>EMNLP target</a:t>
            </a:r>
            <a:endParaRPr lang="zh-CN" altLang="en-US" sz="720" b="1">
              <a:solidFill>
                <a:srgbClr val="004080"/>
              </a:solidFill>
              <a:latin typeface="Aptos" panose="020B0004020202020204" pitchFamily="34" charset="0"/>
            </a:endParaRPr>
          </a:p>
        </p:txBody>
      </p:sp>
      <p:sp>
        <p:nvSpPr>
          <p:cNvPr id="41" name="lane-sub-3">
            <a:extLst>
              <a:ext uri="{FF2B5EF4-FFF2-40B4-BE49-F238E27FC236}">
                <a16:creationId xmlns:a16="http://schemas.microsoft.com/office/drawing/2014/main" id="{712C5FCC-AD19-7881-9059-C7C73B510E97}"/>
              </a:ext>
            </a:extLst>
          </p:cNvPr>
          <p:cNvSpPr txBox="1"/>
          <p:nvPr/>
        </p:nvSpPr>
        <p:spPr>
          <a:xfrm>
            <a:off x="7721600" y="4318000"/>
            <a:ext cx="19050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source-bound attribution</a:t>
            </a:r>
            <a:endParaRPr lang="zh-CN" altLang="en-US" sz="740">
              <a:solidFill>
                <a:srgbClr val="536580"/>
              </a:solidFill>
              <a:latin typeface="Aptos" panose="020B0004020202020204" pitchFamily="34" charset="0"/>
            </a:endParaRPr>
          </a:p>
        </p:txBody>
      </p:sp>
      <p:sp>
        <p:nvSpPr>
          <p:cNvPr id="42" name="node-4">
            <a:extLst>
              <a:ext uri="{FF2B5EF4-FFF2-40B4-BE49-F238E27FC236}">
                <a16:creationId xmlns:a16="http://schemas.microsoft.com/office/drawing/2014/main" id="{BA73EB36-D8D2-CB45-539D-95466D7F7EC0}"/>
              </a:ext>
            </a:extLst>
          </p:cNvPr>
          <p:cNvSpPr/>
          <p:nvPr/>
        </p:nvSpPr>
        <p:spPr>
          <a:xfrm>
            <a:off x="10642600" y="2794000"/>
            <a:ext cx="609600" cy="609600"/>
          </a:xfrm>
          <a:prstGeom prst="rect">
            <a:avLst/>
          </a:prstGeom>
          <a:solidFill>
            <a:srgbClr val="008E66"/>
          </a:solidFill>
          <a:ln w="12700">
            <a:solidFill>
              <a:srgbClr val="008E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node-num-4">
            <a:extLst>
              <a:ext uri="{FF2B5EF4-FFF2-40B4-BE49-F238E27FC236}">
                <a16:creationId xmlns:a16="http://schemas.microsoft.com/office/drawing/2014/main" id="{CD8FEE9A-4E64-56D6-258F-20D9EBDE3189}"/>
              </a:ext>
            </a:extLst>
          </p:cNvPr>
          <p:cNvSpPr txBox="1"/>
          <p:nvPr/>
        </p:nvSpPr>
        <p:spPr>
          <a:xfrm>
            <a:off x="10833100" y="2984500"/>
            <a:ext cx="228600" cy="276999"/>
          </a:xfrm>
          <a:prstGeom prst="rect">
            <a:avLst/>
          </a:prstGeom>
          <a:noFill/>
        </p:spPr>
        <p:txBody>
          <a:bodyPr vert="horz" wrap="square" lIns="0" tIns="0" rIns="0" bIns="0" rtlCol="0">
            <a:noAutofit/>
          </a:bodyPr>
          <a:lstStyle/>
          <a:p>
            <a:r>
              <a:rPr lang="en-US" altLang="zh-CN" sz="900" b="1">
                <a:solidFill>
                  <a:srgbClr val="FFFFFF"/>
                </a:solidFill>
                <a:latin typeface="Aptos" panose="020B0004020202020204" pitchFamily="34" charset="0"/>
              </a:rPr>
              <a:t>5</a:t>
            </a:r>
            <a:endParaRPr lang="zh-CN" altLang="en-US" sz="900" b="1">
              <a:solidFill>
                <a:srgbClr val="FFFFFF"/>
              </a:solidFill>
              <a:latin typeface="Aptos" panose="020B0004020202020204" pitchFamily="34" charset="0"/>
            </a:endParaRPr>
          </a:p>
        </p:txBody>
      </p:sp>
      <p:sp>
        <p:nvSpPr>
          <p:cNvPr id="44" name="lane-kind-4">
            <a:extLst>
              <a:ext uri="{FF2B5EF4-FFF2-40B4-BE49-F238E27FC236}">
                <a16:creationId xmlns:a16="http://schemas.microsoft.com/office/drawing/2014/main" id="{E7DBB39B-EDFF-E459-E2FF-D3920160D0B8}"/>
              </a:ext>
            </a:extLst>
          </p:cNvPr>
          <p:cNvSpPr txBox="1"/>
          <p:nvPr/>
        </p:nvSpPr>
        <p:spPr>
          <a:xfrm>
            <a:off x="9982200" y="2082800"/>
            <a:ext cx="1905000" cy="276999"/>
          </a:xfrm>
          <a:prstGeom prst="rect">
            <a:avLst/>
          </a:prstGeom>
          <a:noFill/>
        </p:spPr>
        <p:txBody>
          <a:bodyPr vert="horz" wrap="square" lIns="0" tIns="0" rIns="0" bIns="0" rtlCol="0">
            <a:noAutofit/>
          </a:bodyPr>
          <a:lstStyle/>
          <a:p>
            <a:r>
              <a:rPr lang="en-US" altLang="zh-CN" sz="700" b="1">
                <a:solidFill>
                  <a:srgbClr val="536580"/>
                </a:solidFill>
                <a:latin typeface="Aptos" panose="020B0004020202020204" pitchFamily="34" charset="0"/>
              </a:rPr>
              <a:t>Security</a:t>
            </a:r>
            <a:endParaRPr lang="zh-CN" altLang="en-US" sz="700" b="1">
              <a:solidFill>
                <a:srgbClr val="536580"/>
              </a:solidFill>
              <a:latin typeface="Aptos" panose="020B0004020202020204" pitchFamily="34" charset="0"/>
            </a:endParaRPr>
          </a:p>
        </p:txBody>
      </p:sp>
      <p:sp>
        <p:nvSpPr>
          <p:cNvPr id="45" name="lane-title-4">
            <a:extLst>
              <a:ext uri="{FF2B5EF4-FFF2-40B4-BE49-F238E27FC236}">
                <a16:creationId xmlns:a16="http://schemas.microsoft.com/office/drawing/2014/main" id="{60815BB2-4D85-D141-A42E-5012C62B8D63}"/>
              </a:ext>
            </a:extLst>
          </p:cNvPr>
          <p:cNvSpPr txBox="1"/>
          <p:nvPr/>
        </p:nvSpPr>
        <p:spPr>
          <a:xfrm>
            <a:off x="9982200" y="2336800"/>
            <a:ext cx="1905000" cy="276999"/>
          </a:xfrm>
          <a:prstGeom prst="rect">
            <a:avLst/>
          </a:prstGeom>
          <a:noFill/>
        </p:spPr>
        <p:txBody>
          <a:bodyPr vert="horz" wrap="square" lIns="0" tIns="0" rIns="0" bIns="0" rtlCol="0">
            <a:noAutofit/>
          </a:bodyPr>
          <a:lstStyle/>
          <a:p>
            <a:r>
              <a:rPr lang="en-US" altLang="zh-CN" sz="1150" b="1">
                <a:solidFill>
                  <a:srgbClr val="0D182C"/>
                </a:solidFill>
                <a:latin typeface="Aptos" panose="020B0004020202020204" pitchFamily="34" charset="0"/>
              </a:rPr>
              <a:t>SealAudit</a:t>
            </a:r>
            <a:endParaRPr lang="zh-CN" altLang="en-US" sz="1150" b="1">
              <a:solidFill>
                <a:srgbClr val="0D182C"/>
              </a:solidFill>
              <a:latin typeface="Aptos" panose="020B0004020202020204" pitchFamily="34" charset="0"/>
            </a:endParaRPr>
          </a:p>
        </p:txBody>
      </p:sp>
      <p:sp>
        <p:nvSpPr>
          <p:cNvPr id="46" name="lane-target-box-4">
            <a:extLst>
              <a:ext uri="{FF2B5EF4-FFF2-40B4-BE49-F238E27FC236}">
                <a16:creationId xmlns:a16="http://schemas.microsoft.com/office/drawing/2014/main" id="{C44150FE-9D1D-8526-BA38-5866F6101EB7}"/>
              </a:ext>
            </a:extLst>
          </p:cNvPr>
          <p:cNvSpPr/>
          <p:nvPr/>
        </p:nvSpPr>
        <p:spPr>
          <a:xfrm>
            <a:off x="9982200" y="3708400"/>
            <a:ext cx="1905000" cy="381000"/>
          </a:xfrm>
          <a:prstGeom prst="rect">
            <a:avLst/>
          </a:prstGeom>
          <a:solidFill>
            <a:srgbClr val="EFF6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lane-target-4">
            <a:extLst>
              <a:ext uri="{FF2B5EF4-FFF2-40B4-BE49-F238E27FC236}">
                <a16:creationId xmlns:a16="http://schemas.microsoft.com/office/drawing/2014/main" id="{180B52FE-2DD3-F600-A619-DA2BE9A27F24}"/>
              </a:ext>
            </a:extLst>
          </p:cNvPr>
          <p:cNvSpPr txBox="1"/>
          <p:nvPr/>
        </p:nvSpPr>
        <p:spPr>
          <a:xfrm>
            <a:off x="10185400" y="3835400"/>
            <a:ext cx="1498600" cy="276999"/>
          </a:xfrm>
          <a:prstGeom prst="rect">
            <a:avLst/>
          </a:prstGeom>
          <a:noFill/>
        </p:spPr>
        <p:txBody>
          <a:bodyPr vert="horz" wrap="square" lIns="0" tIns="0" rIns="0" bIns="0" rtlCol="0">
            <a:noAutofit/>
          </a:bodyPr>
          <a:lstStyle/>
          <a:p>
            <a:r>
              <a:rPr lang="en-US" altLang="zh-CN" sz="720" b="1">
                <a:solidFill>
                  <a:srgbClr val="004080"/>
                </a:solidFill>
                <a:latin typeface="Aptos" panose="020B0004020202020204" pitchFamily="34" charset="0"/>
              </a:rPr>
              <a:t>EMNLP target</a:t>
            </a:r>
            <a:endParaRPr lang="zh-CN" altLang="en-US" sz="720" b="1">
              <a:solidFill>
                <a:srgbClr val="004080"/>
              </a:solidFill>
              <a:latin typeface="Aptos" panose="020B0004020202020204" pitchFamily="34" charset="0"/>
            </a:endParaRPr>
          </a:p>
        </p:txBody>
      </p:sp>
      <p:sp>
        <p:nvSpPr>
          <p:cNvPr id="48" name="lane-sub-4">
            <a:extLst>
              <a:ext uri="{FF2B5EF4-FFF2-40B4-BE49-F238E27FC236}">
                <a16:creationId xmlns:a16="http://schemas.microsoft.com/office/drawing/2014/main" id="{5F8C3602-B285-62D6-8749-3B87D819503C}"/>
              </a:ext>
            </a:extLst>
          </p:cNvPr>
          <p:cNvSpPr txBox="1"/>
          <p:nvPr/>
        </p:nvSpPr>
        <p:spPr>
          <a:xfrm>
            <a:off x="9982200" y="4318000"/>
            <a:ext cx="1905000" cy="276999"/>
          </a:xfrm>
          <a:prstGeom prst="rect">
            <a:avLst/>
          </a:prstGeom>
          <a:noFill/>
        </p:spPr>
        <p:txBody>
          <a:bodyPr vert="horz" wrap="square" lIns="0" tIns="0" rIns="0" bIns="0" rtlCol="0">
            <a:noAutofit/>
          </a:bodyPr>
          <a:lstStyle/>
          <a:p>
            <a:r>
              <a:rPr lang="en-US" altLang="zh-CN" sz="740">
                <a:solidFill>
                  <a:srgbClr val="536580"/>
                </a:solidFill>
                <a:latin typeface="Aptos" panose="020B0004020202020204" pitchFamily="34" charset="0"/>
              </a:rPr>
              <a:t>selective triage</a:t>
            </a:r>
            <a:endParaRPr lang="zh-CN" altLang="en-US" sz="740">
              <a:solidFill>
                <a:srgbClr val="536580"/>
              </a:solidFill>
              <a:latin typeface="Aptos" panose="020B0004020202020204" pitchFamily="34" charset="0"/>
            </a:endParaRPr>
          </a:p>
        </p:txBody>
      </p:sp>
      <p:sp>
        <p:nvSpPr>
          <p:cNvPr id="49" name="ownership">
            <a:extLst>
              <a:ext uri="{FF2B5EF4-FFF2-40B4-BE49-F238E27FC236}">
                <a16:creationId xmlns:a16="http://schemas.microsoft.com/office/drawing/2014/main" id="{B4B7A122-6039-A40F-FD33-A09C1EF4076F}"/>
              </a:ext>
            </a:extLst>
          </p:cNvPr>
          <p:cNvSpPr/>
          <p:nvPr/>
        </p:nvSpPr>
        <p:spPr>
          <a:xfrm>
            <a:off x="1193800" y="5283200"/>
            <a:ext cx="9804400" cy="482600"/>
          </a:xfrm>
          <a:prstGeom prst="rect">
            <a:avLst/>
          </a:prstGeom>
          <a:solidFill>
            <a:srgbClr val="E7F1FF"/>
          </a:solidFill>
          <a:ln w="12700">
            <a:solidFill>
              <a:srgbClr val="AFCDF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ownership-text">
            <a:extLst>
              <a:ext uri="{FF2B5EF4-FFF2-40B4-BE49-F238E27FC236}">
                <a16:creationId xmlns:a16="http://schemas.microsoft.com/office/drawing/2014/main" id="{4122A994-6BF4-536A-DFB0-7DD2EC77781F}"/>
              </a:ext>
            </a:extLst>
          </p:cNvPr>
          <p:cNvSpPr txBox="1"/>
          <p:nvPr/>
        </p:nvSpPr>
        <p:spPr>
          <a:xfrm>
            <a:off x="1524000" y="5448300"/>
            <a:ext cx="9144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FYP submission: implementation and submitted dissertation artifact completed individually; later paper writing may involve collaborators.</a:t>
            </a:r>
            <a:endParaRPr lang="zh-CN" altLang="en-US" sz="830" b="1">
              <a:solidFill>
                <a:srgbClr val="004080"/>
              </a:solidFill>
              <a:latin typeface="Aptos" panose="020B0004020202020204" pitchFamily="34" charset="0"/>
            </a:endParaRPr>
          </a:p>
        </p:txBody>
      </p:sp>
    </p:spTree>
    <p:extLst>
      <p:ext uri="{BB962C8B-B14F-4D97-AF65-F5344CB8AC3E}">
        <p14:creationId xmlns:p14="http://schemas.microsoft.com/office/powerpoint/2010/main" val="2178802051"/>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45D4767F-A9F5-7D93-E57C-7D848FB0BFEE}"/>
              </a:ext>
            </a:extLst>
          </p:cNvPr>
          <p:cNvSpPr/>
          <p:nvPr/>
        </p:nvSpPr>
        <p:spPr>
          <a:xfrm>
            <a:off x="0" y="0"/>
            <a:ext cx="121920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dark-panel">
            <a:extLst>
              <a:ext uri="{FF2B5EF4-FFF2-40B4-BE49-F238E27FC236}">
                <a16:creationId xmlns:a16="http://schemas.microsoft.com/office/drawing/2014/main" id="{C8D9294B-B926-0FC5-C7D6-56958B872EB6}"/>
              </a:ext>
            </a:extLst>
          </p:cNvPr>
          <p:cNvSpPr/>
          <p:nvPr/>
        </p:nvSpPr>
        <p:spPr>
          <a:xfrm>
            <a:off x="0" y="0"/>
            <a:ext cx="12192000" cy="6858000"/>
          </a:xfrm>
          <a:prstGeom prst="rect">
            <a:avLst/>
          </a:prstGeom>
          <a:solidFill>
            <a:srgbClr val="032048">
              <a:alpha val="9000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grid-v-0">
            <a:extLst>
              <a:ext uri="{FF2B5EF4-FFF2-40B4-BE49-F238E27FC236}">
                <a16:creationId xmlns:a16="http://schemas.microsoft.com/office/drawing/2014/main" id="{31007564-9B59-65E1-C3E6-9FF547C9A954}"/>
              </a:ext>
            </a:extLst>
          </p:cNvPr>
          <p:cNvCxnSpPr/>
          <p:nvPr/>
        </p:nvCxnSpPr>
        <p:spPr>
          <a:xfrm>
            <a:off x="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5" name="grid-v-64">
            <a:extLst>
              <a:ext uri="{FF2B5EF4-FFF2-40B4-BE49-F238E27FC236}">
                <a16:creationId xmlns:a16="http://schemas.microsoft.com/office/drawing/2014/main" id="{20A2C944-3B46-7798-45BD-6D181AB63D83}"/>
              </a:ext>
            </a:extLst>
          </p:cNvPr>
          <p:cNvCxnSpPr/>
          <p:nvPr/>
        </p:nvCxnSpPr>
        <p:spPr>
          <a:xfrm>
            <a:off x="812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6" name="grid-v-128">
            <a:extLst>
              <a:ext uri="{FF2B5EF4-FFF2-40B4-BE49-F238E27FC236}">
                <a16:creationId xmlns:a16="http://schemas.microsoft.com/office/drawing/2014/main" id="{F7419B30-ED53-0F83-EFBB-C4496ACBF2A9}"/>
              </a:ext>
            </a:extLst>
          </p:cNvPr>
          <p:cNvCxnSpPr/>
          <p:nvPr/>
        </p:nvCxnSpPr>
        <p:spPr>
          <a:xfrm>
            <a:off x="1625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7" name="grid-v-192">
            <a:extLst>
              <a:ext uri="{FF2B5EF4-FFF2-40B4-BE49-F238E27FC236}">
                <a16:creationId xmlns:a16="http://schemas.microsoft.com/office/drawing/2014/main" id="{43D55E65-A6A2-4D6A-F224-FA89DCD279C1}"/>
              </a:ext>
            </a:extLst>
          </p:cNvPr>
          <p:cNvCxnSpPr/>
          <p:nvPr/>
        </p:nvCxnSpPr>
        <p:spPr>
          <a:xfrm>
            <a:off x="2438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8" name="grid-v-256">
            <a:extLst>
              <a:ext uri="{FF2B5EF4-FFF2-40B4-BE49-F238E27FC236}">
                <a16:creationId xmlns:a16="http://schemas.microsoft.com/office/drawing/2014/main" id="{15DC8B1B-D146-5D13-E3D8-9AB13DD4B6C7}"/>
              </a:ext>
            </a:extLst>
          </p:cNvPr>
          <p:cNvCxnSpPr/>
          <p:nvPr/>
        </p:nvCxnSpPr>
        <p:spPr>
          <a:xfrm>
            <a:off x="3251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9" name="grid-v-320">
            <a:extLst>
              <a:ext uri="{FF2B5EF4-FFF2-40B4-BE49-F238E27FC236}">
                <a16:creationId xmlns:a16="http://schemas.microsoft.com/office/drawing/2014/main" id="{9856177A-E98A-C0F3-E298-C0FDF9096B59}"/>
              </a:ext>
            </a:extLst>
          </p:cNvPr>
          <p:cNvCxnSpPr/>
          <p:nvPr/>
        </p:nvCxnSpPr>
        <p:spPr>
          <a:xfrm>
            <a:off x="4064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0" name="grid-v-384">
            <a:extLst>
              <a:ext uri="{FF2B5EF4-FFF2-40B4-BE49-F238E27FC236}">
                <a16:creationId xmlns:a16="http://schemas.microsoft.com/office/drawing/2014/main" id="{09F2625B-8C49-5876-B9F7-4E98775E8B8F}"/>
              </a:ext>
            </a:extLst>
          </p:cNvPr>
          <p:cNvCxnSpPr/>
          <p:nvPr/>
        </p:nvCxnSpPr>
        <p:spPr>
          <a:xfrm>
            <a:off x="4876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1" name="grid-v-448">
            <a:extLst>
              <a:ext uri="{FF2B5EF4-FFF2-40B4-BE49-F238E27FC236}">
                <a16:creationId xmlns:a16="http://schemas.microsoft.com/office/drawing/2014/main" id="{E8F6BD6C-05B5-2A23-EAA1-944F58217CFB}"/>
              </a:ext>
            </a:extLst>
          </p:cNvPr>
          <p:cNvCxnSpPr/>
          <p:nvPr/>
        </p:nvCxnSpPr>
        <p:spPr>
          <a:xfrm>
            <a:off x="5689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2" name="grid-v-512">
            <a:extLst>
              <a:ext uri="{FF2B5EF4-FFF2-40B4-BE49-F238E27FC236}">
                <a16:creationId xmlns:a16="http://schemas.microsoft.com/office/drawing/2014/main" id="{7CF0EB77-B9C5-B02F-7FD9-283C7739DFFA}"/>
              </a:ext>
            </a:extLst>
          </p:cNvPr>
          <p:cNvCxnSpPr/>
          <p:nvPr/>
        </p:nvCxnSpPr>
        <p:spPr>
          <a:xfrm>
            <a:off x="6502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3" name="grid-v-576">
            <a:extLst>
              <a:ext uri="{FF2B5EF4-FFF2-40B4-BE49-F238E27FC236}">
                <a16:creationId xmlns:a16="http://schemas.microsoft.com/office/drawing/2014/main" id="{EC4499FB-FB4C-6D59-1ACA-6D6EBF80DEEC}"/>
              </a:ext>
            </a:extLst>
          </p:cNvPr>
          <p:cNvCxnSpPr/>
          <p:nvPr/>
        </p:nvCxnSpPr>
        <p:spPr>
          <a:xfrm>
            <a:off x="7315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4" name="grid-v-640">
            <a:extLst>
              <a:ext uri="{FF2B5EF4-FFF2-40B4-BE49-F238E27FC236}">
                <a16:creationId xmlns:a16="http://schemas.microsoft.com/office/drawing/2014/main" id="{304E9092-DD57-EBA2-12BC-C88B9C83F4E1}"/>
              </a:ext>
            </a:extLst>
          </p:cNvPr>
          <p:cNvCxnSpPr/>
          <p:nvPr/>
        </p:nvCxnSpPr>
        <p:spPr>
          <a:xfrm>
            <a:off x="8128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5" name="grid-v-704">
            <a:extLst>
              <a:ext uri="{FF2B5EF4-FFF2-40B4-BE49-F238E27FC236}">
                <a16:creationId xmlns:a16="http://schemas.microsoft.com/office/drawing/2014/main" id="{44556C57-5C09-85ED-BC87-EEC10A409540}"/>
              </a:ext>
            </a:extLst>
          </p:cNvPr>
          <p:cNvCxnSpPr/>
          <p:nvPr/>
        </p:nvCxnSpPr>
        <p:spPr>
          <a:xfrm>
            <a:off x="89408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6" name="grid-v-768">
            <a:extLst>
              <a:ext uri="{FF2B5EF4-FFF2-40B4-BE49-F238E27FC236}">
                <a16:creationId xmlns:a16="http://schemas.microsoft.com/office/drawing/2014/main" id="{C3B4115F-DC46-B855-CFD2-E364FA0C5C53}"/>
              </a:ext>
            </a:extLst>
          </p:cNvPr>
          <p:cNvCxnSpPr/>
          <p:nvPr/>
        </p:nvCxnSpPr>
        <p:spPr>
          <a:xfrm>
            <a:off x="97536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7" name="grid-v-832">
            <a:extLst>
              <a:ext uri="{FF2B5EF4-FFF2-40B4-BE49-F238E27FC236}">
                <a16:creationId xmlns:a16="http://schemas.microsoft.com/office/drawing/2014/main" id="{09141AF4-4148-4A49-1E81-EDEE10B10626}"/>
              </a:ext>
            </a:extLst>
          </p:cNvPr>
          <p:cNvCxnSpPr/>
          <p:nvPr/>
        </p:nvCxnSpPr>
        <p:spPr>
          <a:xfrm>
            <a:off x="105664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8" name="grid-v-896">
            <a:extLst>
              <a:ext uri="{FF2B5EF4-FFF2-40B4-BE49-F238E27FC236}">
                <a16:creationId xmlns:a16="http://schemas.microsoft.com/office/drawing/2014/main" id="{D8D639E1-B828-0111-266F-D904BCE20BC4}"/>
              </a:ext>
            </a:extLst>
          </p:cNvPr>
          <p:cNvCxnSpPr/>
          <p:nvPr/>
        </p:nvCxnSpPr>
        <p:spPr>
          <a:xfrm>
            <a:off x="113792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19" name="grid-v-960">
            <a:extLst>
              <a:ext uri="{FF2B5EF4-FFF2-40B4-BE49-F238E27FC236}">
                <a16:creationId xmlns:a16="http://schemas.microsoft.com/office/drawing/2014/main" id="{BE27E73F-20E4-3AB8-B087-007591D3A832}"/>
              </a:ext>
            </a:extLst>
          </p:cNvPr>
          <p:cNvCxnSpPr/>
          <p:nvPr/>
        </p:nvCxnSpPr>
        <p:spPr>
          <a:xfrm>
            <a:off x="12192000" y="0"/>
            <a:ext cx="0" cy="685800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0" name="grid-h-0">
            <a:extLst>
              <a:ext uri="{FF2B5EF4-FFF2-40B4-BE49-F238E27FC236}">
                <a16:creationId xmlns:a16="http://schemas.microsoft.com/office/drawing/2014/main" id="{4AB2880F-1CD8-2DD4-B1D0-2A9D2D9C6ABB}"/>
              </a:ext>
            </a:extLst>
          </p:cNvPr>
          <p:cNvCxnSpPr/>
          <p:nvPr/>
        </p:nvCxnSpPr>
        <p:spPr>
          <a:xfrm>
            <a:off x="0" y="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1" name="grid-h-64">
            <a:extLst>
              <a:ext uri="{FF2B5EF4-FFF2-40B4-BE49-F238E27FC236}">
                <a16:creationId xmlns:a16="http://schemas.microsoft.com/office/drawing/2014/main" id="{3E48743A-D199-24EF-2459-522B48174A4C}"/>
              </a:ext>
            </a:extLst>
          </p:cNvPr>
          <p:cNvCxnSpPr/>
          <p:nvPr/>
        </p:nvCxnSpPr>
        <p:spPr>
          <a:xfrm>
            <a:off x="0" y="812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2" name="grid-h-128">
            <a:extLst>
              <a:ext uri="{FF2B5EF4-FFF2-40B4-BE49-F238E27FC236}">
                <a16:creationId xmlns:a16="http://schemas.microsoft.com/office/drawing/2014/main" id="{7CD48F26-6020-5D59-0E92-A7E71204954C}"/>
              </a:ext>
            </a:extLst>
          </p:cNvPr>
          <p:cNvCxnSpPr/>
          <p:nvPr/>
        </p:nvCxnSpPr>
        <p:spPr>
          <a:xfrm>
            <a:off x="0" y="1625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3" name="grid-h-192">
            <a:extLst>
              <a:ext uri="{FF2B5EF4-FFF2-40B4-BE49-F238E27FC236}">
                <a16:creationId xmlns:a16="http://schemas.microsoft.com/office/drawing/2014/main" id="{8ECDF935-AA82-EA29-CA1C-9E394D8D54F8}"/>
              </a:ext>
            </a:extLst>
          </p:cNvPr>
          <p:cNvCxnSpPr/>
          <p:nvPr/>
        </p:nvCxnSpPr>
        <p:spPr>
          <a:xfrm>
            <a:off x="0" y="2438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4" name="grid-h-256">
            <a:extLst>
              <a:ext uri="{FF2B5EF4-FFF2-40B4-BE49-F238E27FC236}">
                <a16:creationId xmlns:a16="http://schemas.microsoft.com/office/drawing/2014/main" id="{FE65A4B4-80E7-C870-96B5-AB13E2FFE2AB}"/>
              </a:ext>
            </a:extLst>
          </p:cNvPr>
          <p:cNvCxnSpPr/>
          <p:nvPr/>
        </p:nvCxnSpPr>
        <p:spPr>
          <a:xfrm>
            <a:off x="0" y="32512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5" name="grid-h-320">
            <a:extLst>
              <a:ext uri="{FF2B5EF4-FFF2-40B4-BE49-F238E27FC236}">
                <a16:creationId xmlns:a16="http://schemas.microsoft.com/office/drawing/2014/main" id="{02B05EDB-088C-2343-60B5-BA4CDB78CEFE}"/>
              </a:ext>
            </a:extLst>
          </p:cNvPr>
          <p:cNvCxnSpPr/>
          <p:nvPr/>
        </p:nvCxnSpPr>
        <p:spPr>
          <a:xfrm>
            <a:off x="0" y="40640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6" name="grid-h-384">
            <a:extLst>
              <a:ext uri="{FF2B5EF4-FFF2-40B4-BE49-F238E27FC236}">
                <a16:creationId xmlns:a16="http://schemas.microsoft.com/office/drawing/2014/main" id="{ED917A82-F34D-620B-82A0-F3E445E5B5AD}"/>
              </a:ext>
            </a:extLst>
          </p:cNvPr>
          <p:cNvCxnSpPr/>
          <p:nvPr/>
        </p:nvCxnSpPr>
        <p:spPr>
          <a:xfrm>
            <a:off x="0" y="48768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7" name="grid-h-448">
            <a:extLst>
              <a:ext uri="{FF2B5EF4-FFF2-40B4-BE49-F238E27FC236}">
                <a16:creationId xmlns:a16="http://schemas.microsoft.com/office/drawing/2014/main" id="{12CA9646-A7BB-997D-BFE2-827FD1D103FD}"/>
              </a:ext>
            </a:extLst>
          </p:cNvPr>
          <p:cNvCxnSpPr/>
          <p:nvPr/>
        </p:nvCxnSpPr>
        <p:spPr>
          <a:xfrm>
            <a:off x="0" y="56896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cxnSp>
        <p:nvCxnSpPr>
          <p:cNvPr id="28" name="grid-h-512">
            <a:extLst>
              <a:ext uri="{FF2B5EF4-FFF2-40B4-BE49-F238E27FC236}">
                <a16:creationId xmlns:a16="http://schemas.microsoft.com/office/drawing/2014/main" id="{19ADDC50-0932-908F-E88B-5A4820636FEC}"/>
              </a:ext>
            </a:extLst>
          </p:cNvPr>
          <p:cNvCxnSpPr/>
          <p:nvPr/>
        </p:nvCxnSpPr>
        <p:spPr>
          <a:xfrm>
            <a:off x="0" y="6502400"/>
            <a:ext cx="12192000" cy="0"/>
          </a:xfrm>
          <a:prstGeom prst="line">
            <a:avLst/>
          </a:prstGeom>
          <a:ln w="4445">
            <a:solidFill>
              <a:srgbClr val="184D88"/>
            </a:solidFill>
          </a:ln>
        </p:spPr>
        <p:style>
          <a:lnRef idx="1">
            <a:schemeClr val="accent1"/>
          </a:lnRef>
          <a:fillRef idx="0">
            <a:schemeClr val="accent1"/>
          </a:fillRef>
          <a:effectRef idx="0">
            <a:schemeClr val="accent1"/>
          </a:effectRef>
          <a:fontRef idx="minor">
            <a:schemeClr val="tx1"/>
          </a:fontRef>
        </p:style>
      </p:cxnSp>
      <p:sp>
        <p:nvSpPr>
          <p:cNvPr id="29" name="page-num">
            <a:extLst>
              <a:ext uri="{FF2B5EF4-FFF2-40B4-BE49-F238E27FC236}">
                <a16:creationId xmlns:a16="http://schemas.microsoft.com/office/drawing/2014/main" id="{23EA2F7C-1832-84E3-2130-50CDE6FA63AF}"/>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B4CDEB"/>
                </a:solidFill>
                <a:latin typeface="Aptos" panose="020B0004020202020204" pitchFamily="34" charset="0"/>
              </a:rPr>
              <a:t>14</a:t>
            </a:r>
            <a:endParaRPr lang="zh-CN" altLang="en-US" sz="650">
              <a:solidFill>
                <a:srgbClr val="B4CDEB"/>
              </a:solidFill>
              <a:latin typeface="Aptos" panose="020B0004020202020204" pitchFamily="34" charset="0"/>
            </a:endParaRPr>
          </a:p>
        </p:txBody>
      </p:sp>
      <p:sp>
        <p:nvSpPr>
          <p:cNvPr id="30" name="section-label">
            <a:extLst>
              <a:ext uri="{FF2B5EF4-FFF2-40B4-BE49-F238E27FC236}">
                <a16:creationId xmlns:a16="http://schemas.microsoft.com/office/drawing/2014/main" id="{4BA0B368-090A-A592-D7D4-1399C32FF720}"/>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BEDCFF"/>
                </a:solidFill>
                <a:latin typeface="Aptos" panose="020B0004020202020204" pitchFamily="34" charset="0"/>
              </a:rPr>
              <a:t>CLOSING</a:t>
            </a:r>
            <a:endParaRPr lang="zh-CN" altLang="en-US" sz="700" b="1">
              <a:solidFill>
                <a:srgbClr val="BEDCFF"/>
              </a:solidFill>
              <a:latin typeface="Aptos" panose="020B0004020202020204" pitchFamily="34" charset="0"/>
            </a:endParaRPr>
          </a:p>
        </p:txBody>
      </p:sp>
      <p:sp>
        <p:nvSpPr>
          <p:cNvPr id="31" name="thanks">
            <a:extLst>
              <a:ext uri="{FF2B5EF4-FFF2-40B4-BE49-F238E27FC236}">
                <a16:creationId xmlns:a16="http://schemas.microsoft.com/office/drawing/2014/main" id="{9D87B3E9-51E2-A65A-ACF7-64A1092407C4}"/>
              </a:ext>
            </a:extLst>
          </p:cNvPr>
          <p:cNvSpPr txBox="1"/>
          <p:nvPr/>
        </p:nvSpPr>
        <p:spPr>
          <a:xfrm>
            <a:off x="685800" y="1219200"/>
            <a:ext cx="6604000" cy="276999"/>
          </a:xfrm>
          <a:prstGeom prst="rect">
            <a:avLst/>
          </a:prstGeom>
          <a:noFill/>
        </p:spPr>
        <p:txBody>
          <a:bodyPr vert="horz" wrap="square" lIns="0" tIns="0" rIns="0" bIns="0" rtlCol="0">
            <a:noAutofit/>
          </a:bodyPr>
          <a:lstStyle/>
          <a:p>
            <a:r>
              <a:rPr lang="en-US" altLang="zh-CN" sz="4400" b="1">
                <a:solidFill>
                  <a:srgbClr val="FFFFFF"/>
                </a:solidFill>
                <a:latin typeface="Aptos" panose="020B0004020202020204" pitchFamily="34" charset="0"/>
              </a:rPr>
              <a:t>Thank you</a:t>
            </a:r>
            <a:endParaRPr lang="zh-CN" altLang="en-US" sz="4400" b="1">
              <a:solidFill>
                <a:srgbClr val="FFFFFF"/>
              </a:solidFill>
              <a:latin typeface="Aptos" panose="020B0004020202020204" pitchFamily="34" charset="0"/>
            </a:endParaRPr>
          </a:p>
        </p:txBody>
      </p:sp>
      <p:sp>
        <p:nvSpPr>
          <p:cNvPr id="32" name="questions">
            <a:extLst>
              <a:ext uri="{FF2B5EF4-FFF2-40B4-BE49-F238E27FC236}">
                <a16:creationId xmlns:a16="http://schemas.microsoft.com/office/drawing/2014/main" id="{48497E40-903E-745D-08F7-9A72F1043295}"/>
              </a:ext>
            </a:extLst>
          </p:cNvPr>
          <p:cNvSpPr txBox="1"/>
          <p:nvPr/>
        </p:nvSpPr>
        <p:spPr>
          <a:xfrm>
            <a:off x="736600" y="2209800"/>
            <a:ext cx="4826000" cy="276999"/>
          </a:xfrm>
          <a:prstGeom prst="rect">
            <a:avLst/>
          </a:prstGeom>
          <a:noFill/>
        </p:spPr>
        <p:txBody>
          <a:bodyPr vert="horz" wrap="square" lIns="0" tIns="0" rIns="0" bIns="0" rtlCol="0">
            <a:noAutofit/>
          </a:bodyPr>
          <a:lstStyle/>
          <a:p>
            <a:r>
              <a:rPr lang="en-US" altLang="zh-CN" sz="2400" b="1">
                <a:solidFill>
                  <a:srgbClr val="FFFFFF"/>
                </a:solidFill>
                <a:latin typeface="Aptos" panose="020B0004020202020204" pitchFamily="34" charset="0"/>
              </a:rPr>
              <a:t>Questions?</a:t>
            </a:r>
            <a:endParaRPr lang="zh-CN" altLang="en-US" sz="2400" b="1">
              <a:solidFill>
                <a:srgbClr val="FFFFFF"/>
              </a:solidFill>
              <a:latin typeface="Aptos" panose="020B0004020202020204" pitchFamily="34" charset="0"/>
            </a:endParaRPr>
          </a:p>
        </p:txBody>
      </p:sp>
      <p:cxnSp>
        <p:nvCxnSpPr>
          <p:cNvPr id="33" name="closing-line">
            <a:extLst>
              <a:ext uri="{FF2B5EF4-FFF2-40B4-BE49-F238E27FC236}">
                <a16:creationId xmlns:a16="http://schemas.microsoft.com/office/drawing/2014/main" id="{5FC6B06A-E914-3206-46A5-E5C194A445B2}"/>
              </a:ext>
            </a:extLst>
          </p:cNvPr>
          <p:cNvCxnSpPr/>
          <p:nvPr/>
        </p:nvCxnSpPr>
        <p:spPr>
          <a:xfrm>
            <a:off x="736600" y="2895600"/>
            <a:ext cx="7899400" cy="0"/>
          </a:xfrm>
          <a:prstGeom prst="line">
            <a:avLst/>
          </a:prstGeom>
          <a:ln w="15240">
            <a:solidFill>
              <a:srgbClr val="96BEEB"/>
            </a:solidFill>
          </a:ln>
        </p:spPr>
        <p:style>
          <a:lnRef idx="1">
            <a:schemeClr val="accent1"/>
          </a:lnRef>
          <a:fillRef idx="0">
            <a:schemeClr val="accent1"/>
          </a:fillRef>
          <a:effectRef idx="0">
            <a:schemeClr val="accent1"/>
          </a:effectRef>
          <a:fontRef idx="minor">
            <a:schemeClr val="tx1"/>
          </a:fontRef>
        </p:style>
      </p:cxnSp>
      <p:sp>
        <p:nvSpPr>
          <p:cNvPr id="34" name="takeaway">
            <a:extLst>
              <a:ext uri="{FF2B5EF4-FFF2-40B4-BE49-F238E27FC236}">
                <a16:creationId xmlns:a16="http://schemas.microsoft.com/office/drawing/2014/main" id="{5112B22E-B4EE-60D0-3283-7483BBF974EA}"/>
              </a:ext>
            </a:extLst>
          </p:cNvPr>
          <p:cNvSpPr/>
          <p:nvPr/>
        </p:nvSpPr>
        <p:spPr>
          <a:xfrm>
            <a:off x="965200" y="3429000"/>
            <a:ext cx="7696200" cy="711200"/>
          </a:xfrm>
          <a:prstGeom prst="rect">
            <a:avLst/>
          </a:prstGeom>
          <a:solidFill>
            <a:srgbClr val="0B5CA0"/>
          </a:solidFill>
          <a:ln w="12700">
            <a:solidFill>
              <a:srgbClr val="76AE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takeaway-t">
            <a:extLst>
              <a:ext uri="{FF2B5EF4-FFF2-40B4-BE49-F238E27FC236}">
                <a16:creationId xmlns:a16="http://schemas.microsoft.com/office/drawing/2014/main" id="{AAD8569C-2EAB-213C-6FDA-3A07E42AEDCF}"/>
              </a:ext>
            </a:extLst>
          </p:cNvPr>
          <p:cNvSpPr txBox="1"/>
          <p:nvPr/>
        </p:nvSpPr>
        <p:spPr>
          <a:xfrm>
            <a:off x="1320800" y="3657600"/>
            <a:ext cx="6959600" cy="276999"/>
          </a:xfrm>
          <a:prstGeom prst="rect">
            <a:avLst/>
          </a:prstGeom>
          <a:noFill/>
        </p:spPr>
        <p:txBody>
          <a:bodyPr vert="horz" wrap="square" lIns="0" tIns="0" rIns="0" bIns="0" rtlCol="0">
            <a:noAutofit/>
          </a:bodyPr>
          <a:lstStyle/>
          <a:p>
            <a:r>
              <a:rPr lang="en-US" altLang="zh-CN" sz="1050" b="1">
                <a:solidFill>
                  <a:srgbClr val="FFFFFF"/>
                </a:solidFill>
                <a:latin typeface="Aptos" panose="020B0004020202020204" pitchFamily="34" charset="0"/>
              </a:rPr>
              <a:t>WatermarkScope evaluates source-code watermarking as bounded evidence, not as one detector score.</a:t>
            </a:r>
            <a:endParaRPr lang="zh-CN" altLang="en-US" sz="1050" b="1">
              <a:solidFill>
                <a:srgbClr val="FFFFFF"/>
              </a:solidFill>
              <a:latin typeface="Aptos" panose="020B0004020202020204" pitchFamily="34" charset="0"/>
            </a:endParaRPr>
          </a:p>
        </p:txBody>
      </p:sp>
      <p:sp>
        <p:nvSpPr>
          <p:cNvPr id="36" name="qa">
            <a:extLst>
              <a:ext uri="{FF2B5EF4-FFF2-40B4-BE49-F238E27FC236}">
                <a16:creationId xmlns:a16="http://schemas.microsoft.com/office/drawing/2014/main" id="{BE45CABC-BC22-A141-3B50-9E8CC960FF14}"/>
              </a:ext>
            </a:extLst>
          </p:cNvPr>
          <p:cNvSpPr/>
          <p:nvPr/>
        </p:nvSpPr>
        <p:spPr>
          <a:xfrm>
            <a:off x="965200" y="4419600"/>
            <a:ext cx="7696200" cy="533400"/>
          </a:xfrm>
          <a:prstGeom prst="rect">
            <a:avLst/>
          </a:prstGeom>
          <a:solidFill>
            <a:srgbClr val="071C3E"/>
          </a:solidFill>
          <a:ln w="12700">
            <a:solidFill>
              <a:srgbClr val="4E82B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qa-t">
            <a:extLst>
              <a:ext uri="{FF2B5EF4-FFF2-40B4-BE49-F238E27FC236}">
                <a16:creationId xmlns:a16="http://schemas.microsoft.com/office/drawing/2014/main" id="{C6D007A3-EBB0-0392-F91D-756EACE87C5D}"/>
              </a:ext>
            </a:extLst>
          </p:cNvPr>
          <p:cNvSpPr txBox="1"/>
          <p:nvPr/>
        </p:nvSpPr>
        <p:spPr>
          <a:xfrm>
            <a:off x="1320800" y="4610100"/>
            <a:ext cx="6959600" cy="276999"/>
          </a:xfrm>
          <a:prstGeom prst="rect">
            <a:avLst/>
          </a:prstGeom>
          <a:noFill/>
        </p:spPr>
        <p:txBody>
          <a:bodyPr vert="horz" wrap="square" lIns="0" tIns="0" rIns="0" bIns="0" rtlCol="0">
            <a:noAutofit/>
          </a:bodyPr>
          <a:lstStyle/>
          <a:p>
            <a:r>
              <a:rPr lang="en-US" altLang="zh-CN" sz="820" b="1">
                <a:solidFill>
                  <a:srgbClr val="FFFFFF"/>
                </a:solidFill>
                <a:latin typeface="Aptos" panose="020B0004020202020204" pitchFamily="34" charset="0"/>
              </a:rPr>
              <a:t>Q&amp;A anchors: contribution | why not one score | demo validity | claim boundaries</a:t>
            </a:r>
            <a:endParaRPr lang="zh-CN" altLang="en-US" sz="820" b="1">
              <a:solidFill>
                <a:srgbClr val="FFFFFF"/>
              </a:solidFill>
              <a:latin typeface="Aptos" panose="020B0004020202020204" pitchFamily="34" charset="0"/>
            </a:endParaRPr>
          </a:p>
        </p:txBody>
      </p:sp>
      <p:pic>
        <p:nvPicPr>
          <p:cNvPr id="39" name="图片 38">
            <a:hlinkClick r:id="rId3"/>
            <a:extLst>
              <a:ext uri="{FF2B5EF4-FFF2-40B4-BE49-F238E27FC236}">
                <a16:creationId xmlns:a16="http://schemas.microsoft.com/office/drawing/2014/main" id="{74EFF83C-27DA-EBCC-8A94-DBE54E1DB75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474200" y="2616200"/>
            <a:ext cx="1498600" cy="1498600"/>
          </a:xfrm>
          <a:prstGeom prst="rect">
            <a:avLst/>
          </a:prstGeom>
        </p:spPr>
      </p:pic>
      <p:sp>
        <p:nvSpPr>
          <p:cNvPr id="40" name="page-button">
            <a:hlinkClick r:id="rId3"/>
            <a:extLst>
              <a:ext uri="{FF2B5EF4-FFF2-40B4-BE49-F238E27FC236}">
                <a16:creationId xmlns:a16="http://schemas.microsoft.com/office/drawing/2014/main" id="{687A38F4-0BEE-AE8B-21E4-228E315E94AD}"/>
              </a:ext>
            </a:extLst>
          </p:cNvPr>
          <p:cNvSpPr/>
          <p:nvPr/>
        </p:nvSpPr>
        <p:spPr>
          <a:xfrm>
            <a:off x="9296400" y="4368800"/>
            <a:ext cx="8128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Page</a:t>
            </a:r>
            <a:endParaRPr lang="zh-CN" altLang="en-US" sz="850" b="1">
              <a:solidFill>
                <a:srgbClr val="004080"/>
              </a:solidFill>
              <a:latin typeface="Aptos" panose="020B0004020202020204" pitchFamily="34" charset="0"/>
            </a:endParaRPr>
          </a:p>
        </p:txBody>
      </p:sp>
      <p:sp>
        <p:nvSpPr>
          <p:cNvPr id="41" name="repo-button">
            <a:hlinkClick r:id="rId5"/>
            <a:extLst>
              <a:ext uri="{FF2B5EF4-FFF2-40B4-BE49-F238E27FC236}">
                <a16:creationId xmlns:a16="http://schemas.microsoft.com/office/drawing/2014/main" id="{9212C5FE-AAE0-E86D-58B5-47CF867226C0}"/>
              </a:ext>
            </a:extLst>
          </p:cNvPr>
          <p:cNvSpPr/>
          <p:nvPr/>
        </p:nvSpPr>
        <p:spPr>
          <a:xfrm>
            <a:off x="10261600" y="4368800"/>
            <a:ext cx="812800" cy="279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004080"/>
                </a:solidFill>
                <a:latin typeface="Aptos" panose="020B0004020202020204" pitchFamily="34" charset="0"/>
              </a:rPr>
              <a:t>Repo</a:t>
            </a:r>
            <a:endParaRPr lang="zh-CN" altLang="en-US" sz="850" b="1">
              <a:solidFill>
                <a:srgbClr val="004080"/>
              </a:solidFill>
              <a:latin typeface="Aptos" panose="020B0004020202020204" pitchFamily="34" charset="0"/>
            </a:endParaRPr>
          </a:p>
        </p:txBody>
      </p:sp>
      <p:pic>
        <p:nvPicPr>
          <p:cNvPr id="43" name="图片 42">
            <a:extLst>
              <a:ext uri="{FF2B5EF4-FFF2-40B4-BE49-F238E27FC236}">
                <a16:creationId xmlns:a16="http://schemas.microsoft.com/office/drawing/2014/main" id="{FBD2DEE0-68C5-F68C-3D4B-30706344B2B6}"/>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Tree>
    <p:extLst>
      <p:ext uri="{BB962C8B-B14F-4D97-AF65-F5344CB8AC3E}">
        <p14:creationId xmlns:p14="http://schemas.microsoft.com/office/powerpoint/2010/main" val="3546156096"/>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EEE7FCC0-5467-4898-00F5-B0686556FAC7}"/>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369367E3-D870-D008-AB99-5BB3ABB5A409}"/>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C096CFAC-A511-EFD1-5F2D-F7B955F89A34}"/>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6F150B0F-7944-CC3B-FE55-1B20530FA5BE}"/>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225AB401-EA4E-4D29-1543-DFEF86B35DA2}"/>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7762C090-B260-3D22-AF55-BA63A0E7903C}"/>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15</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35F9DB35-D021-2232-2F33-276B1F1C5390}"/>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BACKUP</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69435036-5B71-181F-F1B3-7C1E92F72B2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891D316C-D5E2-27A1-C066-2A18FB68F3AD}"/>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Formula and boundary reference</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AD50E98C-F31D-46A5-B829-4D66281B9253}"/>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Use this if asked about the formal evidence object.</a:t>
            </a:r>
            <a:endParaRPr lang="zh-CN" altLang="en-US" sz="950">
              <a:solidFill>
                <a:srgbClr val="536580"/>
              </a:solidFill>
              <a:latin typeface="Aptos" panose="020B0004020202020204" pitchFamily="34" charset="0"/>
            </a:endParaRPr>
          </a:p>
        </p:txBody>
      </p:sp>
      <p:sp>
        <p:nvSpPr>
          <p:cNvPr id="13" name="formula-big">
            <a:extLst>
              <a:ext uri="{FF2B5EF4-FFF2-40B4-BE49-F238E27FC236}">
                <a16:creationId xmlns:a16="http://schemas.microsoft.com/office/drawing/2014/main" id="{6AF7ACF6-2986-A837-E035-0A632AE57447}"/>
              </a:ext>
            </a:extLst>
          </p:cNvPr>
          <p:cNvSpPr/>
          <p:nvPr/>
        </p:nvSpPr>
        <p:spPr>
          <a:xfrm>
            <a:off x="1117600" y="1879600"/>
            <a:ext cx="9956800" cy="9652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text">
            <a:extLst>
              <a:ext uri="{FF2B5EF4-FFF2-40B4-BE49-F238E27FC236}">
                <a16:creationId xmlns:a16="http://schemas.microsoft.com/office/drawing/2014/main" id="{24DEA3E7-0DC7-B5C5-9BC7-BA9CE696F11A}"/>
              </a:ext>
            </a:extLst>
          </p:cNvPr>
          <p:cNvSpPr txBox="1"/>
          <p:nvPr/>
        </p:nvSpPr>
        <p:spPr>
          <a:xfrm>
            <a:off x="1574800" y="2197100"/>
            <a:ext cx="9144000" cy="276999"/>
          </a:xfrm>
          <a:prstGeom prst="rect">
            <a:avLst/>
          </a:prstGeom>
          <a:noFill/>
        </p:spPr>
        <p:txBody>
          <a:bodyPr vert="horz" wrap="square" lIns="0" tIns="0" rIns="0" bIns="0" rtlCol="0">
            <a:noAutofit/>
          </a:bodyPr>
          <a:lstStyle/>
          <a:p>
            <a:r>
              <a:rPr lang="en-US" altLang="zh-CN" sz="1350" b="1">
                <a:solidFill>
                  <a:srgbClr val="FFFFFF"/>
                </a:solidFill>
                <a:latin typeface="Consolas" panose="020B0609020204030204" pitchFamily="49" charset="0"/>
              </a:rPr>
              <a:t>E = &lt;D, C, A, H, B&gt;; admit(E)=1 only if D, C, A/H, and B are fixed before interpretation.</a:t>
            </a:r>
            <a:endParaRPr lang="zh-CN" altLang="en-US" sz="1350" b="1">
              <a:solidFill>
                <a:srgbClr val="FFFFFF"/>
              </a:solidFill>
              <a:latin typeface="Consolas" panose="020B0609020204030204" pitchFamily="49" charset="0"/>
            </a:endParaRPr>
          </a:p>
        </p:txBody>
      </p:sp>
      <p:pic>
        <p:nvPicPr>
          <p:cNvPr id="16" name="claim-matrix">
            <a:extLst>
              <a:ext uri="{FF2B5EF4-FFF2-40B4-BE49-F238E27FC236}">
                <a16:creationId xmlns:a16="http://schemas.microsoft.com/office/drawing/2014/main" id="{1189FC1A-FEB8-674B-67A1-5CB6CFCF572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769634" y="3175000"/>
            <a:ext cx="6652733" cy="2159000"/>
          </a:xfrm>
          <a:prstGeom prst="rect">
            <a:avLst/>
          </a:prstGeom>
        </p:spPr>
      </p:pic>
      <p:sp>
        <p:nvSpPr>
          <p:cNvPr id="17" name="claim-bak">
            <a:hlinkClick r:id="rId5"/>
            <a:extLst>
              <a:ext uri="{FF2B5EF4-FFF2-40B4-BE49-F238E27FC236}">
                <a16:creationId xmlns:a16="http://schemas.microsoft.com/office/drawing/2014/main" id="{489B53F8-15E9-80D6-A293-3EB2D1143035}"/>
              </a:ext>
            </a:extLst>
          </p:cNvPr>
          <p:cNvSpPr/>
          <p:nvPr/>
        </p:nvSpPr>
        <p:spPr>
          <a:xfrm>
            <a:off x="9169400" y="5410200"/>
            <a:ext cx="1371600" cy="279400"/>
          </a:xfrm>
          <a:prstGeom prst="rect">
            <a:avLst/>
          </a:prstGeom>
          <a:solidFill>
            <a:srgbClr val="004080"/>
          </a:solidFill>
          <a:ln w="12700">
            <a:solidFill>
              <a:srgbClr val="0040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altLang="zh-CN" sz="850" b="1">
                <a:solidFill>
                  <a:srgbClr val="FFFFFF"/>
                </a:solidFill>
                <a:latin typeface="Aptos" panose="020B0004020202020204" pitchFamily="34" charset="0"/>
              </a:rPr>
              <a:t>Claim boundaries</a:t>
            </a:r>
            <a:endParaRPr lang="zh-CN" altLang="en-US" sz="850" b="1">
              <a:solidFill>
                <a:srgbClr val="FFFFFF"/>
              </a:solidFill>
              <a:latin typeface="Aptos" panose="020B0004020202020204" pitchFamily="34" charset="0"/>
            </a:endParaRPr>
          </a:p>
        </p:txBody>
      </p:sp>
    </p:spTree>
    <p:extLst>
      <p:ext uri="{BB962C8B-B14F-4D97-AF65-F5344CB8AC3E}">
        <p14:creationId xmlns:p14="http://schemas.microsoft.com/office/powerpoint/2010/main" val="3231806601"/>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ge-bg">
            <a:extLst>
              <a:ext uri="{FF2B5EF4-FFF2-40B4-BE49-F238E27FC236}">
                <a16:creationId xmlns:a16="http://schemas.microsoft.com/office/drawing/2014/main" id="{813B1E86-EDB6-1FA2-BEA8-E90CC444B671}"/>
              </a:ext>
            </a:extLst>
          </p:cNvPr>
          <p:cNvSpPr/>
          <p:nvPr/>
        </p:nvSpPr>
        <p:spPr>
          <a:xfrm>
            <a:off x="0" y="0"/>
            <a:ext cx="12192000" cy="6858000"/>
          </a:xfrm>
          <a:prstGeom prst="rect">
            <a:avLst/>
          </a:prstGeom>
          <a:solidFill>
            <a:srgbClr val="F8FB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left-rail">
            <a:extLst>
              <a:ext uri="{FF2B5EF4-FFF2-40B4-BE49-F238E27FC236}">
                <a16:creationId xmlns:a16="http://schemas.microsoft.com/office/drawing/2014/main" id="{9E16A126-6491-4B9B-1F7B-7A736868A6D2}"/>
              </a:ext>
            </a:extLst>
          </p:cNvPr>
          <p:cNvSpPr/>
          <p:nvPr/>
        </p:nvSpPr>
        <p:spPr>
          <a:xfrm>
            <a:off x="0" y="0"/>
            <a:ext cx="279400" cy="6858000"/>
          </a:xfrm>
          <a:prstGeom prst="rect">
            <a:avLst/>
          </a:prstGeom>
          <a:solidFill>
            <a:srgbClr val="00408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top-line">
            <a:extLst>
              <a:ext uri="{FF2B5EF4-FFF2-40B4-BE49-F238E27FC236}">
                <a16:creationId xmlns:a16="http://schemas.microsoft.com/office/drawing/2014/main" id="{B75925DA-FF2E-0EBD-D8C2-104843DD383E}"/>
              </a:ext>
            </a:extLst>
          </p:cNvPr>
          <p:cNvCxnSpPr/>
          <p:nvPr/>
        </p:nvCxnSpPr>
        <p:spPr>
          <a:xfrm>
            <a:off x="685800" y="1092200"/>
            <a:ext cx="10820400" cy="0"/>
          </a:xfrm>
          <a:prstGeom prst="line">
            <a:avLst/>
          </a:prstGeom>
          <a:ln w="12700">
            <a:solidFill>
              <a:srgbClr val="D2DCEB"/>
            </a:solidFill>
          </a:ln>
        </p:spPr>
        <p:style>
          <a:lnRef idx="1">
            <a:schemeClr val="accent1"/>
          </a:lnRef>
          <a:fillRef idx="0">
            <a:schemeClr val="accent1"/>
          </a:fillRef>
          <a:effectRef idx="0">
            <a:schemeClr val="accent1"/>
          </a:effectRef>
          <a:fontRef idx="minor">
            <a:schemeClr val="tx1"/>
          </a:fontRef>
        </p:style>
      </p:cxnSp>
      <p:sp>
        <p:nvSpPr>
          <p:cNvPr id="5" name="footer-left">
            <a:extLst>
              <a:ext uri="{FF2B5EF4-FFF2-40B4-BE49-F238E27FC236}">
                <a16:creationId xmlns:a16="http://schemas.microsoft.com/office/drawing/2014/main" id="{1B94AF9C-55D1-43E4-D3C2-324EB8721715}"/>
              </a:ext>
            </a:extLst>
          </p:cNvPr>
          <p:cNvSpPr txBox="1"/>
          <p:nvPr/>
        </p:nvSpPr>
        <p:spPr>
          <a:xfrm>
            <a:off x="685800" y="6502400"/>
            <a:ext cx="355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WatermarkScope FYP Viva</a:t>
            </a:r>
            <a:endParaRPr lang="zh-CN" altLang="en-US" sz="650">
              <a:solidFill>
                <a:srgbClr val="536580"/>
              </a:solidFill>
              <a:latin typeface="Aptos" panose="020B0004020202020204" pitchFamily="34" charset="0"/>
            </a:endParaRPr>
          </a:p>
        </p:txBody>
      </p:sp>
      <p:sp>
        <p:nvSpPr>
          <p:cNvPr id="6" name="footer-mid">
            <a:extLst>
              <a:ext uri="{FF2B5EF4-FFF2-40B4-BE49-F238E27FC236}">
                <a16:creationId xmlns:a16="http://schemas.microsoft.com/office/drawing/2014/main" id="{7011C3BD-229B-80F3-35E7-139F48CC0E71}"/>
              </a:ext>
            </a:extLst>
          </p:cNvPr>
          <p:cNvSpPr txBox="1"/>
          <p:nvPr/>
        </p:nvSpPr>
        <p:spPr>
          <a:xfrm>
            <a:off x="4876800" y="6502400"/>
            <a:ext cx="2286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Haoyi Zhang | 2254912</a:t>
            </a:r>
            <a:endParaRPr lang="zh-CN" altLang="en-US" sz="650">
              <a:solidFill>
                <a:srgbClr val="536580"/>
              </a:solidFill>
              <a:latin typeface="Aptos" panose="020B0004020202020204" pitchFamily="34" charset="0"/>
            </a:endParaRPr>
          </a:p>
        </p:txBody>
      </p:sp>
      <p:sp>
        <p:nvSpPr>
          <p:cNvPr id="7" name="page-num">
            <a:extLst>
              <a:ext uri="{FF2B5EF4-FFF2-40B4-BE49-F238E27FC236}">
                <a16:creationId xmlns:a16="http://schemas.microsoft.com/office/drawing/2014/main" id="{657DD4D0-BFD2-B192-0CBF-505BF4004E8E}"/>
              </a:ext>
            </a:extLst>
          </p:cNvPr>
          <p:cNvSpPr txBox="1"/>
          <p:nvPr/>
        </p:nvSpPr>
        <p:spPr>
          <a:xfrm>
            <a:off x="11480800" y="431800"/>
            <a:ext cx="381000" cy="276999"/>
          </a:xfrm>
          <a:prstGeom prst="rect">
            <a:avLst/>
          </a:prstGeom>
          <a:noFill/>
        </p:spPr>
        <p:txBody>
          <a:bodyPr vert="horz" wrap="square" lIns="0" tIns="0" rIns="0" bIns="0" rtlCol="0">
            <a:noAutofit/>
          </a:bodyPr>
          <a:lstStyle/>
          <a:p>
            <a:r>
              <a:rPr lang="en-US" altLang="zh-CN" sz="650">
                <a:solidFill>
                  <a:srgbClr val="536580"/>
                </a:solidFill>
                <a:latin typeface="Aptos" panose="020B0004020202020204" pitchFamily="34" charset="0"/>
              </a:rPr>
              <a:t>16</a:t>
            </a:r>
            <a:endParaRPr lang="zh-CN" altLang="en-US" sz="650">
              <a:solidFill>
                <a:srgbClr val="536580"/>
              </a:solidFill>
              <a:latin typeface="Aptos" panose="020B0004020202020204" pitchFamily="34" charset="0"/>
            </a:endParaRPr>
          </a:p>
        </p:txBody>
      </p:sp>
      <p:sp>
        <p:nvSpPr>
          <p:cNvPr id="8" name="section-label">
            <a:extLst>
              <a:ext uri="{FF2B5EF4-FFF2-40B4-BE49-F238E27FC236}">
                <a16:creationId xmlns:a16="http://schemas.microsoft.com/office/drawing/2014/main" id="{8111921D-9DBA-4EE8-966D-23CAB4BD2945}"/>
              </a:ext>
            </a:extLst>
          </p:cNvPr>
          <p:cNvSpPr txBox="1"/>
          <p:nvPr/>
        </p:nvSpPr>
        <p:spPr>
          <a:xfrm>
            <a:off x="685800" y="431800"/>
            <a:ext cx="3302000" cy="276999"/>
          </a:xfrm>
          <a:prstGeom prst="rect">
            <a:avLst/>
          </a:prstGeom>
          <a:noFill/>
        </p:spPr>
        <p:txBody>
          <a:bodyPr vert="horz" wrap="square" lIns="0" tIns="0" rIns="0" bIns="0" rtlCol="0">
            <a:noAutofit/>
          </a:bodyPr>
          <a:lstStyle/>
          <a:p>
            <a:r>
              <a:rPr lang="en-US" altLang="zh-CN" sz="700" b="1">
                <a:solidFill>
                  <a:srgbClr val="004080"/>
                </a:solidFill>
                <a:latin typeface="Aptos" panose="020B0004020202020204" pitchFamily="34" charset="0"/>
              </a:rPr>
              <a:t>BACKUP</a:t>
            </a:r>
            <a:endParaRPr lang="zh-CN" altLang="en-US" sz="700" b="1">
              <a:solidFill>
                <a:srgbClr val="004080"/>
              </a:solidFill>
              <a:latin typeface="Aptos" panose="020B0004020202020204" pitchFamily="34" charset="0"/>
            </a:endParaRPr>
          </a:p>
        </p:txBody>
      </p:sp>
      <p:pic>
        <p:nvPicPr>
          <p:cNvPr id="10" name="图片 9">
            <a:extLst>
              <a:ext uri="{FF2B5EF4-FFF2-40B4-BE49-F238E27FC236}">
                <a16:creationId xmlns:a16="http://schemas.microsoft.com/office/drawing/2014/main" id="{97D3CFE8-2B4D-E67D-A417-925906BACF6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144000" y="5867400"/>
            <a:ext cx="2286000" cy="609600"/>
          </a:xfrm>
          <a:prstGeom prst="rect">
            <a:avLst/>
          </a:prstGeom>
        </p:spPr>
      </p:pic>
      <p:sp>
        <p:nvSpPr>
          <p:cNvPr id="11" name="title">
            <a:extLst>
              <a:ext uri="{FF2B5EF4-FFF2-40B4-BE49-F238E27FC236}">
                <a16:creationId xmlns:a16="http://schemas.microsoft.com/office/drawing/2014/main" id="{C39746C2-F335-02B4-A05B-6294496BFD3D}"/>
              </a:ext>
            </a:extLst>
          </p:cNvPr>
          <p:cNvSpPr txBox="1"/>
          <p:nvPr/>
        </p:nvSpPr>
        <p:spPr>
          <a:xfrm>
            <a:off x="685800" y="660400"/>
            <a:ext cx="9652000" cy="276999"/>
          </a:xfrm>
          <a:prstGeom prst="rect">
            <a:avLst/>
          </a:prstGeom>
          <a:noFill/>
        </p:spPr>
        <p:txBody>
          <a:bodyPr vert="horz" wrap="square" lIns="0" tIns="0" rIns="0" bIns="0" rtlCol="0">
            <a:noAutofit/>
          </a:bodyPr>
          <a:lstStyle/>
          <a:p>
            <a:r>
              <a:rPr lang="en-US" altLang="zh-CN" sz="2150" b="1">
                <a:solidFill>
                  <a:srgbClr val="0D182C"/>
                </a:solidFill>
                <a:latin typeface="Aptos" panose="020B0004020202020204" pitchFamily="34" charset="0"/>
              </a:rPr>
              <a:t>Likely viva questions: short answers</a:t>
            </a:r>
            <a:endParaRPr lang="zh-CN" altLang="en-US" sz="2150" b="1">
              <a:solidFill>
                <a:srgbClr val="0D182C"/>
              </a:solidFill>
              <a:latin typeface="Aptos" panose="020B0004020202020204" pitchFamily="34" charset="0"/>
            </a:endParaRPr>
          </a:p>
        </p:txBody>
      </p:sp>
      <p:sp>
        <p:nvSpPr>
          <p:cNvPr id="12" name="subtitle">
            <a:extLst>
              <a:ext uri="{FF2B5EF4-FFF2-40B4-BE49-F238E27FC236}">
                <a16:creationId xmlns:a16="http://schemas.microsoft.com/office/drawing/2014/main" id="{4CA40838-7DF4-3022-EF62-E7ADE3662041}"/>
              </a:ext>
            </a:extLst>
          </p:cNvPr>
          <p:cNvSpPr txBox="1"/>
          <p:nvPr/>
        </p:nvSpPr>
        <p:spPr>
          <a:xfrm>
            <a:off x="685800" y="1193800"/>
            <a:ext cx="9906000" cy="276999"/>
          </a:xfrm>
          <a:prstGeom prst="rect">
            <a:avLst/>
          </a:prstGeom>
          <a:noFill/>
        </p:spPr>
        <p:txBody>
          <a:bodyPr vert="horz" wrap="square" lIns="0" tIns="0" rIns="0" bIns="0" rtlCol="0">
            <a:noAutofit/>
          </a:bodyPr>
          <a:lstStyle/>
          <a:p>
            <a:r>
              <a:rPr lang="en-US" altLang="zh-CN" sz="950">
                <a:solidFill>
                  <a:srgbClr val="536580"/>
                </a:solidFill>
                <a:latin typeface="Aptos" panose="020B0004020202020204" pitchFamily="34" charset="0"/>
              </a:rPr>
              <a:t>Keep answers short; then point to the artifact.</a:t>
            </a:r>
            <a:endParaRPr lang="zh-CN" altLang="en-US" sz="950">
              <a:solidFill>
                <a:srgbClr val="536580"/>
              </a:solidFill>
              <a:latin typeface="Aptos" panose="020B0004020202020204" pitchFamily="34" charset="0"/>
            </a:endParaRPr>
          </a:p>
        </p:txBody>
      </p:sp>
      <p:sp>
        <p:nvSpPr>
          <p:cNvPr id="13" name="qa-row-0">
            <a:extLst>
              <a:ext uri="{FF2B5EF4-FFF2-40B4-BE49-F238E27FC236}">
                <a16:creationId xmlns:a16="http://schemas.microsoft.com/office/drawing/2014/main" id="{FFA4835A-5BBB-724B-7156-BD6667B9E66F}"/>
              </a:ext>
            </a:extLst>
          </p:cNvPr>
          <p:cNvSpPr/>
          <p:nvPr/>
        </p:nvSpPr>
        <p:spPr>
          <a:xfrm>
            <a:off x="914400" y="17018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q-0">
            <a:extLst>
              <a:ext uri="{FF2B5EF4-FFF2-40B4-BE49-F238E27FC236}">
                <a16:creationId xmlns:a16="http://schemas.microsoft.com/office/drawing/2014/main" id="{86A7E5BE-D05D-6C7C-FC3F-F5D31C433ABC}"/>
              </a:ext>
            </a:extLst>
          </p:cNvPr>
          <p:cNvSpPr txBox="1"/>
          <p:nvPr/>
        </p:nvSpPr>
        <p:spPr>
          <a:xfrm>
            <a:off x="1219200" y="18288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Why not one detector score?</a:t>
            </a:r>
            <a:endParaRPr lang="zh-CN" altLang="en-US" sz="830" b="1">
              <a:solidFill>
                <a:srgbClr val="004080"/>
              </a:solidFill>
              <a:latin typeface="Aptos" panose="020B0004020202020204" pitchFamily="34" charset="0"/>
            </a:endParaRPr>
          </a:p>
        </p:txBody>
      </p:sp>
      <p:sp>
        <p:nvSpPr>
          <p:cNvPr id="15" name="a-0">
            <a:extLst>
              <a:ext uri="{FF2B5EF4-FFF2-40B4-BE49-F238E27FC236}">
                <a16:creationId xmlns:a16="http://schemas.microsoft.com/office/drawing/2014/main" id="{7C4A1E40-69FF-18A2-C6D9-AFE29897D1D6}"/>
              </a:ext>
            </a:extLst>
          </p:cNvPr>
          <p:cNvSpPr txBox="1"/>
          <p:nvPr/>
        </p:nvSpPr>
        <p:spPr>
          <a:xfrm>
            <a:off x="4800600" y="18288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Because different access models support different claims.</a:t>
            </a:r>
            <a:endParaRPr lang="zh-CN" altLang="en-US" sz="810" b="1">
              <a:solidFill>
                <a:srgbClr val="0D182C"/>
              </a:solidFill>
              <a:latin typeface="Aptos" panose="020B0004020202020204" pitchFamily="34" charset="0"/>
            </a:endParaRPr>
          </a:p>
        </p:txBody>
      </p:sp>
      <p:sp>
        <p:nvSpPr>
          <p:cNvPr id="16" name="qa-row-1">
            <a:extLst>
              <a:ext uri="{FF2B5EF4-FFF2-40B4-BE49-F238E27FC236}">
                <a16:creationId xmlns:a16="http://schemas.microsoft.com/office/drawing/2014/main" id="{C9615D33-5497-1212-E488-71CAAE5A1A34}"/>
              </a:ext>
            </a:extLst>
          </p:cNvPr>
          <p:cNvSpPr/>
          <p:nvPr/>
        </p:nvSpPr>
        <p:spPr>
          <a:xfrm>
            <a:off x="914400" y="25400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q-1">
            <a:extLst>
              <a:ext uri="{FF2B5EF4-FFF2-40B4-BE49-F238E27FC236}">
                <a16:creationId xmlns:a16="http://schemas.microsoft.com/office/drawing/2014/main" id="{0F317D1C-25D1-EB9B-5814-6D2359656A25}"/>
              </a:ext>
            </a:extLst>
          </p:cNvPr>
          <p:cNvSpPr txBox="1"/>
          <p:nvPr/>
        </p:nvSpPr>
        <p:spPr>
          <a:xfrm>
            <a:off x="1219200" y="26670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Can this prove authorship?</a:t>
            </a:r>
            <a:endParaRPr lang="zh-CN" altLang="en-US" sz="830" b="1">
              <a:solidFill>
                <a:srgbClr val="004080"/>
              </a:solidFill>
              <a:latin typeface="Aptos" panose="020B0004020202020204" pitchFamily="34" charset="0"/>
            </a:endParaRPr>
          </a:p>
        </p:txBody>
      </p:sp>
      <p:sp>
        <p:nvSpPr>
          <p:cNvPr id="18" name="a-1">
            <a:extLst>
              <a:ext uri="{FF2B5EF4-FFF2-40B4-BE49-F238E27FC236}">
                <a16:creationId xmlns:a16="http://schemas.microsoft.com/office/drawing/2014/main" id="{4E169421-C7BE-A6EE-422C-28944E780A1F}"/>
              </a:ext>
            </a:extLst>
          </p:cNvPr>
          <p:cNvSpPr txBox="1"/>
          <p:nvPr/>
        </p:nvSpPr>
        <p:spPr>
          <a:xfrm>
            <a:off x="4800600" y="26670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ProbeTrace is source-bound owner verification, not legal authorship.</a:t>
            </a:r>
            <a:endParaRPr lang="zh-CN" altLang="en-US" sz="810" b="1">
              <a:solidFill>
                <a:srgbClr val="0D182C"/>
              </a:solidFill>
              <a:latin typeface="Aptos" panose="020B0004020202020204" pitchFamily="34" charset="0"/>
            </a:endParaRPr>
          </a:p>
        </p:txBody>
      </p:sp>
      <p:sp>
        <p:nvSpPr>
          <p:cNvPr id="19" name="qa-row-2">
            <a:extLst>
              <a:ext uri="{FF2B5EF4-FFF2-40B4-BE49-F238E27FC236}">
                <a16:creationId xmlns:a16="http://schemas.microsoft.com/office/drawing/2014/main" id="{10B1680F-CBD8-93A6-EDE8-B9467CF6A566}"/>
              </a:ext>
            </a:extLst>
          </p:cNvPr>
          <p:cNvSpPr/>
          <p:nvPr/>
        </p:nvSpPr>
        <p:spPr>
          <a:xfrm>
            <a:off x="914400" y="33782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q-2">
            <a:extLst>
              <a:ext uri="{FF2B5EF4-FFF2-40B4-BE49-F238E27FC236}">
                <a16:creationId xmlns:a16="http://schemas.microsoft.com/office/drawing/2014/main" id="{2ECA8190-ACDA-AC27-FBAF-C944C162084C}"/>
              </a:ext>
            </a:extLst>
          </p:cNvPr>
          <p:cNvSpPr txBox="1"/>
          <p:nvPr/>
        </p:nvSpPr>
        <p:spPr>
          <a:xfrm>
            <a:off x="1219200" y="35052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Can CodeDye accuse a provider?</a:t>
            </a:r>
            <a:endParaRPr lang="zh-CN" altLang="en-US" sz="830" b="1">
              <a:solidFill>
                <a:srgbClr val="004080"/>
              </a:solidFill>
              <a:latin typeface="Aptos" panose="020B0004020202020204" pitchFamily="34" charset="0"/>
            </a:endParaRPr>
          </a:p>
        </p:txBody>
      </p:sp>
      <p:sp>
        <p:nvSpPr>
          <p:cNvPr id="21" name="a-2">
            <a:extLst>
              <a:ext uri="{FF2B5EF4-FFF2-40B4-BE49-F238E27FC236}">
                <a16:creationId xmlns:a16="http://schemas.microsoft.com/office/drawing/2014/main" id="{1F73772F-0745-F15A-F368-83C578B9F63A}"/>
              </a:ext>
            </a:extLst>
          </p:cNvPr>
          <p:cNvSpPr txBox="1"/>
          <p:nvPr/>
        </p:nvSpPr>
        <p:spPr>
          <a:xfrm>
            <a:off x="4800600" y="35052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It is a conservative null-audit/calibration surface.</a:t>
            </a:r>
            <a:endParaRPr lang="zh-CN" altLang="en-US" sz="810" b="1">
              <a:solidFill>
                <a:srgbClr val="0D182C"/>
              </a:solidFill>
              <a:latin typeface="Aptos" panose="020B0004020202020204" pitchFamily="34" charset="0"/>
            </a:endParaRPr>
          </a:p>
        </p:txBody>
      </p:sp>
      <p:sp>
        <p:nvSpPr>
          <p:cNvPr id="22" name="qa-row-3">
            <a:extLst>
              <a:ext uri="{FF2B5EF4-FFF2-40B4-BE49-F238E27FC236}">
                <a16:creationId xmlns:a16="http://schemas.microsoft.com/office/drawing/2014/main" id="{A9E38208-9053-4236-3615-285FC5CA4801}"/>
              </a:ext>
            </a:extLst>
          </p:cNvPr>
          <p:cNvSpPr/>
          <p:nvPr/>
        </p:nvSpPr>
        <p:spPr>
          <a:xfrm>
            <a:off x="914400" y="42164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q-3">
            <a:extLst>
              <a:ext uri="{FF2B5EF4-FFF2-40B4-BE49-F238E27FC236}">
                <a16:creationId xmlns:a16="http://schemas.microsoft.com/office/drawing/2014/main" id="{2F368D9D-A94D-0A79-4082-11642D3AA5BD}"/>
              </a:ext>
            </a:extLst>
          </p:cNvPr>
          <p:cNvSpPr txBox="1"/>
          <p:nvPr/>
        </p:nvSpPr>
        <p:spPr>
          <a:xfrm>
            <a:off x="1219200" y="43434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Is the demo a full rerun?</a:t>
            </a:r>
            <a:endParaRPr lang="zh-CN" altLang="en-US" sz="830" b="1">
              <a:solidFill>
                <a:srgbClr val="004080"/>
              </a:solidFill>
              <a:latin typeface="Aptos" panose="020B0004020202020204" pitchFamily="34" charset="0"/>
            </a:endParaRPr>
          </a:p>
        </p:txBody>
      </p:sp>
      <p:sp>
        <p:nvSpPr>
          <p:cNvPr id="24" name="a-3">
            <a:extLst>
              <a:ext uri="{FF2B5EF4-FFF2-40B4-BE49-F238E27FC236}">
                <a16:creationId xmlns:a16="http://schemas.microsoft.com/office/drawing/2014/main" id="{BF748893-93F9-4598-685C-D9F3C6CFD277}"/>
              </a:ext>
            </a:extLst>
          </p:cNvPr>
          <p:cNvSpPr txBox="1"/>
          <p:nvPr/>
        </p:nvSpPr>
        <p:spPr>
          <a:xfrm>
            <a:off x="4800600" y="43434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No. It checks repository integrity and traceability.</a:t>
            </a:r>
            <a:endParaRPr lang="zh-CN" altLang="en-US" sz="810" b="1">
              <a:solidFill>
                <a:srgbClr val="0D182C"/>
              </a:solidFill>
              <a:latin typeface="Aptos" panose="020B0004020202020204" pitchFamily="34" charset="0"/>
            </a:endParaRPr>
          </a:p>
        </p:txBody>
      </p:sp>
      <p:sp>
        <p:nvSpPr>
          <p:cNvPr id="25" name="qa-row-4">
            <a:extLst>
              <a:ext uri="{FF2B5EF4-FFF2-40B4-BE49-F238E27FC236}">
                <a16:creationId xmlns:a16="http://schemas.microsoft.com/office/drawing/2014/main" id="{86F58912-BF21-7EF9-96DE-17918E1B6C8A}"/>
              </a:ext>
            </a:extLst>
          </p:cNvPr>
          <p:cNvSpPr/>
          <p:nvPr/>
        </p:nvSpPr>
        <p:spPr>
          <a:xfrm>
            <a:off x="914400" y="5054600"/>
            <a:ext cx="10363200" cy="533400"/>
          </a:xfrm>
          <a:prstGeom prst="rect">
            <a:avLst/>
          </a:prstGeom>
          <a:solidFill>
            <a:srgbClr val="FFFFFF"/>
          </a:solidFill>
          <a:ln w="12700">
            <a:solidFill>
              <a:srgbClr val="D2DC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q-4">
            <a:extLst>
              <a:ext uri="{FF2B5EF4-FFF2-40B4-BE49-F238E27FC236}">
                <a16:creationId xmlns:a16="http://schemas.microsoft.com/office/drawing/2014/main" id="{6A172310-D89A-D25C-1D77-ADD7BB958ABB}"/>
              </a:ext>
            </a:extLst>
          </p:cNvPr>
          <p:cNvSpPr txBox="1"/>
          <p:nvPr/>
        </p:nvSpPr>
        <p:spPr>
          <a:xfrm>
            <a:off x="1219200" y="5181600"/>
            <a:ext cx="3175000" cy="276999"/>
          </a:xfrm>
          <a:prstGeom prst="rect">
            <a:avLst/>
          </a:prstGeom>
          <a:noFill/>
        </p:spPr>
        <p:txBody>
          <a:bodyPr vert="horz" wrap="square" lIns="0" tIns="0" rIns="0" bIns="0" rtlCol="0">
            <a:noAutofit/>
          </a:bodyPr>
          <a:lstStyle/>
          <a:p>
            <a:r>
              <a:rPr lang="en-US" altLang="zh-CN" sz="830" b="1">
                <a:solidFill>
                  <a:srgbClr val="004080"/>
                </a:solidFill>
                <a:latin typeface="Aptos" panose="020B0004020202020204" pitchFamily="34" charset="0"/>
              </a:rPr>
              <a:t>What is the main contribution?</a:t>
            </a:r>
            <a:endParaRPr lang="zh-CN" altLang="en-US" sz="830" b="1">
              <a:solidFill>
                <a:srgbClr val="004080"/>
              </a:solidFill>
              <a:latin typeface="Aptos" panose="020B0004020202020204" pitchFamily="34" charset="0"/>
            </a:endParaRPr>
          </a:p>
        </p:txBody>
      </p:sp>
      <p:sp>
        <p:nvSpPr>
          <p:cNvPr id="27" name="a-4">
            <a:extLst>
              <a:ext uri="{FF2B5EF4-FFF2-40B4-BE49-F238E27FC236}">
                <a16:creationId xmlns:a16="http://schemas.microsoft.com/office/drawing/2014/main" id="{3221FE0A-387D-F996-4996-EE7D185F2B4F}"/>
              </a:ext>
            </a:extLst>
          </p:cNvPr>
          <p:cNvSpPr txBox="1"/>
          <p:nvPr/>
        </p:nvSpPr>
        <p:spPr>
          <a:xfrm>
            <a:off x="4800600" y="5181600"/>
            <a:ext cx="5969000" cy="276999"/>
          </a:xfrm>
          <a:prstGeom prst="rect">
            <a:avLst/>
          </a:prstGeom>
          <a:noFill/>
        </p:spPr>
        <p:txBody>
          <a:bodyPr vert="horz" wrap="square" lIns="0" tIns="0" rIns="0" bIns="0" rtlCol="0">
            <a:noAutofit/>
          </a:bodyPr>
          <a:lstStyle/>
          <a:p>
            <a:r>
              <a:rPr lang="en-US" altLang="zh-CN" sz="810" b="1">
                <a:solidFill>
                  <a:srgbClr val="0D182C"/>
                </a:solidFill>
                <a:latin typeface="Aptos" panose="020B0004020202020204" pitchFamily="34" charset="0"/>
              </a:rPr>
              <a:t>A benchmark-to-audit framework with fixed denominators, controls, and abstention.</a:t>
            </a:r>
            <a:endParaRPr lang="zh-CN" altLang="en-US" sz="810" b="1">
              <a:solidFill>
                <a:srgbClr val="0D182C"/>
              </a:solidFill>
              <a:latin typeface="Aptos" panose="020B0004020202020204" pitchFamily="34" charset="0"/>
            </a:endParaRPr>
          </a:p>
        </p:txBody>
      </p:sp>
    </p:spTree>
    <p:extLst>
      <p:ext uri="{BB962C8B-B14F-4D97-AF65-F5344CB8AC3E}">
        <p14:creationId xmlns:p14="http://schemas.microsoft.com/office/powerpoint/2010/main" val="258101288"/>
      </p:ext>
    </p:extLst>
  </p:cSld>
  <p:clrMapOvr>
    <a:masterClrMapping/>
  </p:clrMapOvr>
  <mc:AlternateContent xmlns:mc="http://schemas.openxmlformats.org/markup-compatibility/2006">
    <mc:Choice xmlns:p14="http://schemas.microsoft.com/office/powerpoint/2010/main" Requires="p14">
      <p:transition p14:dur="250">
        <p:fade thruBlk="1"/>
      </p:transition>
    </mc:Choice>
    <mc:Fallback>
      <p:transition>
        <p:fade thruBlk="1"/>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1660</Words>
  <Application>Microsoft Office PowerPoint</Application>
  <PresentationFormat>自定义</PresentationFormat>
  <Paragraphs>258</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2026-05-13T21:49:13Z</dcterms:created>
  <dcterms:modified xsi:type="dcterms:W3CDTF">2026-05-13T21:49:14Z</dcterms:modified>
</cp:coreProperties>
</file>