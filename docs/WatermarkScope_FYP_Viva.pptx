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61"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0981E5-BBF6-41A0-B7F9-DF5B8124118C}" type="datetimeFigureOut">
              <a:rPr lang="zh-CN" altLang="en-US" smtClean="0"/>
              <a:t>2026/5/13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781BBA5-3D10-4E44-A9DC-9DFD38F5AEB5}" type="slidenum">
              <a:rPr lang="zh-CN" altLang="en-US" smtClean="0"/>
              <a:t>‹#›</a:t>
            </a:fld>
            <a:endParaRPr lang="zh-CN" altLang="en-US"/>
          </a:p>
        </p:txBody>
      </p:sp>
    </p:spTree>
    <p:extLst>
      <p:ext uri="{BB962C8B-B14F-4D97-AF65-F5344CB8AC3E}">
        <p14:creationId xmlns:p14="http://schemas.microsoft.com/office/powerpoint/2010/main" val="1114964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Good afternoon. I am Haoyi Zhang. My project is WatermarkScope. The point of the project is simple: a source-code watermark result should be treated as bounded evidence, not as one detector score.</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1</a:t>
            </a:fld>
            <a:endParaRPr lang="zh-CN" altLang="en-US"/>
          </a:p>
        </p:txBody>
      </p:sp>
    </p:spTree>
    <p:extLst>
      <p:ext uri="{BB962C8B-B14F-4D97-AF65-F5344CB8AC3E}">
        <p14:creationId xmlns:p14="http://schemas.microsoft.com/office/powerpoint/2010/main" val="25348792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presentation is organized as a story. I will not read the thesis. I will explain why the problem matters, how I controlled evidence, what the results show, and how the examiner can inspect the artifacts.</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2</a:t>
            </a:fld>
            <a:endParaRPr lang="zh-CN" altLang="en-US"/>
          </a:p>
        </p:txBody>
      </p:sp>
    </p:spTree>
    <p:extLst>
      <p:ext uri="{BB962C8B-B14F-4D97-AF65-F5344CB8AC3E}">
        <p14:creationId xmlns:p14="http://schemas.microsoft.com/office/powerpoint/2010/main" val="24992075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practical issue is movement. Generated code can be edited, translated, or reused. So the project asks: after this movement, what evidence is still valid?</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3</a:t>
            </a:fld>
            <a:endParaRPr lang="zh-CN" altLang="en-US"/>
          </a:p>
        </p:txBody>
      </p:sp>
    </p:spTree>
    <p:extLst>
      <p:ext uri="{BB962C8B-B14F-4D97-AF65-F5344CB8AC3E}">
        <p14:creationId xmlns:p14="http://schemas.microsoft.com/office/powerpoint/2010/main" val="23257171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main research gap. A detector score can be useful, but by itself it does not say what claim is allowed. I therefore build an evidence contract around every result.</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4</a:t>
            </a:fld>
            <a:endParaRPr lang="zh-CN" altLang="en-US"/>
          </a:p>
        </p:txBody>
      </p:sp>
    </p:spTree>
    <p:extLst>
      <p:ext uri="{BB962C8B-B14F-4D97-AF65-F5344CB8AC3E}">
        <p14:creationId xmlns:p14="http://schemas.microsoft.com/office/powerpoint/2010/main" val="32568943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project structure. The important point is not just the five names. The important point is that every stage has an admitted evidence object and a bounded claim.</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5</a:t>
            </a:fld>
            <a:endParaRPr lang="zh-CN" altLang="en-US"/>
          </a:p>
        </p:txBody>
      </p:sp>
    </p:spTree>
    <p:extLst>
      <p:ext uri="{BB962C8B-B14F-4D97-AF65-F5344CB8AC3E}">
        <p14:creationId xmlns:p14="http://schemas.microsoft.com/office/powerpoint/2010/main" val="39919625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method is deliberately simple. I first freeze the evidence object: denominator, controls, artifact, hash, and boundary. Only after that do I interpret a result.</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6</a:t>
            </a:fld>
            <a:endParaRPr lang="zh-CN" altLang="en-US"/>
          </a:p>
        </p:txBody>
      </p:sp>
    </p:spTree>
    <p:extLst>
      <p:ext uri="{BB962C8B-B14F-4D97-AF65-F5344CB8AC3E}">
        <p14:creationId xmlns:p14="http://schemas.microsoft.com/office/powerpoint/2010/main" val="30394451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the submitted dissertation, the defensible snapshot is: 140 out of 140 benchmark runs, 23,342 out of 24,000 SemCodebook recoveries with zero negative-control hits, and 300 out of 300 ProbeTrace scoped decisions with zero false-owner controls.</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7</a:t>
            </a:fld>
            <a:endParaRPr lang="zh-CN" altLang="en-US"/>
          </a:p>
        </p:txBody>
      </p:sp>
    </p:spTree>
    <p:extLst>
      <p:ext uri="{BB962C8B-B14F-4D97-AF65-F5344CB8AC3E}">
        <p14:creationId xmlns:p14="http://schemas.microsoft.com/office/powerpoint/2010/main" val="19413701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conservative part is important. CodeDye does not become a prevalence claim, and SealAudit does not force every case into a label. Abstention is part of the evidence design.</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8</a:t>
            </a:fld>
            <a:endParaRPr lang="zh-CN" altLang="en-US"/>
          </a:p>
        </p:txBody>
      </p:sp>
    </p:spTree>
    <p:extLst>
      <p:ext uri="{BB962C8B-B14F-4D97-AF65-F5344CB8AC3E}">
        <p14:creationId xmlns:p14="http://schemas.microsoft.com/office/powerpoint/2010/main" val="29657462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why the benchmark matters. It is not only a final accuracy number. It shows the tradeoff between executable robustness and release scale.</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9</a:t>
            </a:fld>
            <a:endParaRPr lang="zh-CN" altLang="en-US"/>
          </a:p>
        </p:txBody>
      </p:sp>
    </p:spTree>
    <p:extLst>
      <p:ext uri="{BB962C8B-B14F-4D97-AF65-F5344CB8AC3E}">
        <p14:creationId xmlns:p14="http://schemas.microsoft.com/office/powerpoint/2010/main" val="492203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Demo one should be around 90 seconds. Start from the project page. Show the main pipeline, then open the repository, then claim boundaries, traceability matrix, and manifest. The point is not to run everything; the point is to show that claims are inspectable.</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10</a:t>
            </a:fld>
            <a:endParaRPr lang="zh-CN" altLang="en-US"/>
          </a:p>
        </p:txBody>
      </p:sp>
    </p:spTree>
    <p:extLst>
      <p:ext uri="{BB962C8B-B14F-4D97-AF65-F5344CB8AC3E}">
        <p14:creationId xmlns:p14="http://schemas.microsoft.com/office/powerpoint/2010/main" val="29908682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Demo two is about 60 seconds. Run or show the viva check. Be explicit: this check verifies the submitted repository surface and hashes. It does not rerun long experiments.</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11</a:t>
            </a:fld>
            <a:endParaRPr lang="zh-CN" altLang="en-US"/>
          </a:p>
        </p:txBody>
      </p:sp>
    </p:spTree>
    <p:extLst>
      <p:ext uri="{BB962C8B-B14F-4D97-AF65-F5344CB8AC3E}">
        <p14:creationId xmlns:p14="http://schemas.microsoft.com/office/powerpoint/2010/main" val="14844271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questions, answer first, then attach the answer to a boundary. I can defend the evidence. I should qualify the access model and dataset surface. I should refuse universal or legal claims.</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12</a:t>
            </a:fld>
            <a:endParaRPr lang="zh-CN" altLang="en-US"/>
          </a:p>
        </p:txBody>
      </p:sp>
    </p:spTree>
    <p:extLst>
      <p:ext uri="{BB962C8B-B14F-4D97-AF65-F5344CB8AC3E}">
        <p14:creationId xmlns:p14="http://schemas.microsoft.com/office/powerpoint/2010/main" val="33274181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future work, the repository is organized so the integrated FYP artifact can become separate paper workstreams. I should be clear that these are planned targets, not acceptance claims.</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13</a:t>
            </a:fld>
            <a:endParaRPr lang="zh-CN" altLang="en-US"/>
          </a:p>
        </p:txBody>
      </p:sp>
    </p:spTree>
    <p:extLst>
      <p:ext uri="{BB962C8B-B14F-4D97-AF65-F5344CB8AC3E}">
        <p14:creationId xmlns:p14="http://schemas.microsoft.com/office/powerpoint/2010/main" val="11064303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Thank you. I am happy to answer questions.</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14</a:t>
            </a:fld>
            <a:endParaRPr lang="zh-CN" altLang="en-US"/>
          </a:p>
        </p:txBody>
      </p:sp>
    </p:spTree>
    <p:extLst>
      <p:ext uri="{BB962C8B-B14F-4D97-AF65-F5344CB8AC3E}">
        <p14:creationId xmlns:p14="http://schemas.microsoft.com/office/powerpoint/2010/main" val="32603824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Backup slide. The formula is not meant to look complicated. It simply says that a result is interpreted only after the evidence object has been admitted.</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15</a:t>
            </a:fld>
            <a:endParaRPr lang="zh-CN" altLang="en-US"/>
          </a:p>
        </p:txBody>
      </p:sp>
    </p:spTree>
    <p:extLst>
      <p:ext uri="{BB962C8B-B14F-4D97-AF65-F5344CB8AC3E}">
        <p14:creationId xmlns:p14="http://schemas.microsoft.com/office/powerpoint/2010/main" val="14412108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Backup slide. Use these as short Q&amp;A answers if needed.</a:t>
            </a:r>
            <a:endParaRPr lang="zh-CN" altLang="en-US"/>
          </a:p>
        </p:txBody>
      </p:sp>
      <p:sp>
        <p:nvSpPr>
          <p:cNvPr id="4" name="灯片编号占位符 3"/>
          <p:cNvSpPr>
            <a:spLocks noGrp="1"/>
          </p:cNvSpPr>
          <p:nvPr>
            <p:ph type="sldNum" sz="quarter" idx="5"/>
          </p:nvPr>
        </p:nvSpPr>
        <p:spPr/>
        <p:txBody>
          <a:bodyPr/>
          <a:lstStyle/>
          <a:p>
            <a:fld id="{3781BBA5-3D10-4E44-A9DC-9DFD38F5AEB5}" type="slidenum">
              <a:rPr lang="zh-CN" altLang="en-US" smtClean="0"/>
              <a:t>16</a:t>
            </a:fld>
            <a:endParaRPr lang="zh-CN" altLang="en-US"/>
          </a:p>
        </p:txBody>
      </p:sp>
    </p:spTree>
    <p:extLst>
      <p:ext uri="{BB962C8B-B14F-4D97-AF65-F5344CB8AC3E}">
        <p14:creationId xmlns:p14="http://schemas.microsoft.com/office/powerpoint/2010/main" val="475358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ED7CBF8-0998-E283-6C22-BF803875379C}"/>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A9FE8E91-C027-A21A-1C8C-544F6639E96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8AB0DA8C-BA33-212D-89BE-278DCAF06F87}"/>
              </a:ext>
            </a:extLst>
          </p:cNvPr>
          <p:cNvSpPr>
            <a:spLocks noGrp="1"/>
          </p:cNvSpPr>
          <p:nvPr>
            <p:ph type="dt" sz="half" idx="10"/>
          </p:nvPr>
        </p:nvSpPr>
        <p:spPr/>
        <p:txBody>
          <a:bodyPr/>
          <a:lstStyle/>
          <a:p>
            <a:fld id="{8B9FF69C-14BA-4B4B-ABF0-AACFDA9EC10F}" type="datetimeFigureOut">
              <a:rPr lang="zh-CN" altLang="en-US" smtClean="0"/>
              <a:t>2026/5/13</a:t>
            </a:fld>
            <a:endParaRPr lang="zh-CN" altLang="en-US"/>
          </a:p>
        </p:txBody>
      </p:sp>
      <p:sp>
        <p:nvSpPr>
          <p:cNvPr id="5" name="页脚占位符 4">
            <a:extLst>
              <a:ext uri="{FF2B5EF4-FFF2-40B4-BE49-F238E27FC236}">
                <a16:creationId xmlns:a16="http://schemas.microsoft.com/office/drawing/2014/main" id="{8C0471FF-26C7-871C-E69E-93E0345AB9A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84A6BBE-6170-6C6B-9196-D012A918E8C3}"/>
              </a:ext>
            </a:extLst>
          </p:cNvPr>
          <p:cNvSpPr>
            <a:spLocks noGrp="1"/>
          </p:cNvSpPr>
          <p:nvPr>
            <p:ph type="sldNum" sz="quarter" idx="12"/>
          </p:nvPr>
        </p:nvSpPr>
        <p:spPr/>
        <p:txBody>
          <a:bodyPr/>
          <a:lstStyle/>
          <a:p>
            <a:fld id="{F8752B0D-6D65-4C56-8EE1-42B6C981AAFF}" type="slidenum">
              <a:rPr lang="zh-CN" altLang="en-US" smtClean="0"/>
              <a:t>‹#›</a:t>
            </a:fld>
            <a:endParaRPr lang="zh-CN" altLang="en-US"/>
          </a:p>
        </p:txBody>
      </p:sp>
    </p:spTree>
    <p:extLst>
      <p:ext uri="{BB962C8B-B14F-4D97-AF65-F5344CB8AC3E}">
        <p14:creationId xmlns:p14="http://schemas.microsoft.com/office/powerpoint/2010/main" val="32626815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C812B4-31A3-6972-DA10-AFA9D3381AA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73A3DE95-FFED-F5CD-EDCE-BA6A2029B16E}"/>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440A467-9746-F34D-C798-28D39004C343}"/>
              </a:ext>
            </a:extLst>
          </p:cNvPr>
          <p:cNvSpPr>
            <a:spLocks noGrp="1"/>
          </p:cNvSpPr>
          <p:nvPr>
            <p:ph type="dt" sz="half" idx="10"/>
          </p:nvPr>
        </p:nvSpPr>
        <p:spPr/>
        <p:txBody>
          <a:bodyPr/>
          <a:lstStyle/>
          <a:p>
            <a:fld id="{8B9FF69C-14BA-4B4B-ABF0-AACFDA9EC10F}" type="datetimeFigureOut">
              <a:rPr lang="zh-CN" altLang="en-US" smtClean="0"/>
              <a:t>2026/5/13</a:t>
            </a:fld>
            <a:endParaRPr lang="zh-CN" altLang="en-US"/>
          </a:p>
        </p:txBody>
      </p:sp>
      <p:sp>
        <p:nvSpPr>
          <p:cNvPr id="5" name="页脚占位符 4">
            <a:extLst>
              <a:ext uri="{FF2B5EF4-FFF2-40B4-BE49-F238E27FC236}">
                <a16:creationId xmlns:a16="http://schemas.microsoft.com/office/drawing/2014/main" id="{93677643-8FCF-CA2C-C650-5488DC625F7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7BF6450-BC4C-89FE-C3C7-C05F360AACB6}"/>
              </a:ext>
            </a:extLst>
          </p:cNvPr>
          <p:cNvSpPr>
            <a:spLocks noGrp="1"/>
          </p:cNvSpPr>
          <p:nvPr>
            <p:ph type="sldNum" sz="quarter" idx="12"/>
          </p:nvPr>
        </p:nvSpPr>
        <p:spPr/>
        <p:txBody>
          <a:bodyPr/>
          <a:lstStyle/>
          <a:p>
            <a:fld id="{F8752B0D-6D65-4C56-8EE1-42B6C981AAFF}" type="slidenum">
              <a:rPr lang="zh-CN" altLang="en-US" smtClean="0"/>
              <a:t>‹#›</a:t>
            </a:fld>
            <a:endParaRPr lang="zh-CN" altLang="en-US"/>
          </a:p>
        </p:txBody>
      </p:sp>
    </p:spTree>
    <p:extLst>
      <p:ext uri="{BB962C8B-B14F-4D97-AF65-F5344CB8AC3E}">
        <p14:creationId xmlns:p14="http://schemas.microsoft.com/office/powerpoint/2010/main" val="19383028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2181733-02B7-5031-FE4B-D3F96EF85A62}"/>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75B876CF-19C2-FFB6-CF94-00F481BAD38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0B0F7CB7-DEF3-0B87-DC55-7A53BB1DA7AC}"/>
              </a:ext>
            </a:extLst>
          </p:cNvPr>
          <p:cNvSpPr>
            <a:spLocks noGrp="1"/>
          </p:cNvSpPr>
          <p:nvPr>
            <p:ph type="dt" sz="half" idx="10"/>
          </p:nvPr>
        </p:nvSpPr>
        <p:spPr/>
        <p:txBody>
          <a:bodyPr/>
          <a:lstStyle/>
          <a:p>
            <a:fld id="{8B9FF69C-14BA-4B4B-ABF0-AACFDA9EC10F}" type="datetimeFigureOut">
              <a:rPr lang="zh-CN" altLang="en-US" smtClean="0"/>
              <a:t>2026/5/13</a:t>
            </a:fld>
            <a:endParaRPr lang="zh-CN" altLang="en-US"/>
          </a:p>
        </p:txBody>
      </p:sp>
      <p:sp>
        <p:nvSpPr>
          <p:cNvPr id="5" name="页脚占位符 4">
            <a:extLst>
              <a:ext uri="{FF2B5EF4-FFF2-40B4-BE49-F238E27FC236}">
                <a16:creationId xmlns:a16="http://schemas.microsoft.com/office/drawing/2014/main" id="{9C9BC317-AE2A-A5B3-335E-DE10B1E482F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07D036C-B6F7-2B1F-66B1-C9A2467CFC4F}"/>
              </a:ext>
            </a:extLst>
          </p:cNvPr>
          <p:cNvSpPr>
            <a:spLocks noGrp="1"/>
          </p:cNvSpPr>
          <p:nvPr>
            <p:ph type="sldNum" sz="quarter" idx="12"/>
          </p:nvPr>
        </p:nvSpPr>
        <p:spPr/>
        <p:txBody>
          <a:bodyPr/>
          <a:lstStyle/>
          <a:p>
            <a:fld id="{F8752B0D-6D65-4C56-8EE1-42B6C981AAFF}" type="slidenum">
              <a:rPr lang="zh-CN" altLang="en-US" smtClean="0"/>
              <a:t>‹#›</a:t>
            </a:fld>
            <a:endParaRPr lang="zh-CN" altLang="en-US"/>
          </a:p>
        </p:txBody>
      </p:sp>
    </p:spTree>
    <p:extLst>
      <p:ext uri="{BB962C8B-B14F-4D97-AF65-F5344CB8AC3E}">
        <p14:creationId xmlns:p14="http://schemas.microsoft.com/office/powerpoint/2010/main" val="7465648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DE610C8-050C-5B5A-C273-0B049C28C19C}"/>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6236743C-082A-6B04-E8F0-A3BB9204C94D}"/>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730ECDDA-FD83-4B6D-70AB-0C036D8F1EBE}"/>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4E9DC0F0-0DA9-02C8-F9A7-58DE85973A3E}"/>
              </a:ext>
            </a:extLst>
          </p:cNvPr>
          <p:cNvSpPr>
            <a:spLocks noGrp="1"/>
          </p:cNvSpPr>
          <p:nvPr>
            <p:ph type="dt" sz="half" idx="10"/>
          </p:nvPr>
        </p:nvSpPr>
        <p:spPr/>
        <p:txBody>
          <a:bodyPr/>
          <a:lstStyle/>
          <a:p>
            <a:fld id="{8B9FF69C-14BA-4B4B-ABF0-AACFDA9EC10F}" type="datetimeFigureOut">
              <a:rPr lang="zh-CN" altLang="en-US" smtClean="0"/>
              <a:t>2026/5/13</a:t>
            </a:fld>
            <a:endParaRPr lang="zh-CN" altLang="en-US"/>
          </a:p>
        </p:txBody>
      </p:sp>
      <p:sp>
        <p:nvSpPr>
          <p:cNvPr id="6" name="页脚占位符 5">
            <a:extLst>
              <a:ext uri="{FF2B5EF4-FFF2-40B4-BE49-F238E27FC236}">
                <a16:creationId xmlns:a16="http://schemas.microsoft.com/office/drawing/2014/main" id="{D52A5F4C-0D33-7362-68D0-E2D5F8AB8F0C}"/>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4A6D386-B96B-C3A6-E7F9-641661C38480}"/>
              </a:ext>
            </a:extLst>
          </p:cNvPr>
          <p:cNvSpPr>
            <a:spLocks noGrp="1"/>
          </p:cNvSpPr>
          <p:nvPr>
            <p:ph type="sldNum" sz="quarter" idx="12"/>
          </p:nvPr>
        </p:nvSpPr>
        <p:spPr/>
        <p:txBody>
          <a:bodyPr/>
          <a:lstStyle/>
          <a:p>
            <a:fld id="{F8752B0D-6D65-4C56-8EE1-42B6C981AAFF}" type="slidenum">
              <a:rPr lang="zh-CN" altLang="en-US" smtClean="0"/>
              <a:t>‹#›</a:t>
            </a:fld>
            <a:endParaRPr lang="zh-CN" altLang="en-US"/>
          </a:p>
        </p:txBody>
      </p:sp>
    </p:spTree>
    <p:extLst>
      <p:ext uri="{BB962C8B-B14F-4D97-AF65-F5344CB8AC3E}">
        <p14:creationId xmlns:p14="http://schemas.microsoft.com/office/powerpoint/2010/main" val="29080461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FE30D3-3EE7-0AA0-FFEA-0F734496D539}"/>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AC434FB0-2DC9-458C-8440-B9B5FCEFD9B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76281E95-9113-9DB6-3A48-21FFC06555C8}"/>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53C6DBB1-3A9F-25F2-7CB5-70A502CEF1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82168B8E-6232-918D-F413-55BF40919BA2}"/>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800B9BB2-F849-212A-DDD4-62B2D4CDD244}"/>
              </a:ext>
            </a:extLst>
          </p:cNvPr>
          <p:cNvSpPr>
            <a:spLocks noGrp="1"/>
          </p:cNvSpPr>
          <p:nvPr>
            <p:ph type="dt" sz="half" idx="10"/>
          </p:nvPr>
        </p:nvSpPr>
        <p:spPr/>
        <p:txBody>
          <a:bodyPr/>
          <a:lstStyle/>
          <a:p>
            <a:fld id="{8B9FF69C-14BA-4B4B-ABF0-AACFDA9EC10F}" type="datetimeFigureOut">
              <a:rPr lang="zh-CN" altLang="en-US" smtClean="0"/>
              <a:t>2026/5/13</a:t>
            </a:fld>
            <a:endParaRPr lang="zh-CN" altLang="en-US"/>
          </a:p>
        </p:txBody>
      </p:sp>
      <p:sp>
        <p:nvSpPr>
          <p:cNvPr id="8" name="页脚占位符 7">
            <a:extLst>
              <a:ext uri="{FF2B5EF4-FFF2-40B4-BE49-F238E27FC236}">
                <a16:creationId xmlns:a16="http://schemas.microsoft.com/office/drawing/2014/main" id="{868B2B07-B637-E55A-B0BA-848FDDC3FB38}"/>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A775CAB-E128-015E-1047-DE75B549EDCA}"/>
              </a:ext>
            </a:extLst>
          </p:cNvPr>
          <p:cNvSpPr>
            <a:spLocks noGrp="1"/>
          </p:cNvSpPr>
          <p:nvPr>
            <p:ph type="sldNum" sz="quarter" idx="12"/>
          </p:nvPr>
        </p:nvSpPr>
        <p:spPr/>
        <p:txBody>
          <a:bodyPr/>
          <a:lstStyle/>
          <a:p>
            <a:fld id="{F8752B0D-6D65-4C56-8EE1-42B6C981AAFF}" type="slidenum">
              <a:rPr lang="zh-CN" altLang="en-US" smtClean="0"/>
              <a:t>‹#›</a:t>
            </a:fld>
            <a:endParaRPr lang="zh-CN" altLang="en-US"/>
          </a:p>
        </p:txBody>
      </p:sp>
    </p:spTree>
    <p:extLst>
      <p:ext uri="{BB962C8B-B14F-4D97-AF65-F5344CB8AC3E}">
        <p14:creationId xmlns:p14="http://schemas.microsoft.com/office/powerpoint/2010/main" val="559155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73A8853-0150-8FB6-5361-696CF9AA4E4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38C5A666-8A38-5E3D-92C7-F0BC799A765F}"/>
              </a:ext>
            </a:extLst>
          </p:cNvPr>
          <p:cNvSpPr>
            <a:spLocks noGrp="1"/>
          </p:cNvSpPr>
          <p:nvPr>
            <p:ph type="dt" sz="half" idx="10"/>
          </p:nvPr>
        </p:nvSpPr>
        <p:spPr/>
        <p:txBody>
          <a:bodyPr/>
          <a:lstStyle/>
          <a:p>
            <a:fld id="{8B9FF69C-14BA-4B4B-ABF0-AACFDA9EC10F}" type="datetimeFigureOut">
              <a:rPr lang="zh-CN" altLang="en-US" smtClean="0"/>
              <a:t>2026/5/13</a:t>
            </a:fld>
            <a:endParaRPr lang="zh-CN" altLang="en-US"/>
          </a:p>
        </p:txBody>
      </p:sp>
      <p:sp>
        <p:nvSpPr>
          <p:cNvPr id="4" name="页脚占位符 3">
            <a:extLst>
              <a:ext uri="{FF2B5EF4-FFF2-40B4-BE49-F238E27FC236}">
                <a16:creationId xmlns:a16="http://schemas.microsoft.com/office/drawing/2014/main" id="{DF1B2DA2-A45F-19A7-BD27-40A2A731C0F7}"/>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D5532403-78F0-D36A-8946-857FE8F18CFE}"/>
              </a:ext>
            </a:extLst>
          </p:cNvPr>
          <p:cNvSpPr>
            <a:spLocks noGrp="1"/>
          </p:cNvSpPr>
          <p:nvPr>
            <p:ph type="sldNum" sz="quarter" idx="12"/>
          </p:nvPr>
        </p:nvSpPr>
        <p:spPr/>
        <p:txBody>
          <a:bodyPr/>
          <a:lstStyle/>
          <a:p>
            <a:fld id="{F8752B0D-6D65-4C56-8EE1-42B6C981AAFF}" type="slidenum">
              <a:rPr lang="zh-CN" altLang="en-US" smtClean="0"/>
              <a:t>‹#›</a:t>
            </a:fld>
            <a:endParaRPr lang="zh-CN" altLang="en-US"/>
          </a:p>
        </p:txBody>
      </p:sp>
    </p:spTree>
    <p:extLst>
      <p:ext uri="{BB962C8B-B14F-4D97-AF65-F5344CB8AC3E}">
        <p14:creationId xmlns:p14="http://schemas.microsoft.com/office/powerpoint/2010/main" val="403392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1217653D-4AEE-6D1C-132C-00BAE22F3FD7}"/>
              </a:ext>
            </a:extLst>
          </p:cNvPr>
          <p:cNvSpPr>
            <a:spLocks noGrp="1"/>
          </p:cNvSpPr>
          <p:nvPr>
            <p:ph type="dt" sz="half" idx="10"/>
          </p:nvPr>
        </p:nvSpPr>
        <p:spPr/>
        <p:txBody>
          <a:bodyPr/>
          <a:lstStyle/>
          <a:p>
            <a:fld id="{8B9FF69C-14BA-4B4B-ABF0-AACFDA9EC10F}" type="datetimeFigureOut">
              <a:rPr lang="zh-CN" altLang="en-US" smtClean="0"/>
              <a:t>2026/5/13</a:t>
            </a:fld>
            <a:endParaRPr lang="zh-CN" altLang="en-US"/>
          </a:p>
        </p:txBody>
      </p:sp>
      <p:sp>
        <p:nvSpPr>
          <p:cNvPr id="3" name="页脚占位符 2">
            <a:extLst>
              <a:ext uri="{FF2B5EF4-FFF2-40B4-BE49-F238E27FC236}">
                <a16:creationId xmlns:a16="http://schemas.microsoft.com/office/drawing/2014/main" id="{4764A4D7-C139-C928-1DDF-85115355B115}"/>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CE313DAC-9139-1045-F14C-9A164D37CE77}"/>
              </a:ext>
            </a:extLst>
          </p:cNvPr>
          <p:cNvSpPr>
            <a:spLocks noGrp="1"/>
          </p:cNvSpPr>
          <p:nvPr>
            <p:ph type="sldNum" sz="quarter" idx="12"/>
          </p:nvPr>
        </p:nvSpPr>
        <p:spPr/>
        <p:txBody>
          <a:bodyPr/>
          <a:lstStyle/>
          <a:p>
            <a:fld id="{F8752B0D-6D65-4C56-8EE1-42B6C981AAFF}" type="slidenum">
              <a:rPr lang="zh-CN" altLang="en-US" smtClean="0"/>
              <a:t>‹#›</a:t>
            </a:fld>
            <a:endParaRPr lang="zh-CN" altLang="en-US"/>
          </a:p>
        </p:txBody>
      </p:sp>
    </p:spTree>
    <p:extLst>
      <p:ext uri="{BB962C8B-B14F-4D97-AF65-F5344CB8AC3E}">
        <p14:creationId xmlns:p14="http://schemas.microsoft.com/office/powerpoint/2010/main" val="22295693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1D2EB9-2E9C-B34E-8F08-7253D0983C6E}"/>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FA1B8F19-A1B8-C9C4-C556-0C3596A69A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E7B050EA-907F-19B7-E0E0-033BEB7E9D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1E6CF955-EBD5-D6DF-BFB2-8C692D4DF759}"/>
              </a:ext>
            </a:extLst>
          </p:cNvPr>
          <p:cNvSpPr>
            <a:spLocks noGrp="1"/>
          </p:cNvSpPr>
          <p:nvPr>
            <p:ph type="dt" sz="half" idx="10"/>
          </p:nvPr>
        </p:nvSpPr>
        <p:spPr/>
        <p:txBody>
          <a:bodyPr/>
          <a:lstStyle/>
          <a:p>
            <a:fld id="{8B9FF69C-14BA-4B4B-ABF0-AACFDA9EC10F}" type="datetimeFigureOut">
              <a:rPr lang="zh-CN" altLang="en-US" smtClean="0"/>
              <a:t>2026/5/13</a:t>
            </a:fld>
            <a:endParaRPr lang="zh-CN" altLang="en-US"/>
          </a:p>
        </p:txBody>
      </p:sp>
      <p:sp>
        <p:nvSpPr>
          <p:cNvPr id="6" name="页脚占位符 5">
            <a:extLst>
              <a:ext uri="{FF2B5EF4-FFF2-40B4-BE49-F238E27FC236}">
                <a16:creationId xmlns:a16="http://schemas.microsoft.com/office/drawing/2014/main" id="{B2BA29FC-7ED9-64FD-AB47-42EFE90B0B8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0921DEB7-49DE-968F-921A-20120D51C59C}"/>
              </a:ext>
            </a:extLst>
          </p:cNvPr>
          <p:cNvSpPr>
            <a:spLocks noGrp="1"/>
          </p:cNvSpPr>
          <p:nvPr>
            <p:ph type="sldNum" sz="quarter" idx="12"/>
          </p:nvPr>
        </p:nvSpPr>
        <p:spPr/>
        <p:txBody>
          <a:bodyPr/>
          <a:lstStyle/>
          <a:p>
            <a:fld id="{F8752B0D-6D65-4C56-8EE1-42B6C981AAFF}" type="slidenum">
              <a:rPr lang="zh-CN" altLang="en-US" smtClean="0"/>
              <a:t>‹#›</a:t>
            </a:fld>
            <a:endParaRPr lang="zh-CN" altLang="en-US"/>
          </a:p>
        </p:txBody>
      </p:sp>
    </p:spTree>
    <p:extLst>
      <p:ext uri="{BB962C8B-B14F-4D97-AF65-F5344CB8AC3E}">
        <p14:creationId xmlns:p14="http://schemas.microsoft.com/office/powerpoint/2010/main" val="31396834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EFBB16-3EC0-D46F-7FAF-4D8E4F735B2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601B75C0-DAE4-025D-8E35-6D812523FF8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D5683514-8ABC-3D67-EB49-644CED48675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2A8C51E3-4849-27D6-1507-C8841FBAB8FB}"/>
              </a:ext>
            </a:extLst>
          </p:cNvPr>
          <p:cNvSpPr>
            <a:spLocks noGrp="1"/>
          </p:cNvSpPr>
          <p:nvPr>
            <p:ph type="dt" sz="half" idx="10"/>
          </p:nvPr>
        </p:nvSpPr>
        <p:spPr/>
        <p:txBody>
          <a:bodyPr/>
          <a:lstStyle/>
          <a:p>
            <a:fld id="{8B9FF69C-14BA-4B4B-ABF0-AACFDA9EC10F}" type="datetimeFigureOut">
              <a:rPr lang="zh-CN" altLang="en-US" smtClean="0"/>
              <a:t>2026/5/13</a:t>
            </a:fld>
            <a:endParaRPr lang="zh-CN" altLang="en-US"/>
          </a:p>
        </p:txBody>
      </p:sp>
      <p:sp>
        <p:nvSpPr>
          <p:cNvPr id="6" name="页脚占位符 5">
            <a:extLst>
              <a:ext uri="{FF2B5EF4-FFF2-40B4-BE49-F238E27FC236}">
                <a16:creationId xmlns:a16="http://schemas.microsoft.com/office/drawing/2014/main" id="{00495505-6672-E55F-2149-5A9699D5221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848E535-DCD3-CEDB-05E6-5FFE2B62006B}"/>
              </a:ext>
            </a:extLst>
          </p:cNvPr>
          <p:cNvSpPr>
            <a:spLocks noGrp="1"/>
          </p:cNvSpPr>
          <p:nvPr>
            <p:ph type="sldNum" sz="quarter" idx="12"/>
          </p:nvPr>
        </p:nvSpPr>
        <p:spPr/>
        <p:txBody>
          <a:bodyPr/>
          <a:lstStyle/>
          <a:p>
            <a:fld id="{F8752B0D-6D65-4C56-8EE1-42B6C981AAFF}" type="slidenum">
              <a:rPr lang="zh-CN" altLang="en-US" smtClean="0"/>
              <a:t>‹#›</a:t>
            </a:fld>
            <a:endParaRPr lang="zh-CN" altLang="en-US"/>
          </a:p>
        </p:txBody>
      </p:sp>
    </p:spTree>
    <p:extLst>
      <p:ext uri="{BB962C8B-B14F-4D97-AF65-F5344CB8AC3E}">
        <p14:creationId xmlns:p14="http://schemas.microsoft.com/office/powerpoint/2010/main" val="20603129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7B8029A-7ABC-43D5-5953-634E5A00FE16}"/>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48590B2E-CE51-E22C-C1D1-A7204509E0F6}"/>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27AE2AF-C551-C09E-9384-2F332E0109A9}"/>
              </a:ext>
            </a:extLst>
          </p:cNvPr>
          <p:cNvSpPr>
            <a:spLocks noGrp="1"/>
          </p:cNvSpPr>
          <p:nvPr>
            <p:ph type="dt" sz="half" idx="10"/>
          </p:nvPr>
        </p:nvSpPr>
        <p:spPr/>
        <p:txBody>
          <a:bodyPr/>
          <a:lstStyle/>
          <a:p>
            <a:fld id="{8B9FF69C-14BA-4B4B-ABF0-AACFDA9EC10F}" type="datetimeFigureOut">
              <a:rPr lang="zh-CN" altLang="en-US" smtClean="0"/>
              <a:t>2026/5/13</a:t>
            </a:fld>
            <a:endParaRPr lang="zh-CN" altLang="en-US"/>
          </a:p>
        </p:txBody>
      </p:sp>
      <p:sp>
        <p:nvSpPr>
          <p:cNvPr id="5" name="页脚占位符 4">
            <a:extLst>
              <a:ext uri="{FF2B5EF4-FFF2-40B4-BE49-F238E27FC236}">
                <a16:creationId xmlns:a16="http://schemas.microsoft.com/office/drawing/2014/main" id="{94FD42CC-2F78-9C5B-0CA3-3CA78F96C03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2B63AF4-30F4-521E-62BC-3232DEB0B634}"/>
              </a:ext>
            </a:extLst>
          </p:cNvPr>
          <p:cNvSpPr>
            <a:spLocks noGrp="1"/>
          </p:cNvSpPr>
          <p:nvPr>
            <p:ph type="sldNum" sz="quarter" idx="12"/>
          </p:nvPr>
        </p:nvSpPr>
        <p:spPr/>
        <p:txBody>
          <a:bodyPr/>
          <a:lstStyle/>
          <a:p>
            <a:fld id="{F8752B0D-6D65-4C56-8EE1-42B6C981AAFF}" type="slidenum">
              <a:rPr lang="zh-CN" altLang="en-US" smtClean="0"/>
              <a:t>‹#›</a:t>
            </a:fld>
            <a:endParaRPr lang="zh-CN" altLang="en-US"/>
          </a:p>
        </p:txBody>
      </p:sp>
    </p:spTree>
    <p:extLst>
      <p:ext uri="{BB962C8B-B14F-4D97-AF65-F5344CB8AC3E}">
        <p14:creationId xmlns:p14="http://schemas.microsoft.com/office/powerpoint/2010/main" val="8261485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68D2D698-6452-9735-45A2-7E5C1F0454A5}"/>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47D01FBA-A3B6-0529-9BC5-94CD030E9BD6}"/>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B564F468-5F2D-5EA8-C862-12073EAD6D3E}"/>
              </a:ext>
            </a:extLst>
          </p:cNvPr>
          <p:cNvSpPr>
            <a:spLocks noGrp="1"/>
          </p:cNvSpPr>
          <p:nvPr>
            <p:ph type="dt" sz="half" idx="10"/>
          </p:nvPr>
        </p:nvSpPr>
        <p:spPr/>
        <p:txBody>
          <a:bodyPr/>
          <a:lstStyle/>
          <a:p>
            <a:fld id="{8B9FF69C-14BA-4B4B-ABF0-AACFDA9EC10F}" type="datetimeFigureOut">
              <a:rPr lang="zh-CN" altLang="en-US" smtClean="0"/>
              <a:t>2026/5/13</a:t>
            </a:fld>
            <a:endParaRPr lang="zh-CN" altLang="en-US"/>
          </a:p>
        </p:txBody>
      </p:sp>
      <p:sp>
        <p:nvSpPr>
          <p:cNvPr id="5" name="页脚占位符 4">
            <a:extLst>
              <a:ext uri="{FF2B5EF4-FFF2-40B4-BE49-F238E27FC236}">
                <a16:creationId xmlns:a16="http://schemas.microsoft.com/office/drawing/2014/main" id="{55E1D232-7EAE-65C6-FE64-CAA07006E9D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51F08B7-4E6B-9C3D-245F-8C4263EBF7A6}"/>
              </a:ext>
            </a:extLst>
          </p:cNvPr>
          <p:cNvSpPr>
            <a:spLocks noGrp="1"/>
          </p:cNvSpPr>
          <p:nvPr>
            <p:ph type="sldNum" sz="quarter" idx="12"/>
          </p:nvPr>
        </p:nvSpPr>
        <p:spPr/>
        <p:txBody>
          <a:bodyPr/>
          <a:lstStyle/>
          <a:p>
            <a:fld id="{F8752B0D-6D65-4C56-8EE1-42B6C981AAFF}" type="slidenum">
              <a:rPr lang="zh-CN" altLang="en-US" smtClean="0"/>
              <a:t>‹#›</a:t>
            </a:fld>
            <a:endParaRPr lang="zh-CN" altLang="en-US"/>
          </a:p>
        </p:txBody>
      </p:sp>
    </p:spTree>
    <p:extLst>
      <p:ext uri="{BB962C8B-B14F-4D97-AF65-F5344CB8AC3E}">
        <p14:creationId xmlns:p14="http://schemas.microsoft.com/office/powerpoint/2010/main" val="5328714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ABC193CA-3231-5FF6-BF20-1AF231CAEDA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F3E808A2-5D7F-11DD-0F58-96B58A082D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E3F7CEEF-816D-3217-20DD-D81CD7870EB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B9FF69C-14BA-4B4B-ABF0-AACFDA9EC10F}" type="datetimeFigureOut">
              <a:rPr lang="zh-CN" altLang="en-US" smtClean="0"/>
              <a:t>2026/5/13</a:t>
            </a:fld>
            <a:endParaRPr lang="zh-CN" altLang="en-US"/>
          </a:p>
        </p:txBody>
      </p:sp>
      <p:sp>
        <p:nvSpPr>
          <p:cNvPr id="5" name="页脚占位符 4">
            <a:extLst>
              <a:ext uri="{FF2B5EF4-FFF2-40B4-BE49-F238E27FC236}">
                <a16:creationId xmlns:a16="http://schemas.microsoft.com/office/drawing/2014/main" id="{0C3FAE21-8793-3BFE-CBFD-7A28D59DE10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66C09B58-D868-0CCC-3C27-2F3958A6907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752B0D-6D65-4C56-8EE1-42B6C981AAFF}" type="slidenum">
              <a:rPr lang="zh-CN" altLang="en-US" smtClean="0"/>
              <a:t>‹#›</a:t>
            </a:fld>
            <a:endParaRPr lang="zh-CN" altLang="en-US"/>
          </a:p>
        </p:txBody>
      </p:sp>
    </p:spTree>
    <p:extLst>
      <p:ext uri="{BB962C8B-B14F-4D97-AF65-F5344CB8AC3E}">
        <p14:creationId xmlns:p14="http://schemas.microsoft.com/office/powerpoint/2010/main" val="10829434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haoyi-zhang.github.io/WatermarkScope/"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hyperlink" Target="https://github.com/Haoyi-Zhang/WatermarkScope/blob/main/docs/TRACEABILITY_MATRIX.md" TargetMode="External"/><Relationship Id="rId5" Type="http://schemas.openxmlformats.org/officeDocument/2006/relationships/hyperlink" Target="https://github.com/Haoyi-Zhang/WatermarkScope/blob/main/CLAIM_BOUNDARIES.md" TargetMode="Externa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haoyi-zhang.github.io/WatermarkScope/"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hyperlink" Target="https://github.com/Haoyi-Zhang/WatermarkScope/blob/main/RESULT_MANIFEST.jsonl" TargetMode="External"/><Relationship Id="rId4" Type="http://schemas.openxmlformats.org/officeDocument/2006/relationships/hyperlink" Target="https://github.com/Haoyi-Zhang/WatermarkScope/blob/main/scripts/viva_check.py"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hyperlink" Target="https://github.com/Haoyi-Zhang/WatermarkScope/blob/main/CLAIM_BOUNDARIES.md"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haoyi-zhang.github.io/WatermarkScope/" TargetMode="External"/><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hyperlink" Target="https://github.com/Haoyi-Zhang/WatermarkScope" TargetMode="Externa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hyperlink" Target="https://github.com/Haoyi-Zhang/WatermarkScope/blob/main/CLAIM_BOUNDARIES.md" TargetMode="Externa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E81CD634-6978-03CD-D594-7E96EF91D519}"/>
              </a:ext>
            </a:extLst>
          </p:cNvPr>
          <p:cNvSpPr/>
          <p:nvPr/>
        </p:nvSpPr>
        <p:spPr>
          <a:xfrm>
            <a:off x="0" y="0"/>
            <a:ext cx="121920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dark-panel">
            <a:extLst>
              <a:ext uri="{FF2B5EF4-FFF2-40B4-BE49-F238E27FC236}">
                <a16:creationId xmlns:a16="http://schemas.microsoft.com/office/drawing/2014/main" id="{81624108-B22C-BBD5-6B9C-ACB9028F672B}"/>
              </a:ext>
            </a:extLst>
          </p:cNvPr>
          <p:cNvSpPr/>
          <p:nvPr/>
        </p:nvSpPr>
        <p:spPr>
          <a:xfrm>
            <a:off x="0" y="0"/>
            <a:ext cx="12192000" cy="6858000"/>
          </a:xfrm>
          <a:prstGeom prst="rect">
            <a:avLst/>
          </a:prstGeom>
          <a:solidFill>
            <a:srgbClr val="032048">
              <a:alpha val="9000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grid-v-0">
            <a:extLst>
              <a:ext uri="{FF2B5EF4-FFF2-40B4-BE49-F238E27FC236}">
                <a16:creationId xmlns:a16="http://schemas.microsoft.com/office/drawing/2014/main" id="{573A22DF-8D4F-8269-31C5-BB727DE8D49F}"/>
              </a:ext>
            </a:extLst>
          </p:cNvPr>
          <p:cNvCxnSpPr/>
          <p:nvPr/>
        </p:nvCxnSpPr>
        <p:spPr>
          <a:xfrm>
            <a:off x="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5" name="grid-v-64">
            <a:extLst>
              <a:ext uri="{FF2B5EF4-FFF2-40B4-BE49-F238E27FC236}">
                <a16:creationId xmlns:a16="http://schemas.microsoft.com/office/drawing/2014/main" id="{4FF4D7D5-4B78-DBCB-1F88-9E966890ACAE}"/>
              </a:ext>
            </a:extLst>
          </p:cNvPr>
          <p:cNvCxnSpPr/>
          <p:nvPr/>
        </p:nvCxnSpPr>
        <p:spPr>
          <a:xfrm>
            <a:off x="812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6" name="grid-v-128">
            <a:extLst>
              <a:ext uri="{FF2B5EF4-FFF2-40B4-BE49-F238E27FC236}">
                <a16:creationId xmlns:a16="http://schemas.microsoft.com/office/drawing/2014/main" id="{11A7DBBF-7876-356A-C786-EF2B7FB25500}"/>
              </a:ext>
            </a:extLst>
          </p:cNvPr>
          <p:cNvCxnSpPr/>
          <p:nvPr/>
        </p:nvCxnSpPr>
        <p:spPr>
          <a:xfrm>
            <a:off x="1625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7" name="grid-v-192">
            <a:extLst>
              <a:ext uri="{FF2B5EF4-FFF2-40B4-BE49-F238E27FC236}">
                <a16:creationId xmlns:a16="http://schemas.microsoft.com/office/drawing/2014/main" id="{4E861B53-A970-344F-11BE-DCFF89F59A76}"/>
              </a:ext>
            </a:extLst>
          </p:cNvPr>
          <p:cNvCxnSpPr/>
          <p:nvPr/>
        </p:nvCxnSpPr>
        <p:spPr>
          <a:xfrm>
            <a:off x="2438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8" name="grid-v-256">
            <a:extLst>
              <a:ext uri="{FF2B5EF4-FFF2-40B4-BE49-F238E27FC236}">
                <a16:creationId xmlns:a16="http://schemas.microsoft.com/office/drawing/2014/main" id="{9BA93E34-05B1-85C1-FF73-B3CA07D04BF3}"/>
              </a:ext>
            </a:extLst>
          </p:cNvPr>
          <p:cNvCxnSpPr/>
          <p:nvPr/>
        </p:nvCxnSpPr>
        <p:spPr>
          <a:xfrm>
            <a:off x="3251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9" name="grid-v-320">
            <a:extLst>
              <a:ext uri="{FF2B5EF4-FFF2-40B4-BE49-F238E27FC236}">
                <a16:creationId xmlns:a16="http://schemas.microsoft.com/office/drawing/2014/main" id="{C40F0E5C-1FA9-0529-08F9-8EFCFC5A238F}"/>
              </a:ext>
            </a:extLst>
          </p:cNvPr>
          <p:cNvCxnSpPr/>
          <p:nvPr/>
        </p:nvCxnSpPr>
        <p:spPr>
          <a:xfrm>
            <a:off x="4064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0" name="grid-v-384">
            <a:extLst>
              <a:ext uri="{FF2B5EF4-FFF2-40B4-BE49-F238E27FC236}">
                <a16:creationId xmlns:a16="http://schemas.microsoft.com/office/drawing/2014/main" id="{BC1FDA6E-E785-06DB-44A7-AB77ED6EE342}"/>
              </a:ext>
            </a:extLst>
          </p:cNvPr>
          <p:cNvCxnSpPr/>
          <p:nvPr/>
        </p:nvCxnSpPr>
        <p:spPr>
          <a:xfrm>
            <a:off x="4876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1" name="grid-v-448">
            <a:extLst>
              <a:ext uri="{FF2B5EF4-FFF2-40B4-BE49-F238E27FC236}">
                <a16:creationId xmlns:a16="http://schemas.microsoft.com/office/drawing/2014/main" id="{B4776592-B33D-36CF-2C0C-8CC9960C5D1A}"/>
              </a:ext>
            </a:extLst>
          </p:cNvPr>
          <p:cNvCxnSpPr/>
          <p:nvPr/>
        </p:nvCxnSpPr>
        <p:spPr>
          <a:xfrm>
            <a:off x="5689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2" name="grid-v-512">
            <a:extLst>
              <a:ext uri="{FF2B5EF4-FFF2-40B4-BE49-F238E27FC236}">
                <a16:creationId xmlns:a16="http://schemas.microsoft.com/office/drawing/2014/main" id="{A9320CF2-4B0A-28AC-EBBB-941E234ACCE9}"/>
              </a:ext>
            </a:extLst>
          </p:cNvPr>
          <p:cNvCxnSpPr/>
          <p:nvPr/>
        </p:nvCxnSpPr>
        <p:spPr>
          <a:xfrm>
            <a:off x="6502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3" name="grid-v-576">
            <a:extLst>
              <a:ext uri="{FF2B5EF4-FFF2-40B4-BE49-F238E27FC236}">
                <a16:creationId xmlns:a16="http://schemas.microsoft.com/office/drawing/2014/main" id="{F153FF48-5476-A5AF-42A9-C057BC94FCB7}"/>
              </a:ext>
            </a:extLst>
          </p:cNvPr>
          <p:cNvCxnSpPr/>
          <p:nvPr/>
        </p:nvCxnSpPr>
        <p:spPr>
          <a:xfrm>
            <a:off x="7315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4" name="grid-v-640">
            <a:extLst>
              <a:ext uri="{FF2B5EF4-FFF2-40B4-BE49-F238E27FC236}">
                <a16:creationId xmlns:a16="http://schemas.microsoft.com/office/drawing/2014/main" id="{99C77D7D-71E9-3B21-6C4C-351360ECDCFF}"/>
              </a:ext>
            </a:extLst>
          </p:cNvPr>
          <p:cNvCxnSpPr/>
          <p:nvPr/>
        </p:nvCxnSpPr>
        <p:spPr>
          <a:xfrm>
            <a:off x="8128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5" name="grid-v-704">
            <a:extLst>
              <a:ext uri="{FF2B5EF4-FFF2-40B4-BE49-F238E27FC236}">
                <a16:creationId xmlns:a16="http://schemas.microsoft.com/office/drawing/2014/main" id="{EAF1190F-4AC8-EBF4-43D5-F2FC24FC62B6}"/>
              </a:ext>
            </a:extLst>
          </p:cNvPr>
          <p:cNvCxnSpPr/>
          <p:nvPr/>
        </p:nvCxnSpPr>
        <p:spPr>
          <a:xfrm>
            <a:off x="8940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6" name="grid-v-768">
            <a:extLst>
              <a:ext uri="{FF2B5EF4-FFF2-40B4-BE49-F238E27FC236}">
                <a16:creationId xmlns:a16="http://schemas.microsoft.com/office/drawing/2014/main" id="{8B40F9B3-E370-01B2-B540-CAC933C726F4}"/>
              </a:ext>
            </a:extLst>
          </p:cNvPr>
          <p:cNvCxnSpPr/>
          <p:nvPr/>
        </p:nvCxnSpPr>
        <p:spPr>
          <a:xfrm>
            <a:off x="9753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7" name="grid-v-832">
            <a:extLst>
              <a:ext uri="{FF2B5EF4-FFF2-40B4-BE49-F238E27FC236}">
                <a16:creationId xmlns:a16="http://schemas.microsoft.com/office/drawing/2014/main" id="{A57E4889-659C-DD09-616A-07DCD2CD8215}"/>
              </a:ext>
            </a:extLst>
          </p:cNvPr>
          <p:cNvCxnSpPr/>
          <p:nvPr/>
        </p:nvCxnSpPr>
        <p:spPr>
          <a:xfrm>
            <a:off x="10566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8" name="grid-v-896">
            <a:extLst>
              <a:ext uri="{FF2B5EF4-FFF2-40B4-BE49-F238E27FC236}">
                <a16:creationId xmlns:a16="http://schemas.microsoft.com/office/drawing/2014/main" id="{607BEBA8-F7C5-21CF-4552-9A3EA93AAA80}"/>
              </a:ext>
            </a:extLst>
          </p:cNvPr>
          <p:cNvCxnSpPr/>
          <p:nvPr/>
        </p:nvCxnSpPr>
        <p:spPr>
          <a:xfrm>
            <a:off x="11379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9" name="grid-v-960">
            <a:extLst>
              <a:ext uri="{FF2B5EF4-FFF2-40B4-BE49-F238E27FC236}">
                <a16:creationId xmlns:a16="http://schemas.microsoft.com/office/drawing/2014/main" id="{A72DE507-F750-D638-5200-DC0F67F87DCA}"/>
              </a:ext>
            </a:extLst>
          </p:cNvPr>
          <p:cNvCxnSpPr/>
          <p:nvPr/>
        </p:nvCxnSpPr>
        <p:spPr>
          <a:xfrm>
            <a:off x="12192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0" name="grid-h-0">
            <a:extLst>
              <a:ext uri="{FF2B5EF4-FFF2-40B4-BE49-F238E27FC236}">
                <a16:creationId xmlns:a16="http://schemas.microsoft.com/office/drawing/2014/main" id="{EE0E488B-BEAB-DC0D-28A4-6E0612B1AF5C}"/>
              </a:ext>
            </a:extLst>
          </p:cNvPr>
          <p:cNvCxnSpPr/>
          <p:nvPr/>
        </p:nvCxnSpPr>
        <p:spPr>
          <a:xfrm>
            <a:off x="0" y="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1" name="grid-h-64">
            <a:extLst>
              <a:ext uri="{FF2B5EF4-FFF2-40B4-BE49-F238E27FC236}">
                <a16:creationId xmlns:a16="http://schemas.microsoft.com/office/drawing/2014/main" id="{D887A390-374E-9B29-EE4F-CE79D6A84FED}"/>
              </a:ext>
            </a:extLst>
          </p:cNvPr>
          <p:cNvCxnSpPr/>
          <p:nvPr/>
        </p:nvCxnSpPr>
        <p:spPr>
          <a:xfrm>
            <a:off x="0" y="812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2" name="grid-h-128">
            <a:extLst>
              <a:ext uri="{FF2B5EF4-FFF2-40B4-BE49-F238E27FC236}">
                <a16:creationId xmlns:a16="http://schemas.microsoft.com/office/drawing/2014/main" id="{29EB8320-21D3-06AD-15AE-CE97FCBA4588}"/>
              </a:ext>
            </a:extLst>
          </p:cNvPr>
          <p:cNvCxnSpPr/>
          <p:nvPr/>
        </p:nvCxnSpPr>
        <p:spPr>
          <a:xfrm>
            <a:off x="0" y="1625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3" name="grid-h-192">
            <a:extLst>
              <a:ext uri="{FF2B5EF4-FFF2-40B4-BE49-F238E27FC236}">
                <a16:creationId xmlns:a16="http://schemas.microsoft.com/office/drawing/2014/main" id="{31A4EA1B-CAB9-3C4D-7293-701765BE9240}"/>
              </a:ext>
            </a:extLst>
          </p:cNvPr>
          <p:cNvCxnSpPr/>
          <p:nvPr/>
        </p:nvCxnSpPr>
        <p:spPr>
          <a:xfrm>
            <a:off x="0" y="2438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4" name="grid-h-256">
            <a:extLst>
              <a:ext uri="{FF2B5EF4-FFF2-40B4-BE49-F238E27FC236}">
                <a16:creationId xmlns:a16="http://schemas.microsoft.com/office/drawing/2014/main" id="{819C626F-721E-9992-67A4-4FC9DE32F4B5}"/>
              </a:ext>
            </a:extLst>
          </p:cNvPr>
          <p:cNvCxnSpPr/>
          <p:nvPr/>
        </p:nvCxnSpPr>
        <p:spPr>
          <a:xfrm>
            <a:off x="0" y="32512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5" name="grid-h-320">
            <a:extLst>
              <a:ext uri="{FF2B5EF4-FFF2-40B4-BE49-F238E27FC236}">
                <a16:creationId xmlns:a16="http://schemas.microsoft.com/office/drawing/2014/main" id="{8055CD00-EEAC-E37A-7F51-DFDED7013CD9}"/>
              </a:ext>
            </a:extLst>
          </p:cNvPr>
          <p:cNvCxnSpPr/>
          <p:nvPr/>
        </p:nvCxnSpPr>
        <p:spPr>
          <a:xfrm>
            <a:off x="0" y="40640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6" name="grid-h-384">
            <a:extLst>
              <a:ext uri="{FF2B5EF4-FFF2-40B4-BE49-F238E27FC236}">
                <a16:creationId xmlns:a16="http://schemas.microsoft.com/office/drawing/2014/main" id="{700B0811-A437-B50D-E801-6C1A17E49C7E}"/>
              </a:ext>
            </a:extLst>
          </p:cNvPr>
          <p:cNvCxnSpPr/>
          <p:nvPr/>
        </p:nvCxnSpPr>
        <p:spPr>
          <a:xfrm>
            <a:off x="0" y="4876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7" name="grid-h-448">
            <a:extLst>
              <a:ext uri="{FF2B5EF4-FFF2-40B4-BE49-F238E27FC236}">
                <a16:creationId xmlns:a16="http://schemas.microsoft.com/office/drawing/2014/main" id="{34BBF93D-182B-84E9-677A-8BAECBA905E5}"/>
              </a:ext>
            </a:extLst>
          </p:cNvPr>
          <p:cNvCxnSpPr/>
          <p:nvPr/>
        </p:nvCxnSpPr>
        <p:spPr>
          <a:xfrm>
            <a:off x="0" y="5689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8" name="grid-h-512">
            <a:extLst>
              <a:ext uri="{FF2B5EF4-FFF2-40B4-BE49-F238E27FC236}">
                <a16:creationId xmlns:a16="http://schemas.microsoft.com/office/drawing/2014/main" id="{16052E37-2AEA-22FF-F174-50854FB7706B}"/>
              </a:ext>
            </a:extLst>
          </p:cNvPr>
          <p:cNvCxnSpPr/>
          <p:nvPr/>
        </p:nvCxnSpPr>
        <p:spPr>
          <a:xfrm>
            <a:off x="0" y="6502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sp>
        <p:nvSpPr>
          <p:cNvPr id="29" name="page-num">
            <a:extLst>
              <a:ext uri="{FF2B5EF4-FFF2-40B4-BE49-F238E27FC236}">
                <a16:creationId xmlns:a16="http://schemas.microsoft.com/office/drawing/2014/main" id="{DF8CE95B-07F9-D5B8-DECE-B3F0A091D6B4}"/>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B4CDEB"/>
                </a:solidFill>
                <a:latin typeface="Aptos" panose="020B0004020202020204" pitchFamily="34" charset="0"/>
              </a:rPr>
              <a:t>01</a:t>
            </a:r>
            <a:endParaRPr lang="zh-CN" altLang="en-US" sz="650">
              <a:solidFill>
                <a:srgbClr val="B4CDEB"/>
              </a:solidFill>
              <a:latin typeface="Aptos" panose="020B0004020202020204" pitchFamily="34" charset="0"/>
            </a:endParaRPr>
          </a:p>
        </p:txBody>
      </p:sp>
      <p:sp>
        <p:nvSpPr>
          <p:cNvPr id="30" name="section-label">
            <a:extLst>
              <a:ext uri="{FF2B5EF4-FFF2-40B4-BE49-F238E27FC236}">
                <a16:creationId xmlns:a16="http://schemas.microsoft.com/office/drawing/2014/main" id="{DE73C8FD-E658-2F42-7F2D-3B266311EE29}"/>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BEDCFF"/>
                </a:solidFill>
                <a:latin typeface="Aptos" panose="020B0004020202020204" pitchFamily="34" charset="0"/>
              </a:rPr>
              <a:t>FINAL YEAR PROJECT VIVA</a:t>
            </a:r>
            <a:endParaRPr lang="zh-CN" altLang="en-US" sz="700" b="1">
              <a:solidFill>
                <a:srgbClr val="BEDCFF"/>
              </a:solidFill>
              <a:latin typeface="Aptos" panose="020B0004020202020204" pitchFamily="34" charset="0"/>
            </a:endParaRPr>
          </a:p>
        </p:txBody>
      </p:sp>
      <p:sp>
        <p:nvSpPr>
          <p:cNvPr id="31" name="title">
            <a:extLst>
              <a:ext uri="{FF2B5EF4-FFF2-40B4-BE49-F238E27FC236}">
                <a16:creationId xmlns:a16="http://schemas.microsoft.com/office/drawing/2014/main" id="{88FCFC02-779F-6B49-E4C2-DB105BBA8306}"/>
              </a:ext>
            </a:extLst>
          </p:cNvPr>
          <p:cNvSpPr txBox="1"/>
          <p:nvPr/>
        </p:nvSpPr>
        <p:spPr>
          <a:xfrm>
            <a:off x="685800" y="1219200"/>
            <a:ext cx="8636000" cy="276999"/>
          </a:xfrm>
          <a:prstGeom prst="rect">
            <a:avLst/>
          </a:prstGeom>
          <a:noFill/>
        </p:spPr>
        <p:txBody>
          <a:bodyPr vert="horz" wrap="square" lIns="0" tIns="0" rIns="0" bIns="0" rtlCol="0">
            <a:noAutofit/>
          </a:bodyPr>
          <a:lstStyle/>
          <a:p>
            <a:r>
              <a:rPr lang="en-US" altLang="zh-CN" sz="4600" b="1">
                <a:solidFill>
                  <a:srgbClr val="FFFFFF"/>
                </a:solidFill>
                <a:latin typeface="Aptos" panose="020B0004020202020204" pitchFamily="34" charset="0"/>
              </a:rPr>
              <a:t>WatermarkScope</a:t>
            </a:r>
            <a:endParaRPr lang="zh-CN" altLang="en-US" sz="4600" b="1">
              <a:solidFill>
                <a:srgbClr val="FFFFFF"/>
              </a:solidFill>
              <a:latin typeface="Aptos" panose="020B0004020202020204" pitchFamily="34" charset="0"/>
            </a:endParaRPr>
          </a:p>
        </p:txBody>
      </p:sp>
      <p:sp>
        <p:nvSpPr>
          <p:cNvPr id="32" name="subtitle">
            <a:extLst>
              <a:ext uri="{FF2B5EF4-FFF2-40B4-BE49-F238E27FC236}">
                <a16:creationId xmlns:a16="http://schemas.microsoft.com/office/drawing/2014/main" id="{3EA90F1E-51DE-83EA-6836-22142B097166}"/>
              </a:ext>
            </a:extLst>
          </p:cNvPr>
          <p:cNvSpPr txBox="1"/>
          <p:nvPr/>
        </p:nvSpPr>
        <p:spPr>
          <a:xfrm>
            <a:off x="736600" y="2171700"/>
            <a:ext cx="8763000" cy="276999"/>
          </a:xfrm>
          <a:prstGeom prst="rect">
            <a:avLst/>
          </a:prstGeom>
          <a:noFill/>
        </p:spPr>
        <p:txBody>
          <a:bodyPr vert="horz" wrap="square" lIns="0" tIns="0" rIns="0" bIns="0" rtlCol="0">
            <a:noAutofit/>
          </a:bodyPr>
          <a:lstStyle/>
          <a:p>
            <a:r>
              <a:rPr lang="en-US" altLang="zh-CN" sz="2100" b="1">
                <a:solidFill>
                  <a:srgbClr val="FFFFFF"/>
                </a:solidFill>
                <a:latin typeface="Aptos" panose="020B0004020202020204" pitchFamily="34" charset="0"/>
              </a:rPr>
              <a:t>A benchmark-to-audit framework for source-code watermarking in code generation models.</a:t>
            </a:r>
            <a:endParaRPr lang="zh-CN" altLang="en-US" sz="2100" b="1">
              <a:solidFill>
                <a:srgbClr val="FFFFFF"/>
              </a:solidFill>
              <a:latin typeface="Aptos" panose="020B0004020202020204" pitchFamily="34" charset="0"/>
            </a:endParaRPr>
          </a:p>
        </p:txBody>
      </p:sp>
      <p:cxnSp>
        <p:nvCxnSpPr>
          <p:cNvPr id="33" name="cover-rule">
            <a:extLst>
              <a:ext uri="{FF2B5EF4-FFF2-40B4-BE49-F238E27FC236}">
                <a16:creationId xmlns:a16="http://schemas.microsoft.com/office/drawing/2014/main" id="{A843235D-D09D-723A-5A9E-AB2A93CD94D2}"/>
              </a:ext>
            </a:extLst>
          </p:cNvPr>
          <p:cNvCxnSpPr/>
          <p:nvPr/>
        </p:nvCxnSpPr>
        <p:spPr>
          <a:xfrm>
            <a:off x="736600" y="3200400"/>
            <a:ext cx="8077200" cy="0"/>
          </a:xfrm>
          <a:prstGeom prst="line">
            <a:avLst/>
          </a:prstGeom>
          <a:ln w="15240">
            <a:solidFill>
              <a:srgbClr val="A4CAF5"/>
            </a:solidFill>
          </a:ln>
        </p:spPr>
        <p:style>
          <a:lnRef idx="1">
            <a:schemeClr val="accent1"/>
          </a:lnRef>
          <a:fillRef idx="0">
            <a:schemeClr val="accent1"/>
          </a:fillRef>
          <a:effectRef idx="0">
            <a:schemeClr val="accent1"/>
          </a:effectRef>
          <a:fontRef idx="minor">
            <a:schemeClr val="tx1"/>
          </a:fontRef>
        </p:style>
      </p:cxnSp>
      <p:sp>
        <p:nvSpPr>
          <p:cNvPr id="34" name="thesis-box">
            <a:extLst>
              <a:ext uri="{FF2B5EF4-FFF2-40B4-BE49-F238E27FC236}">
                <a16:creationId xmlns:a16="http://schemas.microsoft.com/office/drawing/2014/main" id="{D30A8D7C-408B-B5D8-ABFB-21109CB7E8F6}"/>
              </a:ext>
            </a:extLst>
          </p:cNvPr>
          <p:cNvSpPr/>
          <p:nvPr/>
        </p:nvSpPr>
        <p:spPr>
          <a:xfrm>
            <a:off x="736600" y="3708400"/>
            <a:ext cx="8255000" cy="685800"/>
          </a:xfrm>
          <a:prstGeom prst="rect">
            <a:avLst/>
          </a:prstGeom>
          <a:solidFill>
            <a:srgbClr val="0B5CA0"/>
          </a:solidFill>
          <a:ln w="12700">
            <a:solidFill>
              <a:srgbClr val="76AE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thesis-k">
            <a:extLst>
              <a:ext uri="{FF2B5EF4-FFF2-40B4-BE49-F238E27FC236}">
                <a16:creationId xmlns:a16="http://schemas.microsoft.com/office/drawing/2014/main" id="{671F6952-FFEA-C668-25B0-846E3BE062AD}"/>
              </a:ext>
            </a:extLst>
          </p:cNvPr>
          <p:cNvSpPr txBox="1"/>
          <p:nvPr/>
        </p:nvSpPr>
        <p:spPr>
          <a:xfrm>
            <a:off x="1066800" y="3898900"/>
            <a:ext cx="1524000" cy="276999"/>
          </a:xfrm>
          <a:prstGeom prst="rect">
            <a:avLst/>
          </a:prstGeom>
          <a:noFill/>
        </p:spPr>
        <p:txBody>
          <a:bodyPr vert="horz" wrap="square" lIns="0" tIns="0" rIns="0" bIns="0" rtlCol="0">
            <a:noAutofit/>
          </a:bodyPr>
          <a:lstStyle/>
          <a:p>
            <a:r>
              <a:rPr lang="en-US" altLang="zh-CN" sz="720" b="1">
                <a:solidFill>
                  <a:srgbClr val="CDE1F8"/>
                </a:solidFill>
                <a:latin typeface="Aptos" panose="020B0004020202020204" pitchFamily="34" charset="0"/>
              </a:rPr>
              <a:t>ONE SENTENCE</a:t>
            </a:r>
            <a:endParaRPr lang="zh-CN" altLang="en-US" sz="720" b="1">
              <a:solidFill>
                <a:srgbClr val="CDE1F8"/>
              </a:solidFill>
              <a:latin typeface="Aptos" panose="020B0004020202020204" pitchFamily="34" charset="0"/>
            </a:endParaRPr>
          </a:p>
        </p:txBody>
      </p:sp>
      <p:sp>
        <p:nvSpPr>
          <p:cNvPr id="36" name="thesis">
            <a:extLst>
              <a:ext uri="{FF2B5EF4-FFF2-40B4-BE49-F238E27FC236}">
                <a16:creationId xmlns:a16="http://schemas.microsoft.com/office/drawing/2014/main" id="{59289072-F20A-601F-143F-3D4D3138AE1C}"/>
              </a:ext>
            </a:extLst>
          </p:cNvPr>
          <p:cNvSpPr txBox="1"/>
          <p:nvPr/>
        </p:nvSpPr>
        <p:spPr>
          <a:xfrm>
            <a:off x="1066800" y="4140200"/>
            <a:ext cx="7112000" cy="276999"/>
          </a:xfrm>
          <a:prstGeom prst="rect">
            <a:avLst/>
          </a:prstGeom>
          <a:noFill/>
        </p:spPr>
        <p:txBody>
          <a:bodyPr vert="horz" wrap="square" lIns="0" tIns="0" rIns="0" bIns="0" rtlCol="0">
            <a:noAutofit/>
          </a:bodyPr>
          <a:lstStyle/>
          <a:p>
            <a:r>
              <a:rPr lang="en-US" altLang="zh-CN" sz="1550" b="1">
                <a:solidFill>
                  <a:srgbClr val="FFFFFF"/>
                </a:solidFill>
                <a:latin typeface="Aptos" panose="020B0004020202020204" pitchFamily="34" charset="0"/>
              </a:rPr>
              <a:t>Do not judge source-code watermarking by one detector score.</a:t>
            </a:r>
            <a:endParaRPr lang="zh-CN" altLang="en-US" sz="1550" b="1">
              <a:solidFill>
                <a:srgbClr val="FFFFFF"/>
              </a:solidFill>
              <a:latin typeface="Aptos" panose="020B0004020202020204" pitchFamily="34" charset="0"/>
            </a:endParaRPr>
          </a:p>
        </p:txBody>
      </p:sp>
      <p:pic>
        <p:nvPicPr>
          <p:cNvPr id="38" name="图片 37">
            <a:hlinkClick r:id="rId3"/>
            <a:extLst>
              <a:ext uri="{FF2B5EF4-FFF2-40B4-BE49-F238E27FC236}">
                <a16:creationId xmlns:a16="http://schemas.microsoft.com/office/drawing/2014/main" id="{2CEC0A3F-F58E-5762-313A-8E77E1F0680F}"/>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677400" y="1295400"/>
            <a:ext cx="1422400" cy="1422400"/>
          </a:xfrm>
          <a:prstGeom prst="rect">
            <a:avLst/>
          </a:prstGeom>
        </p:spPr>
      </p:pic>
      <p:sp>
        <p:nvSpPr>
          <p:cNvPr id="39" name="qr-caption-bg">
            <a:extLst>
              <a:ext uri="{FF2B5EF4-FFF2-40B4-BE49-F238E27FC236}">
                <a16:creationId xmlns:a16="http://schemas.microsoft.com/office/drawing/2014/main" id="{4B0B13DB-2E70-B095-D4CE-8FA7AB3226FA}"/>
              </a:ext>
            </a:extLst>
          </p:cNvPr>
          <p:cNvSpPr/>
          <p:nvPr/>
        </p:nvSpPr>
        <p:spPr>
          <a:xfrm>
            <a:off x="9474200" y="2921000"/>
            <a:ext cx="1828800" cy="762000"/>
          </a:xfrm>
          <a:prstGeom prst="rect">
            <a:avLst/>
          </a:prstGeom>
          <a:solidFill>
            <a:srgbClr val="FFFFFF"/>
          </a:solidFill>
          <a:ln w="1270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qr-cap1">
            <a:extLst>
              <a:ext uri="{FF2B5EF4-FFF2-40B4-BE49-F238E27FC236}">
                <a16:creationId xmlns:a16="http://schemas.microsoft.com/office/drawing/2014/main" id="{3C1487B4-4C55-8435-F341-1F5EB423FB6B}"/>
              </a:ext>
            </a:extLst>
          </p:cNvPr>
          <p:cNvSpPr txBox="1"/>
          <p:nvPr/>
        </p:nvSpPr>
        <p:spPr>
          <a:xfrm>
            <a:off x="9702800" y="3098800"/>
            <a:ext cx="13716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Project page</a:t>
            </a:r>
            <a:endParaRPr lang="zh-CN" altLang="en-US" sz="800" b="1">
              <a:solidFill>
                <a:srgbClr val="004080"/>
              </a:solidFill>
              <a:latin typeface="Aptos" panose="020B0004020202020204" pitchFamily="34" charset="0"/>
            </a:endParaRPr>
          </a:p>
        </p:txBody>
      </p:sp>
      <p:sp>
        <p:nvSpPr>
          <p:cNvPr id="41" name="qr-cap2">
            <a:extLst>
              <a:ext uri="{FF2B5EF4-FFF2-40B4-BE49-F238E27FC236}">
                <a16:creationId xmlns:a16="http://schemas.microsoft.com/office/drawing/2014/main" id="{D94F44D2-E345-D94B-8400-AF4B63BAA47B}"/>
              </a:ext>
            </a:extLst>
          </p:cNvPr>
          <p:cNvSpPr txBox="1"/>
          <p:nvPr/>
        </p:nvSpPr>
        <p:spPr>
          <a:xfrm>
            <a:off x="9702800" y="3340100"/>
            <a:ext cx="1397000" cy="276999"/>
          </a:xfrm>
          <a:prstGeom prst="rect">
            <a:avLst/>
          </a:prstGeom>
          <a:noFill/>
        </p:spPr>
        <p:txBody>
          <a:bodyPr vert="horz" wrap="square" lIns="0" tIns="0" rIns="0" bIns="0" rtlCol="0">
            <a:noAutofit/>
          </a:bodyPr>
          <a:lstStyle/>
          <a:p>
            <a:r>
              <a:rPr lang="en-US" altLang="zh-CN" sz="670">
                <a:solidFill>
                  <a:srgbClr val="536580"/>
                </a:solidFill>
                <a:latin typeface="Aptos" panose="020B0004020202020204" pitchFamily="34" charset="0"/>
              </a:rPr>
              <a:t>slides, repo, evidence</a:t>
            </a:r>
            <a:endParaRPr lang="zh-CN" altLang="en-US" sz="670">
              <a:solidFill>
                <a:srgbClr val="536580"/>
              </a:solidFill>
              <a:latin typeface="Aptos" panose="020B0004020202020204" pitchFamily="34" charset="0"/>
            </a:endParaRPr>
          </a:p>
        </p:txBody>
      </p:sp>
      <p:sp>
        <p:nvSpPr>
          <p:cNvPr id="42" name="name">
            <a:extLst>
              <a:ext uri="{FF2B5EF4-FFF2-40B4-BE49-F238E27FC236}">
                <a16:creationId xmlns:a16="http://schemas.microsoft.com/office/drawing/2014/main" id="{4291BD58-C9A6-5F94-5D27-E15A02522585}"/>
              </a:ext>
            </a:extLst>
          </p:cNvPr>
          <p:cNvSpPr txBox="1"/>
          <p:nvPr/>
        </p:nvSpPr>
        <p:spPr>
          <a:xfrm>
            <a:off x="736600" y="5003800"/>
            <a:ext cx="4572000" cy="276999"/>
          </a:xfrm>
          <a:prstGeom prst="rect">
            <a:avLst/>
          </a:prstGeom>
          <a:noFill/>
        </p:spPr>
        <p:txBody>
          <a:bodyPr vert="horz" wrap="square" lIns="0" tIns="0" rIns="0" bIns="0" rtlCol="0">
            <a:noAutofit/>
          </a:bodyPr>
          <a:lstStyle/>
          <a:p>
            <a:r>
              <a:rPr lang="en-US" altLang="zh-CN" sz="1050">
                <a:solidFill>
                  <a:srgbClr val="FFFFFF"/>
                </a:solidFill>
                <a:latin typeface="Aptos" panose="020B0004020202020204" pitchFamily="34" charset="0"/>
              </a:rPr>
              <a:t>Haoyi Zhang | 2254912</a:t>
            </a:r>
            <a:endParaRPr lang="zh-CN" altLang="en-US" sz="1050">
              <a:solidFill>
                <a:srgbClr val="FFFFFF"/>
              </a:solidFill>
              <a:latin typeface="Aptos" panose="020B0004020202020204" pitchFamily="34" charset="0"/>
            </a:endParaRPr>
          </a:p>
        </p:txBody>
      </p:sp>
      <p:sp>
        <p:nvSpPr>
          <p:cNvPr id="43" name="sup">
            <a:extLst>
              <a:ext uri="{FF2B5EF4-FFF2-40B4-BE49-F238E27FC236}">
                <a16:creationId xmlns:a16="http://schemas.microsoft.com/office/drawing/2014/main" id="{5560C5FE-181D-BFC8-E6CD-E5E1AFB68DC9}"/>
              </a:ext>
            </a:extLst>
          </p:cNvPr>
          <p:cNvSpPr txBox="1"/>
          <p:nvPr/>
        </p:nvSpPr>
        <p:spPr>
          <a:xfrm>
            <a:off x="736600" y="5384800"/>
            <a:ext cx="5715000" cy="276999"/>
          </a:xfrm>
          <a:prstGeom prst="rect">
            <a:avLst/>
          </a:prstGeom>
          <a:noFill/>
        </p:spPr>
        <p:txBody>
          <a:bodyPr vert="horz" wrap="square" lIns="0" tIns="0" rIns="0" bIns="0" rtlCol="0">
            <a:noAutofit/>
          </a:bodyPr>
          <a:lstStyle/>
          <a:p>
            <a:r>
              <a:rPr lang="en-US" altLang="zh-CN" sz="1050">
                <a:solidFill>
                  <a:srgbClr val="FFFFFF"/>
                </a:solidFill>
                <a:latin typeface="Aptos" panose="020B0004020202020204" pitchFamily="34" charset="0"/>
              </a:rPr>
              <a:t>Supervisor: Md Maruf Hasan | Viva: 21 May 2026</a:t>
            </a:r>
            <a:endParaRPr lang="zh-CN" altLang="en-US" sz="1050">
              <a:solidFill>
                <a:srgbClr val="FFFFFF"/>
              </a:solidFill>
              <a:latin typeface="Aptos" panose="020B0004020202020204" pitchFamily="34" charset="0"/>
            </a:endParaRPr>
          </a:p>
        </p:txBody>
      </p:sp>
      <p:pic>
        <p:nvPicPr>
          <p:cNvPr id="45" name="图片 44">
            <a:extLst>
              <a:ext uri="{FF2B5EF4-FFF2-40B4-BE49-F238E27FC236}">
                <a16:creationId xmlns:a16="http://schemas.microsoft.com/office/drawing/2014/main" id="{CA681714-B6EB-E099-5F42-3CECE54A3560}"/>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Tree>
    <p:extLst>
      <p:ext uri="{BB962C8B-B14F-4D97-AF65-F5344CB8AC3E}">
        <p14:creationId xmlns:p14="http://schemas.microsoft.com/office/powerpoint/2010/main" val="1729401161"/>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05F4534D-9E0F-673C-DD9B-205B59B408C4}"/>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1A3A46D5-296E-D555-8351-6215552022F0}"/>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CB5D99E0-1044-ABB9-6DF9-F4D5FD796404}"/>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59CBD0B1-FDE2-7FE7-1DAA-43A4F6BCA34A}"/>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A12A926C-B918-8EC7-FA5C-3D808EDF2B91}"/>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4D545AA2-BBEC-ECDE-1E5E-121E8D0E6FF5}"/>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02</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98BA455F-81DD-6225-3D39-2B95875A5235}"/>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STORY</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7681B6FE-4BEA-B32F-AD53-6D2C1D97789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DD1AD0CE-4AD5-8C58-03DE-41F3B89BC393}"/>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The 10-minute story</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9005ABFE-4A9D-1EEC-8B84-6322ADCE275A}"/>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I will explain the problem, the evidence contract, the result surface, and the live demo route.</a:t>
            </a:r>
            <a:endParaRPr lang="zh-CN" altLang="en-US" sz="950">
              <a:solidFill>
                <a:srgbClr val="536580"/>
              </a:solidFill>
              <a:latin typeface="Aptos" panose="020B0004020202020204" pitchFamily="34" charset="0"/>
            </a:endParaRPr>
          </a:p>
        </p:txBody>
      </p:sp>
      <p:sp>
        <p:nvSpPr>
          <p:cNvPr id="13" name="story-card-0">
            <a:extLst>
              <a:ext uri="{FF2B5EF4-FFF2-40B4-BE49-F238E27FC236}">
                <a16:creationId xmlns:a16="http://schemas.microsoft.com/office/drawing/2014/main" id="{B25D4E30-DB06-AFE4-EFBB-C67C769777E3}"/>
              </a:ext>
            </a:extLst>
          </p:cNvPr>
          <p:cNvSpPr/>
          <p:nvPr/>
        </p:nvSpPr>
        <p:spPr>
          <a:xfrm>
            <a:off x="889000" y="2235200"/>
            <a:ext cx="2235200" cy="2362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story-top-0">
            <a:extLst>
              <a:ext uri="{FF2B5EF4-FFF2-40B4-BE49-F238E27FC236}">
                <a16:creationId xmlns:a16="http://schemas.microsoft.com/office/drawing/2014/main" id="{C2D6E2CD-E469-0D03-F885-D9BC335C07EB}"/>
              </a:ext>
            </a:extLst>
          </p:cNvPr>
          <p:cNvSpPr/>
          <p:nvPr/>
        </p:nvSpPr>
        <p:spPr>
          <a:xfrm>
            <a:off x="889000" y="2235200"/>
            <a:ext cx="2235200" cy="88900"/>
          </a:xfrm>
          <a:prstGeom prst="rect">
            <a:avLst/>
          </a:prstGeom>
          <a:solidFill>
            <a:srgbClr val="2369C8"/>
          </a:solidFill>
          <a:ln w="12700">
            <a:solidFill>
              <a:srgbClr val="2369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story-num-0">
            <a:extLst>
              <a:ext uri="{FF2B5EF4-FFF2-40B4-BE49-F238E27FC236}">
                <a16:creationId xmlns:a16="http://schemas.microsoft.com/office/drawing/2014/main" id="{BBAE8708-8412-ABC4-4C98-F3CECAE8DAE2}"/>
              </a:ext>
            </a:extLst>
          </p:cNvPr>
          <p:cNvSpPr txBox="1"/>
          <p:nvPr/>
        </p:nvSpPr>
        <p:spPr>
          <a:xfrm>
            <a:off x="1117600" y="2590800"/>
            <a:ext cx="533400" cy="276999"/>
          </a:xfrm>
          <a:prstGeom prst="rect">
            <a:avLst/>
          </a:prstGeom>
          <a:noFill/>
        </p:spPr>
        <p:txBody>
          <a:bodyPr vert="horz" wrap="square" lIns="0" tIns="0" rIns="0" bIns="0" rtlCol="0">
            <a:noAutofit/>
          </a:bodyPr>
          <a:lstStyle/>
          <a:p>
            <a:r>
              <a:rPr lang="en-US" altLang="zh-CN" sz="900" b="1">
                <a:solidFill>
                  <a:srgbClr val="536580"/>
                </a:solidFill>
                <a:latin typeface="Aptos" panose="020B0004020202020204" pitchFamily="34" charset="0"/>
              </a:rPr>
              <a:t>01</a:t>
            </a:r>
            <a:endParaRPr lang="zh-CN" altLang="en-US" sz="900" b="1">
              <a:solidFill>
                <a:srgbClr val="536580"/>
              </a:solidFill>
              <a:latin typeface="Aptos" panose="020B0004020202020204" pitchFamily="34" charset="0"/>
            </a:endParaRPr>
          </a:p>
        </p:txBody>
      </p:sp>
      <p:sp>
        <p:nvSpPr>
          <p:cNvPr id="16" name="story-title-0">
            <a:extLst>
              <a:ext uri="{FF2B5EF4-FFF2-40B4-BE49-F238E27FC236}">
                <a16:creationId xmlns:a16="http://schemas.microsoft.com/office/drawing/2014/main" id="{CAFC6AC3-B338-A743-244C-D56EDD12D854}"/>
              </a:ext>
            </a:extLst>
          </p:cNvPr>
          <p:cNvSpPr txBox="1"/>
          <p:nvPr/>
        </p:nvSpPr>
        <p:spPr>
          <a:xfrm>
            <a:off x="1117600" y="2997200"/>
            <a:ext cx="1676400" cy="276999"/>
          </a:xfrm>
          <a:prstGeom prst="rect">
            <a:avLst/>
          </a:prstGeom>
          <a:noFill/>
        </p:spPr>
        <p:txBody>
          <a:bodyPr vert="horz" wrap="square" lIns="0" tIns="0" rIns="0" bIns="0" rtlCol="0">
            <a:noAutofit/>
          </a:bodyPr>
          <a:lstStyle/>
          <a:p>
            <a:r>
              <a:rPr lang="en-US" altLang="zh-CN" sz="1700" b="1">
                <a:solidFill>
                  <a:srgbClr val="0D182C"/>
                </a:solidFill>
                <a:latin typeface="Aptos" panose="020B0004020202020204" pitchFamily="34" charset="0"/>
              </a:rPr>
              <a:t>Problem</a:t>
            </a:r>
            <a:endParaRPr lang="zh-CN" altLang="en-US" sz="1700" b="1">
              <a:solidFill>
                <a:srgbClr val="0D182C"/>
              </a:solidFill>
              <a:latin typeface="Aptos" panose="020B0004020202020204" pitchFamily="34" charset="0"/>
            </a:endParaRPr>
          </a:p>
        </p:txBody>
      </p:sp>
      <p:sp>
        <p:nvSpPr>
          <p:cNvPr id="17" name="story-sub-0">
            <a:extLst>
              <a:ext uri="{FF2B5EF4-FFF2-40B4-BE49-F238E27FC236}">
                <a16:creationId xmlns:a16="http://schemas.microsoft.com/office/drawing/2014/main" id="{FD942674-680B-F6B4-0DE6-8E2495CA2302}"/>
              </a:ext>
            </a:extLst>
          </p:cNvPr>
          <p:cNvSpPr txBox="1"/>
          <p:nvPr/>
        </p:nvSpPr>
        <p:spPr>
          <a:xfrm>
            <a:off x="1117600" y="3632200"/>
            <a:ext cx="1676400" cy="276999"/>
          </a:xfrm>
          <a:prstGeom prst="rect">
            <a:avLst/>
          </a:prstGeom>
          <a:noFill/>
        </p:spPr>
        <p:txBody>
          <a:bodyPr vert="horz" wrap="square" lIns="0" tIns="0" rIns="0" bIns="0" rtlCol="0">
            <a:noAutofit/>
          </a:bodyPr>
          <a:lstStyle/>
          <a:p>
            <a:r>
              <a:rPr lang="en-US" altLang="zh-CN" sz="920">
                <a:solidFill>
                  <a:srgbClr val="536580"/>
                </a:solidFill>
                <a:latin typeface="Aptos" panose="020B0004020202020204" pitchFamily="34" charset="0"/>
              </a:rPr>
              <a:t>Generated code is copied, edited, translated, and reused.</a:t>
            </a:r>
            <a:endParaRPr lang="zh-CN" altLang="en-US" sz="920">
              <a:solidFill>
                <a:srgbClr val="536580"/>
              </a:solidFill>
              <a:latin typeface="Aptos" panose="020B0004020202020204" pitchFamily="34" charset="0"/>
            </a:endParaRPr>
          </a:p>
        </p:txBody>
      </p:sp>
      <p:cxnSp>
        <p:nvCxnSpPr>
          <p:cNvPr id="18" name="story-line-0">
            <a:extLst>
              <a:ext uri="{FF2B5EF4-FFF2-40B4-BE49-F238E27FC236}">
                <a16:creationId xmlns:a16="http://schemas.microsoft.com/office/drawing/2014/main" id="{964AEAF1-072B-5852-D69E-639FB212F935}"/>
              </a:ext>
            </a:extLst>
          </p:cNvPr>
          <p:cNvCxnSpPr/>
          <p:nvPr/>
        </p:nvCxnSpPr>
        <p:spPr>
          <a:xfrm>
            <a:off x="3124200" y="3416300"/>
            <a:ext cx="482600" cy="0"/>
          </a:xfrm>
          <a:prstGeom prst="line">
            <a:avLst/>
          </a:prstGeom>
          <a:ln w="25400">
            <a:solidFill>
              <a:srgbClr val="D2DCEB"/>
            </a:solidFill>
          </a:ln>
        </p:spPr>
        <p:style>
          <a:lnRef idx="1">
            <a:schemeClr val="accent1"/>
          </a:lnRef>
          <a:fillRef idx="0">
            <a:schemeClr val="accent1"/>
          </a:fillRef>
          <a:effectRef idx="0">
            <a:schemeClr val="accent1"/>
          </a:effectRef>
          <a:fontRef idx="minor">
            <a:schemeClr val="tx1"/>
          </a:fontRef>
        </p:style>
      </p:cxnSp>
      <p:sp>
        <p:nvSpPr>
          <p:cNvPr id="19" name="story-card-1">
            <a:extLst>
              <a:ext uri="{FF2B5EF4-FFF2-40B4-BE49-F238E27FC236}">
                <a16:creationId xmlns:a16="http://schemas.microsoft.com/office/drawing/2014/main" id="{CF1612FD-C2BA-B3F4-FCCF-179837F419BB}"/>
              </a:ext>
            </a:extLst>
          </p:cNvPr>
          <p:cNvSpPr/>
          <p:nvPr/>
        </p:nvSpPr>
        <p:spPr>
          <a:xfrm>
            <a:off x="3606800" y="2235200"/>
            <a:ext cx="2235200" cy="2362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tory-top-1">
            <a:extLst>
              <a:ext uri="{FF2B5EF4-FFF2-40B4-BE49-F238E27FC236}">
                <a16:creationId xmlns:a16="http://schemas.microsoft.com/office/drawing/2014/main" id="{6737D042-722E-23E8-32A8-7238A9EE6437}"/>
              </a:ext>
            </a:extLst>
          </p:cNvPr>
          <p:cNvSpPr/>
          <p:nvPr/>
        </p:nvSpPr>
        <p:spPr>
          <a:xfrm>
            <a:off x="3606800" y="2235200"/>
            <a:ext cx="2235200" cy="88900"/>
          </a:xfrm>
          <a:prstGeom prst="rect">
            <a:avLst/>
          </a:prstGeom>
          <a:solidFill>
            <a:srgbClr val="00AABE"/>
          </a:solidFill>
          <a:ln w="12700">
            <a:solidFill>
              <a:srgbClr val="00A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story-num-1">
            <a:extLst>
              <a:ext uri="{FF2B5EF4-FFF2-40B4-BE49-F238E27FC236}">
                <a16:creationId xmlns:a16="http://schemas.microsoft.com/office/drawing/2014/main" id="{468276E1-8596-CC3F-485C-032949C8085A}"/>
              </a:ext>
            </a:extLst>
          </p:cNvPr>
          <p:cNvSpPr txBox="1"/>
          <p:nvPr/>
        </p:nvSpPr>
        <p:spPr>
          <a:xfrm>
            <a:off x="3835400" y="2590800"/>
            <a:ext cx="533400" cy="276999"/>
          </a:xfrm>
          <a:prstGeom prst="rect">
            <a:avLst/>
          </a:prstGeom>
          <a:noFill/>
        </p:spPr>
        <p:txBody>
          <a:bodyPr vert="horz" wrap="square" lIns="0" tIns="0" rIns="0" bIns="0" rtlCol="0">
            <a:noAutofit/>
          </a:bodyPr>
          <a:lstStyle/>
          <a:p>
            <a:r>
              <a:rPr lang="en-US" altLang="zh-CN" sz="900" b="1">
                <a:solidFill>
                  <a:srgbClr val="536580"/>
                </a:solidFill>
                <a:latin typeface="Aptos" panose="020B0004020202020204" pitchFamily="34" charset="0"/>
              </a:rPr>
              <a:t>02</a:t>
            </a:r>
            <a:endParaRPr lang="zh-CN" altLang="en-US" sz="900" b="1">
              <a:solidFill>
                <a:srgbClr val="536580"/>
              </a:solidFill>
              <a:latin typeface="Aptos" panose="020B0004020202020204" pitchFamily="34" charset="0"/>
            </a:endParaRPr>
          </a:p>
        </p:txBody>
      </p:sp>
      <p:sp>
        <p:nvSpPr>
          <p:cNvPr id="22" name="story-title-1">
            <a:extLst>
              <a:ext uri="{FF2B5EF4-FFF2-40B4-BE49-F238E27FC236}">
                <a16:creationId xmlns:a16="http://schemas.microsoft.com/office/drawing/2014/main" id="{F39E9FF7-3C24-4290-B909-E37C76F7F502}"/>
              </a:ext>
            </a:extLst>
          </p:cNvPr>
          <p:cNvSpPr txBox="1"/>
          <p:nvPr/>
        </p:nvSpPr>
        <p:spPr>
          <a:xfrm>
            <a:off x="3835400" y="2997200"/>
            <a:ext cx="1676400" cy="276999"/>
          </a:xfrm>
          <a:prstGeom prst="rect">
            <a:avLst/>
          </a:prstGeom>
          <a:noFill/>
        </p:spPr>
        <p:txBody>
          <a:bodyPr vert="horz" wrap="square" lIns="0" tIns="0" rIns="0" bIns="0" rtlCol="0">
            <a:noAutofit/>
          </a:bodyPr>
          <a:lstStyle/>
          <a:p>
            <a:r>
              <a:rPr lang="en-US" altLang="zh-CN" sz="1700" b="1">
                <a:solidFill>
                  <a:srgbClr val="0D182C"/>
                </a:solidFill>
                <a:latin typeface="Aptos" panose="020B0004020202020204" pitchFamily="34" charset="0"/>
              </a:rPr>
              <a:t>Method</a:t>
            </a:r>
            <a:endParaRPr lang="zh-CN" altLang="en-US" sz="1700" b="1">
              <a:solidFill>
                <a:srgbClr val="0D182C"/>
              </a:solidFill>
              <a:latin typeface="Aptos" panose="020B0004020202020204" pitchFamily="34" charset="0"/>
            </a:endParaRPr>
          </a:p>
        </p:txBody>
      </p:sp>
      <p:sp>
        <p:nvSpPr>
          <p:cNvPr id="23" name="story-sub-1">
            <a:extLst>
              <a:ext uri="{FF2B5EF4-FFF2-40B4-BE49-F238E27FC236}">
                <a16:creationId xmlns:a16="http://schemas.microsoft.com/office/drawing/2014/main" id="{19978995-DB6A-F82A-882A-FCA79CF41F24}"/>
              </a:ext>
            </a:extLst>
          </p:cNvPr>
          <p:cNvSpPr txBox="1"/>
          <p:nvPr/>
        </p:nvSpPr>
        <p:spPr>
          <a:xfrm>
            <a:off x="3835400" y="3632200"/>
            <a:ext cx="1676400" cy="276999"/>
          </a:xfrm>
          <a:prstGeom prst="rect">
            <a:avLst/>
          </a:prstGeom>
          <a:noFill/>
        </p:spPr>
        <p:txBody>
          <a:bodyPr vert="horz" wrap="square" lIns="0" tIns="0" rIns="0" bIns="0" rtlCol="0">
            <a:noAutofit/>
          </a:bodyPr>
          <a:lstStyle/>
          <a:p>
            <a:r>
              <a:rPr lang="en-US" altLang="zh-CN" sz="920">
                <a:solidFill>
                  <a:srgbClr val="536580"/>
                </a:solidFill>
                <a:latin typeface="Aptos" panose="020B0004020202020204" pitchFamily="34" charset="0"/>
              </a:rPr>
              <a:t>Freeze denominator, controls, artifact, hash, and claim boundary.</a:t>
            </a:r>
            <a:endParaRPr lang="zh-CN" altLang="en-US" sz="920">
              <a:solidFill>
                <a:srgbClr val="536580"/>
              </a:solidFill>
              <a:latin typeface="Aptos" panose="020B0004020202020204" pitchFamily="34" charset="0"/>
            </a:endParaRPr>
          </a:p>
        </p:txBody>
      </p:sp>
      <p:cxnSp>
        <p:nvCxnSpPr>
          <p:cNvPr id="24" name="story-line-1">
            <a:extLst>
              <a:ext uri="{FF2B5EF4-FFF2-40B4-BE49-F238E27FC236}">
                <a16:creationId xmlns:a16="http://schemas.microsoft.com/office/drawing/2014/main" id="{47197CA2-3876-013C-E625-6980A589CBAA}"/>
              </a:ext>
            </a:extLst>
          </p:cNvPr>
          <p:cNvCxnSpPr/>
          <p:nvPr/>
        </p:nvCxnSpPr>
        <p:spPr>
          <a:xfrm>
            <a:off x="5842000" y="3416300"/>
            <a:ext cx="482600" cy="0"/>
          </a:xfrm>
          <a:prstGeom prst="line">
            <a:avLst/>
          </a:prstGeom>
          <a:ln w="25400">
            <a:solidFill>
              <a:srgbClr val="D2DCEB"/>
            </a:solidFill>
          </a:ln>
        </p:spPr>
        <p:style>
          <a:lnRef idx="1">
            <a:schemeClr val="accent1"/>
          </a:lnRef>
          <a:fillRef idx="0">
            <a:schemeClr val="accent1"/>
          </a:fillRef>
          <a:effectRef idx="0">
            <a:schemeClr val="accent1"/>
          </a:effectRef>
          <a:fontRef idx="minor">
            <a:schemeClr val="tx1"/>
          </a:fontRef>
        </p:style>
      </p:cxnSp>
      <p:sp>
        <p:nvSpPr>
          <p:cNvPr id="25" name="story-card-2">
            <a:extLst>
              <a:ext uri="{FF2B5EF4-FFF2-40B4-BE49-F238E27FC236}">
                <a16:creationId xmlns:a16="http://schemas.microsoft.com/office/drawing/2014/main" id="{E7516CA4-DC4F-13CB-C2D8-84CCFF7B54E2}"/>
              </a:ext>
            </a:extLst>
          </p:cNvPr>
          <p:cNvSpPr/>
          <p:nvPr/>
        </p:nvSpPr>
        <p:spPr>
          <a:xfrm>
            <a:off x="6324600" y="2235200"/>
            <a:ext cx="2235200" cy="2362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story-top-2">
            <a:extLst>
              <a:ext uri="{FF2B5EF4-FFF2-40B4-BE49-F238E27FC236}">
                <a16:creationId xmlns:a16="http://schemas.microsoft.com/office/drawing/2014/main" id="{0AE22896-F4B4-D216-F587-FCE1FD7877DF}"/>
              </a:ext>
            </a:extLst>
          </p:cNvPr>
          <p:cNvSpPr/>
          <p:nvPr/>
        </p:nvSpPr>
        <p:spPr>
          <a:xfrm>
            <a:off x="6324600" y="2235200"/>
            <a:ext cx="2235200" cy="88900"/>
          </a:xfrm>
          <a:prstGeom prst="rect">
            <a:avLst/>
          </a:prstGeom>
          <a:solidFill>
            <a:srgbClr val="EE9122"/>
          </a:solidFill>
          <a:ln w="12700">
            <a:solidFill>
              <a:srgbClr val="EE91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story-num-2">
            <a:extLst>
              <a:ext uri="{FF2B5EF4-FFF2-40B4-BE49-F238E27FC236}">
                <a16:creationId xmlns:a16="http://schemas.microsoft.com/office/drawing/2014/main" id="{A54D5BA7-706B-3417-F735-820CD6670316}"/>
              </a:ext>
            </a:extLst>
          </p:cNvPr>
          <p:cNvSpPr txBox="1"/>
          <p:nvPr/>
        </p:nvSpPr>
        <p:spPr>
          <a:xfrm>
            <a:off x="6553200" y="2590800"/>
            <a:ext cx="533400" cy="276999"/>
          </a:xfrm>
          <a:prstGeom prst="rect">
            <a:avLst/>
          </a:prstGeom>
          <a:noFill/>
        </p:spPr>
        <p:txBody>
          <a:bodyPr vert="horz" wrap="square" lIns="0" tIns="0" rIns="0" bIns="0" rtlCol="0">
            <a:noAutofit/>
          </a:bodyPr>
          <a:lstStyle/>
          <a:p>
            <a:r>
              <a:rPr lang="en-US" altLang="zh-CN" sz="900" b="1">
                <a:solidFill>
                  <a:srgbClr val="536580"/>
                </a:solidFill>
                <a:latin typeface="Aptos" panose="020B0004020202020204" pitchFamily="34" charset="0"/>
              </a:rPr>
              <a:t>03</a:t>
            </a:r>
            <a:endParaRPr lang="zh-CN" altLang="en-US" sz="900" b="1">
              <a:solidFill>
                <a:srgbClr val="536580"/>
              </a:solidFill>
              <a:latin typeface="Aptos" panose="020B0004020202020204" pitchFamily="34" charset="0"/>
            </a:endParaRPr>
          </a:p>
        </p:txBody>
      </p:sp>
      <p:sp>
        <p:nvSpPr>
          <p:cNvPr id="28" name="story-title-2">
            <a:extLst>
              <a:ext uri="{FF2B5EF4-FFF2-40B4-BE49-F238E27FC236}">
                <a16:creationId xmlns:a16="http://schemas.microsoft.com/office/drawing/2014/main" id="{6279D441-B64A-6599-A340-43B42EFE16B7}"/>
              </a:ext>
            </a:extLst>
          </p:cNvPr>
          <p:cNvSpPr txBox="1"/>
          <p:nvPr/>
        </p:nvSpPr>
        <p:spPr>
          <a:xfrm>
            <a:off x="6553200" y="2997200"/>
            <a:ext cx="1676400" cy="276999"/>
          </a:xfrm>
          <a:prstGeom prst="rect">
            <a:avLst/>
          </a:prstGeom>
          <a:noFill/>
        </p:spPr>
        <p:txBody>
          <a:bodyPr vert="horz" wrap="square" lIns="0" tIns="0" rIns="0" bIns="0" rtlCol="0">
            <a:noAutofit/>
          </a:bodyPr>
          <a:lstStyle/>
          <a:p>
            <a:r>
              <a:rPr lang="en-US" altLang="zh-CN" sz="1700" b="1">
                <a:solidFill>
                  <a:srgbClr val="0D182C"/>
                </a:solidFill>
                <a:latin typeface="Aptos" panose="020B0004020202020204" pitchFamily="34" charset="0"/>
              </a:rPr>
              <a:t>Evidence</a:t>
            </a:r>
            <a:endParaRPr lang="zh-CN" altLang="en-US" sz="1700" b="1">
              <a:solidFill>
                <a:srgbClr val="0D182C"/>
              </a:solidFill>
              <a:latin typeface="Aptos" panose="020B0004020202020204" pitchFamily="34" charset="0"/>
            </a:endParaRPr>
          </a:p>
        </p:txBody>
      </p:sp>
      <p:sp>
        <p:nvSpPr>
          <p:cNvPr id="29" name="story-sub-2">
            <a:extLst>
              <a:ext uri="{FF2B5EF4-FFF2-40B4-BE49-F238E27FC236}">
                <a16:creationId xmlns:a16="http://schemas.microsoft.com/office/drawing/2014/main" id="{7683CF45-B121-6D05-DDB2-0F4593E2435D}"/>
              </a:ext>
            </a:extLst>
          </p:cNvPr>
          <p:cNvSpPr txBox="1"/>
          <p:nvPr/>
        </p:nvSpPr>
        <p:spPr>
          <a:xfrm>
            <a:off x="6553200" y="3632200"/>
            <a:ext cx="1676400" cy="276999"/>
          </a:xfrm>
          <a:prstGeom prst="rect">
            <a:avLst/>
          </a:prstGeom>
          <a:noFill/>
        </p:spPr>
        <p:txBody>
          <a:bodyPr vert="horz" wrap="square" lIns="0" tIns="0" rIns="0" bIns="0" rtlCol="0">
            <a:noAutofit/>
          </a:bodyPr>
          <a:lstStyle/>
          <a:p>
            <a:r>
              <a:rPr lang="en-US" altLang="zh-CN" sz="920">
                <a:solidFill>
                  <a:srgbClr val="536580"/>
                </a:solidFill>
                <a:latin typeface="Aptos" panose="020B0004020202020204" pitchFamily="34" charset="0"/>
              </a:rPr>
              <a:t>Report positive evidence together with abstention and controls.</a:t>
            </a:r>
            <a:endParaRPr lang="zh-CN" altLang="en-US" sz="920">
              <a:solidFill>
                <a:srgbClr val="536580"/>
              </a:solidFill>
              <a:latin typeface="Aptos" panose="020B0004020202020204" pitchFamily="34" charset="0"/>
            </a:endParaRPr>
          </a:p>
        </p:txBody>
      </p:sp>
      <p:cxnSp>
        <p:nvCxnSpPr>
          <p:cNvPr id="30" name="story-line-2">
            <a:extLst>
              <a:ext uri="{FF2B5EF4-FFF2-40B4-BE49-F238E27FC236}">
                <a16:creationId xmlns:a16="http://schemas.microsoft.com/office/drawing/2014/main" id="{2C5AD309-C10F-C7AB-582A-9C2828037A25}"/>
              </a:ext>
            </a:extLst>
          </p:cNvPr>
          <p:cNvCxnSpPr/>
          <p:nvPr/>
        </p:nvCxnSpPr>
        <p:spPr>
          <a:xfrm>
            <a:off x="8559800" y="3416300"/>
            <a:ext cx="482600" cy="0"/>
          </a:xfrm>
          <a:prstGeom prst="line">
            <a:avLst/>
          </a:prstGeom>
          <a:ln w="25400">
            <a:solidFill>
              <a:srgbClr val="D2DCEB"/>
            </a:solidFill>
          </a:ln>
        </p:spPr>
        <p:style>
          <a:lnRef idx="1">
            <a:schemeClr val="accent1"/>
          </a:lnRef>
          <a:fillRef idx="0">
            <a:schemeClr val="accent1"/>
          </a:fillRef>
          <a:effectRef idx="0">
            <a:schemeClr val="accent1"/>
          </a:effectRef>
          <a:fontRef idx="minor">
            <a:schemeClr val="tx1"/>
          </a:fontRef>
        </p:style>
      </p:cxnSp>
      <p:sp>
        <p:nvSpPr>
          <p:cNvPr id="31" name="story-card-3">
            <a:extLst>
              <a:ext uri="{FF2B5EF4-FFF2-40B4-BE49-F238E27FC236}">
                <a16:creationId xmlns:a16="http://schemas.microsoft.com/office/drawing/2014/main" id="{59A7B599-AD8B-FC6F-CBBB-AA97F350DD2F}"/>
              </a:ext>
            </a:extLst>
          </p:cNvPr>
          <p:cNvSpPr/>
          <p:nvPr/>
        </p:nvSpPr>
        <p:spPr>
          <a:xfrm>
            <a:off x="9042400" y="2235200"/>
            <a:ext cx="2235200" cy="2362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story-top-3">
            <a:extLst>
              <a:ext uri="{FF2B5EF4-FFF2-40B4-BE49-F238E27FC236}">
                <a16:creationId xmlns:a16="http://schemas.microsoft.com/office/drawing/2014/main" id="{A40998B4-A9DC-BD3D-2F5E-3195C5101DA9}"/>
              </a:ext>
            </a:extLst>
          </p:cNvPr>
          <p:cNvSpPr/>
          <p:nvPr/>
        </p:nvSpPr>
        <p:spPr>
          <a:xfrm>
            <a:off x="9042400" y="2235200"/>
            <a:ext cx="2235200" cy="88900"/>
          </a:xfrm>
          <a:prstGeom prst="rect">
            <a:avLst/>
          </a:prstGeom>
          <a:solidFill>
            <a:srgbClr val="008E66"/>
          </a:solidFill>
          <a:ln w="12700">
            <a:solidFill>
              <a:srgbClr val="008E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story-num-3">
            <a:extLst>
              <a:ext uri="{FF2B5EF4-FFF2-40B4-BE49-F238E27FC236}">
                <a16:creationId xmlns:a16="http://schemas.microsoft.com/office/drawing/2014/main" id="{BA6825CA-D62C-9D81-1850-26F5BA1509AE}"/>
              </a:ext>
            </a:extLst>
          </p:cNvPr>
          <p:cNvSpPr txBox="1"/>
          <p:nvPr/>
        </p:nvSpPr>
        <p:spPr>
          <a:xfrm>
            <a:off x="9271000" y="2590800"/>
            <a:ext cx="533400" cy="276999"/>
          </a:xfrm>
          <a:prstGeom prst="rect">
            <a:avLst/>
          </a:prstGeom>
          <a:noFill/>
        </p:spPr>
        <p:txBody>
          <a:bodyPr vert="horz" wrap="square" lIns="0" tIns="0" rIns="0" bIns="0" rtlCol="0">
            <a:noAutofit/>
          </a:bodyPr>
          <a:lstStyle/>
          <a:p>
            <a:r>
              <a:rPr lang="en-US" altLang="zh-CN" sz="900" b="1">
                <a:solidFill>
                  <a:srgbClr val="536580"/>
                </a:solidFill>
                <a:latin typeface="Aptos" panose="020B0004020202020204" pitchFamily="34" charset="0"/>
              </a:rPr>
              <a:t>04</a:t>
            </a:r>
            <a:endParaRPr lang="zh-CN" altLang="en-US" sz="900" b="1">
              <a:solidFill>
                <a:srgbClr val="536580"/>
              </a:solidFill>
              <a:latin typeface="Aptos" panose="020B0004020202020204" pitchFamily="34" charset="0"/>
            </a:endParaRPr>
          </a:p>
        </p:txBody>
      </p:sp>
      <p:sp>
        <p:nvSpPr>
          <p:cNvPr id="34" name="story-title-3">
            <a:extLst>
              <a:ext uri="{FF2B5EF4-FFF2-40B4-BE49-F238E27FC236}">
                <a16:creationId xmlns:a16="http://schemas.microsoft.com/office/drawing/2014/main" id="{B026BF69-187A-223E-B094-3BDF2EE2F13C}"/>
              </a:ext>
            </a:extLst>
          </p:cNvPr>
          <p:cNvSpPr txBox="1"/>
          <p:nvPr/>
        </p:nvSpPr>
        <p:spPr>
          <a:xfrm>
            <a:off x="9271000" y="2997200"/>
            <a:ext cx="1676400" cy="276999"/>
          </a:xfrm>
          <a:prstGeom prst="rect">
            <a:avLst/>
          </a:prstGeom>
          <a:noFill/>
        </p:spPr>
        <p:txBody>
          <a:bodyPr vert="horz" wrap="square" lIns="0" tIns="0" rIns="0" bIns="0" rtlCol="0">
            <a:noAutofit/>
          </a:bodyPr>
          <a:lstStyle/>
          <a:p>
            <a:r>
              <a:rPr lang="en-US" altLang="zh-CN" sz="1700" b="1">
                <a:solidFill>
                  <a:srgbClr val="0D182C"/>
                </a:solidFill>
                <a:latin typeface="Aptos" panose="020B0004020202020204" pitchFamily="34" charset="0"/>
              </a:rPr>
              <a:t>Demo</a:t>
            </a:r>
            <a:endParaRPr lang="zh-CN" altLang="en-US" sz="1700" b="1">
              <a:solidFill>
                <a:srgbClr val="0D182C"/>
              </a:solidFill>
              <a:latin typeface="Aptos" panose="020B0004020202020204" pitchFamily="34" charset="0"/>
            </a:endParaRPr>
          </a:p>
        </p:txBody>
      </p:sp>
      <p:sp>
        <p:nvSpPr>
          <p:cNvPr id="35" name="story-sub-3">
            <a:extLst>
              <a:ext uri="{FF2B5EF4-FFF2-40B4-BE49-F238E27FC236}">
                <a16:creationId xmlns:a16="http://schemas.microsoft.com/office/drawing/2014/main" id="{FA357FD9-6B60-420E-987A-E2D4067FBAB0}"/>
              </a:ext>
            </a:extLst>
          </p:cNvPr>
          <p:cNvSpPr txBox="1"/>
          <p:nvPr/>
        </p:nvSpPr>
        <p:spPr>
          <a:xfrm>
            <a:off x="9271000" y="3632200"/>
            <a:ext cx="1676400" cy="276999"/>
          </a:xfrm>
          <a:prstGeom prst="rect">
            <a:avLst/>
          </a:prstGeom>
          <a:noFill/>
        </p:spPr>
        <p:txBody>
          <a:bodyPr vert="horz" wrap="square" lIns="0" tIns="0" rIns="0" bIns="0" rtlCol="0">
            <a:noAutofit/>
          </a:bodyPr>
          <a:lstStyle/>
          <a:p>
            <a:r>
              <a:rPr lang="en-US" altLang="zh-CN" sz="920">
                <a:solidFill>
                  <a:srgbClr val="536580"/>
                </a:solidFill>
                <a:latin typeface="Aptos" panose="020B0004020202020204" pitchFamily="34" charset="0"/>
              </a:rPr>
              <a:t>Show the submitted artifacts through the project page and repository.</a:t>
            </a:r>
            <a:endParaRPr lang="zh-CN" altLang="en-US" sz="920">
              <a:solidFill>
                <a:srgbClr val="536580"/>
              </a:solidFill>
              <a:latin typeface="Aptos" panose="020B0004020202020204" pitchFamily="34" charset="0"/>
            </a:endParaRPr>
          </a:p>
        </p:txBody>
      </p:sp>
      <p:sp>
        <p:nvSpPr>
          <p:cNvPr id="36" name="time-box">
            <a:extLst>
              <a:ext uri="{FF2B5EF4-FFF2-40B4-BE49-F238E27FC236}">
                <a16:creationId xmlns:a16="http://schemas.microsoft.com/office/drawing/2014/main" id="{BAD5335B-6538-CDD5-5A4E-A303774F7265}"/>
              </a:ext>
            </a:extLst>
          </p:cNvPr>
          <p:cNvSpPr/>
          <p:nvPr/>
        </p:nvSpPr>
        <p:spPr>
          <a:xfrm>
            <a:off x="1676400" y="5181600"/>
            <a:ext cx="8839200" cy="431800"/>
          </a:xfrm>
          <a:prstGeom prst="rect">
            <a:avLst/>
          </a:prstGeom>
          <a:solidFill>
            <a:srgbClr val="E7F1FF"/>
          </a:solidFill>
          <a:ln w="12700">
            <a:solidFill>
              <a:srgbClr val="AFCDF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time-text">
            <a:extLst>
              <a:ext uri="{FF2B5EF4-FFF2-40B4-BE49-F238E27FC236}">
                <a16:creationId xmlns:a16="http://schemas.microsoft.com/office/drawing/2014/main" id="{28F1B08E-E3E7-42FE-89CD-D0E018F1790B}"/>
              </a:ext>
            </a:extLst>
          </p:cNvPr>
          <p:cNvSpPr txBox="1"/>
          <p:nvPr/>
        </p:nvSpPr>
        <p:spPr>
          <a:xfrm>
            <a:off x="1955800" y="5321300"/>
            <a:ext cx="8255000" cy="276999"/>
          </a:xfrm>
          <a:prstGeom prst="rect">
            <a:avLst/>
          </a:prstGeom>
          <a:noFill/>
        </p:spPr>
        <p:txBody>
          <a:bodyPr vert="horz" wrap="square" lIns="0" tIns="0" rIns="0" bIns="0" rtlCol="0">
            <a:noAutofit/>
          </a:bodyPr>
          <a:lstStyle/>
          <a:p>
            <a:r>
              <a:rPr lang="en-US" altLang="zh-CN" sz="870" b="1">
                <a:solidFill>
                  <a:srgbClr val="004080"/>
                </a:solidFill>
                <a:latin typeface="Aptos" panose="020B0004020202020204" pitchFamily="34" charset="0"/>
              </a:rPr>
              <a:t>Target rhythm: 8 slides for the core story, 2 demo slides, 1 defense slide, then Q&amp;A.</a:t>
            </a:r>
            <a:endParaRPr lang="zh-CN" altLang="en-US" sz="870" b="1">
              <a:solidFill>
                <a:srgbClr val="004080"/>
              </a:solidFill>
              <a:latin typeface="Aptos" panose="020B0004020202020204" pitchFamily="34" charset="0"/>
            </a:endParaRPr>
          </a:p>
        </p:txBody>
      </p:sp>
    </p:spTree>
    <p:extLst>
      <p:ext uri="{BB962C8B-B14F-4D97-AF65-F5344CB8AC3E}">
        <p14:creationId xmlns:p14="http://schemas.microsoft.com/office/powerpoint/2010/main" val="1042263075"/>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7034BFAA-AF18-8B33-EEE3-86E8970A6917}"/>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3039EE19-01C5-A86C-DCFA-4B5D92A516ED}"/>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FB07C0D4-8A03-B8FD-2CF2-2BC54A4F0A9E}"/>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04206ADC-7343-4E32-FF56-E58D794F969B}"/>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4F4FCDB6-692E-1337-EC43-BC4EB29FCE15}"/>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2103848E-1884-918E-0E3E-64B427436975}"/>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03</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BD3B566D-9855-DDDC-ED10-DE95BE9F45EB}"/>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PROBLEM</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73C66F31-3D0D-874A-7AB9-80703B7AAE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EE80A7A1-EC93-FD44-5AD1-A44900390EED}"/>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Generated code moves after generation</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DB366D0A-7824-72DC-4DF9-2869D471D3EE}"/>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Once code leaves the chat window, the original context is no longer enough.</a:t>
            </a:r>
            <a:endParaRPr lang="zh-CN" altLang="en-US" sz="950">
              <a:solidFill>
                <a:srgbClr val="536580"/>
              </a:solidFill>
              <a:latin typeface="Aptos" panose="020B0004020202020204" pitchFamily="34" charset="0"/>
            </a:endParaRPr>
          </a:p>
        </p:txBody>
      </p:sp>
      <p:sp>
        <p:nvSpPr>
          <p:cNvPr id="13" name="code-panel">
            <a:extLst>
              <a:ext uri="{FF2B5EF4-FFF2-40B4-BE49-F238E27FC236}">
                <a16:creationId xmlns:a16="http://schemas.microsoft.com/office/drawing/2014/main" id="{926ED0B8-FB4C-5AC6-E82D-7B91BF3DD499}"/>
              </a:ext>
            </a:extLst>
          </p:cNvPr>
          <p:cNvSpPr/>
          <p:nvPr/>
        </p:nvSpPr>
        <p:spPr>
          <a:xfrm>
            <a:off x="889000" y="2006600"/>
            <a:ext cx="3810000" cy="2667000"/>
          </a:xfrm>
          <a:prstGeom prst="rect">
            <a:avLst/>
          </a:prstGeom>
          <a:solidFill>
            <a:srgbClr val="03204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code-title">
            <a:extLst>
              <a:ext uri="{FF2B5EF4-FFF2-40B4-BE49-F238E27FC236}">
                <a16:creationId xmlns:a16="http://schemas.microsoft.com/office/drawing/2014/main" id="{D6B8B76E-8D96-3A46-03A8-40BEBA26E252}"/>
              </a:ext>
            </a:extLst>
          </p:cNvPr>
          <p:cNvSpPr txBox="1"/>
          <p:nvPr/>
        </p:nvSpPr>
        <p:spPr>
          <a:xfrm>
            <a:off x="1193800" y="2286000"/>
            <a:ext cx="1524000" cy="276999"/>
          </a:xfrm>
          <a:prstGeom prst="rect">
            <a:avLst/>
          </a:prstGeom>
          <a:noFill/>
        </p:spPr>
        <p:txBody>
          <a:bodyPr vert="horz" wrap="square" lIns="0" tIns="0" rIns="0" bIns="0" rtlCol="0">
            <a:noAutofit/>
          </a:bodyPr>
          <a:lstStyle/>
          <a:p>
            <a:r>
              <a:rPr lang="en-US" altLang="zh-CN" sz="800" b="1">
                <a:solidFill>
                  <a:srgbClr val="C3DCF8"/>
                </a:solidFill>
                <a:latin typeface="Aptos" panose="020B0004020202020204" pitchFamily="34" charset="0"/>
              </a:rPr>
              <a:t>Generated snippet</a:t>
            </a:r>
            <a:endParaRPr lang="zh-CN" altLang="en-US" sz="800" b="1">
              <a:solidFill>
                <a:srgbClr val="C3DCF8"/>
              </a:solidFill>
              <a:latin typeface="Aptos" panose="020B0004020202020204" pitchFamily="34" charset="0"/>
            </a:endParaRPr>
          </a:p>
        </p:txBody>
      </p:sp>
      <p:sp>
        <p:nvSpPr>
          <p:cNvPr id="15" name="code">
            <a:extLst>
              <a:ext uri="{FF2B5EF4-FFF2-40B4-BE49-F238E27FC236}">
                <a16:creationId xmlns:a16="http://schemas.microsoft.com/office/drawing/2014/main" id="{A3B5C73F-6554-9DEF-6B62-5E5909D25277}"/>
              </a:ext>
            </a:extLst>
          </p:cNvPr>
          <p:cNvSpPr txBox="1"/>
          <p:nvPr/>
        </p:nvSpPr>
        <p:spPr>
          <a:xfrm>
            <a:off x="1193800" y="2705100"/>
            <a:ext cx="3098800" cy="276999"/>
          </a:xfrm>
          <a:prstGeom prst="rect">
            <a:avLst/>
          </a:prstGeom>
          <a:noFill/>
        </p:spPr>
        <p:txBody>
          <a:bodyPr vert="horz" wrap="square" lIns="0" tIns="0" rIns="0" bIns="0" rtlCol="0">
            <a:noAutofit/>
          </a:bodyPr>
          <a:lstStyle/>
          <a:p>
            <a:r>
              <a:rPr lang="en-US" altLang="zh-CN" sz="1200">
                <a:solidFill>
                  <a:srgbClr val="FFFFFF"/>
                </a:solidFill>
                <a:latin typeface="Consolas" panose="020B0609020204030204" pitchFamily="49" charset="0"/>
              </a:rPr>
              <a:t>def normalize_name(s):
    t = s.strip().lower()
    return t.replace('_', '-')
# later: copied, edited, translated</a:t>
            </a:r>
            <a:endParaRPr lang="zh-CN" altLang="en-US" sz="1200">
              <a:solidFill>
                <a:srgbClr val="FFFFFF"/>
              </a:solidFill>
              <a:latin typeface="Consolas" panose="020B0609020204030204" pitchFamily="49" charset="0"/>
            </a:endParaRPr>
          </a:p>
        </p:txBody>
      </p:sp>
      <p:sp>
        <p:nvSpPr>
          <p:cNvPr id="16" name="flow-box-0">
            <a:extLst>
              <a:ext uri="{FF2B5EF4-FFF2-40B4-BE49-F238E27FC236}">
                <a16:creationId xmlns:a16="http://schemas.microsoft.com/office/drawing/2014/main" id="{29060469-4CE5-56FF-5A2A-E3BDF7F0E64C}"/>
              </a:ext>
            </a:extLst>
          </p:cNvPr>
          <p:cNvSpPr/>
          <p:nvPr/>
        </p:nvSpPr>
        <p:spPr>
          <a:xfrm>
            <a:off x="5588000" y="2463800"/>
            <a:ext cx="1041400" cy="1041400"/>
          </a:xfrm>
          <a:prstGeom prst="rect">
            <a:avLst/>
          </a:prstGeom>
          <a:solidFill>
            <a:srgbClr val="2369C8"/>
          </a:solidFill>
          <a:ln w="12700">
            <a:solidFill>
              <a:srgbClr val="2369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flow-title-0">
            <a:extLst>
              <a:ext uri="{FF2B5EF4-FFF2-40B4-BE49-F238E27FC236}">
                <a16:creationId xmlns:a16="http://schemas.microsoft.com/office/drawing/2014/main" id="{D3E4BDF9-C775-1910-5AFD-64AF49B8822F}"/>
              </a:ext>
            </a:extLst>
          </p:cNvPr>
          <p:cNvSpPr txBox="1"/>
          <p:nvPr/>
        </p:nvSpPr>
        <p:spPr>
          <a:xfrm>
            <a:off x="5715000" y="2743200"/>
            <a:ext cx="787400" cy="276999"/>
          </a:xfrm>
          <a:prstGeom prst="rect">
            <a:avLst/>
          </a:prstGeom>
          <a:noFill/>
        </p:spPr>
        <p:txBody>
          <a:bodyPr vert="horz" wrap="square" lIns="0" tIns="0" rIns="0" bIns="0" rtlCol="0">
            <a:noAutofit/>
          </a:bodyPr>
          <a:lstStyle/>
          <a:p>
            <a:r>
              <a:rPr lang="en-US" altLang="zh-CN" sz="950" b="1">
                <a:solidFill>
                  <a:srgbClr val="FFFFFF"/>
                </a:solidFill>
                <a:latin typeface="Aptos" panose="020B0004020202020204" pitchFamily="34" charset="0"/>
              </a:rPr>
              <a:t>Generate</a:t>
            </a:r>
            <a:endParaRPr lang="zh-CN" altLang="en-US" sz="950" b="1">
              <a:solidFill>
                <a:srgbClr val="FFFFFF"/>
              </a:solidFill>
              <a:latin typeface="Aptos" panose="020B0004020202020204" pitchFamily="34" charset="0"/>
            </a:endParaRPr>
          </a:p>
        </p:txBody>
      </p:sp>
      <p:sp>
        <p:nvSpPr>
          <p:cNvPr id="18" name="flow-sub-0">
            <a:extLst>
              <a:ext uri="{FF2B5EF4-FFF2-40B4-BE49-F238E27FC236}">
                <a16:creationId xmlns:a16="http://schemas.microsoft.com/office/drawing/2014/main" id="{449A2BE7-75D5-26C9-C275-34A9906AC8F8}"/>
              </a:ext>
            </a:extLst>
          </p:cNvPr>
          <p:cNvSpPr txBox="1"/>
          <p:nvPr/>
        </p:nvSpPr>
        <p:spPr>
          <a:xfrm>
            <a:off x="5715000" y="3086100"/>
            <a:ext cx="787400" cy="276999"/>
          </a:xfrm>
          <a:prstGeom prst="rect">
            <a:avLst/>
          </a:prstGeom>
          <a:noFill/>
        </p:spPr>
        <p:txBody>
          <a:bodyPr vert="horz" wrap="square" lIns="0" tIns="0" rIns="0" bIns="0" rtlCol="0">
            <a:noAutofit/>
          </a:bodyPr>
          <a:lstStyle/>
          <a:p>
            <a:r>
              <a:rPr lang="en-US" altLang="zh-CN" sz="680">
                <a:solidFill>
                  <a:srgbClr val="FFFFFF"/>
                </a:solidFill>
                <a:latin typeface="Aptos" panose="020B0004020202020204" pitchFamily="34" charset="0"/>
              </a:rPr>
              <a:t>model output</a:t>
            </a:r>
            <a:endParaRPr lang="zh-CN" altLang="en-US" sz="680">
              <a:solidFill>
                <a:srgbClr val="FFFFFF"/>
              </a:solidFill>
              <a:latin typeface="Aptos" panose="020B0004020202020204" pitchFamily="34" charset="0"/>
            </a:endParaRPr>
          </a:p>
        </p:txBody>
      </p:sp>
      <p:cxnSp>
        <p:nvCxnSpPr>
          <p:cNvPr id="19" name="flow-arrow-0">
            <a:extLst>
              <a:ext uri="{FF2B5EF4-FFF2-40B4-BE49-F238E27FC236}">
                <a16:creationId xmlns:a16="http://schemas.microsoft.com/office/drawing/2014/main" id="{F18CE2CD-24F2-9AA5-0E84-582189743423}"/>
              </a:ext>
            </a:extLst>
          </p:cNvPr>
          <p:cNvCxnSpPr/>
          <p:nvPr/>
        </p:nvCxnSpPr>
        <p:spPr>
          <a:xfrm>
            <a:off x="6680200" y="2984500"/>
            <a:ext cx="279400" cy="0"/>
          </a:xfrm>
          <a:prstGeom prst="line">
            <a:avLst/>
          </a:prstGeom>
          <a:ln w="25400">
            <a:solidFill>
              <a:srgbClr val="536580"/>
            </a:solidFill>
          </a:ln>
        </p:spPr>
        <p:style>
          <a:lnRef idx="1">
            <a:schemeClr val="accent1"/>
          </a:lnRef>
          <a:fillRef idx="0">
            <a:schemeClr val="accent1"/>
          </a:fillRef>
          <a:effectRef idx="0">
            <a:schemeClr val="accent1"/>
          </a:effectRef>
          <a:fontRef idx="minor">
            <a:schemeClr val="tx1"/>
          </a:fontRef>
        </p:style>
      </p:cxnSp>
      <p:sp>
        <p:nvSpPr>
          <p:cNvPr id="20" name="flow-box-1">
            <a:extLst>
              <a:ext uri="{FF2B5EF4-FFF2-40B4-BE49-F238E27FC236}">
                <a16:creationId xmlns:a16="http://schemas.microsoft.com/office/drawing/2014/main" id="{8E2BDBD0-04DA-6407-A026-99CFE4548D0C}"/>
              </a:ext>
            </a:extLst>
          </p:cNvPr>
          <p:cNvSpPr/>
          <p:nvPr/>
        </p:nvSpPr>
        <p:spPr>
          <a:xfrm>
            <a:off x="7010400" y="2463800"/>
            <a:ext cx="1041400" cy="1041400"/>
          </a:xfrm>
          <a:prstGeom prst="rect">
            <a:avLst/>
          </a:prstGeom>
          <a:solidFill>
            <a:srgbClr val="00AABE"/>
          </a:solidFill>
          <a:ln w="12700">
            <a:solidFill>
              <a:srgbClr val="00A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flow-title-1">
            <a:extLst>
              <a:ext uri="{FF2B5EF4-FFF2-40B4-BE49-F238E27FC236}">
                <a16:creationId xmlns:a16="http://schemas.microsoft.com/office/drawing/2014/main" id="{04B53322-944B-1C44-B0A3-92A8113FDE2D}"/>
              </a:ext>
            </a:extLst>
          </p:cNvPr>
          <p:cNvSpPr txBox="1"/>
          <p:nvPr/>
        </p:nvSpPr>
        <p:spPr>
          <a:xfrm>
            <a:off x="7137400" y="2743200"/>
            <a:ext cx="787400" cy="276999"/>
          </a:xfrm>
          <a:prstGeom prst="rect">
            <a:avLst/>
          </a:prstGeom>
          <a:noFill/>
        </p:spPr>
        <p:txBody>
          <a:bodyPr vert="horz" wrap="square" lIns="0" tIns="0" rIns="0" bIns="0" rtlCol="0">
            <a:noAutofit/>
          </a:bodyPr>
          <a:lstStyle/>
          <a:p>
            <a:r>
              <a:rPr lang="en-US" altLang="zh-CN" sz="950" b="1">
                <a:solidFill>
                  <a:srgbClr val="FFFFFF"/>
                </a:solidFill>
                <a:latin typeface="Aptos" panose="020B0004020202020204" pitchFamily="34" charset="0"/>
              </a:rPr>
              <a:t>Edit</a:t>
            </a:r>
            <a:endParaRPr lang="zh-CN" altLang="en-US" sz="950" b="1">
              <a:solidFill>
                <a:srgbClr val="FFFFFF"/>
              </a:solidFill>
              <a:latin typeface="Aptos" panose="020B0004020202020204" pitchFamily="34" charset="0"/>
            </a:endParaRPr>
          </a:p>
        </p:txBody>
      </p:sp>
      <p:sp>
        <p:nvSpPr>
          <p:cNvPr id="22" name="flow-sub-1">
            <a:extLst>
              <a:ext uri="{FF2B5EF4-FFF2-40B4-BE49-F238E27FC236}">
                <a16:creationId xmlns:a16="http://schemas.microsoft.com/office/drawing/2014/main" id="{17EEB471-A8E6-B972-A2B9-F7892659CC72}"/>
              </a:ext>
            </a:extLst>
          </p:cNvPr>
          <p:cNvSpPr txBox="1"/>
          <p:nvPr/>
        </p:nvSpPr>
        <p:spPr>
          <a:xfrm>
            <a:off x="7137400" y="3086100"/>
            <a:ext cx="787400" cy="276999"/>
          </a:xfrm>
          <a:prstGeom prst="rect">
            <a:avLst/>
          </a:prstGeom>
          <a:noFill/>
        </p:spPr>
        <p:txBody>
          <a:bodyPr vert="horz" wrap="square" lIns="0" tIns="0" rIns="0" bIns="0" rtlCol="0">
            <a:noAutofit/>
          </a:bodyPr>
          <a:lstStyle/>
          <a:p>
            <a:r>
              <a:rPr lang="en-US" altLang="zh-CN" sz="680">
                <a:solidFill>
                  <a:srgbClr val="FFFFFF"/>
                </a:solidFill>
                <a:latin typeface="Aptos" panose="020B0004020202020204" pitchFamily="34" charset="0"/>
              </a:rPr>
              <a:t>human change</a:t>
            </a:r>
            <a:endParaRPr lang="zh-CN" altLang="en-US" sz="680">
              <a:solidFill>
                <a:srgbClr val="FFFFFF"/>
              </a:solidFill>
              <a:latin typeface="Aptos" panose="020B0004020202020204" pitchFamily="34" charset="0"/>
            </a:endParaRPr>
          </a:p>
        </p:txBody>
      </p:sp>
      <p:cxnSp>
        <p:nvCxnSpPr>
          <p:cNvPr id="23" name="flow-arrow-1">
            <a:extLst>
              <a:ext uri="{FF2B5EF4-FFF2-40B4-BE49-F238E27FC236}">
                <a16:creationId xmlns:a16="http://schemas.microsoft.com/office/drawing/2014/main" id="{E24C4D3F-1304-7559-AAC0-E0A738C7D877}"/>
              </a:ext>
            </a:extLst>
          </p:cNvPr>
          <p:cNvCxnSpPr/>
          <p:nvPr/>
        </p:nvCxnSpPr>
        <p:spPr>
          <a:xfrm>
            <a:off x="8102600" y="2984500"/>
            <a:ext cx="279400" cy="0"/>
          </a:xfrm>
          <a:prstGeom prst="line">
            <a:avLst/>
          </a:prstGeom>
          <a:ln w="25400">
            <a:solidFill>
              <a:srgbClr val="536580"/>
            </a:solidFill>
          </a:ln>
        </p:spPr>
        <p:style>
          <a:lnRef idx="1">
            <a:schemeClr val="accent1"/>
          </a:lnRef>
          <a:fillRef idx="0">
            <a:schemeClr val="accent1"/>
          </a:fillRef>
          <a:effectRef idx="0">
            <a:schemeClr val="accent1"/>
          </a:effectRef>
          <a:fontRef idx="minor">
            <a:schemeClr val="tx1"/>
          </a:fontRef>
        </p:style>
      </p:cxnSp>
      <p:sp>
        <p:nvSpPr>
          <p:cNvPr id="24" name="flow-box-2">
            <a:extLst>
              <a:ext uri="{FF2B5EF4-FFF2-40B4-BE49-F238E27FC236}">
                <a16:creationId xmlns:a16="http://schemas.microsoft.com/office/drawing/2014/main" id="{BEFD28E5-E6FA-91A3-FBC5-860CE1E186C6}"/>
              </a:ext>
            </a:extLst>
          </p:cNvPr>
          <p:cNvSpPr/>
          <p:nvPr/>
        </p:nvSpPr>
        <p:spPr>
          <a:xfrm>
            <a:off x="8432800" y="2463800"/>
            <a:ext cx="1041400" cy="1041400"/>
          </a:xfrm>
          <a:prstGeom prst="rect">
            <a:avLst/>
          </a:prstGeom>
          <a:solidFill>
            <a:srgbClr val="784CD2"/>
          </a:solidFill>
          <a:ln w="12700">
            <a:solidFill>
              <a:srgbClr val="784CD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flow-title-2">
            <a:extLst>
              <a:ext uri="{FF2B5EF4-FFF2-40B4-BE49-F238E27FC236}">
                <a16:creationId xmlns:a16="http://schemas.microsoft.com/office/drawing/2014/main" id="{7C172B0A-3E0F-C865-0402-44FB5729FB6B}"/>
              </a:ext>
            </a:extLst>
          </p:cNvPr>
          <p:cNvSpPr txBox="1"/>
          <p:nvPr/>
        </p:nvSpPr>
        <p:spPr>
          <a:xfrm>
            <a:off x="8559800" y="2743200"/>
            <a:ext cx="787400" cy="276999"/>
          </a:xfrm>
          <a:prstGeom prst="rect">
            <a:avLst/>
          </a:prstGeom>
          <a:noFill/>
        </p:spPr>
        <p:txBody>
          <a:bodyPr vert="horz" wrap="square" lIns="0" tIns="0" rIns="0" bIns="0" rtlCol="0">
            <a:noAutofit/>
          </a:bodyPr>
          <a:lstStyle/>
          <a:p>
            <a:r>
              <a:rPr lang="en-US" altLang="zh-CN" sz="950" b="1">
                <a:solidFill>
                  <a:srgbClr val="FFFFFF"/>
                </a:solidFill>
                <a:latin typeface="Aptos" panose="020B0004020202020204" pitchFamily="34" charset="0"/>
              </a:rPr>
              <a:t>Reuse</a:t>
            </a:r>
            <a:endParaRPr lang="zh-CN" altLang="en-US" sz="950" b="1">
              <a:solidFill>
                <a:srgbClr val="FFFFFF"/>
              </a:solidFill>
              <a:latin typeface="Aptos" panose="020B0004020202020204" pitchFamily="34" charset="0"/>
            </a:endParaRPr>
          </a:p>
        </p:txBody>
      </p:sp>
      <p:sp>
        <p:nvSpPr>
          <p:cNvPr id="26" name="flow-sub-2">
            <a:extLst>
              <a:ext uri="{FF2B5EF4-FFF2-40B4-BE49-F238E27FC236}">
                <a16:creationId xmlns:a16="http://schemas.microsoft.com/office/drawing/2014/main" id="{02B4B23A-8B8B-2AC9-B224-1724484E5ADF}"/>
              </a:ext>
            </a:extLst>
          </p:cNvPr>
          <p:cNvSpPr txBox="1"/>
          <p:nvPr/>
        </p:nvSpPr>
        <p:spPr>
          <a:xfrm>
            <a:off x="8559800" y="3086100"/>
            <a:ext cx="787400" cy="276999"/>
          </a:xfrm>
          <a:prstGeom prst="rect">
            <a:avLst/>
          </a:prstGeom>
          <a:noFill/>
        </p:spPr>
        <p:txBody>
          <a:bodyPr vert="horz" wrap="square" lIns="0" tIns="0" rIns="0" bIns="0" rtlCol="0">
            <a:noAutofit/>
          </a:bodyPr>
          <a:lstStyle/>
          <a:p>
            <a:r>
              <a:rPr lang="en-US" altLang="zh-CN" sz="680">
                <a:solidFill>
                  <a:srgbClr val="FFFFFF"/>
                </a:solidFill>
                <a:latin typeface="Aptos" panose="020B0004020202020204" pitchFamily="34" charset="0"/>
              </a:rPr>
              <a:t>new repo</a:t>
            </a:r>
            <a:endParaRPr lang="zh-CN" altLang="en-US" sz="680">
              <a:solidFill>
                <a:srgbClr val="FFFFFF"/>
              </a:solidFill>
              <a:latin typeface="Aptos" panose="020B0004020202020204" pitchFamily="34" charset="0"/>
            </a:endParaRPr>
          </a:p>
        </p:txBody>
      </p:sp>
      <p:cxnSp>
        <p:nvCxnSpPr>
          <p:cNvPr id="27" name="flow-arrow-2">
            <a:extLst>
              <a:ext uri="{FF2B5EF4-FFF2-40B4-BE49-F238E27FC236}">
                <a16:creationId xmlns:a16="http://schemas.microsoft.com/office/drawing/2014/main" id="{04F0EB81-5B66-5870-F8C2-6F43871FFDC4}"/>
              </a:ext>
            </a:extLst>
          </p:cNvPr>
          <p:cNvCxnSpPr/>
          <p:nvPr/>
        </p:nvCxnSpPr>
        <p:spPr>
          <a:xfrm>
            <a:off x="9525000" y="2984500"/>
            <a:ext cx="279400" cy="0"/>
          </a:xfrm>
          <a:prstGeom prst="line">
            <a:avLst/>
          </a:prstGeom>
          <a:ln w="25400">
            <a:solidFill>
              <a:srgbClr val="536580"/>
            </a:solidFill>
          </a:ln>
        </p:spPr>
        <p:style>
          <a:lnRef idx="1">
            <a:schemeClr val="accent1"/>
          </a:lnRef>
          <a:fillRef idx="0">
            <a:schemeClr val="accent1"/>
          </a:fillRef>
          <a:effectRef idx="0">
            <a:schemeClr val="accent1"/>
          </a:effectRef>
          <a:fontRef idx="minor">
            <a:schemeClr val="tx1"/>
          </a:fontRef>
        </p:style>
      </p:cxnSp>
      <p:sp>
        <p:nvSpPr>
          <p:cNvPr id="28" name="flow-box-3">
            <a:extLst>
              <a:ext uri="{FF2B5EF4-FFF2-40B4-BE49-F238E27FC236}">
                <a16:creationId xmlns:a16="http://schemas.microsoft.com/office/drawing/2014/main" id="{2C1CBFCA-8514-AE88-B8BF-D60B74D00BB7}"/>
              </a:ext>
            </a:extLst>
          </p:cNvPr>
          <p:cNvSpPr/>
          <p:nvPr/>
        </p:nvSpPr>
        <p:spPr>
          <a:xfrm>
            <a:off x="9855200" y="2463800"/>
            <a:ext cx="1041400" cy="1041400"/>
          </a:xfrm>
          <a:prstGeom prst="rect">
            <a:avLst/>
          </a:prstGeom>
          <a:solidFill>
            <a:srgbClr val="EE9122"/>
          </a:solidFill>
          <a:ln w="12700">
            <a:solidFill>
              <a:srgbClr val="EE91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flow-title-3">
            <a:extLst>
              <a:ext uri="{FF2B5EF4-FFF2-40B4-BE49-F238E27FC236}">
                <a16:creationId xmlns:a16="http://schemas.microsoft.com/office/drawing/2014/main" id="{7AA10783-BA85-EE46-A28A-FED939627AC5}"/>
              </a:ext>
            </a:extLst>
          </p:cNvPr>
          <p:cNvSpPr txBox="1"/>
          <p:nvPr/>
        </p:nvSpPr>
        <p:spPr>
          <a:xfrm>
            <a:off x="9982200" y="2743200"/>
            <a:ext cx="787400" cy="276999"/>
          </a:xfrm>
          <a:prstGeom prst="rect">
            <a:avLst/>
          </a:prstGeom>
          <a:noFill/>
        </p:spPr>
        <p:txBody>
          <a:bodyPr vert="horz" wrap="square" lIns="0" tIns="0" rIns="0" bIns="0" rtlCol="0">
            <a:noAutofit/>
          </a:bodyPr>
          <a:lstStyle/>
          <a:p>
            <a:r>
              <a:rPr lang="en-US" altLang="zh-CN" sz="950" b="1">
                <a:solidFill>
                  <a:srgbClr val="FFFFFF"/>
                </a:solidFill>
                <a:latin typeface="Aptos" panose="020B0004020202020204" pitchFamily="34" charset="0"/>
              </a:rPr>
              <a:t>Audit</a:t>
            </a:r>
            <a:endParaRPr lang="zh-CN" altLang="en-US" sz="950" b="1">
              <a:solidFill>
                <a:srgbClr val="FFFFFF"/>
              </a:solidFill>
              <a:latin typeface="Aptos" panose="020B0004020202020204" pitchFamily="34" charset="0"/>
            </a:endParaRPr>
          </a:p>
        </p:txBody>
      </p:sp>
      <p:sp>
        <p:nvSpPr>
          <p:cNvPr id="30" name="flow-sub-3">
            <a:extLst>
              <a:ext uri="{FF2B5EF4-FFF2-40B4-BE49-F238E27FC236}">
                <a16:creationId xmlns:a16="http://schemas.microsoft.com/office/drawing/2014/main" id="{BF09F8C7-7CD1-FA09-55E7-37AC5CCF2873}"/>
              </a:ext>
            </a:extLst>
          </p:cNvPr>
          <p:cNvSpPr txBox="1"/>
          <p:nvPr/>
        </p:nvSpPr>
        <p:spPr>
          <a:xfrm>
            <a:off x="9982200" y="3086100"/>
            <a:ext cx="787400" cy="276999"/>
          </a:xfrm>
          <a:prstGeom prst="rect">
            <a:avLst/>
          </a:prstGeom>
          <a:noFill/>
        </p:spPr>
        <p:txBody>
          <a:bodyPr vert="horz" wrap="square" lIns="0" tIns="0" rIns="0" bIns="0" rtlCol="0">
            <a:noAutofit/>
          </a:bodyPr>
          <a:lstStyle/>
          <a:p>
            <a:r>
              <a:rPr lang="en-US" altLang="zh-CN" sz="680">
                <a:solidFill>
                  <a:srgbClr val="FFFFFF"/>
                </a:solidFill>
                <a:latin typeface="Aptos" panose="020B0004020202020204" pitchFamily="34" charset="0"/>
              </a:rPr>
              <a:t>bounded claim</a:t>
            </a:r>
            <a:endParaRPr lang="zh-CN" altLang="en-US" sz="680">
              <a:solidFill>
                <a:srgbClr val="FFFFFF"/>
              </a:solidFill>
              <a:latin typeface="Aptos" panose="020B0004020202020204" pitchFamily="34" charset="0"/>
            </a:endParaRPr>
          </a:p>
        </p:txBody>
      </p:sp>
      <p:sp>
        <p:nvSpPr>
          <p:cNvPr id="31" name="question">
            <a:extLst>
              <a:ext uri="{FF2B5EF4-FFF2-40B4-BE49-F238E27FC236}">
                <a16:creationId xmlns:a16="http://schemas.microsoft.com/office/drawing/2014/main" id="{0B96C2D9-5DEF-DDE2-E595-AAF447FAA175}"/>
              </a:ext>
            </a:extLst>
          </p:cNvPr>
          <p:cNvSpPr/>
          <p:nvPr/>
        </p:nvSpPr>
        <p:spPr>
          <a:xfrm>
            <a:off x="2057400" y="5283200"/>
            <a:ext cx="8077200" cy="457200"/>
          </a:xfrm>
          <a:prstGeom prst="rect">
            <a:avLst/>
          </a:prstGeom>
          <a:solidFill>
            <a:srgbClr val="FFF5E0"/>
          </a:solidFill>
          <a:ln w="12700">
            <a:solidFill>
              <a:srgbClr val="F5BE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question-text">
            <a:extLst>
              <a:ext uri="{FF2B5EF4-FFF2-40B4-BE49-F238E27FC236}">
                <a16:creationId xmlns:a16="http://schemas.microsoft.com/office/drawing/2014/main" id="{58CF1D6D-48C6-6449-3038-D1198C7E5423}"/>
              </a:ext>
            </a:extLst>
          </p:cNvPr>
          <p:cNvSpPr txBox="1"/>
          <p:nvPr/>
        </p:nvSpPr>
        <p:spPr>
          <a:xfrm>
            <a:off x="2463800" y="5422900"/>
            <a:ext cx="7289800" cy="276999"/>
          </a:xfrm>
          <a:prstGeom prst="rect">
            <a:avLst/>
          </a:prstGeom>
          <a:noFill/>
        </p:spPr>
        <p:txBody>
          <a:bodyPr vert="horz" wrap="square" lIns="0" tIns="0" rIns="0" bIns="0" rtlCol="0">
            <a:noAutofit/>
          </a:bodyPr>
          <a:lstStyle/>
          <a:p>
            <a:r>
              <a:rPr lang="en-US" altLang="zh-CN" sz="920" b="1">
                <a:solidFill>
                  <a:srgbClr val="5C3A0C"/>
                </a:solidFill>
                <a:latin typeface="Aptos" panose="020B0004020202020204" pitchFamily="34" charset="0"/>
              </a:rPr>
              <a:t>The viva question: what can still be claimed after the code has moved?</a:t>
            </a:r>
            <a:endParaRPr lang="zh-CN" altLang="en-US" sz="920" b="1">
              <a:solidFill>
                <a:srgbClr val="5C3A0C"/>
              </a:solidFill>
              <a:latin typeface="Aptos" panose="020B0004020202020204" pitchFamily="34" charset="0"/>
            </a:endParaRPr>
          </a:p>
        </p:txBody>
      </p:sp>
    </p:spTree>
    <p:extLst>
      <p:ext uri="{BB962C8B-B14F-4D97-AF65-F5344CB8AC3E}">
        <p14:creationId xmlns:p14="http://schemas.microsoft.com/office/powerpoint/2010/main" val="2959212323"/>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4E06CC28-88CD-7C9F-3775-D5B7D791E847}"/>
              </a:ext>
            </a:extLst>
          </p:cNvPr>
          <p:cNvSpPr/>
          <p:nvPr/>
        </p:nvSpPr>
        <p:spPr>
          <a:xfrm>
            <a:off x="0" y="0"/>
            <a:ext cx="121920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dark-panel">
            <a:extLst>
              <a:ext uri="{FF2B5EF4-FFF2-40B4-BE49-F238E27FC236}">
                <a16:creationId xmlns:a16="http://schemas.microsoft.com/office/drawing/2014/main" id="{29DEDBD0-0059-45E6-1BCB-9BCE2D16CA6F}"/>
              </a:ext>
            </a:extLst>
          </p:cNvPr>
          <p:cNvSpPr/>
          <p:nvPr/>
        </p:nvSpPr>
        <p:spPr>
          <a:xfrm>
            <a:off x="0" y="0"/>
            <a:ext cx="12192000" cy="6858000"/>
          </a:xfrm>
          <a:prstGeom prst="rect">
            <a:avLst/>
          </a:prstGeom>
          <a:solidFill>
            <a:srgbClr val="032048">
              <a:alpha val="9000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grid-v-0">
            <a:extLst>
              <a:ext uri="{FF2B5EF4-FFF2-40B4-BE49-F238E27FC236}">
                <a16:creationId xmlns:a16="http://schemas.microsoft.com/office/drawing/2014/main" id="{5F7A3973-DA45-6AA0-EE73-2268D6880538}"/>
              </a:ext>
            </a:extLst>
          </p:cNvPr>
          <p:cNvCxnSpPr/>
          <p:nvPr/>
        </p:nvCxnSpPr>
        <p:spPr>
          <a:xfrm>
            <a:off x="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5" name="grid-v-64">
            <a:extLst>
              <a:ext uri="{FF2B5EF4-FFF2-40B4-BE49-F238E27FC236}">
                <a16:creationId xmlns:a16="http://schemas.microsoft.com/office/drawing/2014/main" id="{E4C6CBC2-9FF1-249B-9ACA-211C598EA492}"/>
              </a:ext>
            </a:extLst>
          </p:cNvPr>
          <p:cNvCxnSpPr/>
          <p:nvPr/>
        </p:nvCxnSpPr>
        <p:spPr>
          <a:xfrm>
            <a:off x="812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6" name="grid-v-128">
            <a:extLst>
              <a:ext uri="{FF2B5EF4-FFF2-40B4-BE49-F238E27FC236}">
                <a16:creationId xmlns:a16="http://schemas.microsoft.com/office/drawing/2014/main" id="{A4EB6B0D-CA08-7A97-BC09-55A3BDB4F338}"/>
              </a:ext>
            </a:extLst>
          </p:cNvPr>
          <p:cNvCxnSpPr/>
          <p:nvPr/>
        </p:nvCxnSpPr>
        <p:spPr>
          <a:xfrm>
            <a:off x="1625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7" name="grid-v-192">
            <a:extLst>
              <a:ext uri="{FF2B5EF4-FFF2-40B4-BE49-F238E27FC236}">
                <a16:creationId xmlns:a16="http://schemas.microsoft.com/office/drawing/2014/main" id="{16D62C9B-15BC-4882-C5B5-07E3D5D81E38}"/>
              </a:ext>
            </a:extLst>
          </p:cNvPr>
          <p:cNvCxnSpPr/>
          <p:nvPr/>
        </p:nvCxnSpPr>
        <p:spPr>
          <a:xfrm>
            <a:off x="2438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8" name="grid-v-256">
            <a:extLst>
              <a:ext uri="{FF2B5EF4-FFF2-40B4-BE49-F238E27FC236}">
                <a16:creationId xmlns:a16="http://schemas.microsoft.com/office/drawing/2014/main" id="{28851002-1AD8-A1D5-3F0E-DD0E0CA86E9A}"/>
              </a:ext>
            </a:extLst>
          </p:cNvPr>
          <p:cNvCxnSpPr/>
          <p:nvPr/>
        </p:nvCxnSpPr>
        <p:spPr>
          <a:xfrm>
            <a:off x="3251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9" name="grid-v-320">
            <a:extLst>
              <a:ext uri="{FF2B5EF4-FFF2-40B4-BE49-F238E27FC236}">
                <a16:creationId xmlns:a16="http://schemas.microsoft.com/office/drawing/2014/main" id="{53473C06-6A69-DDF9-BBD9-DBF878AC6E67}"/>
              </a:ext>
            </a:extLst>
          </p:cNvPr>
          <p:cNvCxnSpPr/>
          <p:nvPr/>
        </p:nvCxnSpPr>
        <p:spPr>
          <a:xfrm>
            <a:off x="4064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0" name="grid-v-384">
            <a:extLst>
              <a:ext uri="{FF2B5EF4-FFF2-40B4-BE49-F238E27FC236}">
                <a16:creationId xmlns:a16="http://schemas.microsoft.com/office/drawing/2014/main" id="{999F5B8F-D4DB-D6FA-31D9-38DCB71E9585}"/>
              </a:ext>
            </a:extLst>
          </p:cNvPr>
          <p:cNvCxnSpPr/>
          <p:nvPr/>
        </p:nvCxnSpPr>
        <p:spPr>
          <a:xfrm>
            <a:off x="4876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1" name="grid-v-448">
            <a:extLst>
              <a:ext uri="{FF2B5EF4-FFF2-40B4-BE49-F238E27FC236}">
                <a16:creationId xmlns:a16="http://schemas.microsoft.com/office/drawing/2014/main" id="{75386037-FD75-DE86-3008-C32538CBCD07}"/>
              </a:ext>
            </a:extLst>
          </p:cNvPr>
          <p:cNvCxnSpPr/>
          <p:nvPr/>
        </p:nvCxnSpPr>
        <p:spPr>
          <a:xfrm>
            <a:off x="5689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2" name="grid-v-512">
            <a:extLst>
              <a:ext uri="{FF2B5EF4-FFF2-40B4-BE49-F238E27FC236}">
                <a16:creationId xmlns:a16="http://schemas.microsoft.com/office/drawing/2014/main" id="{9187B7F0-F8DC-5B00-C873-F6519B55E120}"/>
              </a:ext>
            </a:extLst>
          </p:cNvPr>
          <p:cNvCxnSpPr/>
          <p:nvPr/>
        </p:nvCxnSpPr>
        <p:spPr>
          <a:xfrm>
            <a:off x="6502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3" name="grid-v-576">
            <a:extLst>
              <a:ext uri="{FF2B5EF4-FFF2-40B4-BE49-F238E27FC236}">
                <a16:creationId xmlns:a16="http://schemas.microsoft.com/office/drawing/2014/main" id="{CC677100-1417-5B2B-CF8F-F282B2F87396}"/>
              </a:ext>
            </a:extLst>
          </p:cNvPr>
          <p:cNvCxnSpPr/>
          <p:nvPr/>
        </p:nvCxnSpPr>
        <p:spPr>
          <a:xfrm>
            <a:off x="7315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4" name="grid-v-640">
            <a:extLst>
              <a:ext uri="{FF2B5EF4-FFF2-40B4-BE49-F238E27FC236}">
                <a16:creationId xmlns:a16="http://schemas.microsoft.com/office/drawing/2014/main" id="{AD67B031-6AC9-D960-F94E-6DF36458FC54}"/>
              </a:ext>
            </a:extLst>
          </p:cNvPr>
          <p:cNvCxnSpPr/>
          <p:nvPr/>
        </p:nvCxnSpPr>
        <p:spPr>
          <a:xfrm>
            <a:off x="8128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5" name="grid-v-704">
            <a:extLst>
              <a:ext uri="{FF2B5EF4-FFF2-40B4-BE49-F238E27FC236}">
                <a16:creationId xmlns:a16="http://schemas.microsoft.com/office/drawing/2014/main" id="{DA590415-8FB7-9DAF-4FB3-A4172454964B}"/>
              </a:ext>
            </a:extLst>
          </p:cNvPr>
          <p:cNvCxnSpPr/>
          <p:nvPr/>
        </p:nvCxnSpPr>
        <p:spPr>
          <a:xfrm>
            <a:off x="8940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6" name="grid-v-768">
            <a:extLst>
              <a:ext uri="{FF2B5EF4-FFF2-40B4-BE49-F238E27FC236}">
                <a16:creationId xmlns:a16="http://schemas.microsoft.com/office/drawing/2014/main" id="{1E423A92-EF90-5541-C0AC-D8FD14B018AD}"/>
              </a:ext>
            </a:extLst>
          </p:cNvPr>
          <p:cNvCxnSpPr/>
          <p:nvPr/>
        </p:nvCxnSpPr>
        <p:spPr>
          <a:xfrm>
            <a:off x="9753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7" name="grid-v-832">
            <a:extLst>
              <a:ext uri="{FF2B5EF4-FFF2-40B4-BE49-F238E27FC236}">
                <a16:creationId xmlns:a16="http://schemas.microsoft.com/office/drawing/2014/main" id="{6326CC6B-2034-BDCA-5801-2F805B1FBAFA}"/>
              </a:ext>
            </a:extLst>
          </p:cNvPr>
          <p:cNvCxnSpPr/>
          <p:nvPr/>
        </p:nvCxnSpPr>
        <p:spPr>
          <a:xfrm>
            <a:off x="10566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8" name="grid-v-896">
            <a:extLst>
              <a:ext uri="{FF2B5EF4-FFF2-40B4-BE49-F238E27FC236}">
                <a16:creationId xmlns:a16="http://schemas.microsoft.com/office/drawing/2014/main" id="{21D6818B-CFA5-4A52-AFCD-C6311E4EC856}"/>
              </a:ext>
            </a:extLst>
          </p:cNvPr>
          <p:cNvCxnSpPr/>
          <p:nvPr/>
        </p:nvCxnSpPr>
        <p:spPr>
          <a:xfrm>
            <a:off x="11379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9" name="grid-v-960">
            <a:extLst>
              <a:ext uri="{FF2B5EF4-FFF2-40B4-BE49-F238E27FC236}">
                <a16:creationId xmlns:a16="http://schemas.microsoft.com/office/drawing/2014/main" id="{E1FC6018-DA42-4C51-6979-8D3BEBABAC29}"/>
              </a:ext>
            </a:extLst>
          </p:cNvPr>
          <p:cNvCxnSpPr/>
          <p:nvPr/>
        </p:nvCxnSpPr>
        <p:spPr>
          <a:xfrm>
            <a:off x="12192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0" name="grid-h-0">
            <a:extLst>
              <a:ext uri="{FF2B5EF4-FFF2-40B4-BE49-F238E27FC236}">
                <a16:creationId xmlns:a16="http://schemas.microsoft.com/office/drawing/2014/main" id="{0515794B-63E5-B145-33CC-868C05821E72}"/>
              </a:ext>
            </a:extLst>
          </p:cNvPr>
          <p:cNvCxnSpPr/>
          <p:nvPr/>
        </p:nvCxnSpPr>
        <p:spPr>
          <a:xfrm>
            <a:off x="0" y="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1" name="grid-h-64">
            <a:extLst>
              <a:ext uri="{FF2B5EF4-FFF2-40B4-BE49-F238E27FC236}">
                <a16:creationId xmlns:a16="http://schemas.microsoft.com/office/drawing/2014/main" id="{BA222477-B227-543C-4578-B604F29C0C66}"/>
              </a:ext>
            </a:extLst>
          </p:cNvPr>
          <p:cNvCxnSpPr/>
          <p:nvPr/>
        </p:nvCxnSpPr>
        <p:spPr>
          <a:xfrm>
            <a:off x="0" y="812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2" name="grid-h-128">
            <a:extLst>
              <a:ext uri="{FF2B5EF4-FFF2-40B4-BE49-F238E27FC236}">
                <a16:creationId xmlns:a16="http://schemas.microsoft.com/office/drawing/2014/main" id="{1BBE660C-7E6A-941D-71CA-EBCD37A2C6E9}"/>
              </a:ext>
            </a:extLst>
          </p:cNvPr>
          <p:cNvCxnSpPr/>
          <p:nvPr/>
        </p:nvCxnSpPr>
        <p:spPr>
          <a:xfrm>
            <a:off x="0" y="1625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3" name="grid-h-192">
            <a:extLst>
              <a:ext uri="{FF2B5EF4-FFF2-40B4-BE49-F238E27FC236}">
                <a16:creationId xmlns:a16="http://schemas.microsoft.com/office/drawing/2014/main" id="{A94D1D9D-1C67-AE01-50B2-EFC8AB86DCD7}"/>
              </a:ext>
            </a:extLst>
          </p:cNvPr>
          <p:cNvCxnSpPr/>
          <p:nvPr/>
        </p:nvCxnSpPr>
        <p:spPr>
          <a:xfrm>
            <a:off x="0" y="2438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4" name="grid-h-256">
            <a:extLst>
              <a:ext uri="{FF2B5EF4-FFF2-40B4-BE49-F238E27FC236}">
                <a16:creationId xmlns:a16="http://schemas.microsoft.com/office/drawing/2014/main" id="{03922AF2-C2C8-562E-08F1-CF36D07621F4}"/>
              </a:ext>
            </a:extLst>
          </p:cNvPr>
          <p:cNvCxnSpPr/>
          <p:nvPr/>
        </p:nvCxnSpPr>
        <p:spPr>
          <a:xfrm>
            <a:off x="0" y="32512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5" name="grid-h-320">
            <a:extLst>
              <a:ext uri="{FF2B5EF4-FFF2-40B4-BE49-F238E27FC236}">
                <a16:creationId xmlns:a16="http://schemas.microsoft.com/office/drawing/2014/main" id="{96C017E4-F50D-FAA6-1967-EF9391356320}"/>
              </a:ext>
            </a:extLst>
          </p:cNvPr>
          <p:cNvCxnSpPr/>
          <p:nvPr/>
        </p:nvCxnSpPr>
        <p:spPr>
          <a:xfrm>
            <a:off x="0" y="40640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6" name="grid-h-384">
            <a:extLst>
              <a:ext uri="{FF2B5EF4-FFF2-40B4-BE49-F238E27FC236}">
                <a16:creationId xmlns:a16="http://schemas.microsoft.com/office/drawing/2014/main" id="{8CD079FB-FB9D-49AD-C7A1-A2996BA0F587}"/>
              </a:ext>
            </a:extLst>
          </p:cNvPr>
          <p:cNvCxnSpPr/>
          <p:nvPr/>
        </p:nvCxnSpPr>
        <p:spPr>
          <a:xfrm>
            <a:off x="0" y="4876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7" name="grid-h-448">
            <a:extLst>
              <a:ext uri="{FF2B5EF4-FFF2-40B4-BE49-F238E27FC236}">
                <a16:creationId xmlns:a16="http://schemas.microsoft.com/office/drawing/2014/main" id="{68705FB9-9C20-CF31-95A4-6214788D695C}"/>
              </a:ext>
            </a:extLst>
          </p:cNvPr>
          <p:cNvCxnSpPr/>
          <p:nvPr/>
        </p:nvCxnSpPr>
        <p:spPr>
          <a:xfrm>
            <a:off x="0" y="5689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8" name="grid-h-512">
            <a:extLst>
              <a:ext uri="{FF2B5EF4-FFF2-40B4-BE49-F238E27FC236}">
                <a16:creationId xmlns:a16="http://schemas.microsoft.com/office/drawing/2014/main" id="{5BAFF1C3-A4E6-BDD5-AF3A-FB8D0760E07B}"/>
              </a:ext>
            </a:extLst>
          </p:cNvPr>
          <p:cNvCxnSpPr/>
          <p:nvPr/>
        </p:nvCxnSpPr>
        <p:spPr>
          <a:xfrm>
            <a:off x="0" y="6502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sp>
        <p:nvSpPr>
          <p:cNvPr id="29" name="page-num">
            <a:extLst>
              <a:ext uri="{FF2B5EF4-FFF2-40B4-BE49-F238E27FC236}">
                <a16:creationId xmlns:a16="http://schemas.microsoft.com/office/drawing/2014/main" id="{A295F66E-BB00-0051-8FCD-C841A3DF5172}"/>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B4CDEB"/>
                </a:solidFill>
                <a:latin typeface="Aptos" panose="020B0004020202020204" pitchFamily="34" charset="0"/>
              </a:rPr>
              <a:t>04</a:t>
            </a:r>
            <a:endParaRPr lang="zh-CN" altLang="en-US" sz="650">
              <a:solidFill>
                <a:srgbClr val="B4CDEB"/>
              </a:solidFill>
              <a:latin typeface="Aptos" panose="020B0004020202020204" pitchFamily="34" charset="0"/>
            </a:endParaRPr>
          </a:p>
        </p:txBody>
      </p:sp>
      <p:sp>
        <p:nvSpPr>
          <p:cNvPr id="30" name="section-label">
            <a:extLst>
              <a:ext uri="{FF2B5EF4-FFF2-40B4-BE49-F238E27FC236}">
                <a16:creationId xmlns:a16="http://schemas.microsoft.com/office/drawing/2014/main" id="{49C5E2A3-EFD7-E8EB-F46B-B4EF79A70C1A}"/>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BEDCFF"/>
                </a:solidFill>
                <a:latin typeface="Aptos" panose="020B0004020202020204" pitchFamily="34" charset="0"/>
              </a:rPr>
              <a:t>RESEARCH GAP</a:t>
            </a:r>
            <a:endParaRPr lang="zh-CN" altLang="en-US" sz="700" b="1">
              <a:solidFill>
                <a:srgbClr val="BEDCFF"/>
              </a:solidFill>
              <a:latin typeface="Aptos" panose="020B0004020202020204" pitchFamily="34" charset="0"/>
            </a:endParaRPr>
          </a:p>
        </p:txBody>
      </p:sp>
      <p:sp>
        <p:nvSpPr>
          <p:cNvPr id="31" name="title">
            <a:extLst>
              <a:ext uri="{FF2B5EF4-FFF2-40B4-BE49-F238E27FC236}">
                <a16:creationId xmlns:a16="http://schemas.microsoft.com/office/drawing/2014/main" id="{8072040D-AB48-0E8F-F808-3557132A570D}"/>
              </a:ext>
            </a:extLst>
          </p:cNvPr>
          <p:cNvSpPr txBox="1"/>
          <p:nvPr/>
        </p:nvSpPr>
        <p:spPr>
          <a:xfrm>
            <a:off x="685800" y="711200"/>
            <a:ext cx="9652000" cy="276999"/>
          </a:xfrm>
          <a:prstGeom prst="rect">
            <a:avLst/>
          </a:prstGeom>
          <a:noFill/>
        </p:spPr>
        <p:txBody>
          <a:bodyPr vert="horz" wrap="square" lIns="0" tIns="0" rIns="0" bIns="0" rtlCol="0">
            <a:noAutofit/>
          </a:bodyPr>
          <a:lstStyle/>
          <a:p>
            <a:r>
              <a:rPr lang="en-US" altLang="zh-CN" sz="2700" b="1">
                <a:solidFill>
                  <a:srgbClr val="FFFFFF"/>
                </a:solidFill>
                <a:latin typeface="Aptos" panose="020B0004020202020204" pitchFamily="34" charset="0"/>
              </a:rPr>
              <a:t>A score is not a claim until evidence is admitted</a:t>
            </a:r>
            <a:endParaRPr lang="zh-CN" altLang="en-US" sz="2700" b="1">
              <a:solidFill>
                <a:srgbClr val="FFFFFF"/>
              </a:solidFill>
              <a:latin typeface="Aptos" panose="020B0004020202020204" pitchFamily="34" charset="0"/>
            </a:endParaRPr>
          </a:p>
        </p:txBody>
      </p:sp>
      <p:cxnSp>
        <p:nvCxnSpPr>
          <p:cNvPr id="32" name="gap-rule">
            <a:extLst>
              <a:ext uri="{FF2B5EF4-FFF2-40B4-BE49-F238E27FC236}">
                <a16:creationId xmlns:a16="http://schemas.microsoft.com/office/drawing/2014/main" id="{22840E53-1608-0FD9-12F0-D4E265EA0330}"/>
              </a:ext>
            </a:extLst>
          </p:cNvPr>
          <p:cNvCxnSpPr/>
          <p:nvPr/>
        </p:nvCxnSpPr>
        <p:spPr>
          <a:xfrm>
            <a:off x="736600" y="1447800"/>
            <a:ext cx="9931400" cy="0"/>
          </a:xfrm>
          <a:prstGeom prst="line">
            <a:avLst/>
          </a:prstGeom>
          <a:ln w="15240">
            <a:solidFill>
              <a:srgbClr val="96BEEB"/>
            </a:solidFill>
          </a:ln>
        </p:spPr>
        <p:style>
          <a:lnRef idx="1">
            <a:schemeClr val="accent1"/>
          </a:lnRef>
          <a:fillRef idx="0">
            <a:schemeClr val="accent1"/>
          </a:fillRef>
          <a:effectRef idx="0">
            <a:schemeClr val="accent1"/>
          </a:effectRef>
          <a:fontRef idx="minor">
            <a:schemeClr val="tx1"/>
          </a:fontRef>
        </p:style>
      </p:cxnSp>
      <p:sp>
        <p:nvSpPr>
          <p:cNvPr id="33" name="left-card">
            <a:extLst>
              <a:ext uri="{FF2B5EF4-FFF2-40B4-BE49-F238E27FC236}">
                <a16:creationId xmlns:a16="http://schemas.microsoft.com/office/drawing/2014/main" id="{38C78208-5592-4B98-A9F7-D8F0C258E8CC}"/>
              </a:ext>
            </a:extLst>
          </p:cNvPr>
          <p:cNvSpPr/>
          <p:nvPr/>
        </p:nvSpPr>
        <p:spPr>
          <a:xfrm>
            <a:off x="1092200" y="2235200"/>
            <a:ext cx="3429000" cy="1625600"/>
          </a:xfrm>
          <a:prstGeom prst="rect">
            <a:avLst/>
          </a:prstGeom>
          <a:solidFill>
            <a:srgbClr val="FFE6E8"/>
          </a:solidFill>
          <a:ln w="12700">
            <a:solidFill>
              <a:srgbClr val="FFAAB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left-k">
            <a:extLst>
              <a:ext uri="{FF2B5EF4-FFF2-40B4-BE49-F238E27FC236}">
                <a16:creationId xmlns:a16="http://schemas.microsoft.com/office/drawing/2014/main" id="{840F7A41-4924-412B-E11D-B94E3112B5BA}"/>
              </a:ext>
            </a:extLst>
          </p:cNvPr>
          <p:cNvSpPr txBox="1"/>
          <p:nvPr/>
        </p:nvSpPr>
        <p:spPr>
          <a:xfrm>
            <a:off x="1422400" y="2514600"/>
            <a:ext cx="1397000" cy="276999"/>
          </a:xfrm>
          <a:prstGeom prst="rect">
            <a:avLst/>
          </a:prstGeom>
          <a:noFill/>
        </p:spPr>
        <p:txBody>
          <a:bodyPr vert="horz" wrap="square" lIns="0" tIns="0" rIns="0" bIns="0" rtlCol="0">
            <a:noAutofit/>
          </a:bodyPr>
          <a:lstStyle/>
          <a:p>
            <a:r>
              <a:rPr lang="en-US" altLang="zh-CN" sz="800" b="1">
                <a:solidFill>
                  <a:srgbClr val="C52B38"/>
                </a:solidFill>
                <a:latin typeface="Aptos" panose="020B0004020202020204" pitchFamily="34" charset="0"/>
              </a:rPr>
              <a:t>Unsafe shortcut</a:t>
            </a:r>
            <a:endParaRPr lang="zh-CN" altLang="en-US" sz="800" b="1">
              <a:solidFill>
                <a:srgbClr val="C52B38"/>
              </a:solidFill>
              <a:latin typeface="Aptos" panose="020B0004020202020204" pitchFamily="34" charset="0"/>
            </a:endParaRPr>
          </a:p>
        </p:txBody>
      </p:sp>
      <p:sp>
        <p:nvSpPr>
          <p:cNvPr id="35" name="left-main">
            <a:extLst>
              <a:ext uri="{FF2B5EF4-FFF2-40B4-BE49-F238E27FC236}">
                <a16:creationId xmlns:a16="http://schemas.microsoft.com/office/drawing/2014/main" id="{B85D47C5-A420-122C-9693-6D4F45880978}"/>
              </a:ext>
            </a:extLst>
          </p:cNvPr>
          <p:cNvSpPr txBox="1"/>
          <p:nvPr/>
        </p:nvSpPr>
        <p:spPr>
          <a:xfrm>
            <a:off x="1422400" y="2959100"/>
            <a:ext cx="2286000" cy="276999"/>
          </a:xfrm>
          <a:prstGeom prst="rect">
            <a:avLst/>
          </a:prstGeom>
          <a:noFill/>
        </p:spPr>
        <p:txBody>
          <a:bodyPr vert="horz" wrap="square" lIns="0" tIns="0" rIns="0" bIns="0" rtlCol="0">
            <a:noAutofit/>
          </a:bodyPr>
          <a:lstStyle/>
          <a:p>
            <a:r>
              <a:rPr lang="en-US" altLang="zh-CN" sz="2400" b="1">
                <a:solidFill>
                  <a:srgbClr val="8A202B"/>
                </a:solidFill>
                <a:latin typeface="Aptos" panose="020B0004020202020204" pitchFamily="34" charset="0"/>
              </a:rPr>
              <a:t>score is high</a:t>
            </a:r>
            <a:endParaRPr lang="zh-CN" altLang="en-US" sz="2400" b="1">
              <a:solidFill>
                <a:srgbClr val="8A202B"/>
              </a:solidFill>
              <a:latin typeface="Aptos" panose="020B0004020202020204" pitchFamily="34" charset="0"/>
            </a:endParaRPr>
          </a:p>
        </p:txBody>
      </p:sp>
      <p:cxnSp>
        <p:nvCxnSpPr>
          <p:cNvPr id="36" name="gap-arrow">
            <a:extLst>
              <a:ext uri="{FF2B5EF4-FFF2-40B4-BE49-F238E27FC236}">
                <a16:creationId xmlns:a16="http://schemas.microsoft.com/office/drawing/2014/main" id="{351BD472-CBCC-1E51-279F-217F37EBFD3F}"/>
              </a:ext>
            </a:extLst>
          </p:cNvPr>
          <p:cNvCxnSpPr/>
          <p:nvPr/>
        </p:nvCxnSpPr>
        <p:spPr>
          <a:xfrm>
            <a:off x="5003800" y="3048000"/>
            <a:ext cx="1295400" cy="0"/>
          </a:xfrm>
          <a:prstGeom prst="line">
            <a:avLst/>
          </a:prstGeom>
          <a:ln w="38100">
            <a:solidFill>
              <a:srgbClr val="BEDCFF"/>
            </a:solidFill>
          </a:ln>
        </p:spPr>
        <p:style>
          <a:lnRef idx="1">
            <a:schemeClr val="accent1"/>
          </a:lnRef>
          <a:fillRef idx="0">
            <a:schemeClr val="accent1"/>
          </a:fillRef>
          <a:effectRef idx="0">
            <a:schemeClr val="accent1"/>
          </a:effectRef>
          <a:fontRef idx="minor">
            <a:schemeClr val="tx1"/>
          </a:fontRef>
        </p:style>
      </p:cxnSp>
      <p:sp>
        <p:nvSpPr>
          <p:cNvPr id="37" name="right-card">
            <a:extLst>
              <a:ext uri="{FF2B5EF4-FFF2-40B4-BE49-F238E27FC236}">
                <a16:creationId xmlns:a16="http://schemas.microsoft.com/office/drawing/2014/main" id="{022BE9F1-9332-E612-AF1E-5697A553EDC0}"/>
              </a:ext>
            </a:extLst>
          </p:cNvPr>
          <p:cNvSpPr/>
          <p:nvPr/>
        </p:nvSpPr>
        <p:spPr>
          <a:xfrm>
            <a:off x="6781800" y="2108200"/>
            <a:ext cx="4165600" cy="1905000"/>
          </a:xfrm>
          <a:prstGeom prst="rect">
            <a:avLst/>
          </a:prstGeom>
          <a:solidFill>
            <a:srgbClr val="FFFFFF"/>
          </a:solidFill>
          <a:ln w="1270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right-k">
            <a:extLst>
              <a:ext uri="{FF2B5EF4-FFF2-40B4-BE49-F238E27FC236}">
                <a16:creationId xmlns:a16="http://schemas.microsoft.com/office/drawing/2014/main" id="{847D9240-DB63-EFBC-6F6D-130B534CAF54}"/>
              </a:ext>
            </a:extLst>
          </p:cNvPr>
          <p:cNvSpPr txBox="1"/>
          <p:nvPr/>
        </p:nvSpPr>
        <p:spPr>
          <a:xfrm>
            <a:off x="7137400" y="2413000"/>
            <a:ext cx="1676400" cy="276999"/>
          </a:xfrm>
          <a:prstGeom prst="rect">
            <a:avLst/>
          </a:prstGeom>
          <a:noFill/>
        </p:spPr>
        <p:txBody>
          <a:bodyPr vert="horz" wrap="square" lIns="0" tIns="0" rIns="0" bIns="0" rtlCol="0">
            <a:noAutofit/>
          </a:bodyPr>
          <a:lstStyle/>
          <a:p>
            <a:r>
              <a:rPr lang="en-US" altLang="zh-CN" sz="800" b="1">
                <a:solidFill>
                  <a:srgbClr val="536580"/>
                </a:solidFill>
                <a:latin typeface="Aptos" panose="020B0004020202020204" pitchFamily="34" charset="0"/>
              </a:rPr>
              <a:t>Evidence contract</a:t>
            </a:r>
            <a:endParaRPr lang="zh-CN" altLang="en-US" sz="800" b="1">
              <a:solidFill>
                <a:srgbClr val="536580"/>
              </a:solidFill>
              <a:latin typeface="Aptos" panose="020B0004020202020204" pitchFamily="34" charset="0"/>
            </a:endParaRPr>
          </a:p>
        </p:txBody>
      </p:sp>
      <p:sp>
        <p:nvSpPr>
          <p:cNvPr id="39" name="right-main">
            <a:extLst>
              <a:ext uri="{FF2B5EF4-FFF2-40B4-BE49-F238E27FC236}">
                <a16:creationId xmlns:a16="http://schemas.microsoft.com/office/drawing/2014/main" id="{9CB1F81F-2678-3CFC-9620-76711FA088CD}"/>
              </a:ext>
            </a:extLst>
          </p:cNvPr>
          <p:cNvSpPr txBox="1"/>
          <p:nvPr/>
        </p:nvSpPr>
        <p:spPr>
          <a:xfrm>
            <a:off x="7137400" y="2844800"/>
            <a:ext cx="3175000" cy="276999"/>
          </a:xfrm>
          <a:prstGeom prst="rect">
            <a:avLst/>
          </a:prstGeom>
          <a:noFill/>
        </p:spPr>
        <p:txBody>
          <a:bodyPr vert="horz" wrap="square" lIns="0" tIns="0" rIns="0" bIns="0" rtlCol="0">
            <a:noAutofit/>
          </a:bodyPr>
          <a:lstStyle/>
          <a:p>
            <a:r>
              <a:rPr lang="en-US" altLang="zh-CN" b="1">
                <a:solidFill>
                  <a:srgbClr val="0D182C"/>
                </a:solidFill>
                <a:latin typeface="Aptos" panose="020B0004020202020204" pitchFamily="34" charset="0"/>
              </a:rPr>
              <a:t>claim = f(score, denominator, controls, artifact, boundary)</a:t>
            </a:r>
            <a:endParaRPr lang="zh-CN" altLang="en-US" b="1">
              <a:solidFill>
                <a:srgbClr val="0D182C"/>
              </a:solidFill>
              <a:latin typeface="Aptos" panose="020B0004020202020204" pitchFamily="34" charset="0"/>
            </a:endParaRPr>
          </a:p>
        </p:txBody>
      </p:sp>
      <p:sp>
        <p:nvSpPr>
          <p:cNvPr id="40" name="claim-bar">
            <a:extLst>
              <a:ext uri="{FF2B5EF4-FFF2-40B4-BE49-F238E27FC236}">
                <a16:creationId xmlns:a16="http://schemas.microsoft.com/office/drawing/2014/main" id="{655D0932-6124-4616-869C-BEAEE6594BEF}"/>
              </a:ext>
            </a:extLst>
          </p:cNvPr>
          <p:cNvSpPr/>
          <p:nvPr/>
        </p:nvSpPr>
        <p:spPr>
          <a:xfrm>
            <a:off x="1524000" y="4851400"/>
            <a:ext cx="9144000" cy="558800"/>
          </a:xfrm>
          <a:prstGeom prst="rect">
            <a:avLst/>
          </a:prstGeom>
          <a:solidFill>
            <a:srgbClr val="0B5CA0"/>
          </a:solidFill>
          <a:ln w="12700">
            <a:solidFill>
              <a:srgbClr val="76AE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claim-text">
            <a:extLst>
              <a:ext uri="{FF2B5EF4-FFF2-40B4-BE49-F238E27FC236}">
                <a16:creationId xmlns:a16="http://schemas.microsoft.com/office/drawing/2014/main" id="{0F9E73CD-FC3A-31EB-873A-293FCBF08E7B}"/>
              </a:ext>
            </a:extLst>
          </p:cNvPr>
          <p:cNvSpPr txBox="1"/>
          <p:nvPr/>
        </p:nvSpPr>
        <p:spPr>
          <a:xfrm>
            <a:off x="1905000" y="5041900"/>
            <a:ext cx="8382000" cy="276999"/>
          </a:xfrm>
          <a:prstGeom prst="rect">
            <a:avLst/>
          </a:prstGeom>
          <a:noFill/>
        </p:spPr>
        <p:txBody>
          <a:bodyPr vert="horz" wrap="square" lIns="0" tIns="0" rIns="0" bIns="0" rtlCol="0">
            <a:noAutofit/>
          </a:bodyPr>
          <a:lstStyle/>
          <a:p>
            <a:r>
              <a:rPr lang="en-US" altLang="zh-CN" sz="1080" b="1">
                <a:solidFill>
                  <a:srgbClr val="FFFFFF"/>
                </a:solidFill>
                <a:latin typeface="Aptos" panose="020B0004020202020204" pitchFamily="34" charset="0"/>
              </a:rPr>
              <a:t>Contribution: turn watermark evaluation into auditable evidence admission.</a:t>
            </a:r>
            <a:endParaRPr lang="zh-CN" altLang="en-US" sz="1080" b="1">
              <a:solidFill>
                <a:srgbClr val="FFFFFF"/>
              </a:solidFill>
              <a:latin typeface="Aptos" panose="020B0004020202020204" pitchFamily="34" charset="0"/>
            </a:endParaRPr>
          </a:p>
        </p:txBody>
      </p:sp>
      <p:pic>
        <p:nvPicPr>
          <p:cNvPr id="43" name="图片 42">
            <a:extLst>
              <a:ext uri="{FF2B5EF4-FFF2-40B4-BE49-F238E27FC236}">
                <a16:creationId xmlns:a16="http://schemas.microsoft.com/office/drawing/2014/main" id="{4B7C7FD9-34CA-9ADE-643B-C5C7D56D979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Tree>
    <p:extLst>
      <p:ext uri="{BB962C8B-B14F-4D97-AF65-F5344CB8AC3E}">
        <p14:creationId xmlns:p14="http://schemas.microsoft.com/office/powerpoint/2010/main" val="893711359"/>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151776B3-2795-1F8F-CC51-06C41CD4CF5A}"/>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34CCDA60-9B2A-927D-29B9-7BB21BAF06D1}"/>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E6E8C761-6D0F-E0DD-3F81-A079AF7B89E6}"/>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A7B9152E-A63A-221F-A83A-2772B2948CCC}"/>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1F2C0594-5C26-D043-7EBE-3002282D454B}"/>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033AFB84-A0DD-FDEF-0AFE-00A3D7CB4195}"/>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05</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B9CDA589-9359-BBD0-1669-DE721B1EE7C2}"/>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FRAMEWORK</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B8B4E65A-E0BA-4CBC-F50C-CC862955AF1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98C89332-3462-FAFA-DA24-82A32CBF4239}"/>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WatermarkScope: five questions, one contract</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B1B272B7-70F7-F8CA-C863-6D0D7ED7671F}"/>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The framework separates benchmark, provenance, black-box audit, owner attribution, and security triage.</a:t>
            </a:r>
            <a:endParaRPr lang="zh-CN" altLang="en-US" sz="950">
              <a:solidFill>
                <a:srgbClr val="536580"/>
              </a:solidFill>
              <a:latin typeface="Aptos" panose="020B0004020202020204" pitchFamily="34" charset="0"/>
            </a:endParaRPr>
          </a:p>
        </p:txBody>
      </p:sp>
      <p:sp>
        <p:nvSpPr>
          <p:cNvPr id="13" name="fig-frame">
            <a:extLst>
              <a:ext uri="{FF2B5EF4-FFF2-40B4-BE49-F238E27FC236}">
                <a16:creationId xmlns:a16="http://schemas.microsoft.com/office/drawing/2014/main" id="{482DEF32-DD45-4BBA-9C23-DC32F5A4A183}"/>
              </a:ext>
            </a:extLst>
          </p:cNvPr>
          <p:cNvSpPr/>
          <p:nvPr/>
        </p:nvSpPr>
        <p:spPr>
          <a:xfrm>
            <a:off x="685800" y="1676400"/>
            <a:ext cx="10820400" cy="3124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framework-figure">
            <a:extLst>
              <a:ext uri="{FF2B5EF4-FFF2-40B4-BE49-F238E27FC236}">
                <a16:creationId xmlns:a16="http://schemas.microsoft.com/office/drawing/2014/main" id="{EC641E5B-2E37-E976-B866-6FB40C23836A}"/>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944305" y="1930400"/>
            <a:ext cx="6303390" cy="2590800"/>
          </a:xfrm>
          <a:prstGeom prst="rect">
            <a:avLst/>
          </a:prstGeom>
        </p:spPr>
      </p:pic>
      <p:sp>
        <p:nvSpPr>
          <p:cNvPr id="16" name="takeaway">
            <a:extLst>
              <a:ext uri="{FF2B5EF4-FFF2-40B4-BE49-F238E27FC236}">
                <a16:creationId xmlns:a16="http://schemas.microsoft.com/office/drawing/2014/main" id="{639F8B06-C004-FDD9-7D10-7DF82657E20D}"/>
              </a:ext>
            </a:extLst>
          </p:cNvPr>
          <p:cNvSpPr/>
          <p:nvPr/>
        </p:nvSpPr>
        <p:spPr>
          <a:xfrm>
            <a:off x="1193800" y="5257800"/>
            <a:ext cx="9804400" cy="4572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takeaway-text">
            <a:extLst>
              <a:ext uri="{FF2B5EF4-FFF2-40B4-BE49-F238E27FC236}">
                <a16:creationId xmlns:a16="http://schemas.microsoft.com/office/drawing/2014/main" id="{0410F77E-89D9-3FE2-597B-A333C050C7D3}"/>
              </a:ext>
            </a:extLst>
          </p:cNvPr>
          <p:cNvSpPr txBox="1"/>
          <p:nvPr/>
        </p:nvSpPr>
        <p:spPr>
          <a:xfrm>
            <a:off x="1574800" y="5410200"/>
            <a:ext cx="9017000" cy="276999"/>
          </a:xfrm>
          <a:prstGeom prst="rect">
            <a:avLst/>
          </a:prstGeom>
          <a:noFill/>
        </p:spPr>
        <p:txBody>
          <a:bodyPr vert="horz" wrap="square" lIns="0" tIns="0" rIns="0" bIns="0" rtlCol="0">
            <a:noAutofit/>
          </a:bodyPr>
          <a:lstStyle/>
          <a:p>
            <a:r>
              <a:rPr lang="en-US" altLang="zh-CN" sz="880" b="1">
                <a:solidFill>
                  <a:srgbClr val="FFFFFF"/>
                </a:solidFill>
                <a:latin typeface="Aptos" panose="020B0004020202020204" pitchFamily="34" charset="0"/>
              </a:rPr>
              <a:t>A broader claim needs a new admitted evidence object; it cannot borrow another stage's denominator.</a:t>
            </a:r>
            <a:endParaRPr lang="zh-CN" altLang="en-US" sz="880" b="1">
              <a:solidFill>
                <a:srgbClr val="FFFFFF"/>
              </a:solidFill>
              <a:latin typeface="Aptos" panose="020B0004020202020204" pitchFamily="34" charset="0"/>
            </a:endParaRPr>
          </a:p>
        </p:txBody>
      </p:sp>
      <p:sp>
        <p:nvSpPr>
          <p:cNvPr id="18" name="claim-link">
            <a:hlinkClick r:id="rId5"/>
            <a:extLst>
              <a:ext uri="{FF2B5EF4-FFF2-40B4-BE49-F238E27FC236}">
                <a16:creationId xmlns:a16="http://schemas.microsoft.com/office/drawing/2014/main" id="{79AD6960-B4C0-6117-5534-E22A7E259A5F}"/>
              </a:ext>
            </a:extLst>
          </p:cNvPr>
          <p:cNvSpPr/>
          <p:nvPr/>
        </p:nvSpPr>
        <p:spPr>
          <a:xfrm>
            <a:off x="9271000" y="1219200"/>
            <a:ext cx="10922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Boundaries</a:t>
            </a:r>
            <a:endParaRPr lang="zh-CN" altLang="en-US" sz="850" b="1">
              <a:solidFill>
                <a:srgbClr val="FFFFFF"/>
              </a:solidFill>
              <a:latin typeface="Aptos" panose="020B0004020202020204" pitchFamily="34" charset="0"/>
            </a:endParaRPr>
          </a:p>
        </p:txBody>
      </p:sp>
      <p:sp>
        <p:nvSpPr>
          <p:cNvPr id="19" name="trace-link">
            <a:hlinkClick r:id="rId6"/>
            <a:extLst>
              <a:ext uri="{FF2B5EF4-FFF2-40B4-BE49-F238E27FC236}">
                <a16:creationId xmlns:a16="http://schemas.microsoft.com/office/drawing/2014/main" id="{F9FAE353-7294-D9C3-ACA2-23667F368A5A}"/>
              </a:ext>
            </a:extLst>
          </p:cNvPr>
          <p:cNvSpPr/>
          <p:nvPr/>
        </p:nvSpPr>
        <p:spPr>
          <a:xfrm>
            <a:off x="10464800" y="1219200"/>
            <a:ext cx="9906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Trace</a:t>
            </a:r>
            <a:endParaRPr lang="zh-CN" altLang="en-US" sz="850" b="1">
              <a:solidFill>
                <a:srgbClr val="FFFFFF"/>
              </a:solidFill>
              <a:latin typeface="Aptos" panose="020B0004020202020204" pitchFamily="34" charset="0"/>
            </a:endParaRPr>
          </a:p>
        </p:txBody>
      </p:sp>
    </p:spTree>
    <p:extLst>
      <p:ext uri="{BB962C8B-B14F-4D97-AF65-F5344CB8AC3E}">
        <p14:creationId xmlns:p14="http://schemas.microsoft.com/office/powerpoint/2010/main" val="2769930265"/>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128961B6-9F5E-9E57-A19E-879E1B7F9DD4}"/>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B263BFAB-E14E-B9BF-32BB-1E91D86F41AF}"/>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C134D3F3-04F7-15ED-16CF-8818F62DDDF7}"/>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1312BAF9-DEAF-3601-36FC-4E2B64F35C5D}"/>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AED36AD5-0F0A-C347-B653-1CE21D3890B8}"/>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4AFF2002-A8BD-08CF-8C03-42D67826D558}"/>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06</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251F3EF3-0CF0-311C-FF1C-45B347716B62}"/>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METHOD</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82337E37-7B74-52D6-6D2D-F0AA70FDF08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EC7C6D10-168D-696A-DDF1-5288D78C499C}"/>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Evidence is frozen first; interpretation comes second</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B1F81EE8-6AB5-63FC-EF8C-0AF67DE519E5}"/>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The admission rule is intentionally conservative.</a:t>
            </a:r>
            <a:endParaRPr lang="zh-CN" altLang="en-US" sz="950">
              <a:solidFill>
                <a:srgbClr val="536580"/>
              </a:solidFill>
              <a:latin typeface="Aptos" panose="020B0004020202020204" pitchFamily="34" charset="0"/>
            </a:endParaRPr>
          </a:p>
        </p:txBody>
      </p:sp>
      <p:sp>
        <p:nvSpPr>
          <p:cNvPr id="13" name="formula">
            <a:extLst>
              <a:ext uri="{FF2B5EF4-FFF2-40B4-BE49-F238E27FC236}">
                <a16:creationId xmlns:a16="http://schemas.microsoft.com/office/drawing/2014/main" id="{8E1A2101-D0CF-AD24-DB45-CC4D3F46CDD0}"/>
              </a:ext>
            </a:extLst>
          </p:cNvPr>
          <p:cNvSpPr/>
          <p:nvPr/>
        </p:nvSpPr>
        <p:spPr>
          <a:xfrm>
            <a:off x="812800" y="1841500"/>
            <a:ext cx="3556000" cy="1778000"/>
          </a:xfrm>
          <a:prstGeom prst="rect">
            <a:avLst/>
          </a:prstGeom>
          <a:solidFill>
            <a:srgbClr val="03204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ormula-main">
            <a:extLst>
              <a:ext uri="{FF2B5EF4-FFF2-40B4-BE49-F238E27FC236}">
                <a16:creationId xmlns:a16="http://schemas.microsoft.com/office/drawing/2014/main" id="{BE9A88C3-55DF-5EF0-95CC-E3C45F7BDADE}"/>
              </a:ext>
            </a:extLst>
          </p:cNvPr>
          <p:cNvSpPr txBox="1"/>
          <p:nvPr/>
        </p:nvSpPr>
        <p:spPr>
          <a:xfrm>
            <a:off x="1168400" y="2260600"/>
            <a:ext cx="2819400" cy="276999"/>
          </a:xfrm>
          <a:prstGeom prst="rect">
            <a:avLst/>
          </a:prstGeom>
          <a:noFill/>
        </p:spPr>
        <p:txBody>
          <a:bodyPr vert="horz" wrap="square" lIns="0" tIns="0" rIns="0" bIns="0" rtlCol="0">
            <a:noAutofit/>
          </a:bodyPr>
          <a:lstStyle/>
          <a:p>
            <a:r>
              <a:rPr lang="pt-BR" altLang="zh-CN" sz="2200" b="1">
                <a:solidFill>
                  <a:srgbClr val="FFFFFF"/>
                </a:solidFill>
                <a:latin typeface="Consolas" panose="020B0609020204030204" pitchFamily="49" charset="0"/>
              </a:rPr>
              <a:t>E = &lt;D, C, A, H, B&gt;</a:t>
            </a:r>
            <a:endParaRPr lang="zh-CN" altLang="en-US" sz="2200" b="1">
              <a:solidFill>
                <a:srgbClr val="FFFFFF"/>
              </a:solidFill>
              <a:latin typeface="Consolas" panose="020B0609020204030204" pitchFamily="49" charset="0"/>
            </a:endParaRPr>
          </a:p>
        </p:txBody>
      </p:sp>
      <p:sp>
        <p:nvSpPr>
          <p:cNvPr id="15" name="formula-sub">
            <a:extLst>
              <a:ext uri="{FF2B5EF4-FFF2-40B4-BE49-F238E27FC236}">
                <a16:creationId xmlns:a16="http://schemas.microsoft.com/office/drawing/2014/main" id="{A2E311AC-32AB-58BB-2A7F-218B26B6C0DD}"/>
              </a:ext>
            </a:extLst>
          </p:cNvPr>
          <p:cNvSpPr txBox="1"/>
          <p:nvPr/>
        </p:nvSpPr>
        <p:spPr>
          <a:xfrm>
            <a:off x="1168400" y="2946400"/>
            <a:ext cx="2692400" cy="276999"/>
          </a:xfrm>
          <a:prstGeom prst="rect">
            <a:avLst/>
          </a:prstGeom>
          <a:noFill/>
        </p:spPr>
        <p:txBody>
          <a:bodyPr vert="horz" wrap="square" lIns="0" tIns="0" rIns="0" bIns="0" rtlCol="0">
            <a:noAutofit/>
          </a:bodyPr>
          <a:lstStyle/>
          <a:p>
            <a:r>
              <a:rPr lang="en-US" altLang="zh-CN" sz="800">
                <a:solidFill>
                  <a:srgbClr val="CEE2F8"/>
                </a:solidFill>
                <a:latin typeface="Aptos" panose="020B0004020202020204" pitchFamily="34" charset="0"/>
              </a:rPr>
              <a:t>denominator, controls, artifact, hash, boundary</a:t>
            </a:r>
            <a:endParaRPr lang="zh-CN" altLang="en-US" sz="800">
              <a:solidFill>
                <a:srgbClr val="CEE2F8"/>
              </a:solidFill>
              <a:latin typeface="Aptos" panose="020B0004020202020204" pitchFamily="34" charset="0"/>
            </a:endParaRPr>
          </a:p>
        </p:txBody>
      </p:sp>
      <p:sp>
        <p:nvSpPr>
          <p:cNvPr id="16" name="fig-frame">
            <a:extLst>
              <a:ext uri="{FF2B5EF4-FFF2-40B4-BE49-F238E27FC236}">
                <a16:creationId xmlns:a16="http://schemas.microsoft.com/office/drawing/2014/main" id="{99BEB268-484E-C518-A1CA-DA07F4BE17FB}"/>
              </a:ext>
            </a:extLst>
          </p:cNvPr>
          <p:cNvSpPr/>
          <p:nvPr/>
        </p:nvSpPr>
        <p:spPr>
          <a:xfrm>
            <a:off x="4953000" y="1676400"/>
            <a:ext cx="6045200" cy="2413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8" name="contract-stack">
            <a:extLst>
              <a:ext uri="{FF2B5EF4-FFF2-40B4-BE49-F238E27FC236}">
                <a16:creationId xmlns:a16="http://schemas.microsoft.com/office/drawing/2014/main" id="{92473F39-9CB4-93AB-23D2-84C4262115C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5703083" y="1930400"/>
            <a:ext cx="4545034" cy="1905000"/>
          </a:xfrm>
          <a:prstGeom prst="rect">
            <a:avLst/>
          </a:prstGeom>
        </p:spPr>
      </p:pic>
      <p:sp>
        <p:nvSpPr>
          <p:cNvPr id="19" name="gate-0">
            <a:extLst>
              <a:ext uri="{FF2B5EF4-FFF2-40B4-BE49-F238E27FC236}">
                <a16:creationId xmlns:a16="http://schemas.microsoft.com/office/drawing/2014/main" id="{1C30836D-054A-5D70-A0C3-1B302A97D3DE}"/>
              </a:ext>
            </a:extLst>
          </p:cNvPr>
          <p:cNvSpPr/>
          <p:nvPr/>
        </p:nvSpPr>
        <p:spPr>
          <a:xfrm>
            <a:off x="914400" y="4749800"/>
            <a:ext cx="2235200" cy="660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gate-band-0">
            <a:extLst>
              <a:ext uri="{FF2B5EF4-FFF2-40B4-BE49-F238E27FC236}">
                <a16:creationId xmlns:a16="http://schemas.microsoft.com/office/drawing/2014/main" id="{D946C48F-50FC-F322-77DE-95E229E02FE6}"/>
              </a:ext>
            </a:extLst>
          </p:cNvPr>
          <p:cNvSpPr/>
          <p:nvPr/>
        </p:nvSpPr>
        <p:spPr>
          <a:xfrm>
            <a:off x="914400" y="4749800"/>
            <a:ext cx="76200" cy="660400"/>
          </a:xfrm>
          <a:prstGeom prst="rect">
            <a:avLst/>
          </a:prstGeom>
          <a:solidFill>
            <a:srgbClr val="2369C8"/>
          </a:solidFill>
          <a:ln w="12700">
            <a:solidFill>
              <a:srgbClr val="2369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gate-title-0">
            <a:extLst>
              <a:ext uri="{FF2B5EF4-FFF2-40B4-BE49-F238E27FC236}">
                <a16:creationId xmlns:a16="http://schemas.microsoft.com/office/drawing/2014/main" id="{BB457055-8CF7-6A82-C417-C95A8667CA10}"/>
              </a:ext>
            </a:extLst>
          </p:cNvPr>
          <p:cNvSpPr txBox="1"/>
          <p:nvPr/>
        </p:nvSpPr>
        <p:spPr>
          <a:xfrm>
            <a:off x="1168400" y="4902200"/>
            <a:ext cx="1625600" cy="276999"/>
          </a:xfrm>
          <a:prstGeom prst="rect">
            <a:avLst/>
          </a:prstGeom>
          <a:noFill/>
        </p:spPr>
        <p:txBody>
          <a:bodyPr vert="horz" wrap="square" lIns="0" tIns="0" rIns="0" bIns="0" rtlCol="0">
            <a:noAutofit/>
          </a:bodyPr>
          <a:lstStyle/>
          <a:p>
            <a:r>
              <a:rPr lang="en-US" altLang="zh-CN" sz="900" b="1">
                <a:solidFill>
                  <a:srgbClr val="0D182C"/>
                </a:solidFill>
                <a:latin typeface="Aptos" panose="020B0004020202020204" pitchFamily="34" charset="0"/>
              </a:rPr>
              <a:t>Freeze D</a:t>
            </a:r>
            <a:endParaRPr lang="zh-CN" altLang="en-US" sz="900" b="1">
              <a:solidFill>
                <a:srgbClr val="0D182C"/>
              </a:solidFill>
              <a:latin typeface="Aptos" panose="020B0004020202020204" pitchFamily="34" charset="0"/>
            </a:endParaRPr>
          </a:p>
        </p:txBody>
      </p:sp>
      <p:sp>
        <p:nvSpPr>
          <p:cNvPr id="22" name="gate-sub-0">
            <a:extLst>
              <a:ext uri="{FF2B5EF4-FFF2-40B4-BE49-F238E27FC236}">
                <a16:creationId xmlns:a16="http://schemas.microsoft.com/office/drawing/2014/main" id="{E7BE0E0E-B739-522B-769B-A1FA4F72B052}"/>
              </a:ext>
            </a:extLst>
          </p:cNvPr>
          <p:cNvSpPr txBox="1"/>
          <p:nvPr/>
        </p:nvSpPr>
        <p:spPr>
          <a:xfrm>
            <a:off x="1168400" y="5168900"/>
            <a:ext cx="16764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no denominator drift</a:t>
            </a:r>
            <a:endParaRPr lang="zh-CN" altLang="en-US" sz="720">
              <a:solidFill>
                <a:srgbClr val="536580"/>
              </a:solidFill>
              <a:latin typeface="Aptos" panose="020B0004020202020204" pitchFamily="34" charset="0"/>
            </a:endParaRPr>
          </a:p>
        </p:txBody>
      </p:sp>
      <p:sp>
        <p:nvSpPr>
          <p:cNvPr id="23" name="gate-1">
            <a:extLst>
              <a:ext uri="{FF2B5EF4-FFF2-40B4-BE49-F238E27FC236}">
                <a16:creationId xmlns:a16="http://schemas.microsoft.com/office/drawing/2014/main" id="{A2F021CF-4F23-B5D9-251C-FC5EBE8BF038}"/>
              </a:ext>
            </a:extLst>
          </p:cNvPr>
          <p:cNvSpPr/>
          <p:nvPr/>
        </p:nvSpPr>
        <p:spPr>
          <a:xfrm>
            <a:off x="3632200" y="4749800"/>
            <a:ext cx="2235200" cy="660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gate-band-1">
            <a:extLst>
              <a:ext uri="{FF2B5EF4-FFF2-40B4-BE49-F238E27FC236}">
                <a16:creationId xmlns:a16="http://schemas.microsoft.com/office/drawing/2014/main" id="{FD427956-E71B-24FA-D713-3AEB2143CD1E}"/>
              </a:ext>
            </a:extLst>
          </p:cNvPr>
          <p:cNvSpPr/>
          <p:nvPr/>
        </p:nvSpPr>
        <p:spPr>
          <a:xfrm>
            <a:off x="3632200" y="4749800"/>
            <a:ext cx="76200" cy="660400"/>
          </a:xfrm>
          <a:prstGeom prst="rect">
            <a:avLst/>
          </a:prstGeom>
          <a:solidFill>
            <a:srgbClr val="00AABE"/>
          </a:solidFill>
          <a:ln w="12700">
            <a:solidFill>
              <a:srgbClr val="00A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gate-title-1">
            <a:extLst>
              <a:ext uri="{FF2B5EF4-FFF2-40B4-BE49-F238E27FC236}">
                <a16:creationId xmlns:a16="http://schemas.microsoft.com/office/drawing/2014/main" id="{E7C2D4E1-39F1-809A-2ADA-A7B51D2C92D7}"/>
              </a:ext>
            </a:extLst>
          </p:cNvPr>
          <p:cNvSpPr txBox="1"/>
          <p:nvPr/>
        </p:nvSpPr>
        <p:spPr>
          <a:xfrm>
            <a:off x="3886200" y="4902200"/>
            <a:ext cx="1625600" cy="276999"/>
          </a:xfrm>
          <a:prstGeom prst="rect">
            <a:avLst/>
          </a:prstGeom>
          <a:noFill/>
        </p:spPr>
        <p:txBody>
          <a:bodyPr vert="horz" wrap="square" lIns="0" tIns="0" rIns="0" bIns="0" rtlCol="0">
            <a:noAutofit/>
          </a:bodyPr>
          <a:lstStyle/>
          <a:p>
            <a:r>
              <a:rPr lang="en-US" altLang="zh-CN" sz="900" b="1">
                <a:solidFill>
                  <a:srgbClr val="0D182C"/>
                </a:solidFill>
                <a:latin typeface="Aptos" panose="020B0004020202020204" pitchFamily="34" charset="0"/>
              </a:rPr>
              <a:t>Verify C</a:t>
            </a:r>
            <a:endParaRPr lang="zh-CN" altLang="en-US" sz="900" b="1">
              <a:solidFill>
                <a:srgbClr val="0D182C"/>
              </a:solidFill>
              <a:latin typeface="Aptos" panose="020B0004020202020204" pitchFamily="34" charset="0"/>
            </a:endParaRPr>
          </a:p>
        </p:txBody>
      </p:sp>
      <p:sp>
        <p:nvSpPr>
          <p:cNvPr id="26" name="gate-sub-1">
            <a:extLst>
              <a:ext uri="{FF2B5EF4-FFF2-40B4-BE49-F238E27FC236}">
                <a16:creationId xmlns:a16="http://schemas.microsoft.com/office/drawing/2014/main" id="{F3C3557F-2B4F-C8CB-D798-724AC411544C}"/>
              </a:ext>
            </a:extLst>
          </p:cNvPr>
          <p:cNvSpPr txBox="1"/>
          <p:nvPr/>
        </p:nvSpPr>
        <p:spPr>
          <a:xfrm>
            <a:off x="3886200" y="5168900"/>
            <a:ext cx="16764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controls before outcome</a:t>
            </a:r>
            <a:endParaRPr lang="zh-CN" altLang="en-US" sz="720">
              <a:solidFill>
                <a:srgbClr val="536580"/>
              </a:solidFill>
              <a:latin typeface="Aptos" panose="020B0004020202020204" pitchFamily="34" charset="0"/>
            </a:endParaRPr>
          </a:p>
        </p:txBody>
      </p:sp>
      <p:sp>
        <p:nvSpPr>
          <p:cNvPr id="27" name="gate-2">
            <a:extLst>
              <a:ext uri="{FF2B5EF4-FFF2-40B4-BE49-F238E27FC236}">
                <a16:creationId xmlns:a16="http://schemas.microsoft.com/office/drawing/2014/main" id="{E9A0ED52-2454-C71F-FD6B-EE34867DEFA5}"/>
              </a:ext>
            </a:extLst>
          </p:cNvPr>
          <p:cNvSpPr/>
          <p:nvPr/>
        </p:nvSpPr>
        <p:spPr>
          <a:xfrm>
            <a:off x="6350000" y="4749800"/>
            <a:ext cx="2235200" cy="660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gate-band-2">
            <a:extLst>
              <a:ext uri="{FF2B5EF4-FFF2-40B4-BE49-F238E27FC236}">
                <a16:creationId xmlns:a16="http://schemas.microsoft.com/office/drawing/2014/main" id="{2BEB0291-9021-C375-BD75-EF5602CF5E07}"/>
              </a:ext>
            </a:extLst>
          </p:cNvPr>
          <p:cNvSpPr/>
          <p:nvPr/>
        </p:nvSpPr>
        <p:spPr>
          <a:xfrm>
            <a:off x="6350000" y="4749800"/>
            <a:ext cx="76200" cy="660400"/>
          </a:xfrm>
          <a:prstGeom prst="rect">
            <a:avLst/>
          </a:prstGeom>
          <a:solidFill>
            <a:srgbClr val="EE9122"/>
          </a:solidFill>
          <a:ln w="12700">
            <a:solidFill>
              <a:srgbClr val="EE91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gate-title-2">
            <a:extLst>
              <a:ext uri="{FF2B5EF4-FFF2-40B4-BE49-F238E27FC236}">
                <a16:creationId xmlns:a16="http://schemas.microsoft.com/office/drawing/2014/main" id="{56AE0BCC-5995-49FF-5278-679D3B77546D}"/>
              </a:ext>
            </a:extLst>
          </p:cNvPr>
          <p:cNvSpPr txBox="1"/>
          <p:nvPr/>
        </p:nvSpPr>
        <p:spPr>
          <a:xfrm>
            <a:off x="6604000" y="4902200"/>
            <a:ext cx="1625600" cy="276999"/>
          </a:xfrm>
          <a:prstGeom prst="rect">
            <a:avLst/>
          </a:prstGeom>
          <a:noFill/>
        </p:spPr>
        <p:txBody>
          <a:bodyPr vert="horz" wrap="square" lIns="0" tIns="0" rIns="0" bIns="0" rtlCol="0">
            <a:noAutofit/>
          </a:bodyPr>
          <a:lstStyle/>
          <a:p>
            <a:r>
              <a:rPr lang="en-US" altLang="zh-CN" sz="900" b="1">
                <a:solidFill>
                  <a:srgbClr val="0D182C"/>
                </a:solidFill>
                <a:latin typeface="Aptos" panose="020B0004020202020204" pitchFamily="34" charset="0"/>
              </a:rPr>
              <a:t>Bind A/H</a:t>
            </a:r>
            <a:endParaRPr lang="zh-CN" altLang="en-US" sz="900" b="1">
              <a:solidFill>
                <a:srgbClr val="0D182C"/>
              </a:solidFill>
              <a:latin typeface="Aptos" panose="020B0004020202020204" pitchFamily="34" charset="0"/>
            </a:endParaRPr>
          </a:p>
        </p:txBody>
      </p:sp>
      <p:sp>
        <p:nvSpPr>
          <p:cNvPr id="30" name="gate-sub-2">
            <a:extLst>
              <a:ext uri="{FF2B5EF4-FFF2-40B4-BE49-F238E27FC236}">
                <a16:creationId xmlns:a16="http://schemas.microsoft.com/office/drawing/2014/main" id="{52BFE8D1-F9CB-75A0-D059-0919E757F313}"/>
              </a:ext>
            </a:extLst>
          </p:cNvPr>
          <p:cNvSpPr txBox="1"/>
          <p:nvPr/>
        </p:nvSpPr>
        <p:spPr>
          <a:xfrm>
            <a:off x="6604000" y="5168900"/>
            <a:ext cx="16764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artifact plus hash</a:t>
            </a:r>
            <a:endParaRPr lang="zh-CN" altLang="en-US" sz="720">
              <a:solidFill>
                <a:srgbClr val="536580"/>
              </a:solidFill>
              <a:latin typeface="Aptos" panose="020B0004020202020204" pitchFamily="34" charset="0"/>
            </a:endParaRPr>
          </a:p>
        </p:txBody>
      </p:sp>
      <p:sp>
        <p:nvSpPr>
          <p:cNvPr id="31" name="gate-3">
            <a:extLst>
              <a:ext uri="{FF2B5EF4-FFF2-40B4-BE49-F238E27FC236}">
                <a16:creationId xmlns:a16="http://schemas.microsoft.com/office/drawing/2014/main" id="{944F6095-7002-8D47-8B74-F93CBA6AFD7E}"/>
              </a:ext>
            </a:extLst>
          </p:cNvPr>
          <p:cNvSpPr/>
          <p:nvPr/>
        </p:nvSpPr>
        <p:spPr>
          <a:xfrm>
            <a:off x="9067800" y="4749800"/>
            <a:ext cx="2235200" cy="660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gate-band-3">
            <a:extLst>
              <a:ext uri="{FF2B5EF4-FFF2-40B4-BE49-F238E27FC236}">
                <a16:creationId xmlns:a16="http://schemas.microsoft.com/office/drawing/2014/main" id="{9C4E396F-9691-CE12-22D7-8AAE7FB921AD}"/>
              </a:ext>
            </a:extLst>
          </p:cNvPr>
          <p:cNvSpPr/>
          <p:nvPr/>
        </p:nvSpPr>
        <p:spPr>
          <a:xfrm>
            <a:off x="9067800" y="4749800"/>
            <a:ext cx="76200" cy="660400"/>
          </a:xfrm>
          <a:prstGeom prst="rect">
            <a:avLst/>
          </a:prstGeom>
          <a:solidFill>
            <a:srgbClr val="008E66"/>
          </a:solidFill>
          <a:ln w="12700">
            <a:solidFill>
              <a:srgbClr val="008E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gate-title-3">
            <a:extLst>
              <a:ext uri="{FF2B5EF4-FFF2-40B4-BE49-F238E27FC236}">
                <a16:creationId xmlns:a16="http://schemas.microsoft.com/office/drawing/2014/main" id="{9B47BB64-6952-7F7B-B053-CCCED968D49D}"/>
              </a:ext>
            </a:extLst>
          </p:cNvPr>
          <p:cNvSpPr txBox="1"/>
          <p:nvPr/>
        </p:nvSpPr>
        <p:spPr>
          <a:xfrm>
            <a:off x="9321800" y="4902200"/>
            <a:ext cx="1625600" cy="276999"/>
          </a:xfrm>
          <a:prstGeom prst="rect">
            <a:avLst/>
          </a:prstGeom>
          <a:noFill/>
        </p:spPr>
        <p:txBody>
          <a:bodyPr vert="horz" wrap="square" lIns="0" tIns="0" rIns="0" bIns="0" rtlCol="0">
            <a:noAutofit/>
          </a:bodyPr>
          <a:lstStyle/>
          <a:p>
            <a:r>
              <a:rPr lang="en-US" altLang="zh-CN" sz="900" b="1">
                <a:solidFill>
                  <a:srgbClr val="0D182C"/>
                </a:solidFill>
                <a:latin typeface="Aptos" panose="020B0004020202020204" pitchFamily="34" charset="0"/>
              </a:rPr>
              <a:t>State B</a:t>
            </a:r>
            <a:endParaRPr lang="zh-CN" altLang="en-US" sz="900" b="1">
              <a:solidFill>
                <a:srgbClr val="0D182C"/>
              </a:solidFill>
              <a:latin typeface="Aptos" panose="020B0004020202020204" pitchFamily="34" charset="0"/>
            </a:endParaRPr>
          </a:p>
        </p:txBody>
      </p:sp>
      <p:sp>
        <p:nvSpPr>
          <p:cNvPr id="34" name="gate-sub-3">
            <a:extLst>
              <a:ext uri="{FF2B5EF4-FFF2-40B4-BE49-F238E27FC236}">
                <a16:creationId xmlns:a16="http://schemas.microsoft.com/office/drawing/2014/main" id="{269BCEA7-B9AC-9FE6-54B8-9B2B2D7EB38C}"/>
              </a:ext>
            </a:extLst>
          </p:cNvPr>
          <p:cNvSpPr txBox="1"/>
          <p:nvPr/>
        </p:nvSpPr>
        <p:spPr>
          <a:xfrm>
            <a:off x="9321800" y="5168900"/>
            <a:ext cx="16764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explicit boundary</a:t>
            </a:r>
            <a:endParaRPr lang="zh-CN" altLang="en-US" sz="720">
              <a:solidFill>
                <a:srgbClr val="536580"/>
              </a:solidFill>
              <a:latin typeface="Aptos" panose="020B0004020202020204" pitchFamily="34" charset="0"/>
            </a:endParaRPr>
          </a:p>
        </p:txBody>
      </p:sp>
    </p:spTree>
    <p:extLst>
      <p:ext uri="{BB962C8B-B14F-4D97-AF65-F5344CB8AC3E}">
        <p14:creationId xmlns:p14="http://schemas.microsoft.com/office/powerpoint/2010/main" val="2164490533"/>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94989859-C712-3E48-28A0-C6C10C2B3252}"/>
              </a:ext>
            </a:extLst>
          </p:cNvPr>
          <p:cNvSpPr/>
          <p:nvPr/>
        </p:nvSpPr>
        <p:spPr>
          <a:xfrm>
            <a:off x="0" y="0"/>
            <a:ext cx="121920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dark-panel">
            <a:extLst>
              <a:ext uri="{FF2B5EF4-FFF2-40B4-BE49-F238E27FC236}">
                <a16:creationId xmlns:a16="http://schemas.microsoft.com/office/drawing/2014/main" id="{BADF0AD1-336C-8AE7-06A5-E7C9BD72ABB4}"/>
              </a:ext>
            </a:extLst>
          </p:cNvPr>
          <p:cNvSpPr/>
          <p:nvPr/>
        </p:nvSpPr>
        <p:spPr>
          <a:xfrm>
            <a:off x="0" y="0"/>
            <a:ext cx="12192000" cy="6858000"/>
          </a:xfrm>
          <a:prstGeom prst="rect">
            <a:avLst/>
          </a:prstGeom>
          <a:solidFill>
            <a:srgbClr val="032048">
              <a:alpha val="9000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grid-v-0">
            <a:extLst>
              <a:ext uri="{FF2B5EF4-FFF2-40B4-BE49-F238E27FC236}">
                <a16:creationId xmlns:a16="http://schemas.microsoft.com/office/drawing/2014/main" id="{DC380E90-7500-408B-918D-742C8B7FF56D}"/>
              </a:ext>
            </a:extLst>
          </p:cNvPr>
          <p:cNvCxnSpPr/>
          <p:nvPr/>
        </p:nvCxnSpPr>
        <p:spPr>
          <a:xfrm>
            <a:off x="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5" name="grid-v-64">
            <a:extLst>
              <a:ext uri="{FF2B5EF4-FFF2-40B4-BE49-F238E27FC236}">
                <a16:creationId xmlns:a16="http://schemas.microsoft.com/office/drawing/2014/main" id="{8F4B180C-82B7-1A14-FE5F-F905E8DDC10C}"/>
              </a:ext>
            </a:extLst>
          </p:cNvPr>
          <p:cNvCxnSpPr/>
          <p:nvPr/>
        </p:nvCxnSpPr>
        <p:spPr>
          <a:xfrm>
            <a:off x="812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6" name="grid-v-128">
            <a:extLst>
              <a:ext uri="{FF2B5EF4-FFF2-40B4-BE49-F238E27FC236}">
                <a16:creationId xmlns:a16="http://schemas.microsoft.com/office/drawing/2014/main" id="{0BC57537-FF26-3241-A4F2-42DC98A53882}"/>
              </a:ext>
            </a:extLst>
          </p:cNvPr>
          <p:cNvCxnSpPr/>
          <p:nvPr/>
        </p:nvCxnSpPr>
        <p:spPr>
          <a:xfrm>
            <a:off x="1625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7" name="grid-v-192">
            <a:extLst>
              <a:ext uri="{FF2B5EF4-FFF2-40B4-BE49-F238E27FC236}">
                <a16:creationId xmlns:a16="http://schemas.microsoft.com/office/drawing/2014/main" id="{33309C72-E967-5E27-826B-FFB1F9B404A5}"/>
              </a:ext>
            </a:extLst>
          </p:cNvPr>
          <p:cNvCxnSpPr/>
          <p:nvPr/>
        </p:nvCxnSpPr>
        <p:spPr>
          <a:xfrm>
            <a:off x="2438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8" name="grid-v-256">
            <a:extLst>
              <a:ext uri="{FF2B5EF4-FFF2-40B4-BE49-F238E27FC236}">
                <a16:creationId xmlns:a16="http://schemas.microsoft.com/office/drawing/2014/main" id="{641CD5FA-C7FA-F4AA-CD65-22361F45C698}"/>
              </a:ext>
            </a:extLst>
          </p:cNvPr>
          <p:cNvCxnSpPr/>
          <p:nvPr/>
        </p:nvCxnSpPr>
        <p:spPr>
          <a:xfrm>
            <a:off x="3251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9" name="grid-v-320">
            <a:extLst>
              <a:ext uri="{FF2B5EF4-FFF2-40B4-BE49-F238E27FC236}">
                <a16:creationId xmlns:a16="http://schemas.microsoft.com/office/drawing/2014/main" id="{C7F136E5-4A26-AC56-02BB-C1C3D5686065}"/>
              </a:ext>
            </a:extLst>
          </p:cNvPr>
          <p:cNvCxnSpPr/>
          <p:nvPr/>
        </p:nvCxnSpPr>
        <p:spPr>
          <a:xfrm>
            <a:off x="4064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0" name="grid-v-384">
            <a:extLst>
              <a:ext uri="{FF2B5EF4-FFF2-40B4-BE49-F238E27FC236}">
                <a16:creationId xmlns:a16="http://schemas.microsoft.com/office/drawing/2014/main" id="{9AB4F9D9-4BF7-E2A5-A360-CB21B542F3D0}"/>
              </a:ext>
            </a:extLst>
          </p:cNvPr>
          <p:cNvCxnSpPr/>
          <p:nvPr/>
        </p:nvCxnSpPr>
        <p:spPr>
          <a:xfrm>
            <a:off x="4876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1" name="grid-v-448">
            <a:extLst>
              <a:ext uri="{FF2B5EF4-FFF2-40B4-BE49-F238E27FC236}">
                <a16:creationId xmlns:a16="http://schemas.microsoft.com/office/drawing/2014/main" id="{4E7425E1-6036-4520-20EF-844080E6136B}"/>
              </a:ext>
            </a:extLst>
          </p:cNvPr>
          <p:cNvCxnSpPr/>
          <p:nvPr/>
        </p:nvCxnSpPr>
        <p:spPr>
          <a:xfrm>
            <a:off x="5689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2" name="grid-v-512">
            <a:extLst>
              <a:ext uri="{FF2B5EF4-FFF2-40B4-BE49-F238E27FC236}">
                <a16:creationId xmlns:a16="http://schemas.microsoft.com/office/drawing/2014/main" id="{EACC8D4B-5137-2556-BD28-32229DABAF1B}"/>
              </a:ext>
            </a:extLst>
          </p:cNvPr>
          <p:cNvCxnSpPr/>
          <p:nvPr/>
        </p:nvCxnSpPr>
        <p:spPr>
          <a:xfrm>
            <a:off x="6502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3" name="grid-v-576">
            <a:extLst>
              <a:ext uri="{FF2B5EF4-FFF2-40B4-BE49-F238E27FC236}">
                <a16:creationId xmlns:a16="http://schemas.microsoft.com/office/drawing/2014/main" id="{7F972E7E-7321-EED3-758B-F602CCF4A3AE}"/>
              </a:ext>
            </a:extLst>
          </p:cNvPr>
          <p:cNvCxnSpPr/>
          <p:nvPr/>
        </p:nvCxnSpPr>
        <p:spPr>
          <a:xfrm>
            <a:off x="7315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4" name="grid-v-640">
            <a:extLst>
              <a:ext uri="{FF2B5EF4-FFF2-40B4-BE49-F238E27FC236}">
                <a16:creationId xmlns:a16="http://schemas.microsoft.com/office/drawing/2014/main" id="{E04C9F71-6B00-70E3-407E-7E6FCD4F4238}"/>
              </a:ext>
            </a:extLst>
          </p:cNvPr>
          <p:cNvCxnSpPr/>
          <p:nvPr/>
        </p:nvCxnSpPr>
        <p:spPr>
          <a:xfrm>
            <a:off x="8128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5" name="grid-v-704">
            <a:extLst>
              <a:ext uri="{FF2B5EF4-FFF2-40B4-BE49-F238E27FC236}">
                <a16:creationId xmlns:a16="http://schemas.microsoft.com/office/drawing/2014/main" id="{D321CE26-EA00-0D5A-60DD-D7DFACD89CB3}"/>
              </a:ext>
            </a:extLst>
          </p:cNvPr>
          <p:cNvCxnSpPr/>
          <p:nvPr/>
        </p:nvCxnSpPr>
        <p:spPr>
          <a:xfrm>
            <a:off x="8940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6" name="grid-v-768">
            <a:extLst>
              <a:ext uri="{FF2B5EF4-FFF2-40B4-BE49-F238E27FC236}">
                <a16:creationId xmlns:a16="http://schemas.microsoft.com/office/drawing/2014/main" id="{5095E0CA-E67E-0631-CA67-EE4494B6A00B}"/>
              </a:ext>
            </a:extLst>
          </p:cNvPr>
          <p:cNvCxnSpPr/>
          <p:nvPr/>
        </p:nvCxnSpPr>
        <p:spPr>
          <a:xfrm>
            <a:off x="9753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7" name="grid-v-832">
            <a:extLst>
              <a:ext uri="{FF2B5EF4-FFF2-40B4-BE49-F238E27FC236}">
                <a16:creationId xmlns:a16="http://schemas.microsoft.com/office/drawing/2014/main" id="{8AB51A8D-0396-3ADF-8514-A16500D7F645}"/>
              </a:ext>
            </a:extLst>
          </p:cNvPr>
          <p:cNvCxnSpPr/>
          <p:nvPr/>
        </p:nvCxnSpPr>
        <p:spPr>
          <a:xfrm>
            <a:off x="10566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8" name="grid-v-896">
            <a:extLst>
              <a:ext uri="{FF2B5EF4-FFF2-40B4-BE49-F238E27FC236}">
                <a16:creationId xmlns:a16="http://schemas.microsoft.com/office/drawing/2014/main" id="{3D364294-DDD4-8699-C398-3FCE61A55F7F}"/>
              </a:ext>
            </a:extLst>
          </p:cNvPr>
          <p:cNvCxnSpPr/>
          <p:nvPr/>
        </p:nvCxnSpPr>
        <p:spPr>
          <a:xfrm>
            <a:off x="11379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9" name="grid-v-960">
            <a:extLst>
              <a:ext uri="{FF2B5EF4-FFF2-40B4-BE49-F238E27FC236}">
                <a16:creationId xmlns:a16="http://schemas.microsoft.com/office/drawing/2014/main" id="{D6CFBAC3-A84D-A7CA-39E6-1E96D88197ED}"/>
              </a:ext>
            </a:extLst>
          </p:cNvPr>
          <p:cNvCxnSpPr/>
          <p:nvPr/>
        </p:nvCxnSpPr>
        <p:spPr>
          <a:xfrm>
            <a:off x="12192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0" name="grid-h-0">
            <a:extLst>
              <a:ext uri="{FF2B5EF4-FFF2-40B4-BE49-F238E27FC236}">
                <a16:creationId xmlns:a16="http://schemas.microsoft.com/office/drawing/2014/main" id="{38419C10-8A7E-A2EC-BA07-73F274E26AB0}"/>
              </a:ext>
            </a:extLst>
          </p:cNvPr>
          <p:cNvCxnSpPr/>
          <p:nvPr/>
        </p:nvCxnSpPr>
        <p:spPr>
          <a:xfrm>
            <a:off x="0" y="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1" name="grid-h-64">
            <a:extLst>
              <a:ext uri="{FF2B5EF4-FFF2-40B4-BE49-F238E27FC236}">
                <a16:creationId xmlns:a16="http://schemas.microsoft.com/office/drawing/2014/main" id="{1FF7BFD0-E5F3-9546-F7AC-1E00F6FA764B}"/>
              </a:ext>
            </a:extLst>
          </p:cNvPr>
          <p:cNvCxnSpPr/>
          <p:nvPr/>
        </p:nvCxnSpPr>
        <p:spPr>
          <a:xfrm>
            <a:off x="0" y="812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2" name="grid-h-128">
            <a:extLst>
              <a:ext uri="{FF2B5EF4-FFF2-40B4-BE49-F238E27FC236}">
                <a16:creationId xmlns:a16="http://schemas.microsoft.com/office/drawing/2014/main" id="{D39ED34E-794A-3D93-39FF-CB0C89066C0C}"/>
              </a:ext>
            </a:extLst>
          </p:cNvPr>
          <p:cNvCxnSpPr/>
          <p:nvPr/>
        </p:nvCxnSpPr>
        <p:spPr>
          <a:xfrm>
            <a:off x="0" y="1625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3" name="grid-h-192">
            <a:extLst>
              <a:ext uri="{FF2B5EF4-FFF2-40B4-BE49-F238E27FC236}">
                <a16:creationId xmlns:a16="http://schemas.microsoft.com/office/drawing/2014/main" id="{17B45764-9CCD-5F9E-BD64-CB667BC1DE99}"/>
              </a:ext>
            </a:extLst>
          </p:cNvPr>
          <p:cNvCxnSpPr/>
          <p:nvPr/>
        </p:nvCxnSpPr>
        <p:spPr>
          <a:xfrm>
            <a:off x="0" y="2438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4" name="grid-h-256">
            <a:extLst>
              <a:ext uri="{FF2B5EF4-FFF2-40B4-BE49-F238E27FC236}">
                <a16:creationId xmlns:a16="http://schemas.microsoft.com/office/drawing/2014/main" id="{455BFBCD-C18D-B246-1C93-EB921593A4C8}"/>
              </a:ext>
            </a:extLst>
          </p:cNvPr>
          <p:cNvCxnSpPr/>
          <p:nvPr/>
        </p:nvCxnSpPr>
        <p:spPr>
          <a:xfrm>
            <a:off x="0" y="32512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5" name="grid-h-320">
            <a:extLst>
              <a:ext uri="{FF2B5EF4-FFF2-40B4-BE49-F238E27FC236}">
                <a16:creationId xmlns:a16="http://schemas.microsoft.com/office/drawing/2014/main" id="{25598014-EE8D-DA4B-CA72-0A29E3F2D515}"/>
              </a:ext>
            </a:extLst>
          </p:cNvPr>
          <p:cNvCxnSpPr/>
          <p:nvPr/>
        </p:nvCxnSpPr>
        <p:spPr>
          <a:xfrm>
            <a:off x="0" y="40640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6" name="grid-h-384">
            <a:extLst>
              <a:ext uri="{FF2B5EF4-FFF2-40B4-BE49-F238E27FC236}">
                <a16:creationId xmlns:a16="http://schemas.microsoft.com/office/drawing/2014/main" id="{CBF4CF99-E007-B6CC-D8DF-9120A0F15377}"/>
              </a:ext>
            </a:extLst>
          </p:cNvPr>
          <p:cNvCxnSpPr/>
          <p:nvPr/>
        </p:nvCxnSpPr>
        <p:spPr>
          <a:xfrm>
            <a:off x="0" y="4876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7" name="grid-h-448">
            <a:extLst>
              <a:ext uri="{FF2B5EF4-FFF2-40B4-BE49-F238E27FC236}">
                <a16:creationId xmlns:a16="http://schemas.microsoft.com/office/drawing/2014/main" id="{BE9A6248-86B3-7A6C-D12E-4977AB8A7C23}"/>
              </a:ext>
            </a:extLst>
          </p:cNvPr>
          <p:cNvCxnSpPr/>
          <p:nvPr/>
        </p:nvCxnSpPr>
        <p:spPr>
          <a:xfrm>
            <a:off x="0" y="5689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8" name="grid-h-512">
            <a:extLst>
              <a:ext uri="{FF2B5EF4-FFF2-40B4-BE49-F238E27FC236}">
                <a16:creationId xmlns:a16="http://schemas.microsoft.com/office/drawing/2014/main" id="{E7066E96-FE98-9E3A-E4A0-52C67B42EC5C}"/>
              </a:ext>
            </a:extLst>
          </p:cNvPr>
          <p:cNvCxnSpPr/>
          <p:nvPr/>
        </p:nvCxnSpPr>
        <p:spPr>
          <a:xfrm>
            <a:off x="0" y="6502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sp>
        <p:nvSpPr>
          <p:cNvPr id="29" name="page-num">
            <a:extLst>
              <a:ext uri="{FF2B5EF4-FFF2-40B4-BE49-F238E27FC236}">
                <a16:creationId xmlns:a16="http://schemas.microsoft.com/office/drawing/2014/main" id="{2F6A5579-C292-917A-A7A8-0E6F4EFBE3E9}"/>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B4CDEB"/>
                </a:solidFill>
                <a:latin typeface="Aptos" panose="020B0004020202020204" pitchFamily="34" charset="0"/>
              </a:rPr>
              <a:t>07</a:t>
            </a:r>
            <a:endParaRPr lang="zh-CN" altLang="en-US" sz="650">
              <a:solidFill>
                <a:srgbClr val="B4CDEB"/>
              </a:solidFill>
              <a:latin typeface="Aptos" panose="020B0004020202020204" pitchFamily="34" charset="0"/>
            </a:endParaRPr>
          </a:p>
        </p:txBody>
      </p:sp>
      <p:sp>
        <p:nvSpPr>
          <p:cNvPr id="30" name="section-label">
            <a:extLst>
              <a:ext uri="{FF2B5EF4-FFF2-40B4-BE49-F238E27FC236}">
                <a16:creationId xmlns:a16="http://schemas.microsoft.com/office/drawing/2014/main" id="{3FD843EF-583A-5B4C-CB7B-8EC641F2F5A4}"/>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BEDCFF"/>
                </a:solidFill>
                <a:latin typeface="Aptos" panose="020B0004020202020204" pitchFamily="34" charset="0"/>
              </a:rPr>
              <a:t>RESULTS</a:t>
            </a:r>
            <a:endParaRPr lang="zh-CN" altLang="en-US" sz="700" b="1">
              <a:solidFill>
                <a:srgbClr val="BEDCFF"/>
              </a:solidFill>
              <a:latin typeface="Aptos" panose="020B0004020202020204" pitchFamily="34" charset="0"/>
            </a:endParaRPr>
          </a:p>
        </p:txBody>
      </p:sp>
      <p:sp>
        <p:nvSpPr>
          <p:cNvPr id="31" name="title">
            <a:extLst>
              <a:ext uri="{FF2B5EF4-FFF2-40B4-BE49-F238E27FC236}">
                <a16:creationId xmlns:a16="http://schemas.microsoft.com/office/drawing/2014/main" id="{171ED3E3-496B-B786-802D-AD770308039A}"/>
              </a:ext>
            </a:extLst>
          </p:cNvPr>
          <p:cNvSpPr txBox="1"/>
          <p:nvPr/>
        </p:nvSpPr>
        <p:spPr>
          <a:xfrm>
            <a:off x="685800" y="685800"/>
            <a:ext cx="9906000" cy="276999"/>
          </a:xfrm>
          <a:prstGeom prst="rect">
            <a:avLst/>
          </a:prstGeom>
          <a:noFill/>
        </p:spPr>
        <p:txBody>
          <a:bodyPr vert="horz" wrap="square" lIns="0" tIns="0" rIns="0" bIns="0" rtlCol="0">
            <a:noAutofit/>
          </a:bodyPr>
          <a:lstStyle/>
          <a:p>
            <a:r>
              <a:rPr lang="en-US" altLang="zh-CN" sz="2700" b="1">
                <a:solidFill>
                  <a:srgbClr val="FFFFFF"/>
                </a:solidFill>
                <a:latin typeface="Aptos" panose="020B0004020202020204" pitchFamily="34" charset="0"/>
              </a:rPr>
              <a:t>Submitted FYP evidence surface</a:t>
            </a:r>
            <a:endParaRPr lang="zh-CN" altLang="en-US" sz="2700" b="1">
              <a:solidFill>
                <a:srgbClr val="FFFFFF"/>
              </a:solidFill>
              <a:latin typeface="Aptos" panose="020B0004020202020204" pitchFamily="34" charset="0"/>
            </a:endParaRPr>
          </a:p>
        </p:txBody>
      </p:sp>
      <p:sp>
        <p:nvSpPr>
          <p:cNvPr id="32" name="subtitle">
            <a:extLst>
              <a:ext uri="{FF2B5EF4-FFF2-40B4-BE49-F238E27FC236}">
                <a16:creationId xmlns:a16="http://schemas.microsoft.com/office/drawing/2014/main" id="{62A63DBA-6C97-EF10-D1E0-A62F1C474FF4}"/>
              </a:ext>
            </a:extLst>
          </p:cNvPr>
          <p:cNvSpPr txBox="1"/>
          <p:nvPr/>
        </p:nvSpPr>
        <p:spPr>
          <a:xfrm>
            <a:off x="736600" y="1295400"/>
            <a:ext cx="9652000" cy="276999"/>
          </a:xfrm>
          <a:prstGeom prst="rect">
            <a:avLst/>
          </a:prstGeom>
          <a:noFill/>
        </p:spPr>
        <p:txBody>
          <a:bodyPr vert="horz" wrap="square" lIns="0" tIns="0" rIns="0" bIns="0" rtlCol="0">
            <a:noAutofit/>
          </a:bodyPr>
          <a:lstStyle/>
          <a:p>
            <a:r>
              <a:rPr lang="en-US" altLang="zh-CN" sz="980">
                <a:solidFill>
                  <a:srgbClr val="CDE1F8"/>
                </a:solidFill>
                <a:latin typeface="Aptos" panose="020B0004020202020204" pitchFamily="34" charset="0"/>
              </a:rPr>
              <a:t>These are the headline numbers in the submitted dissertation snapshot.</a:t>
            </a:r>
            <a:endParaRPr lang="zh-CN" altLang="en-US" sz="980">
              <a:solidFill>
                <a:srgbClr val="CDE1F8"/>
              </a:solidFill>
              <a:latin typeface="Aptos" panose="020B0004020202020204" pitchFamily="34" charset="0"/>
            </a:endParaRPr>
          </a:p>
        </p:txBody>
      </p:sp>
      <p:sp>
        <p:nvSpPr>
          <p:cNvPr id="33" name="metric-0">
            <a:extLst>
              <a:ext uri="{FF2B5EF4-FFF2-40B4-BE49-F238E27FC236}">
                <a16:creationId xmlns:a16="http://schemas.microsoft.com/office/drawing/2014/main" id="{1696DCA2-FA0E-1589-41D5-EC2FD5BE059B}"/>
              </a:ext>
            </a:extLst>
          </p:cNvPr>
          <p:cNvSpPr/>
          <p:nvPr/>
        </p:nvSpPr>
        <p:spPr>
          <a:xfrm>
            <a:off x="812800" y="2006600"/>
            <a:ext cx="3149600" cy="1625600"/>
          </a:xfrm>
          <a:prstGeom prst="rect">
            <a:avLst/>
          </a:prstGeom>
          <a:solidFill>
            <a:srgbClr val="0D2A57"/>
          </a:solidFill>
          <a:ln w="12700">
            <a:solidFill>
              <a:srgbClr val="478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metric-band-0">
            <a:extLst>
              <a:ext uri="{FF2B5EF4-FFF2-40B4-BE49-F238E27FC236}">
                <a16:creationId xmlns:a16="http://schemas.microsoft.com/office/drawing/2014/main" id="{ED00C02C-9A86-BCD3-F76F-AAE442915E3C}"/>
              </a:ext>
            </a:extLst>
          </p:cNvPr>
          <p:cNvSpPr/>
          <p:nvPr/>
        </p:nvSpPr>
        <p:spPr>
          <a:xfrm>
            <a:off x="812800" y="2006600"/>
            <a:ext cx="76200" cy="1625600"/>
          </a:xfrm>
          <a:prstGeom prst="rect">
            <a:avLst/>
          </a:prstGeom>
          <a:solidFill>
            <a:srgbClr val="2369C8"/>
          </a:solidFill>
          <a:ln w="12700">
            <a:solidFill>
              <a:srgbClr val="2369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metric-label-0">
            <a:extLst>
              <a:ext uri="{FF2B5EF4-FFF2-40B4-BE49-F238E27FC236}">
                <a16:creationId xmlns:a16="http://schemas.microsoft.com/office/drawing/2014/main" id="{055F61BF-4A03-1A2A-9F95-CD606B1753B8}"/>
              </a:ext>
            </a:extLst>
          </p:cNvPr>
          <p:cNvSpPr txBox="1"/>
          <p:nvPr/>
        </p:nvSpPr>
        <p:spPr>
          <a:xfrm>
            <a:off x="1117600" y="2311400"/>
            <a:ext cx="2286000" cy="276999"/>
          </a:xfrm>
          <a:prstGeom prst="rect">
            <a:avLst/>
          </a:prstGeom>
          <a:noFill/>
        </p:spPr>
        <p:txBody>
          <a:bodyPr vert="horz" wrap="square" lIns="0" tIns="0" rIns="0" bIns="0" rtlCol="0">
            <a:noAutofit/>
          </a:bodyPr>
          <a:lstStyle/>
          <a:p>
            <a:r>
              <a:rPr lang="en-US" altLang="zh-CN" sz="800" b="1">
                <a:solidFill>
                  <a:srgbClr val="BCD6F4"/>
                </a:solidFill>
                <a:latin typeface="Aptos" panose="020B0004020202020204" pitchFamily="34" charset="0"/>
              </a:rPr>
              <a:t>CodeMarkBench</a:t>
            </a:r>
            <a:endParaRPr lang="zh-CN" altLang="en-US" sz="800" b="1">
              <a:solidFill>
                <a:srgbClr val="BCD6F4"/>
              </a:solidFill>
              <a:latin typeface="Aptos" panose="020B0004020202020204" pitchFamily="34" charset="0"/>
            </a:endParaRPr>
          </a:p>
        </p:txBody>
      </p:sp>
      <p:sp>
        <p:nvSpPr>
          <p:cNvPr id="36" name="metric-value-0">
            <a:extLst>
              <a:ext uri="{FF2B5EF4-FFF2-40B4-BE49-F238E27FC236}">
                <a16:creationId xmlns:a16="http://schemas.microsoft.com/office/drawing/2014/main" id="{640FCDF9-1A31-FAEB-14E5-76F0C5CEA6B0}"/>
              </a:ext>
            </a:extLst>
          </p:cNvPr>
          <p:cNvSpPr txBox="1"/>
          <p:nvPr/>
        </p:nvSpPr>
        <p:spPr>
          <a:xfrm>
            <a:off x="1117600" y="2794000"/>
            <a:ext cx="2413000" cy="276999"/>
          </a:xfrm>
          <a:prstGeom prst="rect">
            <a:avLst/>
          </a:prstGeom>
          <a:noFill/>
        </p:spPr>
        <p:txBody>
          <a:bodyPr vert="horz" wrap="square" lIns="0" tIns="0" rIns="0" bIns="0" rtlCol="0">
            <a:noAutofit/>
          </a:bodyPr>
          <a:lstStyle/>
          <a:p>
            <a:r>
              <a:rPr lang="en-US" altLang="zh-CN" sz="2200" b="1">
                <a:solidFill>
                  <a:srgbClr val="FFFFFF"/>
                </a:solidFill>
                <a:latin typeface="Aptos" panose="020B0004020202020204" pitchFamily="34" charset="0"/>
              </a:rPr>
              <a:t>140 / 140</a:t>
            </a:r>
            <a:endParaRPr lang="zh-CN" altLang="en-US" sz="2200" b="1">
              <a:solidFill>
                <a:srgbClr val="FFFFFF"/>
              </a:solidFill>
              <a:latin typeface="Aptos" panose="020B0004020202020204" pitchFamily="34" charset="0"/>
            </a:endParaRPr>
          </a:p>
        </p:txBody>
      </p:sp>
      <p:sp>
        <p:nvSpPr>
          <p:cNvPr id="37" name="metric-note-0">
            <a:extLst>
              <a:ext uri="{FF2B5EF4-FFF2-40B4-BE49-F238E27FC236}">
                <a16:creationId xmlns:a16="http://schemas.microsoft.com/office/drawing/2014/main" id="{4946CE1F-D46D-3C74-5D1C-BAE7453A2D1F}"/>
              </a:ext>
            </a:extLst>
          </p:cNvPr>
          <p:cNvSpPr txBox="1"/>
          <p:nvPr/>
        </p:nvSpPr>
        <p:spPr>
          <a:xfrm>
            <a:off x="1117600" y="3276600"/>
            <a:ext cx="2413000" cy="276999"/>
          </a:xfrm>
          <a:prstGeom prst="rect">
            <a:avLst/>
          </a:prstGeom>
          <a:noFill/>
        </p:spPr>
        <p:txBody>
          <a:bodyPr vert="horz" wrap="square" lIns="0" tIns="0" rIns="0" bIns="0" rtlCol="0">
            <a:noAutofit/>
          </a:bodyPr>
          <a:lstStyle/>
          <a:p>
            <a:r>
              <a:rPr lang="en-US" altLang="zh-CN" sz="720">
                <a:solidFill>
                  <a:srgbClr val="C4DAF6"/>
                </a:solidFill>
                <a:latin typeface="Aptos" panose="020B0004020202020204" pitchFamily="34" charset="0"/>
              </a:rPr>
              <a:t>canonical benchmark runs</a:t>
            </a:r>
            <a:endParaRPr lang="zh-CN" altLang="en-US" sz="720">
              <a:solidFill>
                <a:srgbClr val="C4DAF6"/>
              </a:solidFill>
              <a:latin typeface="Aptos" panose="020B0004020202020204" pitchFamily="34" charset="0"/>
            </a:endParaRPr>
          </a:p>
        </p:txBody>
      </p:sp>
      <p:sp>
        <p:nvSpPr>
          <p:cNvPr id="38" name="metric-1">
            <a:extLst>
              <a:ext uri="{FF2B5EF4-FFF2-40B4-BE49-F238E27FC236}">
                <a16:creationId xmlns:a16="http://schemas.microsoft.com/office/drawing/2014/main" id="{C87AFB29-3FCC-D4BA-2DEC-2A48D8EE6063}"/>
              </a:ext>
            </a:extLst>
          </p:cNvPr>
          <p:cNvSpPr/>
          <p:nvPr/>
        </p:nvSpPr>
        <p:spPr>
          <a:xfrm>
            <a:off x="4521200" y="2006600"/>
            <a:ext cx="3149600" cy="1625600"/>
          </a:xfrm>
          <a:prstGeom prst="rect">
            <a:avLst/>
          </a:prstGeom>
          <a:solidFill>
            <a:srgbClr val="0D2A57"/>
          </a:solidFill>
          <a:ln w="12700">
            <a:solidFill>
              <a:srgbClr val="478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metric-band-1">
            <a:extLst>
              <a:ext uri="{FF2B5EF4-FFF2-40B4-BE49-F238E27FC236}">
                <a16:creationId xmlns:a16="http://schemas.microsoft.com/office/drawing/2014/main" id="{BC9CB624-ED75-6F5F-098C-4DC32202F163}"/>
              </a:ext>
            </a:extLst>
          </p:cNvPr>
          <p:cNvSpPr/>
          <p:nvPr/>
        </p:nvSpPr>
        <p:spPr>
          <a:xfrm>
            <a:off x="4521200" y="2006600"/>
            <a:ext cx="76200" cy="1625600"/>
          </a:xfrm>
          <a:prstGeom prst="rect">
            <a:avLst/>
          </a:prstGeom>
          <a:solidFill>
            <a:srgbClr val="00AABE"/>
          </a:solidFill>
          <a:ln w="12700">
            <a:solidFill>
              <a:srgbClr val="00A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metric-label-1">
            <a:extLst>
              <a:ext uri="{FF2B5EF4-FFF2-40B4-BE49-F238E27FC236}">
                <a16:creationId xmlns:a16="http://schemas.microsoft.com/office/drawing/2014/main" id="{B44A2223-824E-E368-9A87-AB579DE2B50C}"/>
              </a:ext>
            </a:extLst>
          </p:cNvPr>
          <p:cNvSpPr txBox="1"/>
          <p:nvPr/>
        </p:nvSpPr>
        <p:spPr>
          <a:xfrm>
            <a:off x="4826000" y="2311400"/>
            <a:ext cx="2286000" cy="276999"/>
          </a:xfrm>
          <a:prstGeom prst="rect">
            <a:avLst/>
          </a:prstGeom>
          <a:noFill/>
        </p:spPr>
        <p:txBody>
          <a:bodyPr vert="horz" wrap="square" lIns="0" tIns="0" rIns="0" bIns="0" rtlCol="0">
            <a:noAutofit/>
          </a:bodyPr>
          <a:lstStyle/>
          <a:p>
            <a:r>
              <a:rPr lang="en-US" altLang="zh-CN" sz="800" b="1">
                <a:solidFill>
                  <a:srgbClr val="BCD6F4"/>
                </a:solidFill>
                <a:latin typeface="Aptos" panose="020B0004020202020204" pitchFamily="34" charset="0"/>
              </a:rPr>
              <a:t>SemCodebook</a:t>
            </a:r>
            <a:endParaRPr lang="zh-CN" altLang="en-US" sz="800" b="1">
              <a:solidFill>
                <a:srgbClr val="BCD6F4"/>
              </a:solidFill>
              <a:latin typeface="Aptos" panose="020B0004020202020204" pitchFamily="34" charset="0"/>
            </a:endParaRPr>
          </a:p>
        </p:txBody>
      </p:sp>
      <p:sp>
        <p:nvSpPr>
          <p:cNvPr id="41" name="metric-value-1">
            <a:extLst>
              <a:ext uri="{FF2B5EF4-FFF2-40B4-BE49-F238E27FC236}">
                <a16:creationId xmlns:a16="http://schemas.microsoft.com/office/drawing/2014/main" id="{D1CE6254-F34C-D8B7-0B32-D8ECB5E506F3}"/>
              </a:ext>
            </a:extLst>
          </p:cNvPr>
          <p:cNvSpPr txBox="1"/>
          <p:nvPr/>
        </p:nvSpPr>
        <p:spPr>
          <a:xfrm>
            <a:off x="4826000" y="2794000"/>
            <a:ext cx="2413000" cy="276999"/>
          </a:xfrm>
          <a:prstGeom prst="rect">
            <a:avLst/>
          </a:prstGeom>
          <a:noFill/>
        </p:spPr>
        <p:txBody>
          <a:bodyPr vert="horz" wrap="square" lIns="0" tIns="0" rIns="0" bIns="0" rtlCol="0">
            <a:noAutofit/>
          </a:bodyPr>
          <a:lstStyle/>
          <a:p>
            <a:r>
              <a:rPr lang="en-US" altLang="zh-CN" sz="2200" b="1">
                <a:solidFill>
                  <a:srgbClr val="FFFFFF"/>
                </a:solidFill>
                <a:latin typeface="Aptos" panose="020B0004020202020204" pitchFamily="34" charset="0"/>
              </a:rPr>
              <a:t>23,342 / 24,000</a:t>
            </a:r>
            <a:endParaRPr lang="zh-CN" altLang="en-US" sz="2200" b="1">
              <a:solidFill>
                <a:srgbClr val="FFFFFF"/>
              </a:solidFill>
              <a:latin typeface="Aptos" panose="020B0004020202020204" pitchFamily="34" charset="0"/>
            </a:endParaRPr>
          </a:p>
        </p:txBody>
      </p:sp>
      <p:sp>
        <p:nvSpPr>
          <p:cNvPr id="42" name="metric-note-1">
            <a:extLst>
              <a:ext uri="{FF2B5EF4-FFF2-40B4-BE49-F238E27FC236}">
                <a16:creationId xmlns:a16="http://schemas.microsoft.com/office/drawing/2014/main" id="{70D72FE8-E827-3FEF-F43F-5E32D41B1E65}"/>
              </a:ext>
            </a:extLst>
          </p:cNvPr>
          <p:cNvSpPr txBox="1"/>
          <p:nvPr/>
        </p:nvSpPr>
        <p:spPr>
          <a:xfrm>
            <a:off x="4826000" y="3276600"/>
            <a:ext cx="2413000" cy="276999"/>
          </a:xfrm>
          <a:prstGeom prst="rect">
            <a:avLst/>
          </a:prstGeom>
          <a:noFill/>
        </p:spPr>
        <p:txBody>
          <a:bodyPr vert="horz" wrap="square" lIns="0" tIns="0" rIns="0" bIns="0" rtlCol="0">
            <a:noAutofit/>
          </a:bodyPr>
          <a:lstStyle/>
          <a:p>
            <a:r>
              <a:rPr lang="en-US" altLang="zh-CN" sz="720">
                <a:solidFill>
                  <a:srgbClr val="C4DAF6"/>
                </a:solidFill>
                <a:latin typeface="Aptos" panose="020B0004020202020204" pitchFamily="34" charset="0"/>
              </a:rPr>
              <a:t>recoveries; 0/48,000 controls</a:t>
            </a:r>
            <a:endParaRPr lang="zh-CN" altLang="en-US" sz="720">
              <a:solidFill>
                <a:srgbClr val="C4DAF6"/>
              </a:solidFill>
              <a:latin typeface="Aptos" panose="020B0004020202020204" pitchFamily="34" charset="0"/>
            </a:endParaRPr>
          </a:p>
        </p:txBody>
      </p:sp>
      <p:sp>
        <p:nvSpPr>
          <p:cNvPr id="43" name="metric-2">
            <a:extLst>
              <a:ext uri="{FF2B5EF4-FFF2-40B4-BE49-F238E27FC236}">
                <a16:creationId xmlns:a16="http://schemas.microsoft.com/office/drawing/2014/main" id="{A3760775-A909-0691-41D2-D084C659F823}"/>
              </a:ext>
            </a:extLst>
          </p:cNvPr>
          <p:cNvSpPr/>
          <p:nvPr/>
        </p:nvSpPr>
        <p:spPr>
          <a:xfrm>
            <a:off x="8229600" y="2006600"/>
            <a:ext cx="3149600" cy="1625600"/>
          </a:xfrm>
          <a:prstGeom prst="rect">
            <a:avLst/>
          </a:prstGeom>
          <a:solidFill>
            <a:srgbClr val="0D2A57"/>
          </a:solidFill>
          <a:ln w="12700">
            <a:solidFill>
              <a:srgbClr val="478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metric-band-2">
            <a:extLst>
              <a:ext uri="{FF2B5EF4-FFF2-40B4-BE49-F238E27FC236}">
                <a16:creationId xmlns:a16="http://schemas.microsoft.com/office/drawing/2014/main" id="{D5C438DE-6EC8-90AA-FDA9-2DF14DB4B478}"/>
              </a:ext>
            </a:extLst>
          </p:cNvPr>
          <p:cNvSpPr/>
          <p:nvPr/>
        </p:nvSpPr>
        <p:spPr>
          <a:xfrm>
            <a:off x="8229600" y="2006600"/>
            <a:ext cx="76200" cy="1625600"/>
          </a:xfrm>
          <a:prstGeom prst="rect">
            <a:avLst/>
          </a:prstGeom>
          <a:solidFill>
            <a:srgbClr val="EE9122"/>
          </a:solidFill>
          <a:ln w="12700">
            <a:solidFill>
              <a:srgbClr val="EE91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metric-label-2">
            <a:extLst>
              <a:ext uri="{FF2B5EF4-FFF2-40B4-BE49-F238E27FC236}">
                <a16:creationId xmlns:a16="http://schemas.microsoft.com/office/drawing/2014/main" id="{6D4A2A7E-B780-FCB3-3DAF-FCC64FA120AA}"/>
              </a:ext>
            </a:extLst>
          </p:cNvPr>
          <p:cNvSpPr txBox="1"/>
          <p:nvPr/>
        </p:nvSpPr>
        <p:spPr>
          <a:xfrm>
            <a:off x="8534400" y="2311400"/>
            <a:ext cx="2286000" cy="276999"/>
          </a:xfrm>
          <a:prstGeom prst="rect">
            <a:avLst/>
          </a:prstGeom>
          <a:noFill/>
        </p:spPr>
        <p:txBody>
          <a:bodyPr vert="horz" wrap="square" lIns="0" tIns="0" rIns="0" bIns="0" rtlCol="0">
            <a:noAutofit/>
          </a:bodyPr>
          <a:lstStyle/>
          <a:p>
            <a:r>
              <a:rPr lang="en-US" altLang="zh-CN" sz="800" b="1">
                <a:solidFill>
                  <a:srgbClr val="BCD6F4"/>
                </a:solidFill>
                <a:latin typeface="Aptos" panose="020B0004020202020204" pitchFamily="34" charset="0"/>
              </a:rPr>
              <a:t>ProbeTrace</a:t>
            </a:r>
            <a:endParaRPr lang="zh-CN" altLang="en-US" sz="800" b="1">
              <a:solidFill>
                <a:srgbClr val="BCD6F4"/>
              </a:solidFill>
              <a:latin typeface="Aptos" panose="020B0004020202020204" pitchFamily="34" charset="0"/>
            </a:endParaRPr>
          </a:p>
        </p:txBody>
      </p:sp>
      <p:sp>
        <p:nvSpPr>
          <p:cNvPr id="46" name="metric-value-2">
            <a:extLst>
              <a:ext uri="{FF2B5EF4-FFF2-40B4-BE49-F238E27FC236}">
                <a16:creationId xmlns:a16="http://schemas.microsoft.com/office/drawing/2014/main" id="{D78F5508-E364-CE0F-35D6-CC33E5535C59}"/>
              </a:ext>
            </a:extLst>
          </p:cNvPr>
          <p:cNvSpPr txBox="1"/>
          <p:nvPr/>
        </p:nvSpPr>
        <p:spPr>
          <a:xfrm>
            <a:off x="8534400" y="2794000"/>
            <a:ext cx="2413000" cy="276999"/>
          </a:xfrm>
          <a:prstGeom prst="rect">
            <a:avLst/>
          </a:prstGeom>
          <a:noFill/>
        </p:spPr>
        <p:txBody>
          <a:bodyPr vert="horz" wrap="square" lIns="0" tIns="0" rIns="0" bIns="0" rtlCol="0">
            <a:noAutofit/>
          </a:bodyPr>
          <a:lstStyle/>
          <a:p>
            <a:r>
              <a:rPr lang="en-US" altLang="zh-CN" sz="2200" b="1">
                <a:solidFill>
                  <a:srgbClr val="FFFFFF"/>
                </a:solidFill>
                <a:latin typeface="Aptos" panose="020B0004020202020204" pitchFamily="34" charset="0"/>
              </a:rPr>
              <a:t>300 / 300</a:t>
            </a:r>
            <a:endParaRPr lang="zh-CN" altLang="en-US" sz="2200" b="1">
              <a:solidFill>
                <a:srgbClr val="FFFFFF"/>
              </a:solidFill>
              <a:latin typeface="Aptos" panose="020B0004020202020204" pitchFamily="34" charset="0"/>
            </a:endParaRPr>
          </a:p>
        </p:txBody>
      </p:sp>
      <p:sp>
        <p:nvSpPr>
          <p:cNvPr id="47" name="metric-note-2">
            <a:extLst>
              <a:ext uri="{FF2B5EF4-FFF2-40B4-BE49-F238E27FC236}">
                <a16:creationId xmlns:a16="http://schemas.microsoft.com/office/drawing/2014/main" id="{C0D880B5-E993-DFBC-D92C-5825B9AD2789}"/>
              </a:ext>
            </a:extLst>
          </p:cNvPr>
          <p:cNvSpPr txBox="1"/>
          <p:nvPr/>
        </p:nvSpPr>
        <p:spPr>
          <a:xfrm>
            <a:off x="8534400" y="3276600"/>
            <a:ext cx="2413000" cy="276999"/>
          </a:xfrm>
          <a:prstGeom prst="rect">
            <a:avLst/>
          </a:prstGeom>
          <a:noFill/>
        </p:spPr>
        <p:txBody>
          <a:bodyPr vert="horz" wrap="square" lIns="0" tIns="0" rIns="0" bIns="0" rtlCol="0">
            <a:noAutofit/>
          </a:bodyPr>
          <a:lstStyle/>
          <a:p>
            <a:r>
              <a:rPr lang="en-US" altLang="zh-CN" sz="720">
                <a:solidFill>
                  <a:srgbClr val="C4DAF6"/>
                </a:solidFill>
                <a:latin typeface="Aptos" panose="020B0004020202020204" pitchFamily="34" charset="0"/>
              </a:rPr>
              <a:t>scoped decisions; 0/1,200 controls</a:t>
            </a:r>
            <a:endParaRPr lang="zh-CN" altLang="en-US" sz="720">
              <a:solidFill>
                <a:srgbClr val="C4DAF6"/>
              </a:solidFill>
              <a:latin typeface="Aptos" panose="020B0004020202020204" pitchFamily="34" charset="0"/>
            </a:endParaRPr>
          </a:p>
        </p:txBody>
      </p:sp>
      <p:sp>
        <p:nvSpPr>
          <p:cNvPr id="48" name="fig-frame">
            <a:extLst>
              <a:ext uri="{FF2B5EF4-FFF2-40B4-BE49-F238E27FC236}">
                <a16:creationId xmlns:a16="http://schemas.microsoft.com/office/drawing/2014/main" id="{92440CBB-0B60-C1EE-8860-6F1328A81103}"/>
              </a:ext>
            </a:extLst>
          </p:cNvPr>
          <p:cNvSpPr/>
          <p:nvPr/>
        </p:nvSpPr>
        <p:spPr>
          <a:xfrm>
            <a:off x="939800" y="4216400"/>
            <a:ext cx="10312400" cy="1041400"/>
          </a:xfrm>
          <a:prstGeom prst="rect">
            <a:avLst/>
          </a:prstGeom>
          <a:solidFill>
            <a:srgbClr val="FFFFFF"/>
          </a:solidFill>
          <a:ln w="1270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0" name="sem-compact">
            <a:extLst>
              <a:ext uri="{FF2B5EF4-FFF2-40B4-BE49-F238E27FC236}">
                <a16:creationId xmlns:a16="http://schemas.microsoft.com/office/drawing/2014/main" id="{252EC4A9-1E37-1A87-263E-456C2D8569B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811018" y="4241800"/>
            <a:ext cx="2569963" cy="1041400"/>
          </a:xfrm>
          <a:prstGeom prst="rect">
            <a:avLst/>
          </a:prstGeom>
        </p:spPr>
      </p:pic>
      <p:sp>
        <p:nvSpPr>
          <p:cNvPr id="51" name="caveat">
            <a:extLst>
              <a:ext uri="{FF2B5EF4-FFF2-40B4-BE49-F238E27FC236}">
                <a16:creationId xmlns:a16="http://schemas.microsoft.com/office/drawing/2014/main" id="{77FA77E7-250F-CE9D-39C2-9BCFF25E2B0A}"/>
              </a:ext>
            </a:extLst>
          </p:cNvPr>
          <p:cNvSpPr txBox="1"/>
          <p:nvPr/>
        </p:nvSpPr>
        <p:spPr>
          <a:xfrm>
            <a:off x="1270000" y="5740400"/>
            <a:ext cx="9652000" cy="276999"/>
          </a:xfrm>
          <a:prstGeom prst="rect">
            <a:avLst/>
          </a:prstGeom>
          <a:noFill/>
        </p:spPr>
        <p:txBody>
          <a:bodyPr vert="horz" wrap="square" lIns="0" tIns="0" rIns="0" bIns="0" rtlCol="0">
            <a:noAutofit/>
          </a:bodyPr>
          <a:lstStyle/>
          <a:p>
            <a:r>
              <a:rPr lang="en-US" altLang="zh-CN" sz="850" b="1">
                <a:solidFill>
                  <a:srgbClr val="FFFFFF"/>
                </a:solidFill>
                <a:latin typeface="Aptos" panose="020B0004020202020204" pitchFamily="34" charset="0"/>
              </a:rPr>
              <a:t>Important qualifier: these are access-specific results, not a universal watermarking guarantee.</a:t>
            </a:r>
            <a:endParaRPr lang="zh-CN" altLang="en-US" sz="850" b="1">
              <a:solidFill>
                <a:srgbClr val="FFFFFF"/>
              </a:solidFill>
              <a:latin typeface="Aptos" panose="020B0004020202020204" pitchFamily="34" charset="0"/>
            </a:endParaRPr>
          </a:p>
        </p:txBody>
      </p:sp>
      <p:pic>
        <p:nvPicPr>
          <p:cNvPr id="53" name="图片 52">
            <a:extLst>
              <a:ext uri="{FF2B5EF4-FFF2-40B4-BE49-F238E27FC236}">
                <a16:creationId xmlns:a16="http://schemas.microsoft.com/office/drawing/2014/main" id="{A1F9D777-12AE-0E81-3426-43E6B8042B72}"/>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Tree>
    <p:extLst>
      <p:ext uri="{BB962C8B-B14F-4D97-AF65-F5344CB8AC3E}">
        <p14:creationId xmlns:p14="http://schemas.microsoft.com/office/powerpoint/2010/main" val="2181610189"/>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EF08A35B-819C-D1E1-6019-07BB2C4967DA}"/>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93916BC1-1E0E-5EB8-BFDA-92EA705F3102}"/>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ABE92CA3-B65D-D185-2EFF-131CA572EB64}"/>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1E69C0AA-966C-48EB-4042-D7B4C909B5DF}"/>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6A574B0C-5BDD-C4F7-DCE5-8ED034810C7F}"/>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FD6DA114-146F-5534-E554-0E9CAD123518}"/>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08</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8D6843B1-7022-4839-66C1-664B07F391D9}"/>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RESULTS</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3D15C05D-DA2E-1603-C781-37AAEE2B947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21B7FD4D-9EC0-8304-9905-CB3B16C16DF4}"/>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Conservative evidence prevents overclaiming</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DECC1093-3235-C95F-5FDB-F0547ACB3276}"/>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The black-box and triage stages are valuable because they keep null results and abstention visible.</a:t>
            </a:r>
            <a:endParaRPr lang="zh-CN" altLang="en-US" sz="950">
              <a:solidFill>
                <a:srgbClr val="536580"/>
              </a:solidFill>
              <a:latin typeface="Aptos" panose="020B0004020202020204" pitchFamily="34" charset="0"/>
            </a:endParaRPr>
          </a:p>
        </p:txBody>
      </p:sp>
      <p:sp>
        <p:nvSpPr>
          <p:cNvPr id="13" name="fig-frame">
            <a:extLst>
              <a:ext uri="{FF2B5EF4-FFF2-40B4-BE49-F238E27FC236}">
                <a16:creationId xmlns:a16="http://schemas.microsoft.com/office/drawing/2014/main" id="{C8DB2896-B0BC-330B-B64F-6A2A74BA92AA}"/>
              </a:ext>
            </a:extLst>
          </p:cNvPr>
          <p:cNvSpPr/>
          <p:nvPr/>
        </p:nvSpPr>
        <p:spPr>
          <a:xfrm>
            <a:off x="889000" y="1651000"/>
            <a:ext cx="10414000" cy="2997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blackbox-table">
            <a:extLst>
              <a:ext uri="{FF2B5EF4-FFF2-40B4-BE49-F238E27FC236}">
                <a16:creationId xmlns:a16="http://schemas.microsoft.com/office/drawing/2014/main" id="{77A20999-585D-ADEC-35FE-47DA5B51AD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211586" y="1930400"/>
            <a:ext cx="5768828" cy="2413000"/>
          </a:xfrm>
          <a:prstGeom prst="rect">
            <a:avLst/>
          </a:prstGeom>
        </p:spPr>
      </p:pic>
      <p:sp>
        <p:nvSpPr>
          <p:cNvPr id="16" name="left">
            <a:extLst>
              <a:ext uri="{FF2B5EF4-FFF2-40B4-BE49-F238E27FC236}">
                <a16:creationId xmlns:a16="http://schemas.microsoft.com/office/drawing/2014/main" id="{8ACD14DB-EDA0-C49F-4054-F727A858389B}"/>
              </a:ext>
            </a:extLst>
          </p:cNvPr>
          <p:cNvSpPr/>
          <p:nvPr/>
        </p:nvSpPr>
        <p:spPr>
          <a:xfrm>
            <a:off x="1193800" y="5029200"/>
            <a:ext cx="4495800" cy="685800"/>
          </a:xfrm>
          <a:prstGeom prst="rect">
            <a:avLst/>
          </a:prstGeom>
          <a:solidFill>
            <a:srgbClr val="E7F1FF"/>
          </a:solidFill>
          <a:ln w="12700">
            <a:solidFill>
              <a:srgbClr val="AFCDF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left-main">
            <a:extLst>
              <a:ext uri="{FF2B5EF4-FFF2-40B4-BE49-F238E27FC236}">
                <a16:creationId xmlns:a16="http://schemas.microsoft.com/office/drawing/2014/main" id="{66AD8334-B589-007E-EB89-CE4D1C48AB7B}"/>
              </a:ext>
            </a:extLst>
          </p:cNvPr>
          <p:cNvSpPr txBox="1"/>
          <p:nvPr/>
        </p:nvSpPr>
        <p:spPr>
          <a:xfrm>
            <a:off x="1524000" y="5232400"/>
            <a:ext cx="3810000" cy="276999"/>
          </a:xfrm>
          <a:prstGeom prst="rect">
            <a:avLst/>
          </a:prstGeom>
          <a:noFill/>
        </p:spPr>
        <p:txBody>
          <a:bodyPr vert="horz" wrap="square" lIns="0" tIns="0" rIns="0" bIns="0" rtlCol="0">
            <a:noAutofit/>
          </a:bodyPr>
          <a:lstStyle/>
          <a:p>
            <a:r>
              <a:rPr lang="en-US" altLang="zh-CN" sz="850" b="1">
                <a:solidFill>
                  <a:srgbClr val="004080"/>
                </a:solidFill>
                <a:latin typeface="Aptos" panose="020B0004020202020204" pitchFamily="34" charset="0"/>
              </a:rPr>
              <a:t>CodeDye: 6/300 sparse live signals, with controls reported separately.</a:t>
            </a:r>
            <a:endParaRPr lang="zh-CN" altLang="en-US" sz="850" b="1">
              <a:solidFill>
                <a:srgbClr val="004080"/>
              </a:solidFill>
              <a:latin typeface="Aptos" panose="020B0004020202020204" pitchFamily="34" charset="0"/>
            </a:endParaRPr>
          </a:p>
        </p:txBody>
      </p:sp>
      <p:sp>
        <p:nvSpPr>
          <p:cNvPr id="18" name="right">
            <a:extLst>
              <a:ext uri="{FF2B5EF4-FFF2-40B4-BE49-F238E27FC236}">
                <a16:creationId xmlns:a16="http://schemas.microsoft.com/office/drawing/2014/main" id="{DB87E2C1-2740-5676-AC1D-EF5F5E1A44DF}"/>
              </a:ext>
            </a:extLst>
          </p:cNvPr>
          <p:cNvSpPr/>
          <p:nvPr/>
        </p:nvSpPr>
        <p:spPr>
          <a:xfrm>
            <a:off x="6502400" y="5029200"/>
            <a:ext cx="4495800" cy="685800"/>
          </a:xfrm>
          <a:prstGeom prst="rect">
            <a:avLst/>
          </a:prstGeom>
          <a:solidFill>
            <a:srgbClr val="FFF5E0"/>
          </a:solidFill>
          <a:ln w="12700">
            <a:solidFill>
              <a:srgbClr val="F5BE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right-main">
            <a:extLst>
              <a:ext uri="{FF2B5EF4-FFF2-40B4-BE49-F238E27FC236}">
                <a16:creationId xmlns:a16="http://schemas.microsoft.com/office/drawing/2014/main" id="{A6361C06-14C7-B2B6-54EB-6D858786334E}"/>
              </a:ext>
            </a:extLst>
          </p:cNvPr>
          <p:cNvSpPr txBox="1"/>
          <p:nvPr/>
        </p:nvSpPr>
        <p:spPr>
          <a:xfrm>
            <a:off x="6832600" y="5232400"/>
            <a:ext cx="3810000" cy="276999"/>
          </a:xfrm>
          <a:prstGeom prst="rect">
            <a:avLst/>
          </a:prstGeom>
          <a:noFill/>
        </p:spPr>
        <p:txBody>
          <a:bodyPr vert="horz" wrap="square" lIns="0" tIns="0" rIns="0" bIns="0" rtlCol="0">
            <a:noAutofit/>
          </a:bodyPr>
          <a:lstStyle/>
          <a:p>
            <a:r>
              <a:rPr lang="en-US" altLang="zh-CN" sz="850" b="1">
                <a:solidFill>
                  <a:srgbClr val="5C3A0C"/>
                </a:solidFill>
                <a:latin typeface="Aptos" panose="020B0004020202020204" pitchFamily="34" charset="0"/>
              </a:rPr>
              <a:t>SealAudit: 81/960 decisive triage outcomes; nondecisive rows are not relabeled.</a:t>
            </a:r>
            <a:endParaRPr lang="zh-CN" altLang="en-US" sz="850" b="1">
              <a:solidFill>
                <a:srgbClr val="5C3A0C"/>
              </a:solidFill>
              <a:latin typeface="Aptos" panose="020B0004020202020204" pitchFamily="34" charset="0"/>
            </a:endParaRPr>
          </a:p>
        </p:txBody>
      </p:sp>
    </p:spTree>
    <p:extLst>
      <p:ext uri="{BB962C8B-B14F-4D97-AF65-F5344CB8AC3E}">
        <p14:creationId xmlns:p14="http://schemas.microsoft.com/office/powerpoint/2010/main" val="2950727345"/>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BD9022B5-0110-1E2A-DB2E-89320B14A81F}"/>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893FF4B6-5A7F-2E5C-1C88-8EC65DBB0B16}"/>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92FE0A0F-27F3-FB31-4330-3279FAB95703}"/>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331A796F-A6A7-7A92-32FC-0F8D106217BB}"/>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E98E7CF6-A5B6-8490-3577-CC872EC55313}"/>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ACF05ADE-8502-AC1D-B4BC-60417B4DA6FE}"/>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09</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7293605D-A90C-DC8D-BB47-AA3F6DF45620}"/>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EVALUATION</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E9A7E130-CF7D-1FB9-A820-B599FBAC812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55605FF9-4AA6-FA78-2AA8-5CC14A769523}"/>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The evaluation reports tradeoffs, not only wins</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EA5F933F-0983-F68D-DBD4-5BD0DAE9D420}"/>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A strong viva answer should show where the method is robust and where the boundary is.</a:t>
            </a:r>
            <a:endParaRPr lang="zh-CN" altLang="en-US" sz="950">
              <a:solidFill>
                <a:srgbClr val="536580"/>
              </a:solidFill>
              <a:latin typeface="Aptos" panose="020B0004020202020204" pitchFamily="34" charset="0"/>
            </a:endParaRPr>
          </a:p>
        </p:txBody>
      </p:sp>
      <p:sp>
        <p:nvSpPr>
          <p:cNvPr id="13" name="fig-frame">
            <a:extLst>
              <a:ext uri="{FF2B5EF4-FFF2-40B4-BE49-F238E27FC236}">
                <a16:creationId xmlns:a16="http://schemas.microsoft.com/office/drawing/2014/main" id="{E4B3B66D-EF46-4DFE-B021-B895A875E43C}"/>
              </a:ext>
            </a:extLst>
          </p:cNvPr>
          <p:cNvSpPr/>
          <p:nvPr/>
        </p:nvSpPr>
        <p:spPr>
          <a:xfrm>
            <a:off x="889000" y="1701800"/>
            <a:ext cx="10414000" cy="3175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tradeoff">
            <a:extLst>
              <a:ext uri="{FF2B5EF4-FFF2-40B4-BE49-F238E27FC236}">
                <a16:creationId xmlns:a16="http://schemas.microsoft.com/office/drawing/2014/main" id="{4601170B-3C88-85BC-1321-BD7208B24B8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967841" y="1930400"/>
            <a:ext cx="6256319" cy="2667000"/>
          </a:xfrm>
          <a:prstGeom prst="rect">
            <a:avLst/>
          </a:prstGeom>
        </p:spPr>
      </p:pic>
      <p:sp>
        <p:nvSpPr>
          <p:cNvPr id="16" name="message">
            <a:extLst>
              <a:ext uri="{FF2B5EF4-FFF2-40B4-BE49-F238E27FC236}">
                <a16:creationId xmlns:a16="http://schemas.microsoft.com/office/drawing/2014/main" id="{2316C7DD-EFC7-F852-1C50-E6BF8CB54842}"/>
              </a:ext>
            </a:extLst>
          </p:cNvPr>
          <p:cNvSpPr/>
          <p:nvPr/>
        </p:nvSpPr>
        <p:spPr>
          <a:xfrm>
            <a:off x="2209800" y="5257800"/>
            <a:ext cx="7772400" cy="4572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message-text">
            <a:extLst>
              <a:ext uri="{FF2B5EF4-FFF2-40B4-BE49-F238E27FC236}">
                <a16:creationId xmlns:a16="http://schemas.microsoft.com/office/drawing/2014/main" id="{0BD841D5-3EDD-334D-81D2-9C8E9133611C}"/>
              </a:ext>
            </a:extLst>
          </p:cNvPr>
          <p:cNvSpPr txBox="1"/>
          <p:nvPr/>
        </p:nvSpPr>
        <p:spPr>
          <a:xfrm>
            <a:off x="2616200" y="5410200"/>
            <a:ext cx="6985000" cy="276999"/>
          </a:xfrm>
          <a:prstGeom prst="rect">
            <a:avLst/>
          </a:prstGeom>
          <a:noFill/>
        </p:spPr>
        <p:txBody>
          <a:bodyPr vert="horz" wrap="square" lIns="0" tIns="0" rIns="0" bIns="0" rtlCol="0">
            <a:noAutofit/>
          </a:bodyPr>
          <a:lstStyle/>
          <a:p>
            <a:r>
              <a:rPr lang="en-US" altLang="zh-CN" sz="880" b="1">
                <a:solidFill>
                  <a:srgbClr val="FFFFFF"/>
                </a:solidFill>
                <a:latin typeface="Aptos" panose="020B0004020202020204" pitchFamily="34" charset="0"/>
              </a:rPr>
              <a:t>The framework makes release scale and robustness visible before any claim is made.</a:t>
            </a:r>
            <a:endParaRPr lang="zh-CN" altLang="en-US" sz="880" b="1">
              <a:solidFill>
                <a:srgbClr val="FFFFFF"/>
              </a:solidFill>
              <a:latin typeface="Aptos" panose="020B0004020202020204" pitchFamily="34" charset="0"/>
            </a:endParaRPr>
          </a:p>
        </p:txBody>
      </p:sp>
    </p:spTree>
    <p:extLst>
      <p:ext uri="{BB962C8B-B14F-4D97-AF65-F5344CB8AC3E}">
        <p14:creationId xmlns:p14="http://schemas.microsoft.com/office/powerpoint/2010/main" val="3122203889"/>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3DE192BD-0715-3FE4-6D6D-773DBF4C410E}"/>
              </a:ext>
            </a:extLst>
          </p:cNvPr>
          <p:cNvSpPr/>
          <p:nvPr/>
        </p:nvSpPr>
        <p:spPr>
          <a:xfrm>
            <a:off x="0" y="0"/>
            <a:ext cx="121920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dark-panel">
            <a:extLst>
              <a:ext uri="{FF2B5EF4-FFF2-40B4-BE49-F238E27FC236}">
                <a16:creationId xmlns:a16="http://schemas.microsoft.com/office/drawing/2014/main" id="{6644C7E9-5DC2-8B53-D546-22AF30C9E6D0}"/>
              </a:ext>
            </a:extLst>
          </p:cNvPr>
          <p:cNvSpPr/>
          <p:nvPr/>
        </p:nvSpPr>
        <p:spPr>
          <a:xfrm>
            <a:off x="0" y="0"/>
            <a:ext cx="12192000" cy="6858000"/>
          </a:xfrm>
          <a:prstGeom prst="rect">
            <a:avLst/>
          </a:prstGeom>
          <a:solidFill>
            <a:srgbClr val="032048">
              <a:alpha val="9000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grid-v-0">
            <a:extLst>
              <a:ext uri="{FF2B5EF4-FFF2-40B4-BE49-F238E27FC236}">
                <a16:creationId xmlns:a16="http://schemas.microsoft.com/office/drawing/2014/main" id="{D39C50AD-31FE-0C6A-9909-B01F0F051F76}"/>
              </a:ext>
            </a:extLst>
          </p:cNvPr>
          <p:cNvCxnSpPr/>
          <p:nvPr/>
        </p:nvCxnSpPr>
        <p:spPr>
          <a:xfrm>
            <a:off x="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5" name="grid-v-64">
            <a:extLst>
              <a:ext uri="{FF2B5EF4-FFF2-40B4-BE49-F238E27FC236}">
                <a16:creationId xmlns:a16="http://schemas.microsoft.com/office/drawing/2014/main" id="{9AD34FBA-4E5B-68E0-FF43-3B5DA7458372}"/>
              </a:ext>
            </a:extLst>
          </p:cNvPr>
          <p:cNvCxnSpPr/>
          <p:nvPr/>
        </p:nvCxnSpPr>
        <p:spPr>
          <a:xfrm>
            <a:off x="812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6" name="grid-v-128">
            <a:extLst>
              <a:ext uri="{FF2B5EF4-FFF2-40B4-BE49-F238E27FC236}">
                <a16:creationId xmlns:a16="http://schemas.microsoft.com/office/drawing/2014/main" id="{CD24DCF2-7D78-26D3-9BE3-465B6A6076A1}"/>
              </a:ext>
            </a:extLst>
          </p:cNvPr>
          <p:cNvCxnSpPr/>
          <p:nvPr/>
        </p:nvCxnSpPr>
        <p:spPr>
          <a:xfrm>
            <a:off x="1625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7" name="grid-v-192">
            <a:extLst>
              <a:ext uri="{FF2B5EF4-FFF2-40B4-BE49-F238E27FC236}">
                <a16:creationId xmlns:a16="http://schemas.microsoft.com/office/drawing/2014/main" id="{20EBD46F-5D3C-EF3F-6EA8-3841C7DAA3AE}"/>
              </a:ext>
            </a:extLst>
          </p:cNvPr>
          <p:cNvCxnSpPr/>
          <p:nvPr/>
        </p:nvCxnSpPr>
        <p:spPr>
          <a:xfrm>
            <a:off x="2438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8" name="grid-v-256">
            <a:extLst>
              <a:ext uri="{FF2B5EF4-FFF2-40B4-BE49-F238E27FC236}">
                <a16:creationId xmlns:a16="http://schemas.microsoft.com/office/drawing/2014/main" id="{76B7781F-37FB-517F-5F54-2168135EE532}"/>
              </a:ext>
            </a:extLst>
          </p:cNvPr>
          <p:cNvCxnSpPr/>
          <p:nvPr/>
        </p:nvCxnSpPr>
        <p:spPr>
          <a:xfrm>
            <a:off x="3251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9" name="grid-v-320">
            <a:extLst>
              <a:ext uri="{FF2B5EF4-FFF2-40B4-BE49-F238E27FC236}">
                <a16:creationId xmlns:a16="http://schemas.microsoft.com/office/drawing/2014/main" id="{4BAEE7F1-362A-5FC5-F0B5-7ACF44C68BDA}"/>
              </a:ext>
            </a:extLst>
          </p:cNvPr>
          <p:cNvCxnSpPr/>
          <p:nvPr/>
        </p:nvCxnSpPr>
        <p:spPr>
          <a:xfrm>
            <a:off x="4064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0" name="grid-v-384">
            <a:extLst>
              <a:ext uri="{FF2B5EF4-FFF2-40B4-BE49-F238E27FC236}">
                <a16:creationId xmlns:a16="http://schemas.microsoft.com/office/drawing/2014/main" id="{0E74539E-4A0A-564D-C346-5B663275C5DB}"/>
              </a:ext>
            </a:extLst>
          </p:cNvPr>
          <p:cNvCxnSpPr/>
          <p:nvPr/>
        </p:nvCxnSpPr>
        <p:spPr>
          <a:xfrm>
            <a:off x="4876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1" name="grid-v-448">
            <a:extLst>
              <a:ext uri="{FF2B5EF4-FFF2-40B4-BE49-F238E27FC236}">
                <a16:creationId xmlns:a16="http://schemas.microsoft.com/office/drawing/2014/main" id="{B8565E1E-8422-9059-B583-30C939793BE6}"/>
              </a:ext>
            </a:extLst>
          </p:cNvPr>
          <p:cNvCxnSpPr/>
          <p:nvPr/>
        </p:nvCxnSpPr>
        <p:spPr>
          <a:xfrm>
            <a:off x="5689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2" name="grid-v-512">
            <a:extLst>
              <a:ext uri="{FF2B5EF4-FFF2-40B4-BE49-F238E27FC236}">
                <a16:creationId xmlns:a16="http://schemas.microsoft.com/office/drawing/2014/main" id="{A9927399-B30B-4345-3AE7-381EA07F7059}"/>
              </a:ext>
            </a:extLst>
          </p:cNvPr>
          <p:cNvCxnSpPr/>
          <p:nvPr/>
        </p:nvCxnSpPr>
        <p:spPr>
          <a:xfrm>
            <a:off x="6502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3" name="grid-v-576">
            <a:extLst>
              <a:ext uri="{FF2B5EF4-FFF2-40B4-BE49-F238E27FC236}">
                <a16:creationId xmlns:a16="http://schemas.microsoft.com/office/drawing/2014/main" id="{D6125719-B86B-5AC0-D10E-67487A0CE338}"/>
              </a:ext>
            </a:extLst>
          </p:cNvPr>
          <p:cNvCxnSpPr/>
          <p:nvPr/>
        </p:nvCxnSpPr>
        <p:spPr>
          <a:xfrm>
            <a:off x="7315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4" name="grid-v-640">
            <a:extLst>
              <a:ext uri="{FF2B5EF4-FFF2-40B4-BE49-F238E27FC236}">
                <a16:creationId xmlns:a16="http://schemas.microsoft.com/office/drawing/2014/main" id="{0023BF4C-2288-5503-99BD-0C59657DDDC4}"/>
              </a:ext>
            </a:extLst>
          </p:cNvPr>
          <p:cNvCxnSpPr/>
          <p:nvPr/>
        </p:nvCxnSpPr>
        <p:spPr>
          <a:xfrm>
            <a:off x="8128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5" name="grid-v-704">
            <a:extLst>
              <a:ext uri="{FF2B5EF4-FFF2-40B4-BE49-F238E27FC236}">
                <a16:creationId xmlns:a16="http://schemas.microsoft.com/office/drawing/2014/main" id="{954C131A-3451-4C32-6A6C-51883C2AC19B}"/>
              </a:ext>
            </a:extLst>
          </p:cNvPr>
          <p:cNvCxnSpPr/>
          <p:nvPr/>
        </p:nvCxnSpPr>
        <p:spPr>
          <a:xfrm>
            <a:off x="8940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6" name="grid-v-768">
            <a:extLst>
              <a:ext uri="{FF2B5EF4-FFF2-40B4-BE49-F238E27FC236}">
                <a16:creationId xmlns:a16="http://schemas.microsoft.com/office/drawing/2014/main" id="{68DDDA07-796F-7421-8021-76B369D94FE5}"/>
              </a:ext>
            </a:extLst>
          </p:cNvPr>
          <p:cNvCxnSpPr/>
          <p:nvPr/>
        </p:nvCxnSpPr>
        <p:spPr>
          <a:xfrm>
            <a:off x="9753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7" name="grid-v-832">
            <a:extLst>
              <a:ext uri="{FF2B5EF4-FFF2-40B4-BE49-F238E27FC236}">
                <a16:creationId xmlns:a16="http://schemas.microsoft.com/office/drawing/2014/main" id="{9EA9A4EC-589B-47DF-8372-BAE82DF5B31D}"/>
              </a:ext>
            </a:extLst>
          </p:cNvPr>
          <p:cNvCxnSpPr/>
          <p:nvPr/>
        </p:nvCxnSpPr>
        <p:spPr>
          <a:xfrm>
            <a:off x="10566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8" name="grid-v-896">
            <a:extLst>
              <a:ext uri="{FF2B5EF4-FFF2-40B4-BE49-F238E27FC236}">
                <a16:creationId xmlns:a16="http://schemas.microsoft.com/office/drawing/2014/main" id="{60045718-982C-530B-A648-8E99958F5345}"/>
              </a:ext>
            </a:extLst>
          </p:cNvPr>
          <p:cNvCxnSpPr/>
          <p:nvPr/>
        </p:nvCxnSpPr>
        <p:spPr>
          <a:xfrm>
            <a:off x="11379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9" name="grid-v-960">
            <a:extLst>
              <a:ext uri="{FF2B5EF4-FFF2-40B4-BE49-F238E27FC236}">
                <a16:creationId xmlns:a16="http://schemas.microsoft.com/office/drawing/2014/main" id="{5B681E9D-C0BE-C2BB-02CB-07DF298FD1FE}"/>
              </a:ext>
            </a:extLst>
          </p:cNvPr>
          <p:cNvCxnSpPr/>
          <p:nvPr/>
        </p:nvCxnSpPr>
        <p:spPr>
          <a:xfrm>
            <a:off x="12192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0" name="grid-h-0">
            <a:extLst>
              <a:ext uri="{FF2B5EF4-FFF2-40B4-BE49-F238E27FC236}">
                <a16:creationId xmlns:a16="http://schemas.microsoft.com/office/drawing/2014/main" id="{7F0171F2-B632-6092-BDE5-2633547D9F54}"/>
              </a:ext>
            </a:extLst>
          </p:cNvPr>
          <p:cNvCxnSpPr/>
          <p:nvPr/>
        </p:nvCxnSpPr>
        <p:spPr>
          <a:xfrm>
            <a:off x="0" y="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1" name="grid-h-64">
            <a:extLst>
              <a:ext uri="{FF2B5EF4-FFF2-40B4-BE49-F238E27FC236}">
                <a16:creationId xmlns:a16="http://schemas.microsoft.com/office/drawing/2014/main" id="{480C93BD-5648-8BC8-72D7-66C9C74206B1}"/>
              </a:ext>
            </a:extLst>
          </p:cNvPr>
          <p:cNvCxnSpPr/>
          <p:nvPr/>
        </p:nvCxnSpPr>
        <p:spPr>
          <a:xfrm>
            <a:off x="0" y="812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2" name="grid-h-128">
            <a:extLst>
              <a:ext uri="{FF2B5EF4-FFF2-40B4-BE49-F238E27FC236}">
                <a16:creationId xmlns:a16="http://schemas.microsoft.com/office/drawing/2014/main" id="{BA55D9B1-6996-D6A9-37BF-9307613F3F54}"/>
              </a:ext>
            </a:extLst>
          </p:cNvPr>
          <p:cNvCxnSpPr/>
          <p:nvPr/>
        </p:nvCxnSpPr>
        <p:spPr>
          <a:xfrm>
            <a:off x="0" y="1625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3" name="grid-h-192">
            <a:extLst>
              <a:ext uri="{FF2B5EF4-FFF2-40B4-BE49-F238E27FC236}">
                <a16:creationId xmlns:a16="http://schemas.microsoft.com/office/drawing/2014/main" id="{9993EC67-F560-6F55-5947-21F51B6BC613}"/>
              </a:ext>
            </a:extLst>
          </p:cNvPr>
          <p:cNvCxnSpPr/>
          <p:nvPr/>
        </p:nvCxnSpPr>
        <p:spPr>
          <a:xfrm>
            <a:off x="0" y="2438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4" name="grid-h-256">
            <a:extLst>
              <a:ext uri="{FF2B5EF4-FFF2-40B4-BE49-F238E27FC236}">
                <a16:creationId xmlns:a16="http://schemas.microsoft.com/office/drawing/2014/main" id="{6E18E62A-9E23-4777-614B-91F440137E10}"/>
              </a:ext>
            </a:extLst>
          </p:cNvPr>
          <p:cNvCxnSpPr/>
          <p:nvPr/>
        </p:nvCxnSpPr>
        <p:spPr>
          <a:xfrm>
            <a:off x="0" y="32512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5" name="grid-h-320">
            <a:extLst>
              <a:ext uri="{FF2B5EF4-FFF2-40B4-BE49-F238E27FC236}">
                <a16:creationId xmlns:a16="http://schemas.microsoft.com/office/drawing/2014/main" id="{A6FCF3CF-23CA-7C37-45D2-A4789EFFC55F}"/>
              </a:ext>
            </a:extLst>
          </p:cNvPr>
          <p:cNvCxnSpPr/>
          <p:nvPr/>
        </p:nvCxnSpPr>
        <p:spPr>
          <a:xfrm>
            <a:off x="0" y="40640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6" name="grid-h-384">
            <a:extLst>
              <a:ext uri="{FF2B5EF4-FFF2-40B4-BE49-F238E27FC236}">
                <a16:creationId xmlns:a16="http://schemas.microsoft.com/office/drawing/2014/main" id="{6A763F31-D22B-53D6-A2F8-3CBDE8E345A3}"/>
              </a:ext>
            </a:extLst>
          </p:cNvPr>
          <p:cNvCxnSpPr/>
          <p:nvPr/>
        </p:nvCxnSpPr>
        <p:spPr>
          <a:xfrm>
            <a:off x="0" y="4876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7" name="grid-h-448">
            <a:extLst>
              <a:ext uri="{FF2B5EF4-FFF2-40B4-BE49-F238E27FC236}">
                <a16:creationId xmlns:a16="http://schemas.microsoft.com/office/drawing/2014/main" id="{0ACD4B65-B75A-2C64-BF2A-A26F73495BF0}"/>
              </a:ext>
            </a:extLst>
          </p:cNvPr>
          <p:cNvCxnSpPr/>
          <p:nvPr/>
        </p:nvCxnSpPr>
        <p:spPr>
          <a:xfrm>
            <a:off x="0" y="5689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8" name="grid-h-512">
            <a:extLst>
              <a:ext uri="{FF2B5EF4-FFF2-40B4-BE49-F238E27FC236}">
                <a16:creationId xmlns:a16="http://schemas.microsoft.com/office/drawing/2014/main" id="{285CC7B6-659E-09D7-2283-07ADA5B3D1CB}"/>
              </a:ext>
            </a:extLst>
          </p:cNvPr>
          <p:cNvCxnSpPr/>
          <p:nvPr/>
        </p:nvCxnSpPr>
        <p:spPr>
          <a:xfrm>
            <a:off x="0" y="6502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sp>
        <p:nvSpPr>
          <p:cNvPr id="29" name="page-num">
            <a:extLst>
              <a:ext uri="{FF2B5EF4-FFF2-40B4-BE49-F238E27FC236}">
                <a16:creationId xmlns:a16="http://schemas.microsoft.com/office/drawing/2014/main" id="{BE76BEB4-7596-EAAA-9278-ED1BA3211FDA}"/>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B4CDEB"/>
                </a:solidFill>
                <a:latin typeface="Aptos" panose="020B0004020202020204" pitchFamily="34" charset="0"/>
              </a:rPr>
              <a:t>10</a:t>
            </a:r>
            <a:endParaRPr lang="zh-CN" altLang="en-US" sz="650">
              <a:solidFill>
                <a:srgbClr val="B4CDEB"/>
              </a:solidFill>
              <a:latin typeface="Aptos" panose="020B0004020202020204" pitchFamily="34" charset="0"/>
            </a:endParaRPr>
          </a:p>
        </p:txBody>
      </p:sp>
      <p:sp>
        <p:nvSpPr>
          <p:cNvPr id="30" name="section-label">
            <a:extLst>
              <a:ext uri="{FF2B5EF4-FFF2-40B4-BE49-F238E27FC236}">
                <a16:creationId xmlns:a16="http://schemas.microsoft.com/office/drawing/2014/main" id="{8E4903B7-706B-F396-DEE6-17CBDF77E8F6}"/>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BEDCFF"/>
                </a:solidFill>
                <a:latin typeface="Aptos" panose="020B0004020202020204" pitchFamily="34" charset="0"/>
              </a:rPr>
              <a:t>DEMO 1</a:t>
            </a:r>
            <a:endParaRPr lang="zh-CN" altLang="en-US" sz="700" b="1">
              <a:solidFill>
                <a:srgbClr val="BEDCFF"/>
              </a:solidFill>
              <a:latin typeface="Aptos" panose="020B0004020202020204" pitchFamily="34" charset="0"/>
            </a:endParaRPr>
          </a:p>
        </p:txBody>
      </p:sp>
      <p:sp>
        <p:nvSpPr>
          <p:cNvPr id="31" name="title">
            <a:extLst>
              <a:ext uri="{FF2B5EF4-FFF2-40B4-BE49-F238E27FC236}">
                <a16:creationId xmlns:a16="http://schemas.microsoft.com/office/drawing/2014/main" id="{F3A0CCE8-CDD2-70D8-B2FD-278E513BB1F2}"/>
              </a:ext>
            </a:extLst>
          </p:cNvPr>
          <p:cNvSpPr txBox="1"/>
          <p:nvPr/>
        </p:nvSpPr>
        <p:spPr>
          <a:xfrm>
            <a:off x="685800" y="685800"/>
            <a:ext cx="9144000" cy="276999"/>
          </a:xfrm>
          <a:prstGeom prst="rect">
            <a:avLst/>
          </a:prstGeom>
          <a:noFill/>
        </p:spPr>
        <p:txBody>
          <a:bodyPr vert="horz" wrap="square" lIns="0" tIns="0" rIns="0" bIns="0" rtlCol="0">
            <a:noAutofit/>
          </a:bodyPr>
          <a:lstStyle/>
          <a:p>
            <a:r>
              <a:rPr lang="en-US" altLang="zh-CN" sz="2700" b="1">
                <a:solidFill>
                  <a:srgbClr val="FFFFFF"/>
                </a:solidFill>
                <a:latin typeface="Aptos" panose="020B0004020202020204" pitchFamily="34" charset="0"/>
              </a:rPr>
              <a:t>Project page walkthrough: 90 seconds</a:t>
            </a:r>
            <a:endParaRPr lang="zh-CN" altLang="en-US" sz="2700" b="1">
              <a:solidFill>
                <a:srgbClr val="FFFFFF"/>
              </a:solidFill>
              <a:latin typeface="Aptos" panose="020B0004020202020204" pitchFamily="34" charset="0"/>
            </a:endParaRPr>
          </a:p>
        </p:txBody>
      </p:sp>
      <p:sp>
        <p:nvSpPr>
          <p:cNvPr id="32" name="subtitle">
            <a:extLst>
              <a:ext uri="{FF2B5EF4-FFF2-40B4-BE49-F238E27FC236}">
                <a16:creationId xmlns:a16="http://schemas.microsoft.com/office/drawing/2014/main" id="{E4B4D7C1-EC21-031D-3E4A-C68705B27F7A}"/>
              </a:ext>
            </a:extLst>
          </p:cNvPr>
          <p:cNvSpPr txBox="1"/>
          <p:nvPr/>
        </p:nvSpPr>
        <p:spPr>
          <a:xfrm>
            <a:off x="736600" y="1295400"/>
            <a:ext cx="9144000" cy="276999"/>
          </a:xfrm>
          <a:prstGeom prst="rect">
            <a:avLst/>
          </a:prstGeom>
          <a:noFill/>
        </p:spPr>
        <p:txBody>
          <a:bodyPr vert="horz" wrap="square" lIns="0" tIns="0" rIns="0" bIns="0" rtlCol="0">
            <a:noAutofit/>
          </a:bodyPr>
          <a:lstStyle/>
          <a:p>
            <a:r>
              <a:rPr lang="en-US" altLang="zh-CN" sz="980">
                <a:solidFill>
                  <a:srgbClr val="CDE1F8"/>
                </a:solidFill>
                <a:latin typeface="Aptos" panose="020B0004020202020204" pitchFamily="34" charset="0"/>
              </a:rPr>
              <a:t>Purpose: show the examiner where the submitted claim can be inspected.</a:t>
            </a:r>
            <a:endParaRPr lang="zh-CN" altLang="en-US" sz="980">
              <a:solidFill>
                <a:srgbClr val="CDE1F8"/>
              </a:solidFill>
              <a:latin typeface="Aptos" panose="020B0004020202020204" pitchFamily="34" charset="0"/>
            </a:endParaRPr>
          </a:p>
        </p:txBody>
      </p:sp>
      <p:sp>
        <p:nvSpPr>
          <p:cNvPr id="33" name="shot-frame">
            <a:extLst>
              <a:ext uri="{FF2B5EF4-FFF2-40B4-BE49-F238E27FC236}">
                <a16:creationId xmlns:a16="http://schemas.microsoft.com/office/drawing/2014/main" id="{6835D949-A5DF-866E-4B0F-4700066ACA66}"/>
              </a:ext>
            </a:extLst>
          </p:cNvPr>
          <p:cNvSpPr/>
          <p:nvPr/>
        </p:nvSpPr>
        <p:spPr>
          <a:xfrm>
            <a:off x="711200" y="1803400"/>
            <a:ext cx="7696200" cy="3505200"/>
          </a:xfrm>
          <a:prstGeom prst="rect">
            <a:avLst/>
          </a:prstGeom>
          <a:solidFill>
            <a:srgbClr val="FFFFFF"/>
          </a:solidFill>
          <a:ln w="1270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5" name="homepage-shot">
            <a:extLst>
              <a:ext uri="{FF2B5EF4-FFF2-40B4-BE49-F238E27FC236}">
                <a16:creationId xmlns:a16="http://schemas.microsoft.com/office/drawing/2014/main" id="{E4112902-D4D2-D147-B7C0-D2CB704EA99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 y="2274277"/>
            <a:ext cx="7289800" cy="2563446"/>
          </a:xfrm>
          <a:prstGeom prst="rect">
            <a:avLst/>
          </a:prstGeom>
        </p:spPr>
      </p:pic>
      <p:sp>
        <p:nvSpPr>
          <p:cNvPr id="36" name="route">
            <a:extLst>
              <a:ext uri="{FF2B5EF4-FFF2-40B4-BE49-F238E27FC236}">
                <a16:creationId xmlns:a16="http://schemas.microsoft.com/office/drawing/2014/main" id="{85A4F43F-C534-4C46-CDCA-B841DBA1236F}"/>
              </a:ext>
            </a:extLst>
          </p:cNvPr>
          <p:cNvSpPr/>
          <p:nvPr/>
        </p:nvSpPr>
        <p:spPr>
          <a:xfrm>
            <a:off x="8737600" y="1854200"/>
            <a:ext cx="2616200" cy="2565400"/>
          </a:xfrm>
          <a:prstGeom prst="rect">
            <a:avLst/>
          </a:prstGeom>
          <a:solidFill>
            <a:srgbClr val="0A244E"/>
          </a:solidFill>
          <a:ln w="12700">
            <a:solidFill>
              <a:srgbClr val="5087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route-title">
            <a:extLst>
              <a:ext uri="{FF2B5EF4-FFF2-40B4-BE49-F238E27FC236}">
                <a16:creationId xmlns:a16="http://schemas.microsoft.com/office/drawing/2014/main" id="{733879F4-428E-D09B-D651-0BDC2F2C8785}"/>
              </a:ext>
            </a:extLst>
          </p:cNvPr>
          <p:cNvSpPr txBox="1"/>
          <p:nvPr/>
        </p:nvSpPr>
        <p:spPr>
          <a:xfrm>
            <a:off x="9067800" y="2133600"/>
            <a:ext cx="1854200" cy="276999"/>
          </a:xfrm>
          <a:prstGeom prst="rect">
            <a:avLst/>
          </a:prstGeom>
          <a:noFill/>
        </p:spPr>
        <p:txBody>
          <a:bodyPr vert="horz" wrap="square" lIns="0" tIns="0" rIns="0" bIns="0" rtlCol="0">
            <a:noAutofit/>
          </a:bodyPr>
          <a:lstStyle/>
          <a:p>
            <a:r>
              <a:rPr lang="en-US" altLang="zh-CN" sz="1000" b="1">
                <a:solidFill>
                  <a:srgbClr val="FFFFFF"/>
                </a:solidFill>
                <a:latin typeface="Aptos" panose="020B0004020202020204" pitchFamily="34" charset="0"/>
              </a:rPr>
              <a:t>Demo route</a:t>
            </a:r>
            <a:endParaRPr lang="zh-CN" altLang="en-US" sz="1000" b="1">
              <a:solidFill>
                <a:srgbClr val="FFFFFF"/>
              </a:solidFill>
              <a:latin typeface="Aptos" panose="020B0004020202020204" pitchFamily="34" charset="0"/>
            </a:endParaRPr>
          </a:p>
        </p:txBody>
      </p:sp>
      <p:sp>
        <p:nvSpPr>
          <p:cNvPr id="38" name="route-item-0">
            <a:extLst>
              <a:ext uri="{FF2B5EF4-FFF2-40B4-BE49-F238E27FC236}">
                <a16:creationId xmlns:a16="http://schemas.microsoft.com/office/drawing/2014/main" id="{D17F3371-B564-55AE-96F3-FFEC134DD189}"/>
              </a:ext>
            </a:extLst>
          </p:cNvPr>
          <p:cNvSpPr txBox="1"/>
          <p:nvPr/>
        </p:nvSpPr>
        <p:spPr>
          <a:xfrm>
            <a:off x="9067800" y="2565400"/>
            <a:ext cx="1905000" cy="276999"/>
          </a:xfrm>
          <a:prstGeom prst="rect">
            <a:avLst/>
          </a:prstGeom>
          <a:noFill/>
        </p:spPr>
        <p:txBody>
          <a:bodyPr vert="horz" wrap="square" lIns="0" tIns="0" rIns="0" bIns="0" rtlCol="0">
            <a:noAutofit/>
          </a:bodyPr>
          <a:lstStyle/>
          <a:p>
            <a:r>
              <a:rPr lang="en-US" altLang="zh-CN" sz="820" b="1">
                <a:solidFill>
                  <a:srgbClr val="D6E8FA"/>
                </a:solidFill>
                <a:latin typeface="Aptos" panose="020B0004020202020204" pitchFamily="34" charset="0"/>
              </a:rPr>
              <a:t>1. Project page</a:t>
            </a:r>
            <a:endParaRPr lang="zh-CN" altLang="en-US" sz="820" b="1">
              <a:solidFill>
                <a:srgbClr val="D6E8FA"/>
              </a:solidFill>
              <a:latin typeface="Aptos" panose="020B0004020202020204" pitchFamily="34" charset="0"/>
            </a:endParaRPr>
          </a:p>
        </p:txBody>
      </p:sp>
      <p:sp>
        <p:nvSpPr>
          <p:cNvPr id="39" name="route-item-1">
            <a:extLst>
              <a:ext uri="{FF2B5EF4-FFF2-40B4-BE49-F238E27FC236}">
                <a16:creationId xmlns:a16="http://schemas.microsoft.com/office/drawing/2014/main" id="{41D4D270-CC00-40F1-EE17-97D070AF9782}"/>
              </a:ext>
            </a:extLst>
          </p:cNvPr>
          <p:cNvSpPr txBox="1"/>
          <p:nvPr/>
        </p:nvSpPr>
        <p:spPr>
          <a:xfrm>
            <a:off x="9067800" y="2882900"/>
            <a:ext cx="1905000" cy="276999"/>
          </a:xfrm>
          <a:prstGeom prst="rect">
            <a:avLst/>
          </a:prstGeom>
          <a:noFill/>
        </p:spPr>
        <p:txBody>
          <a:bodyPr vert="horz" wrap="square" lIns="0" tIns="0" rIns="0" bIns="0" rtlCol="0">
            <a:noAutofit/>
          </a:bodyPr>
          <a:lstStyle/>
          <a:p>
            <a:r>
              <a:rPr lang="en-US" altLang="zh-CN" sz="820" b="1">
                <a:solidFill>
                  <a:srgbClr val="D6E8FA"/>
                </a:solidFill>
                <a:latin typeface="Aptos" panose="020B0004020202020204" pitchFamily="34" charset="0"/>
              </a:rPr>
              <a:t>2. Repository</a:t>
            </a:r>
            <a:endParaRPr lang="zh-CN" altLang="en-US" sz="820" b="1">
              <a:solidFill>
                <a:srgbClr val="D6E8FA"/>
              </a:solidFill>
              <a:latin typeface="Aptos" panose="020B0004020202020204" pitchFamily="34" charset="0"/>
            </a:endParaRPr>
          </a:p>
        </p:txBody>
      </p:sp>
      <p:sp>
        <p:nvSpPr>
          <p:cNvPr id="40" name="route-item-2">
            <a:extLst>
              <a:ext uri="{FF2B5EF4-FFF2-40B4-BE49-F238E27FC236}">
                <a16:creationId xmlns:a16="http://schemas.microsoft.com/office/drawing/2014/main" id="{A80F3F04-B023-74CE-50DE-C797E500F769}"/>
              </a:ext>
            </a:extLst>
          </p:cNvPr>
          <p:cNvSpPr txBox="1"/>
          <p:nvPr/>
        </p:nvSpPr>
        <p:spPr>
          <a:xfrm>
            <a:off x="9067800" y="3200400"/>
            <a:ext cx="1905000" cy="276999"/>
          </a:xfrm>
          <a:prstGeom prst="rect">
            <a:avLst/>
          </a:prstGeom>
          <a:noFill/>
        </p:spPr>
        <p:txBody>
          <a:bodyPr vert="horz" wrap="square" lIns="0" tIns="0" rIns="0" bIns="0" rtlCol="0">
            <a:noAutofit/>
          </a:bodyPr>
          <a:lstStyle/>
          <a:p>
            <a:r>
              <a:rPr lang="en-US" altLang="zh-CN" sz="820" b="1">
                <a:solidFill>
                  <a:srgbClr val="D6E8FA"/>
                </a:solidFill>
                <a:latin typeface="Aptos" panose="020B0004020202020204" pitchFamily="34" charset="0"/>
              </a:rPr>
              <a:t>3. Claim boundaries</a:t>
            </a:r>
            <a:endParaRPr lang="zh-CN" altLang="en-US" sz="820" b="1">
              <a:solidFill>
                <a:srgbClr val="D6E8FA"/>
              </a:solidFill>
              <a:latin typeface="Aptos" panose="020B0004020202020204" pitchFamily="34" charset="0"/>
            </a:endParaRPr>
          </a:p>
        </p:txBody>
      </p:sp>
      <p:sp>
        <p:nvSpPr>
          <p:cNvPr id="41" name="route-item-3">
            <a:extLst>
              <a:ext uri="{FF2B5EF4-FFF2-40B4-BE49-F238E27FC236}">
                <a16:creationId xmlns:a16="http://schemas.microsoft.com/office/drawing/2014/main" id="{70802F1B-EFE2-EA50-5D0A-9B8ADEAAE4FA}"/>
              </a:ext>
            </a:extLst>
          </p:cNvPr>
          <p:cNvSpPr txBox="1"/>
          <p:nvPr/>
        </p:nvSpPr>
        <p:spPr>
          <a:xfrm>
            <a:off x="9067800" y="3517900"/>
            <a:ext cx="1905000" cy="276999"/>
          </a:xfrm>
          <a:prstGeom prst="rect">
            <a:avLst/>
          </a:prstGeom>
          <a:noFill/>
        </p:spPr>
        <p:txBody>
          <a:bodyPr vert="horz" wrap="square" lIns="0" tIns="0" rIns="0" bIns="0" rtlCol="0">
            <a:noAutofit/>
          </a:bodyPr>
          <a:lstStyle/>
          <a:p>
            <a:r>
              <a:rPr lang="en-US" altLang="zh-CN" sz="820" b="1">
                <a:solidFill>
                  <a:srgbClr val="D6E8FA"/>
                </a:solidFill>
                <a:latin typeface="Aptos" panose="020B0004020202020204" pitchFamily="34" charset="0"/>
              </a:rPr>
              <a:t>4. Traceability</a:t>
            </a:r>
            <a:endParaRPr lang="zh-CN" altLang="en-US" sz="820" b="1">
              <a:solidFill>
                <a:srgbClr val="D6E8FA"/>
              </a:solidFill>
              <a:latin typeface="Aptos" panose="020B0004020202020204" pitchFamily="34" charset="0"/>
            </a:endParaRPr>
          </a:p>
        </p:txBody>
      </p:sp>
      <p:sp>
        <p:nvSpPr>
          <p:cNvPr id="42" name="route-item-4">
            <a:extLst>
              <a:ext uri="{FF2B5EF4-FFF2-40B4-BE49-F238E27FC236}">
                <a16:creationId xmlns:a16="http://schemas.microsoft.com/office/drawing/2014/main" id="{30CCCA7C-7441-26A0-16FC-4A62CADDF6D5}"/>
              </a:ext>
            </a:extLst>
          </p:cNvPr>
          <p:cNvSpPr txBox="1"/>
          <p:nvPr/>
        </p:nvSpPr>
        <p:spPr>
          <a:xfrm>
            <a:off x="9067800" y="3835400"/>
            <a:ext cx="1905000" cy="276999"/>
          </a:xfrm>
          <a:prstGeom prst="rect">
            <a:avLst/>
          </a:prstGeom>
          <a:noFill/>
        </p:spPr>
        <p:txBody>
          <a:bodyPr vert="horz" wrap="square" lIns="0" tIns="0" rIns="0" bIns="0" rtlCol="0">
            <a:noAutofit/>
          </a:bodyPr>
          <a:lstStyle/>
          <a:p>
            <a:r>
              <a:rPr lang="en-US" altLang="zh-CN" sz="820" b="1">
                <a:solidFill>
                  <a:srgbClr val="D6E8FA"/>
                </a:solidFill>
                <a:latin typeface="Aptos" panose="020B0004020202020204" pitchFamily="34" charset="0"/>
              </a:rPr>
              <a:t>5. Manifest</a:t>
            </a:r>
            <a:endParaRPr lang="zh-CN" altLang="en-US" sz="820" b="1">
              <a:solidFill>
                <a:srgbClr val="D6E8FA"/>
              </a:solidFill>
              <a:latin typeface="Aptos" panose="020B0004020202020204" pitchFamily="34" charset="0"/>
            </a:endParaRPr>
          </a:p>
        </p:txBody>
      </p:sp>
      <p:pic>
        <p:nvPicPr>
          <p:cNvPr id="44" name="图片 43">
            <a:hlinkClick r:id="rId4"/>
            <a:extLst>
              <a:ext uri="{FF2B5EF4-FFF2-40B4-BE49-F238E27FC236}">
                <a16:creationId xmlns:a16="http://schemas.microsoft.com/office/drawing/2014/main" id="{97455876-8DD9-7D6C-82C1-4C50CFDE47E6}"/>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245600" y="4749800"/>
            <a:ext cx="1117600" cy="1117600"/>
          </a:xfrm>
          <a:prstGeom prst="rect">
            <a:avLst/>
          </a:prstGeom>
        </p:spPr>
      </p:pic>
      <p:sp>
        <p:nvSpPr>
          <p:cNvPr id="45" name="open-page">
            <a:hlinkClick r:id="rId4"/>
            <a:extLst>
              <a:ext uri="{FF2B5EF4-FFF2-40B4-BE49-F238E27FC236}">
                <a16:creationId xmlns:a16="http://schemas.microsoft.com/office/drawing/2014/main" id="{B3EACD5D-4B64-8A7F-0525-D2A1095CCDF3}"/>
              </a:ext>
            </a:extLst>
          </p:cNvPr>
          <p:cNvSpPr/>
          <p:nvPr/>
        </p:nvSpPr>
        <p:spPr>
          <a:xfrm>
            <a:off x="10439400" y="4953000"/>
            <a:ext cx="889000" cy="279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004080"/>
                </a:solidFill>
                <a:latin typeface="Aptos" panose="020B0004020202020204" pitchFamily="34" charset="0"/>
              </a:rPr>
              <a:t>Open page</a:t>
            </a:r>
            <a:endParaRPr lang="zh-CN" altLang="en-US" sz="850" b="1">
              <a:solidFill>
                <a:srgbClr val="004080"/>
              </a:solidFill>
              <a:latin typeface="Aptos" panose="020B0004020202020204" pitchFamily="34" charset="0"/>
            </a:endParaRPr>
          </a:p>
        </p:txBody>
      </p:sp>
      <p:pic>
        <p:nvPicPr>
          <p:cNvPr id="47" name="图片 46">
            <a:extLst>
              <a:ext uri="{FF2B5EF4-FFF2-40B4-BE49-F238E27FC236}">
                <a16:creationId xmlns:a16="http://schemas.microsoft.com/office/drawing/2014/main" id="{A49FD369-93D7-492C-3F17-063C9CC32346}"/>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Tree>
    <p:extLst>
      <p:ext uri="{BB962C8B-B14F-4D97-AF65-F5344CB8AC3E}">
        <p14:creationId xmlns:p14="http://schemas.microsoft.com/office/powerpoint/2010/main" val="511349850"/>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149B7A56-3CE4-0DB2-7959-8C4E301146FE}"/>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E668E972-957D-F47A-4E81-BAB453C91C5E}"/>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5007445A-5C7F-4807-68A4-0E928A7C92BB}"/>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F08B4FFB-FBCF-7389-7F6E-D57AD5E43C53}"/>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FFFF76FC-CC6B-AC7A-5785-4D407ADE0943}"/>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954B71ED-3F62-5162-5317-7ED408423A05}"/>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11</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6468339F-1BEA-2DE0-3BF7-80A47394FF65}"/>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DEMO 2</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8BC574F9-2051-5F16-7A59-2FAA21237E7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8E9E4AD9-DDFC-AEE5-7BFC-C215AF3A26E8}"/>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Repository check: 60 seconds</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341BE764-EA63-76D4-37B1-3407D14E7F29}"/>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This is a lightweight integrity check, not a full GPU or API rerun.</a:t>
            </a:r>
            <a:endParaRPr lang="zh-CN" altLang="en-US" sz="950">
              <a:solidFill>
                <a:srgbClr val="536580"/>
              </a:solidFill>
              <a:latin typeface="Aptos" panose="020B0004020202020204" pitchFamily="34" charset="0"/>
            </a:endParaRPr>
          </a:p>
        </p:txBody>
      </p:sp>
      <p:sp>
        <p:nvSpPr>
          <p:cNvPr id="13" name="terminal">
            <a:extLst>
              <a:ext uri="{FF2B5EF4-FFF2-40B4-BE49-F238E27FC236}">
                <a16:creationId xmlns:a16="http://schemas.microsoft.com/office/drawing/2014/main" id="{5E1EAE36-6E0A-3D8E-313E-541096873A71}"/>
              </a:ext>
            </a:extLst>
          </p:cNvPr>
          <p:cNvSpPr/>
          <p:nvPr/>
        </p:nvSpPr>
        <p:spPr>
          <a:xfrm>
            <a:off x="889000" y="1905000"/>
            <a:ext cx="6604000" cy="2921000"/>
          </a:xfrm>
          <a:prstGeom prst="rect">
            <a:avLst/>
          </a:prstGeom>
          <a:solidFill>
            <a:srgbClr val="03204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rm-title">
            <a:extLst>
              <a:ext uri="{FF2B5EF4-FFF2-40B4-BE49-F238E27FC236}">
                <a16:creationId xmlns:a16="http://schemas.microsoft.com/office/drawing/2014/main" id="{C42BA89D-BE7B-2049-DCD0-3405DC135636}"/>
              </a:ext>
            </a:extLst>
          </p:cNvPr>
          <p:cNvSpPr txBox="1"/>
          <p:nvPr/>
        </p:nvSpPr>
        <p:spPr>
          <a:xfrm>
            <a:off x="1193800" y="2209800"/>
            <a:ext cx="2286000" cy="276999"/>
          </a:xfrm>
          <a:prstGeom prst="rect">
            <a:avLst/>
          </a:prstGeom>
          <a:noFill/>
        </p:spPr>
        <p:txBody>
          <a:bodyPr vert="horz" wrap="square" lIns="0" tIns="0" rIns="0" bIns="0" rtlCol="0">
            <a:noAutofit/>
          </a:bodyPr>
          <a:lstStyle/>
          <a:p>
            <a:r>
              <a:rPr lang="en-US" altLang="zh-CN" sz="800" b="1">
                <a:solidFill>
                  <a:srgbClr val="BEDCFF"/>
                </a:solidFill>
                <a:latin typeface="Aptos" panose="020B0004020202020204" pitchFamily="34" charset="0"/>
              </a:rPr>
              <a:t>PowerShell / repository root</a:t>
            </a:r>
            <a:endParaRPr lang="zh-CN" altLang="en-US" sz="800" b="1">
              <a:solidFill>
                <a:srgbClr val="BEDCFF"/>
              </a:solidFill>
              <a:latin typeface="Aptos" panose="020B0004020202020204" pitchFamily="34" charset="0"/>
            </a:endParaRPr>
          </a:p>
        </p:txBody>
      </p:sp>
      <p:cxnSp>
        <p:nvCxnSpPr>
          <p:cNvPr id="15" name="term-rule">
            <a:extLst>
              <a:ext uri="{FF2B5EF4-FFF2-40B4-BE49-F238E27FC236}">
                <a16:creationId xmlns:a16="http://schemas.microsoft.com/office/drawing/2014/main" id="{28C5F818-99FD-85D5-C40E-49C9D682BAF0}"/>
              </a:ext>
            </a:extLst>
          </p:cNvPr>
          <p:cNvCxnSpPr/>
          <p:nvPr/>
        </p:nvCxnSpPr>
        <p:spPr>
          <a:xfrm>
            <a:off x="1193800" y="2514600"/>
            <a:ext cx="5918200" cy="0"/>
          </a:xfrm>
          <a:prstGeom prst="line">
            <a:avLst/>
          </a:prstGeom>
          <a:ln w="12700">
            <a:solidFill>
              <a:srgbClr val="4673AF"/>
            </a:solidFill>
          </a:ln>
        </p:spPr>
        <p:style>
          <a:lnRef idx="1">
            <a:schemeClr val="accent1"/>
          </a:lnRef>
          <a:fillRef idx="0">
            <a:schemeClr val="accent1"/>
          </a:fillRef>
          <a:effectRef idx="0">
            <a:schemeClr val="accent1"/>
          </a:effectRef>
          <a:fontRef idx="minor">
            <a:schemeClr val="tx1"/>
          </a:fontRef>
        </p:style>
      </p:cxnSp>
      <p:sp>
        <p:nvSpPr>
          <p:cNvPr id="16" name="terminal-text">
            <a:extLst>
              <a:ext uri="{FF2B5EF4-FFF2-40B4-BE49-F238E27FC236}">
                <a16:creationId xmlns:a16="http://schemas.microsoft.com/office/drawing/2014/main" id="{9E3D0E4B-1885-3CC9-6C33-8C1406D6B75F}"/>
              </a:ext>
            </a:extLst>
          </p:cNvPr>
          <p:cNvSpPr txBox="1"/>
          <p:nvPr/>
        </p:nvSpPr>
        <p:spPr>
          <a:xfrm>
            <a:off x="1193800" y="2768600"/>
            <a:ext cx="5715000" cy="276999"/>
          </a:xfrm>
          <a:prstGeom prst="rect">
            <a:avLst/>
          </a:prstGeom>
          <a:noFill/>
        </p:spPr>
        <p:txBody>
          <a:bodyPr vert="horz" wrap="square" lIns="0" tIns="0" rIns="0" bIns="0" rtlCol="0">
            <a:noAutofit/>
          </a:bodyPr>
          <a:lstStyle/>
          <a:p>
            <a:r>
              <a:rPr lang="en-US" altLang="zh-CN" sz="1100">
                <a:solidFill>
                  <a:srgbClr val="FFFFFF"/>
                </a:solidFill>
                <a:latin typeface="Consolas" panose="020B0609020204030204" pitchFamily="49" charset="0"/>
              </a:rPr>
              <a:t>python scripts\\viva_check.py
[OK] Viva-facing documents present
[OK] Result manifest covers modules
[OK] Manifest artifact hashes verified
[OK] Claim boundaries are present
[OK] Viva check passed</a:t>
            </a:r>
            <a:endParaRPr lang="zh-CN" altLang="en-US" sz="1100">
              <a:solidFill>
                <a:srgbClr val="FFFFFF"/>
              </a:solidFill>
              <a:latin typeface="Consolas" panose="020B0609020204030204" pitchFamily="49" charset="0"/>
            </a:endParaRPr>
          </a:p>
        </p:txBody>
      </p:sp>
      <p:sp>
        <p:nvSpPr>
          <p:cNvPr id="17" name="check-0">
            <a:extLst>
              <a:ext uri="{FF2B5EF4-FFF2-40B4-BE49-F238E27FC236}">
                <a16:creationId xmlns:a16="http://schemas.microsoft.com/office/drawing/2014/main" id="{B12B013A-6CB4-A92B-973F-4A7565ADA88D}"/>
              </a:ext>
            </a:extLst>
          </p:cNvPr>
          <p:cNvSpPr/>
          <p:nvPr/>
        </p:nvSpPr>
        <p:spPr>
          <a:xfrm>
            <a:off x="8204200" y="2082800"/>
            <a:ext cx="2540000" cy="609600"/>
          </a:xfrm>
          <a:prstGeom prst="rect">
            <a:avLst/>
          </a:prstGeom>
          <a:solidFill>
            <a:srgbClr val="E7F1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check-title-0">
            <a:extLst>
              <a:ext uri="{FF2B5EF4-FFF2-40B4-BE49-F238E27FC236}">
                <a16:creationId xmlns:a16="http://schemas.microsoft.com/office/drawing/2014/main" id="{0608C139-D89B-99EE-11DC-913F0B18A1A9}"/>
              </a:ext>
            </a:extLst>
          </p:cNvPr>
          <p:cNvSpPr txBox="1"/>
          <p:nvPr/>
        </p:nvSpPr>
        <p:spPr>
          <a:xfrm>
            <a:off x="8509000" y="2209800"/>
            <a:ext cx="15240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Proves</a:t>
            </a:r>
            <a:endParaRPr lang="zh-CN" altLang="en-US" sz="800" b="1">
              <a:solidFill>
                <a:srgbClr val="004080"/>
              </a:solidFill>
              <a:latin typeface="Aptos" panose="020B0004020202020204" pitchFamily="34" charset="0"/>
            </a:endParaRPr>
          </a:p>
        </p:txBody>
      </p:sp>
      <p:sp>
        <p:nvSpPr>
          <p:cNvPr id="19" name="check-sub-0">
            <a:extLst>
              <a:ext uri="{FF2B5EF4-FFF2-40B4-BE49-F238E27FC236}">
                <a16:creationId xmlns:a16="http://schemas.microsoft.com/office/drawing/2014/main" id="{2D45CC22-EDC7-88F1-0BEF-DAEA8C2C6BC7}"/>
              </a:ext>
            </a:extLst>
          </p:cNvPr>
          <p:cNvSpPr txBox="1"/>
          <p:nvPr/>
        </p:nvSpPr>
        <p:spPr>
          <a:xfrm>
            <a:off x="8509000" y="2438400"/>
            <a:ext cx="17780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files, hashes, links</a:t>
            </a:r>
            <a:endParaRPr lang="zh-CN" altLang="en-US" sz="720">
              <a:solidFill>
                <a:srgbClr val="536580"/>
              </a:solidFill>
              <a:latin typeface="Aptos" panose="020B0004020202020204" pitchFamily="34" charset="0"/>
            </a:endParaRPr>
          </a:p>
        </p:txBody>
      </p:sp>
      <p:sp>
        <p:nvSpPr>
          <p:cNvPr id="20" name="check-1">
            <a:extLst>
              <a:ext uri="{FF2B5EF4-FFF2-40B4-BE49-F238E27FC236}">
                <a16:creationId xmlns:a16="http://schemas.microsoft.com/office/drawing/2014/main" id="{30D2C63E-57C3-6ECF-88A8-A4472B8C3B02}"/>
              </a:ext>
            </a:extLst>
          </p:cNvPr>
          <p:cNvSpPr/>
          <p:nvPr/>
        </p:nvSpPr>
        <p:spPr>
          <a:xfrm>
            <a:off x="8204200" y="3048000"/>
            <a:ext cx="2540000" cy="609600"/>
          </a:xfrm>
          <a:prstGeom prst="rect">
            <a:avLst/>
          </a:prstGeom>
          <a:solidFill>
            <a:srgbClr val="FFF5E0"/>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check-title-1">
            <a:extLst>
              <a:ext uri="{FF2B5EF4-FFF2-40B4-BE49-F238E27FC236}">
                <a16:creationId xmlns:a16="http://schemas.microsoft.com/office/drawing/2014/main" id="{A8B76122-0E0C-D852-7855-E9764BFC993C}"/>
              </a:ext>
            </a:extLst>
          </p:cNvPr>
          <p:cNvSpPr txBox="1"/>
          <p:nvPr/>
        </p:nvSpPr>
        <p:spPr>
          <a:xfrm>
            <a:off x="8509000" y="3175000"/>
            <a:ext cx="1524000" cy="276999"/>
          </a:xfrm>
          <a:prstGeom prst="rect">
            <a:avLst/>
          </a:prstGeom>
          <a:noFill/>
        </p:spPr>
        <p:txBody>
          <a:bodyPr vert="horz" wrap="square" lIns="0" tIns="0" rIns="0" bIns="0" rtlCol="0">
            <a:noAutofit/>
          </a:bodyPr>
          <a:lstStyle/>
          <a:p>
            <a:r>
              <a:rPr lang="en-US" altLang="zh-CN" sz="800" b="1">
                <a:solidFill>
                  <a:srgbClr val="5C3A0C"/>
                </a:solidFill>
                <a:latin typeface="Aptos" panose="020B0004020202020204" pitchFamily="34" charset="0"/>
              </a:rPr>
              <a:t>Does not prove</a:t>
            </a:r>
            <a:endParaRPr lang="zh-CN" altLang="en-US" sz="800" b="1">
              <a:solidFill>
                <a:srgbClr val="5C3A0C"/>
              </a:solidFill>
              <a:latin typeface="Aptos" panose="020B0004020202020204" pitchFamily="34" charset="0"/>
            </a:endParaRPr>
          </a:p>
        </p:txBody>
      </p:sp>
      <p:sp>
        <p:nvSpPr>
          <p:cNvPr id="22" name="check-sub-1">
            <a:extLst>
              <a:ext uri="{FF2B5EF4-FFF2-40B4-BE49-F238E27FC236}">
                <a16:creationId xmlns:a16="http://schemas.microsoft.com/office/drawing/2014/main" id="{7538C890-E6C1-F777-7055-85EB4FC1A595}"/>
              </a:ext>
            </a:extLst>
          </p:cNvPr>
          <p:cNvSpPr txBox="1"/>
          <p:nvPr/>
        </p:nvSpPr>
        <p:spPr>
          <a:xfrm>
            <a:off x="8509000" y="3403600"/>
            <a:ext cx="17780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full GPU/API rerun</a:t>
            </a:r>
            <a:endParaRPr lang="zh-CN" altLang="en-US" sz="720">
              <a:solidFill>
                <a:srgbClr val="536580"/>
              </a:solidFill>
              <a:latin typeface="Aptos" panose="020B0004020202020204" pitchFamily="34" charset="0"/>
            </a:endParaRPr>
          </a:p>
        </p:txBody>
      </p:sp>
      <p:sp>
        <p:nvSpPr>
          <p:cNvPr id="23" name="check-2">
            <a:extLst>
              <a:ext uri="{FF2B5EF4-FFF2-40B4-BE49-F238E27FC236}">
                <a16:creationId xmlns:a16="http://schemas.microsoft.com/office/drawing/2014/main" id="{AE638425-FE85-5466-A2E7-3B8D074F4AE5}"/>
              </a:ext>
            </a:extLst>
          </p:cNvPr>
          <p:cNvSpPr/>
          <p:nvPr/>
        </p:nvSpPr>
        <p:spPr>
          <a:xfrm>
            <a:off x="8204200" y="4013200"/>
            <a:ext cx="2540000" cy="609600"/>
          </a:xfrm>
          <a:prstGeom prst="rect">
            <a:avLst/>
          </a:prstGeom>
          <a:solidFill>
            <a:srgbClr val="FFEBED"/>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heck-title-2">
            <a:extLst>
              <a:ext uri="{FF2B5EF4-FFF2-40B4-BE49-F238E27FC236}">
                <a16:creationId xmlns:a16="http://schemas.microsoft.com/office/drawing/2014/main" id="{6249CC81-749C-C631-2D5B-2F8A849429C4}"/>
              </a:ext>
            </a:extLst>
          </p:cNvPr>
          <p:cNvSpPr txBox="1"/>
          <p:nvPr/>
        </p:nvSpPr>
        <p:spPr>
          <a:xfrm>
            <a:off x="8509000" y="4140200"/>
            <a:ext cx="1524000" cy="276999"/>
          </a:xfrm>
          <a:prstGeom prst="rect">
            <a:avLst/>
          </a:prstGeom>
          <a:noFill/>
        </p:spPr>
        <p:txBody>
          <a:bodyPr vert="horz" wrap="square" lIns="0" tIns="0" rIns="0" bIns="0" rtlCol="0">
            <a:noAutofit/>
          </a:bodyPr>
          <a:lstStyle/>
          <a:p>
            <a:r>
              <a:rPr lang="en-US" altLang="zh-CN" sz="800" b="1">
                <a:solidFill>
                  <a:srgbClr val="C52B38"/>
                </a:solidFill>
                <a:latin typeface="Aptos" panose="020B0004020202020204" pitchFamily="34" charset="0"/>
              </a:rPr>
              <a:t>Fallback</a:t>
            </a:r>
            <a:endParaRPr lang="zh-CN" altLang="en-US" sz="800" b="1">
              <a:solidFill>
                <a:srgbClr val="C52B38"/>
              </a:solidFill>
              <a:latin typeface="Aptos" panose="020B0004020202020204" pitchFamily="34" charset="0"/>
            </a:endParaRPr>
          </a:p>
        </p:txBody>
      </p:sp>
      <p:sp>
        <p:nvSpPr>
          <p:cNvPr id="25" name="check-sub-2">
            <a:extLst>
              <a:ext uri="{FF2B5EF4-FFF2-40B4-BE49-F238E27FC236}">
                <a16:creationId xmlns:a16="http://schemas.microsoft.com/office/drawing/2014/main" id="{62E773F7-7FAC-7C71-7305-64D168B19DB0}"/>
              </a:ext>
            </a:extLst>
          </p:cNvPr>
          <p:cNvSpPr txBox="1"/>
          <p:nvPr/>
        </p:nvSpPr>
        <p:spPr>
          <a:xfrm>
            <a:off x="8509000" y="4368800"/>
            <a:ext cx="17780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play recorded demo</a:t>
            </a:r>
            <a:endParaRPr lang="zh-CN" altLang="en-US" sz="720">
              <a:solidFill>
                <a:srgbClr val="536580"/>
              </a:solidFill>
              <a:latin typeface="Aptos" panose="020B0004020202020204" pitchFamily="34" charset="0"/>
            </a:endParaRPr>
          </a:p>
        </p:txBody>
      </p:sp>
      <p:sp>
        <p:nvSpPr>
          <p:cNvPr id="26" name="script-link">
            <a:hlinkClick r:id="rId4"/>
            <a:extLst>
              <a:ext uri="{FF2B5EF4-FFF2-40B4-BE49-F238E27FC236}">
                <a16:creationId xmlns:a16="http://schemas.microsoft.com/office/drawing/2014/main" id="{BAF2CB0B-4EC7-E57D-889B-E5306DDC2178}"/>
              </a:ext>
            </a:extLst>
          </p:cNvPr>
          <p:cNvSpPr/>
          <p:nvPr/>
        </p:nvSpPr>
        <p:spPr>
          <a:xfrm>
            <a:off x="8204200" y="5232400"/>
            <a:ext cx="10922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viva_check.py</a:t>
            </a:r>
            <a:endParaRPr lang="zh-CN" altLang="en-US" sz="850" b="1">
              <a:solidFill>
                <a:srgbClr val="FFFFFF"/>
              </a:solidFill>
              <a:latin typeface="Aptos" panose="020B0004020202020204" pitchFamily="34" charset="0"/>
            </a:endParaRPr>
          </a:p>
        </p:txBody>
      </p:sp>
      <p:sp>
        <p:nvSpPr>
          <p:cNvPr id="27" name="manifest-link">
            <a:hlinkClick r:id="rId5"/>
            <a:extLst>
              <a:ext uri="{FF2B5EF4-FFF2-40B4-BE49-F238E27FC236}">
                <a16:creationId xmlns:a16="http://schemas.microsoft.com/office/drawing/2014/main" id="{27E599D7-1D24-AC1B-F7BC-FCED251D7A72}"/>
              </a:ext>
            </a:extLst>
          </p:cNvPr>
          <p:cNvSpPr/>
          <p:nvPr/>
        </p:nvSpPr>
        <p:spPr>
          <a:xfrm>
            <a:off x="9423400" y="5232400"/>
            <a:ext cx="10922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Manifest</a:t>
            </a:r>
            <a:endParaRPr lang="zh-CN" altLang="en-US" sz="850" b="1">
              <a:solidFill>
                <a:srgbClr val="FFFFFF"/>
              </a:solidFill>
              <a:latin typeface="Aptos" panose="020B0004020202020204" pitchFamily="34" charset="0"/>
            </a:endParaRPr>
          </a:p>
        </p:txBody>
      </p:sp>
    </p:spTree>
    <p:extLst>
      <p:ext uri="{BB962C8B-B14F-4D97-AF65-F5344CB8AC3E}">
        <p14:creationId xmlns:p14="http://schemas.microsoft.com/office/powerpoint/2010/main" val="4290647337"/>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49F7C996-1553-C568-F8F5-F17AC9CB2E87}"/>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2541D891-F12F-ACAF-88B5-DBD158458AB4}"/>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F4CE04ED-DDEA-3110-B7EE-6188131E8440}"/>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7FFD9843-50E8-8E45-B74C-54DCDC5C3001}"/>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EB448A0A-438F-4CC0-8258-03AC4E6ACD44}"/>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A02D3649-257E-7541-3C9F-8EC88E0E445A}"/>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12</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04F72763-A0CD-A899-A372-ED8B1849376F}"/>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DEFENSE</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58DB8794-EE3A-1E81-B02F-B8408E54F45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BB8D41C1-762D-6055-29AA-D7067000BED1}"/>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In Q&amp;A, defend the evidence and refuse unsupported claims</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7C057D71-B849-50AF-8756-7460765A8FC4}"/>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The safest answer is direct, bounded, and tied to an artifact.</a:t>
            </a:r>
            <a:endParaRPr lang="zh-CN" altLang="en-US" sz="950">
              <a:solidFill>
                <a:srgbClr val="536580"/>
              </a:solidFill>
              <a:latin typeface="Aptos" panose="020B0004020202020204" pitchFamily="34" charset="0"/>
            </a:endParaRPr>
          </a:p>
        </p:txBody>
      </p:sp>
      <p:sp>
        <p:nvSpPr>
          <p:cNvPr id="13" name="def-row-0">
            <a:extLst>
              <a:ext uri="{FF2B5EF4-FFF2-40B4-BE49-F238E27FC236}">
                <a16:creationId xmlns:a16="http://schemas.microsoft.com/office/drawing/2014/main" id="{F854706E-EE6E-046F-0885-5EDFCD952AC1}"/>
              </a:ext>
            </a:extLst>
          </p:cNvPr>
          <p:cNvSpPr/>
          <p:nvPr/>
        </p:nvSpPr>
        <p:spPr>
          <a:xfrm>
            <a:off x="914400" y="1905000"/>
            <a:ext cx="10363200" cy="736600"/>
          </a:xfrm>
          <a:prstGeom prst="rect">
            <a:avLst/>
          </a:prstGeom>
          <a:solidFill>
            <a:srgbClr val="004080"/>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def-label-0">
            <a:extLst>
              <a:ext uri="{FF2B5EF4-FFF2-40B4-BE49-F238E27FC236}">
                <a16:creationId xmlns:a16="http://schemas.microsoft.com/office/drawing/2014/main" id="{9B6F8A3D-1C17-F7A6-C661-8EEAB1E2FFFE}"/>
              </a:ext>
            </a:extLst>
          </p:cNvPr>
          <p:cNvSpPr txBox="1"/>
          <p:nvPr/>
        </p:nvSpPr>
        <p:spPr>
          <a:xfrm>
            <a:off x="1320800" y="2146300"/>
            <a:ext cx="1651000" cy="276999"/>
          </a:xfrm>
          <a:prstGeom prst="rect">
            <a:avLst/>
          </a:prstGeom>
          <a:noFill/>
        </p:spPr>
        <p:txBody>
          <a:bodyPr vert="horz" wrap="square" lIns="0" tIns="0" rIns="0" bIns="0" rtlCol="0">
            <a:noAutofit/>
          </a:bodyPr>
          <a:lstStyle/>
          <a:p>
            <a:r>
              <a:rPr lang="en-US" altLang="zh-CN" sz="1000" b="1">
                <a:solidFill>
                  <a:srgbClr val="FFFFFF"/>
                </a:solidFill>
                <a:latin typeface="Aptos" panose="020B0004020202020204" pitchFamily="34" charset="0"/>
              </a:rPr>
              <a:t>Defend</a:t>
            </a:r>
            <a:endParaRPr lang="zh-CN" altLang="en-US" sz="1000" b="1">
              <a:solidFill>
                <a:srgbClr val="FFFFFF"/>
              </a:solidFill>
              <a:latin typeface="Aptos" panose="020B0004020202020204" pitchFamily="34" charset="0"/>
            </a:endParaRPr>
          </a:p>
        </p:txBody>
      </p:sp>
      <p:sp>
        <p:nvSpPr>
          <p:cNvPr id="15" name="def-text-0">
            <a:extLst>
              <a:ext uri="{FF2B5EF4-FFF2-40B4-BE49-F238E27FC236}">
                <a16:creationId xmlns:a16="http://schemas.microsoft.com/office/drawing/2014/main" id="{189BF288-0FF8-667C-734A-C57300EE96EA}"/>
              </a:ext>
            </a:extLst>
          </p:cNvPr>
          <p:cNvSpPr txBox="1"/>
          <p:nvPr/>
        </p:nvSpPr>
        <p:spPr>
          <a:xfrm>
            <a:off x="3225800" y="2146300"/>
            <a:ext cx="7366000" cy="276999"/>
          </a:xfrm>
          <a:prstGeom prst="rect">
            <a:avLst/>
          </a:prstGeom>
          <a:noFill/>
        </p:spPr>
        <p:txBody>
          <a:bodyPr vert="horz" wrap="square" lIns="0" tIns="0" rIns="0" bIns="0" rtlCol="0">
            <a:noAutofit/>
          </a:bodyPr>
          <a:lstStyle/>
          <a:p>
            <a:r>
              <a:rPr lang="en-US" altLang="zh-CN" sz="900" b="1">
                <a:solidFill>
                  <a:srgbClr val="FFFFFF"/>
                </a:solidFill>
                <a:latin typeface="Aptos" panose="020B0004020202020204" pitchFamily="34" charset="0"/>
              </a:rPr>
              <a:t>fixed denominators | executable controls | artifact hashes | repository traceability</a:t>
            </a:r>
            <a:endParaRPr lang="zh-CN" altLang="en-US" sz="900" b="1">
              <a:solidFill>
                <a:srgbClr val="FFFFFF"/>
              </a:solidFill>
              <a:latin typeface="Aptos" panose="020B0004020202020204" pitchFamily="34" charset="0"/>
            </a:endParaRPr>
          </a:p>
        </p:txBody>
      </p:sp>
      <p:sp>
        <p:nvSpPr>
          <p:cNvPr id="16" name="def-row-1">
            <a:extLst>
              <a:ext uri="{FF2B5EF4-FFF2-40B4-BE49-F238E27FC236}">
                <a16:creationId xmlns:a16="http://schemas.microsoft.com/office/drawing/2014/main" id="{E59E43AB-061E-9D4A-B8BA-7E935BDE07DF}"/>
              </a:ext>
            </a:extLst>
          </p:cNvPr>
          <p:cNvSpPr/>
          <p:nvPr/>
        </p:nvSpPr>
        <p:spPr>
          <a:xfrm>
            <a:off x="914400" y="3022600"/>
            <a:ext cx="10363200" cy="736600"/>
          </a:xfrm>
          <a:prstGeom prst="rect">
            <a:avLst/>
          </a:prstGeom>
          <a:solidFill>
            <a:srgbClr val="FFF5E0"/>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def-label-1">
            <a:extLst>
              <a:ext uri="{FF2B5EF4-FFF2-40B4-BE49-F238E27FC236}">
                <a16:creationId xmlns:a16="http://schemas.microsoft.com/office/drawing/2014/main" id="{3D6562D1-731D-50F0-608E-5FAB2E1CB283}"/>
              </a:ext>
            </a:extLst>
          </p:cNvPr>
          <p:cNvSpPr txBox="1"/>
          <p:nvPr/>
        </p:nvSpPr>
        <p:spPr>
          <a:xfrm>
            <a:off x="1320800" y="3263900"/>
            <a:ext cx="1651000" cy="276999"/>
          </a:xfrm>
          <a:prstGeom prst="rect">
            <a:avLst/>
          </a:prstGeom>
          <a:noFill/>
        </p:spPr>
        <p:txBody>
          <a:bodyPr vert="horz" wrap="square" lIns="0" tIns="0" rIns="0" bIns="0" rtlCol="0">
            <a:noAutofit/>
          </a:bodyPr>
          <a:lstStyle/>
          <a:p>
            <a:r>
              <a:rPr lang="en-US" altLang="zh-CN" sz="1000" b="1">
                <a:solidFill>
                  <a:srgbClr val="5C3A0C"/>
                </a:solidFill>
                <a:latin typeface="Aptos" panose="020B0004020202020204" pitchFamily="34" charset="0"/>
              </a:rPr>
              <a:t>Qualify</a:t>
            </a:r>
            <a:endParaRPr lang="zh-CN" altLang="en-US" sz="1000" b="1">
              <a:solidFill>
                <a:srgbClr val="5C3A0C"/>
              </a:solidFill>
              <a:latin typeface="Aptos" panose="020B0004020202020204" pitchFamily="34" charset="0"/>
            </a:endParaRPr>
          </a:p>
        </p:txBody>
      </p:sp>
      <p:sp>
        <p:nvSpPr>
          <p:cNvPr id="18" name="def-text-1">
            <a:extLst>
              <a:ext uri="{FF2B5EF4-FFF2-40B4-BE49-F238E27FC236}">
                <a16:creationId xmlns:a16="http://schemas.microsoft.com/office/drawing/2014/main" id="{1D13C79A-42CA-6C61-68EE-F5D1FACC098A}"/>
              </a:ext>
            </a:extLst>
          </p:cNvPr>
          <p:cNvSpPr txBox="1"/>
          <p:nvPr/>
        </p:nvSpPr>
        <p:spPr>
          <a:xfrm>
            <a:off x="3225800" y="3263900"/>
            <a:ext cx="7366000" cy="276999"/>
          </a:xfrm>
          <a:prstGeom prst="rect">
            <a:avLst/>
          </a:prstGeom>
          <a:noFill/>
        </p:spPr>
        <p:txBody>
          <a:bodyPr vert="horz" wrap="square" lIns="0" tIns="0" rIns="0" bIns="0" rtlCol="0">
            <a:noAutofit/>
          </a:bodyPr>
          <a:lstStyle/>
          <a:p>
            <a:r>
              <a:rPr lang="en-US" altLang="zh-CN" sz="900" b="1">
                <a:solidFill>
                  <a:srgbClr val="5C3A0C"/>
                </a:solidFill>
                <a:latin typeface="Aptos" panose="020B0004020202020204" pitchFamily="34" charset="0"/>
              </a:rPr>
              <a:t>access model | dataset surface | admitted denominator | demo is not a full rerun</a:t>
            </a:r>
            <a:endParaRPr lang="zh-CN" altLang="en-US" sz="900" b="1">
              <a:solidFill>
                <a:srgbClr val="5C3A0C"/>
              </a:solidFill>
              <a:latin typeface="Aptos" panose="020B0004020202020204" pitchFamily="34" charset="0"/>
            </a:endParaRPr>
          </a:p>
        </p:txBody>
      </p:sp>
      <p:sp>
        <p:nvSpPr>
          <p:cNvPr id="19" name="def-row-2">
            <a:extLst>
              <a:ext uri="{FF2B5EF4-FFF2-40B4-BE49-F238E27FC236}">
                <a16:creationId xmlns:a16="http://schemas.microsoft.com/office/drawing/2014/main" id="{5102844A-790E-AC7B-451A-CAFC5313DC7D}"/>
              </a:ext>
            </a:extLst>
          </p:cNvPr>
          <p:cNvSpPr/>
          <p:nvPr/>
        </p:nvSpPr>
        <p:spPr>
          <a:xfrm>
            <a:off x="914400" y="4140200"/>
            <a:ext cx="10363200" cy="736600"/>
          </a:xfrm>
          <a:prstGeom prst="rect">
            <a:avLst/>
          </a:prstGeom>
          <a:solidFill>
            <a:srgbClr val="FFEBED"/>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def-label-2">
            <a:extLst>
              <a:ext uri="{FF2B5EF4-FFF2-40B4-BE49-F238E27FC236}">
                <a16:creationId xmlns:a16="http://schemas.microsoft.com/office/drawing/2014/main" id="{03A99EF0-6A16-5B0C-1F8B-1656BA0F63BE}"/>
              </a:ext>
            </a:extLst>
          </p:cNvPr>
          <p:cNvSpPr txBox="1"/>
          <p:nvPr/>
        </p:nvSpPr>
        <p:spPr>
          <a:xfrm>
            <a:off x="1320800" y="4381500"/>
            <a:ext cx="1651000" cy="276999"/>
          </a:xfrm>
          <a:prstGeom prst="rect">
            <a:avLst/>
          </a:prstGeom>
          <a:noFill/>
        </p:spPr>
        <p:txBody>
          <a:bodyPr vert="horz" wrap="square" lIns="0" tIns="0" rIns="0" bIns="0" rtlCol="0">
            <a:noAutofit/>
          </a:bodyPr>
          <a:lstStyle/>
          <a:p>
            <a:r>
              <a:rPr lang="en-US" altLang="zh-CN" sz="1000" b="1">
                <a:solidFill>
                  <a:srgbClr val="C52B38"/>
                </a:solidFill>
                <a:latin typeface="Aptos" panose="020B0004020202020204" pitchFamily="34" charset="0"/>
              </a:rPr>
              <a:t>Refuse</a:t>
            </a:r>
            <a:endParaRPr lang="zh-CN" altLang="en-US" sz="1000" b="1">
              <a:solidFill>
                <a:srgbClr val="C52B38"/>
              </a:solidFill>
              <a:latin typeface="Aptos" panose="020B0004020202020204" pitchFamily="34" charset="0"/>
            </a:endParaRPr>
          </a:p>
        </p:txBody>
      </p:sp>
      <p:sp>
        <p:nvSpPr>
          <p:cNvPr id="21" name="def-text-2">
            <a:extLst>
              <a:ext uri="{FF2B5EF4-FFF2-40B4-BE49-F238E27FC236}">
                <a16:creationId xmlns:a16="http://schemas.microsoft.com/office/drawing/2014/main" id="{190F5BBA-01FB-4273-5DCB-8E6C8DB21A0A}"/>
              </a:ext>
            </a:extLst>
          </p:cNvPr>
          <p:cNvSpPr txBox="1"/>
          <p:nvPr/>
        </p:nvSpPr>
        <p:spPr>
          <a:xfrm>
            <a:off x="3225800" y="4381500"/>
            <a:ext cx="7366000" cy="276999"/>
          </a:xfrm>
          <a:prstGeom prst="rect">
            <a:avLst/>
          </a:prstGeom>
          <a:noFill/>
        </p:spPr>
        <p:txBody>
          <a:bodyPr vert="horz" wrap="square" lIns="0" tIns="0" rIns="0" bIns="0" rtlCol="0">
            <a:noAutofit/>
          </a:bodyPr>
          <a:lstStyle/>
          <a:p>
            <a:r>
              <a:rPr lang="en-US" altLang="zh-CN" sz="900" b="1">
                <a:solidFill>
                  <a:srgbClr val="C52B38"/>
                </a:solidFill>
                <a:latin typeface="Aptos" panose="020B0004020202020204" pitchFamily="34" charset="0"/>
              </a:rPr>
              <a:t>universal detection | legal authorship | provider-general guarantee | safety certificate</a:t>
            </a:r>
            <a:endParaRPr lang="zh-CN" altLang="en-US" sz="900" b="1">
              <a:solidFill>
                <a:srgbClr val="C52B38"/>
              </a:solidFill>
              <a:latin typeface="Aptos" panose="020B0004020202020204" pitchFamily="34" charset="0"/>
            </a:endParaRPr>
          </a:p>
        </p:txBody>
      </p:sp>
      <p:sp>
        <p:nvSpPr>
          <p:cNvPr id="22" name="boundaries-link">
            <a:hlinkClick r:id="rId4"/>
            <a:extLst>
              <a:ext uri="{FF2B5EF4-FFF2-40B4-BE49-F238E27FC236}">
                <a16:creationId xmlns:a16="http://schemas.microsoft.com/office/drawing/2014/main" id="{F129AB85-7CCE-521A-E742-FF9B398C6ED1}"/>
              </a:ext>
            </a:extLst>
          </p:cNvPr>
          <p:cNvSpPr/>
          <p:nvPr/>
        </p:nvSpPr>
        <p:spPr>
          <a:xfrm>
            <a:off x="9169400" y="5232400"/>
            <a:ext cx="13716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Claim boundaries</a:t>
            </a:r>
            <a:endParaRPr lang="zh-CN" altLang="en-US" sz="850" b="1">
              <a:solidFill>
                <a:srgbClr val="FFFFFF"/>
              </a:solidFill>
              <a:latin typeface="Aptos" panose="020B0004020202020204" pitchFamily="34" charset="0"/>
            </a:endParaRPr>
          </a:p>
        </p:txBody>
      </p:sp>
    </p:spTree>
    <p:extLst>
      <p:ext uri="{BB962C8B-B14F-4D97-AF65-F5344CB8AC3E}">
        <p14:creationId xmlns:p14="http://schemas.microsoft.com/office/powerpoint/2010/main" val="3149325210"/>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B7BD3A76-1D3F-0507-A343-EF79936C2EA1}"/>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2CA5DE6E-E8E2-4DA9-5694-6DAB2CAF1887}"/>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A6D3DC05-2A82-D451-888E-D8477E10B431}"/>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F65EFB48-379E-6909-9DBB-2870A7369356}"/>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4B873CE1-9377-8CE6-B0AC-A0F64139FBE7}"/>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5E87621C-998F-0FEA-BFF0-41F3A88048E9}"/>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13</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6BE22CAB-F30A-8555-E4AD-F308DEDE5F43}"/>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NEXT STEPS</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B3B8DA86-690C-720A-18EA-A4ED3A58477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F15242C2-9DC2-DE1C-C84A-D8B7E1C333C8}"/>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From FYP artifact to paper workstreams</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B7978C6D-8457-01D2-EBF8-41EE9185E56C}"/>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The dissertation is one integrated artifact; the future papers remain planned targets, not accepted work.</a:t>
            </a:r>
            <a:endParaRPr lang="zh-CN" altLang="en-US" sz="950">
              <a:solidFill>
                <a:srgbClr val="536580"/>
              </a:solidFill>
              <a:latin typeface="Aptos" panose="020B0004020202020204" pitchFamily="34" charset="0"/>
            </a:endParaRPr>
          </a:p>
        </p:txBody>
      </p:sp>
      <p:sp>
        <p:nvSpPr>
          <p:cNvPr id="13" name="lane-0">
            <a:extLst>
              <a:ext uri="{FF2B5EF4-FFF2-40B4-BE49-F238E27FC236}">
                <a16:creationId xmlns:a16="http://schemas.microsoft.com/office/drawing/2014/main" id="{DCFD73B5-8BD0-686B-6E93-FEF5F06A880E}"/>
              </a:ext>
            </a:extLst>
          </p:cNvPr>
          <p:cNvSpPr/>
          <p:nvPr/>
        </p:nvSpPr>
        <p:spPr>
          <a:xfrm>
            <a:off x="787400" y="2032000"/>
            <a:ext cx="1879600" cy="2159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ane-band-0">
            <a:extLst>
              <a:ext uri="{FF2B5EF4-FFF2-40B4-BE49-F238E27FC236}">
                <a16:creationId xmlns:a16="http://schemas.microsoft.com/office/drawing/2014/main" id="{F6E59EE3-5A41-BABC-D56E-EDB65E518E66}"/>
              </a:ext>
            </a:extLst>
          </p:cNvPr>
          <p:cNvSpPr/>
          <p:nvPr/>
        </p:nvSpPr>
        <p:spPr>
          <a:xfrm>
            <a:off x="787400" y="2032000"/>
            <a:ext cx="1879600" cy="76200"/>
          </a:xfrm>
          <a:prstGeom prst="rect">
            <a:avLst/>
          </a:prstGeom>
          <a:solidFill>
            <a:srgbClr val="2369C8"/>
          </a:solidFill>
          <a:ln w="12700">
            <a:solidFill>
              <a:srgbClr val="2369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lane-title-0">
            <a:extLst>
              <a:ext uri="{FF2B5EF4-FFF2-40B4-BE49-F238E27FC236}">
                <a16:creationId xmlns:a16="http://schemas.microsoft.com/office/drawing/2014/main" id="{CB4FDCDB-A7AF-F2D5-51B1-F91DA7649E61}"/>
              </a:ext>
            </a:extLst>
          </p:cNvPr>
          <p:cNvSpPr txBox="1"/>
          <p:nvPr/>
        </p:nvSpPr>
        <p:spPr>
          <a:xfrm>
            <a:off x="965200" y="2387600"/>
            <a:ext cx="1498600" cy="276999"/>
          </a:xfrm>
          <a:prstGeom prst="rect">
            <a:avLst/>
          </a:prstGeom>
          <a:noFill/>
        </p:spPr>
        <p:txBody>
          <a:bodyPr vert="horz" wrap="square" lIns="0" tIns="0" rIns="0" bIns="0" rtlCol="0">
            <a:noAutofit/>
          </a:bodyPr>
          <a:lstStyle/>
          <a:p>
            <a:r>
              <a:rPr lang="en-US" altLang="zh-CN" sz="1050" b="1">
                <a:solidFill>
                  <a:srgbClr val="0D182C"/>
                </a:solidFill>
                <a:latin typeface="Aptos" panose="020B0004020202020204" pitchFamily="34" charset="0"/>
              </a:rPr>
              <a:t>CodeMarkBench</a:t>
            </a:r>
            <a:endParaRPr lang="zh-CN" altLang="en-US" sz="1050" b="1">
              <a:solidFill>
                <a:srgbClr val="0D182C"/>
              </a:solidFill>
              <a:latin typeface="Aptos" panose="020B0004020202020204" pitchFamily="34" charset="0"/>
            </a:endParaRPr>
          </a:p>
        </p:txBody>
      </p:sp>
      <p:sp>
        <p:nvSpPr>
          <p:cNvPr id="16" name="lane-target-0">
            <a:extLst>
              <a:ext uri="{FF2B5EF4-FFF2-40B4-BE49-F238E27FC236}">
                <a16:creationId xmlns:a16="http://schemas.microsoft.com/office/drawing/2014/main" id="{A54A7DD6-92F9-D4C6-68A1-B143A8840D0F}"/>
              </a:ext>
            </a:extLst>
          </p:cNvPr>
          <p:cNvSpPr txBox="1"/>
          <p:nvPr/>
        </p:nvSpPr>
        <p:spPr>
          <a:xfrm>
            <a:off x="965200" y="2997200"/>
            <a:ext cx="14986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TOSEM target</a:t>
            </a:r>
            <a:endParaRPr lang="zh-CN" altLang="en-US" sz="800" b="1">
              <a:solidFill>
                <a:srgbClr val="004080"/>
              </a:solidFill>
              <a:latin typeface="Aptos" panose="020B0004020202020204" pitchFamily="34" charset="0"/>
            </a:endParaRPr>
          </a:p>
        </p:txBody>
      </p:sp>
      <p:sp>
        <p:nvSpPr>
          <p:cNvPr id="17" name="lane-sub-0">
            <a:extLst>
              <a:ext uri="{FF2B5EF4-FFF2-40B4-BE49-F238E27FC236}">
                <a16:creationId xmlns:a16="http://schemas.microsoft.com/office/drawing/2014/main" id="{1054C98A-852F-E987-318E-106E0A0F4C79}"/>
              </a:ext>
            </a:extLst>
          </p:cNvPr>
          <p:cNvSpPr txBox="1"/>
          <p:nvPr/>
        </p:nvSpPr>
        <p:spPr>
          <a:xfrm>
            <a:off x="965200" y="3479800"/>
            <a:ext cx="1498600" cy="276999"/>
          </a:xfrm>
          <a:prstGeom prst="rect">
            <a:avLst/>
          </a:prstGeom>
          <a:noFill/>
        </p:spPr>
        <p:txBody>
          <a:bodyPr vert="horz" wrap="square" lIns="0" tIns="0" rIns="0" bIns="0" rtlCol="0">
            <a:noAutofit/>
          </a:bodyPr>
          <a:lstStyle/>
          <a:p>
            <a:r>
              <a:rPr lang="en-US" altLang="zh-CN" sz="740">
                <a:solidFill>
                  <a:srgbClr val="536580"/>
                </a:solidFill>
                <a:latin typeface="Aptos" panose="020B0004020202020204" pitchFamily="34" charset="0"/>
              </a:rPr>
              <a:t>benchmark denominator</a:t>
            </a:r>
            <a:endParaRPr lang="zh-CN" altLang="en-US" sz="740">
              <a:solidFill>
                <a:srgbClr val="536580"/>
              </a:solidFill>
              <a:latin typeface="Aptos" panose="020B0004020202020204" pitchFamily="34" charset="0"/>
            </a:endParaRPr>
          </a:p>
        </p:txBody>
      </p:sp>
      <p:sp>
        <p:nvSpPr>
          <p:cNvPr id="18" name="lane-1">
            <a:extLst>
              <a:ext uri="{FF2B5EF4-FFF2-40B4-BE49-F238E27FC236}">
                <a16:creationId xmlns:a16="http://schemas.microsoft.com/office/drawing/2014/main" id="{35D91016-6F6F-9FDA-300D-782383656D3D}"/>
              </a:ext>
            </a:extLst>
          </p:cNvPr>
          <p:cNvSpPr/>
          <p:nvPr/>
        </p:nvSpPr>
        <p:spPr>
          <a:xfrm>
            <a:off x="2971800" y="2032000"/>
            <a:ext cx="1879600" cy="2159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lane-band-1">
            <a:extLst>
              <a:ext uri="{FF2B5EF4-FFF2-40B4-BE49-F238E27FC236}">
                <a16:creationId xmlns:a16="http://schemas.microsoft.com/office/drawing/2014/main" id="{02D0F7B6-A8E8-77B0-3ED5-CFB24910084E}"/>
              </a:ext>
            </a:extLst>
          </p:cNvPr>
          <p:cNvSpPr/>
          <p:nvPr/>
        </p:nvSpPr>
        <p:spPr>
          <a:xfrm>
            <a:off x="2971800" y="2032000"/>
            <a:ext cx="1879600" cy="76200"/>
          </a:xfrm>
          <a:prstGeom prst="rect">
            <a:avLst/>
          </a:prstGeom>
          <a:solidFill>
            <a:srgbClr val="00AABE"/>
          </a:solidFill>
          <a:ln w="12700">
            <a:solidFill>
              <a:srgbClr val="00A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lane-title-1">
            <a:extLst>
              <a:ext uri="{FF2B5EF4-FFF2-40B4-BE49-F238E27FC236}">
                <a16:creationId xmlns:a16="http://schemas.microsoft.com/office/drawing/2014/main" id="{2ED275C9-5107-1A3E-8C22-CB3599B8628F}"/>
              </a:ext>
            </a:extLst>
          </p:cNvPr>
          <p:cNvSpPr txBox="1"/>
          <p:nvPr/>
        </p:nvSpPr>
        <p:spPr>
          <a:xfrm>
            <a:off x="3149600" y="2387600"/>
            <a:ext cx="1498600" cy="276999"/>
          </a:xfrm>
          <a:prstGeom prst="rect">
            <a:avLst/>
          </a:prstGeom>
          <a:noFill/>
        </p:spPr>
        <p:txBody>
          <a:bodyPr vert="horz" wrap="square" lIns="0" tIns="0" rIns="0" bIns="0" rtlCol="0">
            <a:noAutofit/>
          </a:bodyPr>
          <a:lstStyle/>
          <a:p>
            <a:r>
              <a:rPr lang="en-US" altLang="zh-CN" sz="1050" b="1">
                <a:solidFill>
                  <a:srgbClr val="0D182C"/>
                </a:solidFill>
                <a:latin typeface="Aptos" panose="020B0004020202020204" pitchFamily="34" charset="0"/>
              </a:rPr>
              <a:t>SemCodebook</a:t>
            </a:r>
            <a:endParaRPr lang="zh-CN" altLang="en-US" sz="1050" b="1">
              <a:solidFill>
                <a:srgbClr val="0D182C"/>
              </a:solidFill>
              <a:latin typeface="Aptos" panose="020B0004020202020204" pitchFamily="34" charset="0"/>
            </a:endParaRPr>
          </a:p>
        </p:txBody>
      </p:sp>
      <p:sp>
        <p:nvSpPr>
          <p:cNvPr id="21" name="lane-target-1">
            <a:extLst>
              <a:ext uri="{FF2B5EF4-FFF2-40B4-BE49-F238E27FC236}">
                <a16:creationId xmlns:a16="http://schemas.microsoft.com/office/drawing/2014/main" id="{BDC0C369-9D5A-0D3B-3B7B-458E5431F58F}"/>
              </a:ext>
            </a:extLst>
          </p:cNvPr>
          <p:cNvSpPr txBox="1"/>
          <p:nvPr/>
        </p:nvSpPr>
        <p:spPr>
          <a:xfrm>
            <a:off x="3149600" y="2997200"/>
            <a:ext cx="14986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EMNLP target</a:t>
            </a:r>
            <a:endParaRPr lang="zh-CN" altLang="en-US" sz="800" b="1">
              <a:solidFill>
                <a:srgbClr val="004080"/>
              </a:solidFill>
              <a:latin typeface="Aptos" panose="020B0004020202020204" pitchFamily="34" charset="0"/>
            </a:endParaRPr>
          </a:p>
        </p:txBody>
      </p:sp>
      <p:sp>
        <p:nvSpPr>
          <p:cNvPr id="22" name="lane-sub-1">
            <a:extLst>
              <a:ext uri="{FF2B5EF4-FFF2-40B4-BE49-F238E27FC236}">
                <a16:creationId xmlns:a16="http://schemas.microsoft.com/office/drawing/2014/main" id="{9ACA81B0-85F2-B674-1637-40AE3BBB81A4}"/>
              </a:ext>
            </a:extLst>
          </p:cNvPr>
          <p:cNvSpPr txBox="1"/>
          <p:nvPr/>
        </p:nvSpPr>
        <p:spPr>
          <a:xfrm>
            <a:off x="3149600" y="3479800"/>
            <a:ext cx="1498600" cy="276999"/>
          </a:xfrm>
          <a:prstGeom prst="rect">
            <a:avLst/>
          </a:prstGeom>
          <a:noFill/>
        </p:spPr>
        <p:txBody>
          <a:bodyPr vert="horz" wrap="square" lIns="0" tIns="0" rIns="0" bIns="0" rtlCol="0">
            <a:noAutofit/>
          </a:bodyPr>
          <a:lstStyle/>
          <a:p>
            <a:r>
              <a:rPr lang="en-US" altLang="zh-CN" sz="740">
                <a:solidFill>
                  <a:srgbClr val="536580"/>
                </a:solidFill>
                <a:latin typeface="Aptos" panose="020B0004020202020204" pitchFamily="34" charset="0"/>
              </a:rPr>
              <a:t>white-box recovery</a:t>
            </a:r>
            <a:endParaRPr lang="zh-CN" altLang="en-US" sz="740">
              <a:solidFill>
                <a:srgbClr val="536580"/>
              </a:solidFill>
              <a:latin typeface="Aptos" panose="020B0004020202020204" pitchFamily="34" charset="0"/>
            </a:endParaRPr>
          </a:p>
        </p:txBody>
      </p:sp>
      <p:sp>
        <p:nvSpPr>
          <p:cNvPr id="23" name="lane-2">
            <a:extLst>
              <a:ext uri="{FF2B5EF4-FFF2-40B4-BE49-F238E27FC236}">
                <a16:creationId xmlns:a16="http://schemas.microsoft.com/office/drawing/2014/main" id="{401E846A-E11C-C4FC-1846-BCEDC050F9EE}"/>
              </a:ext>
            </a:extLst>
          </p:cNvPr>
          <p:cNvSpPr/>
          <p:nvPr/>
        </p:nvSpPr>
        <p:spPr>
          <a:xfrm>
            <a:off x="5156200" y="2032000"/>
            <a:ext cx="1879600" cy="2159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lane-band-2">
            <a:extLst>
              <a:ext uri="{FF2B5EF4-FFF2-40B4-BE49-F238E27FC236}">
                <a16:creationId xmlns:a16="http://schemas.microsoft.com/office/drawing/2014/main" id="{EEC039FE-0D6B-86AE-7E2B-6502AA3FA9DC}"/>
              </a:ext>
            </a:extLst>
          </p:cNvPr>
          <p:cNvSpPr/>
          <p:nvPr/>
        </p:nvSpPr>
        <p:spPr>
          <a:xfrm>
            <a:off x="5156200" y="2032000"/>
            <a:ext cx="1879600" cy="76200"/>
          </a:xfrm>
          <a:prstGeom prst="rect">
            <a:avLst/>
          </a:prstGeom>
          <a:solidFill>
            <a:srgbClr val="784CD2"/>
          </a:solidFill>
          <a:ln w="12700">
            <a:solidFill>
              <a:srgbClr val="784CD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lane-title-2">
            <a:extLst>
              <a:ext uri="{FF2B5EF4-FFF2-40B4-BE49-F238E27FC236}">
                <a16:creationId xmlns:a16="http://schemas.microsoft.com/office/drawing/2014/main" id="{0950D9A7-2D1F-3910-A146-8E67CA3249F1}"/>
              </a:ext>
            </a:extLst>
          </p:cNvPr>
          <p:cNvSpPr txBox="1"/>
          <p:nvPr/>
        </p:nvSpPr>
        <p:spPr>
          <a:xfrm>
            <a:off x="5334000" y="2387600"/>
            <a:ext cx="1498600" cy="276999"/>
          </a:xfrm>
          <a:prstGeom prst="rect">
            <a:avLst/>
          </a:prstGeom>
          <a:noFill/>
        </p:spPr>
        <p:txBody>
          <a:bodyPr vert="horz" wrap="square" lIns="0" tIns="0" rIns="0" bIns="0" rtlCol="0">
            <a:noAutofit/>
          </a:bodyPr>
          <a:lstStyle/>
          <a:p>
            <a:r>
              <a:rPr lang="en-US" altLang="zh-CN" sz="1050" b="1">
                <a:solidFill>
                  <a:srgbClr val="0D182C"/>
                </a:solidFill>
                <a:latin typeface="Aptos" panose="020B0004020202020204" pitchFamily="34" charset="0"/>
              </a:rPr>
              <a:t>CodeDye</a:t>
            </a:r>
            <a:endParaRPr lang="zh-CN" altLang="en-US" sz="1050" b="1">
              <a:solidFill>
                <a:srgbClr val="0D182C"/>
              </a:solidFill>
              <a:latin typeface="Aptos" panose="020B0004020202020204" pitchFamily="34" charset="0"/>
            </a:endParaRPr>
          </a:p>
        </p:txBody>
      </p:sp>
      <p:sp>
        <p:nvSpPr>
          <p:cNvPr id="26" name="lane-target-2">
            <a:extLst>
              <a:ext uri="{FF2B5EF4-FFF2-40B4-BE49-F238E27FC236}">
                <a16:creationId xmlns:a16="http://schemas.microsoft.com/office/drawing/2014/main" id="{62CC7FB2-534B-35EA-EC8C-55DA19BFD99E}"/>
              </a:ext>
            </a:extLst>
          </p:cNvPr>
          <p:cNvSpPr txBox="1"/>
          <p:nvPr/>
        </p:nvSpPr>
        <p:spPr>
          <a:xfrm>
            <a:off x="5334000" y="2997200"/>
            <a:ext cx="14986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EMNLP target</a:t>
            </a:r>
            <a:endParaRPr lang="zh-CN" altLang="en-US" sz="800" b="1">
              <a:solidFill>
                <a:srgbClr val="004080"/>
              </a:solidFill>
              <a:latin typeface="Aptos" panose="020B0004020202020204" pitchFamily="34" charset="0"/>
            </a:endParaRPr>
          </a:p>
        </p:txBody>
      </p:sp>
      <p:sp>
        <p:nvSpPr>
          <p:cNvPr id="27" name="lane-sub-2">
            <a:extLst>
              <a:ext uri="{FF2B5EF4-FFF2-40B4-BE49-F238E27FC236}">
                <a16:creationId xmlns:a16="http://schemas.microsoft.com/office/drawing/2014/main" id="{82378A0F-B68E-2F4A-23B2-6F6467DEE848}"/>
              </a:ext>
            </a:extLst>
          </p:cNvPr>
          <p:cNvSpPr txBox="1"/>
          <p:nvPr/>
        </p:nvSpPr>
        <p:spPr>
          <a:xfrm>
            <a:off x="5334000" y="3479800"/>
            <a:ext cx="1498600" cy="276999"/>
          </a:xfrm>
          <a:prstGeom prst="rect">
            <a:avLst/>
          </a:prstGeom>
          <a:noFill/>
        </p:spPr>
        <p:txBody>
          <a:bodyPr vert="horz" wrap="square" lIns="0" tIns="0" rIns="0" bIns="0" rtlCol="0">
            <a:noAutofit/>
          </a:bodyPr>
          <a:lstStyle/>
          <a:p>
            <a:r>
              <a:rPr lang="en-US" altLang="zh-CN" sz="740">
                <a:solidFill>
                  <a:srgbClr val="536580"/>
                </a:solidFill>
                <a:latin typeface="Aptos" panose="020B0004020202020204" pitchFamily="34" charset="0"/>
              </a:rPr>
              <a:t>black-box null audit</a:t>
            </a:r>
            <a:endParaRPr lang="zh-CN" altLang="en-US" sz="740">
              <a:solidFill>
                <a:srgbClr val="536580"/>
              </a:solidFill>
              <a:latin typeface="Aptos" panose="020B0004020202020204" pitchFamily="34" charset="0"/>
            </a:endParaRPr>
          </a:p>
        </p:txBody>
      </p:sp>
      <p:sp>
        <p:nvSpPr>
          <p:cNvPr id="28" name="lane-3">
            <a:extLst>
              <a:ext uri="{FF2B5EF4-FFF2-40B4-BE49-F238E27FC236}">
                <a16:creationId xmlns:a16="http://schemas.microsoft.com/office/drawing/2014/main" id="{1F5A5A51-728F-C9AD-9EB9-C0A68AE8B912}"/>
              </a:ext>
            </a:extLst>
          </p:cNvPr>
          <p:cNvSpPr/>
          <p:nvPr/>
        </p:nvSpPr>
        <p:spPr>
          <a:xfrm>
            <a:off x="7340600" y="2032000"/>
            <a:ext cx="1879600" cy="2159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lane-band-3">
            <a:extLst>
              <a:ext uri="{FF2B5EF4-FFF2-40B4-BE49-F238E27FC236}">
                <a16:creationId xmlns:a16="http://schemas.microsoft.com/office/drawing/2014/main" id="{944EBC5E-6A67-2D6D-2A2A-BC1C68E36EFD}"/>
              </a:ext>
            </a:extLst>
          </p:cNvPr>
          <p:cNvSpPr/>
          <p:nvPr/>
        </p:nvSpPr>
        <p:spPr>
          <a:xfrm>
            <a:off x="7340600" y="2032000"/>
            <a:ext cx="1879600" cy="76200"/>
          </a:xfrm>
          <a:prstGeom prst="rect">
            <a:avLst/>
          </a:prstGeom>
          <a:solidFill>
            <a:srgbClr val="EE9122"/>
          </a:solidFill>
          <a:ln w="12700">
            <a:solidFill>
              <a:srgbClr val="EE91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lane-title-3">
            <a:extLst>
              <a:ext uri="{FF2B5EF4-FFF2-40B4-BE49-F238E27FC236}">
                <a16:creationId xmlns:a16="http://schemas.microsoft.com/office/drawing/2014/main" id="{26EC2F58-45AC-6A4B-B23C-DF78309C84FE}"/>
              </a:ext>
            </a:extLst>
          </p:cNvPr>
          <p:cNvSpPr txBox="1"/>
          <p:nvPr/>
        </p:nvSpPr>
        <p:spPr>
          <a:xfrm>
            <a:off x="7518400" y="2387600"/>
            <a:ext cx="1498600" cy="276999"/>
          </a:xfrm>
          <a:prstGeom prst="rect">
            <a:avLst/>
          </a:prstGeom>
          <a:noFill/>
        </p:spPr>
        <p:txBody>
          <a:bodyPr vert="horz" wrap="square" lIns="0" tIns="0" rIns="0" bIns="0" rtlCol="0">
            <a:noAutofit/>
          </a:bodyPr>
          <a:lstStyle/>
          <a:p>
            <a:r>
              <a:rPr lang="en-US" altLang="zh-CN" sz="1050" b="1">
                <a:solidFill>
                  <a:srgbClr val="0D182C"/>
                </a:solidFill>
                <a:latin typeface="Aptos" panose="020B0004020202020204" pitchFamily="34" charset="0"/>
              </a:rPr>
              <a:t>ProbeTrace</a:t>
            </a:r>
            <a:endParaRPr lang="zh-CN" altLang="en-US" sz="1050" b="1">
              <a:solidFill>
                <a:srgbClr val="0D182C"/>
              </a:solidFill>
              <a:latin typeface="Aptos" panose="020B0004020202020204" pitchFamily="34" charset="0"/>
            </a:endParaRPr>
          </a:p>
        </p:txBody>
      </p:sp>
      <p:sp>
        <p:nvSpPr>
          <p:cNvPr id="31" name="lane-target-3">
            <a:extLst>
              <a:ext uri="{FF2B5EF4-FFF2-40B4-BE49-F238E27FC236}">
                <a16:creationId xmlns:a16="http://schemas.microsoft.com/office/drawing/2014/main" id="{3E8DD47F-E323-0A6E-FD49-D0CD01042AE4}"/>
              </a:ext>
            </a:extLst>
          </p:cNvPr>
          <p:cNvSpPr txBox="1"/>
          <p:nvPr/>
        </p:nvSpPr>
        <p:spPr>
          <a:xfrm>
            <a:off x="7518400" y="2997200"/>
            <a:ext cx="14986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EMNLP target</a:t>
            </a:r>
            <a:endParaRPr lang="zh-CN" altLang="en-US" sz="800" b="1">
              <a:solidFill>
                <a:srgbClr val="004080"/>
              </a:solidFill>
              <a:latin typeface="Aptos" panose="020B0004020202020204" pitchFamily="34" charset="0"/>
            </a:endParaRPr>
          </a:p>
        </p:txBody>
      </p:sp>
      <p:sp>
        <p:nvSpPr>
          <p:cNvPr id="32" name="lane-sub-3">
            <a:extLst>
              <a:ext uri="{FF2B5EF4-FFF2-40B4-BE49-F238E27FC236}">
                <a16:creationId xmlns:a16="http://schemas.microsoft.com/office/drawing/2014/main" id="{81E4AB20-DA72-9A65-F523-1B078711A820}"/>
              </a:ext>
            </a:extLst>
          </p:cNvPr>
          <p:cNvSpPr txBox="1"/>
          <p:nvPr/>
        </p:nvSpPr>
        <p:spPr>
          <a:xfrm>
            <a:off x="7518400" y="3479800"/>
            <a:ext cx="1498600" cy="276999"/>
          </a:xfrm>
          <a:prstGeom prst="rect">
            <a:avLst/>
          </a:prstGeom>
          <a:noFill/>
        </p:spPr>
        <p:txBody>
          <a:bodyPr vert="horz" wrap="square" lIns="0" tIns="0" rIns="0" bIns="0" rtlCol="0">
            <a:noAutofit/>
          </a:bodyPr>
          <a:lstStyle/>
          <a:p>
            <a:r>
              <a:rPr lang="en-US" altLang="zh-CN" sz="740">
                <a:solidFill>
                  <a:srgbClr val="536580"/>
                </a:solidFill>
                <a:latin typeface="Aptos" panose="020B0004020202020204" pitchFamily="34" charset="0"/>
              </a:rPr>
              <a:t>owner attribution</a:t>
            </a:r>
            <a:endParaRPr lang="zh-CN" altLang="en-US" sz="740">
              <a:solidFill>
                <a:srgbClr val="536580"/>
              </a:solidFill>
              <a:latin typeface="Aptos" panose="020B0004020202020204" pitchFamily="34" charset="0"/>
            </a:endParaRPr>
          </a:p>
        </p:txBody>
      </p:sp>
      <p:sp>
        <p:nvSpPr>
          <p:cNvPr id="33" name="lane-4">
            <a:extLst>
              <a:ext uri="{FF2B5EF4-FFF2-40B4-BE49-F238E27FC236}">
                <a16:creationId xmlns:a16="http://schemas.microsoft.com/office/drawing/2014/main" id="{A2EA4C56-1713-1B19-640C-F7108E3D7DE4}"/>
              </a:ext>
            </a:extLst>
          </p:cNvPr>
          <p:cNvSpPr/>
          <p:nvPr/>
        </p:nvSpPr>
        <p:spPr>
          <a:xfrm>
            <a:off x="9525000" y="2032000"/>
            <a:ext cx="1879600" cy="2159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lane-band-4">
            <a:extLst>
              <a:ext uri="{FF2B5EF4-FFF2-40B4-BE49-F238E27FC236}">
                <a16:creationId xmlns:a16="http://schemas.microsoft.com/office/drawing/2014/main" id="{4E252083-9677-5E3D-E9CF-87155C06FEDB}"/>
              </a:ext>
            </a:extLst>
          </p:cNvPr>
          <p:cNvSpPr/>
          <p:nvPr/>
        </p:nvSpPr>
        <p:spPr>
          <a:xfrm>
            <a:off x="9525000" y="2032000"/>
            <a:ext cx="1879600" cy="76200"/>
          </a:xfrm>
          <a:prstGeom prst="rect">
            <a:avLst/>
          </a:prstGeom>
          <a:solidFill>
            <a:srgbClr val="008E66"/>
          </a:solidFill>
          <a:ln w="12700">
            <a:solidFill>
              <a:srgbClr val="008E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lane-title-4">
            <a:extLst>
              <a:ext uri="{FF2B5EF4-FFF2-40B4-BE49-F238E27FC236}">
                <a16:creationId xmlns:a16="http://schemas.microsoft.com/office/drawing/2014/main" id="{49E1F2C8-EB77-254E-100B-A31280A1FCE1}"/>
              </a:ext>
            </a:extLst>
          </p:cNvPr>
          <p:cNvSpPr txBox="1"/>
          <p:nvPr/>
        </p:nvSpPr>
        <p:spPr>
          <a:xfrm>
            <a:off x="9702800" y="2387600"/>
            <a:ext cx="1498600" cy="276999"/>
          </a:xfrm>
          <a:prstGeom prst="rect">
            <a:avLst/>
          </a:prstGeom>
          <a:noFill/>
        </p:spPr>
        <p:txBody>
          <a:bodyPr vert="horz" wrap="square" lIns="0" tIns="0" rIns="0" bIns="0" rtlCol="0">
            <a:noAutofit/>
          </a:bodyPr>
          <a:lstStyle/>
          <a:p>
            <a:r>
              <a:rPr lang="en-US" altLang="zh-CN" sz="1050" b="1">
                <a:solidFill>
                  <a:srgbClr val="0D182C"/>
                </a:solidFill>
                <a:latin typeface="Aptos" panose="020B0004020202020204" pitchFamily="34" charset="0"/>
              </a:rPr>
              <a:t>SealAudit</a:t>
            </a:r>
            <a:endParaRPr lang="zh-CN" altLang="en-US" sz="1050" b="1">
              <a:solidFill>
                <a:srgbClr val="0D182C"/>
              </a:solidFill>
              <a:latin typeface="Aptos" panose="020B0004020202020204" pitchFamily="34" charset="0"/>
            </a:endParaRPr>
          </a:p>
        </p:txBody>
      </p:sp>
      <p:sp>
        <p:nvSpPr>
          <p:cNvPr id="36" name="lane-target-4">
            <a:extLst>
              <a:ext uri="{FF2B5EF4-FFF2-40B4-BE49-F238E27FC236}">
                <a16:creationId xmlns:a16="http://schemas.microsoft.com/office/drawing/2014/main" id="{18EFB502-2DCD-4C21-37DF-C80F43A6F355}"/>
              </a:ext>
            </a:extLst>
          </p:cNvPr>
          <p:cNvSpPr txBox="1"/>
          <p:nvPr/>
        </p:nvSpPr>
        <p:spPr>
          <a:xfrm>
            <a:off x="9702800" y="2997200"/>
            <a:ext cx="14986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EMNLP target</a:t>
            </a:r>
            <a:endParaRPr lang="zh-CN" altLang="en-US" sz="800" b="1">
              <a:solidFill>
                <a:srgbClr val="004080"/>
              </a:solidFill>
              <a:latin typeface="Aptos" panose="020B0004020202020204" pitchFamily="34" charset="0"/>
            </a:endParaRPr>
          </a:p>
        </p:txBody>
      </p:sp>
      <p:sp>
        <p:nvSpPr>
          <p:cNvPr id="37" name="lane-sub-4">
            <a:extLst>
              <a:ext uri="{FF2B5EF4-FFF2-40B4-BE49-F238E27FC236}">
                <a16:creationId xmlns:a16="http://schemas.microsoft.com/office/drawing/2014/main" id="{4D57B13C-B545-7074-8F63-B416FC651578}"/>
              </a:ext>
            </a:extLst>
          </p:cNvPr>
          <p:cNvSpPr txBox="1"/>
          <p:nvPr/>
        </p:nvSpPr>
        <p:spPr>
          <a:xfrm>
            <a:off x="9702800" y="3479800"/>
            <a:ext cx="1498600" cy="276999"/>
          </a:xfrm>
          <a:prstGeom prst="rect">
            <a:avLst/>
          </a:prstGeom>
          <a:noFill/>
        </p:spPr>
        <p:txBody>
          <a:bodyPr vert="horz" wrap="square" lIns="0" tIns="0" rIns="0" bIns="0" rtlCol="0">
            <a:noAutofit/>
          </a:bodyPr>
          <a:lstStyle/>
          <a:p>
            <a:r>
              <a:rPr lang="en-US" altLang="zh-CN" sz="740">
                <a:solidFill>
                  <a:srgbClr val="536580"/>
                </a:solidFill>
                <a:latin typeface="Aptos" panose="020B0004020202020204" pitchFamily="34" charset="0"/>
              </a:rPr>
              <a:t>security triage</a:t>
            </a:r>
            <a:endParaRPr lang="zh-CN" altLang="en-US" sz="740">
              <a:solidFill>
                <a:srgbClr val="536580"/>
              </a:solidFill>
              <a:latin typeface="Aptos" panose="020B0004020202020204" pitchFamily="34" charset="0"/>
            </a:endParaRPr>
          </a:p>
        </p:txBody>
      </p:sp>
      <p:sp>
        <p:nvSpPr>
          <p:cNvPr id="38" name="ownership">
            <a:extLst>
              <a:ext uri="{FF2B5EF4-FFF2-40B4-BE49-F238E27FC236}">
                <a16:creationId xmlns:a16="http://schemas.microsoft.com/office/drawing/2014/main" id="{53B4F68A-0E94-61F5-5007-9FB4AC1C26B0}"/>
              </a:ext>
            </a:extLst>
          </p:cNvPr>
          <p:cNvSpPr/>
          <p:nvPr/>
        </p:nvSpPr>
        <p:spPr>
          <a:xfrm>
            <a:off x="1193800" y="4978400"/>
            <a:ext cx="9804400" cy="482600"/>
          </a:xfrm>
          <a:prstGeom prst="rect">
            <a:avLst/>
          </a:prstGeom>
          <a:solidFill>
            <a:srgbClr val="E7F1FF"/>
          </a:solidFill>
          <a:ln w="12700">
            <a:solidFill>
              <a:srgbClr val="AFCDF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ownership-text">
            <a:extLst>
              <a:ext uri="{FF2B5EF4-FFF2-40B4-BE49-F238E27FC236}">
                <a16:creationId xmlns:a16="http://schemas.microsoft.com/office/drawing/2014/main" id="{D43AC06C-6C75-D000-07C0-CF0111B085B4}"/>
              </a:ext>
            </a:extLst>
          </p:cNvPr>
          <p:cNvSpPr txBox="1"/>
          <p:nvPr/>
        </p:nvSpPr>
        <p:spPr>
          <a:xfrm>
            <a:off x="1524000" y="5143500"/>
            <a:ext cx="9144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For the FYP submission, the implementation and submitted dissertation artifact are my own work; later paper writing may involve collaborators.</a:t>
            </a:r>
            <a:endParaRPr lang="zh-CN" altLang="en-US" sz="830" b="1">
              <a:solidFill>
                <a:srgbClr val="004080"/>
              </a:solidFill>
              <a:latin typeface="Aptos" panose="020B0004020202020204" pitchFamily="34" charset="0"/>
            </a:endParaRPr>
          </a:p>
        </p:txBody>
      </p:sp>
    </p:spTree>
    <p:extLst>
      <p:ext uri="{BB962C8B-B14F-4D97-AF65-F5344CB8AC3E}">
        <p14:creationId xmlns:p14="http://schemas.microsoft.com/office/powerpoint/2010/main" val="3428772530"/>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1383F119-CA52-0EA1-19E4-C6AD4F2D7E8B}"/>
              </a:ext>
            </a:extLst>
          </p:cNvPr>
          <p:cNvSpPr/>
          <p:nvPr/>
        </p:nvSpPr>
        <p:spPr>
          <a:xfrm>
            <a:off x="0" y="0"/>
            <a:ext cx="121920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dark-panel">
            <a:extLst>
              <a:ext uri="{FF2B5EF4-FFF2-40B4-BE49-F238E27FC236}">
                <a16:creationId xmlns:a16="http://schemas.microsoft.com/office/drawing/2014/main" id="{8C383105-1C3E-89A8-E915-4A54166883C6}"/>
              </a:ext>
            </a:extLst>
          </p:cNvPr>
          <p:cNvSpPr/>
          <p:nvPr/>
        </p:nvSpPr>
        <p:spPr>
          <a:xfrm>
            <a:off x="0" y="0"/>
            <a:ext cx="12192000" cy="6858000"/>
          </a:xfrm>
          <a:prstGeom prst="rect">
            <a:avLst/>
          </a:prstGeom>
          <a:solidFill>
            <a:srgbClr val="032048">
              <a:alpha val="9000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grid-v-0">
            <a:extLst>
              <a:ext uri="{FF2B5EF4-FFF2-40B4-BE49-F238E27FC236}">
                <a16:creationId xmlns:a16="http://schemas.microsoft.com/office/drawing/2014/main" id="{574DC98E-2A26-07DB-5C81-9FFB0E09545B}"/>
              </a:ext>
            </a:extLst>
          </p:cNvPr>
          <p:cNvCxnSpPr/>
          <p:nvPr/>
        </p:nvCxnSpPr>
        <p:spPr>
          <a:xfrm>
            <a:off x="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5" name="grid-v-64">
            <a:extLst>
              <a:ext uri="{FF2B5EF4-FFF2-40B4-BE49-F238E27FC236}">
                <a16:creationId xmlns:a16="http://schemas.microsoft.com/office/drawing/2014/main" id="{9BF9EEC0-01D8-9720-713D-E5F548864CAC}"/>
              </a:ext>
            </a:extLst>
          </p:cNvPr>
          <p:cNvCxnSpPr/>
          <p:nvPr/>
        </p:nvCxnSpPr>
        <p:spPr>
          <a:xfrm>
            <a:off x="812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6" name="grid-v-128">
            <a:extLst>
              <a:ext uri="{FF2B5EF4-FFF2-40B4-BE49-F238E27FC236}">
                <a16:creationId xmlns:a16="http://schemas.microsoft.com/office/drawing/2014/main" id="{6BA8AA76-71F6-9F16-3FF4-73A6339FFDAF}"/>
              </a:ext>
            </a:extLst>
          </p:cNvPr>
          <p:cNvCxnSpPr/>
          <p:nvPr/>
        </p:nvCxnSpPr>
        <p:spPr>
          <a:xfrm>
            <a:off x="1625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7" name="grid-v-192">
            <a:extLst>
              <a:ext uri="{FF2B5EF4-FFF2-40B4-BE49-F238E27FC236}">
                <a16:creationId xmlns:a16="http://schemas.microsoft.com/office/drawing/2014/main" id="{DBD6DBF5-2161-FACA-6817-D7D3E23E2C71}"/>
              </a:ext>
            </a:extLst>
          </p:cNvPr>
          <p:cNvCxnSpPr/>
          <p:nvPr/>
        </p:nvCxnSpPr>
        <p:spPr>
          <a:xfrm>
            <a:off x="2438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8" name="grid-v-256">
            <a:extLst>
              <a:ext uri="{FF2B5EF4-FFF2-40B4-BE49-F238E27FC236}">
                <a16:creationId xmlns:a16="http://schemas.microsoft.com/office/drawing/2014/main" id="{3B9DBB8C-B0FF-27EF-9792-3DB406DE0645}"/>
              </a:ext>
            </a:extLst>
          </p:cNvPr>
          <p:cNvCxnSpPr/>
          <p:nvPr/>
        </p:nvCxnSpPr>
        <p:spPr>
          <a:xfrm>
            <a:off x="3251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9" name="grid-v-320">
            <a:extLst>
              <a:ext uri="{FF2B5EF4-FFF2-40B4-BE49-F238E27FC236}">
                <a16:creationId xmlns:a16="http://schemas.microsoft.com/office/drawing/2014/main" id="{17315285-3CFE-586C-7EFF-576E51B264D5}"/>
              </a:ext>
            </a:extLst>
          </p:cNvPr>
          <p:cNvCxnSpPr/>
          <p:nvPr/>
        </p:nvCxnSpPr>
        <p:spPr>
          <a:xfrm>
            <a:off x="4064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0" name="grid-v-384">
            <a:extLst>
              <a:ext uri="{FF2B5EF4-FFF2-40B4-BE49-F238E27FC236}">
                <a16:creationId xmlns:a16="http://schemas.microsoft.com/office/drawing/2014/main" id="{9503F5CF-9000-40D9-4AFA-47107F6A263A}"/>
              </a:ext>
            </a:extLst>
          </p:cNvPr>
          <p:cNvCxnSpPr/>
          <p:nvPr/>
        </p:nvCxnSpPr>
        <p:spPr>
          <a:xfrm>
            <a:off x="4876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1" name="grid-v-448">
            <a:extLst>
              <a:ext uri="{FF2B5EF4-FFF2-40B4-BE49-F238E27FC236}">
                <a16:creationId xmlns:a16="http://schemas.microsoft.com/office/drawing/2014/main" id="{E7B6AB9A-3A9E-7BA4-4ACD-60678776D593}"/>
              </a:ext>
            </a:extLst>
          </p:cNvPr>
          <p:cNvCxnSpPr/>
          <p:nvPr/>
        </p:nvCxnSpPr>
        <p:spPr>
          <a:xfrm>
            <a:off x="5689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2" name="grid-v-512">
            <a:extLst>
              <a:ext uri="{FF2B5EF4-FFF2-40B4-BE49-F238E27FC236}">
                <a16:creationId xmlns:a16="http://schemas.microsoft.com/office/drawing/2014/main" id="{B5B86860-76DF-D7E1-F91B-A7B08095E5F5}"/>
              </a:ext>
            </a:extLst>
          </p:cNvPr>
          <p:cNvCxnSpPr/>
          <p:nvPr/>
        </p:nvCxnSpPr>
        <p:spPr>
          <a:xfrm>
            <a:off x="6502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3" name="grid-v-576">
            <a:extLst>
              <a:ext uri="{FF2B5EF4-FFF2-40B4-BE49-F238E27FC236}">
                <a16:creationId xmlns:a16="http://schemas.microsoft.com/office/drawing/2014/main" id="{412E329A-E776-CC27-D3DA-1F40E347A582}"/>
              </a:ext>
            </a:extLst>
          </p:cNvPr>
          <p:cNvCxnSpPr/>
          <p:nvPr/>
        </p:nvCxnSpPr>
        <p:spPr>
          <a:xfrm>
            <a:off x="7315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4" name="grid-v-640">
            <a:extLst>
              <a:ext uri="{FF2B5EF4-FFF2-40B4-BE49-F238E27FC236}">
                <a16:creationId xmlns:a16="http://schemas.microsoft.com/office/drawing/2014/main" id="{75EB79A3-6118-E23D-AA7C-ECF19605D76C}"/>
              </a:ext>
            </a:extLst>
          </p:cNvPr>
          <p:cNvCxnSpPr/>
          <p:nvPr/>
        </p:nvCxnSpPr>
        <p:spPr>
          <a:xfrm>
            <a:off x="8128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5" name="grid-v-704">
            <a:extLst>
              <a:ext uri="{FF2B5EF4-FFF2-40B4-BE49-F238E27FC236}">
                <a16:creationId xmlns:a16="http://schemas.microsoft.com/office/drawing/2014/main" id="{119002C0-242E-274F-F957-640ACA543C10}"/>
              </a:ext>
            </a:extLst>
          </p:cNvPr>
          <p:cNvCxnSpPr/>
          <p:nvPr/>
        </p:nvCxnSpPr>
        <p:spPr>
          <a:xfrm>
            <a:off x="8940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6" name="grid-v-768">
            <a:extLst>
              <a:ext uri="{FF2B5EF4-FFF2-40B4-BE49-F238E27FC236}">
                <a16:creationId xmlns:a16="http://schemas.microsoft.com/office/drawing/2014/main" id="{CAEDC10F-9C42-1FE0-DFB8-C0AEADAE0331}"/>
              </a:ext>
            </a:extLst>
          </p:cNvPr>
          <p:cNvCxnSpPr/>
          <p:nvPr/>
        </p:nvCxnSpPr>
        <p:spPr>
          <a:xfrm>
            <a:off x="9753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7" name="grid-v-832">
            <a:extLst>
              <a:ext uri="{FF2B5EF4-FFF2-40B4-BE49-F238E27FC236}">
                <a16:creationId xmlns:a16="http://schemas.microsoft.com/office/drawing/2014/main" id="{42773ABE-254B-50E6-3ADF-38E2FF63236B}"/>
              </a:ext>
            </a:extLst>
          </p:cNvPr>
          <p:cNvCxnSpPr/>
          <p:nvPr/>
        </p:nvCxnSpPr>
        <p:spPr>
          <a:xfrm>
            <a:off x="10566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8" name="grid-v-896">
            <a:extLst>
              <a:ext uri="{FF2B5EF4-FFF2-40B4-BE49-F238E27FC236}">
                <a16:creationId xmlns:a16="http://schemas.microsoft.com/office/drawing/2014/main" id="{281406B4-215F-36F7-CF8D-A9AE2684C7B4}"/>
              </a:ext>
            </a:extLst>
          </p:cNvPr>
          <p:cNvCxnSpPr/>
          <p:nvPr/>
        </p:nvCxnSpPr>
        <p:spPr>
          <a:xfrm>
            <a:off x="11379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9" name="grid-v-960">
            <a:extLst>
              <a:ext uri="{FF2B5EF4-FFF2-40B4-BE49-F238E27FC236}">
                <a16:creationId xmlns:a16="http://schemas.microsoft.com/office/drawing/2014/main" id="{71D1BACA-CBF1-04F1-1829-9F44F005CAB6}"/>
              </a:ext>
            </a:extLst>
          </p:cNvPr>
          <p:cNvCxnSpPr/>
          <p:nvPr/>
        </p:nvCxnSpPr>
        <p:spPr>
          <a:xfrm>
            <a:off x="12192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0" name="grid-h-0">
            <a:extLst>
              <a:ext uri="{FF2B5EF4-FFF2-40B4-BE49-F238E27FC236}">
                <a16:creationId xmlns:a16="http://schemas.microsoft.com/office/drawing/2014/main" id="{F643568A-1825-4329-2B01-B3E09CAA88ED}"/>
              </a:ext>
            </a:extLst>
          </p:cNvPr>
          <p:cNvCxnSpPr/>
          <p:nvPr/>
        </p:nvCxnSpPr>
        <p:spPr>
          <a:xfrm>
            <a:off x="0" y="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1" name="grid-h-64">
            <a:extLst>
              <a:ext uri="{FF2B5EF4-FFF2-40B4-BE49-F238E27FC236}">
                <a16:creationId xmlns:a16="http://schemas.microsoft.com/office/drawing/2014/main" id="{83546355-906E-D2DA-FEDA-8975FE00B73B}"/>
              </a:ext>
            </a:extLst>
          </p:cNvPr>
          <p:cNvCxnSpPr/>
          <p:nvPr/>
        </p:nvCxnSpPr>
        <p:spPr>
          <a:xfrm>
            <a:off x="0" y="812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2" name="grid-h-128">
            <a:extLst>
              <a:ext uri="{FF2B5EF4-FFF2-40B4-BE49-F238E27FC236}">
                <a16:creationId xmlns:a16="http://schemas.microsoft.com/office/drawing/2014/main" id="{2221781E-9B74-CC53-226A-AD063A0681AA}"/>
              </a:ext>
            </a:extLst>
          </p:cNvPr>
          <p:cNvCxnSpPr/>
          <p:nvPr/>
        </p:nvCxnSpPr>
        <p:spPr>
          <a:xfrm>
            <a:off x="0" y="1625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3" name="grid-h-192">
            <a:extLst>
              <a:ext uri="{FF2B5EF4-FFF2-40B4-BE49-F238E27FC236}">
                <a16:creationId xmlns:a16="http://schemas.microsoft.com/office/drawing/2014/main" id="{3E210C2D-9424-0271-317C-6ED63FED39EB}"/>
              </a:ext>
            </a:extLst>
          </p:cNvPr>
          <p:cNvCxnSpPr/>
          <p:nvPr/>
        </p:nvCxnSpPr>
        <p:spPr>
          <a:xfrm>
            <a:off x="0" y="2438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4" name="grid-h-256">
            <a:extLst>
              <a:ext uri="{FF2B5EF4-FFF2-40B4-BE49-F238E27FC236}">
                <a16:creationId xmlns:a16="http://schemas.microsoft.com/office/drawing/2014/main" id="{7365A9F7-ED32-08D8-544C-57B336E3DAA9}"/>
              </a:ext>
            </a:extLst>
          </p:cNvPr>
          <p:cNvCxnSpPr/>
          <p:nvPr/>
        </p:nvCxnSpPr>
        <p:spPr>
          <a:xfrm>
            <a:off x="0" y="32512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5" name="grid-h-320">
            <a:extLst>
              <a:ext uri="{FF2B5EF4-FFF2-40B4-BE49-F238E27FC236}">
                <a16:creationId xmlns:a16="http://schemas.microsoft.com/office/drawing/2014/main" id="{403A36B1-5BE6-EAB3-2C37-BA9D882FEE21}"/>
              </a:ext>
            </a:extLst>
          </p:cNvPr>
          <p:cNvCxnSpPr/>
          <p:nvPr/>
        </p:nvCxnSpPr>
        <p:spPr>
          <a:xfrm>
            <a:off x="0" y="40640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6" name="grid-h-384">
            <a:extLst>
              <a:ext uri="{FF2B5EF4-FFF2-40B4-BE49-F238E27FC236}">
                <a16:creationId xmlns:a16="http://schemas.microsoft.com/office/drawing/2014/main" id="{11CC5162-D51C-EB20-66A1-F6D32D307295}"/>
              </a:ext>
            </a:extLst>
          </p:cNvPr>
          <p:cNvCxnSpPr/>
          <p:nvPr/>
        </p:nvCxnSpPr>
        <p:spPr>
          <a:xfrm>
            <a:off x="0" y="4876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7" name="grid-h-448">
            <a:extLst>
              <a:ext uri="{FF2B5EF4-FFF2-40B4-BE49-F238E27FC236}">
                <a16:creationId xmlns:a16="http://schemas.microsoft.com/office/drawing/2014/main" id="{2559D8CB-37A2-072F-0C1B-A36B2C07C273}"/>
              </a:ext>
            </a:extLst>
          </p:cNvPr>
          <p:cNvCxnSpPr/>
          <p:nvPr/>
        </p:nvCxnSpPr>
        <p:spPr>
          <a:xfrm>
            <a:off x="0" y="5689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8" name="grid-h-512">
            <a:extLst>
              <a:ext uri="{FF2B5EF4-FFF2-40B4-BE49-F238E27FC236}">
                <a16:creationId xmlns:a16="http://schemas.microsoft.com/office/drawing/2014/main" id="{29306134-CA7E-A52E-B5A9-C942F321A95C}"/>
              </a:ext>
            </a:extLst>
          </p:cNvPr>
          <p:cNvCxnSpPr/>
          <p:nvPr/>
        </p:nvCxnSpPr>
        <p:spPr>
          <a:xfrm>
            <a:off x="0" y="6502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sp>
        <p:nvSpPr>
          <p:cNvPr id="29" name="page-num">
            <a:extLst>
              <a:ext uri="{FF2B5EF4-FFF2-40B4-BE49-F238E27FC236}">
                <a16:creationId xmlns:a16="http://schemas.microsoft.com/office/drawing/2014/main" id="{1B55C0BC-1A22-8B6C-D3C1-9B997B3CFC29}"/>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B4CDEB"/>
                </a:solidFill>
                <a:latin typeface="Aptos" panose="020B0004020202020204" pitchFamily="34" charset="0"/>
              </a:rPr>
              <a:t>14</a:t>
            </a:r>
            <a:endParaRPr lang="zh-CN" altLang="en-US" sz="650">
              <a:solidFill>
                <a:srgbClr val="B4CDEB"/>
              </a:solidFill>
              <a:latin typeface="Aptos" panose="020B0004020202020204" pitchFamily="34" charset="0"/>
            </a:endParaRPr>
          </a:p>
        </p:txBody>
      </p:sp>
      <p:sp>
        <p:nvSpPr>
          <p:cNvPr id="30" name="section-label">
            <a:extLst>
              <a:ext uri="{FF2B5EF4-FFF2-40B4-BE49-F238E27FC236}">
                <a16:creationId xmlns:a16="http://schemas.microsoft.com/office/drawing/2014/main" id="{E0BCA324-41DC-1FAA-D976-5848BA67A1E1}"/>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BEDCFF"/>
                </a:solidFill>
                <a:latin typeface="Aptos" panose="020B0004020202020204" pitchFamily="34" charset="0"/>
              </a:rPr>
              <a:t>CLOSING</a:t>
            </a:r>
            <a:endParaRPr lang="zh-CN" altLang="en-US" sz="700" b="1">
              <a:solidFill>
                <a:srgbClr val="BEDCFF"/>
              </a:solidFill>
              <a:latin typeface="Aptos" panose="020B0004020202020204" pitchFamily="34" charset="0"/>
            </a:endParaRPr>
          </a:p>
        </p:txBody>
      </p:sp>
      <p:sp>
        <p:nvSpPr>
          <p:cNvPr id="31" name="thanks">
            <a:extLst>
              <a:ext uri="{FF2B5EF4-FFF2-40B4-BE49-F238E27FC236}">
                <a16:creationId xmlns:a16="http://schemas.microsoft.com/office/drawing/2014/main" id="{C71DC23C-0F6A-1A68-6251-9BAC7957AED9}"/>
              </a:ext>
            </a:extLst>
          </p:cNvPr>
          <p:cNvSpPr txBox="1"/>
          <p:nvPr/>
        </p:nvSpPr>
        <p:spPr>
          <a:xfrm>
            <a:off x="685800" y="1219200"/>
            <a:ext cx="6604000" cy="276999"/>
          </a:xfrm>
          <a:prstGeom prst="rect">
            <a:avLst/>
          </a:prstGeom>
          <a:noFill/>
        </p:spPr>
        <p:txBody>
          <a:bodyPr vert="horz" wrap="square" lIns="0" tIns="0" rIns="0" bIns="0" rtlCol="0">
            <a:noAutofit/>
          </a:bodyPr>
          <a:lstStyle/>
          <a:p>
            <a:r>
              <a:rPr lang="en-US" altLang="zh-CN" sz="4400" b="1">
                <a:solidFill>
                  <a:srgbClr val="FFFFFF"/>
                </a:solidFill>
                <a:latin typeface="Aptos" panose="020B0004020202020204" pitchFamily="34" charset="0"/>
              </a:rPr>
              <a:t>Thank you</a:t>
            </a:r>
            <a:endParaRPr lang="zh-CN" altLang="en-US" sz="4400" b="1">
              <a:solidFill>
                <a:srgbClr val="FFFFFF"/>
              </a:solidFill>
              <a:latin typeface="Aptos" panose="020B0004020202020204" pitchFamily="34" charset="0"/>
            </a:endParaRPr>
          </a:p>
        </p:txBody>
      </p:sp>
      <p:sp>
        <p:nvSpPr>
          <p:cNvPr id="32" name="questions">
            <a:extLst>
              <a:ext uri="{FF2B5EF4-FFF2-40B4-BE49-F238E27FC236}">
                <a16:creationId xmlns:a16="http://schemas.microsoft.com/office/drawing/2014/main" id="{66F14E7A-FB26-16DC-C603-A7750B5A7977}"/>
              </a:ext>
            </a:extLst>
          </p:cNvPr>
          <p:cNvSpPr txBox="1"/>
          <p:nvPr/>
        </p:nvSpPr>
        <p:spPr>
          <a:xfrm>
            <a:off x="736600" y="2209800"/>
            <a:ext cx="4826000" cy="276999"/>
          </a:xfrm>
          <a:prstGeom prst="rect">
            <a:avLst/>
          </a:prstGeom>
          <a:noFill/>
        </p:spPr>
        <p:txBody>
          <a:bodyPr vert="horz" wrap="square" lIns="0" tIns="0" rIns="0" bIns="0" rtlCol="0">
            <a:noAutofit/>
          </a:bodyPr>
          <a:lstStyle/>
          <a:p>
            <a:r>
              <a:rPr lang="en-US" altLang="zh-CN" sz="2400" b="1">
                <a:solidFill>
                  <a:srgbClr val="FFFFFF"/>
                </a:solidFill>
                <a:latin typeface="Aptos" panose="020B0004020202020204" pitchFamily="34" charset="0"/>
              </a:rPr>
              <a:t>Questions?</a:t>
            </a:r>
            <a:endParaRPr lang="zh-CN" altLang="en-US" sz="2400" b="1">
              <a:solidFill>
                <a:srgbClr val="FFFFFF"/>
              </a:solidFill>
              <a:latin typeface="Aptos" panose="020B0004020202020204" pitchFamily="34" charset="0"/>
            </a:endParaRPr>
          </a:p>
        </p:txBody>
      </p:sp>
      <p:cxnSp>
        <p:nvCxnSpPr>
          <p:cNvPr id="33" name="closing-line">
            <a:extLst>
              <a:ext uri="{FF2B5EF4-FFF2-40B4-BE49-F238E27FC236}">
                <a16:creationId xmlns:a16="http://schemas.microsoft.com/office/drawing/2014/main" id="{E79D9BA0-D0DD-9B35-25AA-D611ECD513C5}"/>
              </a:ext>
            </a:extLst>
          </p:cNvPr>
          <p:cNvCxnSpPr/>
          <p:nvPr/>
        </p:nvCxnSpPr>
        <p:spPr>
          <a:xfrm>
            <a:off x="736600" y="2895600"/>
            <a:ext cx="7899400" cy="0"/>
          </a:xfrm>
          <a:prstGeom prst="line">
            <a:avLst/>
          </a:prstGeom>
          <a:ln w="15240">
            <a:solidFill>
              <a:srgbClr val="96BEEB"/>
            </a:solidFill>
          </a:ln>
        </p:spPr>
        <p:style>
          <a:lnRef idx="1">
            <a:schemeClr val="accent1"/>
          </a:lnRef>
          <a:fillRef idx="0">
            <a:schemeClr val="accent1"/>
          </a:fillRef>
          <a:effectRef idx="0">
            <a:schemeClr val="accent1"/>
          </a:effectRef>
          <a:fontRef idx="minor">
            <a:schemeClr val="tx1"/>
          </a:fontRef>
        </p:style>
      </p:cxnSp>
      <p:sp>
        <p:nvSpPr>
          <p:cNvPr id="34" name="takeaway">
            <a:extLst>
              <a:ext uri="{FF2B5EF4-FFF2-40B4-BE49-F238E27FC236}">
                <a16:creationId xmlns:a16="http://schemas.microsoft.com/office/drawing/2014/main" id="{9CF41230-0B80-1498-DE8B-A0D09D5D7C5E}"/>
              </a:ext>
            </a:extLst>
          </p:cNvPr>
          <p:cNvSpPr/>
          <p:nvPr/>
        </p:nvSpPr>
        <p:spPr>
          <a:xfrm>
            <a:off x="965200" y="3429000"/>
            <a:ext cx="7696200" cy="711200"/>
          </a:xfrm>
          <a:prstGeom prst="rect">
            <a:avLst/>
          </a:prstGeom>
          <a:solidFill>
            <a:srgbClr val="0B5CA0"/>
          </a:solidFill>
          <a:ln w="12700">
            <a:solidFill>
              <a:srgbClr val="76AE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takeaway-t">
            <a:extLst>
              <a:ext uri="{FF2B5EF4-FFF2-40B4-BE49-F238E27FC236}">
                <a16:creationId xmlns:a16="http://schemas.microsoft.com/office/drawing/2014/main" id="{FF863FC1-C133-BCA5-AD7B-56D3B7E95B27}"/>
              </a:ext>
            </a:extLst>
          </p:cNvPr>
          <p:cNvSpPr txBox="1"/>
          <p:nvPr/>
        </p:nvSpPr>
        <p:spPr>
          <a:xfrm>
            <a:off x="1320800" y="3657600"/>
            <a:ext cx="69596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WatermarkScope evaluates source-code watermarking as bounded evidence, not as one detector score.</a:t>
            </a:r>
            <a:endParaRPr lang="zh-CN" altLang="en-US" sz="1050" b="1">
              <a:solidFill>
                <a:srgbClr val="FFFFFF"/>
              </a:solidFill>
              <a:latin typeface="Aptos" panose="020B0004020202020204" pitchFamily="34" charset="0"/>
            </a:endParaRPr>
          </a:p>
        </p:txBody>
      </p:sp>
      <p:sp>
        <p:nvSpPr>
          <p:cNvPr id="36" name="qa">
            <a:extLst>
              <a:ext uri="{FF2B5EF4-FFF2-40B4-BE49-F238E27FC236}">
                <a16:creationId xmlns:a16="http://schemas.microsoft.com/office/drawing/2014/main" id="{C1970C7C-C0D4-7061-F04E-BC69ECDF948D}"/>
              </a:ext>
            </a:extLst>
          </p:cNvPr>
          <p:cNvSpPr/>
          <p:nvPr/>
        </p:nvSpPr>
        <p:spPr>
          <a:xfrm>
            <a:off x="965200" y="4419600"/>
            <a:ext cx="7696200" cy="533400"/>
          </a:xfrm>
          <a:prstGeom prst="rect">
            <a:avLst/>
          </a:prstGeom>
          <a:solidFill>
            <a:srgbClr val="071C3E"/>
          </a:solidFill>
          <a:ln w="12700">
            <a:solidFill>
              <a:srgbClr val="4E82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qa-t">
            <a:extLst>
              <a:ext uri="{FF2B5EF4-FFF2-40B4-BE49-F238E27FC236}">
                <a16:creationId xmlns:a16="http://schemas.microsoft.com/office/drawing/2014/main" id="{001EB2C5-2F4C-0AD2-FA04-8B71AEE8F8FE}"/>
              </a:ext>
            </a:extLst>
          </p:cNvPr>
          <p:cNvSpPr txBox="1"/>
          <p:nvPr/>
        </p:nvSpPr>
        <p:spPr>
          <a:xfrm>
            <a:off x="1320800" y="4610100"/>
            <a:ext cx="69596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Q&amp;A anchors: contribution | why not one score | demo validity | claim boundaries</a:t>
            </a:r>
            <a:endParaRPr lang="zh-CN" altLang="en-US" sz="820" b="1">
              <a:solidFill>
                <a:srgbClr val="FFFFFF"/>
              </a:solidFill>
              <a:latin typeface="Aptos" panose="020B0004020202020204" pitchFamily="34" charset="0"/>
            </a:endParaRPr>
          </a:p>
        </p:txBody>
      </p:sp>
      <p:pic>
        <p:nvPicPr>
          <p:cNvPr id="39" name="图片 38">
            <a:hlinkClick r:id="rId3"/>
            <a:extLst>
              <a:ext uri="{FF2B5EF4-FFF2-40B4-BE49-F238E27FC236}">
                <a16:creationId xmlns:a16="http://schemas.microsoft.com/office/drawing/2014/main" id="{E9BCD431-AAFA-A2D1-8A54-B463454BB86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474200" y="2616200"/>
            <a:ext cx="1498600" cy="1498600"/>
          </a:xfrm>
          <a:prstGeom prst="rect">
            <a:avLst/>
          </a:prstGeom>
        </p:spPr>
      </p:pic>
      <p:sp>
        <p:nvSpPr>
          <p:cNvPr id="40" name="page-button">
            <a:hlinkClick r:id="rId3"/>
            <a:extLst>
              <a:ext uri="{FF2B5EF4-FFF2-40B4-BE49-F238E27FC236}">
                <a16:creationId xmlns:a16="http://schemas.microsoft.com/office/drawing/2014/main" id="{37566A4F-7DD8-7255-0670-F69EF5CD7D69}"/>
              </a:ext>
            </a:extLst>
          </p:cNvPr>
          <p:cNvSpPr/>
          <p:nvPr/>
        </p:nvSpPr>
        <p:spPr>
          <a:xfrm>
            <a:off x="9296400" y="4368800"/>
            <a:ext cx="812800" cy="279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004080"/>
                </a:solidFill>
                <a:latin typeface="Aptos" panose="020B0004020202020204" pitchFamily="34" charset="0"/>
              </a:rPr>
              <a:t>Page</a:t>
            </a:r>
            <a:endParaRPr lang="zh-CN" altLang="en-US" sz="850" b="1">
              <a:solidFill>
                <a:srgbClr val="004080"/>
              </a:solidFill>
              <a:latin typeface="Aptos" panose="020B0004020202020204" pitchFamily="34" charset="0"/>
            </a:endParaRPr>
          </a:p>
        </p:txBody>
      </p:sp>
      <p:sp>
        <p:nvSpPr>
          <p:cNvPr id="41" name="repo-button">
            <a:hlinkClick r:id="rId5"/>
            <a:extLst>
              <a:ext uri="{FF2B5EF4-FFF2-40B4-BE49-F238E27FC236}">
                <a16:creationId xmlns:a16="http://schemas.microsoft.com/office/drawing/2014/main" id="{09FA2C9D-2703-338D-8264-69393242CFEF}"/>
              </a:ext>
            </a:extLst>
          </p:cNvPr>
          <p:cNvSpPr/>
          <p:nvPr/>
        </p:nvSpPr>
        <p:spPr>
          <a:xfrm>
            <a:off x="10261600" y="4368800"/>
            <a:ext cx="812800" cy="279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004080"/>
                </a:solidFill>
                <a:latin typeface="Aptos" panose="020B0004020202020204" pitchFamily="34" charset="0"/>
              </a:rPr>
              <a:t>Repo</a:t>
            </a:r>
            <a:endParaRPr lang="zh-CN" altLang="en-US" sz="850" b="1">
              <a:solidFill>
                <a:srgbClr val="004080"/>
              </a:solidFill>
              <a:latin typeface="Aptos" panose="020B0004020202020204" pitchFamily="34" charset="0"/>
            </a:endParaRPr>
          </a:p>
        </p:txBody>
      </p:sp>
      <p:pic>
        <p:nvPicPr>
          <p:cNvPr id="43" name="图片 42">
            <a:extLst>
              <a:ext uri="{FF2B5EF4-FFF2-40B4-BE49-F238E27FC236}">
                <a16:creationId xmlns:a16="http://schemas.microsoft.com/office/drawing/2014/main" id="{5530ADE2-691B-64A0-72CC-5B9102C748AB}"/>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Tree>
    <p:extLst>
      <p:ext uri="{BB962C8B-B14F-4D97-AF65-F5344CB8AC3E}">
        <p14:creationId xmlns:p14="http://schemas.microsoft.com/office/powerpoint/2010/main" val="3406624489"/>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3D79997B-96FD-1511-867E-04860E8A18BF}"/>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F736AA20-179C-E829-0F29-3666BC0134AF}"/>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AF686C45-3BD0-A720-DCF2-5FB3A6FF6D75}"/>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89946EE3-D87C-AD47-82B0-CC2FEEC50DC2}"/>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B41C31D3-5E63-5984-6E6E-9BEF08B258F5}"/>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840EA330-DB77-5DA1-10D9-ED22A565696C}"/>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15</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BC7426E7-C9FF-5E20-BD92-3A3BE588C16B}"/>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BACKUP</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DF8B5B6A-200C-55FF-BD6E-5C50642F76D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43AF84C9-D289-2BE9-ED48-53FE1FB75290}"/>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Formula and boundary reference</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B63C66E5-D61B-C2C6-8255-A60CEE0BF26D}"/>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Use this if asked about the formal evidence object.</a:t>
            </a:r>
            <a:endParaRPr lang="zh-CN" altLang="en-US" sz="950">
              <a:solidFill>
                <a:srgbClr val="536580"/>
              </a:solidFill>
              <a:latin typeface="Aptos" panose="020B0004020202020204" pitchFamily="34" charset="0"/>
            </a:endParaRPr>
          </a:p>
        </p:txBody>
      </p:sp>
      <p:sp>
        <p:nvSpPr>
          <p:cNvPr id="13" name="formula-big">
            <a:extLst>
              <a:ext uri="{FF2B5EF4-FFF2-40B4-BE49-F238E27FC236}">
                <a16:creationId xmlns:a16="http://schemas.microsoft.com/office/drawing/2014/main" id="{5C30F536-25B3-E530-8AA2-2BCE15FE10BC}"/>
              </a:ext>
            </a:extLst>
          </p:cNvPr>
          <p:cNvSpPr/>
          <p:nvPr/>
        </p:nvSpPr>
        <p:spPr>
          <a:xfrm>
            <a:off x="1117600" y="1879600"/>
            <a:ext cx="9956800" cy="9652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ormula-text">
            <a:extLst>
              <a:ext uri="{FF2B5EF4-FFF2-40B4-BE49-F238E27FC236}">
                <a16:creationId xmlns:a16="http://schemas.microsoft.com/office/drawing/2014/main" id="{7107620E-A6D9-6F48-6E36-7D9577D5F602}"/>
              </a:ext>
            </a:extLst>
          </p:cNvPr>
          <p:cNvSpPr txBox="1"/>
          <p:nvPr/>
        </p:nvSpPr>
        <p:spPr>
          <a:xfrm>
            <a:off x="1574800" y="2197100"/>
            <a:ext cx="9144000" cy="276999"/>
          </a:xfrm>
          <a:prstGeom prst="rect">
            <a:avLst/>
          </a:prstGeom>
          <a:noFill/>
        </p:spPr>
        <p:txBody>
          <a:bodyPr vert="horz" wrap="square" lIns="0" tIns="0" rIns="0" bIns="0" rtlCol="0">
            <a:noAutofit/>
          </a:bodyPr>
          <a:lstStyle/>
          <a:p>
            <a:r>
              <a:rPr lang="en-US" altLang="zh-CN" sz="1350" b="1">
                <a:solidFill>
                  <a:srgbClr val="FFFFFF"/>
                </a:solidFill>
                <a:latin typeface="Consolas" panose="020B0609020204030204" pitchFamily="49" charset="0"/>
              </a:rPr>
              <a:t>E = &lt;D, C, A, H, B&gt;; admit(E)=1 only if D, C, A/H, and B are fixed before interpretation.</a:t>
            </a:r>
            <a:endParaRPr lang="zh-CN" altLang="en-US" sz="1350" b="1">
              <a:solidFill>
                <a:srgbClr val="FFFFFF"/>
              </a:solidFill>
              <a:latin typeface="Consolas" panose="020B0609020204030204" pitchFamily="49" charset="0"/>
            </a:endParaRPr>
          </a:p>
        </p:txBody>
      </p:sp>
      <p:pic>
        <p:nvPicPr>
          <p:cNvPr id="16" name="claim-matrix">
            <a:extLst>
              <a:ext uri="{FF2B5EF4-FFF2-40B4-BE49-F238E27FC236}">
                <a16:creationId xmlns:a16="http://schemas.microsoft.com/office/drawing/2014/main" id="{C51CFC60-CB9A-C442-D375-33CC6C8C859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769634" y="3175000"/>
            <a:ext cx="6652733" cy="2159000"/>
          </a:xfrm>
          <a:prstGeom prst="rect">
            <a:avLst/>
          </a:prstGeom>
        </p:spPr>
      </p:pic>
      <p:sp>
        <p:nvSpPr>
          <p:cNvPr id="17" name="claim-bak">
            <a:hlinkClick r:id="rId5"/>
            <a:extLst>
              <a:ext uri="{FF2B5EF4-FFF2-40B4-BE49-F238E27FC236}">
                <a16:creationId xmlns:a16="http://schemas.microsoft.com/office/drawing/2014/main" id="{8563CCD8-FB35-AD01-B92E-F10D2208F998}"/>
              </a:ext>
            </a:extLst>
          </p:cNvPr>
          <p:cNvSpPr/>
          <p:nvPr/>
        </p:nvSpPr>
        <p:spPr>
          <a:xfrm>
            <a:off x="9169400" y="5410200"/>
            <a:ext cx="13716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Claim boundaries</a:t>
            </a:r>
            <a:endParaRPr lang="zh-CN" altLang="en-US" sz="850" b="1">
              <a:solidFill>
                <a:srgbClr val="FFFFFF"/>
              </a:solidFill>
              <a:latin typeface="Aptos" panose="020B0004020202020204" pitchFamily="34" charset="0"/>
            </a:endParaRPr>
          </a:p>
        </p:txBody>
      </p:sp>
    </p:spTree>
    <p:extLst>
      <p:ext uri="{BB962C8B-B14F-4D97-AF65-F5344CB8AC3E}">
        <p14:creationId xmlns:p14="http://schemas.microsoft.com/office/powerpoint/2010/main" val="540961499"/>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A96B4A57-6AC3-FD4D-A9A7-AD49AD6C5618}"/>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4FFC3DB4-3313-610F-E662-7F39C89CC8DF}"/>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9A71CBA0-5A1E-C943-9A3A-0C5F3BE41807}"/>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4705BE68-2A89-7C22-E273-22908DA58C8D}"/>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4800D02B-E7FA-E43A-13C8-CEFDF54E5D90}"/>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CE0C9503-2BCF-1D81-B035-DF4D6DF360E7}"/>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16</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8695FACC-1490-5EAF-4E2F-F07A6B37958B}"/>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BACKUP</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4ED4C19D-1C53-20AC-7AFB-0461AC5360C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C5126E4F-8C58-B9B3-E2DF-4C1631DCED41}"/>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Likely viva questions: short answers</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0C1FBFDE-2C4B-4BDB-91C0-3B3D99BE0350}"/>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Keep answers short; then point to the artifact.</a:t>
            </a:r>
            <a:endParaRPr lang="zh-CN" altLang="en-US" sz="950">
              <a:solidFill>
                <a:srgbClr val="536580"/>
              </a:solidFill>
              <a:latin typeface="Aptos" panose="020B0004020202020204" pitchFamily="34" charset="0"/>
            </a:endParaRPr>
          </a:p>
        </p:txBody>
      </p:sp>
      <p:sp>
        <p:nvSpPr>
          <p:cNvPr id="13" name="qa-row-0">
            <a:extLst>
              <a:ext uri="{FF2B5EF4-FFF2-40B4-BE49-F238E27FC236}">
                <a16:creationId xmlns:a16="http://schemas.microsoft.com/office/drawing/2014/main" id="{696B0222-D5A8-5ECD-65C2-A92277FC4E8A}"/>
              </a:ext>
            </a:extLst>
          </p:cNvPr>
          <p:cNvSpPr/>
          <p:nvPr/>
        </p:nvSpPr>
        <p:spPr>
          <a:xfrm>
            <a:off x="914400" y="1701800"/>
            <a:ext cx="10363200" cy="533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q-0">
            <a:extLst>
              <a:ext uri="{FF2B5EF4-FFF2-40B4-BE49-F238E27FC236}">
                <a16:creationId xmlns:a16="http://schemas.microsoft.com/office/drawing/2014/main" id="{12A7DB56-EB88-C13F-1406-B08AB2064CDA}"/>
              </a:ext>
            </a:extLst>
          </p:cNvPr>
          <p:cNvSpPr txBox="1"/>
          <p:nvPr/>
        </p:nvSpPr>
        <p:spPr>
          <a:xfrm>
            <a:off x="1219200" y="1828800"/>
            <a:ext cx="3175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Why not one detector score?</a:t>
            </a:r>
            <a:endParaRPr lang="zh-CN" altLang="en-US" sz="830" b="1">
              <a:solidFill>
                <a:srgbClr val="004080"/>
              </a:solidFill>
              <a:latin typeface="Aptos" panose="020B0004020202020204" pitchFamily="34" charset="0"/>
            </a:endParaRPr>
          </a:p>
        </p:txBody>
      </p:sp>
      <p:sp>
        <p:nvSpPr>
          <p:cNvPr id="15" name="a-0">
            <a:extLst>
              <a:ext uri="{FF2B5EF4-FFF2-40B4-BE49-F238E27FC236}">
                <a16:creationId xmlns:a16="http://schemas.microsoft.com/office/drawing/2014/main" id="{65F2F1BF-258C-9E66-855C-76536BC028D9}"/>
              </a:ext>
            </a:extLst>
          </p:cNvPr>
          <p:cNvSpPr txBox="1"/>
          <p:nvPr/>
        </p:nvSpPr>
        <p:spPr>
          <a:xfrm>
            <a:off x="4800600" y="1828800"/>
            <a:ext cx="5969000" cy="276999"/>
          </a:xfrm>
          <a:prstGeom prst="rect">
            <a:avLst/>
          </a:prstGeom>
          <a:noFill/>
        </p:spPr>
        <p:txBody>
          <a:bodyPr vert="horz" wrap="square" lIns="0" tIns="0" rIns="0" bIns="0" rtlCol="0">
            <a:noAutofit/>
          </a:bodyPr>
          <a:lstStyle/>
          <a:p>
            <a:r>
              <a:rPr lang="en-US" altLang="zh-CN" sz="810" b="1">
                <a:solidFill>
                  <a:srgbClr val="0D182C"/>
                </a:solidFill>
                <a:latin typeface="Aptos" panose="020B0004020202020204" pitchFamily="34" charset="0"/>
              </a:rPr>
              <a:t>Because different access models support different claims.</a:t>
            </a:r>
            <a:endParaRPr lang="zh-CN" altLang="en-US" sz="810" b="1">
              <a:solidFill>
                <a:srgbClr val="0D182C"/>
              </a:solidFill>
              <a:latin typeface="Aptos" panose="020B0004020202020204" pitchFamily="34" charset="0"/>
            </a:endParaRPr>
          </a:p>
        </p:txBody>
      </p:sp>
      <p:sp>
        <p:nvSpPr>
          <p:cNvPr id="16" name="qa-row-1">
            <a:extLst>
              <a:ext uri="{FF2B5EF4-FFF2-40B4-BE49-F238E27FC236}">
                <a16:creationId xmlns:a16="http://schemas.microsoft.com/office/drawing/2014/main" id="{890A1FAC-1498-2E40-E393-9A2C249770E5}"/>
              </a:ext>
            </a:extLst>
          </p:cNvPr>
          <p:cNvSpPr/>
          <p:nvPr/>
        </p:nvSpPr>
        <p:spPr>
          <a:xfrm>
            <a:off x="914400" y="2540000"/>
            <a:ext cx="10363200" cy="533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q-1">
            <a:extLst>
              <a:ext uri="{FF2B5EF4-FFF2-40B4-BE49-F238E27FC236}">
                <a16:creationId xmlns:a16="http://schemas.microsoft.com/office/drawing/2014/main" id="{1258276F-6EE9-74FE-3E36-9BB894F6A61F}"/>
              </a:ext>
            </a:extLst>
          </p:cNvPr>
          <p:cNvSpPr txBox="1"/>
          <p:nvPr/>
        </p:nvSpPr>
        <p:spPr>
          <a:xfrm>
            <a:off x="1219200" y="2667000"/>
            <a:ext cx="3175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Can this prove authorship?</a:t>
            </a:r>
            <a:endParaRPr lang="zh-CN" altLang="en-US" sz="830" b="1">
              <a:solidFill>
                <a:srgbClr val="004080"/>
              </a:solidFill>
              <a:latin typeface="Aptos" panose="020B0004020202020204" pitchFamily="34" charset="0"/>
            </a:endParaRPr>
          </a:p>
        </p:txBody>
      </p:sp>
      <p:sp>
        <p:nvSpPr>
          <p:cNvPr id="18" name="a-1">
            <a:extLst>
              <a:ext uri="{FF2B5EF4-FFF2-40B4-BE49-F238E27FC236}">
                <a16:creationId xmlns:a16="http://schemas.microsoft.com/office/drawing/2014/main" id="{B16A513F-0409-F86A-D63D-F1430894A61B}"/>
              </a:ext>
            </a:extLst>
          </p:cNvPr>
          <p:cNvSpPr txBox="1"/>
          <p:nvPr/>
        </p:nvSpPr>
        <p:spPr>
          <a:xfrm>
            <a:off x="4800600" y="2667000"/>
            <a:ext cx="5969000" cy="276999"/>
          </a:xfrm>
          <a:prstGeom prst="rect">
            <a:avLst/>
          </a:prstGeom>
          <a:noFill/>
        </p:spPr>
        <p:txBody>
          <a:bodyPr vert="horz" wrap="square" lIns="0" tIns="0" rIns="0" bIns="0" rtlCol="0">
            <a:noAutofit/>
          </a:bodyPr>
          <a:lstStyle/>
          <a:p>
            <a:r>
              <a:rPr lang="en-US" altLang="zh-CN" sz="810" b="1">
                <a:solidFill>
                  <a:srgbClr val="0D182C"/>
                </a:solidFill>
                <a:latin typeface="Aptos" panose="020B0004020202020204" pitchFamily="34" charset="0"/>
              </a:rPr>
              <a:t>No. ProbeTrace is source-bound owner verification, not legal authorship.</a:t>
            </a:r>
            <a:endParaRPr lang="zh-CN" altLang="en-US" sz="810" b="1">
              <a:solidFill>
                <a:srgbClr val="0D182C"/>
              </a:solidFill>
              <a:latin typeface="Aptos" panose="020B0004020202020204" pitchFamily="34" charset="0"/>
            </a:endParaRPr>
          </a:p>
        </p:txBody>
      </p:sp>
      <p:sp>
        <p:nvSpPr>
          <p:cNvPr id="19" name="qa-row-2">
            <a:extLst>
              <a:ext uri="{FF2B5EF4-FFF2-40B4-BE49-F238E27FC236}">
                <a16:creationId xmlns:a16="http://schemas.microsoft.com/office/drawing/2014/main" id="{05A5C0E5-C73A-EFF8-927D-028A39D6716C}"/>
              </a:ext>
            </a:extLst>
          </p:cNvPr>
          <p:cNvSpPr/>
          <p:nvPr/>
        </p:nvSpPr>
        <p:spPr>
          <a:xfrm>
            <a:off x="914400" y="3378200"/>
            <a:ext cx="10363200" cy="533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q-2">
            <a:extLst>
              <a:ext uri="{FF2B5EF4-FFF2-40B4-BE49-F238E27FC236}">
                <a16:creationId xmlns:a16="http://schemas.microsoft.com/office/drawing/2014/main" id="{F39C8F8D-C76C-1BE4-3C4B-BBD014820C5F}"/>
              </a:ext>
            </a:extLst>
          </p:cNvPr>
          <p:cNvSpPr txBox="1"/>
          <p:nvPr/>
        </p:nvSpPr>
        <p:spPr>
          <a:xfrm>
            <a:off x="1219200" y="3505200"/>
            <a:ext cx="3175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Can CodeDye accuse a provider?</a:t>
            </a:r>
            <a:endParaRPr lang="zh-CN" altLang="en-US" sz="830" b="1">
              <a:solidFill>
                <a:srgbClr val="004080"/>
              </a:solidFill>
              <a:latin typeface="Aptos" panose="020B0004020202020204" pitchFamily="34" charset="0"/>
            </a:endParaRPr>
          </a:p>
        </p:txBody>
      </p:sp>
      <p:sp>
        <p:nvSpPr>
          <p:cNvPr id="21" name="a-2">
            <a:extLst>
              <a:ext uri="{FF2B5EF4-FFF2-40B4-BE49-F238E27FC236}">
                <a16:creationId xmlns:a16="http://schemas.microsoft.com/office/drawing/2014/main" id="{4D928D38-65DD-33D1-40B8-9B98E4A5D65D}"/>
              </a:ext>
            </a:extLst>
          </p:cNvPr>
          <p:cNvSpPr txBox="1"/>
          <p:nvPr/>
        </p:nvSpPr>
        <p:spPr>
          <a:xfrm>
            <a:off x="4800600" y="3505200"/>
            <a:ext cx="5969000" cy="276999"/>
          </a:xfrm>
          <a:prstGeom prst="rect">
            <a:avLst/>
          </a:prstGeom>
          <a:noFill/>
        </p:spPr>
        <p:txBody>
          <a:bodyPr vert="horz" wrap="square" lIns="0" tIns="0" rIns="0" bIns="0" rtlCol="0">
            <a:noAutofit/>
          </a:bodyPr>
          <a:lstStyle/>
          <a:p>
            <a:r>
              <a:rPr lang="en-US" altLang="zh-CN" sz="810" b="1">
                <a:solidFill>
                  <a:srgbClr val="0D182C"/>
                </a:solidFill>
                <a:latin typeface="Aptos" panose="020B0004020202020204" pitchFamily="34" charset="0"/>
              </a:rPr>
              <a:t>No. It is a conservative null-audit/calibration surface.</a:t>
            </a:r>
            <a:endParaRPr lang="zh-CN" altLang="en-US" sz="810" b="1">
              <a:solidFill>
                <a:srgbClr val="0D182C"/>
              </a:solidFill>
              <a:latin typeface="Aptos" panose="020B0004020202020204" pitchFamily="34" charset="0"/>
            </a:endParaRPr>
          </a:p>
        </p:txBody>
      </p:sp>
      <p:sp>
        <p:nvSpPr>
          <p:cNvPr id="22" name="qa-row-3">
            <a:extLst>
              <a:ext uri="{FF2B5EF4-FFF2-40B4-BE49-F238E27FC236}">
                <a16:creationId xmlns:a16="http://schemas.microsoft.com/office/drawing/2014/main" id="{C8A5D720-4423-D68D-8CB0-2B0A7080A734}"/>
              </a:ext>
            </a:extLst>
          </p:cNvPr>
          <p:cNvSpPr/>
          <p:nvPr/>
        </p:nvSpPr>
        <p:spPr>
          <a:xfrm>
            <a:off x="914400" y="4216400"/>
            <a:ext cx="10363200" cy="533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q-3">
            <a:extLst>
              <a:ext uri="{FF2B5EF4-FFF2-40B4-BE49-F238E27FC236}">
                <a16:creationId xmlns:a16="http://schemas.microsoft.com/office/drawing/2014/main" id="{0C8B7ACC-C153-5AFC-697B-6750C74F6967}"/>
              </a:ext>
            </a:extLst>
          </p:cNvPr>
          <p:cNvSpPr txBox="1"/>
          <p:nvPr/>
        </p:nvSpPr>
        <p:spPr>
          <a:xfrm>
            <a:off x="1219200" y="4343400"/>
            <a:ext cx="3175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Is the demo a full rerun?</a:t>
            </a:r>
            <a:endParaRPr lang="zh-CN" altLang="en-US" sz="830" b="1">
              <a:solidFill>
                <a:srgbClr val="004080"/>
              </a:solidFill>
              <a:latin typeface="Aptos" panose="020B0004020202020204" pitchFamily="34" charset="0"/>
            </a:endParaRPr>
          </a:p>
        </p:txBody>
      </p:sp>
      <p:sp>
        <p:nvSpPr>
          <p:cNvPr id="24" name="a-3">
            <a:extLst>
              <a:ext uri="{FF2B5EF4-FFF2-40B4-BE49-F238E27FC236}">
                <a16:creationId xmlns:a16="http://schemas.microsoft.com/office/drawing/2014/main" id="{5B45215E-4701-480D-DE0F-E1C5C6173F19}"/>
              </a:ext>
            </a:extLst>
          </p:cNvPr>
          <p:cNvSpPr txBox="1"/>
          <p:nvPr/>
        </p:nvSpPr>
        <p:spPr>
          <a:xfrm>
            <a:off x="4800600" y="4343400"/>
            <a:ext cx="5969000" cy="276999"/>
          </a:xfrm>
          <a:prstGeom prst="rect">
            <a:avLst/>
          </a:prstGeom>
          <a:noFill/>
        </p:spPr>
        <p:txBody>
          <a:bodyPr vert="horz" wrap="square" lIns="0" tIns="0" rIns="0" bIns="0" rtlCol="0">
            <a:noAutofit/>
          </a:bodyPr>
          <a:lstStyle/>
          <a:p>
            <a:r>
              <a:rPr lang="en-US" altLang="zh-CN" sz="810" b="1">
                <a:solidFill>
                  <a:srgbClr val="0D182C"/>
                </a:solidFill>
                <a:latin typeface="Aptos" panose="020B0004020202020204" pitchFamily="34" charset="0"/>
              </a:rPr>
              <a:t>No. It checks repository integrity and traceability.</a:t>
            </a:r>
            <a:endParaRPr lang="zh-CN" altLang="en-US" sz="810" b="1">
              <a:solidFill>
                <a:srgbClr val="0D182C"/>
              </a:solidFill>
              <a:latin typeface="Aptos" panose="020B0004020202020204" pitchFamily="34" charset="0"/>
            </a:endParaRPr>
          </a:p>
        </p:txBody>
      </p:sp>
      <p:sp>
        <p:nvSpPr>
          <p:cNvPr id="25" name="qa-row-4">
            <a:extLst>
              <a:ext uri="{FF2B5EF4-FFF2-40B4-BE49-F238E27FC236}">
                <a16:creationId xmlns:a16="http://schemas.microsoft.com/office/drawing/2014/main" id="{C1976337-9F93-CD42-B347-F7725FC4A662}"/>
              </a:ext>
            </a:extLst>
          </p:cNvPr>
          <p:cNvSpPr/>
          <p:nvPr/>
        </p:nvSpPr>
        <p:spPr>
          <a:xfrm>
            <a:off x="914400" y="5054600"/>
            <a:ext cx="10363200" cy="533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q-4">
            <a:extLst>
              <a:ext uri="{FF2B5EF4-FFF2-40B4-BE49-F238E27FC236}">
                <a16:creationId xmlns:a16="http://schemas.microsoft.com/office/drawing/2014/main" id="{0E525FA1-6A97-1116-07FB-D8FF94922201}"/>
              </a:ext>
            </a:extLst>
          </p:cNvPr>
          <p:cNvSpPr txBox="1"/>
          <p:nvPr/>
        </p:nvSpPr>
        <p:spPr>
          <a:xfrm>
            <a:off x="1219200" y="5181600"/>
            <a:ext cx="3175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What is the main contribution?</a:t>
            </a:r>
            <a:endParaRPr lang="zh-CN" altLang="en-US" sz="830" b="1">
              <a:solidFill>
                <a:srgbClr val="004080"/>
              </a:solidFill>
              <a:latin typeface="Aptos" panose="020B0004020202020204" pitchFamily="34" charset="0"/>
            </a:endParaRPr>
          </a:p>
        </p:txBody>
      </p:sp>
      <p:sp>
        <p:nvSpPr>
          <p:cNvPr id="27" name="a-4">
            <a:extLst>
              <a:ext uri="{FF2B5EF4-FFF2-40B4-BE49-F238E27FC236}">
                <a16:creationId xmlns:a16="http://schemas.microsoft.com/office/drawing/2014/main" id="{4B42D15E-E8BC-E988-A400-E6F91B2DAC0E}"/>
              </a:ext>
            </a:extLst>
          </p:cNvPr>
          <p:cNvSpPr txBox="1"/>
          <p:nvPr/>
        </p:nvSpPr>
        <p:spPr>
          <a:xfrm>
            <a:off x="4800600" y="5181600"/>
            <a:ext cx="5969000" cy="276999"/>
          </a:xfrm>
          <a:prstGeom prst="rect">
            <a:avLst/>
          </a:prstGeom>
          <a:noFill/>
        </p:spPr>
        <p:txBody>
          <a:bodyPr vert="horz" wrap="square" lIns="0" tIns="0" rIns="0" bIns="0" rtlCol="0">
            <a:noAutofit/>
          </a:bodyPr>
          <a:lstStyle/>
          <a:p>
            <a:r>
              <a:rPr lang="en-US" altLang="zh-CN" sz="810" b="1">
                <a:solidFill>
                  <a:srgbClr val="0D182C"/>
                </a:solidFill>
                <a:latin typeface="Aptos" panose="020B0004020202020204" pitchFamily="34" charset="0"/>
              </a:rPr>
              <a:t>A benchmark-to-audit framework with fixed denominators, controls, and abstention.</a:t>
            </a:r>
            <a:endParaRPr lang="zh-CN" altLang="en-US" sz="810" b="1">
              <a:solidFill>
                <a:srgbClr val="0D182C"/>
              </a:solidFill>
              <a:latin typeface="Aptos" panose="020B0004020202020204" pitchFamily="34" charset="0"/>
            </a:endParaRPr>
          </a:p>
        </p:txBody>
      </p:sp>
    </p:spTree>
    <p:extLst>
      <p:ext uri="{BB962C8B-B14F-4D97-AF65-F5344CB8AC3E}">
        <p14:creationId xmlns:p14="http://schemas.microsoft.com/office/powerpoint/2010/main" val="3177828497"/>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1627</Words>
  <Application>Microsoft Office PowerPoint</Application>
  <PresentationFormat>自定义</PresentationFormat>
  <Paragraphs>234</Paragraphs>
  <Slides>16</Slides>
  <Notes>16</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16</vt:i4>
      </vt:variant>
    </vt:vector>
  </HeadingPairs>
  <TitlesOfParts>
    <vt:vector size="22" baseType="lpstr">
      <vt:lpstr>等线</vt:lpstr>
      <vt:lpstr>等线 Light</vt:lpstr>
      <vt:lpstr>Aptos</vt:lpstr>
      <vt:lpstr>Arial</vt:lpstr>
      <vt:lpstr>Consolas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周率 圆</dc:creator>
  <cp:lastModifiedBy>周率 圆</cp:lastModifiedBy>
  <cp:revision>1</cp:revision>
  <dcterms:created xsi:type="dcterms:W3CDTF">2026-05-13T12:42:23Z</dcterms:created>
  <dcterms:modified xsi:type="dcterms:W3CDTF">2026-05-13T12:42:23Z</dcterms:modified>
</cp:coreProperties>
</file>