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6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168D1-7D0C-4C30-8348-E95C3157DD30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BA7D74-1DB2-43DB-8215-FC87371FF1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695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Good afternoon. I am Haoyi Zhang. My project is WatermarkScope, a benchmark-to-audit framework for source-code watermarking in code generation models. I will explain the problem, the framework, the submitted results, and then show the repository demo.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BA7D74-1DB2-43DB-8215-FC87371FF1C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3168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 practical problem is movement. Generated code is copied, edited, translated, and reused. A watermark result must therefore be tied to the evidence surface that produced it.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BA7D74-1DB2-43DB-8215-FC87371FF1C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2929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This is the research gap. A detector score can be useful, but by itself it does not tell us the population, the controls, or the allowed interpretation. WatermarkScope adds this evidence-admission layer.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BA7D74-1DB2-43DB-8215-FC87371FF1CD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97483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 benchmark layer is denominator discipline. Before interpreting a result, the framework fixes the task, transformation, executable oracle, control role, and artifact identity.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BA7D74-1DB2-43DB-8215-FC87371FF1CD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24612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This is the full framework. The stages are different, but the contract is the same: state what evidence was admitted, what the claim can say, and what it cannot say.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BA7D74-1DB2-43DB-8215-FC87371FF1CD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27851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 evidence object has five parts. In plain language: fix the denominator, run controls, preserve the artifact, and only then state the bounded interpretation.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BA7D74-1DB2-43DB-8215-FC87371FF1CD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48015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This is the main result slide. The important point is that every number is paired with a denominator and a boundary. I should not present it as one universal watermarking score.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BA7D74-1DB2-43DB-8215-FC87371FF1CD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4969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Two modules are intentionally conservative. I do not hide sparse or selective outcomes. They are useful because they show where the claim should stop.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BA7D74-1DB2-43DB-8215-FC87371FF1CD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70098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For the demo, I will show the project page, repository, claim boundary, traceability matrix, manifest, and quick viva check. The goal is inspectability.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BA7D74-1DB2-43DB-8215-FC87371FF1CD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6826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This script is deliberately short for the viva. It verifies the inspection route and key documents. It does not rerun the full experiments.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BA7D74-1DB2-43DB-8215-FC87371FF1CD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95614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In Q&amp;A, I should answer first, state the boundary second, and point to the evidence third. This prevents accidental overclaiming.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BA7D74-1DB2-43DB-8215-FC87371FF1CD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17225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For future work, the benchmark work can be developed toward TOSEM and the other four workstreams toward EMNLP-style papers. These are continuations, not extra claims added to the submitted FYP.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BA7D74-1DB2-43DB-8215-FC87371FF1CD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65371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Thank you. I am ready for questions.
Likely Q&amp;A:
1. Why not one detector score?
Answer: Different access models require different evidence objects. One score would mix incompatible claims.
2. Does CodeDye prove contamination?
Answer: No. It reports sparse live signal under controls. It is conservative null-audit evidence, not a provider accusation.
3. Is ProbeTrace 300/300 overclaiming?
Answer: It would be overclaiming if I presented it as general authorship proof. My claim is scoped to this registry, split, and 0/1,200 false-owner controls.
4. What does the demo prove?
Answer: Inspectability and repository consistency. It does not rerun full GPU/API experiments.
5. Why is SealAudit selective?
Answer: Because a forced safety decision would overclaim. Abstention is part of the design when evidence is insufficient.
6. What is the biggest limitation?
Answer: Finite denominators. Broader claims need new admitted evidence surfaces.
7. What is the main contribution?
Answer: WatermarkScope adds an evidence-contract layer for source-code watermarking and connects benchmark rows, controls, artifacts, and claim boundaries in an inspectable repository.
8. How can the examiner verify the work?
Answer: Open the project page, then repository, CLAIM_BOUNDARIES.md, TRACEABILITY_MATRIX.md, RESULT_MANIFEST.jsonl, and run python scripts/viva_check.py.
Answer pattern: answer first, bound second, point to evidence third.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BA7D74-1DB2-43DB-8215-FC87371FF1CD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5608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676A8F-38D0-035C-4BD1-EDC128D580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98BF37C-2968-6B92-BDC9-C489906B56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E4E551-0B96-FAF5-DADB-E51104954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5A6D85-1586-4CDE-A215-AD0889EE3153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4FFBC5-BEA3-34C4-BE7A-717E33CD6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7E9213-AE1B-A47C-06BC-8012FF0C9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41934-9E4D-4993-B80C-819E52D155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496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8D6FF0-3640-44DC-11F7-0BF32CAEB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1E3C059-928E-921B-24EF-907C18039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943CD50-0AB0-C6D9-40C8-BA523A873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5A6D85-1586-4CDE-A215-AD0889EE3153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98AD70-B6F3-41A3-C7E6-5E43D1777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33D887-3C4B-0B75-F6C4-9CB7FA337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41934-9E4D-4993-B80C-819E52D155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905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2DA008-B80F-4867-E11F-666DEBA06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F0B0EE1-17F9-378C-B3FD-E62B4900F6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93DD03-4DDF-4B5F-F5A2-F70F77EED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5A6D85-1586-4CDE-A215-AD0889EE3153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6D637D-A938-85BE-ACC5-4D5123AC4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359DC6B-E5F5-D186-A33F-97C3084F9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41934-9E4D-4993-B80C-819E52D155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038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02BB20-C87D-5F97-6660-6F5534348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C54087E-95BC-3F0C-9122-FA581D98B2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BA36109-1D3D-C179-C588-D08B0FF710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9553AFD-276E-5E49-220B-B46EA4168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5A6D85-1586-4CDE-A215-AD0889EE3153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A6040DF-525E-2126-DFE6-21F48D274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154FAD-7393-DA1E-3249-CAB10C5A9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41934-9E4D-4993-B80C-819E52D155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6944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EED046-51F6-4B34-ADB0-4A3CDB898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95786F-EC4C-F1B5-0073-39016DDC65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E4F4102-22B3-FDEE-CCBE-0D2D412A9B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DF815FE-06B1-96B7-00B3-77F09C2203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C87838E-5D46-0E54-9459-609E4DE55E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7508639-8D71-ADBB-F986-19B106151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5A6D85-1586-4CDE-A215-AD0889EE3153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D0AA662-5CD5-8FD4-0672-0D63E4D0F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A115CE4-4E5E-67DC-A764-9EDB1B0F6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41934-9E4D-4993-B80C-819E52D155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9564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197D50-B63F-1090-B9E5-E895D7785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1B2A26B-7746-016D-4903-6B52BC8D8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5A6D85-1586-4CDE-A215-AD0889EE3153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8781153-56B4-7177-3432-ED40863A0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9C30C2B-92D1-F226-87E6-8C1BC22F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41934-9E4D-4993-B80C-819E52D155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9397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146A72-495A-C6B3-00CD-7FA62E794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5A6D85-1586-4CDE-A215-AD0889EE3153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C8D50CF-667C-922E-0960-6241B3976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3C5F0E9-80A3-9278-4FBE-EA44F5B22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41934-9E4D-4993-B80C-819E52D155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6491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62FFED-DBA4-5B2D-6F09-7690B8870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190EA1-3979-3A8C-D515-7A0E6DC7E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F31A128-EACC-3061-4D1D-E2690D290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801A81F-4F37-C33D-1F7A-3EDB33C6C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5A6D85-1586-4CDE-A215-AD0889EE3153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42D8C9B-65C2-E20E-3576-67886C59C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B150B82-E50B-18D8-210E-AA2FAAF3F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41934-9E4D-4993-B80C-819E52D155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8201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FF14CD-6FA1-E369-D046-92FD793DA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5E65E8C-A84F-357E-FFE1-9BC97F970C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7C40D1B-7C12-4A6F-EEA8-5B15A3D49D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934A799-E6CD-7179-A067-ACB064457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5A6D85-1586-4CDE-A215-AD0889EE3153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080DD54-53D4-8B8E-1981-20E9847CD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DAF5EE4-4A63-CF0F-F4F9-2AE309205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41934-9E4D-4993-B80C-819E52D155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6936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944B3C-86EE-9232-E48C-41523DA5E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2F702C9-45C4-F12A-6F7E-8D188F5180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A0C3AB-B134-29EA-8C86-A7D17F20B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5A6D85-1586-4CDE-A215-AD0889EE3153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0AA869-821F-CD54-AE8C-7E859485D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3ECAD9E-01AE-DF2F-8380-112784683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41934-9E4D-4993-B80C-819E52D155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8824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EAF5FBB-0D0F-0250-51E1-02522A3115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D39853-B6C8-8A9E-D526-F3803289BE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71C734-6A79-B445-A06D-F397B6276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5A6D85-1586-4CDE-A215-AD0889EE3153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BA738CB-6F87-9EE5-A9B5-9A5918F1B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CE7024-57BD-4496-D124-191735235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41934-9E4D-4993-B80C-819E52D155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401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4DA3610-8BC3-6238-75F8-3AEC60EA4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E570BE-FA44-6AE4-8B0D-7F52A076F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E758B0-D6BC-7573-15E9-C53DB61A0F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5A6D85-1586-4CDE-A215-AD0889EE3153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99EA5A-FDE7-19F7-EFD4-0160153305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E60121-264A-433A-D34B-D2D75A3A1C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541934-9E4D-4993-B80C-819E52D155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7887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haoyi-zhang.github.io/WatermarkScope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haoyi-zhang.github.io/WatermarkScope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haoyi-zhang.github.io/WatermarkScope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haoyi-zhang.github.io/WatermarkScope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haoyi-zhang.github.io/WatermarkScope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haoyi-zhang.github.io/WatermarkScope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haoyi-zhang.github.io/WatermarkScope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haoyi-zhang.github.io/WatermarkScope/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Haoyi-Zhang/WatermarkScope/blob/main/RESULT_MANIFEST.jsonl" TargetMode="External"/><Relationship Id="rId3" Type="http://schemas.openxmlformats.org/officeDocument/2006/relationships/image" Target="../media/image2.jpeg"/><Relationship Id="rId7" Type="http://schemas.openxmlformats.org/officeDocument/2006/relationships/hyperlink" Target="https://github.com/Haoyi-Zhang/WatermarkScope/blob/main/docs/TRACEABILITY_MATRIX.md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Haoyi-Zhang/WatermarkScope/blob/main/CLAIM_BOUNDARIES.md" TargetMode="External"/><Relationship Id="rId5" Type="http://schemas.openxmlformats.org/officeDocument/2006/relationships/hyperlink" Target="https://github.com/Haoyi-Zhang/WatermarkScope" TargetMode="External"/><Relationship Id="rId4" Type="http://schemas.openxmlformats.org/officeDocument/2006/relationships/hyperlink" Target="https://haoyi-zhang.github.io/WatermarkScope/" TargetMode="External"/><Relationship Id="rId9" Type="http://schemas.openxmlformats.org/officeDocument/2006/relationships/hyperlink" Target="https://github.com/Haoyi-Zhang/WatermarkScope/blob/main/scripts/viva_check.py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haoyi-zhang.github.io/WatermarkScope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haoyi-zhang.github.io/WatermarkScope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haoyi-zhang.github.io/WatermarkScope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haoyi-zhang.github.io/WatermarkScope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hyperlink" Target="https://github.com/Haoyi-Zhang/WatermarkScope" TargetMode="Externa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>
            <a:extLst>
              <a:ext uri="{FF2B5EF4-FFF2-40B4-BE49-F238E27FC236}">
                <a16:creationId xmlns:a16="http://schemas.microsoft.com/office/drawing/2014/main" id="{605EB9F9-65A1-0A21-5B36-D24B797A052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B7A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kicker">
            <a:extLst>
              <a:ext uri="{FF2B5EF4-FFF2-40B4-BE49-F238E27FC236}">
                <a16:creationId xmlns:a16="http://schemas.microsoft.com/office/drawing/2014/main" id="{2B757DB6-F506-04B7-52A7-489F3875D2C2}"/>
              </a:ext>
            </a:extLst>
          </p:cNvPr>
          <p:cNvSpPr txBox="1"/>
          <p:nvPr/>
        </p:nvSpPr>
        <p:spPr>
          <a:xfrm>
            <a:off x="939800" y="10414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00" b="1">
                <a:solidFill>
                  <a:srgbClr val="CDE2FA"/>
                </a:solidFill>
                <a:latin typeface="Aptos" panose="020B0004020202020204" pitchFamily="34" charset="0"/>
              </a:rPr>
              <a:t>FINAL YEAR PROJECT VIVA</a:t>
            </a:r>
            <a:endParaRPr lang="zh-CN" altLang="en-US" sz="1000" b="1">
              <a:solidFill>
                <a:srgbClr val="CDE2FA"/>
              </a:solidFill>
              <a:latin typeface="Aptos" panose="020B0004020202020204" pitchFamily="34" charset="0"/>
            </a:endParaRP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C4E74D29-464D-5C62-C482-624F12B73F03}"/>
              </a:ext>
            </a:extLst>
          </p:cNvPr>
          <p:cNvSpPr txBox="1"/>
          <p:nvPr/>
        </p:nvSpPr>
        <p:spPr>
          <a:xfrm>
            <a:off x="939800" y="1600200"/>
            <a:ext cx="9702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800" b="1">
                <a:solidFill>
                  <a:srgbClr val="FFFFFF"/>
                </a:solidFill>
                <a:latin typeface="Aptos" panose="020B0004020202020204" pitchFamily="34" charset="0"/>
              </a:rPr>
              <a:t>WatermarkScope:
A Benchmark-to-Audit Framework for Source-Code Watermarking in Code Generation Models</a:t>
            </a:r>
            <a:endParaRPr lang="zh-CN" altLang="en-US" sz="28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cxnSp>
        <p:nvCxnSpPr>
          <p:cNvPr id="5" name="rule">
            <a:extLst>
              <a:ext uri="{FF2B5EF4-FFF2-40B4-BE49-F238E27FC236}">
                <a16:creationId xmlns:a16="http://schemas.microsoft.com/office/drawing/2014/main" id="{E80B276D-8E0F-1A0A-3991-08C8275C58CD}"/>
              </a:ext>
            </a:extLst>
          </p:cNvPr>
          <p:cNvCxnSpPr/>
          <p:nvPr/>
        </p:nvCxnSpPr>
        <p:spPr>
          <a:xfrm>
            <a:off x="939800" y="3683000"/>
            <a:ext cx="5689600" cy="0"/>
          </a:xfrm>
          <a:prstGeom prst="line">
            <a:avLst/>
          </a:prstGeom>
          <a:ln w="15240">
            <a:solidFill>
              <a:srgbClr val="B5D3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meta">
            <a:extLst>
              <a:ext uri="{FF2B5EF4-FFF2-40B4-BE49-F238E27FC236}">
                <a16:creationId xmlns:a16="http://schemas.microsoft.com/office/drawing/2014/main" id="{4141FB6F-76B9-BCCB-9C8B-751A36A71B7C}"/>
              </a:ext>
            </a:extLst>
          </p:cNvPr>
          <p:cNvSpPr txBox="1"/>
          <p:nvPr/>
        </p:nvSpPr>
        <p:spPr>
          <a:xfrm>
            <a:off x="939800" y="4140200"/>
            <a:ext cx="533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450" b="1">
                <a:solidFill>
                  <a:srgbClr val="DDEBFC"/>
                </a:solidFill>
                <a:latin typeface="Aptos" panose="020B0004020202020204" pitchFamily="34" charset="0"/>
              </a:rPr>
              <a:t>Haoyi Zhang | 2254912
Supervisor: Md Maruf Hasan
Final Year Project Report
Viva: May 2026</a:t>
            </a:r>
            <a:endParaRPr lang="zh-CN" altLang="en-US" sz="1450" b="1">
              <a:solidFill>
                <a:srgbClr val="DDEBFC"/>
              </a:solidFill>
              <a:latin typeface="Aptos" panose="020B0004020202020204" pitchFamily="34" charset="0"/>
            </a:endParaRPr>
          </a:p>
        </p:txBody>
      </p:sp>
      <p:sp>
        <p:nvSpPr>
          <p:cNvPr id="7" name="small">
            <a:extLst>
              <a:ext uri="{FF2B5EF4-FFF2-40B4-BE49-F238E27FC236}">
                <a16:creationId xmlns:a16="http://schemas.microsoft.com/office/drawing/2014/main" id="{F06C9955-5E93-3049-C9EC-A38FCFE4EEC1}"/>
              </a:ext>
            </a:extLst>
          </p:cNvPr>
          <p:cNvSpPr txBox="1"/>
          <p:nvPr/>
        </p:nvSpPr>
        <p:spPr>
          <a:xfrm>
            <a:off x="939800" y="54102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20">
                <a:solidFill>
                  <a:srgbClr val="BDD6F4"/>
                </a:solidFill>
                <a:latin typeface="Aptos" panose="020B0004020202020204" pitchFamily="34" charset="0"/>
              </a:rPr>
              <a:t>Project page and repository are shown later in the deck.</a:t>
            </a:r>
            <a:endParaRPr lang="zh-CN" altLang="en-US" sz="920">
              <a:solidFill>
                <a:srgbClr val="BDD6F4"/>
              </a:solidFill>
              <a:latin typeface="Aptos" panose="020B0004020202020204" pitchFamily="34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3C2DCA29-4F4D-C814-2E73-C517B0D42D0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4800" y="5918200"/>
            <a:ext cx="2108200" cy="571500"/>
          </a:xfrm>
          <a:prstGeom prst="rect">
            <a:avLst/>
          </a:prstGeom>
        </p:spPr>
      </p:pic>
      <p:sp>
        <p:nvSpPr>
          <p:cNvPr id="10" name="footer-hit-1">
            <a:hlinkClick r:id="rId4"/>
            <a:extLst>
              <a:ext uri="{FF2B5EF4-FFF2-40B4-BE49-F238E27FC236}">
                <a16:creationId xmlns:a16="http://schemas.microsoft.com/office/drawing/2014/main" id="{71330AA5-47D7-609A-D691-E944803C1E2D}"/>
              </a:ext>
            </a:extLst>
          </p:cNvPr>
          <p:cNvSpPr/>
          <p:nvPr/>
        </p:nvSpPr>
        <p:spPr>
          <a:xfrm>
            <a:off x="685800" y="6502400"/>
            <a:ext cx="3175000" cy="2286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72247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">
        <p:fade thruBlk="1"/>
      </p:transition>
    </mc:Choice>
    <mc:Fallback>
      <p:transition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>
            <a:extLst>
              <a:ext uri="{FF2B5EF4-FFF2-40B4-BE49-F238E27FC236}">
                <a16:creationId xmlns:a16="http://schemas.microsoft.com/office/drawing/2014/main" id="{8AA97356-01EC-9A50-8D34-53BF650EDC1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ail">
            <a:extLst>
              <a:ext uri="{FF2B5EF4-FFF2-40B4-BE49-F238E27FC236}">
                <a16:creationId xmlns:a16="http://schemas.microsoft.com/office/drawing/2014/main" id="{B4EF92EB-6B5F-778B-BB12-48F01E39567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003B7A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ection">
            <a:extLst>
              <a:ext uri="{FF2B5EF4-FFF2-40B4-BE49-F238E27FC236}">
                <a16:creationId xmlns:a16="http://schemas.microsoft.com/office/drawing/2014/main" id="{319857EF-610C-032C-83F6-53A60C39CD81}"/>
              </a:ext>
            </a:extLst>
          </p:cNvPr>
          <p:cNvSpPr txBox="1"/>
          <p:nvPr/>
        </p:nvSpPr>
        <p:spPr>
          <a:xfrm>
            <a:off x="736600" y="457200"/>
            <a:ext cx="355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003B7A"/>
                </a:solidFill>
                <a:latin typeface="Aptos" panose="020B0004020202020204" pitchFamily="34" charset="0"/>
              </a:rPr>
              <a:t>PROBLEM</a:t>
            </a:r>
            <a:endParaRPr lang="zh-CN" altLang="en-US" sz="85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5" name="num">
            <a:extLst>
              <a:ext uri="{FF2B5EF4-FFF2-40B4-BE49-F238E27FC236}">
                <a16:creationId xmlns:a16="http://schemas.microsoft.com/office/drawing/2014/main" id="{273076A1-5423-0BE5-2B20-EFD9661E2CAB}"/>
              </a:ext>
            </a:extLst>
          </p:cNvPr>
          <p:cNvSpPr txBox="1"/>
          <p:nvPr/>
        </p:nvSpPr>
        <p:spPr>
          <a:xfrm>
            <a:off x="11531600" y="4572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00">
                <a:solidFill>
                  <a:srgbClr val="4A5B78"/>
                </a:solidFill>
                <a:latin typeface="Aptos" panose="020B0004020202020204" pitchFamily="34" charset="0"/>
              </a:rPr>
              <a:t>02</a:t>
            </a:r>
            <a:endParaRPr lang="zh-CN" altLang="en-US" sz="70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6" name="top-rule">
            <a:extLst>
              <a:ext uri="{FF2B5EF4-FFF2-40B4-BE49-F238E27FC236}">
                <a16:creationId xmlns:a16="http://schemas.microsoft.com/office/drawing/2014/main" id="{9F928ED0-FBF0-BFB3-2D41-846BA094B5DB}"/>
              </a:ext>
            </a:extLst>
          </p:cNvPr>
          <p:cNvCxnSpPr/>
          <p:nvPr/>
        </p:nvCxnSpPr>
        <p:spPr>
          <a:xfrm>
            <a:off x="736600" y="1701800"/>
            <a:ext cx="10718800" cy="0"/>
          </a:xfrm>
          <a:prstGeom prst="line">
            <a:avLst/>
          </a:prstGeom>
          <a:ln w="12700">
            <a:solidFill>
              <a:srgbClr val="D3E1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">
            <a:extLst>
              <a:ext uri="{FF2B5EF4-FFF2-40B4-BE49-F238E27FC236}">
                <a16:creationId xmlns:a16="http://schemas.microsoft.com/office/drawing/2014/main" id="{1AC299B9-EDAD-9C31-67A0-5EDF3831D6EF}"/>
              </a:ext>
            </a:extLst>
          </p:cNvPr>
          <p:cNvSpPr txBox="1"/>
          <p:nvPr/>
        </p:nvSpPr>
        <p:spPr>
          <a:xfrm>
            <a:off x="736600" y="6527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WatermarkScope FYP Viva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8" name="student">
            <a:extLst>
              <a:ext uri="{FF2B5EF4-FFF2-40B4-BE49-F238E27FC236}">
                <a16:creationId xmlns:a16="http://schemas.microsoft.com/office/drawing/2014/main" id="{AB923498-0C4F-6D30-6E23-C07AE8C660A3}"/>
              </a:ext>
            </a:extLst>
          </p:cNvPr>
          <p:cNvSpPr txBox="1"/>
          <p:nvPr/>
        </p:nvSpPr>
        <p:spPr>
          <a:xfrm>
            <a:off x="4978400" y="65278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Haoyi Zhang | 2254912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33007615-9E6B-B5A9-2DDC-993D3AF9D8B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9600" y="6096000"/>
            <a:ext cx="1803400" cy="48260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EA8314F9-9840-0C2D-3CD4-99D316E1DAFC}"/>
              </a:ext>
            </a:extLst>
          </p:cNvPr>
          <p:cNvSpPr txBox="1"/>
          <p:nvPr/>
        </p:nvSpPr>
        <p:spPr>
          <a:xfrm>
            <a:off x="736600" y="838200"/>
            <a:ext cx="1054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700" b="1">
                <a:solidFill>
                  <a:srgbClr val="091C3E"/>
                </a:solidFill>
                <a:latin typeface="Aptos" panose="020B0004020202020204" pitchFamily="34" charset="0"/>
              </a:rPr>
              <a:t>Generated code does not stay in one place.</a:t>
            </a:r>
            <a:endParaRPr lang="zh-CN" altLang="en-US" sz="27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ABB3493A-B5FB-19AC-449A-4A6275CE0716}"/>
              </a:ext>
            </a:extLst>
          </p:cNvPr>
          <p:cNvSpPr txBox="1"/>
          <p:nvPr/>
        </p:nvSpPr>
        <p:spPr>
          <a:xfrm>
            <a:off x="787400" y="147320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80">
                <a:solidFill>
                  <a:srgbClr val="4A5B78"/>
                </a:solidFill>
                <a:latin typeface="Aptos" panose="020B0004020202020204" pitchFamily="34" charset="0"/>
              </a:rPr>
              <a:t>A watermark claim has to survive copying, editing, translation, and reuse.</a:t>
            </a:r>
            <a:endParaRPr lang="zh-CN" altLang="en-US" sz="118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3" name="p0-box">
            <a:extLst>
              <a:ext uri="{FF2B5EF4-FFF2-40B4-BE49-F238E27FC236}">
                <a16:creationId xmlns:a16="http://schemas.microsoft.com/office/drawing/2014/main" id="{3ECB7C4C-F0CC-A0DF-FE07-873086850639}"/>
              </a:ext>
            </a:extLst>
          </p:cNvPr>
          <p:cNvSpPr/>
          <p:nvPr/>
        </p:nvSpPr>
        <p:spPr>
          <a:xfrm>
            <a:off x="1016000" y="2362200"/>
            <a:ext cx="2133600" cy="1752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p0-bar">
            <a:extLst>
              <a:ext uri="{FF2B5EF4-FFF2-40B4-BE49-F238E27FC236}">
                <a16:creationId xmlns:a16="http://schemas.microsoft.com/office/drawing/2014/main" id="{4C5EF090-D4D4-2E6A-1456-25CC9C6C74B0}"/>
              </a:ext>
            </a:extLst>
          </p:cNvPr>
          <p:cNvSpPr/>
          <p:nvPr/>
        </p:nvSpPr>
        <p:spPr>
          <a:xfrm>
            <a:off x="1016000" y="2362200"/>
            <a:ext cx="2133600" cy="88900"/>
          </a:xfrm>
          <a:prstGeom prst="roundRect">
            <a:avLst/>
          </a:prstGeom>
          <a:solidFill>
            <a:srgbClr val="003B7A"/>
          </a:solidFill>
          <a:ln w="9525" cap="flat" cmpd="sng" algn="ctr">
            <a:solidFill>
              <a:srgbClr val="003B7A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p0-num">
            <a:extLst>
              <a:ext uri="{FF2B5EF4-FFF2-40B4-BE49-F238E27FC236}">
                <a16:creationId xmlns:a16="http://schemas.microsoft.com/office/drawing/2014/main" id="{A94F266A-D108-A191-F306-04E6C5558837}"/>
              </a:ext>
            </a:extLst>
          </p:cNvPr>
          <p:cNvSpPr txBox="1"/>
          <p:nvPr/>
        </p:nvSpPr>
        <p:spPr>
          <a:xfrm>
            <a:off x="1295400" y="27178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50" b="1">
                <a:solidFill>
                  <a:srgbClr val="003B7A"/>
                </a:solidFill>
                <a:latin typeface="Aptos" panose="020B0004020202020204" pitchFamily="34" charset="0"/>
              </a:rPr>
              <a:t>01</a:t>
            </a:r>
            <a:endParaRPr lang="zh-CN" altLang="en-US" sz="95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16" name="p0-title">
            <a:extLst>
              <a:ext uri="{FF2B5EF4-FFF2-40B4-BE49-F238E27FC236}">
                <a16:creationId xmlns:a16="http://schemas.microsoft.com/office/drawing/2014/main" id="{8E3AB378-4150-58D5-5B3B-E77166134A7F}"/>
              </a:ext>
            </a:extLst>
          </p:cNvPr>
          <p:cNvSpPr txBox="1"/>
          <p:nvPr/>
        </p:nvSpPr>
        <p:spPr>
          <a:xfrm>
            <a:off x="1778000" y="2705100"/>
            <a:ext cx="106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60" b="1">
                <a:solidFill>
                  <a:srgbClr val="091C3E"/>
                </a:solidFill>
                <a:latin typeface="Aptos" panose="020B0004020202020204" pitchFamily="34" charset="0"/>
              </a:rPr>
              <a:t>Generate</a:t>
            </a:r>
            <a:endParaRPr lang="zh-CN" altLang="en-US" sz="106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7" name="p0-text">
            <a:extLst>
              <a:ext uri="{FF2B5EF4-FFF2-40B4-BE49-F238E27FC236}">
                <a16:creationId xmlns:a16="http://schemas.microsoft.com/office/drawing/2014/main" id="{447AFA69-D97C-A3FF-716F-F51A4B654668}"/>
              </a:ext>
            </a:extLst>
          </p:cNvPr>
          <p:cNvSpPr txBox="1"/>
          <p:nvPr/>
        </p:nvSpPr>
        <p:spPr>
          <a:xfrm>
            <a:off x="1295400" y="31496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60">
                <a:solidFill>
                  <a:srgbClr val="4A5B78"/>
                </a:solidFill>
                <a:latin typeface="Aptos" panose="020B0004020202020204" pitchFamily="34" charset="0"/>
              </a:rPr>
              <a:t>model produces code</a:t>
            </a:r>
            <a:endParaRPr lang="zh-CN" altLang="en-US" sz="86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18" name="arr0">
            <a:extLst>
              <a:ext uri="{FF2B5EF4-FFF2-40B4-BE49-F238E27FC236}">
                <a16:creationId xmlns:a16="http://schemas.microsoft.com/office/drawing/2014/main" id="{5CB61BCC-9D2C-34DF-2AE4-1D47848DD155}"/>
              </a:ext>
            </a:extLst>
          </p:cNvPr>
          <p:cNvCxnSpPr/>
          <p:nvPr/>
        </p:nvCxnSpPr>
        <p:spPr>
          <a:xfrm>
            <a:off x="3225800" y="3238500"/>
            <a:ext cx="406400" cy="0"/>
          </a:xfrm>
          <a:prstGeom prst="line">
            <a:avLst/>
          </a:prstGeom>
          <a:ln w="17780">
            <a:solidFill>
              <a:srgbClr val="D3E1F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p1-box">
            <a:extLst>
              <a:ext uri="{FF2B5EF4-FFF2-40B4-BE49-F238E27FC236}">
                <a16:creationId xmlns:a16="http://schemas.microsoft.com/office/drawing/2014/main" id="{D387FDB0-8F5F-A959-6FC6-97013FC61374}"/>
              </a:ext>
            </a:extLst>
          </p:cNvPr>
          <p:cNvSpPr/>
          <p:nvPr/>
        </p:nvSpPr>
        <p:spPr>
          <a:xfrm>
            <a:off x="3733800" y="2362200"/>
            <a:ext cx="2133600" cy="1752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p1-bar">
            <a:extLst>
              <a:ext uri="{FF2B5EF4-FFF2-40B4-BE49-F238E27FC236}">
                <a16:creationId xmlns:a16="http://schemas.microsoft.com/office/drawing/2014/main" id="{A45AE20B-B101-DC43-DC7C-7FF0319BFCBF}"/>
              </a:ext>
            </a:extLst>
          </p:cNvPr>
          <p:cNvSpPr/>
          <p:nvPr/>
        </p:nvSpPr>
        <p:spPr>
          <a:xfrm>
            <a:off x="3733800" y="2362200"/>
            <a:ext cx="2133600" cy="88900"/>
          </a:xfrm>
          <a:prstGeom prst="roundRect">
            <a:avLst/>
          </a:prstGeom>
          <a:solidFill>
            <a:srgbClr val="168E8B"/>
          </a:solidFill>
          <a:ln w="9525" cap="flat" cmpd="sng" algn="ctr">
            <a:solidFill>
              <a:srgbClr val="168E8B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p1-num">
            <a:extLst>
              <a:ext uri="{FF2B5EF4-FFF2-40B4-BE49-F238E27FC236}">
                <a16:creationId xmlns:a16="http://schemas.microsoft.com/office/drawing/2014/main" id="{F3DEDAAB-BDB1-C37E-D4C2-3E49C9C52FAF}"/>
              </a:ext>
            </a:extLst>
          </p:cNvPr>
          <p:cNvSpPr txBox="1"/>
          <p:nvPr/>
        </p:nvSpPr>
        <p:spPr>
          <a:xfrm>
            <a:off x="4013200" y="27178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50" b="1">
                <a:solidFill>
                  <a:srgbClr val="168E8B"/>
                </a:solidFill>
                <a:latin typeface="Aptos" panose="020B0004020202020204" pitchFamily="34" charset="0"/>
              </a:rPr>
              <a:t>02</a:t>
            </a:r>
            <a:endParaRPr lang="zh-CN" altLang="en-US" sz="950" b="1">
              <a:solidFill>
                <a:srgbClr val="168E8B"/>
              </a:solidFill>
              <a:latin typeface="Aptos" panose="020B0004020202020204" pitchFamily="34" charset="0"/>
            </a:endParaRPr>
          </a:p>
        </p:txBody>
      </p:sp>
      <p:sp>
        <p:nvSpPr>
          <p:cNvPr id="22" name="p1-title">
            <a:extLst>
              <a:ext uri="{FF2B5EF4-FFF2-40B4-BE49-F238E27FC236}">
                <a16:creationId xmlns:a16="http://schemas.microsoft.com/office/drawing/2014/main" id="{55491EE9-AADB-823C-66CD-F718C1807DDC}"/>
              </a:ext>
            </a:extLst>
          </p:cNvPr>
          <p:cNvSpPr txBox="1"/>
          <p:nvPr/>
        </p:nvSpPr>
        <p:spPr>
          <a:xfrm>
            <a:off x="4495800" y="2705100"/>
            <a:ext cx="106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60" b="1">
                <a:solidFill>
                  <a:srgbClr val="091C3E"/>
                </a:solidFill>
                <a:latin typeface="Aptos" panose="020B0004020202020204" pitchFamily="34" charset="0"/>
              </a:rPr>
              <a:t>Move</a:t>
            </a:r>
            <a:endParaRPr lang="zh-CN" altLang="en-US" sz="106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3" name="p1-text">
            <a:extLst>
              <a:ext uri="{FF2B5EF4-FFF2-40B4-BE49-F238E27FC236}">
                <a16:creationId xmlns:a16="http://schemas.microsoft.com/office/drawing/2014/main" id="{5B7A2D18-13AF-2E71-4326-EB76A7C8FBC8}"/>
              </a:ext>
            </a:extLst>
          </p:cNvPr>
          <p:cNvSpPr txBox="1"/>
          <p:nvPr/>
        </p:nvSpPr>
        <p:spPr>
          <a:xfrm>
            <a:off x="4013200" y="31496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60">
                <a:solidFill>
                  <a:srgbClr val="4A5B78"/>
                </a:solidFill>
                <a:latin typeface="Aptos" panose="020B0004020202020204" pitchFamily="34" charset="0"/>
              </a:rPr>
              <a:t>copy, edit, translate</a:t>
            </a:r>
            <a:endParaRPr lang="zh-CN" altLang="en-US" sz="86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24" name="arr1">
            <a:extLst>
              <a:ext uri="{FF2B5EF4-FFF2-40B4-BE49-F238E27FC236}">
                <a16:creationId xmlns:a16="http://schemas.microsoft.com/office/drawing/2014/main" id="{77C56DF5-F3CA-7173-75B1-5AFB3CEF7BDA}"/>
              </a:ext>
            </a:extLst>
          </p:cNvPr>
          <p:cNvCxnSpPr/>
          <p:nvPr/>
        </p:nvCxnSpPr>
        <p:spPr>
          <a:xfrm>
            <a:off x="5943600" y="3238500"/>
            <a:ext cx="406400" cy="0"/>
          </a:xfrm>
          <a:prstGeom prst="line">
            <a:avLst/>
          </a:prstGeom>
          <a:ln w="17780">
            <a:solidFill>
              <a:srgbClr val="D3E1F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p2-box">
            <a:extLst>
              <a:ext uri="{FF2B5EF4-FFF2-40B4-BE49-F238E27FC236}">
                <a16:creationId xmlns:a16="http://schemas.microsoft.com/office/drawing/2014/main" id="{D2E4F9E4-F22B-1213-DBCA-C6A98782B7B9}"/>
              </a:ext>
            </a:extLst>
          </p:cNvPr>
          <p:cNvSpPr/>
          <p:nvPr/>
        </p:nvSpPr>
        <p:spPr>
          <a:xfrm>
            <a:off x="6451600" y="2362200"/>
            <a:ext cx="2133600" cy="1752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p2-bar">
            <a:extLst>
              <a:ext uri="{FF2B5EF4-FFF2-40B4-BE49-F238E27FC236}">
                <a16:creationId xmlns:a16="http://schemas.microsoft.com/office/drawing/2014/main" id="{CA256542-6C68-8695-CF9C-94A288CB96AD}"/>
              </a:ext>
            </a:extLst>
          </p:cNvPr>
          <p:cNvSpPr/>
          <p:nvPr/>
        </p:nvSpPr>
        <p:spPr>
          <a:xfrm>
            <a:off x="6451600" y="2362200"/>
            <a:ext cx="2133600" cy="88900"/>
          </a:xfrm>
          <a:prstGeom prst="roundRect">
            <a:avLst/>
          </a:prstGeom>
          <a:solidFill>
            <a:srgbClr val="B85C00"/>
          </a:solidFill>
          <a:ln w="9525" cap="flat" cmpd="sng" algn="ctr">
            <a:solidFill>
              <a:srgbClr val="B85C00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p2-num">
            <a:extLst>
              <a:ext uri="{FF2B5EF4-FFF2-40B4-BE49-F238E27FC236}">
                <a16:creationId xmlns:a16="http://schemas.microsoft.com/office/drawing/2014/main" id="{8BD3740A-4077-D0AB-2B6F-594A5F499C77}"/>
              </a:ext>
            </a:extLst>
          </p:cNvPr>
          <p:cNvSpPr txBox="1"/>
          <p:nvPr/>
        </p:nvSpPr>
        <p:spPr>
          <a:xfrm>
            <a:off x="6731000" y="27178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50" b="1">
                <a:solidFill>
                  <a:srgbClr val="B85C00"/>
                </a:solidFill>
                <a:latin typeface="Aptos" panose="020B0004020202020204" pitchFamily="34" charset="0"/>
              </a:rPr>
              <a:t>03</a:t>
            </a:r>
            <a:endParaRPr lang="zh-CN" altLang="en-US" sz="950" b="1">
              <a:solidFill>
                <a:srgbClr val="B85C00"/>
              </a:solidFill>
              <a:latin typeface="Aptos" panose="020B0004020202020204" pitchFamily="34" charset="0"/>
            </a:endParaRPr>
          </a:p>
        </p:txBody>
      </p:sp>
      <p:sp>
        <p:nvSpPr>
          <p:cNvPr id="28" name="p2-title">
            <a:extLst>
              <a:ext uri="{FF2B5EF4-FFF2-40B4-BE49-F238E27FC236}">
                <a16:creationId xmlns:a16="http://schemas.microsoft.com/office/drawing/2014/main" id="{43EF0675-EDF7-82F3-1DF0-4839E9FBF492}"/>
              </a:ext>
            </a:extLst>
          </p:cNvPr>
          <p:cNvSpPr txBox="1"/>
          <p:nvPr/>
        </p:nvSpPr>
        <p:spPr>
          <a:xfrm>
            <a:off x="7213600" y="2705100"/>
            <a:ext cx="106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60" b="1">
                <a:solidFill>
                  <a:srgbClr val="091C3E"/>
                </a:solidFill>
                <a:latin typeface="Aptos" panose="020B0004020202020204" pitchFamily="34" charset="0"/>
              </a:rPr>
              <a:t>Reuse</a:t>
            </a:r>
            <a:endParaRPr lang="zh-CN" altLang="en-US" sz="106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9" name="p2-text">
            <a:extLst>
              <a:ext uri="{FF2B5EF4-FFF2-40B4-BE49-F238E27FC236}">
                <a16:creationId xmlns:a16="http://schemas.microsoft.com/office/drawing/2014/main" id="{4BB23ADD-53A1-5F02-627A-4668944F22A4}"/>
              </a:ext>
            </a:extLst>
          </p:cNvPr>
          <p:cNvSpPr txBox="1"/>
          <p:nvPr/>
        </p:nvSpPr>
        <p:spPr>
          <a:xfrm>
            <a:off x="6731000" y="31496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60">
                <a:solidFill>
                  <a:srgbClr val="4A5B78"/>
                </a:solidFill>
                <a:latin typeface="Aptos" panose="020B0004020202020204" pitchFamily="34" charset="0"/>
              </a:rPr>
              <a:t>deploy outside session</a:t>
            </a:r>
            <a:endParaRPr lang="zh-CN" altLang="en-US" sz="86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30" name="arr2">
            <a:extLst>
              <a:ext uri="{FF2B5EF4-FFF2-40B4-BE49-F238E27FC236}">
                <a16:creationId xmlns:a16="http://schemas.microsoft.com/office/drawing/2014/main" id="{E60001C1-0FC6-DD13-1286-456DDAE97755}"/>
              </a:ext>
            </a:extLst>
          </p:cNvPr>
          <p:cNvCxnSpPr/>
          <p:nvPr/>
        </p:nvCxnSpPr>
        <p:spPr>
          <a:xfrm>
            <a:off x="8661400" y="3238500"/>
            <a:ext cx="406400" cy="0"/>
          </a:xfrm>
          <a:prstGeom prst="line">
            <a:avLst/>
          </a:prstGeom>
          <a:ln w="17780">
            <a:solidFill>
              <a:srgbClr val="D3E1F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p3-box">
            <a:extLst>
              <a:ext uri="{FF2B5EF4-FFF2-40B4-BE49-F238E27FC236}">
                <a16:creationId xmlns:a16="http://schemas.microsoft.com/office/drawing/2014/main" id="{ECA1ED81-8AA2-0816-D46C-5CDBBFD9FC54}"/>
              </a:ext>
            </a:extLst>
          </p:cNvPr>
          <p:cNvSpPr/>
          <p:nvPr/>
        </p:nvSpPr>
        <p:spPr>
          <a:xfrm>
            <a:off x="9169400" y="2362200"/>
            <a:ext cx="2133600" cy="1752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p3-bar">
            <a:extLst>
              <a:ext uri="{FF2B5EF4-FFF2-40B4-BE49-F238E27FC236}">
                <a16:creationId xmlns:a16="http://schemas.microsoft.com/office/drawing/2014/main" id="{0A1CC5CF-C180-201F-B9C6-8162177CF63A}"/>
              </a:ext>
            </a:extLst>
          </p:cNvPr>
          <p:cNvSpPr/>
          <p:nvPr/>
        </p:nvSpPr>
        <p:spPr>
          <a:xfrm>
            <a:off x="9169400" y="2362200"/>
            <a:ext cx="2133600" cy="88900"/>
          </a:xfrm>
          <a:prstGeom prst="roundRect">
            <a:avLst/>
          </a:prstGeom>
          <a:solidFill>
            <a:srgbClr val="1F7A4D"/>
          </a:solidFill>
          <a:ln w="9525" cap="flat" cmpd="sng" algn="ctr">
            <a:solidFill>
              <a:srgbClr val="1F7A4D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p3-num">
            <a:extLst>
              <a:ext uri="{FF2B5EF4-FFF2-40B4-BE49-F238E27FC236}">
                <a16:creationId xmlns:a16="http://schemas.microsoft.com/office/drawing/2014/main" id="{916A0616-5150-B47D-91EA-A29B3729B443}"/>
              </a:ext>
            </a:extLst>
          </p:cNvPr>
          <p:cNvSpPr txBox="1"/>
          <p:nvPr/>
        </p:nvSpPr>
        <p:spPr>
          <a:xfrm>
            <a:off x="9448800" y="27178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50" b="1">
                <a:solidFill>
                  <a:srgbClr val="1F7A4D"/>
                </a:solidFill>
                <a:latin typeface="Aptos" panose="020B0004020202020204" pitchFamily="34" charset="0"/>
              </a:rPr>
              <a:t>04</a:t>
            </a:r>
            <a:endParaRPr lang="zh-CN" altLang="en-US" sz="950" b="1">
              <a:solidFill>
                <a:srgbClr val="1F7A4D"/>
              </a:solidFill>
              <a:latin typeface="Aptos" panose="020B0004020202020204" pitchFamily="34" charset="0"/>
            </a:endParaRPr>
          </a:p>
        </p:txBody>
      </p:sp>
      <p:sp>
        <p:nvSpPr>
          <p:cNvPr id="34" name="p3-title">
            <a:extLst>
              <a:ext uri="{FF2B5EF4-FFF2-40B4-BE49-F238E27FC236}">
                <a16:creationId xmlns:a16="http://schemas.microsoft.com/office/drawing/2014/main" id="{C4EA0648-391B-2131-7031-B70290337A61}"/>
              </a:ext>
            </a:extLst>
          </p:cNvPr>
          <p:cNvSpPr txBox="1"/>
          <p:nvPr/>
        </p:nvSpPr>
        <p:spPr>
          <a:xfrm>
            <a:off x="9931400" y="2705100"/>
            <a:ext cx="106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60" b="1">
                <a:solidFill>
                  <a:srgbClr val="091C3E"/>
                </a:solidFill>
                <a:latin typeface="Aptos" panose="020B0004020202020204" pitchFamily="34" charset="0"/>
              </a:rPr>
              <a:t>Ask</a:t>
            </a:r>
            <a:endParaRPr lang="zh-CN" altLang="en-US" sz="106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35" name="p3-text">
            <a:extLst>
              <a:ext uri="{FF2B5EF4-FFF2-40B4-BE49-F238E27FC236}">
                <a16:creationId xmlns:a16="http://schemas.microsoft.com/office/drawing/2014/main" id="{A2DCB6B2-ED94-D6DC-E1C2-36BFB359E9CD}"/>
              </a:ext>
            </a:extLst>
          </p:cNvPr>
          <p:cNvSpPr txBox="1"/>
          <p:nvPr/>
        </p:nvSpPr>
        <p:spPr>
          <a:xfrm>
            <a:off x="9448800" y="31496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60">
                <a:solidFill>
                  <a:srgbClr val="4A5B78"/>
                </a:solidFill>
                <a:latin typeface="Aptos" panose="020B0004020202020204" pitchFamily="34" charset="0"/>
              </a:rPr>
              <a:t>who can claim provenance?</a:t>
            </a:r>
            <a:endParaRPr lang="zh-CN" altLang="en-US" sz="86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36" name="take">
            <a:extLst>
              <a:ext uri="{FF2B5EF4-FFF2-40B4-BE49-F238E27FC236}">
                <a16:creationId xmlns:a16="http://schemas.microsoft.com/office/drawing/2014/main" id="{4453CE74-AEC6-C17B-49D8-73455797CD93}"/>
              </a:ext>
            </a:extLst>
          </p:cNvPr>
          <p:cNvSpPr/>
          <p:nvPr/>
        </p:nvSpPr>
        <p:spPr>
          <a:xfrm>
            <a:off x="1651000" y="5054600"/>
            <a:ext cx="8890000" cy="533400"/>
          </a:xfrm>
          <a:prstGeom prst="roundRect">
            <a:avLst/>
          </a:prstGeom>
          <a:solidFill>
            <a:srgbClr val="FFF7E0"/>
          </a:solidFill>
          <a:ln w="9525" cap="flat" cmpd="sng" algn="ctr">
            <a:solidFill>
              <a:srgbClr val="F4C249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take-t">
            <a:extLst>
              <a:ext uri="{FF2B5EF4-FFF2-40B4-BE49-F238E27FC236}">
                <a16:creationId xmlns:a16="http://schemas.microsoft.com/office/drawing/2014/main" id="{4F8F3789-6401-93B1-3A9A-02A868EF7B93}"/>
              </a:ext>
            </a:extLst>
          </p:cNvPr>
          <p:cNvSpPr txBox="1"/>
          <p:nvPr/>
        </p:nvSpPr>
        <p:spPr>
          <a:xfrm>
            <a:off x="2082800" y="5207000"/>
            <a:ext cx="802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00" b="1">
                <a:solidFill>
                  <a:srgbClr val="091C3E"/>
                </a:solidFill>
                <a:latin typeface="Aptos" panose="020B0004020202020204" pitchFamily="34" charset="0"/>
              </a:rPr>
              <a:t>The hard part is not only detecting a mark; it is knowing what the evidence can honestly support.</a:t>
            </a:r>
            <a:endParaRPr lang="zh-CN" altLang="en-US" sz="11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38" name="footer-hit-2">
            <a:hlinkClick r:id="rId4"/>
            <a:extLst>
              <a:ext uri="{FF2B5EF4-FFF2-40B4-BE49-F238E27FC236}">
                <a16:creationId xmlns:a16="http://schemas.microsoft.com/office/drawing/2014/main" id="{0CEA24CE-BD32-8F0A-541A-F028FC154B7B}"/>
              </a:ext>
            </a:extLst>
          </p:cNvPr>
          <p:cNvSpPr/>
          <p:nvPr/>
        </p:nvSpPr>
        <p:spPr>
          <a:xfrm>
            <a:off x="685800" y="6502400"/>
            <a:ext cx="3175000" cy="2286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7255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">
        <p:fade thruBlk="1"/>
      </p:transition>
    </mc:Choice>
    <mc:Fallback>
      <p:transition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8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6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4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2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98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16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34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2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7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88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6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3240"/>
                            </p:stCondLst>
                            <p:childTnLst>
                              <p:par>
                                <p:cTn id="7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42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6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78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396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4140"/>
                            </p:stCondLst>
                            <p:childTnLst>
                              <p:par>
                                <p:cTn id="9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1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432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4500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1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/>
      <p:bldP spid="16" grpId="0"/>
      <p:bldP spid="17" grpId="0"/>
      <p:bldP spid="19" grpId="0" animBg="1"/>
      <p:bldP spid="20" grpId="0" animBg="1"/>
      <p:bldP spid="21" grpId="0"/>
      <p:bldP spid="22" grpId="0"/>
      <p:bldP spid="23" grpId="0"/>
      <p:bldP spid="25" grpId="0" animBg="1"/>
      <p:bldP spid="26" grpId="0" animBg="1"/>
      <p:bldP spid="27" grpId="0"/>
      <p:bldP spid="28" grpId="0"/>
      <p:bldP spid="29" grpId="0"/>
      <p:bldP spid="31" grpId="0" animBg="1"/>
      <p:bldP spid="32" grpId="0" animBg="1"/>
      <p:bldP spid="33" grpId="0"/>
      <p:bldP spid="34" grpId="0"/>
      <p:bldP spid="35" grpId="0"/>
      <p:bldP spid="36" grpId="0" animBg="1"/>
      <p:bldP spid="3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>
            <a:extLst>
              <a:ext uri="{FF2B5EF4-FFF2-40B4-BE49-F238E27FC236}">
                <a16:creationId xmlns:a16="http://schemas.microsoft.com/office/drawing/2014/main" id="{BAA1638B-5189-202A-7BE1-EDA2ACFC125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ail">
            <a:extLst>
              <a:ext uri="{FF2B5EF4-FFF2-40B4-BE49-F238E27FC236}">
                <a16:creationId xmlns:a16="http://schemas.microsoft.com/office/drawing/2014/main" id="{F9B8C1D9-AC8B-37AD-650C-494697F69FF4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003B7A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ection">
            <a:extLst>
              <a:ext uri="{FF2B5EF4-FFF2-40B4-BE49-F238E27FC236}">
                <a16:creationId xmlns:a16="http://schemas.microsoft.com/office/drawing/2014/main" id="{E4512DDE-00E8-CDDF-CE20-482199A75B13}"/>
              </a:ext>
            </a:extLst>
          </p:cNvPr>
          <p:cNvSpPr txBox="1"/>
          <p:nvPr/>
        </p:nvSpPr>
        <p:spPr>
          <a:xfrm>
            <a:off x="736600" y="457200"/>
            <a:ext cx="355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003B7A"/>
                </a:solidFill>
                <a:latin typeface="Aptos" panose="020B0004020202020204" pitchFamily="34" charset="0"/>
              </a:rPr>
              <a:t>RESEARCH GAP</a:t>
            </a:r>
            <a:endParaRPr lang="zh-CN" altLang="en-US" sz="85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5" name="num">
            <a:extLst>
              <a:ext uri="{FF2B5EF4-FFF2-40B4-BE49-F238E27FC236}">
                <a16:creationId xmlns:a16="http://schemas.microsoft.com/office/drawing/2014/main" id="{3A96B82F-079E-6BB0-57D8-4EF8E9EDE7DD}"/>
              </a:ext>
            </a:extLst>
          </p:cNvPr>
          <p:cNvSpPr txBox="1"/>
          <p:nvPr/>
        </p:nvSpPr>
        <p:spPr>
          <a:xfrm>
            <a:off x="11531600" y="4572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00">
                <a:solidFill>
                  <a:srgbClr val="4A5B78"/>
                </a:solidFill>
                <a:latin typeface="Aptos" panose="020B0004020202020204" pitchFamily="34" charset="0"/>
              </a:rPr>
              <a:t>03</a:t>
            </a:r>
            <a:endParaRPr lang="zh-CN" altLang="en-US" sz="70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6" name="top-rule">
            <a:extLst>
              <a:ext uri="{FF2B5EF4-FFF2-40B4-BE49-F238E27FC236}">
                <a16:creationId xmlns:a16="http://schemas.microsoft.com/office/drawing/2014/main" id="{F54B91D7-5C16-7F54-78D2-F2DB34CA0621}"/>
              </a:ext>
            </a:extLst>
          </p:cNvPr>
          <p:cNvCxnSpPr/>
          <p:nvPr/>
        </p:nvCxnSpPr>
        <p:spPr>
          <a:xfrm>
            <a:off x="736600" y="1701800"/>
            <a:ext cx="10718800" cy="0"/>
          </a:xfrm>
          <a:prstGeom prst="line">
            <a:avLst/>
          </a:prstGeom>
          <a:ln w="12700">
            <a:solidFill>
              <a:srgbClr val="D3E1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">
            <a:extLst>
              <a:ext uri="{FF2B5EF4-FFF2-40B4-BE49-F238E27FC236}">
                <a16:creationId xmlns:a16="http://schemas.microsoft.com/office/drawing/2014/main" id="{786469B6-BB1E-E8C2-8D4D-13D384FA7875}"/>
              </a:ext>
            </a:extLst>
          </p:cNvPr>
          <p:cNvSpPr txBox="1"/>
          <p:nvPr/>
        </p:nvSpPr>
        <p:spPr>
          <a:xfrm>
            <a:off x="736600" y="6527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WatermarkScope FYP Viva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8" name="student">
            <a:extLst>
              <a:ext uri="{FF2B5EF4-FFF2-40B4-BE49-F238E27FC236}">
                <a16:creationId xmlns:a16="http://schemas.microsoft.com/office/drawing/2014/main" id="{595DA25C-9D0F-3D7F-1FE8-7DBCB16418B3}"/>
              </a:ext>
            </a:extLst>
          </p:cNvPr>
          <p:cNvSpPr txBox="1"/>
          <p:nvPr/>
        </p:nvSpPr>
        <p:spPr>
          <a:xfrm>
            <a:off x="4978400" y="65278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Haoyi Zhang | 2254912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BB6CD0EA-D6D6-8ABA-4AFC-CFBE31A217F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9600" y="6096000"/>
            <a:ext cx="1803400" cy="48260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2E862C3A-5D3B-C929-BB08-C7DF927960B0}"/>
              </a:ext>
            </a:extLst>
          </p:cNvPr>
          <p:cNvSpPr txBox="1"/>
          <p:nvPr/>
        </p:nvSpPr>
        <p:spPr>
          <a:xfrm>
            <a:off x="736600" y="838200"/>
            <a:ext cx="1054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700" b="1">
                <a:solidFill>
                  <a:srgbClr val="091C3E"/>
                </a:solidFill>
                <a:latin typeface="Aptos" panose="020B0004020202020204" pitchFamily="34" charset="0"/>
              </a:rPr>
              <a:t>A detector score is not a claim.</a:t>
            </a:r>
            <a:endParaRPr lang="zh-CN" altLang="en-US" sz="27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1A7EFE85-594C-19C6-27C4-9501E11B41C5}"/>
              </a:ext>
            </a:extLst>
          </p:cNvPr>
          <p:cNvSpPr txBox="1"/>
          <p:nvPr/>
        </p:nvSpPr>
        <p:spPr>
          <a:xfrm>
            <a:off x="787400" y="147320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80">
                <a:solidFill>
                  <a:srgbClr val="4A5B78"/>
                </a:solidFill>
                <a:latin typeface="Aptos" panose="020B0004020202020204" pitchFamily="34" charset="0"/>
              </a:rPr>
              <a:t>The missing layer is evidence admission: denominator, controls, artifact, access, and boundary.</a:t>
            </a:r>
            <a:endParaRPr lang="zh-CN" altLang="en-US" sz="118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3" name="score">
            <a:extLst>
              <a:ext uri="{FF2B5EF4-FFF2-40B4-BE49-F238E27FC236}">
                <a16:creationId xmlns:a16="http://schemas.microsoft.com/office/drawing/2014/main" id="{4588F54B-E792-7E13-0E9B-FFB56CFDCD28}"/>
              </a:ext>
            </a:extLst>
          </p:cNvPr>
          <p:cNvSpPr/>
          <p:nvPr/>
        </p:nvSpPr>
        <p:spPr>
          <a:xfrm>
            <a:off x="1219200" y="2336800"/>
            <a:ext cx="3429000" cy="1803400"/>
          </a:xfrm>
          <a:prstGeom prst="roundRect">
            <a:avLst/>
          </a:prstGeom>
          <a:solidFill>
            <a:srgbClr val="FFF0F4"/>
          </a:solidFill>
          <a:ln w="9525" cap="flat" cmpd="sng" algn="ctr">
            <a:solidFill>
              <a:srgbClr val="EEB5BF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score-k">
            <a:extLst>
              <a:ext uri="{FF2B5EF4-FFF2-40B4-BE49-F238E27FC236}">
                <a16:creationId xmlns:a16="http://schemas.microsoft.com/office/drawing/2014/main" id="{8F67EAB1-EF4F-485C-1EC5-19B2310B4A25}"/>
              </a:ext>
            </a:extLst>
          </p:cNvPr>
          <p:cNvSpPr txBox="1"/>
          <p:nvPr/>
        </p:nvSpPr>
        <p:spPr>
          <a:xfrm>
            <a:off x="1625600" y="27178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00" b="1">
                <a:solidFill>
                  <a:srgbClr val="B92C41"/>
                </a:solidFill>
                <a:latin typeface="Aptos" panose="020B0004020202020204" pitchFamily="34" charset="0"/>
              </a:rPr>
              <a:t>score</a:t>
            </a:r>
            <a:endParaRPr lang="zh-CN" altLang="en-US" sz="900" b="1">
              <a:solidFill>
                <a:srgbClr val="B92C41"/>
              </a:solidFill>
              <a:latin typeface="Aptos" panose="020B0004020202020204" pitchFamily="34" charset="0"/>
            </a:endParaRPr>
          </a:p>
        </p:txBody>
      </p:sp>
      <p:sp>
        <p:nvSpPr>
          <p:cNvPr id="15" name="score-v">
            <a:extLst>
              <a:ext uri="{FF2B5EF4-FFF2-40B4-BE49-F238E27FC236}">
                <a16:creationId xmlns:a16="http://schemas.microsoft.com/office/drawing/2014/main" id="{12AA509A-7281-DED1-879B-9EF76BFBBAE3}"/>
              </a:ext>
            </a:extLst>
          </p:cNvPr>
          <p:cNvSpPr txBox="1"/>
          <p:nvPr/>
        </p:nvSpPr>
        <p:spPr>
          <a:xfrm>
            <a:off x="1625600" y="3200400"/>
            <a:ext cx="1803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3000" b="1">
                <a:solidFill>
                  <a:srgbClr val="B92C41"/>
                </a:solidFill>
                <a:latin typeface="Aptos" panose="020B0004020202020204" pitchFamily="34" charset="0"/>
              </a:rPr>
              <a:t>0.93</a:t>
            </a:r>
            <a:endParaRPr lang="zh-CN" altLang="en-US" sz="3000" b="1">
              <a:solidFill>
                <a:srgbClr val="B92C41"/>
              </a:solidFill>
              <a:latin typeface="Aptos" panose="020B0004020202020204" pitchFamily="34" charset="0"/>
            </a:endParaRPr>
          </a:p>
        </p:txBody>
      </p:sp>
      <p:sp>
        <p:nvSpPr>
          <p:cNvPr id="16" name="score-s">
            <a:extLst>
              <a:ext uri="{FF2B5EF4-FFF2-40B4-BE49-F238E27FC236}">
                <a16:creationId xmlns:a16="http://schemas.microsoft.com/office/drawing/2014/main" id="{6AAF1700-A3CE-A4FA-BA4D-0B4FCDB156F4}"/>
              </a:ext>
            </a:extLst>
          </p:cNvPr>
          <p:cNvSpPr txBox="1"/>
          <p:nvPr/>
        </p:nvSpPr>
        <p:spPr>
          <a:xfrm>
            <a:off x="1625600" y="3810000"/>
            <a:ext cx="215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50">
                <a:solidFill>
                  <a:srgbClr val="4A5B78"/>
                </a:solidFill>
                <a:latin typeface="Aptos" panose="020B0004020202020204" pitchFamily="34" charset="0"/>
              </a:rPr>
              <a:t>useful, but incomplete</a:t>
            </a:r>
            <a:endParaRPr lang="zh-CN" altLang="en-US" sz="95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17" name="gap-arrow">
            <a:extLst>
              <a:ext uri="{FF2B5EF4-FFF2-40B4-BE49-F238E27FC236}">
                <a16:creationId xmlns:a16="http://schemas.microsoft.com/office/drawing/2014/main" id="{11C96423-A375-46B9-D012-C6E2BCBC5798}"/>
              </a:ext>
            </a:extLst>
          </p:cNvPr>
          <p:cNvCxnSpPr/>
          <p:nvPr/>
        </p:nvCxnSpPr>
        <p:spPr>
          <a:xfrm>
            <a:off x="5105400" y="3238500"/>
            <a:ext cx="1320800" cy="0"/>
          </a:xfrm>
          <a:prstGeom prst="line">
            <a:avLst/>
          </a:prstGeom>
          <a:ln w="25400">
            <a:solidFill>
              <a:srgbClr val="4A5B7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laim">
            <a:extLst>
              <a:ext uri="{FF2B5EF4-FFF2-40B4-BE49-F238E27FC236}">
                <a16:creationId xmlns:a16="http://schemas.microsoft.com/office/drawing/2014/main" id="{B47152ED-AF07-B629-A295-A6D19249B19F}"/>
              </a:ext>
            </a:extLst>
          </p:cNvPr>
          <p:cNvSpPr/>
          <p:nvPr/>
        </p:nvSpPr>
        <p:spPr>
          <a:xfrm>
            <a:off x="6959600" y="2108200"/>
            <a:ext cx="4013200" cy="2260600"/>
          </a:xfrm>
          <a:prstGeom prst="roundRect">
            <a:avLst/>
          </a:prstGeom>
          <a:solidFill>
            <a:srgbClr val="003B7A"/>
          </a:solidFill>
          <a:ln w="9525" cap="flat" cmpd="sng" algn="ctr">
            <a:solidFill>
              <a:srgbClr val="003B7A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laim-k">
            <a:extLst>
              <a:ext uri="{FF2B5EF4-FFF2-40B4-BE49-F238E27FC236}">
                <a16:creationId xmlns:a16="http://schemas.microsoft.com/office/drawing/2014/main" id="{3E35D50C-75B6-680D-5269-FE2EFE39C3BA}"/>
              </a:ext>
            </a:extLst>
          </p:cNvPr>
          <p:cNvSpPr txBox="1"/>
          <p:nvPr/>
        </p:nvSpPr>
        <p:spPr>
          <a:xfrm>
            <a:off x="7416800" y="25146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60" b="1">
                <a:solidFill>
                  <a:srgbClr val="CDE2FA"/>
                </a:solidFill>
                <a:latin typeface="Aptos" panose="020B0004020202020204" pitchFamily="34" charset="0"/>
              </a:rPr>
              <a:t>admitted evidence</a:t>
            </a:r>
            <a:endParaRPr lang="zh-CN" altLang="en-US" sz="860" b="1">
              <a:solidFill>
                <a:srgbClr val="CDE2FA"/>
              </a:solidFill>
              <a:latin typeface="Aptos" panose="020B0004020202020204" pitchFamily="34" charset="0"/>
            </a:endParaRPr>
          </a:p>
        </p:txBody>
      </p:sp>
      <p:sp>
        <p:nvSpPr>
          <p:cNvPr id="20" name="claim-v">
            <a:extLst>
              <a:ext uri="{FF2B5EF4-FFF2-40B4-BE49-F238E27FC236}">
                <a16:creationId xmlns:a16="http://schemas.microsoft.com/office/drawing/2014/main" id="{5E25A59A-2758-EA7C-DB5F-BC69E9192ECC}"/>
              </a:ext>
            </a:extLst>
          </p:cNvPr>
          <p:cNvSpPr txBox="1"/>
          <p:nvPr/>
        </p:nvSpPr>
        <p:spPr>
          <a:xfrm>
            <a:off x="7416800" y="30226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300" b="1">
                <a:solidFill>
                  <a:srgbClr val="FFFFFF"/>
                </a:solidFill>
                <a:latin typeface="Consolas" panose="020B0609020204030204" pitchFamily="49" charset="0"/>
              </a:rPr>
              <a:t>claim := f(E, B)</a:t>
            </a:r>
            <a:endParaRPr lang="zh-CN" altLang="en-US" sz="2300" b="1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claim-s">
            <a:extLst>
              <a:ext uri="{FF2B5EF4-FFF2-40B4-BE49-F238E27FC236}">
                <a16:creationId xmlns:a16="http://schemas.microsoft.com/office/drawing/2014/main" id="{EE0A0BBA-2BAC-956B-2034-063DAE336B0A}"/>
              </a:ext>
            </a:extLst>
          </p:cNvPr>
          <p:cNvSpPr txBox="1"/>
          <p:nvPr/>
        </p:nvSpPr>
        <p:spPr>
          <a:xfrm>
            <a:off x="7416800" y="3759200"/>
            <a:ext cx="2870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200" b="1">
                <a:solidFill>
                  <a:srgbClr val="DDEBFC"/>
                </a:solidFill>
                <a:latin typeface="Aptos" panose="020B0004020202020204" pitchFamily="34" charset="0"/>
              </a:rPr>
              <a:t>Evidence first. Interpretation second.</a:t>
            </a:r>
            <a:endParaRPr lang="zh-CN" altLang="en-US" sz="1200" b="1">
              <a:solidFill>
                <a:srgbClr val="DDEBFC"/>
              </a:solidFill>
              <a:latin typeface="Aptos" panose="020B0004020202020204" pitchFamily="34" charset="0"/>
            </a:endParaRPr>
          </a:p>
        </p:txBody>
      </p:sp>
      <p:sp>
        <p:nvSpPr>
          <p:cNvPr id="22" name="tags">
            <a:extLst>
              <a:ext uri="{FF2B5EF4-FFF2-40B4-BE49-F238E27FC236}">
                <a16:creationId xmlns:a16="http://schemas.microsoft.com/office/drawing/2014/main" id="{951D2759-1CA5-B803-BE61-5916E65951C5}"/>
              </a:ext>
            </a:extLst>
          </p:cNvPr>
          <p:cNvSpPr/>
          <p:nvPr/>
        </p:nvSpPr>
        <p:spPr>
          <a:xfrm>
            <a:off x="1854200" y="5105400"/>
            <a:ext cx="8483600" cy="431800"/>
          </a:xfrm>
          <a:prstGeom prst="roundRect">
            <a:avLst/>
          </a:prstGeom>
          <a:solidFill>
            <a:srgbClr val="F8FB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tags-t">
            <a:extLst>
              <a:ext uri="{FF2B5EF4-FFF2-40B4-BE49-F238E27FC236}">
                <a16:creationId xmlns:a16="http://schemas.microsoft.com/office/drawing/2014/main" id="{E3BD7D21-46DD-8D67-5E6E-F5679C475465}"/>
              </a:ext>
            </a:extLst>
          </p:cNvPr>
          <p:cNvSpPr txBox="1"/>
          <p:nvPr/>
        </p:nvSpPr>
        <p:spPr>
          <a:xfrm>
            <a:off x="2336800" y="5245100"/>
            <a:ext cx="7467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20" b="1">
                <a:solidFill>
                  <a:srgbClr val="091C3E"/>
                </a:solidFill>
                <a:latin typeface="Aptos" panose="020B0004020202020204" pitchFamily="34" charset="0"/>
              </a:rPr>
              <a:t>denominator + controls + artifact + hash + boundary</a:t>
            </a:r>
            <a:endParaRPr lang="zh-CN" altLang="en-US" sz="102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4" name="footer-hit-3">
            <a:hlinkClick r:id="rId4"/>
            <a:extLst>
              <a:ext uri="{FF2B5EF4-FFF2-40B4-BE49-F238E27FC236}">
                <a16:creationId xmlns:a16="http://schemas.microsoft.com/office/drawing/2014/main" id="{18305E35-CCD0-92FE-8A2B-EDC60057082A}"/>
              </a:ext>
            </a:extLst>
          </p:cNvPr>
          <p:cNvSpPr/>
          <p:nvPr/>
        </p:nvSpPr>
        <p:spPr>
          <a:xfrm>
            <a:off x="685800" y="6502400"/>
            <a:ext cx="3175000" cy="2286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7440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">
        <p:fade thruBlk="1"/>
      </p:transition>
    </mc:Choice>
    <mc:Fallback>
      <p:transition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2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6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4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2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/>
      <p:bldP spid="15" grpId="0"/>
      <p:bldP spid="16" grpId="0"/>
      <p:bldP spid="18" grpId="0" animBg="1"/>
      <p:bldP spid="19" grpId="0"/>
      <p:bldP spid="20" grpId="0"/>
      <p:bldP spid="21" grpId="0"/>
      <p:bldP spid="22" grpId="0" animBg="1"/>
      <p:bldP spid="2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>
            <a:extLst>
              <a:ext uri="{FF2B5EF4-FFF2-40B4-BE49-F238E27FC236}">
                <a16:creationId xmlns:a16="http://schemas.microsoft.com/office/drawing/2014/main" id="{865C57F4-B168-E8A4-C427-2EA853C95E9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ail">
            <a:extLst>
              <a:ext uri="{FF2B5EF4-FFF2-40B4-BE49-F238E27FC236}">
                <a16:creationId xmlns:a16="http://schemas.microsoft.com/office/drawing/2014/main" id="{72CA955A-D64A-9ED8-EFF0-E11AA9C6B518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003B7A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ection">
            <a:extLst>
              <a:ext uri="{FF2B5EF4-FFF2-40B4-BE49-F238E27FC236}">
                <a16:creationId xmlns:a16="http://schemas.microsoft.com/office/drawing/2014/main" id="{0D21622B-8D12-8D88-AB9D-A8116D88919D}"/>
              </a:ext>
            </a:extLst>
          </p:cNvPr>
          <p:cNvSpPr txBox="1"/>
          <p:nvPr/>
        </p:nvSpPr>
        <p:spPr>
          <a:xfrm>
            <a:off x="736600" y="457200"/>
            <a:ext cx="355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003B7A"/>
                </a:solidFill>
                <a:latin typeface="Aptos" panose="020B0004020202020204" pitchFamily="34" charset="0"/>
              </a:rPr>
              <a:t>BENCHMARK</a:t>
            </a:r>
            <a:endParaRPr lang="zh-CN" altLang="en-US" sz="85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5" name="num">
            <a:extLst>
              <a:ext uri="{FF2B5EF4-FFF2-40B4-BE49-F238E27FC236}">
                <a16:creationId xmlns:a16="http://schemas.microsoft.com/office/drawing/2014/main" id="{FE113DB3-B1E8-2416-7ECB-C2E22467EF7A}"/>
              </a:ext>
            </a:extLst>
          </p:cNvPr>
          <p:cNvSpPr txBox="1"/>
          <p:nvPr/>
        </p:nvSpPr>
        <p:spPr>
          <a:xfrm>
            <a:off x="11531600" y="4572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00">
                <a:solidFill>
                  <a:srgbClr val="4A5B78"/>
                </a:solidFill>
                <a:latin typeface="Aptos" panose="020B0004020202020204" pitchFamily="34" charset="0"/>
              </a:rPr>
              <a:t>04</a:t>
            </a:r>
            <a:endParaRPr lang="zh-CN" altLang="en-US" sz="70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6" name="top-rule">
            <a:extLst>
              <a:ext uri="{FF2B5EF4-FFF2-40B4-BE49-F238E27FC236}">
                <a16:creationId xmlns:a16="http://schemas.microsoft.com/office/drawing/2014/main" id="{322FC279-160A-B086-D9C7-8AB8B0F6CA36}"/>
              </a:ext>
            </a:extLst>
          </p:cNvPr>
          <p:cNvCxnSpPr/>
          <p:nvPr/>
        </p:nvCxnSpPr>
        <p:spPr>
          <a:xfrm>
            <a:off x="736600" y="1701800"/>
            <a:ext cx="10718800" cy="0"/>
          </a:xfrm>
          <a:prstGeom prst="line">
            <a:avLst/>
          </a:prstGeom>
          <a:ln w="12700">
            <a:solidFill>
              <a:srgbClr val="D3E1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">
            <a:extLst>
              <a:ext uri="{FF2B5EF4-FFF2-40B4-BE49-F238E27FC236}">
                <a16:creationId xmlns:a16="http://schemas.microsoft.com/office/drawing/2014/main" id="{22B5F725-917E-C301-42C5-8A7BF2F4D15C}"/>
              </a:ext>
            </a:extLst>
          </p:cNvPr>
          <p:cNvSpPr txBox="1"/>
          <p:nvPr/>
        </p:nvSpPr>
        <p:spPr>
          <a:xfrm>
            <a:off x="736600" y="6527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WatermarkScope FYP Viva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8" name="student">
            <a:extLst>
              <a:ext uri="{FF2B5EF4-FFF2-40B4-BE49-F238E27FC236}">
                <a16:creationId xmlns:a16="http://schemas.microsoft.com/office/drawing/2014/main" id="{E066B951-4175-F930-220C-4F7ED66C83FE}"/>
              </a:ext>
            </a:extLst>
          </p:cNvPr>
          <p:cNvSpPr txBox="1"/>
          <p:nvPr/>
        </p:nvSpPr>
        <p:spPr>
          <a:xfrm>
            <a:off x="4978400" y="65278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Haoyi Zhang | 2254912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3D7225D7-A94D-0DEB-130B-F4B8BD3E589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9600" y="6096000"/>
            <a:ext cx="1803400" cy="48260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B5E11109-23CF-1CDD-FA7F-1F6D63E9CE41}"/>
              </a:ext>
            </a:extLst>
          </p:cNvPr>
          <p:cNvSpPr txBox="1"/>
          <p:nvPr/>
        </p:nvSpPr>
        <p:spPr>
          <a:xfrm>
            <a:off x="736600" y="838200"/>
            <a:ext cx="1054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700" b="1">
                <a:solidFill>
                  <a:srgbClr val="091C3E"/>
                </a:solidFill>
                <a:latin typeface="Aptos" panose="020B0004020202020204" pitchFamily="34" charset="0"/>
              </a:rPr>
              <a:t>The denominator is fixed before interpretation.</a:t>
            </a:r>
            <a:endParaRPr lang="zh-CN" altLang="en-US" sz="27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B4E1427-4932-12D2-50C8-C59A2BC3F782}"/>
              </a:ext>
            </a:extLst>
          </p:cNvPr>
          <p:cNvSpPr txBox="1"/>
          <p:nvPr/>
        </p:nvSpPr>
        <p:spPr>
          <a:xfrm>
            <a:off x="787400" y="147320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80">
                <a:solidFill>
                  <a:srgbClr val="4A5B78"/>
                </a:solidFill>
                <a:latin typeface="Aptos" panose="020B0004020202020204" pitchFamily="34" charset="0"/>
              </a:rPr>
              <a:t>CodeMarkBench turns code-watermark evaluation into executable rows.</a:t>
            </a:r>
            <a:endParaRPr lang="zh-CN" altLang="en-US" sz="118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3" name="big">
            <a:extLst>
              <a:ext uri="{FF2B5EF4-FFF2-40B4-BE49-F238E27FC236}">
                <a16:creationId xmlns:a16="http://schemas.microsoft.com/office/drawing/2014/main" id="{B7A90A25-20EA-7B91-13DF-6F073F56B3DE}"/>
              </a:ext>
            </a:extLst>
          </p:cNvPr>
          <p:cNvSpPr txBox="1"/>
          <p:nvPr/>
        </p:nvSpPr>
        <p:spPr>
          <a:xfrm>
            <a:off x="1092200" y="22352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200" b="1">
                <a:solidFill>
                  <a:srgbClr val="003B7A"/>
                </a:solidFill>
                <a:latin typeface="Aptos" panose="020B0004020202020204" pitchFamily="34" charset="0"/>
              </a:rPr>
              <a:t>140/140</a:t>
            </a:r>
            <a:endParaRPr lang="zh-CN" altLang="en-US" sz="420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14" name="big-sub">
            <a:extLst>
              <a:ext uri="{FF2B5EF4-FFF2-40B4-BE49-F238E27FC236}">
                <a16:creationId xmlns:a16="http://schemas.microsoft.com/office/drawing/2014/main" id="{032DBF6F-F712-904B-40A5-45D364F3E6AE}"/>
              </a:ext>
            </a:extLst>
          </p:cNvPr>
          <p:cNvSpPr txBox="1"/>
          <p:nvPr/>
        </p:nvSpPr>
        <p:spPr>
          <a:xfrm>
            <a:off x="1143000" y="3073400"/>
            <a:ext cx="264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350" b="1">
                <a:solidFill>
                  <a:srgbClr val="4A5B78"/>
                </a:solidFill>
                <a:latin typeface="Aptos" panose="020B0004020202020204" pitchFamily="34" charset="0"/>
              </a:rPr>
              <a:t>canonical runs completed</a:t>
            </a:r>
            <a:endParaRPr lang="zh-CN" altLang="en-US" sz="135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5" name="den0">
            <a:extLst>
              <a:ext uri="{FF2B5EF4-FFF2-40B4-BE49-F238E27FC236}">
                <a16:creationId xmlns:a16="http://schemas.microsoft.com/office/drawing/2014/main" id="{776F5AA7-49FB-277C-0059-3F56C46EEF94}"/>
              </a:ext>
            </a:extLst>
          </p:cNvPr>
          <p:cNvSpPr/>
          <p:nvPr/>
        </p:nvSpPr>
        <p:spPr>
          <a:xfrm>
            <a:off x="4191000" y="2235200"/>
            <a:ext cx="1168400" cy="14224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den-k0">
            <a:extLst>
              <a:ext uri="{FF2B5EF4-FFF2-40B4-BE49-F238E27FC236}">
                <a16:creationId xmlns:a16="http://schemas.microsoft.com/office/drawing/2014/main" id="{72EB24C4-6B64-A571-A816-7DFD2F784C43}"/>
              </a:ext>
            </a:extLst>
          </p:cNvPr>
          <p:cNvSpPr txBox="1"/>
          <p:nvPr/>
        </p:nvSpPr>
        <p:spPr>
          <a:xfrm>
            <a:off x="4368800" y="2590800"/>
            <a:ext cx="78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60" b="1">
                <a:solidFill>
                  <a:srgbClr val="4A5B78"/>
                </a:solidFill>
                <a:latin typeface="Aptos" panose="020B0004020202020204" pitchFamily="34" charset="0"/>
              </a:rPr>
              <a:t>Language</a:t>
            </a:r>
            <a:endParaRPr lang="zh-CN" altLang="en-US" sz="76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7" name="den-v0">
            <a:extLst>
              <a:ext uri="{FF2B5EF4-FFF2-40B4-BE49-F238E27FC236}">
                <a16:creationId xmlns:a16="http://schemas.microsoft.com/office/drawing/2014/main" id="{6E4459EA-1FD0-9E18-EE6A-7EEE89679F89}"/>
              </a:ext>
            </a:extLst>
          </p:cNvPr>
          <p:cNvSpPr txBox="1"/>
          <p:nvPr/>
        </p:nvSpPr>
        <p:spPr>
          <a:xfrm>
            <a:off x="4368800" y="3022600"/>
            <a:ext cx="78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20" b="1">
                <a:solidFill>
                  <a:srgbClr val="091C3E"/>
                </a:solidFill>
                <a:latin typeface="Aptos" panose="020B0004020202020204" pitchFamily="34" charset="0"/>
              </a:rPr>
              <a:t>Python</a:t>
            </a:r>
            <a:endParaRPr lang="zh-CN" altLang="en-US" sz="82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8" name="den1">
            <a:extLst>
              <a:ext uri="{FF2B5EF4-FFF2-40B4-BE49-F238E27FC236}">
                <a16:creationId xmlns:a16="http://schemas.microsoft.com/office/drawing/2014/main" id="{26A3CB89-6D24-044D-531A-450A60F9301C}"/>
              </a:ext>
            </a:extLst>
          </p:cNvPr>
          <p:cNvSpPr/>
          <p:nvPr/>
        </p:nvSpPr>
        <p:spPr>
          <a:xfrm>
            <a:off x="5511800" y="2235200"/>
            <a:ext cx="1168400" cy="14224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en-k1">
            <a:extLst>
              <a:ext uri="{FF2B5EF4-FFF2-40B4-BE49-F238E27FC236}">
                <a16:creationId xmlns:a16="http://schemas.microsoft.com/office/drawing/2014/main" id="{29E08EDE-5DBA-7CDD-E9AF-D755E643EFA4}"/>
              </a:ext>
            </a:extLst>
          </p:cNvPr>
          <p:cNvSpPr txBox="1"/>
          <p:nvPr/>
        </p:nvSpPr>
        <p:spPr>
          <a:xfrm>
            <a:off x="5689600" y="2590800"/>
            <a:ext cx="78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60" b="1">
                <a:solidFill>
                  <a:srgbClr val="4A5B78"/>
                </a:solidFill>
                <a:latin typeface="Aptos" panose="020B0004020202020204" pitchFamily="34" charset="0"/>
              </a:rPr>
              <a:t>Task</a:t>
            </a:r>
            <a:endParaRPr lang="zh-CN" altLang="en-US" sz="76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20" name="den-v1">
            <a:extLst>
              <a:ext uri="{FF2B5EF4-FFF2-40B4-BE49-F238E27FC236}">
                <a16:creationId xmlns:a16="http://schemas.microsoft.com/office/drawing/2014/main" id="{D93AA635-A615-444A-8A6F-7407C34B3156}"/>
              </a:ext>
            </a:extLst>
          </p:cNvPr>
          <p:cNvSpPr txBox="1"/>
          <p:nvPr/>
        </p:nvSpPr>
        <p:spPr>
          <a:xfrm>
            <a:off x="5689600" y="3022600"/>
            <a:ext cx="78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20" b="1">
                <a:solidFill>
                  <a:srgbClr val="091C3E"/>
                </a:solidFill>
                <a:latin typeface="Aptos" panose="020B0004020202020204" pitchFamily="34" charset="0"/>
              </a:rPr>
              <a:t>string normalization</a:t>
            </a:r>
            <a:endParaRPr lang="zh-CN" altLang="en-US" sz="82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1" name="den2">
            <a:extLst>
              <a:ext uri="{FF2B5EF4-FFF2-40B4-BE49-F238E27FC236}">
                <a16:creationId xmlns:a16="http://schemas.microsoft.com/office/drawing/2014/main" id="{0FC47A33-7CA6-B251-D556-94FCA3E35A24}"/>
              </a:ext>
            </a:extLst>
          </p:cNvPr>
          <p:cNvSpPr/>
          <p:nvPr/>
        </p:nvSpPr>
        <p:spPr>
          <a:xfrm>
            <a:off x="6832600" y="2235200"/>
            <a:ext cx="1168400" cy="14224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den-k2">
            <a:extLst>
              <a:ext uri="{FF2B5EF4-FFF2-40B4-BE49-F238E27FC236}">
                <a16:creationId xmlns:a16="http://schemas.microsoft.com/office/drawing/2014/main" id="{77D7DC94-B990-5CF9-A10E-E4DF9438BFA3}"/>
              </a:ext>
            </a:extLst>
          </p:cNvPr>
          <p:cNvSpPr txBox="1"/>
          <p:nvPr/>
        </p:nvSpPr>
        <p:spPr>
          <a:xfrm>
            <a:off x="7010400" y="2590800"/>
            <a:ext cx="78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60" b="1">
                <a:solidFill>
                  <a:srgbClr val="4A5B78"/>
                </a:solidFill>
                <a:latin typeface="Aptos" panose="020B0004020202020204" pitchFamily="34" charset="0"/>
              </a:rPr>
              <a:t>Transform</a:t>
            </a:r>
            <a:endParaRPr lang="zh-CN" altLang="en-US" sz="76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23" name="den-v2">
            <a:extLst>
              <a:ext uri="{FF2B5EF4-FFF2-40B4-BE49-F238E27FC236}">
                <a16:creationId xmlns:a16="http://schemas.microsoft.com/office/drawing/2014/main" id="{69D79F2D-A048-26DE-F76D-5378F1AD18DC}"/>
              </a:ext>
            </a:extLst>
          </p:cNvPr>
          <p:cNvSpPr txBox="1"/>
          <p:nvPr/>
        </p:nvSpPr>
        <p:spPr>
          <a:xfrm>
            <a:off x="7010400" y="3022600"/>
            <a:ext cx="78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20" b="1">
                <a:solidFill>
                  <a:srgbClr val="091C3E"/>
                </a:solidFill>
                <a:latin typeface="Aptos" panose="020B0004020202020204" pitchFamily="34" charset="0"/>
              </a:rPr>
              <a:t>semantic rewrite</a:t>
            </a:r>
            <a:endParaRPr lang="zh-CN" altLang="en-US" sz="82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4" name="den3">
            <a:extLst>
              <a:ext uri="{FF2B5EF4-FFF2-40B4-BE49-F238E27FC236}">
                <a16:creationId xmlns:a16="http://schemas.microsoft.com/office/drawing/2014/main" id="{7F4D850C-3811-6877-EF2E-3FB18811E1BE}"/>
              </a:ext>
            </a:extLst>
          </p:cNvPr>
          <p:cNvSpPr/>
          <p:nvPr/>
        </p:nvSpPr>
        <p:spPr>
          <a:xfrm>
            <a:off x="8153400" y="2235200"/>
            <a:ext cx="1168400" cy="14224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den-k3">
            <a:extLst>
              <a:ext uri="{FF2B5EF4-FFF2-40B4-BE49-F238E27FC236}">
                <a16:creationId xmlns:a16="http://schemas.microsoft.com/office/drawing/2014/main" id="{745A42FE-66E9-929A-9497-FDD0E9FC07F2}"/>
              </a:ext>
            </a:extLst>
          </p:cNvPr>
          <p:cNvSpPr txBox="1"/>
          <p:nvPr/>
        </p:nvSpPr>
        <p:spPr>
          <a:xfrm>
            <a:off x="8331200" y="2590800"/>
            <a:ext cx="78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60" b="1">
                <a:solidFill>
                  <a:srgbClr val="4A5B78"/>
                </a:solidFill>
                <a:latin typeface="Aptos" panose="020B0004020202020204" pitchFamily="34" charset="0"/>
              </a:rPr>
              <a:t>Oracle</a:t>
            </a:r>
            <a:endParaRPr lang="zh-CN" altLang="en-US" sz="76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26" name="den-v3">
            <a:extLst>
              <a:ext uri="{FF2B5EF4-FFF2-40B4-BE49-F238E27FC236}">
                <a16:creationId xmlns:a16="http://schemas.microsoft.com/office/drawing/2014/main" id="{CDF553C1-FE50-4D9C-DF7E-B9391B4C6395}"/>
              </a:ext>
            </a:extLst>
          </p:cNvPr>
          <p:cNvSpPr txBox="1"/>
          <p:nvPr/>
        </p:nvSpPr>
        <p:spPr>
          <a:xfrm>
            <a:off x="8331200" y="3022600"/>
            <a:ext cx="78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20" b="1">
                <a:solidFill>
                  <a:srgbClr val="091C3E"/>
                </a:solidFill>
                <a:latin typeface="Aptos" panose="020B0004020202020204" pitchFamily="34" charset="0"/>
              </a:rPr>
              <a:t>executable pass/fail</a:t>
            </a:r>
            <a:endParaRPr lang="zh-CN" altLang="en-US" sz="82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7" name="den4">
            <a:extLst>
              <a:ext uri="{FF2B5EF4-FFF2-40B4-BE49-F238E27FC236}">
                <a16:creationId xmlns:a16="http://schemas.microsoft.com/office/drawing/2014/main" id="{025BF778-75B2-A87F-C58B-CB4DF4E1AEE6}"/>
              </a:ext>
            </a:extLst>
          </p:cNvPr>
          <p:cNvSpPr/>
          <p:nvPr/>
        </p:nvSpPr>
        <p:spPr>
          <a:xfrm>
            <a:off x="9474200" y="2235200"/>
            <a:ext cx="1168400" cy="14224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den-k4">
            <a:extLst>
              <a:ext uri="{FF2B5EF4-FFF2-40B4-BE49-F238E27FC236}">
                <a16:creationId xmlns:a16="http://schemas.microsoft.com/office/drawing/2014/main" id="{1F597898-274E-C6BD-E1A1-5973F9B8F0DA}"/>
              </a:ext>
            </a:extLst>
          </p:cNvPr>
          <p:cNvSpPr txBox="1"/>
          <p:nvPr/>
        </p:nvSpPr>
        <p:spPr>
          <a:xfrm>
            <a:off x="9652000" y="2590800"/>
            <a:ext cx="78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60" b="1">
                <a:solidFill>
                  <a:srgbClr val="4A5B78"/>
                </a:solidFill>
                <a:latin typeface="Aptos" panose="020B0004020202020204" pitchFamily="34" charset="0"/>
              </a:rPr>
              <a:t>Control</a:t>
            </a:r>
            <a:endParaRPr lang="zh-CN" altLang="en-US" sz="76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29" name="den-v4">
            <a:extLst>
              <a:ext uri="{FF2B5EF4-FFF2-40B4-BE49-F238E27FC236}">
                <a16:creationId xmlns:a16="http://schemas.microsoft.com/office/drawing/2014/main" id="{C328A5A7-5256-DC2A-A36F-DD93668BEB4D}"/>
              </a:ext>
            </a:extLst>
          </p:cNvPr>
          <p:cNvSpPr txBox="1"/>
          <p:nvPr/>
        </p:nvSpPr>
        <p:spPr>
          <a:xfrm>
            <a:off x="9652000" y="3022600"/>
            <a:ext cx="78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20" b="1">
                <a:solidFill>
                  <a:srgbClr val="091C3E"/>
                </a:solidFill>
                <a:latin typeface="Aptos" panose="020B0004020202020204" pitchFamily="34" charset="0"/>
              </a:rPr>
              <a:t>negative row</a:t>
            </a:r>
            <a:endParaRPr lang="zh-CN" altLang="en-US" sz="82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30" name="den-rule">
            <a:extLst>
              <a:ext uri="{FF2B5EF4-FFF2-40B4-BE49-F238E27FC236}">
                <a16:creationId xmlns:a16="http://schemas.microsoft.com/office/drawing/2014/main" id="{EB19E565-BDC4-721B-7898-A4C03999CCAA}"/>
              </a:ext>
            </a:extLst>
          </p:cNvPr>
          <p:cNvSpPr/>
          <p:nvPr/>
        </p:nvSpPr>
        <p:spPr>
          <a:xfrm>
            <a:off x="1422400" y="4902200"/>
            <a:ext cx="9347200" cy="533400"/>
          </a:xfrm>
          <a:prstGeom prst="roundRect">
            <a:avLst/>
          </a:prstGeom>
          <a:solidFill>
            <a:srgbClr val="003B7A"/>
          </a:solidFill>
          <a:ln w="9525" cap="flat" cmpd="sng" algn="ctr">
            <a:solidFill>
              <a:srgbClr val="003B7A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en-rule-t">
            <a:extLst>
              <a:ext uri="{FF2B5EF4-FFF2-40B4-BE49-F238E27FC236}">
                <a16:creationId xmlns:a16="http://schemas.microsoft.com/office/drawing/2014/main" id="{B8077F19-5B50-B385-8698-7BF388A80A03}"/>
              </a:ext>
            </a:extLst>
          </p:cNvPr>
          <p:cNvSpPr txBox="1"/>
          <p:nvPr/>
        </p:nvSpPr>
        <p:spPr>
          <a:xfrm>
            <a:off x="1879600" y="5067300"/>
            <a:ext cx="8483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50" b="1">
                <a:solidFill>
                  <a:srgbClr val="FFFFFF"/>
                </a:solidFill>
                <a:latin typeface="Aptos" panose="020B0004020202020204" pitchFamily="34" charset="0"/>
              </a:rPr>
              <a:t>A result cannot quietly change its denominator after seeing the outcome.</a:t>
            </a:r>
            <a:endParaRPr lang="zh-CN" altLang="en-US" sz="115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2" name="footer-hit-4">
            <a:hlinkClick r:id="rId4"/>
            <a:extLst>
              <a:ext uri="{FF2B5EF4-FFF2-40B4-BE49-F238E27FC236}">
                <a16:creationId xmlns:a16="http://schemas.microsoft.com/office/drawing/2014/main" id="{A28EA2BD-314B-540B-805A-10100446FBF1}"/>
              </a:ext>
            </a:extLst>
          </p:cNvPr>
          <p:cNvSpPr/>
          <p:nvPr/>
        </p:nvSpPr>
        <p:spPr>
          <a:xfrm>
            <a:off x="685800" y="6502400"/>
            <a:ext cx="3175000" cy="2286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79744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">
        <p:fade thruBlk="1"/>
      </p:transition>
    </mc:Choice>
    <mc:Fallback>
      <p:transition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6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4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2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98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16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34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2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7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88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6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324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  <p:bldP spid="27" grpId="0" animBg="1"/>
      <p:bldP spid="28" grpId="0"/>
      <p:bldP spid="29" grpId="0"/>
      <p:bldP spid="30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>
            <a:extLst>
              <a:ext uri="{FF2B5EF4-FFF2-40B4-BE49-F238E27FC236}">
                <a16:creationId xmlns:a16="http://schemas.microsoft.com/office/drawing/2014/main" id="{34E13A92-4C89-9246-ECAD-0E5A0CD408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ail">
            <a:extLst>
              <a:ext uri="{FF2B5EF4-FFF2-40B4-BE49-F238E27FC236}">
                <a16:creationId xmlns:a16="http://schemas.microsoft.com/office/drawing/2014/main" id="{6E121489-836D-D226-7BDA-948F13342CF3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003B7A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ection">
            <a:extLst>
              <a:ext uri="{FF2B5EF4-FFF2-40B4-BE49-F238E27FC236}">
                <a16:creationId xmlns:a16="http://schemas.microsoft.com/office/drawing/2014/main" id="{B10D3E5A-3D9E-6036-DB51-86051B56A7FE}"/>
              </a:ext>
            </a:extLst>
          </p:cNvPr>
          <p:cNvSpPr txBox="1"/>
          <p:nvPr/>
        </p:nvSpPr>
        <p:spPr>
          <a:xfrm>
            <a:off x="736600" y="457200"/>
            <a:ext cx="355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003B7A"/>
                </a:solidFill>
                <a:latin typeface="Aptos" panose="020B0004020202020204" pitchFamily="34" charset="0"/>
              </a:rPr>
              <a:t>FRAMEWORK</a:t>
            </a:r>
            <a:endParaRPr lang="zh-CN" altLang="en-US" sz="85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5" name="num">
            <a:extLst>
              <a:ext uri="{FF2B5EF4-FFF2-40B4-BE49-F238E27FC236}">
                <a16:creationId xmlns:a16="http://schemas.microsoft.com/office/drawing/2014/main" id="{8D5DFB21-941B-5E5D-9335-0C6FFD94B594}"/>
              </a:ext>
            </a:extLst>
          </p:cNvPr>
          <p:cNvSpPr txBox="1"/>
          <p:nvPr/>
        </p:nvSpPr>
        <p:spPr>
          <a:xfrm>
            <a:off x="11531600" y="4572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00">
                <a:solidFill>
                  <a:srgbClr val="4A5B78"/>
                </a:solidFill>
                <a:latin typeface="Aptos" panose="020B0004020202020204" pitchFamily="34" charset="0"/>
              </a:rPr>
              <a:t>05</a:t>
            </a:r>
            <a:endParaRPr lang="zh-CN" altLang="en-US" sz="70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6" name="top-rule">
            <a:extLst>
              <a:ext uri="{FF2B5EF4-FFF2-40B4-BE49-F238E27FC236}">
                <a16:creationId xmlns:a16="http://schemas.microsoft.com/office/drawing/2014/main" id="{00BCCD3B-51E4-A535-814F-376D8E480295}"/>
              </a:ext>
            </a:extLst>
          </p:cNvPr>
          <p:cNvCxnSpPr/>
          <p:nvPr/>
        </p:nvCxnSpPr>
        <p:spPr>
          <a:xfrm>
            <a:off x="736600" y="1701800"/>
            <a:ext cx="10718800" cy="0"/>
          </a:xfrm>
          <a:prstGeom prst="line">
            <a:avLst/>
          </a:prstGeom>
          <a:ln w="12700">
            <a:solidFill>
              <a:srgbClr val="D3E1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">
            <a:extLst>
              <a:ext uri="{FF2B5EF4-FFF2-40B4-BE49-F238E27FC236}">
                <a16:creationId xmlns:a16="http://schemas.microsoft.com/office/drawing/2014/main" id="{0ECE9579-8651-BF1F-FC2A-32F23B10DA3A}"/>
              </a:ext>
            </a:extLst>
          </p:cNvPr>
          <p:cNvSpPr txBox="1"/>
          <p:nvPr/>
        </p:nvSpPr>
        <p:spPr>
          <a:xfrm>
            <a:off x="736600" y="6527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WatermarkScope FYP Viva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8" name="student">
            <a:extLst>
              <a:ext uri="{FF2B5EF4-FFF2-40B4-BE49-F238E27FC236}">
                <a16:creationId xmlns:a16="http://schemas.microsoft.com/office/drawing/2014/main" id="{F3BFFDEB-212C-D1C2-3FC1-7C77BF91059D}"/>
              </a:ext>
            </a:extLst>
          </p:cNvPr>
          <p:cNvSpPr txBox="1"/>
          <p:nvPr/>
        </p:nvSpPr>
        <p:spPr>
          <a:xfrm>
            <a:off x="4978400" y="65278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Haoyi Zhang | 2254912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8F97E727-8030-3845-AF08-F98E8393941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9600" y="6096000"/>
            <a:ext cx="1803400" cy="48260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90DD8593-E4FF-93C9-1BB0-7768EB44FEB9}"/>
              </a:ext>
            </a:extLst>
          </p:cNvPr>
          <p:cNvSpPr txBox="1"/>
          <p:nvPr/>
        </p:nvSpPr>
        <p:spPr>
          <a:xfrm>
            <a:off x="736600" y="838200"/>
            <a:ext cx="1054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700" b="1">
                <a:solidFill>
                  <a:srgbClr val="091C3E"/>
                </a:solidFill>
                <a:latin typeface="Aptos" panose="020B0004020202020204" pitchFamily="34" charset="0"/>
              </a:rPr>
              <a:t>Five stages, one evidence contract.</a:t>
            </a:r>
            <a:endParaRPr lang="zh-CN" altLang="en-US" sz="27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773C4942-07E1-F07A-6CBB-5B7C5678D956}"/>
              </a:ext>
            </a:extLst>
          </p:cNvPr>
          <p:cNvSpPr txBox="1"/>
          <p:nvPr/>
        </p:nvSpPr>
        <p:spPr>
          <a:xfrm>
            <a:off x="787400" y="147320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80">
                <a:solidFill>
                  <a:srgbClr val="4A5B78"/>
                </a:solidFill>
                <a:latin typeface="Aptos" panose="020B0004020202020204" pitchFamily="34" charset="0"/>
              </a:rPr>
              <a:t>Each stage answers one narrower question and blocks one overclaim.</a:t>
            </a:r>
            <a:endParaRPr lang="zh-CN" altLang="en-US" sz="118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3" name="contract">
            <a:extLst>
              <a:ext uri="{FF2B5EF4-FFF2-40B4-BE49-F238E27FC236}">
                <a16:creationId xmlns:a16="http://schemas.microsoft.com/office/drawing/2014/main" id="{A474C987-3278-DD56-4B29-F0BF8649F0DE}"/>
              </a:ext>
            </a:extLst>
          </p:cNvPr>
          <p:cNvSpPr/>
          <p:nvPr/>
        </p:nvSpPr>
        <p:spPr>
          <a:xfrm>
            <a:off x="939800" y="2057400"/>
            <a:ext cx="10312400" cy="914400"/>
          </a:xfrm>
          <a:prstGeom prst="roundRect">
            <a:avLst/>
          </a:prstGeom>
          <a:solidFill>
            <a:srgbClr val="003B7A"/>
          </a:solidFill>
          <a:ln w="9525" cap="flat" cmpd="sng" algn="ctr">
            <a:solidFill>
              <a:srgbClr val="003B7A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contract-t">
            <a:extLst>
              <a:ext uri="{FF2B5EF4-FFF2-40B4-BE49-F238E27FC236}">
                <a16:creationId xmlns:a16="http://schemas.microsoft.com/office/drawing/2014/main" id="{38620A33-CEF9-4F56-01AC-0A6F925E69FF}"/>
              </a:ext>
            </a:extLst>
          </p:cNvPr>
          <p:cNvSpPr txBox="1"/>
          <p:nvPr/>
        </p:nvSpPr>
        <p:spPr>
          <a:xfrm>
            <a:off x="1422400" y="2387600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600" b="1">
                <a:solidFill>
                  <a:srgbClr val="FFFFFF"/>
                </a:solidFill>
                <a:latin typeface="Aptos" panose="020B0004020202020204" pitchFamily="34" charset="0"/>
              </a:rPr>
              <a:t>Shared evidence contract: admit evidence before promoting a claim</a:t>
            </a:r>
            <a:endParaRPr lang="zh-CN" altLang="en-US" sz="16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5" name="fw0-box">
            <a:extLst>
              <a:ext uri="{FF2B5EF4-FFF2-40B4-BE49-F238E27FC236}">
                <a16:creationId xmlns:a16="http://schemas.microsoft.com/office/drawing/2014/main" id="{50C3FCA9-25B3-3A64-6467-A6B03AFF82EE}"/>
              </a:ext>
            </a:extLst>
          </p:cNvPr>
          <p:cNvSpPr/>
          <p:nvPr/>
        </p:nvSpPr>
        <p:spPr>
          <a:xfrm>
            <a:off x="787400" y="3708400"/>
            <a:ext cx="1905000" cy="1498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fw0-bar">
            <a:extLst>
              <a:ext uri="{FF2B5EF4-FFF2-40B4-BE49-F238E27FC236}">
                <a16:creationId xmlns:a16="http://schemas.microsoft.com/office/drawing/2014/main" id="{68487CBC-D93E-B4BB-1526-51C18DFAEC36}"/>
              </a:ext>
            </a:extLst>
          </p:cNvPr>
          <p:cNvSpPr/>
          <p:nvPr/>
        </p:nvSpPr>
        <p:spPr>
          <a:xfrm>
            <a:off x="787400" y="3708400"/>
            <a:ext cx="1905000" cy="88900"/>
          </a:xfrm>
          <a:prstGeom prst="roundRect">
            <a:avLst/>
          </a:prstGeom>
          <a:solidFill>
            <a:srgbClr val="003B7A"/>
          </a:solidFill>
          <a:ln w="9525" cap="flat" cmpd="sng" algn="ctr">
            <a:solidFill>
              <a:srgbClr val="003B7A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fw0-num">
            <a:extLst>
              <a:ext uri="{FF2B5EF4-FFF2-40B4-BE49-F238E27FC236}">
                <a16:creationId xmlns:a16="http://schemas.microsoft.com/office/drawing/2014/main" id="{9EB18E41-9619-8AEC-AD67-8174F03F59A0}"/>
              </a:ext>
            </a:extLst>
          </p:cNvPr>
          <p:cNvSpPr txBox="1"/>
          <p:nvPr/>
        </p:nvSpPr>
        <p:spPr>
          <a:xfrm>
            <a:off x="1066800" y="40640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50" b="1">
                <a:solidFill>
                  <a:srgbClr val="003B7A"/>
                </a:solidFill>
                <a:latin typeface="Aptos" panose="020B0004020202020204" pitchFamily="34" charset="0"/>
              </a:rPr>
              <a:t>01</a:t>
            </a:r>
            <a:endParaRPr lang="zh-CN" altLang="en-US" sz="95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18" name="fw0-title">
            <a:extLst>
              <a:ext uri="{FF2B5EF4-FFF2-40B4-BE49-F238E27FC236}">
                <a16:creationId xmlns:a16="http://schemas.microsoft.com/office/drawing/2014/main" id="{75E8054E-D4B3-65AE-9D65-DACF8C3801C1}"/>
              </a:ext>
            </a:extLst>
          </p:cNvPr>
          <p:cNvSpPr txBox="1"/>
          <p:nvPr/>
        </p:nvSpPr>
        <p:spPr>
          <a:xfrm>
            <a:off x="1549400" y="4051300"/>
            <a:ext cx="83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60" b="1">
                <a:solidFill>
                  <a:srgbClr val="091C3E"/>
                </a:solidFill>
                <a:latin typeface="Aptos" panose="020B0004020202020204" pitchFamily="34" charset="0"/>
              </a:rPr>
              <a:t>CodeMarkBench</a:t>
            </a:r>
            <a:endParaRPr lang="zh-CN" altLang="en-US" sz="106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9" name="fw0-text">
            <a:extLst>
              <a:ext uri="{FF2B5EF4-FFF2-40B4-BE49-F238E27FC236}">
                <a16:creationId xmlns:a16="http://schemas.microsoft.com/office/drawing/2014/main" id="{0E6F6B04-E96F-9F84-2825-879D667083D7}"/>
              </a:ext>
            </a:extLst>
          </p:cNvPr>
          <p:cNvSpPr txBox="1"/>
          <p:nvPr/>
        </p:nvSpPr>
        <p:spPr>
          <a:xfrm>
            <a:off x="1066800" y="4495800"/>
            <a:ext cx="134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60">
                <a:solidFill>
                  <a:srgbClr val="4A5B78"/>
                </a:solidFill>
                <a:latin typeface="Aptos" panose="020B0004020202020204" pitchFamily="34" charset="0"/>
              </a:rPr>
              <a:t>benchmark denominator</a:t>
            </a:r>
            <a:endParaRPr lang="zh-CN" altLang="en-US" sz="86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20" name="tie0">
            <a:extLst>
              <a:ext uri="{FF2B5EF4-FFF2-40B4-BE49-F238E27FC236}">
                <a16:creationId xmlns:a16="http://schemas.microsoft.com/office/drawing/2014/main" id="{3E171F0D-6351-D963-1917-D7A061E99DE7}"/>
              </a:ext>
            </a:extLst>
          </p:cNvPr>
          <p:cNvCxnSpPr/>
          <p:nvPr/>
        </p:nvCxnSpPr>
        <p:spPr>
          <a:xfrm>
            <a:off x="1739900" y="2971800"/>
            <a:ext cx="0" cy="736600"/>
          </a:xfrm>
          <a:prstGeom prst="line">
            <a:avLst/>
          </a:prstGeom>
          <a:ln w="15240">
            <a:solidFill>
              <a:srgbClr val="003B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w1-box">
            <a:extLst>
              <a:ext uri="{FF2B5EF4-FFF2-40B4-BE49-F238E27FC236}">
                <a16:creationId xmlns:a16="http://schemas.microsoft.com/office/drawing/2014/main" id="{CAC06995-7EB0-5383-57B1-A9D54E1F3E7F}"/>
              </a:ext>
            </a:extLst>
          </p:cNvPr>
          <p:cNvSpPr/>
          <p:nvPr/>
        </p:nvSpPr>
        <p:spPr>
          <a:xfrm>
            <a:off x="2997200" y="3708400"/>
            <a:ext cx="1905000" cy="1498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fw1-bar">
            <a:extLst>
              <a:ext uri="{FF2B5EF4-FFF2-40B4-BE49-F238E27FC236}">
                <a16:creationId xmlns:a16="http://schemas.microsoft.com/office/drawing/2014/main" id="{A4ED8E8C-76D4-887E-ADC1-140406B82FEC}"/>
              </a:ext>
            </a:extLst>
          </p:cNvPr>
          <p:cNvSpPr/>
          <p:nvPr/>
        </p:nvSpPr>
        <p:spPr>
          <a:xfrm>
            <a:off x="2997200" y="3708400"/>
            <a:ext cx="1905000" cy="88900"/>
          </a:xfrm>
          <a:prstGeom prst="roundRect">
            <a:avLst/>
          </a:prstGeom>
          <a:solidFill>
            <a:srgbClr val="168E8B"/>
          </a:solidFill>
          <a:ln w="9525" cap="flat" cmpd="sng" algn="ctr">
            <a:solidFill>
              <a:srgbClr val="168E8B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fw1-num">
            <a:extLst>
              <a:ext uri="{FF2B5EF4-FFF2-40B4-BE49-F238E27FC236}">
                <a16:creationId xmlns:a16="http://schemas.microsoft.com/office/drawing/2014/main" id="{8DC0EF20-7112-9678-00D6-065B53C3329D}"/>
              </a:ext>
            </a:extLst>
          </p:cNvPr>
          <p:cNvSpPr txBox="1"/>
          <p:nvPr/>
        </p:nvSpPr>
        <p:spPr>
          <a:xfrm>
            <a:off x="3276600" y="40640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50" b="1">
                <a:solidFill>
                  <a:srgbClr val="168E8B"/>
                </a:solidFill>
                <a:latin typeface="Aptos" panose="020B0004020202020204" pitchFamily="34" charset="0"/>
              </a:rPr>
              <a:t>02</a:t>
            </a:r>
            <a:endParaRPr lang="zh-CN" altLang="en-US" sz="950" b="1">
              <a:solidFill>
                <a:srgbClr val="168E8B"/>
              </a:solidFill>
              <a:latin typeface="Aptos" panose="020B0004020202020204" pitchFamily="34" charset="0"/>
            </a:endParaRPr>
          </a:p>
        </p:txBody>
      </p:sp>
      <p:sp>
        <p:nvSpPr>
          <p:cNvPr id="24" name="fw1-title">
            <a:extLst>
              <a:ext uri="{FF2B5EF4-FFF2-40B4-BE49-F238E27FC236}">
                <a16:creationId xmlns:a16="http://schemas.microsoft.com/office/drawing/2014/main" id="{D3AB4F01-C0A0-183A-F688-5055E996FEB8}"/>
              </a:ext>
            </a:extLst>
          </p:cNvPr>
          <p:cNvSpPr txBox="1"/>
          <p:nvPr/>
        </p:nvSpPr>
        <p:spPr>
          <a:xfrm>
            <a:off x="3759200" y="4051300"/>
            <a:ext cx="83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60" b="1">
                <a:solidFill>
                  <a:srgbClr val="091C3E"/>
                </a:solidFill>
                <a:latin typeface="Aptos" panose="020B0004020202020204" pitchFamily="34" charset="0"/>
              </a:rPr>
              <a:t>SemCodebook</a:t>
            </a:r>
            <a:endParaRPr lang="zh-CN" altLang="en-US" sz="106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5" name="fw1-text">
            <a:extLst>
              <a:ext uri="{FF2B5EF4-FFF2-40B4-BE49-F238E27FC236}">
                <a16:creationId xmlns:a16="http://schemas.microsoft.com/office/drawing/2014/main" id="{0C2CC92F-85D3-000C-EF31-01891417E0A7}"/>
              </a:ext>
            </a:extLst>
          </p:cNvPr>
          <p:cNvSpPr txBox="1"/>
          <p:nvPr/>
        </p:nvSpPr>
        <p:spPr>
          <a:xfrm>
            <a:off x="3276600" y="4495800"/>
            <a:ext cx="134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60">
                <a:solidFill>
                  <a:srgbClr val="4A5B78"/>
                </a:solidFill>
                <a:latin typeface="Aptos" panose="020B0004020202020204" pitchFamily="34" charset="0"/>
              </a:rPr>
              <a:t>white-box recovery</a:t>
            </a:r>
            <a:endParaRPr lang="zh-CN" altLang="en-US" sz="86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26" name="tie1">
            <a:extLst>
              <a:ext uri="{FF2B5EF4-FFF2-40B4-BE49-F238E27FC236}">
                <a16:creationId xmlns:a16="http://schemas.microsoft.com/office/drawing/2014/main" id="{42092F7D-B9D5-5BDD-B64C-ED8080385C6F}"/>
              </a:ext>
            </a:extLst>
          </p:cNvPr>
          <p:cNvCxnSpPr/>
          <p:nvPr/>
        </p:nvCxnSpPr>
        <p:spPr>
          <a:xfrm>
            <a:off x="3949700" y="2971800"/>
            <a:ext cx="0" cy="736600"/>
          </a:xfrm>
          <a:prstGeom prst="line">
            <a:avLst/>
          </a:prstGeom>
          <a:ln w="15240">
            <a:solidFill>
              <a:srgbClr val="168E8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fw2-box">
            <a:extLst>
              <a:ext uri="{FF2B5EF4-FFF2-40B4-BE49-F238E27FC236}">
                <a16:creationId xmlns:a16="http://schemas.microsoft.com/office/drawing/2014/main" id="{E5342D47-87A8-30F5-0F09-55B57EACFB5B}"/>
              </a:ext>
            </a:extLst>
          </p:cNvPr>
          <p:cNvSpPr/>
          <p:nvPr/>
        </p:nvSpPr>
        <p:spPr>
          <a:xfrm>
            <a:off x="5207000" y="3708400"/>
            <a:ext cx="1905000" cy="1498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fw2-bar">
            <a:extLst>
              <a:ext uri="{FF2B5EF4-FFF2-40B4-BE49-F238E27FC236}">
                <a16:creationId xmlns:a16="http://schemas.microsoft.com/office/drawing/2014/main" id="{36E9C274-117F-3CA1-C6E7-E262E5414BD0}"/>
              </a:ext>
            </a:extLst>
          </p:cNvPr>
          <p:cNvSpPr/>
          <p:nvPr/>
        </p:nvSpPr>
        <p:spPr>
          <a:xfrm>
            <a:off x="5207000" y="3708400"/>
            <a:ext cx="1905000" cy="88900"/>
          </a:xfrm>
          <a:prstGeom prst="roundRect">
            <a:avLst/>
          </a:prstGeom>
          <a:solidFill>
            <a:srgbClr val="5B45C8"/>
          </a:solidFill>
          <a:ln w="9525" cap="flat" cmpd="sng" algn="ctr">
            <a:solidFill>
              <a:srgbClr val="5B45C8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fw2-num">
            <a:extLst>
              <a:ext uri="{FF2B5EF4-FFF2-40B4-BE49-F238E27FC236}">
                <a16:creationId xmlns:a16="http://schemas.microsoft.com/office/drawing/2014/main" id="{46A8B4C0-5FEC-9F37-D725-55DD838DEE1B}"/>
              </a:ext>
            </a:extLst>
          </p:cNvPr>
          <p:cNvSpPr txBox="1"/>
          <p:nvPr/>
        </p:nvSpPr>
        <p:spPr>
          <a:xfrm>
            <a:off x="5486400" y="40640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50" b="1">
                <a:solidFill>
                  <a:srgbClr val="5B45C8"/>
                </a:solidFill>
                <a:latin typeface="Aptos" panose="020B0004020202020204" pitchFamily="34" charset="0"/>
              </a:rPr>
              <a:t>03</a:t>
            </a:r>
            <a:endParaRPr lang="zh-CN" altLang="en-US" sz="950" b="1">
              <a:solidFill>
                <a:srgbClr val="5B45C8"/>
              </a:solidFill>
              <a:latin typeface="Aptos" panose="020B0004020202020204" pitchFamily="34" charset="0"/>
            </a:endParaRPr>
          </a:p>
        </p:txBody>
      </p:sp>
      <p:sp>
        <p:nvSpPr>
          <p:cNvPr id="30" name="fw2-title">
            <a:extLst>
              <a:ext uri="{FF2B5EF4-FFF2-40B4-BE49-F238E27FC236}">
                <a16:creationId xmlns:a16="http://schemas.microsoft.com/office/drawing/2014/main" id="{C69EB862-CBD7-7036-7A52-DBFE4D095A0F}"/>
              </a:ext>
            </a:extLst>
          </p:cNvPr>
          <p:cNvSpPr txBox="1"/>
          <p:nvPr/>
        </p:nvSpPr>
        <p:spPr>
          <a:xfrm>
            <a:off x="5969000" y="4051300"/>
            <a:ext cx="83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60" b="1">
                <a:solidFill>
                  <a:srgbClr val="091C3E"/>
                </a:solidFill>
                <a:latin typeface="Aptos" panose="020B0004020202020204" pitchFamily="34" charset="0"/>
              </a:rPr>
              <a:t>CodeDye</a:t>
            </a:r>
            <a:endParaRPr lang="zh-CN" altLang="en-US" sz="106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31" name="fw2-text">
            <a:extLst>
              <a:ext uri="{FF2B5EF4-FFF2-40B4-BE49-F238E27FC236}">
                <a16:creationId xmlns:a16="http://schemas.microsoft.com/office/drawing/2014/main" id="{486156B0-5988-BB57-C014-8D96A4B53269}"/>
              </a:ext>
            </a:extLst>
          </p:cNvPr>
          <p:cNvSpPr txBox="1"/>
          <p:nvPr/>
        </p:nvSpPr>
        <p:spPr>
          <a:xfrm>
            <a:off x="5486400" y="4495800"/>
            <a:ext cx="134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60">
                <a:solidFill>
                  <a:srgbClr val="4A5B78"/>
                </a:solidFill>
                <a:latin typeface="Aptos" panose="020B0004020202020204" pitchFamily="34" charset="0"/>
              </a:rPr>
              <a:t>black-box audit</a:t>
            </a:r>
            <a:endParaRPr lang="zh-CN" altLang="en-US" sz="86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32" name="tie2">
            <a:extLst>
              <a:ext uri="{FF2B5EF4-FFF2-40B4-BE49-F238E27FC236}">
                <a16:creationId xmlns:a16="http://schemas.microsoft.com/office/drawing/2014/main" id="{6367D6B2-0D6A-2B9D-D655-A0D35FA0E216}"/>
              </a:ext>
            </a:extLst>
          </p:cNvPr>
          <p:cNvCxnSpPr/>
          <p:nvPr/>
        </p:nvCxnSpPr>
        <p:spPr>
          <a:xfrm>
            <a:off x="6159500" y="2971800"/>
            <a:ext cx="0" cy="736600"/>
          </a:xfrm>
          <a:prstGeom prst="line">
            <a:avLst/>
          </a:prstGeom>
          <a:ln w="15240">
            <a:solidFill>
              <a:srgbClr val="5B45C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w3-box">
            <a:extLst>
              <a:ext uri="{FF2B5EF4-FFF2-40B4-BE49-F238E27FC236}">
                <a16:creationId xmlns:a16="http://schemas.microsoft.com/office/drawing/2014/main" id="{B7989EE6-14A8-8056-BA9E-3237A76ADF28}"/>
              </a:ext>
            </a:extLst>
          </p:cNvPr>
          <p:cNvSpPr/>
          <p:nvPr/>
        </p:nvSpPr>
        <p:spPr>
          <a:xfrm>
            <a:off x="7416800" y="3708400"/>
            <a:ext cx="1905000" cy="1498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fw3-bar">
            <a:extLst>
              <a:ext uri="{FF2B5EF4-FFF2-40B4-BE49-F238E27FC236}">
                <a16:creationId xmlns:a16="http://schemas.microsoft.com/office/drawing/2014/main" id="{A77A0569-26C4-E178-1AF1-A3B5DBA58268}"/>
              </a:ext>
            </a:extLst>
          </p:cNvPr>
          <p:cNvSpPr/>
          <p:nvPr/>
        </p:nvSpPr>
        <p:spPr>
          <a:xfrm>
            <a:off x="7416800" y="3708400"/>
            <a:ext cx="1905000" cy="88900"/>
          </a:xfrm>
          <a:prstGeom prst="roundRect">
            <a:avLst/>
          </a:prstGeom>
          <a:solidFill>
            <a:srgbClr val="B85C00"/>
          </a:solidFill>
          <a:ln w="9525" cap="flat" cmpd="sng" algn="ctr">
            <a:solidFill>
              <a:srgbClr val="B85C00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fw3-num">
            <a:extLst>
              <a:ext uri="{FF2B5EF4-FFF2-40B4-BE49-F238E27FC236}">
                <a16:creationId xmlns:a16="http://schemas.microsoft.com/office/drawing/2014/main" id="{3EBC462A-FAC2-B34E-5283-6A0FDF731CE7}"/>
              </a:ext>
            </a:extLst>
          </p:cNvPr>
          <p:cNvSpPr txBox="1"/>
          <p:nvPr/>
        </p:nvSpPr>
        <p:spPr>
          <a:xfrm>
            <a:off x="7696200" y="40640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50" b="1">
                <a:solidFill>
                  <a:srgbClr val="B85C00"/>
                </a:solidFill>
                <a:latin typeface="Aptos" panose="020B0004020202020204" pitchFamily="34" charset="0"/>
              </a:rPr>
              <a:t>04</a:t>
            </a:r>
            <a:endParaRPr lang="zh-CN" altLang="en-US" sz="950" b="1">
              <a:solidFill>
                <a:srgbClr val="B85C00"/>
              </a:solidFill>
              <a:latin typeface="Aptos" panose="020B0004020202020204" pitchFamily="34" charset="0"/>
            </a:endParaRPr>
          </a:p>
        </p:txBody>
      </p:sp>
      <p:sp>
        <p:nvSpPr>
          <p:cNvPr id="36" name="fw3-title">
            <a:extLst>
              <a:ext uri="{FF2B5EF4-FFF2-40B4-BE49-F238E27FC236}">
                <a16:creationId xmlns:a16="http://schemas.microsoft.com/office/drawing/2014/main" id="{AC2D886A-D289-BDFA-EAB9-D14334F2A15A}"/>
              </a:ext>
            </a:extLst>
          </p:cNvPr>
          <p:cNvSpPr txBox="1"/>
          <p:nvPr/>
        </p:nvSpPr>
        <p:spPr>
          <a:xfrm>
            <a:off x="8178800" y="4051300"/>
            <a:ext cx="83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60" b="1">
                <a:solidFill>
                  <a:srgbClr val="091C3E"/>
                </a:solidFill>
                <a:latin typeface="Aptos" panose="020B0004020202020204" pitchFamily="34" charset="0"/>
              </a:rPr>
              <a:t>ProbeTrace</a:t>
            </a:r>
            <a:endParaRPr lang="zh-CN" altLang="en-US" sz="106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37" name="fw3-text">
            <a:extLst>
              <a:ext uri="{FF2B5EF4-FFF2-40B4-BE49-F238E27FC236}">
                <a16:creationId xmlns:a16="http://schemas.microsoft.com/office/drawing/2014/main" id="{990DFC31-2329-933C-E92C-174A906618A1}"/>
              </a:ext>
            </a:extLst>
          </p:cNvPr>
          <p:cNvSpPr txBox="1"/>
          <p:nvPr/>
        </p:nvSpPr>
        <p:spPr>
          <a:xfrm>
            <a:off x="7696200" y="4495800"/>
            <a:ext cx="134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60">
                <a:solidFill>
                  <a:srgbClr val="4A5B78"/>
                </a:solidFill>
                <a:latin typeface="Aptos" panose="020B0004020202020204" pitchFamily="34" charset="0"/>
              </a:rPr>
              <a:t>owner attribution</a:t>
            </a:r>
            <a:endParaRPr lang="zh-CN" altLang="en-US" sz="86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38" name="tie3">
            <a:extLst>
              <a:ext uri="{FF2B5EF4-FFF2-40B4-BE49-F238E27FC236}">
                <a16:creationId xmlns:a16="http://schemas.microsoft.com/office/drawing/2014/main" id="{EF6EFAEB-09B5-3915-479F-D574669C6CF5}"/>
              </a:ext>
            </a:extLst>
          </p:cNvPr>
          <p:cNvCxnSpPr/>
          <p:nvPr/>
        </p:nvCxnSpPr>
        <p:spPr>
          <a:xfrm>
            <a:off x="8369300" y="2971800"/>
            <a:ext cx="0" cy="736600"/>
          </a:xfrm>
          <a:prstGeom prst="line">
            <a:avLst/>
          </a:prstGeom>
          <a:ln w="15240">
            <a:solidFill>
              <a:srgbClr val="B85C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w4-box">
            <a:extLst>
              <a:ext uri="{FF2B5EF4-FFF2-40B4-BE49-F238E27FC236}">
                <a16:creationId xmlns:a16="http://schemas.microsoft.com/office/drawing/2014/main" id="{0B475FB9-5070-0D0B-CE36-3B58408F3E6E}"/>
              </a:ext>
            </a:extLst>
          </p:cNvPr>
          <p:cNvSpPr/>
          <p:nvPr/>
        </p:nvSpPr>
        <p:spPr>
          <a:xfrm>
            <a:off x="9626600" y="3708400"/>
            <a:ext cx="1905000" cy="1498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fw4-bar">
            <a:extLst>
              <a:ext uri="{FF2B5EF4-FFF2-40B4-BE49-F238E27FC236}">
                <a16:creationId xmlns:a16="http://schemas.microsoft.com/office/drawing/2014/main" id="{C09A2C39-8534-DD5A-0611-594930F0EAE3}"/>
              </a:ext>
            </a:extLst>
          </p:cNvPr>
          <p:cNvSpPr/>
          <p:nvPr/>
        </p:nvSpPr>
        <p:spPr>
          <a:xfrm>
            <a:off x="9626600" y="3708400"/>
            <a:ext cx="1905000" cy="88900"/>
          </a:xfrm>
          <a:prstGeom prst="roundRect">
            <a:avLst/>
          </a:prstGeom>
          <a:solidFill>
            <a:srgbClr val="1F7A4D"/>
          </a:solidFill>
          <a:ln w="9525" cap="flat" cmpd="sng" algn="ctr">
            <a:solidFill>
              <a:srgbClr val="1F7A4D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fw4-num">
            <a:extLst>
              <a:ext uri="{FF2B5EF4-FFF2-40B4-BE49-F238E27FC236}">
                <a16:creationId xmlns:a16="http://schemas.microsoft.com/office/drawing/2014/main" id="{4FB6FEAA-7A40-F855-70DE-381E11E84989}"/>
              </a:ext>
            </a:extLst>
          </p:cNvPr>
          <p:cNvSpPr txBox="1"/>
          <p:nvPr/>
        </p:nvSpPr>
        <p:spPr>
          <a:xfrm>
            <a:off x="9906000" y="40640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50" b="1">
                <a:solidFill>
                  <a:srgbClr val="1F7A4D"/>
                </a:solidFill>
                <a:latin typeface="Aptos" panose="020B0004020202020204" pitchFamily="34" charset="0"/>
              </a:rPr>
              <a:t>05</a:t>
            </a:r>
            <a:endParaRPr lang="zh-CN" altLang="en-US" sz="950" b="1">
              <a:solidFill>
                <a:srgbClr val="1F7A4D"/>
              </a:solidFill>
              <a:latin typeface="Aptos" panose="020B0004020202020204" pitchFamily="34" charset="0"/>
            </a:endParaRPr>
          </a:p>
        </p:txBody>
      </p:sp>
      <p:sp>
        <p:nvSpPr>
          <p:cNvPr id="42" name="fw4-title">
            <a:extLst>
              <a:ext uri="{FF2B5EF4-FFF2-40B4-BE49-F238E27FC236}">
                <a16:creationId xmlns:a16="http://schemas.microsoft.com/office/drawing/2014/main" id="{C61F642E-62AE-08EA-02D5-BB5126D4CCB5}"/>
              </a:ext>
            </a:extLst>
          </p:cNvPr>
          <p:cNvSpPr txBox="1"/>
          <p:nvPr/>
        </p:nvSpPr>
        <p:spPr>
          <a:xfrm>
            <a:off x="10388600" y="4051300"/>
            <a:ext cx="83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60" b="1">
                <a:solidFill>
                  <a:srgbClr val="091C3E"/>
                </a:solidFill>
                <a:latin typeface="Aptos" panose="020B0004020202020204" pitchFamily="34" charset="0"/>
              </a:rPr>
              <a:t>SealAudit</a:t>
            </a:r>
            <a:endParaRPr lang="zh-CN" altLang="en-US" sz="106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43" name="fw4-text">
            <a:extLst>
              <a:ext uri="{FF2B5EF4-FFF2-40B4-BE49-F238E27FC236}">
                <a16:creationId xmlns:a16="http://schemas.microsoft.com/office/drawing/2014/main" id="{7E2A2D35-A2E8-5BEE-552A-DF8B48786C5D}"/>
              </a:ext>
            </a:extLst>
          </p:cNvPr>
          <p:cNvSpPr txBox="1"/>
          <p:nvPr/>
        </p:nvSpPr>
        <p:spPr>
          <a:xfrm>
            <a:off x="9906000" y="4495800"/>
            <a:ext cx="134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60">
                <a:solidFill>
                  <a:srgbClr val="4A5B78"/>
                </a:solidFill>
                <a:latin typeface="Aptos" panose="020B0004020202020204" pitchFamily="34" charset="0"/>
              </a:rPr>
              <a:t>security triage</a:t>
            </a:r>
            <a:endParaRPr lang="zh-CN" altLang="en-US" sz="86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44" name="tie4">
            <a:extLst>
              <a:ext uri="{FF2B5EF4-FFF2-40B4-BE49-F238E27FC236}">
                <a16:creationId xmlns:a16="http://schemas.microsoft.com/office/drawing/2014/main" id="{41267F99-838C-9F8D-5C68-4E4894883E2B}"/>
              </a:ext>
            </a:extLst>
          </p:cNvPr>
          <p:cNvCxnSpPr/>
          <p:nvPr/>
        </p:nvCxnSpPr>
        <p:spPr>
          <a:xfrm>
            <a:off x="10579100" y="2971800"/>
            <a:ext cx="0" cy="736600"/>
          </a:xfrm>
          <a:prstGeom prst="line">
            <a:avLst/>
          </a:prstGeom>
          <a:ln w="15240">
            <a:solidFill>
              <a:srgbClr val="1F7A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footer-hit-5">
            <a:hlinkClick r:id="rId4"/>
            <a:extLst>
              <a:ext uri="{FF2B5EF4-FFF2-40B4-BE49-F238E27FC236}">
                <a16:creationId xmlns:a16="http://schemas.microsoft.com/office/drawing/2014/main" id="{53197F57-4DD1-EA57-EE2B-15E364CB5802}"/>
              </a:ext>
            </a:extLst>
          </p:cNvPr>
          <p:cNvSpPr/>
          <p:nvPr/>
        </p:nvSpPr>
        <p:spPr>
          <a:xfrm>
            <a:off x="685800" y="6502400"/>
            <a:ext cx="3175000" cy="2286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05262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">
        <p:fade thruBlk="1"/>
      </p:transition>
    </mc:Choice>
    <mc:Fallback>
      <p:transition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6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4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2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98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16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34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2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7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88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6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324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420"/>
                            </p:stCondLst>
                            <p:childTnLst>
                              <p:par>
                                <p:cTn id="8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6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78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396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4140"/>
                            </p:stCondLst>
                            <p:childTnLst>
                              <p:par>
                                <p:cTn id="9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1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432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4500"/>
                            </p:stCondLst>
                            <p:childTnLst>
                              <p:par>
                                <p:cTn id="10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18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4680"/>
                            </p:stCondLst>
                            <p:childTnLst>
                              <p:par>
                                <p:cTn id="10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18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4860"/>
                            </p:stCondLst>
                            <p:childTnLst>
                              <p:par>
                                <p:cTn id="1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18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5040"/>
                            </p:stCondLst>
                            <p:childTnLst>
                              <p:par>
                                <p:cTn id="1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18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5220"/>
                            </p:stCondLst>
                            <p:childTnLst>
                              <p:par>
                                <p:cTn id="1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18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5400"/>
                            </p:stCondLst>
                            <p:childTnLst>
                              <p:par>
                                <p:cTn id="1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18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5580"/>
                            </p:stCondLst>
                            <p:childTnLst>
                              <p:par>
                                <p:cTn id="1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18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/>
      <p:bldP spid="15" grpId="0" animBg="1"/>
      <p:bldP spid="16" grpId="0" animBg="1"/>
      <p:bldP spid="17" grpId="0"/>
      <p:bldP spid="18" grpId="0"/>
      <p:bldP spid="19" grpId="0"/>
      <p:bldP spid="21" grpId="0" animBg="1"/>
      <p:bldP spid="22" grpId="0" animBg="1"/>
      <p:bldP spid="23" grpId="0"/>
      <p:bldP spid="24" grpId="0"/>
      <p:bldP spid="25" grpId="0"/>
      <p:bldP spid="27" grpId="0" animBg="1"/>
      <p:bldP spid="28" grpId="0" animBg="1"/>
      <p:bldP spid="29" grpId="0"/>
      <p:bldP spid="30" grpId="0"/>
      <p:bldP spid="31" grpId="0"/>
      <p:bldP spid="33" grpId="0" animBg="1"/>
      <p:bldP spid="34" grpId="0" animBg="1"/>
      <p:bldP spid="35" grpId="0"/>
      <p:bldP spid="36" grpId="0"/>
      <p:bldP spid="37" grpId="0"/>
      <p:bldP spid="39" grpId="0" animBg="1"/>
      <p:bldP spid="40" grpId="0" animBg="1"/>
      <p:bldP spid="41" grpId="0"/>
      <p:bldP spid="42" grpId="0"/>
      <p:bldP spid="4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>
            <a:extLst>
              <a:ext uri="{FF2B5EF4-FFF2-40B4-BE49-F238E27FC236}">
                <a16:creationId xmlns:a16="http://schemas.microsoft.com/office/drawing/2014/main" id="{0BEC29F3-E6FE-87FD-2BCF-BEC3120DB11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ail">
            <a:extLst>
              <a:ext uri="{FF2B5EF4-FFF2-40B4-BE49-F238E27FC236}">
                <a16:creationId xmlns:a16="http://schemas.microsoft.com/office/drawing/2014/main" id="{FBC888B3-8BB2-D6F8-2928-2C2FC6E41F27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003B7A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ection">
            <a:extLst>
              <a:ext uri="{FF2B5EF4-FFF2-40B4-BE49-F238E27FC236}">
                <a16:creationId xmlns:a16="http://schemas.microsoft.com/office/drawing/2014/main" id="{BB96E80C-DAEE-5E88-1542-1A6D98C6660D}"/>
              </a:ext>
            </a:extLst>
          </p:cNvPr>
          <p:cNvSpPr txBox="1"/>
          <p:nvPr/>
        </p:nvSpPr>
        <p:spPr>
          <a:xfrm>
            <a:off x="736600" y="457200"/>
            <a:ext cx="355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003B7A"/>
                </a:solidFill>
                <a:latin typeface="Aptos" panose="020B0004020202020204" pitchFamily="34" charset="0"/>
              </a:rPr>
              <a:t>METHOD CORE</a:t>
            </a:r>
            <a:endParaRPr lang="zh-CN" altLang="en-US" sz="85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5" name="num">
            <a:extLst>
              <a:ext uri="{FF2B5EF4-FFF2-40B4-BE49-F238E27FC236}">
                <a16:creationId xmlns:a16="http://schemas.microsoft.com/office/drawing/2014/main" id="{E6DCF30C-60D2-05C8-60B4-A1F181C19B9A}"/>
              </a:ext>
            </a:extLst>
          </p:cNvPr>
          <p:cNvSpPr txBox="1"/>
          <p:nvPr/>
        </p:nvSpPr>
        <p:spPr>
          <a:xfrm>
            <a:off x="11531600" y="4572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00">
                <a:solidFill>
                  <a:srgbClr val="4A5B78"/>
                </a:solidFill>
                <a:latin typeface="Aptos" panose="020B0004020202020204" pitchFamily="34" charset="0"/>
              </a:rPr>
              <a:t>06</a:t>
            </a:r>
            <a:endParaRPr lang="zh-CN" altLang="en-US" sz="70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6" name="top-rule">
            <a:extLst>
              <a:ext uri="{FF2B5EF4-FFF2-40B4-BE49-F238E27FC236}">
                <a16:creationId xmlns:a16="http://schemas.microsoft.com/office/drawing/2014/main" id="{8D44D310-D882-ACE4-1AF3-B9F46FC6E9CE}"/>
              </a:ext>
            </a:extLst>
          </p:cNvPr>
          <p:cNvCxnSpPr/>
          <p:nvPr/>
        </p:nvCxnSpPr>
        <p:spPr>
          <a:xfrm>
            <a:off x="736600" y="1701800"/>
            <a:ext cx="10718800" cy="0"/>
          </a:xfrm>
          <a:prstGeom prst="line">
            <a:avLst/>
          </a:prstGeom>
          <a:ln w="12700">
            <a:solidFill>
              <a:srgbClr val="D3E1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">
            <a:extLst>
              <a:ext uri="{FF2B5EF4-FFF2-40B4-BE49-F238E27FC236}">
                <a16:creationId xmlns:a16="http://schemas.microsoft.com/office/drawing/2014/main" id="{13DA69EC-3708-0E08-8BBD-814DAEF531D2}"/>
              </a:ext>
            </a:extLst>
          </p:cNvPr>
          <p:cNvSpPr txBox="1"/>
          <p:nvPr/>
        </p:nvSpPr>
        <p:spPr>
          <a:xfrm>
            <a:off x="736600" y="6527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WatermarkScope FYP Viva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8" name="student">
            <a:extLst>
              <a:ext uri="{FF2B5EF4-FFF2-40B4-BE49-F238E27FC236}">
                <a16:creationId xmlns:a16="http://schemas.microsoft.com/office/drawing/2014/main" id="{F4A37F6D-1388-0B49-C212-D2A2BBCAD88D}"/>
              </a:ext>
            </a:extLst>
          </p:cNvPr>
          <p:cNvSpPr txBox="1"/>
          <p:nvPr/>
        </p:nvSpPr>
        <p:spPr>
          <a:xfrm>
            <a:off x="4978400" y="65278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Haoyi Zhang | 2254912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5F485670-E77F-7993-FFD1-A1598BC2C86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9600" y="6096000"/>
            <a:ext cx="1803400" cy="48260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F3124108-1231-4834-27E2-414CD6EEAEAE}"/>
              </a:ext>
            </a:extLst>
          </p:cNvPr>
          <p:cNvSpPr txBox="1"/>
          <p:nvPr/>
        </p:nvSpPr>
        <p:spPr>
          <a:xfrm>
            <a:off x="736600" y="838200"/>
            <a:ext cx="1054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700" b="1">
                <a:solidFill>
                  <a:srgbClr val="091C3E"/>
                </a:solidFill>
                <a:latin typeface="Aptos" panose="020B0004020202020204" pitchFamily="34" charset="0"/>
              </a:rPr>
              <a:t>Freeze evidence first; interpret second.</a:t>
            </a:r>
            <a:endParaRPr lang="zh-CN" altLang="en-US" sz="27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3D798E2-FB57-35C3-78AC-D6CCEBBCC712}"/>
              </a:ext>
            </a:extLst>
          </p:cNvPr>
          <p:cNvSpPr txBox="1"/>
          <p:nvPr/>
        </p:nvSpPr>
        <p:spPr>
          <a:xfrm>
            <a:off x="787400" y="147320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80">
                <a:solidFill>
                  <a:srgbClr val="4A5B78"/>
                </a:solidFill>
                <a:latin typeface="Aptos" panose="020B0004020202020204" pitchFamily="34" charset="0"/>
              </a:rPr>
              <a:t>This is an admission protocol, not only a detector collection.</a:t>
            </a:r>
            <a:endParaRPr lang="zh-CN" altLang="en-US" sz="118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3" name="formula">
            <a:extLst>
              <a:ext uri="{FF2B5EF4-FFF2-40B4-BE49-F238E27FC236}">
                <a16:creationId xmlns:a16="http://schemas.microsoft.com/office/drawing/2014/main" id="{0AE93563-13CD-8FE0-8F42-825CABB41B32}"/>
              </a:ext>
            </a:extLst>
          </p:cNvPr>
          <p:cNvSpPr/>
          <p:nvPr/>
        </p:nvSpPr>
        <p:spPr>
          <a:xfrm>
            <a:off x="939800" y="2082800"/>
            <a:ext cx="3810000" cy="2565400"/>
          </a:xfrm>
          <a:prstGeom prst="roundRect">
            <a:avLst/>
          </a:prstGeom>
          <a:solidFill>
            <a:srgbClr val="003B7A"/>
          </a:solidFill>
          <a:ln w="9525" cap="flat" cmpd="sng" algn="ctr">
            <a:solidFill>
              <a:srgbClr val="003B7A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formula-k">
            <a:extLst>
              <a:ext uri="{FF2B5EF4-FFF2-40B4-BE49-F238E27FC236}">
                <a16:creationId xmlns:a16="http://schemas.microsoft.com/office/drawing/2014/main" id="{E7D30C7C-A558-02ED-45D4-7D451704FB68}"/>
              </a:ext>
            </a:extLst>
          </p:cNvPr>
          <p:cNvSpPr txBox="1"/>
          <p:nvPr/>
        </p:nvSpPr>
        <p:spPr>
          <a:xfrm>
            <a:off x="1320800" y="2489200"/>
            <a:ext cx="165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CDE2FA"/>
                </a:solidFill>
                <a:latin typeface="Aptos" panose="020B0004020202020204" pitchFamily="34" charset="0"/>
              </a:rPr>
              <a:t>evidence object</a:t>
            </a:r>
            <a:endParaRPr lang="zh-CN" altLang="en-US" sz="850" b="1">
              <a:solidFill>
                <a:srgbClr val="CDE2FA"/>
              </a:solidFill>
              <a:latin typeface="Aptos" panose="020B0004020202020204" pitchFamily="34" charset="0"/>
            </a:endParaRPr>
          </a:p>
        </p:txBody>
      </p:sp>
      <p:sp>
        <p:nvSpPr>
          <p:cNvPr id="15" name="formula-v">
            <a:extLst>
              <a:ext uri="{FF2B5EF4-FFF2-40B4-BE49-F238E27FC236}">
                <a16:creationId xmlns:a16="http://schemas.microsoft.com/office/drawing/2014/main" id="{26125D39-4921-8AA0-95F3-A66509E0F8D5}"/>
              </a:ext>
            </a:extLst>
          </p:cNvPr>
          <p:cNvSpPr txBox="1"/>
          <p:nvPr/>
        </p:nvSpPr>
        <p:spPr>
          <a:xfrm>
            <a:off x="1320800" y="30734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pt-BR" altLang="zh-CN" sz="2250" b="1">
                <a:solidFill>
                  <a:srgbClr val="FFFFFF"/>
                </a:solidFill>
                <a:latin typeface="Consolas" panose="020B0609020204030204" pitchFamily="49" charset="0"/>
              </a:rPr>
              <a:t>E = &lt;D,C,A,H,B&gt;</a:t>
            </a:r>
            <a:endParaRPr lang="zh-CN" altLang="en-US" sz="2250" b="1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formula-s">
            <a:extLst>
              <a:ext uri="{FF2B5EF4-FFF2-40B4-BE49-F238E27FC236}">
                <a16:creationId xmlns:a16="http://schemas.microsoft.com/office/drawing/2014/main" id="{FD62980C-940F-D089-7E5F-8C830D98B1A5}"/>
              </a:ext>
            </a:extLst>
          </p:cNvPr>
          <p:cNvSpPr txBox="1"/>
          <p:nvPr/>
        </p:nvSpPr>
        <p:spPr>
          <a:xfrm>
            <a:off x="1320800" y="3886200"/>
            <a:ext cx="266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00" b="1">
                <a:solidFill>
                  <a:srgbClr val="DDEBFC"/>
                </a:solidFill>
                <a:latin typeface="Aptos" panose="020B0004020202020204" pitchFamily="34" charset="0"/>
              </a:rPr>
              <a:t>denominator, controls, artifact, hash, boundary</a:t>
            </a:r>
            <a:endParaRPr lang="zh-CN" altLang="en-US" sz="1100" b="1">
              <a:solidFill>
                <a:srgbClr val="DDEBFC"/>
              </a:solidFill>
              <a:latin typeface="Aptos" panose="020B0004020202020204" pitchFamily="34" charset="0"/>
            </a:endParaRPr>
          </a:p>
        </p:txBody>
      </p:sp>
      <p:sp>
        <p:nvSpPr>
          <p:cNvPr id="17" name="m0">
            <a:extLst>
              <a:ext uri="{FF2B5EF4-FFF2-40B4-BE49-F238E27FC236}">
                <a16:creationId xmlns:a16="http://schemas.microsoft.com/office/drawing/2014/main" id="{B6D3F87D-2F07-5C2E-6E6F-61134680A8E6}"/>
              </a:ext>
            </a:extLst>
          </p:cNvPr>
          <p:cNvSpPr/>
          <p:nvPr/>
        </p:nvSpPr>
        <p:spPr>
          <a:xfrm>
            <a:off x="5638800" y="2108200"/>
            <a:ext cx="4953000" cy="406400"/>
          </a:xfrm>
          <a:prstGeom prst="roundRect">
            <a:avLst/>
          </a:prstGeom>
          <a:solidFill>
            <a:srgbClr val="F8FB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mn0">
            <a:extLst>
              <a:ext uri="{FF2B5EF4-FFF2-40B4-BE49-F238E27FC236}">
                <a16:creationId xmlns:a16="http://schemas.microsoft.com/office/drawing/2014/main" id="{41DEF44E-B206-ED5C-2A57-70B8A62111D7}"/>
              </a:ext>
            </a:extLst>
          </p:cNvPr>
          <p:cNvSpPr txBox="1"/>
          <p:nvPr/>
        </p:nvSpPr>
        <p:spPr>
          <a:xfrm>
            <a:off x="5918200" y="2235200"/>
            <a:ext cx="25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00" b="1">
                <a:solidFill>
                  <a:srgbClr val="003B7A"/>
                </a:solidFill>
                <a:latin typeface="Aptos" panose="020B0004020202020204" pitchFamily="34" charset="0"/>
              </a:rPr>
              <a:t>1</a:t>
            </a:r>
            <a:endParaRPr lang="zh-CN" altLang="en-US" sz="80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19" name="mt0">
            <a:extLst>
              <a:ext uri="{FF2B5EF4-FFF2-40B4-BE49-F238E27FC236}">
                <a16:creationId xmlns:a16="http://schemas.microsoft.com/office/drawing/2014/main" id="{EC1541DB-AAA2-8707-0CD6-3D95223BFA1A}"/>
              </a:ext>
            </a:extLst>
          </p:cNvPr>
          <p:cNvSpPr txBox="1"/>
          <p:nvPr/>
        </p:nvSpPr>
        <p:spPr>
          <a:xfrm>
            <a:off x="6426200" y="2209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00" b="1">
                <a:solidFill>
                  <a:srgbClr val="091C3E"/>
                </a:solidFill>
                <a:latin typeface="Aptos" panose="020B0004020202020204" pitchFamily="34" charset="0"/>
              </a:rPr>
              <a:t>freeze denominator and protocol</a:t>
            </a:r>
            <a:endParaRPr lang="zh-CN" altLang="en-US" sz="9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0" name="m1">
            <a:extLst>
              <a:ext uri="{FF2B5EF4-FFF2-40B4-BE49-F238E27FC236}">
                <a16:creationId xmlns:a16="http://schemas.microsoft.com/office/drawing/2014/main" id="{0CCD0A29-BF38-4FDD-E917-B3D6D782FAAD}"/>
              </a:ext>
            </a:extLst>
          </p:cNvPr>
          <p:cNvSpPr/>
          <p:nvPr/>
        </p:nvSpPr>
        <p:spPr>
          <a:xfrm>
            <a:off x="5638800" y="2679700"/>
            <a:ext cx="4953000" cy="406400"/>
          </a:xfrm>
          <a:prstGeom prst="roundRect">
            <a:avLst/>
          </a:prstGeom>
          <a:solidFill>
            <a:srgbClr val="F8FB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mn1">
            <a:extLst>
              <a:ext uri="{FF2B5EF4-FFF2-40B4-BE49-F238E27FC236}">
                <a16:creationId xmlns:a16="http://schemas.microsoft.com/office/drawing/2014/main" id="{E951807C-D0EF-0259-50B7-2414A8292B68}"/>
              </a:ext>
            </a:extLst>
          </p:cNvPr>
          <p:cNvSpPr txBox="1"/>
          <p:nvPr/>
        </p:nvSpPr>
        <p:spPr>
          <a:xfrm>
            <a:off x="5918200" y="2806700"/>
            <a:ext cx="25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00" b="1">
                <a:solidFill>
                  <a:srgbClr val="003B7A"/>
                </a:solidFill>
                <a:latin typeface="Aptos" panose="020B0004020202020204" pitchFamily="34" charset="0"/>
              </a:rPr>
              <a:t>2</a:t>
            </a:r>
            <a:endParaRPr lang="zh-CN" altLang="en-US" sz="80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22" name="mt1">
            <a:extLst>
              <a:ext uri="{FF2B5EF4-FFF2-40B4-BE49-F238E27FC236}">
                <a16:creationId xmlns:a16="http://schemas.microsoft.com/office/drawing/2014/main" id="{0F948B02-F914-8DFE-EE20-C0E121B51B2F}"/>
              </a:ext>
            </a:extLst>
          </p:cNvPr>
          <p:cNvSpPr txBox="1"/>
          <p:nvPr/>
        </p:nvSpPr>
        <p:spPr>
          <a:xfrm>
            <a:off x="6426200" y="27813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00" b="1">
                <a:solidFill>
                  <a:srgbClr val="091C3E"/>
                </a:solidFill>
                <a:latin typeface="Aptos" panose="020B0004020202020204" pitchFamily="34" charset="0"/>
              </a:rPr>
              <a:t>run positive and negative controls</a:t>
            </a:r>
            <a:endParaRPr lang="zh-CN" altLang="en-US" sz="9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3" name="m2">
            <a:extLst>
              <a:ext uri="{FF2B5EF4-FFF2-40B4-BE49-F238E27FC236}">
                <a16:creationId xmlns:a16="http://schemas.microsoft.com/office/drawing/2014/main" id="{4C3EE924-A76A-AFCC-4276-68C2D4D80BE4}"/>
              </a:ext>
            </a:extLst>
          </p:cNvPr>
          <p:cNvSpPr/>
          <p:nvPr/>
        </p:nvSpPr>
        <p:spPr>
          <a:xfrm>
            <a:off x="5638800" y="3251200"/>
            <a:ext cx="4953000" cy="406400"/>
          </a:xfrm>
          <a:prstGeom prst="roundRect">
            <a:avLst/>
          </a:prstGeom>
          <a:solidFill>
            <a:srgbClr val="F8FB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mn2">
            <a:extLst>
              <a:ext uri="{FF2B5EF4-FFF2-40B4-BE49-F238E27FC236}">
                <a16:creationId xmlns:a16="http://schemas.microsoft.com/office/drawing/2014/main" id="{2034AF90-7F25-CC62-2D46-DD68E0972CB1}"/>
              </a:ext>
            </a:extLst>
          </p:cNvPr>
          <p:cNvSpPr txBox="1"/>
          <p:nvPr/>
        </p:nvSpPr>
        <p:spPr>
          <a:xfrm>
            <a:off x="5918200" y="3378200"/>
            <a:ext cx="25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00" b="1">
                <a:solidFill>
                  <a:srgbClr val="003B7A"/>
                </a:solidFill>
                <a:latin typeface="Aptos" panose="020B0004020202020204" pitchFamily="34" charset="0"/>
              </a:rPr>
              <a:t>3</a:t>
            </a:r>
            <a:endParaRPr lang="zh-CN" altLang="en-US" sz="80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25" name="mt2">
            <a:extLst>
              <a:ext uri="{FF2B5EF4-FFF2-40B4-BE49-F238E27FC236}">
                <a16:creationId xmlns:a16="http://schemas.microsoft.com/office/drawing/2014/main" id="{CF46D1A7-A348-2A83-BB04-068F320DF705}"/>
              </a:ext>
            </a:extLst>
          </p:cNvPr>
          <p:cNvSpPr txBox="1"/>
          <p:nvPr/>
        </p:nvSpPr>
        <p:spPr>
          <a:xfrm>
            <a:off x="6426200" y="3352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00" b="1">
                <a:solidFill>
                  <a:srgbClr val="091C3E"/>
                </a:solidFill>
                <a:latin typeface="Aptos" panose="020B0004020202020204" pitchFamily="34" charset="0"/>
              </a:rPr>
              <a:t>preserve artifact and hash</a:t>
            </a:r>
            <a:endParaRPr lang="zh-CN" altLang="en-US" sz="9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6" name="m3">
            <a:extLst>
              <a:ext uri="{FF2B5EF4-FFF2-40B4-BE49-F238E27FC236}">
                <a16:creationId xmlns:a16="http://schemas.microsoft.com/office/drawing/2014/main" id="{1EC3E79A-1E1C-A0B3-FD95-E8845C3DA10C}"/>
              </a:ext>
            </a:extLst>
          </p:cNvPr>
          <p:cNvSpPr/>
          <p:nvPr/>
        </p:nvSpPr>
        <p:spPr>
          <a:xfrm>
            <a:off x="5638800" y="3822700"/>
            <a:ext cx="4953000" cy="406400"/>
          </a:xfrm>
          <a:prstGeom prst="roundRect">
            <a:avLst/>
          </a:prstGeom>
          <a:solidFill>
            <a:srgbClr val="F8FB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mn3">
            <a:extLst>
              <a:ext uri="{FF2B5EF4-FFF2-40B4-BE49-F238E27FC236}">
                <a16:creationId xmlns:a16="http://schemas.microsoft.com/office/drawing/2014/main" id="{AA71E5A3-7C11-202F-4201-3DEA5F226CDB}"/>
              </a:ext>
            </a:extLst>
          </p:cNvPr>
          <p:cNvSpPr txBox="1"/>
          <p:nvPr/>
        </p:nvSpPr>
        <p:spPr>
          <a:xfrm>
            <a:off x="5918200" y="3949700"/>
            <a:ext cx="25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00" b="1">
                <a:solidFill>
                  <a:srgbClr val="003B7A"/>
                </a:solidFill>
                <a:latin typeface="Aptos" panose="020B0004020202020204" pitchFamily="34" charset="0"/>
              </a:rPr>
              <a:t>4</a:t>
            </a:r>
            <a:endParaRPr lang="zh-CN" altLang="en-US" sz="80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28" name="mt3">
            <a:extLst>
              <a:ext uri="{FF2B5EF4-FFF2-40B4-BE49-F238E27FC236}">
                <a16:creationId xmlns:a16="http://schemas.microsoft.com/office/drawing/2014/main" id="{B70263DB-5D67-B82F-84F2-445CE125E2AC}"/>
              </a:ext>
            </a:extLst>
          </p:cNvPr>
          <p:cNvSpPr txBox="1"/>
          <p:nvPr/>
        </p:nvSpPr>
        <p:spPr>
          <a:xfrm>
            <a:off x="6426200" y="39243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00" b="1">
                <a:solidFill>
                  <a:srgbClr val="091C3E"/>
                </a:solidFill>
                <a:latin typeface="Aptos" panose="020B0004020202020204" pitchFamily="34" charset="0"/>
              </a:rPr>
              <a:t>report only the bounded claim</a:t>
            </a:r>
            <a:endParaRPr lang="zh-CN" altLang="en-US" sz="9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9" name="m4">
            <a:extLst>
              <a:ext uri="{FF2B5EF4-FFF2-40B4-BE49-F238E27FC236}">
                <a16:creationId xmlns:a16="http://schemas.microsoft.com/office/drawing/2014/main" id="{F41E61A2-F45F-3F28-A0CF-504D6FED2993}"/>
              </a:ext>
            </a:extLst>
          </p:cNvPr>
          <p:cNvSpPr/>
          <p:nvPr/>
        </p:nvSpPr>
        <p:spPr>
          <a:xfrm>
            <a:off x="5638800" y="4394200"/>
            <a:ext cx="4953000" cy="406400"/>
          </a:xfrm>
          <a:prstGeom prst="roundRect">
            <a:avLst/>
          </a:prstGeom>
          <a:solidFill>
            <a:srgbClr val="F8FB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mn4">
            <a:extLst>
              <a:ext uri="{FF2B5EF4-FFF2-40B4-BE49-F238E27FC236}">
                <a16:creationId xmlns:a16="http://schemas.microsoft.com/office/drawing/2014/main" id="{711BABD7-B3F3-4292-4FF7-E9A7CE9F08F5}"/>
              </a:ext>
            </a:extLst>
          </p:cNvPr>
          <p:cNvSpPr txBox="1"/>
          <p:nvPr/>
        </p:nvSpPr>
        <p:spPr>
          <a:xfrm>
            <a:off x="5918200" y="4521200"/>
            <a:ext cx="25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00" b="1">
                <a:solidFill>
                  <a:srgbClr val="003B7A"/>
                </a:solidFill>
                <a:latin typeface="Aptos" panose="020B0004020202020204" pitchFamily="34" charset="0"/>
              </a:rPr>
              <a:t>5</a:t>
            </a:r>
            <a:endParaRPr lang="zh-CN" altLang="en-US" sz="80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31" name="mt4">
            <a:extLst>
              <a:ext uri="{FF2B5EF4-FFF2-40B4-BE49-F238E27FC236}">
                <a16:creationId xmlns:a16="http://schemas.microsoft.com/office/drawing/2014/main" id="{263CC409-FE6E-D81A-A31A-DC0F8F2B94A8}"/>
              </a:ext>
            </a:extLst>
          </p:cNvPr>
          <p:cNvSpPr txBox="1"/>
          <p:nvPr/>
        </p:nvSpPr>
        <p:spPr>
          <a:xfrm>
            <a:off x="6426200" y="4495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00" b="1">
                <a:solidFill>
                  <a:srgbClr val="091C3E"/>
                </a:solidFill>
                <a:latin typeface="Aptos" panose="020B0004020202020204" pitchFamily="34" charset="0"/>
              </a:rPr>
              <a:t>abstain when evidence is insufficient</a:t>
            </a:r>
            <a:endParaRPr lang="zh-CN" altLang="en-US" sz="9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32" name="footer-hit-6">
            <a:hlinkClick r:id="rId4"/>
            <a:extLst>
              <a:ext uri="{FF2B5EF4-FFF2-40B4-BE49-F238E27FC236}">
                <a16:creationId xmlns:a16="http://schemas.microsoft.com/office/drawing/2014/main" id="{101153E5-5A94-6E94-6233-BE2AD4E0A15A}"/>
              </a:ext>
            </a:extLst>
          </p:cNvPr>
          <p:cNvSpPr/>
          <p:nvPr/>
        </p:nvSpPr>
        <p:spPr>
          <a:xfrm>
            <a:off x="685800" y="6502400"/>
            <a:ext cx="3175000" cy="2286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30800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">
        <p:fade thruBlk="1"/>
      </p:transition>
    </mc:Choice>
    <mc:Fallback>
      <p:transition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6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4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2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98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16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34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2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7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88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6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324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/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  <p:bldP spid="23" grpId="0" animBg="1"/>
      <p:bldP spid="24" grpId="0"/>
      <p:bldP spid="25" grpId="0"/>
      <p:bldP spid="26" grpId="0" animBg="1"/>
      <p:bldP spid="27" grpId="0"/>
      <p:bldP spid="28" grpId="0"/>
      <p:bldP spid="29" grpId="0" animBg="1"/>
      <p:bldP spid="30" grpId="0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>
            <a:extLst>
              <a:ext uri="{FF2B5EF4-FFF2-40B4-BE49-F238E27FC236}">
                <a16:creationId xmlns:a16="http://schemas.microsoft.com/office/drawing/2014/main" id="{307011C4-F7E5-2A5C-9A00-7280B19850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ail">
            <a:extLst>
              <a:ext uri="{FF2B5EF4-FFF2-40B4-BE49-F238E27FC236}">
                <a16:creationId xmlns:a16="http://schemas.microsoft.com/office/drawing/2014/main" id="{A0079677-5642-916D-24EB-393DE0D194C3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003B7A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ection">
            <a:extLst>
              <a:ext uri="{FF2B5EF4-FFF2-40B4-BE49-F238E27FC236}">
                <a16:creationId xmlns:a16="http://schemas.microsoft.com/office/drawing/2014/main" id="{A6B2ACEE-42A3-021F-295D-497BC7A4649C}"/>
              </a:ext>
            </a:extLst>
          </p:cNvPr>
          <p:cNvSpPr txBox="1"/>
          <p:nvPr/>
        </p:nvSpPr>
        <p:spPr>
          <a:xfrm>
            <a:off x="736600" y="457200"/>
            <a:ext cx="355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003B7A"/>
                </a:solidFill>
                <a:latin typeface="Aptos" panose="020B0004020202020204" pitchFamily="34" charset="0"/>
              </a:rPr>
              <a:t>SUBMITTED RESULTS</a:t>
            </a:r>
            <a:endParaRPr lang="zh-CN" altLang="en-US" sz="85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5" name="num">
            <a:extLst>
              <a:ext uri="{FF2B5EF4-FFF2-40B4-BE49-F238E27FC236}">
                <a16:creationId xmlns:a16="http://schemas.microsoft.com/office/drawing/2014/main" id="{3F30BF5D-1B4E-F739-7981-C3DED3967636}"/>
              </a:ext>
            </a:extLst>
          </p:cNvPr>
          <p:cNvSpPr txBox="1"/>
          <p:nvPr/>
        </p:nvSpPr>
        <p:spPr>
          <a:xfrm>
            <a:off x="11531600" y="4572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00">
                <a:solidFill>
                  <a:srgbClr val="4A5B78"/>
                </a:solidFill>
                <a:latin typeface="Aptos" panose="020B0004020202020204" pitchFamily="34" charset="0"/>
              </a:rPr>
              <a:t>07</a:t>
            </a:r>
            <a:endParaRPr lang="zh-CN" altLang="en-US" sz="70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6" name="top-rule">
            <a:extLst>
              <a:ext uri="{FF2B5EF4-FFF2-40B4-BE49-F238E27FC236}">
                <a16:creationId xmlns:a16="http://schemas.microsoft.com/office/drawing/2014/main" id="{611B20B1-5D72-1124-2CAF-077A6D7B3531}"/>
              </a:ext>
            </a:extLst>
          </p:cNvPr>
          <p:cNvCxnSpPr/>
          <p:nvPr/>
        </p:nvCxnSpPr>
        <p:spPr>
          <a:xfrm>
            <a:off x="736600" y="1701800"/>
            <a:ext cx="10718800" cy="0"/>
          </a:xfrm>
          <a:prstGeom prst="line">
            <a:avLst/>
          </a:prstGeom>
          <a:ln w="12700">
            <a:solidFill>
              <a:srgbClr val="D3E1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">
            <a:extLst>
              <a:ext uri="{FF2B5EF4-FFF2-40B4-BE49-F238E27FC236}">
                <a16:creationId xmlns:a16="http://schemas.microsoft.com/office/drawing/2014/main" id="{590B9EFD-4152-9345-6122-DCBAB15B945C}"/>
              </a:ext>
            </a:extLst>
          </p:cNvPr>
          <p:cNvSpPr txBox="1"/>
          <p:nvPr/>
        </p:nvSpPr>
        <p:spPr>
          <a:xfrm>
            <a:off x="736600" y="6527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WatermarkScope FYP Viva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8" name="student">
            <a:extLst>
              <a:ext uri="{FF2B5EF4-FFF2-40B4-BE49-F238E27FC236}">
                <a16:creationId xmlns:a16="http://schemas.microsoft.com/office/drawing/2014/main" id="{D8E3E83D-7DB0-4E21-BC0E-CED6ABAEF467}"/>
              </a:ext>
            </a:extLst>
          </p:cNvPr>
          <p:cNvSpPr txBox="1"/>
          <p:nvPr/>
        </p:nvSpPr>
        <p:spPr>
          <a:xfrm>
            <a:off x="4978400" y="65278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Haoyi Zhang | 2254912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7D3E9C0B-D81B-3216-C660-30685FF3C15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9600" y="6096000"/>
            <a:ext cx="1803400" cy="48260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42A621FE-179F-6BDE-EBE2-51A6F9899E55}"/>
              </a:ext>
            </a:extLst>
          </p:cNvPr>
          <p:cNvSpPr txBox="1"/>
          <p:nvPr/>
        </p:nvSpPr>
        <p:spPr>
          <a:xfrm>
            <a:off x="736600" y="838200"/>
            <a:ext cx="1054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700" b="1">
                <a:solidFill>
                  <a:srgbClr val="091C3E"/>
                </a:solidFill>
                <a:latin typeface="Aptos" panose="020B0004020202020204" pitchFamily="34" charset="0"/>
              </a:rPr>
              <a:t>The submitted result is a ledger of bounded claims.</a:t>
            </a:r>
            <a:endParaRPr lang="zh-CN" altLang="en-US" sz="27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9FE7ABAF-061C-EECF-0EDB-89E467F70671}"/>
              </a:ext>
            </a:extLst>
          </p:cNvPr>
          <p:cNvSpPr txBox="1"/>
          <p:nvPr/>
        </p:nvSpPr>
        <p:spPr>
          <a:xfrm>
            <a:off x="787400" y="147320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80">
                <a:solidFill>
                  <a:srgbClr val="4A5B78"/>
                </a:solidFill>
                <a:latin typeface="Aptos" panose="020B0004020202020204" pitchFamily="34" charset="0"/>
              </a:rPr>
              <a:t>I keep each denominator visible instead of averaging everything into one score.</a:t>
            </a:r>
            <a:endParaRPr lang="zh-CN" altLang="en-US" sz="118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3" name="r0">
            <a:extLst>
              <a:ext uri="{FF2B5EF4-FFF2-40B4-BE49-F238E27FC236}">
                <a16:creationId xmlns:a16="http://schemas.microsoft.com/office/drawing/2014/main" id="{53E55E9D-FF55-94EF-D094-575D54DBF92D}"/>
              </a:ext>
            </a:extLst>
          </p:cNvPr>
          <p:cNvSpPr/>
          <p:nvPr/>
        </p:nvSpPr>
        <p:spPr>
          <a:xfrm>
            <a:off x="736600" y="2235200"/>
            <a:ext cx="1955800" cy="2260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bar0">
            <a:extLst>
              <a:ext uri="{FF2B5EF4-FFF2-40B4-BE49-F238E27FC236}">
                <a16:creationId xmlns:a16="http://schemas.microsoft.com/office/drawing/2014/main" id="{E1A81311-F46B-7FE8-E03A-FBAB1C6A6439}"/>
              </a:ext>
            </a:extLst>
          </p:cNvPr>
          <p:cNvSpPr/>
          <p:nvPr/>
        </p:nvSpPr>
        <p:spPr>
          <a:xfrm>
            <a:off x="736600" y="2235200"/>
            <a:ext cx="1955800" cy="101600"/>
          </a:xfrm>
          <a:prstGeom prst="roundRect">
            <a:avLst/>
          </a:prstGeom>
          <a:solidFill>
            <a:srgbClr val="003B7A"/>
          </a:solidFill>
          <a:ln w="9525" cap="flat" cmpd="sng" algn="ctr">
            <a:solidFill>
              <a:srgbClr val="003B7A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rn0">
            <a:extLst>
              <a:ext uri="{FF2B5EF4-FFF2-40B4-BE49-F238E27FC236}">
                <a16:creationId xmlns:a16="http://schemas.microsoft.com/office/drawing/2014/main" id="{B3C6445E-E1DA-4479-2A26-A0DFA5182310}"/>
              </a:ext>
            </a:extLst>
          </p:cNvPr>
          <p:cNvSpPr txBox="1"/>
          <p:nvPr/>
        </p:nvSpPr>
        <p:spPr>
          <a:xfrm>
            <a:off x="965200" y="2667000"/>
            <a:ext cx="142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50" b="1">
                <a:solidFill>
                  <a:srgbClr val="003B7A"/>
                </a:solidFill>
                <a:latin typeface="Aptos" panose="020B0004020202020204" pitchFamily="34" charset="0"/>
              </a:rPr>
              <a:t>CodeMarkBench</a:t>
            </a:r>
            <a:endParaRPr lang="zh-CN" altLang="en-US" sz="95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16" name="rv0">
            <a:extLst>
              <a:ext uri="{FF2B5EF4-FFF2-40B4-BE49-F238E27FC236}">
                <a16:creationId xmlns:a16="http://schemas.microsoft.com/office/drawing/2014/main" id="{290BBB60-0F6A-BF0C-8413-0EB5C540A4EC}"/>
              </a:ext>
            </a:extLst>
          </p:cNvPr>
          <p:cNvSpPr txBox="1"/>
          <p:nvPr/>
        </p:nvSpPr>
        <p:spPr>
          <a:xfrm>
            <a:off x="965200" y="3276600"/>
            <a:ext cx="149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900" b="1">
                <a:solidFill>
                  <a:srgbClr val="091C3E"/>
                </a:solidFill>
                <a:latin typeface="Aptos" panose="020B0004020202020204" pitchFamily="34" charset="0"/>
              </a:rPr>
              <a:t>140/140</a:t>
            </a:r>
            <a:endParaRPr lang="zh-CN" altLang="en-US" sz="19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7" name="rs0">
            <a:extLst>
              <a:ext uri="{FF2B5EF4-FFF2-40B4-BE49-F238E27FC236}">
                <a16:creationId xmlns:a16="http://schemas.microsoft.com/office/drawing/2014/main" id="{4A3716E0-F7AE-EF35-76A7-1EE3795A65FD}"/>
              </a:ext>
            </a:extLst>
          </p:cNvPr>
          <p:cNvSpPr txBox="1"/>
          <p:nvPr/>
        </p:nvSpPr>
        <p:spPr>
          <a:xfrm>
            <a:off x="965200" y="4013200"/>
            <a:ext cx="142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30" b="1">
                <a:solidFill>
                  <a:srgbClr val="4A5B78"/>
                </a:solidFill>
                <a:latin typeface="Aptos" panose="020B0004020202020204" pitchFamily="34" charset="0"/>
              </a:rPr>
              <a:t>canonical runs</a:t>
            </a:r>
            <a:endParaRPr lang="zh-CN" altLang="en-US" sz="83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8" name="r1">
            <a:extLst>
              <a:ext uri="{FF2B5EF4-FFF2-40B4-BE49-F238E27FC236}">
                <a16:creationId xmlns:a16="http://schemas.microsoft.com/office/drawing/2014/main" id="{0E71B2DF-C170-AF1F-711E-3B0A4DCE2726}"/>
              </a:ext>
            </a:extLst>
          </p:cNvPr>
          <p:cNvSpPr/>
          <p:nvPr/>
        </p:nvSpPr>
        <p:spPr>
          <a:xfrm>
            <a:off x="2997200" y="2235200"/>
            <a:ext cx="1955800" cy="2260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rbar1">
            <a:extLst>
              <a:ext uri="{FF2B5EF4-FFF2-40B4-BE49-F238E27FC236}">
                <a16:creationId xmlns:a16="http://schemas.microsoft.com/office/drawing/2014/main" id="{79B4B91E-CBAF-71BD-8E18-EBEBA592DB30}"/>
              </a:ext>
            </a:extLst>
          </p:cNvPr>
          <p:cNvSpPr/>
          <p:nvPr/>
        </p:nvSpPr>
        <p:spPr>
          <a:xfrm>
            <a:off x="2997200" y="2235200"/>
            <a:ext cx="1955800" cy="101600"/>
          </a:xfrm>
          <a:prstGeom prst="roundRect">
            <a:avLst/>
          </a:prstGeom>
          <a:solidFill>
            <a:srgbClr val="168E8B"/>
          </a:solidFill>
          <a:ln w="9525" cap="flat" cmpd="sng" algn="ctr">
            <a:solidFill>
              <a:srgbClr val="168E8B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rn1">
            <a:extLst>
              <a:ext uri="{FF2B5EF4-FFF2-40B4-BE49-F238E27FC236}">
                <a16:creationId xmlns:a16="http://schemas.microsoft.com/office/drawing/2014/main" id="{1678CE3B-FF90-D07D-DF52-F7CB7CD39F06}"/>
              </a:ext>
            </a:extLst>
          </p:cNvPr>
          <p:cNvSpPr txBox="1"/>
          <p:nvPr/>
        </p:nvSpPr>
        <p:spPr>
          <a:xfrm>
            <a:off x="3225800" y="2667000"/>
            <a:ext cx="142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50" b="1">
                <a:solidFill>
                  <a:srgbClr val="168E8B"/>
                </a:solidFill>
                <a:latin typeface="Aptos" panose="020B0004020202020204" pitchFamily="34" charset="0"/>
              </a:rPr>
              <a:t>SemCodebook</a:t>
            </a:r>
            <a:endParaRPr lang="zh-CN" altLang="en-US" sz="950" b="1">
              <a:solidFill>
                <a:srgbClr val="168E8B"/>
              </a:solidFill>
              <a:latin typeface="Aptos" panose="020B0004020202020204" pitchFamily="34" charset="0"/>
            </a:endParaRPr>
          </a:p>
        </p:txBody>
      </p:sp>
      <p:sp>
        <p:nvSpPr>
          <p:cNvPr id="21" name="rv1">
            <a:extLst>
              <a:ext uri="{FF2B5EF4-FFF2-40B4-BE49-F238E27FC236}">
                <a16:creationId xmlns:a16="http://schemas.microsoft.com/office/drawing/2014/main" id="{C38CE178-163C-47FF-62C3-AD0E0381059A}"/>
              </a:ext>
            </a:extLst>
          </p:cNvPr>
          <p:cNvSpPr txBox="1"/>
          <p:nvPr/>
        </p:nvSpPr>
        <p:spPr>
          <a:xfrm>
            <a:off x="3225800" y="3276600"/>
            <a:ext cx="149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900" b="1">
                <a:solidFill>
                  <a:srgbClr val="091C3E"/>
                </a:solidFill>
                <a:latin typeface="Aptos" panose="020B0004020202020204" pitchFamily="34" charset="0"/>
              </a:rPr>
              <a:t>23,342/24,000</a:t>
            </a:r>
            <a:endParaRPr lang="zh-CN" altLang="en-US" sz="19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2" name="rs1">
            <a:extLst>
              <a:ext uri="{FF2B5EF4-FFF2-40B4-BE49-F238E27FC236}">
                <a16:creationId xmlns:a16="http://schemas.microsoft.com/office/drawing/2014/main" id="{E4BBFACE-261E-1E83-946E-0347960DFBEC}"/>
              </a:ext>
            </a:extLst>
          </p:cNvPr>
          <p:cNvSpPr txBox="1"/>
          <p:nvPr/>
        </p:nvSpPr>
        <p:spPr>
          <a:xfrm>
            <a:off x="3225800" y="4013200"/>
            <a:ext cx="142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30" b="1">
                <a:solidFill>
                  <a:srgbClr val="4A5B78"/>
                </a:solidFill>
                <a:latin typeface="Aptos" panose="020B0004020202020204" pitchFamily="34" charset="0"/>
              </a:rPr>
              <a:t>positive recoveries</a:t>
            </a:r>
            <a:endParaRPr lang="zh-CN" altLang="en-US" sz="83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23" name="r2">
            <a:extLst>
              <a:ext uri="{FF2B5EF4-FFF2-40B4-BE49-F238E27FC236}">
                <a16:creationId xmlns:a16="http://schemas.microsoft.com/office/drawing/2014/main" id="{A2ADCCEE-59C8-50B2-E95C-3E81510E62AC}"/>
              </a:ext>
            </a:extLst>
          </p:cNvPr>
          <p:cNvSpPr/>
          <p:nvPr/>
        </p:nvSpPr>
        <p:spPr>
          <a:xfrm>
            <a:off x="5257800" y="2235200"/>
            <a:ext cx="1955800" cy="2260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rbar2">
            <a:extLst>
              <a:ext uri="{FF2B5EF4-FFF2-40B4-BE49-F238E27FC236}">
                <a16:creationId xmlns:a16="http://schemas.microsoft.com/office/drawing/2014/main" id="{B9CEB75C-C25D-9A1F-030E-35BF1BAF6B77}"/>
              </a:ext>
            </a:extLst>
          </p:cNvPr>
          <p:cNvSpPr/>
          <p:nvPr/>
        </p:nvSpPr>
        <p:spPr>
          <a:xfrm>
            <a:off x="5257800" y="2235200"/>
            <a:ext cx="1955800" cy="101600"/>
          </a:xfrm>
          <a:prstGeom prst="roundRect">
            <a:avLst/>
          </a:prstGeom>
          <a:solidFill>
            <a:srgbClr val="5B45C8"/>
          </a:solidFill>
          <a:ln w="9525" cap="flat" cmpd="sng" algn="ctr">
            <a:solidFill>
              <a:srgbClr val="5B45C8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rn2">
            <a:extLst>
              <a:ext uri="{FF2B5EF4-FFF2-40B4-BE49-F238E27FC236}">
                <a16:creationId xmlns:a16="http://schemas.microsoft.com/office/drawing/2014/main" id="{7FBECEC2-D427-87DE-47F7-E0C6A265B95D}"/>
              </a:ext>
            </a:extLst>
          </p:cNvPr>
          <p:cNvSpPr txBox="1"/>
          <p:nvPr/>
        </p:nvSpPr>
        <p:spPr>
          <a:xfrm>
            <a:off x="5486400" y="2667000"/>
            <a:ext cx="142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50" b="1">
                <a:solidFill>
                  <a:srgbClr val="5B45C8"/>
                </a:solidFill>
                <a:latin typeface="Aptos" panose="020B0004020202020204" pitchFamily="34" charset="0"/>
              </a:rPr>
              <a:t>CodeDye</a:t>
            </a:r>
            <a:endParaRPr lang="zh-CN" altLang="en-US" sz="950" b="1">
              <a:solidFill>
                <a:srgbClr val="5B45C8"/>
              </a:solidFill>
              <a:latin typeface="Aptos" panose="020B0004020202020204" pitchFamily="34" charset="0"/>
            </a:endParaRPr>
          </a:p>
        </p:txBody>
      </p:sp>
      <p:sp>
        <p:nvSpPr>
          <p:cNvPr id="26" name="rv2">
            <a:extLst>
              <a:ext uri="{FF2B5EF4-FFF2-40B4-BE49-F238E27FC236}">
                <a16:creationId xmlns:a16="http://schemas.microsoft.com/office/drawing/2014/main" id="{67C40097-185C-3A9B-E60D-7D681613F471}"/>
              </a:ext>
            </a:extLst>
          </p:cNvPr>
          <p:cNvSpPr txBox="1"/>
          <p:nvPr/>
        </p:nvSpPr>
        <p:spPr>
          <a:xfrm>
            <a:off x="5486400" y="3276600"/>
            <a:ext cx="149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900" b="1">
                <a:solidFill>
                  <a:srgbClr val="091C3E"/>
                </a:solidFill>
                <a:latin typeface="Aptos" panose="020B0004020202020204" pitchFamily="34" charset="0"/>
              </a:rPr>
              <a:t>6/300</a:t>
            </a:r>
            <a:endParaRPr lang="zh-CN" altLang="en-US" sz="19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7" name="rs2">
            <a:extLst>
              <a:ext uri="{FF2B5EF4-FFF2-40B4-BE49-F238E27FC236}">
                <a16:creationId xmlns:a16="http://schemas.microsoft.com/office/drawing/2014/main" id="{7A869654-31DD-EC97-71EF-E65B566CDCA2}"/>
              </a:ext>
            </a:extLst>
          </p:cNvPr>
          <p:cNvSpPr txBox="1"/>
          <p:nvPr/>
        </p:nvSpPr>
        <p:spPr>
          <a:xfrm>
            <a:off x="5486400" y="4013200"/>
            <a:ext cx="142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30" b="1">
                <a:solidFill>
                  <a:srgbClr val="4A5B78"/>
                </a:solidFill>
                <a:latin typeface="Aptos" panose="020B0004020202020204" pitchFamily="34" charset="0"/>
              </a:rPr>
              <a:t>sparse live signals</a:t>
            </a:r>
            <a:endParaRPr lang="zh-CN" altLang="en-US" sz="83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28" name="r3">
            <a:extLst>
              <a:ext uri="{FF2B5EF4-FFF2-40B4-BE49-F238E27FC236}">
                <a16:creationId xmlns:a16="http://schemas.microsoft.com/office/drawing/2014/main" id="{5CE4F7C5-8959-3AEA-4B86-72C998F56BCA}"/>
              </a:ext>
            </a:extLst>
          </p:cNvPr>
          <p:cNvSpPr/>
          <p:nvPr/>
        </p:nvSpPr>
        <p:spPr>
          <a:xfrm>
            <a:off x="7518400" y="2235200"/>
            <a:ext cx="1955800" cy="2260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rbar3">
            <a:extLst>
              <a:ext uri="{FF2B5EF4-FFF2-40B4-BE49-F238E27FC236}">
                <a16:creationId xmlns:a16="http://schemas.microsoft.com/office/drawing/2014/main" id="{E779A8CC-424D-A17B-64CE-5A4B06E25DE3}"/>
              </a:ext>
            </a:extLst>
          </p:cNvPr>
          <p:cNvSpPr/>
          <p:nvPr/>
        </p:nvSpPr>
        <p:spPr>
          <a:xfrm>
            <a:off x="7518400" y="2235200"/>
            <a:ext cx="1955800" cy="101600"/>
          </a:xfrm>
          <a:prstGeom prst="roundRect">
            <a:avLst/>
          </a:prstGeom>
          <a:solidFill>
            <a:srgbClr val="B85C00"/>
          </a:solidFill>
          <a:ln w="9525" cap="flat" cmpd="sng" algn="ctr">
            <a:solidFill>
              <a:srgbClr val="B85C00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rn3">
            <a:extLst>
              <a:ext uri="{FF2B5EF4-FFF2-40B4-BE49-F238E27FC236}">
                <a16:creationId xmlns:a16="http://schemas.microsoft.com/office/drawing/2014/main" id="{BA143D12-6130-0D7B-84F3-B7C31DBBD81F}"/>
              </a:ext>
            </a:extLst>
          </p:cNvPr>
          <p:cNvSpPr txBox="1"/>
          <p:nvPr/>
        </p:nvSpPr>
        <p:spPr>
          <a:xfrm>
            <a:off x="7747000" y="2667000"/>
            <a:ext cx="142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50" b="1">
                <a:solidFill>
                  <a:srgbClr val="B85C00"/>
                </a:solidFill>
                <a:latin typeface="Aptos" panose="020B0004020202020204" pitchFamily="34" charset="0"/>
              </a:rPr>
              <a:t>ProbeTrace</a:t>
            </a:r>
            <a:endParaRPr lang="zh-CN" altLang="en-US" sz="950" b="1">
              <a:solidFill>
                <a:srgbClr val="B85C00"/>
              </a:solidFill>
              <a:latin typeface="Aptos" panose="020B0004020202020204" pitchFamily="34" charset="0"/>
            </a:endParaRPr>
          </a:p>
        </p:txBody>
      </p:sp>
      <p:sp>
        <p:nvSpPr>
          <p:cNvPr id="31" name="rv3">
            <a:extLst>
              <a:ext uri="{FF2B5EF4-FFF2-40B4-BE49-F238E27FC236}">
                <a16:creationId xmlns:a16="http://schemas.microsoft.com/office/drawing/2014/main" id="{B510833C-56F7-AC5C-4A2A-F1E4F5508EBF}"/>
              </a:ext>
            </a:extLst>
          </p:cNvPr>
          <p:cNvSpPr txBox="1"/>
          <p:nvPr/>
        </p:nvSpPr>
        <p:spPr>
          <a:xfrm>
            <a:off x="7747000" y="3276600"/>
            <a:ext cx="149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900" b="1">
                <a:solidFill>
                  <a:srgbClr val="091C3E"/>
                </a:solidFill>
                <a:latin typeface="Aptos" panose="020B0004020202020204" pitchFamily="34" charset="0"/>
              </a:rPr>
              <a:t>300/300</a:t>
            </a:r>
            <a:endParaRPr lang="zh-CN" altLang="en-US" sz="19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32" name="rs3">
            <a:extLst>
              <a:ext uri="{FF2B5EF4-FFF2-40B4-BE49-F238E27FC236}">
                <a16:creationId xmlns:a16="http://schemas.microsoft.com/office/drawing/2014/main" id="{AC88F555-DD6A-09CB-A349-3E2692D5A7C7}"/>
              </a:ext>
            </a:extLst>
          </p:cNvPr>
          <p:cNvSpPr txBox="1"/>
          <p:nvPr/>
        </p:nvSpPr>
        <p:spPr>
          <a:xfrm>
            <a:off x="7747000" y="4013200"/>
            <a:ext cx="142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30" b="1">
                <a:solidFill>
                  <a:srgbClr val="4A5B78"/>
                </a:solidFill>
                <a:latin typeface="Aptos" panose="020B0004020202020204" pitchFamily="34" charset="0"/>
              </a:rPr>
              <a:t>scoped decisions</a:t>
            </a:r>
            <a:endParaRPr lang="zh-CN" altLang="en-US" sz="83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33" name="r4">
            <a:extLst>
              <a:ext uri="{FF2B5EF4-FFF2-40B4-BE49-F238E27FC236}">
                <a16:creationId xmlns:a16="http://schemas.microsoft.com/office/drawing/2014/main" id="{7BC1F030-88A7-9E12-3BDF-06F0680D8739}"/>
              </a:ext>
            </a:extLst>
          </p:cNvPr>
          <p:cNvSpPr/>
          <p:nvPr/>
        </p:nvSpPr>
        <p:spPr>
          <a:xfrm>
            <a:off x="9779000" y="2235200"/>
            <a:ext cx="1955800" cy="2260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rbar4">
            <a:extLst>
              <a:ext uri="{FF2B5EF4-FFF2-40B4-BE49-F238E27FC236}">
                <a16:creationId xmlns:a16="http://schemas.microsoft.com/office/drawing/2014/main" id="{BEFFCA9D-126D-A229-8C76-958D4F714D36}"/>
              </a:ext>
            </a:extLst>
          </p:cNvPr>
          <p:cNvSpPr/>
          <p:nvPr/>
        </p:nvSpPr>
        <p:spPr>
          <a:xfrm>
            <a:off x="9779000" y="2235200"/>
            <a:ext cx="1955800" cy="101600"/>
          </a:xfrm>
          <a:prstGeom prst="roundRect">
            <a:avLst/>
          </a:prstGeom>
          <a:solidFill>
            <a:srgbClr val="1F7A4D"/>
          </a:solidFill>
          <a:ln w="9525" cap="flat" cmpd="sng" algn="ctr">
            <a:solidFill>
              <a:srgbClr val="1F7A4D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rn4">
            <a:extLst>
              <a:ext uri="{FF2B5EF4-FFF2-40B4-BE49-F238E27FC236}">
                <a16:creationId xmlns:a16="http://schemas.microsoft.com/office/drawing/2014/main" id="{12788650-7D24-3D76-3946-57DC8E8E41DB}"/>
              </a:ext>
            </a:extLst>
          </p:cNvPr>
          <p:cNvSpPr txBox="1"/>
          <p:nvPr/>
        </p:nvSpPr>
        <p:spPr>
          <a:xfrm>
            <a:off x="10007600" y="2667000"/>
            <a:ext cx="142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50" b="1">
                <a:solidFill>
                  <a:srgbClr val="1F7A4D"/>
                </a:solidFill>
                <a:latin typeface="Aptos" panose="020B0004020202020204" pitchFamily="34" charset="0"/>
              </a:rPr>
              <a:t>SealAudit</a:t>
            </a:r>
            <a:endParaRPr lang="zh-CN" altLang="en-US" sz="950" b="1">
              <a:solidFill>
                <a:srgbClr val="1F7A4D"/>
              </a:solidFill>
              <a:latin typeface="Aptos" panose="020B0004020202020204" pitchFamily="34" charset="0"/>
            </a:endParaRPr>
          </a:p>
        </p:txBody>
      </p:sp>
      <p:sp>
        <p:nvSpPr>
          <p:cNvPr id="36" name="rv4">
            <a:extLst>
              <a:ext uri="{FF2B5EF4-FFF2-40B4-BE49-F238E27FC236}">
                <a16:creationId xmlns:a16="http://schemas.microsoft.com/office/drawing/2014/main" id="{7628FFBC-EBC6-5600-0D72-CC2D49024B23}"/>
              </a:ext>
            </a:extLst>
          </p:cNvPr>
          <p:cNvSpPr txBox="1"/>
          <p:nvPr/>
        </p:nvSpPr>
        <p:spPr>
          <a:xfrm>
            <a:off x="10007600" y="3276600"/>
            <a:ext cx="149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900" b="1">
                <a:solidFill>
                  <a:srgbClr val="091C3E"/>
                </a:solidFill>
                <a:latin typeface="Aptos" panose="020B0004020202020204" pitchFamily="34" charset="0"/>
              </a:rPr>
              <a:t>81/960</a:t>
            </a:r>
            <a:endParaRPr lang="zh-CN" altLang="en-US" sz="19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37" name="rs4">
            <a:extLst>
              <a:ext uri="{FF2B5EF4-FFF2-40B4-BE49-F238E27FC236}">
                <a16:creationId xmlns:a16="http://schemas.microsoft.com/office/drawing/2014/main" id="{AFCA9A05-68C2-2BE2-89C9-8BF0237676F6}"/>
              </a:ext>
            </a:extLst>
          </p:cNvPr>
          <p:cNvSpPr txBox="1"/>
          <p:nvPr/>
        </p:nvSpPr>
        <p:spPr>
          <a:xfrm>
            <a:off x="10007600" y="4013200"/>
            <a:ext cx="142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30" b="1">
                <a:solidFill>
                  <a:srgbClr val="4A5B78"/>
                </a:solidFill>
                <a:latin typeface="Aptos" panose="020B0004020202020204" pitchFamily="34" charset="0"/>
              </a:rPr>
              <a:t>decisive triage</a:t>
            </a:r>
            <a:endParaRPr lang="zh-CN" altLang="en-US" sz="83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38" name="result-take">
            <a:extLst>
              <a:ext uri="{FF2B5EF4-FFF2-40B4-BE49-F238E27FC236}">
                <a16:creationId xmlns:a16="http://schemas.microsoft.com/office/drawing/2014/main" id="{C46FEA2E-28C3-4EAF-39C2-A4AD6FCB9593}"/>
              </a:ext>
            </a:extLst>
          </p:cNvPr>
          <p:cNvSpPr/>
          <p:nvPr/>
        </p:nvSpPr>
        <p:spPr>
          <a:xfrm>
            <a:off x="2108200" y="5207000"/>
            <a:ext cx="7975600" cy="457200"/>
          </a:xfrm>
          <a:prstGeom prst="roundRect">
            <a:avLst/>
          </a:prstGeom>
          <a:solidFill>
            <a:srgbClr val="FFF7E0"/>
          </a:solidFill>
          <a:ln w="9525" cap="flat" cmpd="sng" algn="ctr">
            <a:solidFill>
              <a:srgbClr val="F4C249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result-take-t">
            <a:extLst>
              <a:ext uri="{FF2B5EF4-FFF2-40B4-BE49-F238E27FC236}">
                <a16:creationId xmlns:a16="http://schemas.microsoft.com/office/drawing/2014/main" id="{1B240CB3-34C9-059F-C3B2-97C08CC09761}"/>
              </a:ext>
            </a:extLst>
          </p:cNvPr>
          <p:cNvSpPr txBox="1"/>
          <p:nvPr/>
        </p:nvSpPr>
        <p:spPr>
          <a:xfrm>
            <a:off x="2514600" y="5346700"/>
            <a:ext cx="718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80" b="1">
                <a:solidFill>
                  <a:srgbClr val="091C3E"/>
                </a:solidFill>
                <a:latin typeface="Aptos" panose="020B0004020202020204" pitchFamily="34" charset="0"/>
              </a:rPr>
              <a:t>Strong claims are narrow. Broad claims require new admitted evidence.</a:t>
            </a:r>
            <a:endParaRPr lang="zh-CN" altLang="en-US" sz="98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40" name="footer-hit-7">
            <a:hlinkClick r:id="rId4"/>
            <a:extLst>
              <a:ext uri="{FF2B5EF4-FFF2-40B4-BE49-F238E27FC236}">
                <a16:creationId xmlns:a16="http://schemas.microsoft.com/office/drawing/2014/main" id="{3376B957-7E33-21BF-C9D2-285B94E15DBB}"/>
              </a:ext>
            </a:extLst>
          </p:cNvPr>
          <p:cNvSpPr/>
          <p:nvPr/>
        </p:nvSpPr>
        <p:spPr>
          <a:xfrm>
            <a:off x="685800" y="6502400"/>
            <a:ext cx="3175000" cy="2286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99500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">
        <p:fade thruBlk="1"/>
      </p:transition>
    </mc:Choice>
    <mc:Fallback>
      <p:transition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6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4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2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98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16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34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2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7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88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6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324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42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6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78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396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4140"/>
                            </p:stCondLst>
                            <p:childTnLst>
                              <p:par>
                                <p:cTn id="9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1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432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4500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1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4680"/>
                            </p:stCondLst>
                            <p:childTnLst>
                              <p:par>
                                <p:cTn id="10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18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4860"/>
                            </p:stCondLst>
                            <p:childTnLst>
                              <p:par>
                                <p:cTn id="1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18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3" grpId="0" animBg="1"/>
      <p:bldP spid="14" grpId="0" animBg="1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 animBg="1"/>
      <p:bldP spid="25" grpId="0"/>
      <p:bldP spid="26" grpId="0"/>
      <p:bldP spid="27" grpId="0"/>
      <p:bldP spid="28" grpId="0" animBg="1"/>
      <p:bldP spid="29" grpId="0" animBg="1"/>
      <p:bldP spid="30" grpId="0"/>
      <p:bldP spid="31" grpId="0"/>
      <p:bldP spid="32" grpId="0"/>
      <p:bldP spid="33" grpId="0" animBg="1"/>
      <p:bldP spid="34" grpId="0" animBg="1"/>
      <p:bldP spid="35" grpId="0"/>
      <p:bldP spid="36" grpId="0"/>
      <p:bldP spid="37" grpId="0"/>
      <p:bldP spid="38" grpId="0" animBg="1"/>
      <p:bldP spid="3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>
            <a:extLst>
              <a:ext uri="{FF2B5EF4-FFF2-40B4-BE49-F238E27FC236}">
                <a16:creationId xmlns:a16="http://schemas.microsoft.com/office/drawing/2014/main" id="{46AA78DD-CE89-9514-2207-CA0A5EF6C10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ail">
            <a:extLst>
              <a:ext uri="{FF2B5EF4-FFF2-40B4-BE49-F238E27FC236}">
                <a16:creationId xmlns:a16="http://schemas.microsoft.com/office/drawing/2014/main" id="{C0079857-9218-5FBD-3B6B-80F403C70E70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003B7A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ection">
            <a:extLst>
              <a:ext uri="{FF2B5EF4-FFF2-40B4-BE49-F238E27FC236}">
                <a16:creationId xmlns:a16="http://schemas.microsoft.com/office/drawing/2014/main" id="{52ED3842-3B2B-B5C5-B00D-F62D2F6B72E1}"/>
              </a:ext>
            </a:extLst>
          </p:cNvPr>
          <p:cNvSpPr txBox="1"/>
          <p:nvPr/>
        </p:nvSpPr>
        <p:spPr>
          <a:xfrm>
            <a:off x="736600" y="457200"/>
            <a:ext cx="355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003B7A"/>
                </a:solidFill>
                <a:latin typeface="Aptos" panose="020B0004020202020204" pitchFamily="34" charset="0"/>
              </a:rPr>
              <a:t>INTERPRETATION</a:t>
            </a:r>
            <a:endParaRPr lang="zh-CN" altLang="en-US" sz="85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5" name="num">
            <a:extLst>
              <a:ext uri="{FF2B5EF4-FFF2-40B4-BE49-F238E27FC236}">
                <a16:creationId xmlns:a16="http://schemas.microsoft.com/office/drawing/2014/main" id="{BE030D16-05E7-4966-808C-A1118F3E3C84}"/>
              </a:ext>
            </a:extLst>
          </p:cNvPr>
          <p:cNvSpPr txBox="1"/>
          <p:nvPr/>
        </p:nvSpPr>
        <p:spPr>
          <a:xfrm>
            <a:off x="11531600" y="4572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00">
                <a:solidFill>
                  <a:srgbClr val="4A5B78"/>
                </a:solidFill>
                <a:latin typeface="Aptos" panose="020B0004020202020204" pitchFamily="34" charset="0"/>
              </a:rPr>
              <a:t>08</a:t>
            </a:r>
            <a:endParaRPr lang="zh-CN" altLang="en-US" sz="70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6" name="top-rule">
            <a:extLst>
              <a:ext uri="{FF2B5EF4-FFF2-40B4-BE49-F238E27FC236}">
                <a16:creationId xmlns:a16="http://schemas.microsoft.com/office/drawing/2014/main" id="{4C924941-2AE3-6ED7-F616-D80AE010CBC5}"/>
              </a:ext>
            </a:extLst>
          </p:cNvPr>
          <p:cNvCxnSpPr/>
          <p:nvPr/>
        </p:nvCxnSpPr>
        <p:spPr>
          <a:xfrm>
            <a:off x="736600" y="1701800"/>
            <a:ext cx="10718800" cy="0"/>
          </a:xfrm>
          <a:prstGeom prst="line">
            <a:avLst/>
          </a:prstGeom>
          <a:ln w="12700">
            <a:solidFill>
              <a:srgbClr val="D3E1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">
            <a:extLst>
              <a:ext uri="{FF2B5EF4-FFF2-40B4-BE49-F238E27FC236}">
                <a16:creationId xmlns:a16="http://schemas.microsoft.com/office/drawing/2014/main" id="{335094EA-88D1-04B3-094E-EBFC0EE4CEF5}"/>
              </a:ext>
            </a:extLst>
          </p:cNvPr>
          <p:cNvSpPr txBox="1"/>
          <p:nvPr/>
        </p:nvSpPr>
        <p:spPr>
          <a:xfrm>
            <a:off x="736600" y="6527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WatermarkScope FYP Viva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8" name="student">
            <a:extLst>
              <a:ext uri="{FF2B5EF4-FFF2-40B4-BE49-F238E27FC236}">
                <a16:creationId xmlns:a16="http://schemas.microsoft.com/office/drawing/2014/main" id="{5CE6526F-58DD-4D8D-8B61-C0A88AEEE549}"/>
              </a:ext>
            </a:extLst>
          </p:cNvPr>
          <p:cNvSpPr txBox="1"/>
          <p:nvPr/>
        </p:nvSpPr>
        <p:spPr>
          <a:xfrm>
            <a:off x="4978400" y="65278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Haoyi Zhang | 2254912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7420B53A-68AF-FE91-29BB-6171EA21886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9600" y="6096000"/>
            <a:ext cx="1803400" cy="48260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AABFE68F-7767-7134-FFE0-E80233262275}"/>
              </a:ext>
            </a:extLst>
          </p:cNvPr>
          <p:cNvSpPr txBox="1"/>
          <p:nvPr/>
        </p:nvSpPr>
        <p:spPr>
          <a:xfrm>
            <a:off x="736600" y="838200"/>
            <a:ext cx="1054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700" b="1">
                <a:solidFill>
                  <a:srgbClr val="091C3E"/>
                </a:solidFill>
                <a:latin typeface="Aptos" panose="020B0004020202020204" pitchFamily="34" charset="0"/>
              </a:rPr>
              <a:t>Abstention is part of the result.</a:t>
            </a:r>
            <a:endParaRPr lang="zh-CN" altLang="en-US" sz="27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8C81DF2F-8812-F47D-66F7-E5C413909B04}"/>
              </a:ext>
            </a:extLst>
          </p:cNvPr>
          <p:cNvSpPr txBox="1"/>
          <p:nvPr/>
        </p:nvSpPr>
        <p:spPr>
          <a:xfrm>
            <a:off x="787400" y="147320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80">
                <a:solidFill>
                  <a:srgbClr val="4A5B78"/>
                </a:solidFill>
                <a:latin typeface="Aptos" panose="020B0004020202020204" pitchFamily="34" charset="0"/>
              </a:rPr>
              <a:t>If the evidence is insufficient, the correct answer is a bounded null or review outcome.</a:t>
            </a:r>
            <a:endParaRPr lang="zh-CN" altLang="en-US" sz="118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3" name="left">
            <a:extLst>
              <a:ext uri="{FF2B5EF4-FFF2-40B4-BE49-F238E27FC236}">
                <a16:creationId xmlns:a16="http://schemas.microsoft.com/office/drawing/2014/main" id="{693F7D76-F2A4-6126-2C8B-D7B4920604C7}"/>
              </a:ext>
            </a:extLst>
          </p:cNvPr>
          <p:cNvSpPr/>
          <p:nvPr/>
        </p:nvSpPr>
        <p:spPr>
          <a:xfrm>
            <a:off x="1168400" y="2235200"/>
            <a:ext cx="4191000" cy="26924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leftbar">
            <a:extLst>
              <a:ext uri="{FF2B5EF4-FFF2-40B4-BE49-F238E27FC236}">
                <a16:creationId xmlns:a16="http://schemas.microsoft.com/office/drawing/2014/main" id="{A21A1836-DBEB-1A6E-4534-A7F64432CC93}"/>
              </a:ext>
            </a:extLst>
          </p:cNvPr>
          <p:cNvSpPr/>
          <p:nvPr/>
        </p:nvSpPr>
        <p:spPr>
          <a:xfrm>
            <a:off x="1168400" y="2235200"/>
            <a:ext cx="4191000" cy="101600"/>
          </a:xfrm>
          <a:prstGeom prst="roundRect">
            <a:avLst/>
          </a:prstGeom>
          <a:solidFill>
            <a:srgbClr val="5B45C8"/>
          </a:solidFill>
          <a:ln w="9525" cap="flat" cmpd="sng" algn="ctr">
            <a:solidFill>
              <a:srgbClr val="5B45C8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eft-title">
            <a:extLst>
              <a:ext uri="{FF2B5EF4-FFF2-40B4-BE49-F238E27FC236}">
                <a16:creationId xmlns:a16="http://schemas.microsoft.com/office/drawing/2014/main" id="{7718EFE1-82BA-3559-B78C-8E2F69DC5593}"/>
              </a:ext>
            </a:extLst>
          </p:cNvPr>
          <p:cNvSpPr txBox="1"/>
          <p:nvPr/>
        </p:nvSpPr>
        <p:spPr>
          <a:xfrm>
            <a:off x="1574800" y="2743200"/>
            <a:ext cx="2082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500" b="1">
                <a:solidFill>
                  <a:srgbClr val="5B45C8"/>
                </a:solidFill>
                <a:latin typeface="Aptos" panose="020B0004020202020204" pitchFamily="34" charset="0"/>
              </a:rPr>
              <a:t>CodeDye</a:t>
            </a:r>
            <a:endParaRPr lang="zh-CN" altLang="en-US" sz="1500" b="1">
              <a:solidFill>
                <a:srgbClr val="5B45C8"/>
              </a:solidFill>
              <a:latin typeface="Aptos" panose="020B0004020202020204" pitchFamily="34" charset="0"/>
            </a:endParaRPr>
          </a:p>
        </p:txBody>
      </p:sp>
      <p:sp>
        <p:nvSpPr>
          <p:cNvPr id="16" name="left-val">
            <a:extLst>
              <a:ext uri="{FF2B5EF4-FFF2-40B4-BE49-F238E27FC236}">
                <a16:creationId xmlns:a16="http://schemas.microsoft.com/office/drawing/2014/main" id="{55AE7640-C47A-21E5-A523-C8E12D94E23C}"/>
              </a:ext>
            </a:extLst>
          </p:cNvPr>
          <p:cNvSpPr txBox="1"/>
          <p:nvPr/>
        </p:nvSpPr>
        <p:spPr>
          <a:xfrm>
            <a:off x="1574800" y="3302000"/>
            <a:ext cx="165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3000" b="1">
                <a:solidFill>
                  <a:srgbClr val="091C3E"/>
                </a:solidFill>
                <a:latin typeface="Aptos" panose="020B0004020202020204" pitchFamily="34" charset="0"/>
              </a:rPr>
              <a:t>6/300</a:t>
            </a:r>
            <a:endParaRPr lang="zh-CN" altLang="en-US" sz="30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7" name="left-body">
            <a:extLst>
              <a:ext uri="{FF2B5EF4-FFF2-40B4-BE49-F238E27FC236}">
                <a16:creationId xmlns:a16="http://schemas.microsoft.com/office/drawing/2014/main" id="{A4889088-CD4B-8750-EDF0-1B03E44D3453}"/>
              </a:ext>
            </a:extLst>
          </p:cNvPr>
          <p:cNvSpPr txBox="1"/>
          <p:nvPr/>
        </p:nvSpPr>
        <p:spPr>
          <a:xfrm>
            <a:off x="1574800" y="40894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20" b="1">
                <a:solidFill>
                  <a:srgbClr val="4A5B78"/>
                </a:solidFill>
                <a:latin typeface="Aptos" panose="020B0004020202020204" pitchFamily="34" charset="0"/>
              </a:rPr>
              <a:t>Allows: conservative null-audit evidence.
Blocks: provider accusation.</a:t>
            </a:r>
            <a:endParaRPr lang="zh-CN" altLang="en-US" sz="102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8" name="right">
            <a:extLst>
              <a:ext uri="{FF2B5EF4-FFF2-40B4-BE49-F238E27FC236}">
                <a16:creationId xmlns:a16="http://schemas.microsoft.com/office/drawing/2014/main" id="{AD43875F-A55A-372F-E084-7701ECD1040F}"/>
              </a:ext>
            </a:extLst>
          </p:cNvPr>
          <p:cNvSpPr/>
          <p:nvPr/>
        </p:nvSpPr>
        <p:spPr>
          <a:xfrm>
            <a:off x="6832600" y="2235200"/>
            <a:ext cx="4191000" cy="26924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rightbar">
            <a:extLst>
              <a:ext uri="{FF2B5EF4-FFF2-40B4-BE49-F238E27FC236}">
                <a16:creationId xmlns:a16="http://schemas.microsoft.com/office/drawing/2014/main" id="{5454EBF5-27CE-186A-E3FC-2F3A506EE290}"/>
              </a:ext>
            </a:extLst>
          </p:cNvPr>
          <p:cNvSpPr/>
          <p:nvPr/>
        </p:nvSpPr>
        <p:spPr>
          <a:xfrm>
            <a:off x="6832600" y="2235200"/>
            <a:ext cx="4191000" cy="101600"/>
          </a:xfrm>
          <a:prstGeom prst="roundRect">
            <a:avLst/>
          </a:prstGeom>
          <a:solidFill>
            <a:srgbClr val="1F7A4D"/>
          </a:solidFill>
          <a:ln w="9525" cap="flat" cmpd="sng" algn="ctr">
            <a:solidFill>
              <a:srgbClr val="1F7A4D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right-title">
            <a:extLst>
              <a:ext uri="{FF2B5EF4-FFF2-40B4-BE49-F238E27FC236}">
                <a16:creationId xmlns:a16="http://schemas.microsoft.com/office/drawing/2014/main" id="{993BA482-A3C5-4BB9-6D3C-80AFB843E6D3}"/>
              </a:ext>
            </a:extLst>
          </p:cNvPr>
          <p:cNvSpPr txBox="1"/>
          <p:nvPr/>
        </p:nvSpPr>
        <p:spPr>
          <a:xfrm>
            <a:off x="7239000" y="2743200"/>
            <a:ext cx="2082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500" b="1">
                <a:solidFill>
                  <a:srgbClr val="1F7A4D"/>
                </a:solidFill>
                <a:latin typeface="Aptos" panose="020B0004020202020204" pitchFamily="34" charset="0"/>
              </a:rPr>
              <a:t>SealAudit</a:t>
            </a:r>
            <a:endParaRPr lang="zh-CN" altLang="en-US" sz="1500" b="1">
              <a:solidFill>
                <a:srgbClr val="1F7A4D"/>
              </a:solidFill>
              <a:latin typeface="Aptos" panose="020B0004020202020204" pitchFamily="34" charset="0"/>
            </a:endParaRPr>
          </a:p>
        </p:txBody>
      </p:sp>
      <p:sp>
        <p:nvSpPr>
          <p:cNvPr id="21" name="right-val">
            <a:extLst>
              <a:ext uri="{FF2B5EF4-FFF2-40B4-BE49-F238E27FC236}">
                <a16:creationId xmlns:a16="http://schemas.microsoft.com/office/drawing/2014/main" id="{5FB085FE-22E9-C6B7-B730-92F0BB8A597A}"/>
              </a:ext>
            </a:extLst>
          </p:cNvPr>
          <p:cNvSpPr txBox="1"/>
          <p:nvPr/>
        </p:nvSpPr>
        <p:spPr>
          <a:xfrm>
            <a:off x="7239000" y="3302000"/>
            <a:ext cx="165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3000" b="1">
                <a:solidFill>
                  <a:srgbClr val="091C3E"/>
                </a:solidFill>
                <a:latin typeface="Aptos" panose="020B0004020202020204" pitchFamily="34" charset="0"/>
              </a:rPr>
              <a:t>81/960</a:t>
            </a:r>
            <a:endParaRPr lang="zh-CN" altLang="en-US" sz="30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2" name="right-body">
            <a:extLst>
              <a:ext uri="{FF2B5EF4-FFF2-40B4-BE49-F238E27FC236}">
                <a16:creationId xmlns:a16="http://schemas.microsoft.com/office/drawing/2014/main" id="{D535D766-CF53-E181-D0F5-70F0B912925E}"/>
              </a:ext>
            </a:extLst>
          </p:cNvPr>
          <p:cNvSpPr txBox="1"/>
          <p:nvPr/>
        </p:nvSpPr>
        <p:spPr>
          <a:xfrm>
            <a:off x="7239000" y="40894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20" b="1">
                <a:solidFill>
                  <a:srgbClr val="4A5B78"/>
                </a:solidFill>
                <a:latin typeface="Aptos" panose="020B0004020202020204" pitchFamily="34" charset="0"/>
              </a:rPr>
              <a:t>Allows: selective security triage.
Blocks: safety certificate.</a:t>
            </a:r>
            <a:endParaRPr lang="zh-CN" altLang="en-US" sz="102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23" name="footer-hit-8">
            <a:hlinkClick r:id="rId4"/>
            <a:extLst>
              <a:ext uri="{FF2B5EF4-FFF2-40B4-BE49-F238E27FC236}">
                <a16:creationId xmlns:a16="http://schemas.microsoft.com/office/drawing/2014/main" id="{0DDE452D-3E85-6A2D-8049-E36070768DF1}"/>
              </a:ext>
            </a:extLst>
          </p:cNvPr>
          <p:cNvSpPr/>
          <p:nvPr/>
        </p:nvSpPr>
        <p:spPr>
          <a:xfrm>
            <a:off x="685800" y="6502400"/>
            <a:ext cx="3175000" cy="2286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32520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">
        <p:fade thruBlk="1"/>
      </p:transition>
    </mc:Choice>
    <mc:Fallback>
      <p:transition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6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4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2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>
            <a:extLst>
              <a:ext uri="{FF2B5EF4-FFF2-40B4-BE49-F238E27FC236}">
                <a16:creationId xmlns:a16="http://schemas.microsoft.com/office/drawing/2014/main" id="{A24EDFF9-E708-F4F8-CB36-419C4E43954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ail">
            <a:extLst>
              <a:ext uri="{FF2B5EF4-FFF2-40B4-BE49-F238E27FC236}">
                <a16:creationId xmlns:a16="http://schemas.microsoft.com/office/drawing/2014/main" id="{05152069-F32F-E016-0D70-769208E8865A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003B7A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ection">
            <a:extLst>
              <a:ext uri="{FF2B5EF4-FFF2-40B4-BE49-F238E27FC236}">
                <a16:creationId xmlns:a16="http://schemas.microsoft.com/office/drawing/2014/main" id="{7456A7D6-8AD8-47D3-93EE-4C59CF29F786}"/>
              </a:ext>
            </a:extLst>
          </p:cNvPr>
          <p:cNvSpPr txBox="1"/>
          <p:nvPr/>
        </p:nvSpPr>
        <p:spPr>
          <a:xfrm>
            <a:off x="736600" y="457200"/>
            <a:ext cx="355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003B7A"/>
                </a:solidFill>
                <a:latin typeface="Aptos" panose="020B0004020202020204" pitchFamily="34" charset="0"/>
              </a:rPr>
              <a:t>DEMO</a:t>
            </a:r>
            <a:endParaRPr lang="zh-CN" altLang="en-US" sz="85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5" name="num">
            <a:extLst>
              <a:ext uri="{FF2B5EF4-FFF2-40B4-BE49-F238E27FC236}">
                <a16:creationId xmlns:a16="http://schemas.microsoft.com/office/drawing/2014/main" id="{4AFBD667-EB8A-16E6-AA06-661C48B50B27}"/>
              </a:ext>
            </a:extLst>
          </p:cNvPr>
          <p:cNvSpPr txBox="1"/>
          <p:nvPr/>
        </p:nvSpPr>
        <p:spPr>
          <a:xfrm>
            <a:off x="11531600" y="4572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00">
                <a:solidFill>
                  <a:srgbClr val="4A5B78"/>
                </a:solidFill>
                <a:latin typeface="Aptos" panose="020B0004020202020204" pitchFamily="34" charset="0"/>
              </a:rPr>
              <a:t>09</a:t>
            </a:r>
            <a:endParaRPr lang="zh-CN" altLang="en-US" sz="70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6" name="top-rule">
            <a:extLst>
              <a:ext uri="{FF2B5EF4-FFF2-40B4-BE49-F238E27FC236}">
                <a16:creationId xmlns:a16="http://schemas.microsoft.com/office/drawing/2014/main" id="{39ED2318-4BA0-AAFE-62C8-891CB354D2FC}"/>
              </a:ext>
            </a:extLst>
          </p:cNvPr>
          <p:cNvCxnSpPr/>
          <p:nvPr/>
        </p:nvCxnSpPr>
        <p:spPr>
          <a:xfrm>
            <a:off x="736600" y="1701800"/>
            <a:ext cx="10718800" cy="0"/>
          </a:xfrm>
          <a:prstGeom prst="line">
            <a:avLst/>
          </a:prstGeom>
          <a:ln w="12700">
            <a:solidFill>
              <a:srgbClr val="D3E1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">
            <a:extLst>
              <a:ext uri="{FF2B5EF4-FFF2-40B4-BE49-F238E27FC236}">
                <a16:creationId xmlns:a16="http://schemas.microsoft.com/office/drawing/2014/main" id="{03764C91-4C0D-A62C-A0CC-545E926ACA8A}"/>
              </a:ext>
            </a:extLst>
          </p:cNvPr>
          <p:cNvSpPr txBox="1"/>
          <p:nvPr/>
        </p:nvSpPr>
        <p:spPr>
          <a:xfrm>
            <a:off x="736600" y="6527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WatermarkScope FYP Viva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8" name="student">
            <a:extLst>
              <a:ext uri="{FF2B5EF4-FFF2-40B4-BE49-F238E27FC236}">
                <a16:creationId xmlns:a16="http://schemas.microsoft.com/office/drawing/2014/main" id="{0AE2A64B-7CA4-0792-C607-CA09D5C19816}"/>
              </a:ext>
            </a:extLst>
          </p:cNvPr>
          <p:cNvSpPr txBox="1"/>
          <p:nvPr/>
        </p:nvSpPr>
        <p:spPr>
          <a:xfrm>
            <a:off x="4978400" y="65278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Haoyi Zhang | 2254912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B9A7F155-7608-F24F-B250-2FB26BDBD0B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9600" y="6096000"/>
            <a:ext cx="1803400" cy="48260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FD29B159-4888-BB25-0B1B-EF22CA4F044A}"/>
              </a:ext>
            </a:extLst>
          </p:cNvPr>
          <p:cNvSpPr txBox="1"/>
          <p:nvPr/>
        </p:nvSpPr>
        <p:spPr>
          <a:xfrm>
            <a:off x="736600" y="838200"/>
            <a:ext cx="1054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700" b="1">
                <a:solidFill>
                  <a:srgbClr val="091C3E"/>
                </a:solidFill>
                <a:latin typeface="Aptos" panose="020B0004020202020204" pitchFamily="34" charset="0"/>
              </a:rPr>
              <a:t>The demo shows inspectability.</a:t>
            </a:r>
            <a:endParaRPr lang="zh-CN" altLang="en-US" sz="27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FCD745F4-BA3C-2D0E-90D8-0210B1C06FAB}"/>
              </a:ext>
            </a:extLst>
          </p:cNvPr>
          <p:cNvSpPr txBox="1"/>
          <p:nvPr/>
        </p:nvSpPr>
        <p:spPr>
          <a:xfrm>
            <a:off x="787400" y="147320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80">
                <a:solidFill>
                  <a:srgbClr val="4A5B78"/>
                </a:solidFill>
                <a:latin typeface="Aptos" panose="020B0004020202020204" pitchFamily="34" charset="0"/>
              </a:rPr>
              <a:t>I will not rerun the full experiments in the room; I will show the evidence route.</a:t>
            </a:r>
            <a:endParaRPr lang="zh-CN" altLang="en-US" sz="118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13" name="route-line">
            <a:extLst>
              <a:ext uri="{FF2B5EF4-FFF2-40B4-BE49-F238E27FC236}">
                <a16:creationId xmlns:a16="http://schemas.microsoft.com/office/drawing/2014/main" id="{477F3E4A-0970-7321-FCD4-D066F255F759}"/>
              </a:ext>
            </a:extLst>
          </p:cNvPr>
          <p:cNvCxnSpPr/>
          <p:nvPr/>
        </p:nvCxnSpPr>
        <p:spPr>
          <a:xfrm>
            <a:off x="1422400" y="3505200"/>
            <a:ext cx="9372600" cy="0"/>
          </a:xfrm>
          <a:prstGeom prst="line">
            <a:avLst/>
          </a:prstGeom>
          <a:ln w="25400">
            <a:solidFill>
              <a:srgbClr val="D3E1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d0">
            <a:extLst>
              <a:ext uri="{FF2B5EF4-FFF2-40B4-BE49-F238E27FC236}">
                <a16:creationId xmlns:a16="http://schemas.microsoft.com/office/drawing/2014/main" id="{42A731AC-3C1A-0FAD-08F4-286175773EEC}"/>
              </a:ext>
            </a:extLst>
          </p:cNvPr>
          <p:cNvSpPr/>
          <p:nvPr/>
        </p:nvSpPr>
        <p:spPr>
          <a:xfrm>
            <a:off x="1041400" y="2819400"/>
            <a:ext cx="1117600" cy="1117600"/>
          </a:xfrm>
          <a:prstGeom prst="roundRect">
            <a:avLst/>
          </a:prstGeom>
          <a:solidFill>
            <a:srgbClr val="003B7A"/>
          </a:solidFill>
          <a:ln w="9525" cap="flat" cmpd="sng" algn="ctr">
            <a:solidFill>
              <a:srgbClr val="003B7A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dn0">
            <a:extLst>
              <a:ext uri="{FF2B5EF4-FFF2-40B4-BE49-F238E27FC236}">
                <a16:creationId xmlns:a16="http://schemas.microsoft.com/office/drawing/2014/main" id="{E4C06DF7-39E8-F54C-C976-F822C9D81C74}"/>
              </a:ext>
            </a:extLst>
          </p:cNvPr>
          <p:cNvSpPr txBox="1"/>
          <p:nvPr/>
        </p:nvSpPr>
        <p:spPr>
          <a:xfrm>
            <a:off x="1447800" y="32258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00" b="1">
                <a:solidFill>
                  <a:srgbClr val="FFFFFF"/>
                </a:solidFill>
                <a:latin typeface="Aptos" panose="020B0004020202020204" pitchFamily="34" charset="0"/>
              </a:rPr>
              <a:t>01</a:t>
            </a:r>
            <a:endParaRPr lang="zh-CN" altLang="en-US" sz="9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6" name="dt0">
            <a:extLst>
              <a:ext uri="{FF2B5EF4-FFF2-40B4-BE49-F238E27FC236}">
                <a16:creationId xmlns:a16="http://schemas.microsoft.com/office/drawing/2014/main" id="{97D988E7-414D-0E32-8728-156A460059F6}"/>
              </a:ext>
            </a:extLst>
          </p:cNvPr>
          <p:cNvSpPr txBox="1"/>
          <p:nvPr/>
        </p:nvSpPr>
        <p:spPr>
          <a:xfrm>
            <a:off x="736600" y="4241800"/>
            <a:ext cx="1727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20" b="1">
                <a:solidFill>
                  <a:srgbClr val="091C3E"/>
                </a:solidFill>
                <a:latin typeface="Aptos" panose="020B0004020202020204" pitchFamily="34" charset="0"/>
              </a:rPr>
              <a:t>Project page</a:t>
            </a:r>
            <a:endParaRPr lang="zh-CN" altLang="en-US" sz="102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7" name="dhit0">
            <a:hlinkClick r:id="rId4"/>
            <a:extLst>
              <a:ext uri="{FF2B5EF4-FFF2-40B4-BE49-F238E27FC236}">
                <a16:creationId xmlns:a16="http://schemas.microsoft.com/office/drawing/2014/main" id="{214DF83F-FA49-D0F9-0D70-E758FAE036C2}"/>
              </a:ext>
            </a:extLst>
          </p:cNvPr>
          <p:cNvSpPr/>
          <p:nvPr/>
        </p:nvSpPr>
        <p:spPr>
          <a:xfrm>
            <a:off x="736600" y="2717800"/>
            <a:ext cx="1727200" cy="17272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d1">
            <a:extLst>
              <a:ext uri="{FF2B5EF4-FFF2-40B4-BE49-F238E27FC236}">
                <a16:creationId xmlns:a16="http://schemas.microsoft.com/office/drawing/2014/main" id="{73BD4C13-E761-8778-AA33-9F8D85882851}"/>
              </a:ext>
            </a:extLst>
          </p:cNvPr>
          <p:cNvSpPr/>
          <p:nvPr/>
        </p:nvSpPr>
        <p:spPr>
          <a:xfrm>
            <a:off x="3378200" y="2819400"/>
            <a:ext cx="1117600" cy="1117600"/>
          </a:xfrm>
          <a:prstGeom prst="roundRect">
            <a:avLst/>
          </a:prstGeom>
          <a:solidFill>
            <a:srgbClr val="168E8B"/>
          </a:solidFill>
          <a:ln w="9525" cap="flat" cmpd="sng" algn="ctr">
            <a:solidFill>
              <a:srgbClr val="168E8B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n1">
            <a:extLst>
              <a:ext uri="{FF2B5EF4-FFF2-40B4-BE49-F238E27FC236}">
                <a16:creationId xmlns:a16="http://schemas.microsoft.com/office/drawing/2014/main" id="{BEC264EF-6CC3-B71C-2049-BC3DE7FFAE56}"/>
              </a:ext>
            </a:extLst>
          </p:cNvPr>
          <p:cNvSpPr txBox="1"/>
          <p:nvPr/>
        </p:nvSpPr>
        <p:spPr>
          <a:xfrm>
            <a:off x="3784600" y="32258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00" b="1">
                <a:solidFill>
                  <a:srgbClr val="FFFFFF"/>
                </a:solidFill>
                <a:latin typeface="Aptos" panose="020B0004020202020204" pitchFamily="34" charset="0"/>
              </a:rPr>
              <a:t>02</a:t>
            </a:r>
            <a:endParaRPr lang="zh-CN" altLang="en-US" sz="9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0" name="dt1">
            <a:extLst>
              <a:ext uri="{FF2B5EF4-FFF2-40B4-BE49-F238E27FC236}">
                <a16:creationId xmlns:a16="http://schemas.microsoft.com/office/drawing/2014/main" id="{98C57506-B654-BA5E-A13A-2E87B1CF388A}"/>
              </a:ext>
            </a:extLst>
          </p:cNvPr>
          <p:cNvSpPr txBox="1"/>
          <p:nvPr/>
        </p:nvSpPr>
        <p:spPr>
          <a:xfrm>
            <a:off x="3073400" y="4241800"/>
            <a:ext cx="1727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20" b="1">
                <a:solidFill>
                  <a:srgbClr val="091C3E"/>
                </a:solidFill>
                <a:latin typeface="Aptos" panose="020B0004020202020204" pitchFamily="34" charset="0"/>
              </a:rPr>
              <a:t>Repository</a:t>
            </a:r>
            <a:endParaRPr lang="zh-CN" altLang="en-US" sz="102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1" name="dhit1">
            <a:hlinkClick r:id="rId5"/>
            <a:extLst>
              <a:ext uri="{FF2B5EF4-FFF2-40B4-BE49-F238E27FC236}">
                <a16:creationId xmlns:a16="http://schemas.microsoft.com/office/drawing/2014/main" id="{EEA72E0E-EEF1-9E41-66FD-0CDD44E31627}"/>
              </a:ext>
            </a:extLst>
          </p:cNvPr>
          <p:cNvSpPr/>
          <p:nvPr/>
        </p:nvSpPr>
        <p:spPr>
          <a:xfrm>
            <a:off x="3073400" y="2717800"/>
            <a:ext cx="1727200" cy="17272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d2">
            <a:extLst>
              <a:ext uri="{FF2B5EF4-FFF2-40B4-BE49-F238E27FC236}">
                <a16:creationId xmlns:a16="http://schemas.microsoft.com/office/drawing/2014/main" id="{E8DCE371-9184-9402-166E-D286C9FC5DC8}"/>
              </a:ext>
            </a:extLst>
          </p:cNvPr>
          <p:cNvSpPr/>
          <p:nvPr/>
        </p:nvSpPr>
        <p:spPr>
          <a:xfrm>
            <a:off x="5715000" y="2819400"/>
            <a:ext cx="1117600" cy="1117600"/>
          </a:xfrm>
          <a:prstGeom prst="roundRect">
            <a:avLst/>
          </a:prstGeom>
          <a:solidFill>
            <a:srgbClr val="5B45C8"/>
          </a:solidFill>
          <a:ln w="9525" cap="flat" cmpd="sng" algn="ctr">
            <a:solidFill>
              <a:srgbClr val="5B45C8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dn2">
            <a:extLst>
              <a:ext uri="{FF2B5EF4-FFF2-40B4-BE49-F238E27FC236}">
                <a16:creationId xmlns:a16="http://schemas.microsoft.com/office/drawing/2014/main" id="{7C9DD778-3225-111C-04C0-B8FD461B83E2}"/>
              </a:ext>
            </a:extLst>
          </p:cNvPr>
          <p:cNvSpPr txBox="1"/>
          <p:nvPr/>
        </p:nvSpPr>
        <p:spPr>
          <a:xfrm>
            <a:off x="6121400" y="32258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00" b="1">
                <a:solidFill>
                  <a:srgbClr val="FFFFFF"/>
                </a:solidFill>
                <a:latin typeface="Aptos" panose="020B0004020202020204" pitchFamily="34" charset="0"/>
              </a:rPr>
              <a:t>03</a:t>
            </a:r>
            <a:endParaRPr lang="zh-CN" altLang="en-US" sz="9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4" name="dt2">
            <a:extLst>
              <a:ext uri="{FF2B5EF4-FFF2-40B4-BE49-F238E27FC236}">
                <a16:creationId xmlns:a16="http://schemas.microsoft.com/office/drawing/2014/main" id="{5BE5C99B-3800-DD18-D83E-391725FAE1C1}"/>
              </a:ext>
            </a:extLst>
          </p:cNvPr>
          <p:cNvSpPr txBox="1"/>
          <p:nvPr/>
        </p:nvSpPr>
        <p:spPr>
          <a:xfrm>
            <a:off x="5410200" y="4241800"/>
            <a:ext cx="1727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20" b="1">
                <a:solidFill>
                  <a:srgbClr val="091C3E"/>
                </a:solidFill>
                <a:latin typeface="Aptos" panose="020B0004020202020204" pitchFamily="34" charset="0"/>
              </a:rPr>
              <a:t>Claim boundary</a:t>
            </a:r>
            <a:endParaRPr lang="zh-CN" altLang="en-US" sz="102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5" name="dhit2">
            <a:hlinkClick r:id="rId6"/>
            <a:extLst>
              <a:ext uri="{FF2B5EF4-FFF2-40B4-BE49-F238E27FC236}">
                <a16:creationId xmlns:a16="http://schemas.microsoft.com/office/drawing/2014/main" id="{96E3BBBE-DCDD-A276-8586-B564F4995F04}"/>
              </a:ext>
            </a:extLst>
          </p:cNvPr>
          <p:cNvSpPr/>
          <p:nvPr/>
        </p:nvSpPr>
        <p:spPr>
          <a:xfrm>
            <a:off x="5410200" y="2717800"/>
            <a:ext cx="1727200" cy="17272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d3">
            <a:extLst>
              <a:ext uri="{FF2B5EF4-FFF2-40B4-BE49-F238E27FC236}">
                <a16:creationId xmlns:a16="http://schemas.microsoft.com/office/drawing/2014/main" id="{283BC92F-5DC1-5613-1038-1084360D61F7}"/>
              </a:ext>
            </a:extLst>
          </p:cNvPr>
          <p:cNvSpPr/>
          <p:nvPr/>
        </p:nvSpPr>
        <p:spPr>
          <a:xfrm>
            <a:off x="8051800" y="2819400"/>
            <a:ext cx="1117600" cy="1117600"/>
          </a:xfrm>
          <a:prstGeom prst="roundRect">
            <a:avLst/>
          </a:prstGeom>
          <a:solidFill>
            <a:srgbClr val="B85C00"/>
          </a:solidFill>
          <a:ln w="9525" cap="flat" cmpd="sng" algn="ctr">
            <a:solidFill>
              <a:srgbClr val="B85C00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dn3">
            <a:extLst>
              <a:ext uri="{FF2B5EF4-FFF2-40B4-BE49-F238E27FC236}">
                <a16:creationId xmlns:a16="http://schemas.microsoft.com/office/drawing/2014/main" id="{E8127EC5-8D9E-FB11-F05C-93E72B85B160}"/>
              </a:ext>
            </a:extLst>
          </p:cNvPr>
          <p:cNvSpPr txBox="1"/>
          <p:nvPr/>
        </p:nvSpPr>
        <p:spPr>
          <a:xfrm>
            <a:off x="8458200" y="32258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00" b="1">
                <a:solidFill>
                  <a:srgbClr val="FFFFFF"/>
                </a:solidFill>
                <a:latin typeface="Aptos" panose="020B0004020202020204" pitchFamily="34" charset="0"/>
              </a:rPr>
              <a:t>04</a:t>
            </a:r>
            <a:endParaRPr lang="zh-CN" altLang="en-US" sz="9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8" name="dt3">
            <a:extLst>
              <a:ext uri="{FF2B5EF4-FFF2-40B4-BE49-F238E27FC236}">
                <a16:creationId xmlns:a16="http://schemas.microsoft.com/office/drawing/2014/main" id="{7800CC1F-19F3-A21C-87CE-3A83B68B4E6F}"/>
              </a:ext>
            </a:extLst>
          </p:cNvPr>
          <p:cNvSpPr txBox="1"/>
          <p:nvPr/>
        </p:nvSpPr>
        <p:spPr>
          <a:xfrm>
            <a:off x="7747000" y="4241800"/>
            <a:ext cx="1727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20" b="1">
                <a:solidFill>
                  <a:srgbClr val="091C3E"/>
                </a:solidFill>
                <a:latin typeface="Aptos" panose="020B0004020202020204" pitchFamily="34" charset="0"/>
              </a:rPr>
              <a:t>Traceability</a:t>
            </a:r>
            <a:endParaRPr lang="zh-CN" altLang="en-US" sz="102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29" name="dhit3">
            <a:hlinkClick r:id="rId7"/>
            <a:extLst>
              <a:ext uri="{FF2B5EF4-FFF2-40B4-BE49-F238E27FC236}">
                <a16:creationId xmlns:a16="http://schemas.microsoft.com/office/drawing/2014/main" id="{1AEEFEB0-94B4-6BB2-294B-9BD7E72E4A67}"/>
              </a:ext>
            </a:extLst>
          </p:cNvPr>
          <p:cNvSpPr/>
          <p:nvPr/>
        </p:nvSpPr>
        <p:spPr>
          <a:xfrm>
            <a:off x="7747000" y="2717800"/>
            <a:ext cx="1727200" cy="17272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4">
            <a:extLst>
              <a:ext uri="{FF2B5EF4-FFF2-40B4-BE49-F238E27FC236}">
                <a16:creationId xmlns:a16="http://schemas.microsoft.com/office/drawing/2014/main" id="{7CB08A16-0EEA-6CF9-479B-5CB874E9571F}"/>
              </a:ext>
            </a:extLst>
          </p:cNvPr>
          <p:cNvSpPr/>
          <p:nvPr/>
        </p:nvSpPr>
        <p:spPr>
          <a:xfrm>
            <a:off x="10388600" y="2819400"/>
            <a:ext cx="1117600" cy="1117600"/>
          </a:xfrm>
          <a:prstGeom prst="roundRect">
            <a:avLst/>
          </a:prstGeom>
          <a:solidFill>
            <a:srgbClr val="1F7A4D"/>
          </a:solidFill>
          <a:ln w="9525" cap="flat" cmpd="sng" algn="ctr">
            <a:solidFill>
              <a:srgbClr val="1F7A4D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n4">
            <a:extLst>
              <a:ext uri="{FF2B5EF4-FFF2-40B4-BE49-F238E27FC236}">
                <a16:creationId xmlns:a16="http://schemas.microsoft.com/office/drawing/2014/main" id="{9A941F7E-9B98-E82E-E48D-DDB172190C96}"/>
              </a:ext>
            </a:extLst>
          </p:cNvPr>
          <p:cNvSpPr txBox="1"/>
          <p:nvPr/>
        </p:nvSpPr>
        <p:spPr>
          <a:xfrm>
            <a:off x="10795000" y="32258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00" b="1">
                <a:solidFill>
                  <a:srgbClr val="FFFFFF"/>
                </a:solidFill>
                <a:latin typeface="Aptos" panose="020B0004020202020204" pitchFamily="34" charset="0"/>
              </a:rPr>
              <a:t>05</a:t>
            </a:r>
            <a:endParaRPr lang="zh-CN" altLang="en-US" sz="9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2" name="dt4">
            <a:extLst>
              <a:ext uri="{FF2B5EF4-FFF2-40B4-BE49-F238E27FC236}">
                <a16:creationId xmlns:a16="http://schemas.microsoft.com/office/drawing/2014/main" id="{9E375A2F-442C-86A2-B9D8-4E8CDD597354}"/>
              </a:ext>
            </a:extLst>
          </p:cNvPr>
          <p:cNvSpPr txBox="1"/>
          <p:nvPr/>
        </p:nvSpPr>
        <p:spPr>
          <a:xfrm>
            <a:off x="10083800" y="4241800"/>
            <a:ext cx="1727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20" b="1">
                <a:solidFill>
                  <a:srgbClr val="091C3E"/>
                </a:solidFill>
                <a:latin typeface="Aptos" panose="020B0004020202020204" pitchFamily="34" charset="0"/>
              </a:rPr>
              <a:t>Manifest + check</a:t>
            </a:r>
            <a:endParaRPr lang="zh-CN" altLang="en-US" sz="102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33" name="dhit4">
            <a:hlinkClick r:id="rId8"/>
            <a:extLst>
              <a:ext uri="{FF2B5EF4-FFF2-40B4-BE49-F238E27FC236}">
                <a16:creationId xmlns:a16="http://schemas.microsoft.com/office/drawing/2014/main" id="{E272405C-B936-7DE1-D063-5858A0D56C3B}"/>
              </a:ext>
            </a:extLst>
          </p:cNvPr>
          <p:cNvSpPr/>
          <p:nvPr/>
        </p:nvSpPr>
        <p:spPr>
          <a:xfrm>
            <a:off x="10083800" y="2717800"/>
            <a:ext cx="1727200" cy="17272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demo-check">
            <a:hlinkClick r:id="rId9"/>
            <a:extLst>
              <a:ext uri="{FF2B5EF4-FFF2-40B4-BE49-F238E27FC236}">
                <a16:creationId xmlns:a16="http://schemas.microsoft.com/office/drawing/2014/main" id="{0ABE82C8-F11E-615B-C08D-F98DC957E409}"/>
              </a:ext>
            </a:extLst>
          </p:cNvPr>
          <p:cNvSpPr/>
          <p:nvPr/>
        </p:nvSpPr>
        <p:spPr>
          <a:xfrm>
            <a:off x="4953000" y="5308600"/>
            <a:ext cx="2286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altLang="zh-CN" sz="820" b="1">
                <a:solidFill>
                  <a:srgbClr val="003B7A"/>
                </a:solidFill>
                <a:latin typeface="Aptos" panose="020B0004020202020204" pitchFamily="34" charset="0"/>
              </a:rPr>
              <a:t>Open viva_check.py</a:t>
            </a:r>
            <a:endParaRPr lang="zh-CN" altLang="en-US" sz="82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35" name="footer-hit-9">
            <a:hlinkClick r:id="rId4"/>
            <a:extLst>
              <a:ext uri="{FF2B5EF4-FFF2-40B4-BE49-F238E27FC236}">
                <a16:creationId xmlns:a16="http://schemas.microsoft.com/office/drawing/2014/main" id="{8586E57F-14B2-D84C-F39A-0627E24797B4}"/>
              </a:ext>
            </a:extLst>
          </p:cNvPr>
          <p:cNvSpPr/>
          <p:nvPr/>
        </p:nvSpPr>
        <p:spPr>
          <a:xfrm>
            <a:off x="685800" y="6502400"/>
            <a:ext cx="3175000" cy="2286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56867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">
        <p:fade thruBlk="1"/>
      </p:transition>
    </mc:Choice>
    <mc:Fallback>
      <p:transition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6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4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2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98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16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34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2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7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88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6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324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42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6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78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16" grpId="0"/>
      <p:bldP spid="17" grpId="0" animBg="1"/>
      <p:bldP spid="18" grpId="0" animBg="1"/>
      <p:bldP spid="19" grpId="0"/>
      <p:bldP spid="20" grpId="0"/>
      <p:bldP spid="21" grpId="0" animBg="1"/>
      <p:bldP spid="22" grpId="0" animBg="1"/>
      <p:bldP spid="23" grpId="0"/>
      <p:bldP spid="24" grpId="0"/>
      <p:bldP spid="25" grpId="0" animBg="1"/>
      <p:bldP spid="26" grpId="0" animBg="1"/>
      <p:bldP spid="27" grpId="0"/>
      <p:bldP spid="28" grpId="0"/>
      <p:bldP spid="29" grpId="0" animBg="1"/>
      <p:bldP spid="30" grpId="0" animBg="1"/>
      <p:bldP spid="31" grpId="0"/>
      <p:bldP spid="32" grpId="0"/>
      <p:bldP spid="33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>
            <a:extLst>
              <a:ext uri="{FF2B5EF4-FFF2-40B4-BE49-F238E27FC236}">
                <a16:creationId xmlns:a16="http://schemas.microsoft.com/office/drawing/2014/main" id="{CFF8E9B7-726B-3D0C-E9A7-C3D3F5E5948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ail">
            <a:extLst>
              <a:ext uri="{FF2B5EF4-FFF2-40B4-BE49-F238E27FC236}">
                <a16:creationId xmlns:a16="http://schemas.microsoft.com/office/drawing/2014/main" id="{FBB3522E-AC8E-3DE4-2F41-D7F43D46E6F6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003B7A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ection">
            <a:extLst>
              <a:ext uri="{FF2B5EF4-FFF2-40B4-BE49-F238E27FC236}">
                <a16:creationId xmlns:a16="http://schemas.microsoft.com/office/drawing/2014/main" id="{C236E54A-418A-6EC4-5CD4-E8397F46F3EF}"/>
              </a:ext>
            </a:extLst>
          </p:cNvPr>
          <p:cNvSpPr txBox="1"/>
          <p:nvPr/>
        </p:nvSpPr>
        <p:spPr>
          <a:xfrm>
            <a:off x="736600" y="457200"/>
            <a:ext cx="355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003B7A"/>
                </a:solidFill>
                <a:latin typeface="Aptos" panose="020B0004020202020204" pitchFamily="34" charset="0"/>
              </a:rPr>
              <a:t>DEMO CHECK</a:t>
            </a:r>
            <a:endParaRPr lang="zh-CN" altLang="en-US" sz="85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5" name="num">
            <a:extLst>
              <a:ext uri="{FF2B5EF4-FFF2-40B4-BE49-F238E27FC236}">
                <a16:creationId xmlns:a16="http://schemas.microsoft.com/office/drawing/2014/main" id="{B3B55114-722E-6422-EFB0-146806FB8EE4}"/>
              </a:ext>
            </a:extLst>
          </p:cNvPr>
          <p:cNvSpPr txBox="1"/>
          <p:nvPr/>
        </p:nvSpPr>
        <p:spPr>
          <a:xfrm>
            <a:off x="11531600" y="4572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00">
                <a:solidFill>
                  <a:srgbClr val="4A5B78"/>
                </a:solidFill>
                <a:latin typeface="Aptos" panose="020B0004020202020204" pitchFamily="34" charset="0"/>
              </a:rPr>
              <a:t>10</a:t>
            </a:r>
            <a:endParaRPr lang="zh-CN" altLang="en-US" sz="70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6" name="top-rule">
            <a:extLst>
              <a:ext uri="{FF2B5EF4-FFF2-40B4-BE49-F238E27FC236}">
                <a16:creationId xmlns:a16="http://schemas.microsoft.com/office/drawing/2014/main" id="{E7E4A1A9-62E8-0D52-B432-2C709038E7ED}"/>
              </a:ext>
            </a:extLst>
          </p:cNvPr>
          <p:cNvCxnSpPr/>
          <p:nvPr/>
        </p:nvCxnSpPr>
        <p:spPr>
          <a:xfrm>
            <a:off x="736600" y="1701800"/>
            <a:ext cx="10718800" cy="0"/>
          </a:xfrm>
          <a:prstGeom prst="line">
            <a:avLst/>
          </a:prstGeom>
          <a:ln w="12700">
            <a:solidFill>
              <a:srgbClr val="D3E1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">
            <a:extLst>
              <a:ext uri="{FF2B5EF4-FFF2-40B4-BE49-F238E27FC236}">
                <a16:creationId xmlns:a16="http://schemas.microsoft.com/office/drawing/2014/main" id="{05FBB8EF-2E25-7466-A4DB-A02BECDA089B}"/>
              </a:ext>
            </a:extLst>
          </p:cNvPr>
          <p:cNvSpPr txBox="1"/>
          <p:nvPr/>
        </p:nvSpPr>
        <p:spPr>
          <a:xfrm>
            <a:off x="736600" y="6527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WatermarkScope FYP Viva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8" name="student">
            <a:extLst>
              <a:ext uri="{FF2B5EF4-FFF2-40B4-BE49-F238E27FC236}">
                <a16:creationId xmlns:a16="http://schemas.microsoft.com/office/drawing/2014/main" id="{AE81F911-A4A4-5EB2-11E7-55CAC40D0A02}"/>
              </a:ext>
            </a:extLst>
          </p:cNvPr>
          <p:cNvSpPr txBox="1"/>
          <p:nvPr/>
        </p:nvSpPr>
        <p:spPr>
          <a:xfrm>
            <a:off x="4978400" y="65278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Haoyi Zhang | 2254912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25EAED6D-36DC-A005-76ED-7588023D8D6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9600" y="6096000"/>
            <a:ext cx="1803400" cy="48260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348082C2-C3EC-A593-90C6-FE0E229BF4B7}"/>
              </a:ext>
            </a:extLst>
          </p:cNvPr>
          <p:cNvSpPr txBox="1"/>
          <p:nvPr/>
        </p:nvSpPr>
        <p:spPr>
          <a:xfrm>
            <a:off x="736600" y="838200"/>
            <a:ext cx="1054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700" b="1">
                <a:solidFill>
                  <a:srgbClr val="091C3E"/>
                </a:solidFill>
                <a:latin typeface="Aptos" panose="020B0004020202020204" pitchFamily="34" charset="0"/>
              </a:rPr>
              <a:t>The local check is a quick inspection check.</a:t>
            </a:r>
            <a:endParaRPr lang="zh-CN" altLang="en-US" sz="27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C3534D36-7C5F-23E9-F1D7-0F8292B2A6DE}"/>
              </a:ext>
            </a:extLst>
          </p:cNvPr>
          <p:cNvSpPr txBox="1"/>
          <p:nvPr/>
        </p:nvSpPr>
        <p:spPr>
          <a:xfrm>
            <a:off x="787400" y="147320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80">
                <a:solidFill>
                  <a:srgbClr val="4A5B78"/>
                </a:solidFill>
                <a:latin typeface="Aptos" panose="020B0004020202020204" pitchFamily="34" charset="0"/>
              </a:rPr>
              <a:t>It verifies the repository route; it is not a hidden full rerun.</a:t>
            </a:r>
            <a:endParaRPr lang="zh-CN" altLang="en-US" sz="118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3" name="cmd">
            <a:extLst>
              <a:ext uri="{FF2B5EF4-FFF2-40B4-BE49-F238E27FC236}">
                <a16:creationId xmlns:a16="http://schemas.microsoft.com/office/drawing/2014/main" id="{FA37C14C-7B3A-5C37-9CA4-C8D5FB20648B}"/>
              </a:ext>
            </a:extLst>
          </p:cNvPr>
          <p:cNvSpPr/>
          <p:nvPr/>
        </p:nvSpPr>
        <p:spPr>
          <a:xfrm>
            <a:off x="1041400" y="2235200"/>
            <a:ext cx="5461000" cy="2413000"/>
          </a:xfrm>
          <a:prstGeom prst="roundRect">
            <a:avLst/>
          </a:prstGeom>
          <a:solidFill>
            <a:srgbClr val="F8FB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cmd-k">
            <a:extLst>
              <a:ext uri="{FF2B5EF4-FFF2-40B4-BE49-F238E27FC236}">
                <a16:creationId xmlns:a16="http://schemas.microsoft.com/office/drawing/2014/main" id="{A57539B0-8D98-4C68-E0CF-674F8C7BF735}"/>
              </a:ext>
            </a:extLst>
          </p:cNvPr>
          <p:cNvSpPr txBox="1"/>
          <p:nvPr/>
        </p:nvSpPr>
        <p:spPr>
          <a:xfrm>
            <a:off x="1422400" y="26162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20" b="1">
                <a:solidFill>
                  <a:srgbClr val="4A5B78"/>
                </a:solidFill>
                <a:latin typeface="Aptos" panose="020B0004020202020204" pitchFamily="34" charset="0"/>
              </a:rPr>
              <a:t>command</a:t>
            </a:r>
            <a:endParaRPr lang="zh-CN" altLang="en-US" sz="82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5" name="cmd-main">
            <a:extLst>
              <a:ext uri="{FF2B5EF4-FFF2-40B4-BE49-F238E27FC236}">
                <a16:creationId xmlns:a16="http://schemas.microsoft.com/office/drawing/2014/main" id="{9C98B30E-BFBD-7357-A955-945FBF0A7772}"/>
              </a:ext>
            </a:extLst>
          </p:cNvPr>
          <p:cNvSpPr txBox="1"/>
          <p:nvPr/>
        </p:nvSpPr>
        <p:spPr>
          <a:xfrm>
            <a:off x="1422400" y="3149600"/>
            <a:ext cx="393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500" b="1">
                <a:solidFill>
                  <a:srgbClr val="091C3E"/>
                </a:solidFill>
                <a:latin typeface="Consolas" panose="020B0609020204030204" pitchFamily="49" charset="0"/>
              </a:rPr>
              <a:t>python scripts/viva_check.py</a:t>
            </a:r>
            <a:endParaRPr lang="zh-CN" altLang="en-US" sz="1500" b="1">
              <a:solidFill>
                <a:srgbClr val="091C3E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cmd-out">
            <a:extLst>
              <a:ext uri="{FF2B5EF4-FFF2-40B4-BE49-F238E27FC236}">
                <a16:creationId xmlns:a16="http://schemas.microsoft.com/office/drawing/2014/main" id="{C1F3DF8E-BCCA-3E5A-DE16-0AC13C0E0C40}"/>
              </a:ext>
            </a:extLst>
          </p:cNvPr>
          <p:cNvSpPr txBox="1"/>
          <p:nvPr/>
        </p:nvSpPr>
        <p:spPr>
          <a:xfrm>
            <a:off x="1422400" y="3784600"/>
            <a:ext cx="431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20" b="1">
                <a:solidFill>
                  <a:srgbClr val="1F7A4D"/>
                </a:solidFill>
                <a:latin typeface="Consolas" panose="020B0609020204030204" pitchFamily="49" charset="0"/>
              </a:rPr>
              <a:t>[OK] documents present
[OK] manifest covers modules
[OK] claim boundaries present</a:t>
            </a:r>
            <a:endParaRPr lang="zh-CN" altLang="en-US" sz="1120" b="1">
              <a:solidFill>
                <a:srgbClr val="1F7A4D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ck0">
            <a:extLst>
              <a:ext uri="{FF2B5EF4-FFF2-40B4-BE49-F238E27FC236}">
                <a16:creationId xmlns:a16="http://schemas.microsoft.com/office/drawing/2014/main" id="{0D5F5D95-052C-1111-B9C9-26326E110192}"/>
              </a:ext>
            </a:extLst>
          </p:cNvPr>
          <p:cNvSpPr/>
          <p:nvPr/>
        </p:nvSpPr>
        <p:spPr>
          <a:xfrm>
            <a:off x="7493000" y="2235200"/>
            <a:ext cx="3429000" cy="609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ckbar0">
            <a:extLst>
              <a:ext uri="{FF2B5EF4-FFF2-40B4-BE49-F238E27FC236}">
                <a16:creationId xmlns:a16="http://schemas.microsoft.com/office/drawing/2014/main" id="{1875253F-117B-F612-D09E-5E98EA92AE6F}"/>
              </a:ext>
            </a:extLst>
          </p:cNvPr>
          <p:cNvSpPr/>
          <p:nvPr/>
        </p:nvSpPr>
        <p:spPr>
          <a:xfrm>
            <a:off x="7493000" y="2235200"/>
            <a:ext cx="76200" cy="609600"/>
          </a:xfrm>
          <a:prstGeom prst="roundRect">
            <a:avLst/>
          </a:prstGeom>
          <a:solidFill>
            <a:srgbClr val="1F7A4D"/>
          </a:solidFill>
          <a:ln w="9525" cap="flat" cmpd="sng" algn="ctr">
            <a:solidFill>
              <a:srgbClr val="1F7A4D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kt0">
            <a:extLst>
              <a:ext uri="{FF2B5EF4-FFF2-40B4-BE49-F238E27FC236}">
                <a16:creationId xmlns:a16="http://schemas.microsoft.com/office/drawing/2014/main" id="{821D4D8F-0690-E532-137E-DFD0F98844EA}"/>
              </a:ext>
            </a:extLst>
          </p:cNvPr>
          <p:cNvSpPr txBox="1"/>
          <p:nvPr/>
        </p:nvSpPr>
        <p:spPr>
          <a:xfrm>
            <a:off x="7823200" y="2362200"/>
            <a:ext cx="127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1F7A4D"/>
                </a:solidFill>
                <a:latin typeface="Aptos" panose="020B0004020202020204" pitchFamily="34" charset="0"/>
              </a:rPr>
              <a:t>Checks</a:t>
            </a:r>
            <a:endParaRPr lang="zh-CN" altLang="en-US" sz="850" b="1">
              <a:solidFill>
                <a:srgbClr val="1F7A4D"/>
              </a:solidFill>
              <a:latin typeface="Aptos" panose="020B0004020202020204" pitchFamily="34" charset="0"/>
            </a:endParaRPr>
          </a:p>
        </p:txBody>
      </p:sp>
      <p:sp>
        <p:nvSpPr>
          <p:cNvPr id="20" name="cks0">
            <a:extLst>
              <a:ext uri="{FF2B5EF4-FFF2-40B4-BE49-F238E27FC236}">
                <a16:creationId xmlns:a16="http://schemas.microsoft.com/office/drawing/2014/main" id="{A93D6C12-666E-AF4A-44EF-A63CBE997CCB}"/>
              </a:ext>
            </a:extLst>
          </p:cNvPr>
          <p:cNvSpPr txBox="1"/>
          <p:nvPr/>
        </p:nvSpPr>
        <p:spPr>
          <a:xfrm>
            <a:off x="9093200" y="23622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70">
                <a:solidFill>
                  <a:srgbClr val="4A5B78"/>
                </a:solidFill>
                <a:latin typeface="Aptos" panose="020B0004020202020204" pitchFamily="34" charset="0"/>
              </a:rPr>
              <a:t>documents, manifest, traceability, boundaries</a:t>
            </a:r>
            <a:endParaRPr lang="zh-CN" altLang="en-US" sz="77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21" name="ck1">
            <a:extLst>
              <a:ext uri="{FF2B5EF4-FFF2-40B4-BE49-F238E27FC236}">
                <a16:creationId xmlns:a16="http://schemas.microsoft.com/office/drawing/2014/main" id="{799B7C46-62F8-D4EA-E779-80E4E3EBC580}"/>
              </a:ext>
            </a:extLst>
          </p:cNvPr>
          <p:cNvSpPr/>
          <p:nvPr/>
        </p:nvSpPr>
        <p:spPr>
          <a:xfrm>
            <a:off x="7493000" y="3098800"/>
            <a:ext cx="3429000" cy="609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ckbar1">
            <a:extLst>
              <a:ext uri="{FF2B5EF4-FFF2-40B4-BE49-F238E27FC236}">
                <a16:creationId xmlns:a16="http://schemas.microsoft.com/office/drawing/2014/main" id="{DA8602AD-3E82-D875-0FE5-D04BF26ACE3B}"/>
              </a:ext>
            </a:extLst>
          </p:cNvPr>
          <p:cNvSpPr/>
          <p:nvPr/>
        </p:nvSpPr>
        <p:spPr>
          <a:xfrm>
            <a:off x="7493000" y="3098800"/>
            <a:ext cx="76200" cy="609600"/>
          </a:xfrm>
          <a:prstGeom prst="roundRect">
            <a:avLst/>
          </a:prstGeom>
          <a:solidFill>
            <a:srgbClr val="B85C00"/>
          </a:solidFill>
          <a:ln w="9525" cap="flat" cmpd="sng" algn="ctr">
            <a:solidFill>
              <a:srgbClr val="B85C00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ckt1">
            <a:extLst>
              <a:ext uri="{FF2B5EF4-FFF2-40B4-BE49-F238E27FC236}">
                <a16:creationId xmlns:a16="http://schemas.microsoft.com/office/drawing/2014/main" id="{331DDF7E-BEF0-7451-CB17-E78F457A45D0}"/>
              </a:ext>
            </a:extLst>
          </p:cNvPr>
          <p:cNvSpPr txBox="1"/>
          <p:nvPr/>
        </p:nvSpPr>
        <p:spPr>
          <a:xfrm>
            <a:off x="7823200" y="3225800"/>
            <a:ext cx="127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B85C00"/>
                </a:solidFill>
                <a:latin typeface="Aptos" panose="020B0004020202020204" pitchFamily="34" charset="0"/>
              </a:rPr>
              <a:t>Boundary</a:t>
            </a:r>
            <a:endParaRPr lang="zh-CN" altLang="en-US" sz="850" b="1">
              <a:solidFill>
                <a:srgbClr val="B85C00"/>
              </a:solidFill>
              <a:latin typeface="Aptos" panose="020B0004020202020204" pitchFamily="34" charset="0"/>
            </a:endParaRPr>
          </a:p>
        </p:txBody>
      </p:sp>
      <p:sp>
        <p:nvSpPr>
          <p:cNvPr id="24" name="cks1">
            <a:extLst>
              <a:ext uri="{FF2B5EF4-FFF2-40B4-BE49-F238E27FC236}">
                <a16:creationId xmlns:a16="http://schemas.microsoft.com/office/drawing/2014/main" id="{7486B7DA-0C76-84F6-35A2-C72571DE7513}"/>
              </a:ext>
            </a:extLst>
          </p:cNvPr>
          <p:cNvSpPr txBox="1"/>
          <p:nvPr/>
        </p:nvSpPr>
        <p:spPr>
          <a:xfrm>
            <a:off x="9093200" y="32258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70">
                <a:solidFill>
                  <a:srgbClr val="4A5B78"/>
                </a:solidFill>
                <a:latin typeface="Aptos" panose="020B0004020202020204" pitchFamily="34" charset="0"/>
              </a:rPr>
              <a:t>not a full GPU/API experiment rerun</a:t>
            </a:r>
            <a:endParaRPr lang="zh-CN" altLang="en-US" sz="77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25" name="ck2">
            <a:extLst>
              <a:ext uri="{FF2B5EF4-FFF2-40B4-BE49-F238E27FC236}">
                <a16:creationId xmlns:a16="http://schemas.microsoft.com/office/drawing/2014/main" id="{C51BA43F-FF3A-5B6B-766D-92F98052C010}"/>
              </a:ext>
            </a:extLst>
          </p:cNvPr>
          <p:cNvSpPr/>
          <p:nvPr/>
        </p:nvSpPr>
        <p:spPr>
          <a:xfrm>
            <a:off x="7493000" y="3962400"/>
            <a:ext cx="3429000" cy="609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ckbar2">
            <a:extLst>
              <a:ext uri="{FF2B5EF4-FFF2-40B4-BE49-F238E27FC236}">
                <a16:creationId xmlns:a16="http://schemas.microsoft.com/office/drawing/2014/main" id="{B9309229-9ABA-9D70-8283-C222E6BFC679}"/>
              </a:ext>
            </a:extLst>
          </p:cNvPr>
          <p:cNvSpPr/>
          <p:nvPr/>
        </p:nvSpPr>
        <p:spPr>
          <a:xfrm>
            <a:off x="7493000" y="3962400"/>
            <a:ext cx="76200" cy="609600"/>
          </a:xfrm>
          <a:prstGeom prst="roundRect">
            <a:avLst/>
          </a:prstGeom>
          <a:solidFill>
            <a:srgbClr val="B92C41"/>
          </a:solidFill>
          <a:ln w="9525" cap="flat" cmpd="sng" algn="ctr">
            <a:solidFill>
              <a:srgbClr val="B92C41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ckt2">
            <a:extLst>
              <a:ext uri="{FF2B5EF4-FFF2-40B4-BE49-F238E27FC236}">
                <a16:creationId xmlns:a16="http://schemas.microsoft.com/office/drawing/2014/main" id="{AE7AA9C5-0B5B-C8CC-4862-3DC393109397}"/>
              </a:ext>
            </a:extLst>
          </p:cNvPr>
          <p:cNvSpPr txBox="1"/>
          <p:nvPr/>
        </p:nvSpPr>
        <p:spPr>
          <a:xfrm>
            <a:off x="7823200" y="4089400"/>
            <a:ext cx="127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B92C41"/>
                </a:solidFill>
                <a:latin typeface="Aptos" panose="020B0004020202020204" pitchFamily="34" charset="0"/>
              </a:rPr>
              <a:t>Fallback</a:t>
            </a:r>
            <a:endParaRPr lang="zh-CN" altLang="en-US" sz="850" b="1">
              <a:solidFill>
                <a:srgbClr val="B92C41"/>
              </a:solidFill>
              <a:latin typeface="Aptos" panose="020B0004020202020204" pitchFamily="34" charset="0"/>
            </a:endParaRPr>
          </a:p>
        </p:txBody>
      </p:sp>
      <p:sp>
        <p:nvSpPr>
          <p:cNvPr id="28" name="cks2">
            <a:extLst>
              <a:ext uri="{FF2B5EF4-FFF2-40B4-BE49-F238E27FC236}">
                <a16:creationId xmlns:a16="http://schemas.microsoft.com/office/drawing/2014/main" id="{85FA7030-EDF2-B313-C263-5A567FE73B0D}"/>
              </a:ext>
            </a:extLst>
          </p:cNvPr>
          <p:cNvSpPr txBox="1"/>
          <p:nvPr/>
        </p:nvSpPr>
        <p:spPr>
          <a:xfrm>
            <a:off x="9093200" y="40894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70">
                <a:solidFill>
                  <a:srgbClr val="4A5B78"/>
                </a:solidFill>
                <a:latin typeface="Aptos" panose="020B0004020202020204" pitchFamily="34" charset="0"/>
              </a:rPr>
              <a:t>use recorded demo if network fails</a:t>
            </a:r>
            <a:endParaRPr lang="zh-CN" altLang="en-US" sz="77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29" name="footer-hit-10">
            <a:hlinkClick r:id="rId4"/>
            <a:extLst>
              <a:ext uri="{FF2B5EF4-FFF2-40B4-BE49-F238E27FC236}">
                <a16:creationId xmlns:a16="http://schemas.microsoft.com/office/drawing/2014/main" id="{786F5CAD-3821-EABD-8F6F-01A641AE335A}"/>
              </a:ext>
            </a:extLst>
          </p:cNvPr>
          <p:cNvSpPr/>
          <p:nvPr/>
        </p:nvSpPr>
        <p:spPr>
          <a:xfrm>
            <a:off x="685800" y="6502400"/>
            <a:ext cx="3175000" cy="2286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25149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">
        <p:fade thruBlk="1"/>
      </p:transition>
    </mc:Choice>
    <mc:Fallback>
      <p:transition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6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4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2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98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16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34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2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7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/>
      <p:bldP spid="20" grpId="0"/>
      <p:bldP spid="21" grpId="0" animBg="1"/>
      <p:bldP spid="22" grpId="0" animBg="1"/>
      <p:bldP spid="23" grpId="0"/>
      <p:bldP spid="24" grpId="0"/>
      <p:bldP spid="25" grpId="0" animBg="1"/>
      <p:bldP spid="26" grpId="0" animBg="1"/>
      <p:bldP spid="27" grpId="0"/>
      <p:bldP spid="2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>
            <a:extLst>
              <a:ext uri="{FF2B5EF4-FFF2-40B4-BE49-F238E27FC236}">
                <a16:creationId xmlns:a16="http://schemas.microsoft.com/office/drawing/2014/main" id="{CE2058B1-9118-D01F-D510-0ABBF59EC21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ail">
            <a:extLst>
              <a:ext uri="{FF2B5EF4-FFF2-40B4-BE49-F238E27FC236}">
                <a16:creationId xmlns:a16="http://schemas.microsoft.com/office/drawing/2014/main" id="{5DAAE4C4-9224-02D3-7EAB-946EACAD683C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003B7A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ection">
            <a:extLst>
              <a:ext uri="{FF2B5EF4-FFF2-40B4-BE49-F238E27FC236}">
                <a16:creationId xmlns:a16="http://schemas.microsoft.com/office/drawing/2014/main" id="{CD19D584-0684-6FE0-B316-60B68B764E8D}"/>
              </a:ext>
            </a:extLst>
          </p:cNvPr>
          <p:cNvSpPr txBox="1"/>
          <p:nvPr/>
        </p:nvSpPr>
        <p:spPr>
          <a:xfrm>
            <a:off x="736600" y="457200"/>
            <a:ext cx="355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003B7A"/>
                </a:solidFill>
                <a:latin typeface="Aptos" panose="020B0004020202020204" pitchFamily="34" charset="0"/>
              </a:rPr>
              <a:t>DEFENCE</a:t>
            </a:r>
            <a:endParaRPr lang="zh-CN" altLang="en-US" sz="85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5" name="num">
            <a:extLst>
              <a:ext uri="{FF2B5EF4-FFF2-40B4-BE49-F238E27FC236}">
                <a16:creationId xmlns:a16="http://schemas.microsoft.com/office/drawing/2014/main" id="{7DB10094-A02F-4977-D2C0-4113B0AF0EEB}"/>
              </a:ext>
            </a:extLst>
          </p:cNvPr>
          <p:cNvSpPr txBox="1"/>
          <p:nvPr/>
        </p:nvSpPr>
        <p:spPr>
          <a:xfrm>
            <a:off x="11531600" y="4572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00">
                <a:solidFill>
                  <a:srgbClr val="4A5B78"/>
                </a:solidFill>
                <a:latin typeface="Aptos" panose="020B0004020202020204" pitchFamily="34" charset="0"/>
              </a:rPr>
              <a:t>11</a:t>
            </a:r>
            <a:endParaRPr lang="zh-CN" altLang="en-US" sz="70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6" name="top-rule">
            <a:extLst>
              <a:ext uri="{FF2B5EF4-FFF2-40B4-BE49-F238E27FC236}">
                <a16:creationId xmlns:a16="http://schemas.microsoft.com/office/drawing/2014/main" id="{83227090-E4D2-4AAC-8348-3474678DC174}"/>
              </a:ext>
            </a:extLst>
          </p:cNvPr>
          <p:cNvCxnSpPr/>
          <p:nvPr/>
        </p:nvCxnSpPr>
        <p:spPr>
          <a:xfrm>
            <a:off x="736600" y="1701800"/>
            <a:ext cx="10718800" cy="0"/>
          </a:xfrm>
          <a:prstGeom prst="line">
            <a:avLst/>
          </a:prstGeom>
          <a:ln w="12700">
            <a:solidFill>
              <a:srgbClr val="D3E1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">
            <a:extLst>
              <a:ext uri="{FF2B5EF4-FFF2-40B4-BE49-F238E27FC236}">
                <a16:creationId xmlns:a16="http://schemas.microsoft.com/office/drawing/2014/main" id="{D382BE18-D10D-152C-F831-E73C2C9852CB}"/>
              </a:ext>
            </a:extLst>
          </p:cNvPr>
          <p:cNvSpPr txBox="1"/>
          <p:nvPr/>
        </p:nvSpPr>
        <p:spPr>
          <a:xfrm>
            <a:off x="736600" y="6527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WatermarkScope FYP Viva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8" name="student">
            <a:extLst>
              <a:ext uri="{FF2B5EF4-FFF2-40B4-BE49-F238E27FC236}">
                <a16:creationId xmlns:a16="http://schemas.microsoft.com/office/drawing/2014/main" id="{B458EC42-5B31-433E-44E9-F2A00188EC1C}"/>
              </a:ext>
            </a:extLst>
          </p:cNvPr>
          <p:cNvSpPr txBox="1"/>
          <p:nvPr/>
        </p:nvSpPr>
        <p:spPr>
          <a:xfrm>
            <a:off x="4978400" y="65278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Haoyi Zhang | 2254912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0B670B88-5835-698D-A59F-4961B18ECB2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9600" y="6096000"/>
            <a:ext cx="1803400" cy="48260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F04FB9DE-0234-3B47-3E3A-80D2DC042B58}"/>
              </a:ext>
            </a:extLst>
          </p:cNvPr>
          <p:cNvSpPr txBox="1"/>
          <p:nvPr/>
        </p:nvSpPr>
        <p:spPr>
          <a:xfrm>
            <a:off x="736600" y="838200"/>
            <a:ext cx="1054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700" b="1">
                <a:solidFill>
                  <a:srgbClr val="091C3E"/>
                </a:solidFill>
                <a:latin typeface="Aptos" panose="020B0004020202020204" pitchFamily="34" charset="0"/>
              </a:rPr>
              <a:t>Answer, bound, then point.</a:t>
            </a:r>
            <a:endParaRPr lang="zh-CN" altLang="en-US" sz="27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38CD2A40-848B-CB80-92DD-CC1A3E797DF4}"/>
              </a:ext>
            </a:extLst>
          </p:cNvPr>
          <p:cNvSpPr txBox="1"/>
          <p:nvPr/>
        </p:nvSpPr>
        <p:spPr>
          <a:xfrm>
            <a:off x="787400" y="147320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80">
                <a:solidFill>
                  <a:srgbClr val="4A5B78"/>
                </a:solidFill>
                <a:latin typeface="Aptos" panose="020B0004020202020204" pitchFamily="34" charset="0"/>
              </a:rPr>
              <a:t>This is the Q&amp;A rule I will use for difficult questions.</a:t>
            </a:r>
            <a:endParaRPr lang="zh-CN" altLang="en-US" sz="118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3" name="def0">
            <a:extLst>
              <a:ext uri="{FF2B5EF4-FFF2-40B4-BE49-F238E27FC236}">
                <a16:creationId xmlns:a16="http://schemas.microsoft.com/office/drawing/2014/main" id="{B5B5218D-224C-0867-5316-C89E53D99D45}"/>
              </a:ext>
            </a:extLst>
          </p:cNvPr>
          <p:cNvSpPr/>
          <p:nvPr/>
        </p:nvSpPr>
        <p:spPr>
          <a:xfrm>
            <a:off x="1397000" y="2413000"/>
            <a:ext cx="2717800" cy="19050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defbar0">
            <a:extLst>
              <a:ext uri="{FF2B5EF4-FFF2-40B4-BE49-F238E27FC236}">
                <a16:creationId xmlns:a16="http://schemas.microsoft.com/office/drawing/2014/main" id="{4CE93CA3-525D-B1D7-BE89-CDFC7905A243}"/>
              </a:ext>
            </a:extLst>
          </p:cNvPr>
          <p:cNvSpPr/>
          <p:nvPr/>
        </p:nvSpPr>
        <p:spPr>
          <a:xfrm>
            <a:off x="1397000" y="2413000"/>
            <a:ext cx="2717800" cy="101600"/>
          </a:xfrm>
          <a:prstGeom prst="roundRect">
            <a:avLst/>
          </a:prstGeom>
          <a:solidFill>
            <a:srgbClr val="003B7A"/>
          </a:solidFill>
          <a:ln w="9525" cap="flat" cmpd="sng" algn="ctr">
            <a:solidFill>
              <a:srgbClr val="003B7A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deft0">
            <a:extLst>
              <a:ext uri="{FF2B5EF4-FFF2-40B4-BE49-F238E27FC236}">
                <a16:creationId xmlns:a16="http://schemas.microsoft.com/office/drawing/2014/main" id="{C14C8C8C-B1EF-1D99-9A6A-C9DC2C6CC922}"/>
              </a:ext>
            </a:extLst>
          </p:cNvPr>
          <p:cNvSpPr txBox="1"/>
          <p:nvPr/>
        </p:nvSpPr>
        <p:spPr>
          <a:xfrm>
            <a:off x="1752600" y="30480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000" b="1">
                <a:solidFill>
                  <a:srgbClr val="003B7A"/>
                </a:solidFill>
                <a:latin typeface="Aptos" panose="020B0004020202020204" pitchFamily="34" charset="0"/>
              </a:rPr>
              <a:t>Answer</a:t>
            </a:r>
            <a:endParaRPr lang="zh-CN" altLang="en-US" sz="200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16" name="defs0">
            <a:extLst>
              <a:ext uri="{FF2B5EF4-FFF2-40B4-BE49-F238E27FC236}">
                <a16:creationId xmlns:a16="http://schemas.microsoft.com/office/drawing/2014/main" id="{7E8E051E-05F0-6CD3-AF87-705CD78277F1}"/>
              </a:ext>
            </a:extLst>
          </p:cNvPr>
          <p:cNvSpPr txBox="1"/>
          <p:nvPr/>
        </p:nvSpPr>
        <p:spPr>
          <a:xfrm>
            <a:off x="1752600" y="37084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50" b="1">
                <a:solidFill>
                  <a:srgbClr val="4A5B78"/>
                </a:solidFill>
                <a:latin typeface="Aptos" panose="020B0004020202020204" pitchFamily="34" charset="0"/>
              </a:rPr>
              <a:t>one direct sentence</a:t>
            </a:r>
            <a:endParaRPr lang="zh-CN" altLang="en-US" sz="105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7" name="def1">
            <a:extLst>
              <a:ext uri="{FF2B5EF4-FFF2-40B4-BE49-F238E27FC236}">
                <a16:creationId xmlns:a16="http://schemas.microsoft.com/office/drawing/2014/main" id="{BA7B39B6-4E84-1EC3-71CA-746F4F4CEA3E}"/>
              </a:ext>
            </a:extLst>
          </p:cNvPr>
          <p:cNvSpPr/>
          <p:nvPr/>
        </p:nvSpPr>
        <p:spPr>
          <a:xfrm>
            <a:off x="4699000" y="2413000"/>
            <a:ext cx="2717800" cy="19050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defbar1">
            <a:extLst>
              <a:ext uri="{FF2B5EF4-FFF2-40B4-BE49-F238E27FC236}">
                <a16:creationId xmlns:a16="http://schemas.microsoft.com/office/drawing/2014/main" id="{8D53682F-2E57-445E-0D99-94F1058F000A}"/>
              </a:ext>
            </a:extLst>
          </p:cNvPr>
          <p:cNvSpPr/>
          <p:nvPr/>
        </p:nvSpPr>
        <p:spPr>
          <a:xfrm>
            <a:off x="4699000" y="2413000"/>
            <a:ext cx="2717800" cy="101600"/>
          </a:xfrm>
          <a:prstGeom prst="roundRect">
            <a:avLst/>
          </a:prstGeom>
          <a:solidFill>
            <a:srgbClr val="B85C00"/>
          </a:solidFill>
          <a:ln w="9525" cap="flat" cmpd="sng" algn="ctr">
            <a:solidFill>
              <a:srgbClr val="B85C00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eft1">
            <a:extLst>
              <a:ext uri="{FF2B5EF4-FFF2-40B4-BE49-F238E27FC236}">
                <a16:creationId xmlns:a16="http://schemas.microsoft.com/office/drawing/2014/main" id="{22977F6F-2677-FD53-A5D9-DE0DD141E2EC}"/>
              </a:ext>
            </a:extLst>
          </p:cNvPr>
          <p:cNvSpPr txBox="1"/>
          <p:nvPr/>
        </p:nvSpPr>
        <p:spPr>
          <a:xfrm>
            <a:off x="5054600" y="30480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000" b="1">
                <a:solidFill>
                  <a:srgbClr val="B85C00"/>
                </a:solidFill>
                <a:latin typeface="Aptos" panose="020B0004020202020204" pitchFamily="34" charset="0"/>
              </a:rPr>
              <a:t>Bound</a:t>
            </a:r>
            <a:endParaRPr lang="zh-CN" altLang="en-US" sz="2000" b="1">
              <a:solidFill>
                <a:srgbClr val="B85C00"/>
              </a:solidFill>
              <a:latin typeface="Aptos" panose="020B0004020202020204" pitchFamily="34" charset="0"/>
            </a:endParaRPr>
          </a:p>
        </p:txBody>
      </p:sp>
      <p:sp>
        <p:nvSpPr>
          <p:cNvPr id="20" name="defs1">
            <a:extLst>
              <a:ext uri="{FF2B5EF4-FFF2-40B4-BE49-F238E27FC236}">
                <a16:creationId xmlns:a16="http://schemas.microsoft.com/office/drawing/2014/main" id="{E31860C3-23CE-BF95-0013-DE5D4D85A33D}"/>
              </a:ext>
            </a:extLst>
          </p:cNvPr>
          <p:cNvSpPr txBox="1"/>
          <p:nvPr/>
        </p:nvSpPr>
        <p:spPr>
          <a:xfrm>
            <a:off x="5054600" y="37084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50" b="1">
                <a:solidFill>
                  <a:srgbClr val="4A5B78"/>
                </a:solidFill>
                <a:latin typeface="Aptos" panose="020B0004020202020204" pitchFamily="34" charset="0"/>
              </a:rPr>
              <a:t>denominator and controls</a:t>
            </a:r>
            <a:endParaRPr lang="zh-CN" altLang="en-US" sz="105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21" name="def2">
            <a:extLst>
              <a:ext uri="{FF2B5EF4-FFF2-40B4-BE49-F238E27FC236}">
                <a16:creationId xmlns:a16="http://schemas.microsoft.com/office/drawing/2014/main" id="{E357BB4E-B27C-29D7-0F68-D4D465F21693}"/>
              </a:ext>
            </a:extLst>
          </p:cNvPr>
          <p:cNvSpPr/>
          <p:nvPr/>
        </p:nvSpPr>
        <p:spPr>
          <a:xfrm>
            <a:off x="8001000" y="2413000"/>
            <a:ext cx="2717800" cy="19050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defbar2">
            <a:extLst>
              <a:ext uri="{FF2B5EF4-FFF2-40B4-BE49-F238E27FC236}">
                <a16:creationId xmlns:a16="http://schemas.microsoft.com/office/drawing/2014/main" id="{E1D731D2-B89C-4A96-4595-1D28109F4640}"/>
              </a:ext>
            </a:extLst>
          </p:cNvPr>
          <p:cNvSpPr/>
          <p:nvPr/>
        </p:nvSpPr>
        <p:spPr>
          <a:xfrm>
            <a:off x="8001000" y="2413000"/>
            <a:ext cx="2717800" cy="101600"/>
          </a:xfrm>
          <a:prstGeom prst="roundRect">
            <a:avLst/>
          </a:prstGeom>
          <a:solidFill>
            <a:srgbClr val="1F7A4D"/>
          </a:solidFill>
          <a:ln w="9525" cap="flat" cmpd="sng" algn="ctr">
            <a:solidFill>
              <a:srgbClr val="1F7A4D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deft2">
            <a:extLst>
              <a:ext uri="{FF2B5EF4-FFF2-40B4-BE49-F238E27FC236}">
                <a16:creationId xmlns:a16="http://schemas.microsoft.com/office/drawing/2014/main" id="{79A34390-E0EF-9C25-0EFF-2CF65F65C38A}"/>
              </a:ext>
            </a:extLst>
          </p:cNvPr>
          <p:cNvSpPr txBox="1"/>
          <p:nvPr/>
        </p:nvSpPr>
        <p:spPr>
          <a:xfrm>
            <a:off x="8356600" y="30480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000" b="1">
                <a:solidFill>
                  <a:srgbClr val="1F7A4D"/>
                </a:solidFill>
                <a:latin typeface="Aptos" panose="020B0004020202020204" pitchFamily="34" charset="0"/>
              </a:rPr>
              <a:t>Point</a:t>
            </a:r>
            <a:endParaRPr lang="zh-CN" altLang="en-US" sz="2000" b="1">
              <a:solidFill>
                <a:srgbClr val="1F7A4D"/>
              </a:solidFill>
              <a:latin typeface="Aptos" panose="020B0004020202020204" pitchFamily="34" charset="0"/>
            </a:endParaRPr>
          </a:p>
        </p:txBody>
      </p:sp>
      <p:sp>
        <p:nvSpPr>
          <p:cNvPr id="24" name="defs2">
            <a:extLst>
              <a:ext uri="{FF2B5EF4-FFF2-40B4-BE49-F238E27FC236}">
                <a16:creationId xmlns:a16="http://schemas.microsoft.com/office/drawing/2014/main" id="{7F26735B-6798-37AD-6486-28604EFEF5E2}"/>
              </a:ext>
            </a:extLst>
          </p:cNvPr>
          <p:cNvSpPr txBox="1"/>
          <p:nvPr/>
        </p:nvSpPr>
        <p:spPr>
          <a:xfrm>
            <a:off x="8356600" y="37084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50" b="1">
                <a:solidFill>
                  <a:srgbClr val="4A5B78"/>
                </a:solidFill>
                <a:latin typeface="Aptos" panose="020B0004020202020204" pitchFamily="34" charset="0"/>
              </a:rPr>
              <a:t>file, slide, or demo route</a:t>
            </a:r>
            <a:endParaRPr lang="zh-CN" altLang="en-US" sz="1050" b="1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25" name="dont">
            <a:extLst>
              <a:ext uri="{FF2B5EF4-FFF2-40B4-BE49-F238E27FC236}">
                <a16:creationId xmlns:a16="http://schemas.microsoft.com/office/drawing/2014/main" id="{FFCE5AC8-B443-30A6-8A2F-5DE3963E02E2}"/>
              </a:ext>
            </a:extLst>
          </p:cNvPr>
          <p:cNvSpPr/>
          <p:nvPr/>
        </p:nvSpPr>
        <p:spPr>
          <a:xfrm>
            <a:off x="2260600" y="5207000"/>
            <a:ext cx="7670800" cy="431800"/>
          </a:xfrm>
          <a:prstGeom prst="roundRect">
            <a:avLst/>
          </a:prstGeom>
          <a:solidFill>
            <a:srgbClr val="FFF0F4"/>
          </a:solidFill>
          <a:ln w="9525" cap="flat" cmpd="sng" algn="ctr">
            <a:solidFill>
              <a:srgbClr val="EEB5BF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dont-t">
            <a:extLst>
              <a:ext uri="{FF2B5EF4-FFF2-40B4-BE49-F238E27FC236}">
                <a16:creationId xmlns:a16="http://schemas.microsoft.com/office/drawing/2014/main" id="{079EAA33-C446-4B52-A6E5-67C5BEE9B96F}"/>
              </a:ext>
            </a:extLst>
          </p:cNvPr>
          <p:cNvSpPr txBox="1"/>
          <p:nvPr/>
        </p:nvSpPr>
        <p:spPr>
          <a:xfrm>
            <a:off x="2692400" y="5346700"/>
            <a:ext cx="6807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B92C41"/>
                </a:solidFill>
                <a:latin typeface="Aptos" panose="020B0004020202020204" pitchFamily="34" charset="0"/>
              </a:rPr>
              <a:t>Do not claim: legal authorship proof, provider accusation, universal watermarking, or safety certification.</a:t>
            </a:r>
            <a:endParaRPr lang="zh-CN" altLang="en-US" sz="850" b="1">
              <a:solidFill>
                <a:srgbClr val="B92C41"/>
              </a:solidFill>
              <a:latin typeface="Aptos" panose="020B0004020202020204" pitchFamily="34" charset="0"/>
            </a:endParaRPr>
          </a:p>
        </p:txBody>
      </p:sp>
      <p:sp>
        <p:nvSpPr>
          <p:cNvPr id="27" name="footer-hit-11">
            <a:hlinkClick r:id="rId4"/>
            <a:extLst>
              <a:ext uri="{FF2B5EF4-FFF2-40B4-BE49-F238E27FC236}">
                <a16:creationId xmlns:a16="http://schemas.microsoft.com/office/drawing/2014/main" id="{669AED7D-AD2E-900C-665B-B9DD07CA8C4A}"/>
              </a:ext>
            </a:extLst>
          </p:cNvPr>
          <p:cNvSpPr/>
          <p:nvPr/>
        </p:nvSpPr>
        <p:spPr>
          <a:xfrm>
            <a:off x="685800" y="6502400"/>
            <a:ext cx="3175000" cy="2286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2239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">
        <p:fade thruBlk="1"/>
      </p:transition>
    </mc:Choice>
    <mc:Fallback>
      <p:transition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6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4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2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98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16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34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/>
      <p:bldP spid="16" grpId="0"/>
      <p:bldP spid="17" grpId="0" animBg="1"/>
      <p:bldP spid="18" grpId="0" animBg="1"/>
      <p:bldP spid="19" grpId="0"/>
      <p:bldP spid="20" grpId="0"/>
      <p:bldP spid="21" grpId="0" animBg="1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>
            <a:extLst>
              <a:ext uri="{FF2B5EF4-FFF2-40B4-BE49-F238E27FC236}">
                <a16:creationId xmlns:a16="http://schemas.microsoft.com/office/drawing/2014/main" id="{551332BC-0319-8AB1-4C49-E8A4F3E2B21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ail">
            <a:extLst>
              <a:ext uri="{FF2B5EF4-FFF2-40B4-BE49-F238E27FC236}">
                <a16:creationId xmlns:a16="http://schemas.microsoft.com/office/drawing/2014/main" id="{6BB7A4F2-1331-A876-4135-1C7ED6C7B6AE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003B7A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ection">
            <a:extLst>
              <a:ext uri="{FF2B5EF4-FFF2-40B4-BE49-F238E27FC236}">
                <a16:creationId xmlns:a16="http://schemas.microsoft.com/office/drawing/2014/main" id="{29645B11-D393-707A-FA4A-ADFDA91EF73F}"/>
              </a:ext>
            </a:extLst>
          </p:cNvPr>
          <p:cNvSpPr txBox="1"/>
          <p:nvPr/>
        </p:nvSpPr>
        <p:spPr>
          <a:xfrm>
            <a:off x="736600" y="457200"/>
            <a:ext cx="355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50" b="1">
                <a:solidFill>
                  <a:srgbClr val="003B7A"/>
                </a:solidFill>
                <a:latin typeface="Aptos" panose="020B0004020202020204" pitchFamily="34" charset="0"/>
              </a:rPr>
              <a:t>FUTURE WORK</a:t>
            </a:r>
            <a:endParaRPr lang="zh-CN" altLang="en-US" sz="85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5" name="num">
            <a:extLst>
              <a:ext uri="{FF2B5EF4-FFF2-40B4-BE49-F238E27FC236}">
                <a16:creationId xmlns:a16="http://schemas.microsoft.com/office/drawing/2014/main" id="{EFB89CA1-4B66-FDB9-DA2B-61BE7FEC34DE}"/>
              </a:ext>
            </a:extLst>
          </p:cNvPr>
          <p:cNvSpPr txBox="1"/>
          <p:nvPr/>
        </p:nvSpPr>
        <p:spPr>
          <a:xfrm>
            <a:off x="11531600" y="4572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00">
                <a:solidFill>
                  <a:srgbClr val="4A5B78"/>
                </a:solidFill>
                <a:latin typeface="Aptos" panose="020B0004020202020204" pitchFamily="34" charset="0"/>
              </a:rPr>
              <a:t>12</a:t>
            </a:r>
            <a:endParaRPr lang="zh-CN" altLang="en-US" sz="70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cxnSp>
        <p:nvCxnSpPr>
          <p:cNvPr id="6" name="top-rule">
            <a:extLst>
              <a:ext uri="{FF2B5EF4-FFF2-40B4-BE49-F238E27FC236}">
                <a16:creationId xmlns:a16="http://schemas.microsoft.com/office/drawing/2014/main" id="{AB455CC7-DEB0-9644-789A-F38FB5996F0F}"/>
              </a:ext>
            </a:extLst>
          </p:cNvPr>
          <p:cNvCxnSpPr/>
          <p:nvPr/>
        </p:nvCxnSpPr>
        <p:spPr>
          <a:xfrm>
            <a:off x="736600" y="1701800"/>
            <a:ext cx="10718800" cy="0"/>
          </a:xfrm>
          <a:prstGeom prst="line">
            <a:avLst/>
          </a:prstGeom>
          <a:ln w="12700">
            <a:solidFill>
              <a:srgbClr val="D3E1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">
            <a:extLst>
              <a:ext uri="{FF2B5EF4-FFF2-40B4-BE49-F238E27FC236}">
                <a16:creationId xmlns:a16="http://schemas.microsoft.com/office/drawing/2014/main" id="{5948A9DF-BC3B-4A4E-531B-BA5016C475B1}"/>
              </a:ext>
            </a:extLst>
          </p:cNvPr>
          <p:cNvSpPr txBox="1"/>
          <p:nvPr/>
        </p:nvSpPr>
        <p:spPr>
          <a:xfrm>
            <a:off x="736600" y="6527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WatermarkScope FYP Viva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8" name="student">
            <a:extLst>
              <a:ext uri="{FF2B5EF4-FFF2-40B4-BE49-F238E27FC236}">
                <a16:creationId xmlns:a16="http://schemas.microsoft.com/office/drawing/2014/main" id="{433B9390-E653-45FC-3802-B41714C43BB1}"/>
              </a:ext>
            </a:extLst>
          </p:cNvPr>
          <p:cNvSpPr txBox="1"/>
          <p:nvPr/>
        </p:nvSpPr>
        <p:spPr>
          <a:xfrm>
            <a:off x="4978400" y="65278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620">
                <a:solidFill>
                  <a:srgbClr val="4A5B78"/>
                </a:solidFill>
                <a:latin typeface="Aptos" panose="020B0004020202020204" pitchFamily="34" charset="0"/>
              </a:rPr>
              <a:t>Haoyi Zhang | 2254912</a:t>
            </a:r>
            <a:endParaRPr lang="zh-CN" altLang="en-US" sz="62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E8DDAF20-F85D-0AE4-1890-21686272C5A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9600" y="6096000"/>
            <a:ext cx="1803400" cy="48260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4A26B344-EBC1-6461-0C77-BFB4ACEFEB74}"/>
              </a:ext>
            </a:extLst>
          </p:cNvPr>
          <p:cNvSpPr txBox="1"/>
          <p:nvPr/>
        </p:nvSpPr>
        <p:spPr>
          <a:xfrm>
            <a:off x="736600" y="838200"/>
            <a:ext cx="1054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700" b="1">
                <a:solidFill>
                  <a:srgbClr val="091C3E"/>
                </a:solidFill>
                <a:latin typeface="Aptos" panose="020B0004020202020204" pitchFamily="34" charset="0"/>
              </a:rPr>
              <a:t>The FYP artifact is submitted; papers are continuations.</a:t>
            </a:r>
            <a:endParaRPr lang="zh-CN" altLang="en-US" sz="270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45269C86-761E-BCB9-F3F3-042BC6D442A5}"/>
              </a:ext>
            </a:extLst>
          </p:cNvPr>
          <p:cNvSpPr txBox="1"/>
          <p:nvPr/>
        </p:nvSpPr>
        <p:spPr>
          <a:xfrm>
            <a:off x="787400" y="147320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80">
                <a:solidFill>
                  <a:srgbClr val="4A5B78"/>
                </a:solidFill>
                <a:latin typeface="Aptos" panose="020B0004020202020204" pitchFamily="34" charset="0"/>
              </a:rPr>
              <a:t>The viva should assess the dissertation, repository, evidence files, and claim boundaries.</a:t>
            </a:r>
            <a:endParaRPr lang="zh-CN" altLang="en-US" sz="1180">
              <a:solidFill>
                <a:srgbClr val="4A5B78"/>
              </a:solidFill>
              <a:latin typeface="Aptos" panose="020B0004020202020204" pitchFamily="34" charset="0"/>
            </a:endParaRPr>
          </a:p>
        </p:txBody>
      </p:sp>
      <p:sp>
        <p:nvSpPr>
          <p:cNvPr id="13" name="fyp">
            <a:extLst>
              <a:ext uri="{FF2B5EF4-FFF2-40B4-BE49-F238E27FC236}">
                <a16:creationId xmlns:a16="http://schemas.microsoft.com/office/drawing/2014/main" id="{E700D4D6-F27D-05F1-946E-EF829D9B80F8}"/>
              </a:ext>
            </a:extLst>
          </p:cNvPr>
          <p:cNvSpPr/>
          <p:nvPr/>
        </p:nvSpPr>
        <p:spPr>
          <a:xfrm>
            <a:off x="965200" y="2209800"/>
            <a:ext cx="3632200" cy="2514600"/>
          </a:xfrm>
          <a:prstGeom prst="roundRect">
            <a:avLst/>
          </a:prstGeom>
          <a:solidFill>
            <a:srgbClr val="003B7A"/>
          </a:solidFill>
          <a:ln w="9525" cap="flat" cmpd="sng" algn="ctr">
            <a:solidFill>
              <a:srgbClr val="003B7A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fyp-k">
            <a:extLst>
              <a:ext uri="{FF2B5EF4-FFF2-40B4-BE49-F238E27FC236}">
                <a16:creationId xmlns:a16="http://schemas.microsoft.com/office/drawing/2014/main" id="{A7A624BE-CE84-6FD3-46F8-270E261DD79F}"/>
              </a:ext>
            </a:extLst>
          </p:cNvPr>
          <p:cNvSpPr txBox="1"/>
          <p:nvPr/>
        </p:nvSpPr>
        <p:spPr>
          <a:xfrm>
            <a:off x="1346200" y="25908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20" b="1">
                <a:solidFill>
                  <a:srgbClr val="CDE2FA"/>
                </a:solidFill>
                <a:latin typeface="Aptos" panose="020B0004020202020204" pitchFamily="34" charset="0"/>
              </a:rPr>
              <a:t>SUBMITTED FYP</a:t>
            </a:r>
            <a:endParaRPr lang="zh-CN" altLang="en-US" sz="820" b="1">
              <a:solidFill>
                <a:srgbClr val="CDE2FA"/>
              </a:solidFill>
              <a:latin typeface="Aptos" panose="020B0004020202020204" pitchFamily="34" charset="0"/>
            </a:endParaRPr>
          </a:p>
        </p:txBody>
      </p:sp>
      <p:sp>
        <p:nvSpPr>
          <p:cNvPr id="15" name="fyp-t">
            <a:extLst>
              <a:ext uri="{FF2B5EF4-FFF2-40B4-BE49-F238E27FC236}">
                <a16:creationId xmlns:a16="http://schemas.microsoft.com/office/drawing/2014/main" id="{AAEEB2CD-C58E-DF4F-45C7-A15E1FAA0D03}"/>
              </a:ext>
            </a:extLst>
          </p:cNvPr>
          <p:cNvSpPr txBox="1"/>
          <p:nvPr/>
        </p:nvSpPr>
        <p:spPr>
          <a:xfrm>
            <a:off x="1346200" y="3124200"/>
            <a:ext cx="2438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000" b="1">
                <a:solidFill>
                  <a:srgbClr val="FFFFFF"/>
                </a:solidFill>
                <a:latin typeface="Aptos" panose="020B0004020202020204" pitchFamily="34" charset="0"/>
              </a:rPr>
              <a:t>Individual implementation and evidence package</a:t>
            </a:r>
            <a:endParaRPr lang="zh-CN" altLang="en-US" sz="2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cxnSp>
        <p:nvCxnSpPr>
          <p:cNvPr id="16" name="fw-arrow">
            <a:extLst>
              <a:ext uri="{FF2B5EF4-FFF2-40B4-BE49-F238E27FC236}">
                <a16:creationId xmlns:a16="http://schemas.microsoft.com/office/drawing/2014/main" id="{ECC9CDCB-2016-286F-4CFA-C676CC623EBC}"/>
              </a:ext>
            </a:extLst>
          </p:cNvPr>
          <p:cNvCxnSpPr/>
          <p:nvPr/>
        </p:nvCxnSpPr>
        <p:spPr>
          <a:xfrm>
            <a:off x="4978400" y="3479800"/>
            <a:ext cx="838200" cy="0"/>
          </a:xfrm>
          <a:prstGeom prst="line">
            <a:avLst/>
          </a:prstGeom>
          <a:ln w="25400">
            <a:solidFill>
              <a:srgbClr val="4A5B7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pub0">
            <a:extLst>
              <a:ext uri="{FF2B5EF4-FFF2-40B4-BE49-F238E27FC236}">
                <a16:creationId xmlns:a16="http://schemas.microsoft.com/office/drawing/2014/main" id="{3E09C0CF-6E02-2DA4-A4B1-7CA2FEAF8BBE}"/>
              </a:ext>
            </a:extLst>
          </p:cNvPr>
          <p:cNvSpPr/>
          <p:nvPr/>
        </p:nvSpPr>
        <p:spPr>
          <a:xfrm>
            <a:off x="6197600" y="2159000"/>
            <a:ext cx="4064000" cy="4064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pubbar0">
            <a:extLst>
              <a:ext uri="{FF2B5EF4-FFF2-40B4-BE49-F238E27FC236}">
                <a16:creationId xmlns:a16="http://schemas.microsoft.com/office/drawing/2014/main" id="{6256B9AE-F0D2-D60B-7FD0-DA881D9BED8A}"/>
              </a:ext>
            </a:extLst>
          </p:cNvPr>
          <p:cNvSpPr/>
          <p:nvPr/>
        </p:nvSpPr>
        <p:spPr>
          <a:xfrm>
            <a:off x="6197600" y="2159000"/>
            <a:ext cx="76200" cy="406400"/>
          </a:xfrm>
          <a:prstGeom prst="roundRect">
            <a:avLst/>
          </a:prstGeom>
          <a:solidFill>
            <a:srgbClr val="003B7A"/>
          </a:solidFill>
          <a:ln w="9525" cap="flat" cmpd="sng" algn="ctr">
            <a:solidFill>
              <a:srgbClr val="003B7A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pubt0">
            <a:extLst>
              <a:ext uri="{FF2B5EF4-FFF2-40B4-BE49-F238E27FC236}">
                <a16:creationId xmlns:a16="http://schemas.microsoft.com/office/drawing/2014/main" id="{9C50D79A-2BEC-F963-E08D-42D1A45B4746}"/>
              </a:ext>
            </a:extLst>
          </p:cNvPr>
          <p:cNvSpPr txBox="1"/>
          <p:nvPr/>
        </p:nvSpPr>
        <p:spPr>
          <a:xfrm>
            <a:off x="6527800" y="22733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80" b="1">
                <a:solidFill>
                  <a:srgbClr val="003B7A"/>
                </a:solidFill>
                <a:latin typeface="Aptos" panose="020B0004020202020204" pitchFamily="34" charset="0"/>
              </a:rPr>
              <a:t>CodeMarkBench</a:t>
            </a:r>
            <a:endParaRPr lang="zh-CN" altLang="en-US" sz="78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20" name="pubv0">
            <a:extLst>
              <a:ext uri="{FF2B5EF4-FFF2-40B4-BE49-F238E27FC236}">
                <a16:creationId xmlns:a16="http://schemas.microsoft.com/office/drawing/2014/main" id="{6DC0BB4C-597D-A00D-060F-774B50BDF116}"/>
              </a:ext>
            </a:extLst>
          </p:cNvPr>
          <p:cNvSpPr txBox="1"/>
          <p:nvPr/>
        </p:nvSpPr>
        <p:spPr>
          <a:xfrm>
            <a:off x="8712200" y="22733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" b="1">
                <a:solidFill>
                  <a:srgbClr val="003B7A"/>
                </a:solidFill>
                <a:latin typeface="Aptos" panose="020B0004020202020204" pitchFamily="34" charset="0"/>
              </a:rPr>
              <a:t>TOSEM</a:t>
            </a:r>
            <a:endParaRPr lang="zh-CN" altLang="en-US" sz="74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21" name="pub1">
            <a:extLst>
              <a:ext uri="{FF2B5EF4-FFF2-40B4-BE49-F238E27FC236}">
                <a16:creationId xmlns:a16="http://schemas.microsoft.com/office/drawing/2014/main" id="{CAFE30FD-F4CE-7912-3253-8FE3EF666B7C}"/>
              </a:ext>
            </a:extLst>
          </p:cNvPr>
          <p:cNvSpPr/>
          <p:nvPr/>
        </p:nvSpPr>
        <p:spPr>
          <a:xfrm>
            <a:off x="6197600" y="2717800"/>
            <a:ext cx="4064000" cy="4064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pubbar1">
            <a:extLst>
              <a:ext uri="{FF2B5EF4-FFF2-40B4-BE49-F238E27FC236}">
                <a16:creationId xmlns:a16="http://schemas.microsoft.com/office/drawing/2014/main" id="{17002605-ECA7-1A26-5FC9-E981C4AEF5EC}"/>
              </a:ext>
            </a:extLst>
          </p:cNvPr>
          <p:cNvSpPr/>
          <p:nvPr/>
        </p:nvSpPr>
        <p:spPr>
          <a:xfrm>
            <a:off x="6197600" y="2717800"/>
            <a:ext cx="76200" cy="406400"/>
          </a:xfrm>
          <a:prstGeom prst="roundRect">
            <a:avLst/>
          </a:prstGeom>
          <a:solidFill>
            <a:srgbClr val="168E8B"/>
          </a:solidFill>
          <a:ln w="9525" cap="flat" cmpd="sng" algn="ctr">
            <a:solidFill>
              <a:srgbClr val="168E8B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pubt1">
            <a:extLst>
              <a:ext uri="{FF2B5EF4-FFF2-40B4-BE49-F238E27FC236}">
                <a16:creationId xmlns:a16="http://schemas.microsoft.com/office/drawing/2014/main" id="{C6FC1CC3-30F0-1F22-1793-C908E8877853}"/>
              </a:ext>
            </a:extLst>
          </p:cNvPr>
          <p:cNvSpPr txBox="1"/>
          <p:nvPr/>
        </p:nvSpPr>
        <p:spPr>
          <a:xfrm>
            <a:off x="6527800" y="28321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80" b="1">
                <a:solidFill>
                  <a:srgbClr val="168E8B"/>
                </a:solidFill>
                <a:latin typeface="Aptos" panose="020B0004020202020204" pitchFamily="34" charset="0"/>
              </a:rPr>
              <a:t>SemCodebook</a:t>
            </a:r>
            <a:endParaRPr lang="zh-CN" altLang="en-US" sz="780" b="1">
              <a:solidFill>
                <a:srgbClr val="168E8B"/>
              </a:solidFill>
              <a:latin typeface="Aptos" panose="020B0004020202020204" pitchFamily="34" charset="0"/>
            </a:endParaRPr>
          </a:p>
        </p:txBody>
      </p:sp>
      <p:sp>
        <p:nvSpPr>
          <p:cNvPr id="24" name="pubv1">
            <a:extLst>
              <a:ext uri="{FF2B5EF4-FFF2-40B4-BE49-F238E27FC236}">
                <a16:creationId xmlns:a16="http://schemas.microsoft.com/office/drawing/2014/main" id="{2F58548D-FEDF-B7F4-77D6-B41CBE1C786A}"/>
              </a:ext>
            </a:extLst>
          </p:cNvPr>
          <p:cNvSpPr txBox="1"/>
          <p:nvPr/>
        </p:nvSpPr>
        <p:spPr>
          <a:xfrm>
            <a:off x="8712200" y="28321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" b="1">
                <a:solidFill>
                  <a:srgbClr val="003B7A"/>
                </a:solidFill>
                <a:latin typeface="Aptos" panose="020B0004020202020204" pitchFamily="34" charset="0"/>
              </a:rPr>
              <a:t>EMNLP</a:t>
            </a:r>
            <a:endParaRPr lang="zh-CN" altLang="en-US" sz="74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25" name="pub2">
            <a:extLst>
              <a:ext uri="{FF2B5EF4-FFF2-40B4-BE49-F238E27FC236}">
                <a16:creationId xmlns:a16="http://schemas.microsoft.com/office/drawing/2014/main" id="{959E3828-3D0F-4046-B2E8-7A5595E84ED1}"/>
              </a:ext>
            </a:extLst>
          </p:cNvPr>
          <p:cNvSpPr/>
          <p:nvPr/>
        </p:nvSpPr>
        <p:spPr>
          <a:xfrm>
            <a:off x="6197600" y="3276600"/>
            <a:ext cx="4064000" cy="4064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pubbar2">
            <a:extLst>
              <a:ext uri="{FF2B5EF4-FFF2-40B4-BE49-F238E27FC236}">
                <a16:creationId xmlns:a16="http://schemas.microsoft.com/office/drawing/2014/main" id="{D788403D-9C1B-E194-E43F-0690EAE8FDA1}"/>
              </a:ext>
            </a:extLst>
          </p:cNvPr>
          <p:cNvSpPr/>
          <p:nvPr/>
        </p:nvSpPr>
        <p:spPr>
          <a:xfrm>
            <a:off x="6197600" y="3276600"/>
            <a:ext cx="76200" cy="406400"/>
          </a:xfrm>
          <a:prstGeom prst="roundRect">
            <a:avLst/>
          </a:prstGeom>
          <a:solidFill>
            <a:srgbClr val="5B45C8"/>
          </a:solidFill>
          <a:ln w="9525" cap="flat" cmpd="sng" algn="ctr">
            <a:solidFill>
              <a:srgbClr val="5B45C8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pubt2">
            <a:extLst>
              <a:ext uri="{FF2B5EF4-FFF2-40B4-BE49-F238E27FC236}">
                <a16:creationId xmlns:a16="http://schemas.microsoft.com/office/drawing/2014/main" id="{F6FC1CB6-349F-7325-11BF-E8C1746E4233}"/>
              </a:ext>
            </a:extLst>
          </p:cNvPr>
          <p:cNvSpPr txBox="1"/>
          <p:nvPr/>
        </p:nvSpPr>
        <p:spPr>
          <a:xfrm>
            <a:off x="6527800" y="33909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80" b="1">
                <a:solidFill>
                  <a:srgbClr val="5B45C8"/>
                </a:solidFill>
                <a:latin typeface="Aptos" panose="020B0004020202020204" pitchFamily="34" charset="0"/>
              </a:rPr>
              <a:t>CodeDye</a:t>
            </a:r>
            <a:endParaRPr lang="zh-CN" altLang="en-US" sz="780" b="1">
              <a:solidFill>
                <a:srgbClr val="5B45C8"/>
              </a:solidFill>
              <a:latin typeface="Aptos" panose="020B0004020202020204" pitchFamily="34" charset="0"/>
            </a:endParaRPr>
          </a:p>
        </p:txBody>
      </p:sp>
      <p:sp>
        <p:nvSpPr>
          <p:cNvPr id="28" name="pubv2">
            <a:extLst>
              <a:ext uri="{FF2B5EF4-FFF2-40B4-BE49-F238E27FC236}">
                <a16:creationId xmlns:a16="http://schemas.microsoft.com/office/drawing/2014/main" id="{9393592B-37ED-C5C6-5A10-4FD4502D4955}"/>
              </a:ext>
            </a:extLst>
          </p:cNvPr>
          <p:cNvSpPr txBox="1"/>
          <p:nvPr/>
        </p:nvSpPr>
        <p:spPr>
          <a:xfrm>
            <a:off x="8712200" y="33909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" b="1">
                <a:solidFill>
                  <a:srgbClr val="003B7A"/>
                </a:solidFill>
                <a:latin typeface="Aptos" panose="020B0004020202020204" pitchFamily="34" charset="0"/>
              </a:rPr>
              <a:t>EMNLP</a:t>
            </a:r>
            <a:endParaRPr lang="zh-CN" altLang="en-US" sz="74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29" name="pub3">
            <a:extLst>
              <a:ext uri="{FF2B5EF4-FFF2-40B4-BE49-F238E27FC236}">
                <a16:creationId xmlns:a16="http://schemas.microsoft.com/office/drawing/2014/main" id="{A5E5BB7E-B82B-9A13-AF62-D8470878B3B1}"/>
              </a:ext>
            </a:extLst>
          </p:cNvPr>
          <p:cNvSpPr/>
          <p:nvPr/>
        </p:nvSpPr>
        <p:spPr>
          <a:xfrm>
            <a:off x="6197600" y="3835400"/>
            <a:ext cx="4064000" cy="4064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pubbar3">
            <a:extLst>
              <a:ext uri="{FF2B5EF4-FFF2-40B4-BE49-F238E27FC236}">
                <a16:creationId xmlns:a16="http://schemas.microsoft.com/office/drawing/2014/main" id="{9A9A616B-9C85-FA83-210F-CF7A55C8C426}"/>
              </a:ext>
            </a:extLst>
          </p:cNvPr>
          <p:cNvSpPr/>
          <p:nvPr/>
        </p:nvSpPr>
        <p:spPr>
          <a:xfrm>
            <a:off x="6197600" y="3835400"/>
            <a:ext cx="76200" cy="406400"/>
          </a:xfrm>
          <a:prstGeom prst="roundRect">
            <a:avLst/>
          </a:prstGeom>
          <a:solidFill>
            <a:srgbClr val="B85C00"/>
          </a:solidFill>
          <a:ln w="9525" cap="flat" cmpd="sng" algn="ctr">
            <a:solidFill>
              <a:srgbClr val="B85C00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pubt3">
            <a:extLst>
              <a:ext uri="{FF2B5EF4-FFF2-40B4-BE49-F238E27FC236}">
                <a16:creationId xmlns:a16="http://schemas.microsoft.com/office/drawing/2014/main" id="{29381CC1-FA70-1774-8076-E1AD5126D6A9}"/>
              </a:ext>
            </a:extLst>
          </p:cNvPr>
          <p:cNvSpPr txBox="1"/>
          <p:nvPr/>
        </p:nvSpPr>
        <p:spPr>
          <a:xfrm>
            <a:off x="6527800" y="39497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80" b="1">
                <a:solidFill>
                  <a:srgbClr val="B85C00"/>
                </a:solidFill>
                <a:latin typeface="Aptos" panose="020B0004020202020204" pitchFamily="34" charset="0"/>
              </a:rPr>
              <a:t>ProbeTrace</a:t>
            </a:r>
            <a:endParaRPr lang="zh-CN" altLang="en-US" sz="780" b="1">
              <a:solidFill>
                <a:srgbClr val="B85C00"/>
              </a:solidFill>
              <a:latin typeface="Aptos" panose="020B0004020202020204" pitchFamily="34" charset="0"/>
            </a:endParaRPr>
          </a:p>
        </p:txBody>
      </p:sp>
      <p:sp>
        <p:nvSpPr>
          <p:cNvPr id="32" name="pubv3">
            <a:extLst>
              <a:ext uri="{FF2B5EF4-FFF2-40B4-BE49-F238E27FC236}">
                <a16:creationId xmlns:a16="http://schemas.microsoft.com/office/drawing/2014/main" id="{79F3EED0-0E9F-E554-AD67-9FBDAD7CBA80}"/>
              </a:ext>
            </a:extLst>
          </p:cNvPr>
          <p:cNvSpPr txBox="1"/>
          <p:nvPr/>
        </p:nvSpPr>
        <p:spPr>
          <a:xfrm>
            <a:off x="8712200" y="39497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" b="1">
                <a:solidFill>
                  <a:srgbClr val="003B7A"/>
                </a:solidFill>
                <a:latin typeface="Aptos" panose="020B0004020202020204" pitchFamily="34" charset="0"/>
              </a:rPr>
              <a:t>EMNLP</a:t>
            </a:r>
            <a:endParaRPr lang="zh-CN" altLang="en-US" sz="74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33" name="pub4">
            <a:extLst>
              <a:ext uri="{FF2B5EF4-FFF2-40B4-BE49-F238E27FC236}">
                <a16:creationId xmlns:a16="http://schemas.microsoft.com/office/drawing/2014/main" id="{0A321216-54BE-5C90-AFF6-7024B753B245}"/>
              </a:ext>
            </a:extLst>
          </p:cNvPr>
          <p:cNvSpPr/>
          <p:nvPr/>
        </p:nvSpPr>
        <p:spPr>
          <a:xfrm>
            <a:off x="6197600" y="4394200"/>
            <a:ext cx="4064000" cy="4064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pubbar4">
            <a:extLst>
              <a:ext uri="{FF2B5EF4-FFF2-40B4-BE49-F238E27FC236}">
                <a16:creationId xmlns:a16="http://schemas.microsoft.com/office/drawing/2014/main" id="{7D407F99-519D-4CF5-4415-12C2A547967D}"/>
              </a:ext>
            </a:extLst>
          </p:cNvPr>
          <p:cNvSpPr/>
          <p:nvPr/>
        </p:nvSpPr>
        <p:spPr>
          <a:xfrm>
            <a:off x="6197600" y="4394200"/>
            <a:ext cx="76200" cy="406400"/>
          </a:xfrm>
          <a:prstGeom prst="roundRect">
            <a:avLst/>
          </a:prstGeom>
          <a:solidFill>
            <a:srgbClr val="1F7A4D"/>
          </a:solidFill>
          <a:ln w="9525" cap="flat" cmpd="sng" algn="ctr">
            <a:solidFill>
              <a:srgbClr val="1F7A4D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pubt4">
            <a:extLst>
              <a:ext uri="{FF2B5EF4-FFF2-40B4-BE49-F238E27FC236}">
                <a16:creationId xmlns:a16="http://schemas.microsoft.com/office/drawing/2014/main" id="{A192190D-5644-9C51-DF07-68ACA29F97AC}"/>
              </a:ext>
            </a:extLst>
          </p:cNvPr>
          <p:cNvSpPr txBox="1"/>
          <p:nvPr/>
        </p:nvSpPr>
        <p:spPr>
          <a:xfrm>
            <a:off x="6527800" y="45085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80" b="1">
                <a:solidFill>
                  <a:srgbClr val="1F7A4D"/>
                </a:solidFill>
                <a:latin typeface="Aptos" panose="020B0004020202020204" pitchFamily="34" charset="0"/>
              </a:rPr>
              <a:t>SealAudit</a:t>
            </a:r>
            <a:endParaRPr lang="zh-CN" altLang="en-US" sz="780" b="1">
              <a:solidFill>
                <a:srgbClr val="1F7A4D"/>
              </a:solidFill>
              <a:latin typeface="Aptos" panose="020B0004020202020204" pitchFamily="34" charset="0"/>
            </a:endParaRPr>
          </a:p>
        </p:txBody>
      </p:sp>
      <p:sp>
        <p:nvSpPr>
          <p:cNvPr id="36" name="pubv4">
            <a:extLst>
              <a:ext uri="{FF2B5EF4-FFF2-40B4-BE49-F238E27FC236}">
                <a16:creationId xmlns:a16="http://schemas.microsoft.com/office/drawing/2014/main" id="{3BD9880B-D542-A7BD-8B7A-F16967704DF8}"/>
              </a:ext>
            </a:extLst>
          </p:cNvPr>
          <p:cNvSpPr txBox="1"/>
          <p:nvPr/>
        </p:nvSpPr>
        <p:spPr>
          <a:xfrm>
            <a:off x="8712200" y="45085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" b="1">
                <a:solidFill>
                  <a:srgbClr val="003B7A"/>
                </a:solidFill>
                <a:latin typeface="Aptos" panose="020B0004020202020204" pitchFamily="34" charset="0"/>
              </a:rPr>
              <a:t>EMNLP</a:t>
            </a:r>
            <a:endParaRPr lang="zh-CN" altLang="en-US" sz="74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37" name="future-note">
            <a:extLst>
              <a:ext uri="{FF2B5EF4-FFF2-40B4-BE49-F238E27FC236}">
                <a16:creationId xmlns:a16="http://schemas.microsoft.com/office/drawing/2014/main" id="{8EC6388D-6E53-FAEF-ACF2-6F9D0085A7F1}"/>
              </a:ext>
            </a:extLst>
          </p:cNvPr>
          <p:cNvSpPr/>
          <p:nvPr/>
        </p:nvSpPr>
        <p:spPr>
          <a:xfrm>
            <a:off x="1981200" y="5461000"/>
            <a:ext cx="8229600" cy="406400"/>
          </a:xfrm>
          <a:prstGeom prst="roundRect">
            <a:avLst/>
          </a:prstGeom>
          <a:solidFill>
            <a:srgbClr val="FFF7E0"/>
          </a:solidFill>
          <a:ln w="9525" cap="flat" cmpd="sng" algn="ctr">
            <a:solidFill>
              <a:srgbClr val="F4C249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future-note-t">
            <a:extLst>
              <a:ext uri="{FF2B5EF4-FFF2-40B4-BE49-F238E27FC236}">
                <a16:creationId xmlns:a16="http://schemas.microsoft.com/office/drawing/2014/main" id="{E5DB1937-01F0-8F88-142E-9B08484137E4}"/>
              </a:ext>
            </a:extLst>
          </p:cNvPr>
          <p:cNvSpPr txBox="1"/>
          <p:nvPr/>
        </p:nvSpPr>
        <p:spPr>
          <a:xfrm>
            <a:off x="2413000" y="5575300"/>
            <a:ext cx="736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40" b="1">
                <a:solidFill>
                  <a:srgbClr val="091C3E"/>
                </a:solidFill>
                <a:latin typeface="Aptos" panose="020B0004020202020204" pitchFamily="34" charset="0"/>
              </a:rPr>
              <a:t>Boundary: later writing collaborations are outside the submitted FYP artifact.</a:t>
            </a:r>
            <a:endParaRPr lang="zh-CN" altLang="en-US" sz="840" b="1">
              <a:solidFill>
                <a:srgbClr val="091C3E"/>
              </a:solidFill>
              <a:latin typeface="Aptos" panose="020B0004020202020204" pitchFamily="34" charset="0"/>
            </a:endParaRPr>
          </a:p>
        </p:txBody>
      </p:sp>
      <p:sp>
        <p:nvSpPr>
          <p:cNvPr id="39" name="footer-hit-12">
            <a:hlinkClick r:id="rId4"/>
            <a:extLst>
              <a:ext uri="{FF2B5EF4-FFF2-40B4-BE49-F238E27FC236}">
                <a16:creationId xmlns:a16="http://schemas.microsoft.com/office/drawing/2014/main" id="{7E200219-ABA6-A5C1-5D88-3A8D64906014}"/>
              </a:ext>
            </a:extLst>
          </p:cNvPr>
          <p:cNvSpPr/>
          <p:nvPr/>
        </p:nvSpPr>
        <p:spPr>
          <a:xfrm>
            <a:off x="685800" y="6502400"/>
            <a:ext cx="3175000" cy="2286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34121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">
        <p:fade thruBlk="1"/>
      </p:transition>
    </mc:Choice>
    <mc:Fallback>
      <p:transition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6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4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2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98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16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34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2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7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88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6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324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42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6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78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396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4140"/>
                            </p:stCondLst>
                            <p:childTnLst>
                              <p:par>
                                <p:cTn id="9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1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432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4500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18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/>
      <p:bldP spid="15" grpId="0"/>
      <p:bldP spid="17" grpId="0" animBg="1"/>
      <p:bldP spid="18" grpId="0" animBg="1"/>
      <p:bldP spid="19" grpId="0"/>
      <p:bldP spid="20" grpId="0"/>
      <p:bldP spid="21" grpId="0" animBg="1"/>
      <p:bldP spid="22" grpId="0" animBg="1"/>
      <p:bldP spid="23" grpId="0"/>
      <p:bldP spid="24" grpId="0"/>
      <p:bldP spid="25" grpId="0" animBg="1"/>
      <p:bldP spid="26" grpId="0" animBg="1"/>
      <p:bldP spid="27" grpId="0"/>
      <p:bldP spid="28" grpId="0"/>
      <p:bldP spid="29" grpId="0" animBg="1"/>
      <p:bldP spid="30" grpId="0" animBg="1"/>
      <p:bldP spid="31" grpId="0"/>
      <p:bldP spid="32" grpId="0"/>
      <p:bldP spid="33" grpId="0" animBg="1"/>
      <p:bldP spid="34" grpId="0" animBg="1"/>
      <p:bldP spid="35" grpId="0"/>
      <p:bldP spid="36" grpId="0"/>
      <p:bldP spid="37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>
            <a:extLst>
              <a:ext uri="{FF2B5EF4-FFF2-40B4-BE49-F238E27FC236}">
                <a16:creationId xmlns:a16="http://schemas.microsoft.com/office/drawing/2014/main" id="{7B4D393C-F080-EB85-F2C4-A8EC572E23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B7A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panel">
            <a:extLst>
              <a:ext uri="{FF2B5EF4-FFF2-40B4-BE49-F238E27FC236}">
                <a16:creationId xmlns:a16="http://schemas.microsoft.com/office/drawing/2014/main" id="{B0409006-BE9A-974E-6779-50A14B1E3F69}"/>
              </a:ext>
            </a:extLst>
          </p:cNvPr>
          <p:cNvSpPr/>
          <p:nvPr/>
        </p:nvSpPr>
        <p:spPr>
          <a:xfrm>
            <a:off x="990600" y="1168400"/>
            <a:ext cx="2921000" cy="3810000"/>
          </a:xfrm>
          <a:prstGeom prst="roundRect">
            <a:avLst/>
          </a:prstGeom>
          <a:solidFill>
            <a:srgbClr val="002D60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127000" dist="25400" dir="5400000" rotWithShape="0">
              <a:srgbClr val="0F172A">
                <a:alpha val="1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" name="divider">
            <a:extLst>
              <a:ext uri="{FF2B5EF4-FFF2-40B4-BE49-F238E27FC236}">
                <a16:creationId xmlns:a16="http://schemas.microsoft.com/office/drawing/2014/main" id="{E086C355-3273-D168-4624-BB161F02A414}"/>
              </a:ext>
            </a:extLst>
          </p:cNvPr>
          <p:cNvCxnSpPr/>
          <p:nvPr/>
        </p:nvCxnSpPr>
        <p:spPr>
          <a:xfrm>
            <a:off x="4749800" y="1219200"/>
            <a:ext cx="0" cy="4241800"/>
          </a:xfrm>
          <a:prstGeom prst="line">
            <a:avLst/>
          </a:prstGeom>
          <a:ln w="13970">
            <a:solidFill>
              <a:srgbClr val="447B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hanks">
            <a:extLst>
              <a:ext uri="{FF2B5EF4-FFF2-40B4-BE49-F238E27FC236}">
                <a16:creationId xmlns:a16="http://schemas.microsoft.com/office/drawing/2014/main" id="{C7E06C81-9CA7-7040-BC67-48CAA394EA4C}"/>
              </a:ext>
            </a:extLst>
          </p:cNvPr>
          <p:cNvSpPr txBox="1"/>
          <p:nvPr/>
        </p:nvSpPr>
        <p:spPr>
          <a:xfrm>
            <a:off x="5461000" y="13970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800" b="1">
                <a:solidFill>
                  <a:srgbClr val="FFFFFF"/>
                </a:solidFill>
                <a:latin typeface="Aptos" panose="020B0004020202020204" pitchFamily="34" charset="0"/>
              </a:rPr>
              <a:t>Thank you</a:t>
            </a:r>
            <a:endParaRPr lang="zh-CN" altLang="en-US" sz="48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q">
            <a:extLst>
              <a:ext uri="{FF2B5EF4-FFF2-40B4-BE49-F238E27FC236}">
                <a16:creationId xmlns:a16="http://schemas.microsoft.com/office/drawing/2014/main" id="{6CEB226A-9638-4346-55A1-38B73A465AC4}"/>
              </a:ext>
            </a:extLst>
          </p:cNvPr>
          <p:cNvSpPr txBox="1"/>
          <p:nvPr/>
        </p:nvSpPr>
        <p:spPr>
          <a:xfrm>
            <a:off x="5511800" y="24130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400" b="1">
                <a:solidFill>
                  <a:srgbClr val="DCEBFC"/>
                </a:solidFill>
                <a:latin typeface="Aptos" panose="020B0004020202020204" pitchFamily="34" charset="0"/>
              </a:rPr>
              <a:t>Questions?</a:t>
            </a:r>
            <a:endParaRPr lang="zh-CN" altLang="en-US" sz="2400" b="1">
              <a:solidFill>
                <a:srgbClr val="DCEBFC"/>
              </a:solidFill>
              <a:latin typeface="Aptos" panose="020B0004020202020204" pitchFamily="34" charset="0"/>
            </a:endParaRPr>
          </a:p>
        </p:txBody>
      </p:sp>
      <p:cxnSp>
        <p:nvCxnSpPr>
          <p:cNvPr id="7" name="qrule">
            <a:extLst>
              <a:ext uri="{FF2B5EF4-FFF2-40B4-BE49-F238E27FC236}">
                <a16:creationId xmlns:a16="http://schemas.microsoft.com/office/drawing/2014/main" id="{8F7CFF51-016C-A62C-14E6-8B366B5F82D3}"/>
              </a:ext>
            </a:extLst>
          </p:cNvPr>
          <p:cNvCxnSpPr/>
          <p:nvPr/>
        </p:nvCxnSpPr>
        <p:spPr>
          <a:xfrm>
            <a:off x="5511800" y="3302000"/>
            <a:ext cx="4800600" cy="0"/>
          </a:xfrm>
          <a:prstGeom prst="line">
            <a:avLst/>
          </a:prstGeom>
          <a:ln w="15240">
            <a:solidFill>
              <a:srgbClr val="B5D3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1">
            <a:extLst>
              <a:ext uri="{FF2B5EF4-FFF2-40B4-BE49-F238E27FC236}">
                <a16:creationId xmlns:a16="http://schemas.microsoft.com/office/drawing/2014/main" id="{B4BEC048-0D5F-CF73-EC0A-A9686711EFA5}"/>
              </a:ext>
            </a:extLst>
          </p:cNvPr>
          <p:cNvSpPr txBox="1"/>
          <p:nvPr/>
        </p:nvSpPr>
        <p:spPr>
          <a:xfrm>
            <a:off x="5511800" y="3810000"/>
            <a:ext cx="520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200" b="1">
                <a:solidFill>
                  <a:srgbClr val="FFFFFF"/>
                </a:solidFill>
                <a:latin typeface="Aptos" panose="020B0004020202020204" pitchFamily="34" charset="0"/>
              </a:rPr>
              <a:t>1. Evidence contract: denominator + controls + boundary</a:t>
            </a:r>
            <a:endParaRPr lang="zh-CN" altLang="en-US" sz="12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a2">
            <a:extLst>
              <a:ext uri="{FF2B5EF4-FFF2-40B4-BE49-F238E27FC236}">
                <a16:creationId xmlns:a16="http://schemas.microsoft.com/office/drawing/2014/main" id="{AD77F9CC-8969-C0E4-AA39-D560C43BA586}"/>
              </a:ext>
            </a:extLst>
          </p:cNvPr>
          <p:cNvSpPr txBox="1"/>
          <p:nvPr/>
        </p:nvSpPr>
        <p:spPr>
          <a:xfrm>
            <a:off x="5511800" y="4292600"/>
            <a:ext cx="520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200" b="1">
                <a:solidFill>
                  <a:srgbClr val="FFFFFF"/>
                </a:solidFill>
                <a:latin typeface="Aptos" panose="020B0004020202020204" pitchFamily="34" charset="0"/>
              </a:rPr>
              <a:t>2. Submitted results: bounded, not universal</a:t>
            </a:r>
            <a:endParaRPr lang="zh-CN" altLang="en-US" sz="12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" name="a3">
            <a:extLst>
              <a:ext uri="{FF2B5EF4-FFF2-40B4-BE49-F238E27FC236}">
                <a16:creationId xmlns:a16="http://schemas.microsoft.com/office/drawing/2014/main" id="{45534DAF-FB0E-6F24-B778-85F879BBEAB1}"/>
              </a:ext>
            </a:extLst>
          </p:cNvPr>
          <p:cNvSpPr txBox="1"/>
          <p:nvPr/>
        </p:nvSpPr>
        <p:spPr>
          <a:xfrm>
            <a:off x="5511800" y="4775200"/>
            <a:ext cx="520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200" b="1">
                <a:solidFill>
                  <a:srgbClr val="FFFFFF"/>
                </a:solidFill>
                <a:latin typeface="Aptos" panose="020B0004020202020204" pitchFamily="34" charset="0"/>
              </a:rPr>
              <a:t>3. Demo: inspectable repository, not full rerun</a:t>
            </a:r>
            <a:endParaRPr lang="zh-CN" altLang="en-US" sz="12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12" name="图片 11">
            <a:hlinkClick r:id="rId3"/>
            <a:extLst>
              <a:ext uri="{FF2B5EF4-FFF2-40B4-BE49-F238E27FC236}">
                <a16:creationId xmlns:a16="http://schemas.microsoft.com/office/drawing/2014/main" id="{5D318A1F-2170-446F-FFFD-9E6D87A2F0AB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0" y="1625600"/>
            <a:ext cx="1219200" cy="1219200"/>
          </a:xfrm>
          <a:prstGeom prst="rect">
            <a:avLst/>
          </a:prstGeom>
        </p:spPr>
      </p:pic>
      <p:sp>
        <p:nvSpPr>
          <p:cNvPr id="13" name="qrlab">
            <a:extLst>
              <a:ext uri="{FF2B5EF4-FFF2-40B4-BE49-F238E27FC236}">
                <a16:creationId xmlns:a16="http://schemas.microsoft.com/office/drawing/2014/main" id="{13DEC77A-BE49-E6EE-5D4C-AFC6896CE718}"/>
              </a:ext>
            </a:extLst>
          </p:cNvPr>
          <p:cNvSpPr txBox="1"/>
          <p:nvPr/>
        </p:nvSpPr>
        <p:spPr>
          <a:xfrm>
            <a:off x="1549400" y="30734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000" b="1">
                <a:solidFill>
                  <a:srgbClr val="FFFFFF"/>
                </a:solidFill>
                <a:latin typeface="Aptos" panose="020B0004020202020204" pitchFamily="34" charset="0"/>
              </a:rPr>
              <a:t>Project page</a:t>
            </a:r>
            <a:endParaRPr lang="zh-CN" altLang="en-US" sz="1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4" name="close-page">
            <a:hlinkClick r:id="rId3"/>
            <a:extLst>
              <a:ext uri="{FF2B5EF4-FFF2-40B4-BE49-F238E27FC236}">
                <a16:creationId xmlns:a16="http://schemas.microsoft.com/office/drawing/2014/main" id="{F4DAF9BB-B72C-7A9F-1106-647909D98301}"/>
              </a:ext>
            </a:extLst>
          </p:cNvPr>
          <p:cNvSpPr/>
          <p:nvPr/>
        </p:nvSpPr>
        <p:spPr>
          <a:xfrm>
            <a:off x="1549400" y="3632200"/>
            <a:ext cx="965200" cy="3048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altLang="zh-CN" sz="820" b="1">
                <a:solidFill>
                  <a:srgbClr val="003B7A"/>
                </a:solidFill>
                <a:latin typeface="Aptos" panose="020B0004020202020204" pitchFamily="34" charset="0"/>
              </a:rPr>
              <a:t>Page</a:t>
            </a:r>
            <a:endParaRPr lang="zh-CN" altLang="en-US" sz="82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sp>
        <p:nvSpPr>
          <p:cNvPr id="15" name="close-repo">
            <a:hlinkClick r:id="rId5"/>
            <a:extLst>
              <a:ext uri="{FF2B5EF4-FFF2-40B4-BE49-F238E27FC236}">
                <a16:creationId xmlns:a16="http://schemas.microsoft.com/office/drawing/2014/main" id="{0DBDE116-ACF6-7037-1037-1ED444501404}"/>
              </a:ext>
            </a:extLst>
          </p:cNvPr>
          <p:cNvSpPr/>
          <p:nvPr/>
        </p:nvSpPr>
        <p:spPr>
          <a:xfrm>
            <a:off x="2641600" y="3632200"/>
            <a:ext cx="838200" cy="3048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3E1F2">
                <a:alpha val="8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altLang="zh-CN" sz="820" b="1">
                <a:solidFill>
                  <a:srgbClr val="003B7A"/>
                </a:solidFill>
                <a:latin typeface="Aptos" panose="020B0004020202020204" pitchFamily="34" charset="0"/>
              </a:rPr>
              <a:t>Repo</a:t>
            </a:r>
            <a:endParaRPr lang="zh-CN" altLang="en-US" sz="820" b="1">
              <a:solidFill>
                <a:srgbClr val="003B7A"/>
              </a:solidFill>
              <a:latin typeface="Aptos" panose="020B0004020202020204" pitchFamily="34" charset="0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7A501D75-F72A-7097-5F14-D717216F0493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4800" y="5918200"/>
            <a:ext cx="2108200" cy="571500"/>
          </a:xfrm>
          <a:prstGeom prst="rect">
            <a:avLst/>
          </a:prstGeom>
        </p:spPr>
      </p:pic>
      <p:sp>
        <p:nvSpPr>
          <p:cNvPr id="18" name="footer-hit-13">
            <a:hlinkClick r:id="rId3"/>
            <a:extLst>
              <a:ext uri="{FF2B5EF4-FFF2-40B4-BE49-F238E27FC236}">
                <a16:creationId xmlns:a16="http://schemas.microsoft.com/office/drawing/2014/main" id="{A02B234B-784D-A566-2791-15EECF04F0C0}"/>
              </a:ext>
            </a:extLst>
          </p:cNvPr>
          <p:cNvSpPr/>
          <p:nvPr/>
        </p:nvSpPr>
        <p:spPr>
          <a:xfrm>
            <a:off x="685800" y="6502400"/>
            <a:ext cx="3175000" cy="228600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418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">
        <p:fade thruBlk="1"/>
      </p:transition>
    </mc:Choice>
    <mc:Fallback>
      <p:transition>
        <p:fade thruBlk="1"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1524</Words>
  <Application>Microsoft Office PowerPoint</Application>
  <PresentationFormat>自定义</PresentationFormat>
  <Paragraphs>228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9" baseType="lpstr">
      <vt:lpstr>等线</vt:lpstr>
      <vt:lpstr>等线 Light</vt:lpstr>
      <vt:lpstr>Aptos</vt:lpstr>
      <vt:lpstr>Arial</vt:lpstr>
      <vt:lpstr>Consolas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周率 圆</dc:creator>
  <cp:lastModifiedBy>周率 圆</cp:lastModifiedBy>
  <cp:revision>1</cp:revision>
  <dcterms:created xsi:type="dcterms:W3CDTF">2026-05-14T21:30:25Z</dcterms:created>
  <dcterms:modified xsi:type="dcterms:W3CDTF">2026-05-14T21:30:25Z</dcterms:modified>
</cp:coreProperties>
</file>